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2" r:id="rId1"/>
    <p:sldMasterId id="2147483791" r:id="rId2"/>
  </p:sldMasterIdLst>
  <p:notesMasterIdLst>
    <p:notesMasterId r:id="rId46"/>
  </p:notesMasterIdLst>
  <p:handoutMasterIdLst>
    <p:handoutMasterId r:id="rId47"/>
  </p:handoutMasterIdLst>
  <p:sldIdLst>
    <p:sldId id="588" r:id="rId3"/>
    <p:sldId id="564" r:id="rId4"/>
    <p:sldId id="566" r:id="rId5"/>
    <p:sldId id="565" r:id="rId6"/>
    <p:sldId id="568" r:id="rId7"/>
    <p:sldId id="569" r:id="rId8"/>
    <p:sldId id="572" r:id="rId9"/>
    <p:sldId id="573" r:id="rId10"/>
    <p:sldId id="585" r:id="rId11"/>
    <p:sldId id="574" r:id="rId12"/>
    <p:sldId id="575" r:id="rId13"/>
    <p:sldId id="576" r:id="rId14"/>
    <p:sldId id="577" r:id="rId15"/>
    <p:sldId id="579" r:id="rId16"/>
    <p:sldId id="578" r:id="rId17"/>
    <p:sldId id="580" r:id="rId18"/>
    <p:sldId id="581" r:id="rId19"/>
    <p:sldId id="582" r:id="rId20"/>
    <p:sldId id="586" r:id="rId21"/>
    <p:sldId id="583" r:id="rId22"/>
    <p:sldId id="589" r:id="rId23"/>
    <p:sldId id="590" r:id="rId24"/>
    <p:sldId id="591" r:id="rId25"/>
    <p:sldId id="592" r:id="rId26"/>
    <p:sldId id="593" r:id="rId27"/>
    <p:sldId id="594" r:id="rId28"/>
    <p:sldId id="595" r:id="rId29"/>
    <p:sldId id="596" r:id="rId30"/>
    <p:sldId id="597" r:id="rId31"/>
    <p:sldId id="598" r:id="rId32"/>
    <p:sldId id="599" r:id="rId33"/>
    <p:sldId id="600" r:id="rId34"/>
    <p:sldId id="601" r:id="rId35"/>
    <p:sldId id="603" r:id="rId36"/>
    <p:sldId id="604" r:id="rId37"/>
    <p:sldId id="605" r:id="rId38"/>
    <p:sldId id="606" r:id="rId39"/>
    <p:sldId id="607" r:id="rId40"/>
    <p:sldId id="608" r:id="rId41"/>
    <p:sldId id="609" r:id="rId42"/>
    <p:sldId id="494" r:id="rId43"/>
    <p:sldId id="610" r:id="rId44"/>
    <p:sldId id="584" r:id="rId45"/>
  </p:sldIdLst>
  <p:sldSz cx="12192000" cy="6858000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2">
          <p15:clr>
            <a:srgbClr val="A4A3A4"/>
          </p15:clr>
        </p15:guide>
        <p15:guide id="3" orient="horz" pos="3223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9966"/>
    <a:srgbClr val="EAEAEA"/>
    <a:srgbClr val="FFFF99"/>
    <a:srgbClr val="CCFF99"/>
    <a:srgbClr val="FFD9DF"/>
    <a:srgbClr val="FFDA3F"/>
    <a:srgbClr val="FFFFBD"/>
    <a:srgbClr val="535CA1"/>
    <a:srgbClr val="F9FD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80" autoAdjust="0"/>
  </p:normalViewPr>
  <p:slideViewPr>
    <p:cSldViewPr>
      <p:cViewPr varScale="1">
        <p:scale>
          <a:sx n="63" d="100"/>
          <a:sy n="63" d="100"/>
        </p:scale>
        <p:origin x="73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80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notesViewPr>
    <p:cSldViewPr>
      <p:cViewPr varScale="1">
        <p:scale>
          <a:sx n="42" d="100"/>
          <a:sy n="42" d="100"/>
        </p:scale>
        <p:origin x="-1230" y="-96"/>
      </p:cViewPr>
      <p:guideLst>
        <p:guide orient="horz" pos="2923"/>
        <p:guide pos="2202"/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517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60338" y="658813"/>
            <a:ext cx="6792912" cy="382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576" y="4860873"/>
            <a:ext cx="6119197" cy="46053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8007" tIns="48144" rIns="98007" bIns="48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We want this to be in font 11 and justify.</a:t>
            </a:r>
          </a:p>
        </p:txBody>
      </p:sp>
    </p:spTree>
    <p:extLst>
      <p:ext uri="{BB962C8B-B14F-4D97-AF65-F5344CB8AC3E}">
        <p14:creationId xmlns:p14="http://schemas.microsoft.com/office/powerpoint/2010/main" val="2570786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2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8093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9369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8349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21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6872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9076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5289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5939" tIns="47969" rIns="95939" bIns="47969" anchor="t"/>
          <a:lstStyle/>
          <a:p>
            <a:pPr lvl="0"/>
            <a:endParaRPr lang="zh-CN" altLang="en-US" dirty="0"/>
          </a:p>
        </p:txBody>
      </p:sp>
      <p:sp>
        <p:nvSpPr>
          <p:cNvPr id="12291" name="幻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5939" tIns="47969" rIns="95939" bIns="47969" anchor="b"/>
          <a:lstStyle/>
          <a:p>
            <a:pPr lvl="0" algn="r"/>
            <a:fld id="{9A0DB2DC-4C9A-4742-B13C-FB6460FD3503}" type="slidenum">
              <a:rPr lang="zh-CN" altLang="en-US" sz="1300">
                <a:latin typeface="Times New Roman" panose="02020603050405020304" pitchFamily="18" charset="0"/>
              </a:rPr>
              <a:t>22</a:t>
            </a:fld>
            <a:endParaRPr lang="zh-CN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254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760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5036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EB54A04B-7AB5-204A-B881-38BBECCCF81B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0102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039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5117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596900"/>
            <a:ext cx="6162675" cy="3467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8912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>
            <a:off x="0" y="3627545"/>
            <a:ext cx="12192000" cy="122564"/>
          </a:xfrm>
          <a:prstGeom prst="rect">
            <a:avLst/>
          </a:prstGeom>
          <a:solidFill>
            <a:srgbClr val="196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013" b="0">
              <a:solidFill>
                <a:srgbClr val="FFFFFF"/>
              </a:solidFill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0" y="1963271"/>
            <a:ext cx="12192000" cy="1532812"/>
          </a:xfrm>
          <a:prstGeom prst="rect">
            <a:avLst/>
          </a:prstGeom>
          <a:gradFill>
            <a:gsLst>
              <a:gs pos="0">
                <a:srgbClr val="2085E1"/>
              </a:gs>
              <a:gs pos="100000">
                <a:srgbClr val="1967A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013" b="0">
              <a:solidFill>
                <a:srgbClr val="FFFFFF"/>
              </a:solidFill>
            </a:endParaRPr>
          </a:p>
        </p:txBody>
      </p:sp>
      <p:sp>
        <p:nvSpPr>
          <p:cNvPr id="44" name="Subtitle 2"/>
          <p:cNvSpPr>
            <a:spLocks noGrp="1"/>
          </p:cNvSpPr>
          <p:nvPr>
            <p:ph type="subTitle" idx="1"/>
          </p:nvPr>
        </p:nvSpPr>
        <p:spPr>
          <a:xfrm>
            <a:off x="1524000" y="3750112"/>
            <a:ext cx="9144000" cy="100440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en-US" sz="27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pic>
        <p:nvPicPr>
          <p:cNvPr id="45" name="图片 4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879" y="564341"/>
            <a:ext cx="8254245" cy="663787"/>
          </a:xfrm>
          <a:prstGeom prst="rect">
            <a:avLst/>
          </a:prstGeom>
        </p:spPr>
      </p:pic>
      <p:sp>
        <p:nvSpPr>
          <p:cNvPr id="46" name="Title 1"/>
          <p:cNvSpPr>
            <a:spLocks noGrp="1"/>
          </p:cNvSpPr>
          <p:nvPr>
            <p:ph type="ctrTitle"/>
          </p:nvPr>
        </p:nvSpPr>
        <p:spPr>
          <a:xfrm>
            <a:off x="914400" y="1963271"/>
            <a:ext cx="10363200" cy="150194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ct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1" i="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15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284" y="188643"/>
            <a:ext cx="7010400" cy="292259"/>
          </a:xfrm>
        </p:spPr>
        <p:txBody>
          <a:bodyPr/>
          <a:lstStyle>
            <a:lvl1pPr>
              <a:defRPr i="0" baseline="0">
                <a:latin typeface="Arial Unicode MS" panose="020B0604020202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764707"/>
            <a:ext cx="10464800" cy="1499193"/>
          </a:xfr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16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spcBef>
                <a:spcPts val="0"/>
              </a:spcBef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spcBef>
                <a:spcPts val="0"/>
              </a:spcBef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spcBef>
                <a:spcPts val="0"/>
              </a:spcBef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971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125538"/>
            <a:ext cx="5130800" cy="15886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5886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66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292259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09391"/>
            <a:ext cx="5386917" cy="3654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138897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809391"/>
            <a:ext cx="5389033" cy="3654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138897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79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83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5584" y="260650"/>
            <a:ext cx="7010400" cy="29225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82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60650"/>
            <a:ext cx="7010400" cy="29225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48400" y="1125539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48400" y="2290764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80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156807"/>
            <a:ext cx="9144000" cy="292259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724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>
            <a:off x="0" y="3627545"/>
            <a:ext cx="12192000" cy="122564"/>
          </a:xfrm>
          <a:prstGeom prst="rect">
            <a:avLst/>
          </a:prstGeom>
          <a:solidFill>
            <a:srgbClr val="196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013" b="0">
              <a:solidFill>
                <a:srgbClr val="FFFFFF"/>
              </a:solidFill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0" y="1963271"/>
            <a:ext cx="12192000" cy="1532812"/>
          </a:xfrm>
          <a:prstGeom prst="rect">
            <a:avLst/>
          </a:prstGeom>
          <a:gradFill>
            <a:gsLst>
              <a:gs pos="0">
                <a:srgbClr val="2085E1"/>
              </a:gs>
              <a:gs pos="100000">
                <a:srgbClr val="1967A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013" b="0">
              <a:solidFill>
                <a:srgbClr val="FFFFFF"/>
              </a:solidFill>
            </a:endParaRPr>
          </a:p>
        </p:txBody>
      </p:sp>
      <p:sp>
        <p:nvSpPr>
          <p:cNvPr id="44" name="Subtitle 2"/>
          <p:cNvSpPr>
            <a:spLocks noGrp="1"/>
          </p:cNvSpPr>
          <p:nvPr>
            <p:ph type="subTitle" idx="1"/>
          </p:nvPr>
        </p:nvSpPr>
        <p:spPr>
          <a:xfrm>
            <a:off x="1524000" y="3750112"/>
            <a:ext cx="9144000" cy="100440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en-US" sz="27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pic>
        <p:nvPicPr>
          <p:cNvPr id="45" name="图片 4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564342"/>
            <a:ext cx="5567281" cy="632410"/>
          </a:xfrm>
          <a:prstGeom prst="rect">
            <a:avLst/>
          </a:prstGeom>
        </p:spPr>
      </p:pic>
      <p:sp>
        <p:nvSpPr>
          <p:cNvPr id="46" name="Title 1"/>
          <p:cNvSpPr>
            <a:spLocks noGrp="1"/>
          </p:cNvSpPr>
          <p:nvPr>
            <p:ph type="ctrTitle"/>
          </p:nvPr>
        </p:nvSpPr>
        <p:spPr>
          <a:xfrm>
            <a:off x="914400" y="1963271"/>
            <a:ext cx="10363200" cy="150194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ct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1" i="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pic>
        <p:nvPicPr>
          <p:cNvPr id="63490" name="Picture 2" descr="E:\Work buaa\Other\北航\软件学院图标.jp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492333"/>
            <a:ext cx="3312368" cy="67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20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284" y="188643"/>
            <a:ext cx="7010400" cy="292259"/>
          </a:xfrm>
        </p:spPr>
        <p:txBody>
          <a:bodyPr/>
          <a:lstStyle>
            <a:lvl1pPr>
              <a:defRPr i="0" baseline="0">
                <a:latin typeface="Arial Unicode MS" panose="020B0604020202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764707"/>
            <a:ext cx="10464800" cy="1499193"/>
          </a:xfr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16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spcBef>
                <a:spcPts val="0"/>
              </a:spcBef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spcBef>
                <a:spcPts val="0"/>
              </a:spcBef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spcBef>
                <a:spcPts val="0"/>
              </a:spcBef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022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125538"/>
            <a:ext cx="5130800" cy="15886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5886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93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292259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09391"/>
            <a:ext cx="5386917" cy="3654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138897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809391"/>
            <a:ext cx="5389033" cy="3654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138897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345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239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5584" y="260650"/>
            <a:ext cx="7010400" cy="29225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387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60650"/>
            <a:ext cx="7010400" cy="29225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48400" y="1125539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48400" y="2290764"/>
            <a:ext cx="5130800" cy="1644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65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0"/>
          <a:stretch/>
        </p:blipFill>
        <p:spPr>
          <a:xfrm>
            <a:off x="0" y="0"/>
            <a:ext cx="12192000" cy="692696"/>
          </a:xfrm>
          <a:prstGeom prst="rect">
            <a:avLst/>
          </a:prstGeom>
        </p:spPr>
      </p:pic>
      <p:sp>
        <p:nvSpPr>
          <p:cNvPr id="36867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912284" y="188643"/>
            <a:ext cx="7010400" cy="2922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标题</a:t>
            </a:r>
          </a:p>
        </p:txBody>
      </p:sp>
      <p:sp>
        <p:nvSpPr>
          <p:cNvPr id="36869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908720"/>
            <a:ext cx="10464800" cy="20948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dirty="0"/>
              <a:t>This is our 1st Level Bullet</a:t>
            </a:r>
          </a:p>
          <a:p>
            <a:pPr lvl="1"/>
            <a:r>
              <a:rPr lang="en-US" altLang="zh-CN" dirty="0"/>
              <a:t>This is our 2nd level bullet</a:t>
            </a:r>
          </a:p>
          <a:p>
            <a:pPr lvl="2"/>
            <a:r>
              <a:rPr lang="en-US" altLang="zh-CN" dirty="0"/>
              <a:t>This is our 3rd level bullet</a:t>
            </a:r>
          </a:p>
          <a:p>
            <a:pPr lvl="0"/>
            <a:r>
              <a:rPr lang="en-US" altLang="zh-CN" dirty="0"/>
              <a:t>This is our next 1st Level Bullet</a:t>
            </a:r>
          </a:p>
          <a:p>
            <a:pPr lvl="1"/>
            <a:r>
              <a:rPr lang="en-US" altLang="zh-CN" dirty="0"/>
              <a:t>This is our 2nd level bullet</a:t>
            </a:r>
          </a:p>
          <a:p>
            <a:pPr lvl="2"/>
            <a:r>
              <a:rPr lang="en-US" altLang="zh-CN" dirty="0"/>
              <a:t>This is our 3rd level bullet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1280577" y="6553201"/>
            <a:ext cx="86409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fld id="{8E6141A4-B4DF-417A-BE19-BD33A1D78EA3}" type="slidenum">
              <a:rPr lang="zh-CN" altLang="en-US" sz="900" b="0">
                <a:solidFill>
                  <a:srgbClr val="000099"/>
                </a:solidFill>
                <a:ea typeface="Yu Gothic" panose="020B0400000000000000" pitchFamily="34" charset="-128"/>
                <a:cs typeface="Arial" panose="020B0604020202020204" pitchFamily="34" charset="0"/>
              </a:rPr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t>‹#›</a:t>
            </a:fld>
            <a:endParaRPr lang="en-US" altLang="zh-CN" sz="900" b="0" dirty="0">
              <a:solidFill>
                <a:srgbClr val="000099"/>
              </a:solidFill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</p:sldLayoutIdLst>
  <p:txStyles>
    <p:titleStyle>
      <a:lvl1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0">
          <a:solidFill>
            <a:srgbClr val="FF0000"/>
          </a:solidFill>
          <a:latin typeface="+mj-lt"/>
          <a:ea typeface="+mj-ea"/>
          <a:cs typeface="楷体_GB2312"/>
        </a:defRPr>
      </a:lvl1pPr>
      <a:lvl2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2pPr>
      <a:lvl3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3pPr>
      <a:lvl4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4pPr>
      <a:lvl5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5pPr>
      <a:lvl6pPr marL="3429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6pPr>
      <a:lvl7pPr marL="6858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7pPr>
      <a:lvl8pPr marL="10287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8pPr>
      <a:lvl9pPr marL="13716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13122" indent="-213122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FF0000"/>
        </a:buClr>
        <a:buSzPct val="100000"/>
        <a:buFont typeface="Wingdings" pitchFamily="2" charset="2"/>
        <a:buChar char="v"/>
        <a:defRPr sz="1800" b="1">
          <a:solidFill>
            <a:schemeClr val="tx1"/>
          </a:solidFill>
          <a:latin typeface="+mn-lt"/>
          <a:ea typeface="+mn-ea"/>
          <a:cs typeface="+mn-cs"/>
        </a:defRPr>
      </a:lvl1pPr>
      <a:lvl2pPr marL="501254" indent="-145256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001ADC"/>
        </a:buClr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2pPr>
      <a:lvl3pPr marL="788194" indent="-144066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05AD01"/>
        </a:buClr>
        <a:buSzPct val="100000"/>
        <a:buFont typeface="Wingdings" pitchFamily="2" charset="2"/>
        <a:buChar char="§"/>
        <a:defRPr b="1">
          <a:solidFill>
            <a:schemeClr val="tx1"/>
          </a:solidFill>
          <a:latin typeface="+mn-lt"/>
        </a:defRPr>
      </a:lvl3pPr>
      <a:lvl4pPr marL="1476375" indent="-25717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Times New Roman" pitchFamily="18" charset="0"/>
        </a:defRPr>
      </a:lvl4pPr>
      <a:lvl5pPr marL="18764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5pPr>
      <a:lvl6pPr marL="22193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6pPr>
      <a:lvl7pPr marL="25622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7pPr>
      <a:lvl8pPr marL="29051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8pPr>
      <a:lvl9pPr marL="32480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0"/>
          <a:stretch/>
        </p:blipFill>
        <p:spPr>
          <a:xfrm>
            <a:off x="0" y="0"/>
            <a:ext cx="12192000" cy="692696"/>
          </a:xfrm>
          <a:prstGeom prst="rect">
            <a:avLst/>
          </a:prstGeom>
        </p:spPr>
      </p:pic>
      <p:sp>
        <p:nvSpPr>
          <p:cNvPr id="36867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912284" y="188643"/>
            <a:ext cx="7010400" cy="2922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标题</a:t>
            </a:r>
          </a:p>
        </p:txBody>
      </p:sp>
      <p:sp>
        <p:nvSpPr>
          <p:cNvPr id="36869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908720"/>
            <a:ext cx="10464800" cy="20948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dirty="0"/>
              <a:t>This is our 1st Level Bullet</a:t>
            </a:r>
          </a:p>
          <a:p>
            <a:pPr lvl="1"/>
            <a:r>
              <a:rPr lang="en-US" altLang="zh-CN" dirty="0"/>
              <a:t>This is our 2nd level bullet</a:t>
            </a:r>
          </a:p>
          <a:p>
            <a:pPr lvl="2"/>
            <a:r>
              <a:rPr lang="en-US" altLang="zh-CN" dirty="0"/>
              <a:t>This is our 3rd level bullet</a:t>
            </a:r>
          </a:p>
          <a:p>
            <a:pPr lvl="0"/>
            <a:r>
              <a:rPr lang="en-US" altLang="zh-CN" dirty="0"/>
              <a:t>This is our next 1st Level Bullet</a:t>
            </a:r>
          </a:p>
          <a:p>
            <a:pPr lvl="1"/>
            <a:r>
              <a:rPr lang="en-US" altLang="zh-CN" dirty="0"/>
              <a:t>This is our 2nd level bullet</a:t>
            </a:r>
          </a:p>
          <a:p>
            <a:pPr lvl="2"/>
            <a:r>
              <a:rPr lang="en-US" altLang="zh-CN" dirty="0"/>
              <a:t>This is our 3rd level bullet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1280577" y="6553201"/>
            <a:ext cx="86409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fld id="{8E6141A4-B4DF-417A-BE19-BD33A1D78EA3}" type="slidenum">
              <a:rPr lang="zh-CN" altLang="en-US" sz="900" b="0">
                <a:solidFill>
                  <a:srgbClr val="000099"/>
                </a:solidFill>
                <a:ea typeface="Yu Gothic" panose="020B0400000000000000" pitchFamily="34" charset="-128"/>
                <a:cs typeface="Arial" panose="020B0604020202020204" pitchFamily="34" charset="0"/>
              </a:rPr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t>‹#›</a:t>
            </a:fld>
            <a:endParaRPr lang="en-US" altLang="zh-CN" sz="900" b="0" dirty="0">
              <a:solidFill>
                <a:srgbClr val="000099"/>
              </a:solidFill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22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</p:sldLayoutIdLst>
  <p:txStyles>
    <p:titleStyle>
      <a:lvl1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0">
          <a:solidFill>
            <a:srgbClr val="FF0000"/>
          </a:solidFill>
          <a:latin typeface="+mj-lt"/>
          <a:ea typeface="+mj-ea"/>
          <a:cs typeface="楷体_GB2312"/>
        </a:defRPr>
      </a:lvl1pPr>
      <a:lvl2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2pPr>
      <a:lvl3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3pPr>
      <a:lvl4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4pPr>
      <a:lvl5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5pPr>
      <a:lvl6pPr marL="3429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6pPr>
      <a:lvl7pPr marL="6858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7pPr>
      <a:lvl8pPr marL="10287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8pPr>
      <a:lvl9pPr marL="13716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13122" indent="-213122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FF0000"/>
        </a:buClr>
        <a:buSzPct val="100000"/>
        <a:buFont typeface="Wingdings" pitchFamily="2" charset="2"/>
        <a:buChar char="v"/>
        <a:defRPr sz="1800" b="1">
          <a:solidFill>
            <a:schemeClr val="tx1"/>
          </a:solidFill>
          <a:latin typeface="+mn-lt"/>
          <a:ea typeface="+mn-ea"/>
          <a:cs typeface="+mn-cs"/>
        </a:defRPr>
      </a:lvl1pPr>
      <a:lvl2pPr marL="501254" indent="-145256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001ADC"/>
        </a:buClr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2pPr>
      <a:lvl3pPr marL="788194" indent="-144066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05AD01"/>
        </a:buClr>
        <a:buSzPct val="100000"/>
        <a:buFont typeface="Wingdings" pitchFamily="2" charset="2"/>
        <a:buChar char="§"/>
        <a:defRPr b="1">
          <a:solidFill>
            <a:schemeClr val="tx1"/>
          </a:solidFill>
          <a:latin typeface="+mn-lt"/>
        </a:defRPr>
      </a:lvl3pPr>
      <a:lvl4pPr marL="1476375" indent="-25717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Times New Roman" pitchFamily="18" charset="0"/>
        </a:defRPr>
      </a:lvl4pPr>
      <a:lvl5pPr marL="18764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5pPr>
      <a:lvl6pPr marL="22193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6pPr>
      <a:lvl7pPr marL="25622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7pPr>
      <a:lvl8pPr marL="29051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8pPr>
      <a:lvl9pPr marL="32480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计算机硬件基础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>（</a:t>
            </a:r>
            <a:r>
              <a:rPr lang="en-US" altLang="zh-CN" dirty="0" smtClean="0"/>
              <a:t>2020</a:t>
            </a:r>
            <a:r>
              <a:rPr lang="zh-CN" altLang="en-US" dirty="0" smtClean="0"/>
              <a:t>级</a:t>
            </a:r>
            <a:r>
              <a:rPr lang="zh-CN" altLang="en-US" dirty="0"/>
              <a:t>）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503712" y="3849579"/>
            <a:ext cx="5400600" cy="87556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47625" tIns="72900" rIns="47625" bIns="7290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 sz="3600" baseline="30000" dirty="0" smtClean="0">
                <a:solidFill>
                  <a:srgbClr val="000066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牛建伟  王丽华  邓莹莹  李辉勇  李莹</a:t>
            </a:r>
            <a:endParaRPr lang="en-US" altLang="zh-CN" b="0" dirty="0">
              <a:solidFill>
                <a:srgbClr val="000066"/>
              </a:solidFill>
              <a:ea typeface="华文楷体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800987"/>
            <a:ext cx="10515600" cy="453841"/>
          </a:xfrm>
          <a:prstGeom prst="rect">
            <a:avLst/>
          </a:prstGeom>
        </p:spPr>
        <p:txBody>
          <a:bodyPr vert="horz" wrap="square" lIns="0" tIns="53212" rIns="0" bIns="0" rtlCol="0" anchor="ctr">
            <a:spAutoFit/>
          </a:bodyPr>
          <a:lstStyle/>
          <a:p>
            <a:pPr marL="240029">
              <a:lnSpc>
                <a:spcPct val="100000"/>
              </a:lnSpc>
            </a:pPr>
            <a:r>
              <a:rPr sz="2600" b="1" dirty="0">
                <a:latin typeface="Verdana"/>
                <a:cs typeface="Verdana"/>
              </a:rPr>
              <a:t>AlphaGo</a:t>
            </a:r>
            <a:endParaRPr sz="2600" b="1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9596" y="5307388"/>
            <a:ext cx="3159190" cy="1005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15900">
              <a:lnSpc>
                <a:spcPct val="98700"/>
              </a:lnSpc>
            </a:pPr>
            <a:r>
              <a:rPr sz="2200" b="1" dirty="0" err="1">
                <a:solidFill>
                  <a:srgbClr val="FF0000"/>
                </a:solidFill>
                <a:latin typeface="SimSun"/>
                <a:cs typeface="SimSun"/>
              </a:rPr>
              <a:t>对</a:t>
            </a:r>
            <a:r>
              <a:rPr sz="2200" b="1" spc="-5" dirty="0" err="1">
                <a:solidFill>
                  <a:srgbClr val="FF0000"/>
                </a:solidFill>
                <a:latin typeface="SimSun"/>
                <a:cs typeface="SimSun"/>
              </a:rPr>
              <a:t>规则明确</a:t>
            </a:r>
            <a:r>
              <a:rPr sz="2200" b="1" dirty="0" err="1">
                <a:solidFill>
                  <a:srgbClr val="FF0000"/>
                </a:solidFill>
                <a:latin typeface="SimSun"/>
                <a:cs typeface="SimSun"/>
              </a:rPr>
              <a:t>的</a:t>
            </a:r>
            <a:r>
              <a:rPr sz="2200" b="1" spc="-5" dirty="0" err="1">
                <a:solidFill>
                  <a:srgbClr val="FF0000"/>
                </a:solidFill>
                <a:latin typeface="SimSun"/>
                <a:cs typeface="SimSun"/>
              </a:rPr>
              <a:t>棋类游戏，机器最终一定能超越人类</a:t>
            </a:r>
            <a:endParaRPr sz="2200" b="1" dirty="0">
              <a:latin typeface="SimSun"/>
              <a:cs typeface="SimSu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5085" y="1153667"/>
            <a:ext cx="3148583" cy="4073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6" name="object 6"/>
          <p:cNvSpPr/>
          <p:nvPr/>
        </p:nvSpPr>
        <p:spPr>
          <a:xfrm>
            <a:off x="1909573" y="1257300"/>
            <a:ext cx="2959607" cy="3866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7" name="object 7"/>
          <p:cNvSpPr/>
          <p:nvPr/>
        </p:nvSpPr>
        <p:spPr>
          <a:xfrm>
            <a:off x="8098535" y="2320640"/>
            <a:ext cx="2447544" cy="33406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8" name="object 8"/>
          <p:cNvSpPr/>
          <p:nvPr/>
        </p:nvSpPr>
        <p:spPr>
          <a:xfrm>
            <a:off x="8314944" y="2554702"/>
            <a:ext cx="2014855" cy="2890520"/>
          </a:xfrm>
          <a:custGeom>
            <a:avLst/>
            <a:gdLst/>
            <a:ahLst/>
            <a:cxnLst/>
            <a:rect l="l" t="t" r="r" b="b"/>
            <a:pathLst>
              <a:path w="2014854" h="2890520">
                <a:moveTo>
                  <a:pt x="0" y="827151"/>
                </a:moveTo>
                <a:lnTo>
                  <a:pt x="3641" y="777537"/>
                </a:lnTo>
                <a:lnTo>
                  <a:pt x="14219" y="730182"/>
                </a:lnTo>
                <a:lnTo>
                  <a:pt x="31213" y="685604"/>
                </a:lnTo>
                <a:lnTo>
                  <a:pt x="54105" y="644324"/>
                </a:lnTo>
                <a:lnTo>
                  <a:pt x="82373" y="606861"/>
                </a:lnTo>
                <a:lnTo>
                  <a:pt x="115498" y="573736"/>
                </a:lnTo>
                <a:lnTo>
                  <a:pt x="152961" y="545468"/>
                </a:lnTo>
                <a:lnTo>
                  <a:pt x="194241" y="522576"/>
                </a:lnTo>
                <a:lnTo>
                  <a:pt x="238819" y="505582"/>
                </a:lnTo>
                <a:lnTo>
                  <a:pt x="286174" y="495004"/>
                </a:lnTo>
                <a:lnTo>
                  <a:pt x="335787" y="491363"/>
                </a:lnTo>
                <a:lnTo>
                  <a:pt x="393191" y="0"/>
                </a:lnTo>
                <a:lnTo>
                  <a:pt x="839470" y="491363"/>
                </a:lnTo>
                <a:lnTo>
                  <a:pt x="1678939" y="491363"/>
                </a:lnTo>
                <a:lnTo>
                  <a:pt x="1728553" y="495004"/>
                </a:lnTo>
                <a:lnTo>
                  <a:pt x="1775908" y="505582"/>
                </a:lnTo>
                <a:lnTo>
                  <a:pt x="1820486" y="522576"/>
                </a:lnTo>
                <a:lnTo>
                  <a:pt x="1861766" y="545468"/>
                </a:lnTo>
                <a:lnTo>
                  <a:pt x="1899229" y="573736"/>
                </a:lnTo>
                <a:lnTo>
                  <a:pt x="1932354" y="606861"/>
                </a:lnTo>
                <a:lnTo>
                  <a:pt x="1960622" y="644324"/>
                </a:lnTo>
                <a:lnTo>
                  <a:pt x="1983514" y="685604"/>
                </a:lnTo>
                <a:lnTo>
                  <a:pt x="2000508" y="730182"/>
                </a:lnTo>
                <a:lnTo>
                  <a:pt x="2011086" y="777537"/>
                </a:lnTo>
                <a:lnTo>
                  <a:pt x="2014727" y="827151"/>
                </a:lnTo>
                <a:lnTo>
                  <a:pt x="2014727" y="891159"/>
                </a:lnTo>
                <a:lnTo>
                  <a:pt x="2014727" y="1490853"/>
                </a:lnTo>
                <a:lnTo>
                  <a:pt x="2014727" y="2554351"/>
                </a:lnTo>
                <a:lnTo>
                  <a:pt x="2011086" y="2603964"/>
                </a:lnTo>
                <a:lnTo>
                  <a:pt x="2000508" y="2651319"/>
                </a:lnTo>
                <a:lnTo>
                  <a:pt x="1983514" y="2695897"/>
                </a:lnTo>
                <a:lnTo>
                  <a:pt x="1960622" y="2737177"/>
                </a:lnTo>
                <a:lnTo>
                  <a:pt x="1932354" y="2774640"/>
                </a:lnTo>
                <a:lnTo>
                  <a:pt x="1899229" y="2807765"/>
                </a:lnTo>
                <a:lnTo>
                  <a:pt x="1861766" y="2836033"/>
                </a:lnTo>
                <a:lnTo>
                  <a:pt x="1820486" y="2858925"/>
                </a:lnTo>
                <a:lnTo>
                  <a:pt x="1775908" y="2875919"/>
                </a:lnTo>
                <a:lnTo>
                  <a:pt x="1728553" y="2886497"/>
                </a:lnTo>
                <a:lnTo>
                  <a:pt x="1678939" y="2890139"/>
                </a:lnTo>
                <a:lnTo>
                  <a:pt x="839470" y="2890139"/>
                </a:lnTo>
                <a:lnTo>
                  <a:pt x="335787" y="2890139"/>
                </a:lnTo>
                <a:lnTo>
                  <a:pt x="286174" y="2886497"/>
                </a:lnTo>
                <a:lnTo>
                  <a:pt x="238819" y="2875919"/>
                </a:lnTo>
                <a:lnTo>
                  <a:pt x="194241" y="2858925"/>
                </a:lnTo>
                <a:lnTo>
                  <a:pt x="152961" y="2836033"/>
                </a:lnTo>
                <a:lnTo>
                  <a:pt x="115498" y="2807765"/>
                </a:lnTo>
                <a:lnTo>
                  <a:pt x="82373" y="2774640"/>
                </a:lnTo>
                <a:lnTo>
                  <a:pt x="54105" y="2737177"/>
                </a:lnTo>
                <a:lnTo>
                  <a:pt x="31213" y="2695897"/>
                </a:lnTo>
                <a:lnTo>
                  <a:pt x="14219" y="2651319"/>
                </a:lnTo>
                <a:lnTo>
                  <a:pt x="3641" y="2603964"/>
                </a:lnTo>
                <a:lnTo>
                  <a:pt x="0" y="2554351"/>
                </a:lnTo>
                <a:lnTo>
                  <a:pt x="0" y="1490853"/>
                </a:lnTo>
                <a:lnTo>
                  <a:pt x="0" y="891159"/>
                </a:lnTo>
                <a:lnTo>
                  <a:pt x="0" y="82715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9" name="object 9"/>
          <p:cNvSpPr txBox="1"/>
          <p:nvPr/>
        </p:nvSpPr>
        <p:spPr>
          <a:xfrm>
            <a:off x="8415362" y="3156682"/>
            <a:ext cx="1949450" cy="2218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None/>
            </a:pPr>
            <a:r>
              <a:rPr b="1" spc="-5" dirty="0">
                <a:latin typeface="SimSun"/>
                <a:cs typeface="SimSun"/>
              </a:rPr>
              <a:t>使用了职业</a:t>
            </a:r>
            <a:r>
              <a:rPr b="1" spc="-5" dirty="0">
                <a:latin typeface="Verdana"/>
                <a:cs typeface="Verdana"/>
              </a:rPr>
              <a:t>6</a:t>
            </a:r>
            <a:r>
              <a:rPr b="1" spc="-5" dirty="0">
                <a:latin typeface="SimSun"/>
                <a:cs typeface="SimSun"/>
              </a:rPr>
              <a:t>段</a:t>
            </a:r>
            <a:r>
              <a:rPr b="1" spc="-5" dirty="0">
                <a:latin typeface="Verdana"/>
                <a:cs typeface="Verdana"/>
              </a:rPr>
              <a:t>-</a:t>
            </a:r>
            <a:endParaRPr b="1" dirty="0">
              <a:latin typeface="Verdana"/>
              <a:cs typeface="Verdana"/>
            </a:endParaRPr>
          </a:p>
          <a:p>
            <a:pPr marL="12700">
              <a:buNone/>
            </a:pPr>
            <a:r>
              <a:rPr b="1" spc="-5" dirty="0">
                <a:latin typeface="Verdana"/>
                <a:cs typeface="Verdana"/>
              </a:rPr>
              <a:t>9</a:t>
            </a:r>
            <a:r>
              <a:rPr b="1" spc="-5" dirty="0">
                <a:latin typeface="SimSun"/>
                <a:cs typeface="SimSun"/>
              </a:rPr>
              <a:t>段人类对弈的</a:t>
            </a:r>
            <a:endParaRPr b="1" dirty="0">
              <a:latin typeface="SimSun"/>
              <a:cs typeface="SimSun"/>
            </a:endParaRPr>
          </a:p>
          <a:p>
            <a:pPr marL="12700">
              <a:buNone/>
            </a:pPr>
            <a:r>
              <a:rPr b="1" dirty="0">
                <a:solidFill>
                  <a:srgbClr val="0000FF"/>
                </a:solidFill>
                <a:latin typeface="Verdana"/>
                <a:cs typeface="Verdana"/>
              </a:rPr>
              <a:t>1</a:t>
            </a:r>
            <a:r>
              <a:rPr b="1" spc="-10" dirty="0">
                <a:solidFill>
                  <a:srgbClr val="0000FF"/>
                </a:solidFill>
                <a:latin typeface="Verdana"/>
                <a:cs typeface="Verdana"/>
              </a:rPr>
              <a:t>6</a:t>
            </a:r>
            <a:r>
              <a:rPr b="1" dirty="0">
                <a:solidFill>
                  <a:srgbClr val="0000FF"/>
                </a:solidFill>
                <a:latin typeface="Verdana"/>
                <a:cs typeface="Verdana"/>
              </a:rPr>
              <a:t>0,0</a:t>
            </a:r>
            <a:r>
              <a:rPr b="1" spc="-10" dirty="0">
                <a:solidFill>
                  <a:srgbClr val="0000FF"/>
                </a:solidFill>
                <a:latin typeface="Verdana"/>
                <a:cs typeface="Verdana"/>
              </a:rPr>
              <a:t>00</a:t>
            </a:r>
            <a:r>
              <a:rPr b="1" dirty="0">
                <a:latin typeface="SimSun"/>
                <a:cs typeface="SimSun"/>
              </a:rPr>
              <a:t>局共计</a:t>
            </a:r>
          </a:p>
          <a:p>
            <a:pPr marL="12700">
              <a:buNone/>
            </a:pPr>
            <a:r>
              <a:rPr b="1" spc="-5" dirty="0">
                <a:solidFill>
                  <a:srgbClr val="0000FF"/>
                </a:solidFill>
                <a:latin typeface="Verdana"/>
                <a:cs typeface="Verdana"/>
              </a:rPr>
              <a:t>29,400,000</a:t>
            </a:r>
            <a:r>
              <a:rPr b="1" spc="-5" dirty="0">
                <a:latin typeface="SimSun"/>
                <a:cs typeface="SimSun"/>
              </a:rPr>
              <a:t>个</a:t>
            </a:r>
            <a:endParaRPr b="1" dirty="0">
              <a:latin typeface="SimSun"/>
              <a:cs typeface="SimSun"/>
            </a:endParaRPr>
          </a:p>
          <a:p>
            <a:pPr marL="12700" marR="43815">
              <a:lnSpc>
                <a:spcPts val="2100"/>
              </a:lnSpc>
              <a:spcBef>
                <a:spcPts val="180"/>
              </a:spcBef>
              <a:buNone/>
            </a:pPr>
            <a:r>
              <a:rPr b="1" dirty="0">
                <a:latin typeface="SimSun"/>
                <a:cs typeface="SimSun"/>
              </a:rPr>
              <a:t>盘面，自我对弈  </a:t>
            </a:r>
            <a:r>
              <a:rPr b="1" spc="-5" dirty="0">
                <a:latin typeface="SimSun"/>
                <a:cs typeface="SimSun"/>
              </a:rPr>
              <a:t>的</a:t>
            </a:r>
            <a:r>
              <a:rPr b="1" spc="-5" dirty="0">
                <a:solidFill>
                  <a:srgbClr val="0000FF"/>
                </a:solidFill>
                <a:latin typeface="Verdana"/>
                <a:cs typeface="Verdana"/>
              </a:rPr>
              <a:t>30,000,000</a:t>
            </a:r>
            <a:endParaRPr b="1" dirty="0">
              <a:latin typeface="Verdana"/>
              <a:cs typeface="Verdana"/>
            </a:endParaRPr>
          </a:p>
          <a:p>
            <a:pPr marL="12700">
              <a:lnSpc>
                <a:spcPts val="2100"/>
              </a:lnSpc>
              <a:buNone/>
            </a:pPr>
            <a:r>
              <a:rPr b="1" spc="-5" dirty="0">
                <a:latin typeface="SimSun"/>
                <a:cs typeface="SimSun"/>
              </a:rPr>
              <a:t>个盘面进行学习</a:t>
            </a:r>
            <a:endParaRPr b="1" dirty="0">
              <a:latin typeface="SimSun"/>
              <a:cs typeface="SimSu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73267" y="761589"/>
            <a:ext cx="4928616" cy="21503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11" name="object 11"/>
          <p:cNvSpPr/>
          <p:nvPr/>
        </p:nvSpPr>
        <p:spPr>
          <a:xfrm>
            <a:off x="5768340" y="847979"/>
            <a:ext cx="4432116" cy="16707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12" name="object 12"/>
          <p:cNvSpPr/>
          <p:nvPr/>
        </p:nvSpPr>
        <p:spPr>
          <a:xfrm>
            <a:off x="4443222" y="1282447"/>
            <a:ext cx="1327150" cy="2703195"/>
          </a:xfrm>
          <a:custGeom>
            <a:avLst/>
            <a:gdLst/>
            <a:ahLst/>
            <a:cxnLst/>
            <a:rect l="l" t="t" r="r" b="b"/>
            <a:pathLst>
              <a:path w="1327150" h="2703195">
                <a:moveTo>
                  <a:pt x="1326895" y="0"/>
                </a:moveTo>
                <a:lnTo>
                  <a:pt x="0" y="2703067"/>
                </a:lnTo>
              </a:path>
            </a:pathLst>
          </a:custGeom>
          <a:ln w="28956">
            <a:solidFill>
              <a:srgbClr val="BEBEBE"/>
            </a:solidFill>
            <a:prstDash val="lgDash"/>
          </a:ln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13" name="object 13"/>
          <p:cNvSpPr/>
          <p:nvPr/>
        </p:nvSpPr>
        <p:spPr>
          <a:xfrm>
            <a:off x="4594098" y="2786633"/>
            <a:ext cx="1176020" cy="1275080"/>
          </a:xfrm>
          <a:custGeom>
            <a:avLst/>
            <a:gdLst/>
            <a:ahLst/>
            <a:cxnLst/>
            <a:rect l="l" t="t" r="r" b="b"/>
            <a:pathLst>
              <a:path w="1176020" h="1275079">
                <a:moveTo>
                  <a:pt x="1175765" y="0"/>
                </a:moveTo>
                <a:lnTo>
                  <a:pt x="0" y="1275079"/>
                </a:lnTo>
              </a:path>
            </a:pathLst>
          </a:custGeom>
          <a:ln w="28956">
            <a:solidFill>
              <a:srgbClr val="BEBEBE"/>
            </a:solidFill>
            <a:prstDash val="lgDash"/>
          </a:ln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14" name="object 14"/>
          <p:cNvSpPr/>
          <p:nvPr/>
        </p:nvSpPr>
        <p:spPr>
          <a:xfrm>
            <a:off x="5306568" y="2268824"/>
            <a:ext cx="2958083" cy="33695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15" name="object 15"/>
          <p:cNvSpPr/>
          <p:nvPr/>
        </p:nvSpPr>
        <p:spPr>
          <a:xfrm>
            <a:off x="5529071" y="2503394"/>
            <a:ext cx="2513330" cy="2919095"/>
          </a:xfrm>
          <a:custGeom>
            <a:avLst/>
            <a:gdLst/>
            <a:ahLst/>
            <a:cxnLst/>
            <a:rect l="l" t="t" r="r" b="b"/>
            <a:pathLst>
              <a:path w="2513329" h="2919095">
                <a:moveTo>
                  <a:pt x="0" y="1103757"/>
                </a:moveTo>
                <a:lnTo>
                  <a:pt x="3314" y="1054516"/>
                </a:lnTo>
                <a:lnTo>
                  <a:pt x="12969" y="1007285"/>
                </a:lnTo>
                <a:lnTo>
                  <a:pt x="28531" y="962497"/>
                </a:lnTo>
                <a:lnTo>
                  <a:pt x="49567" y="920585"/>
                </a:lnTo>
                <a:lnTo>
                  <a:pt x="75645" y="881982"/>
                </a:lnTo>
                <a:lnTo>
                  <a:pt x="106330" y="847121"/>
                </a:lnTo>
                <a:lnTo>
                  <a:pt x="141191" y="816436"/>
                </a:lnTo>
                <a:lnTo>
                  <a:pt x="179794" y="790358"/>
                </a:lnTo>
                <a:lnTo>
                  <a:pt x="221706" y="769322"/>
                </a:lnTo>
                <a:lnTo>
                  <a:pt x="266494" y="753760"/>
                </a:lnTo>
                <a:lnTo>
                  <a:pt x="313725" y="744105"/>
                </a:lnTo>
                <a:lnTo>
                  <a:pt x="362965" y="740791"/>
                </a:lnTo>
                <a:lnTo>
                  <a:pt x="418845" y="740791"/>
                </a:lnTo>
                <a:lnTo>
                  <a:pt x="1162177" y="0"/>
                </a:lnTo>
                <a:lnTo>
                  <a:pt x="1047114" y="740791"/>
                </a:lnTo>
                <a:lnTo>
                  <a:pt x="2150110" y="740791"/>
                </a:lnTo>
                <a:lnTo>
                  <a:pt x="2199350" y="744105"/>
                </a:lnTo>
                <a:lnTo>
                  <a:pt x="2246581" y="753760"/>
                </a:lnTo>
                <a:lnTo>
                  <a:pt x="2291369" y="769322"/>
                </a:lnTo>
                <a:lnTo>
                  <a:pt x="2333281" y="790358"/>
                </a:lnTo>
                <a:lnTo>
                  <a:pt x="2371884" y="816436"/>
                </a:lnTo>
                <a:lnTo>
                  <a:pt x="2406745" y="847121"/>
                </a:lnTo>
                <a:lnTo>
                  <a:pt x="2437430" y="881982"/>
                </a:lnTo>
                <a:lnTo>
                  <a:pt x="2463508" y="920585"/>
                </a:lnTo>
                <a:lnTo>
                  <a:pt x="2484544" y="962497"/>
                </a:lnTo>
                <a:lnTo>
                  <a:pt x="2500106" y="1007285"/>
                </a:lnTo>
                <a:lnTo>
                  <a:pt x="2509761" y="1054516"/>
                </a:lnTo>
                <a:lnTo>
                  <a:pt x="2513076" y="1103757"/>
                </a:lnTo>
                <a:lnTo>
                  <a:pt x="2513076" y="1648206"/>
                </a:lnTo>
                <a:lnTo>
                  <a:pt x="2513076" y="2555621"/>
                </a:lnTo>
                <a:lnTo>
                  <a:pt x="2509761" y="2604861"/>
                </a:lnTo>
                <a:lnTo>
                  <a:pt x="2500106" y="2652092"/>
                </a:lnTo>
                <a:lnTo>
                  <a:pt x="2484544" y="2696880"/>
                </a:lnTo>
                <a:lnTo>
                  <a:pt x="2463508" y="2738792"/>
                </a:lnTo>
                <a:lnTo>
                  <a:pt x="2437430" y="2777395"/>
                </a:lnTo>
                <a:lnTo>
                  <a:pt x="2406745" y="2812256"/>
                </a:lnTo>
                <a:lnTo>
                  <a:pt x="2371884" y="2842941"/>
                </a:lnTo>
                <a:lnTo>
                  <a:pt x="2333281" y="2869019"/>
                </a:lnTo>
                <a:lnTo>
                  <a:pt x="2291369" y="2890055"/>
                </a:lnTo>
                <a:lnTo>
                  <a:pt x="2246581" y="2905617"/>
                </a:lnTo>
                <a:lnTo>
                  <a:pt x="2199350" y="2915272"/>
                </a:lnTo>
                <a:lnTo>
                  <a:pt x="2150110" y="2918587"/>
                </a:lnTo>
                <a:lnTo>
                  <a:pt x="1047114" y="2918587"/>
                </a:lnTo>
                <a:lnTo>
                  <a:pt x="418845" y="2918587"/>
                </a:lnTo>
                <a:lnTo>
                  <a:pt x="362965" y="2918587"/>
                </a:lnTo>
                <a:lnTo>
                  <a:pt x="313725" y="2915272"/>
                </a:lnTo>
                <a:lnTo>
                  <a:pt x="266494" y="2905617"/>
                </a:lnTo>
                <a:lnTo>
                  <a:pt x="221706" y="2890055"/>
                </a:lnTo>
                <a:lnTo>
                  <a:pt x="179794" y="2869019"/>
                </a:lnTo>
                <a:lnTo>
                  <a:pt x="141191" y="2842941"/>
                </a:lnTo>
                <a:lnTo>
                  <a:pt x="106330" y="2812256"/>
                </a:lnTo>
                <a:lnTo>
                  <a:pt x="75645" y="2777395"/>
                </a:lnTo>
                <a:lnTo>
                  <a:pt x="49567" y="2738792"/>
                </a:lnTo>
                <a:lnTo>
                  <a:pt x="28531" y="2696880"/>
                </a:lnTo>
                <a:lnTo>
                  <a:pt x="12969" y="2652092"/>
                </a:lnTo>
                <a:lnTo>
                  <a:pt x="3314" y="2604861"/>
                </a:lnTo>
                <a:lnTo>
                  <a:pt x="0" y="2555621"/>
                </a:lnTo>
                <a:lnTo>
                  <a:pt x="0" y="1648206"/>
                </a:lnTo>
                <a:lnTo>
                  <a:pt x="0" y="110375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16" name="object 16"/>
          <p:cNvSpPr txBox="1"/>
          <p:nvPr/>
        </p:nvSpPr>
        <p:spPr>
          <a:xfrm>
            <a:off x="5641086" y="3427506"/>
            <a:ext cx="191261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  <a:buNone/>
            </a:pPr>
            <a:r>
              <a:rPr sz="2400" b="1" spc="5" dirty="0" err="1" smtClean="0">
                <a:latin typeface="Microsoft JhengHei"/>
                <a:cs typeface="Microsoft JhengHei"/>
              </a:rPr>
              <a:t>机器学习</a:t>
            </a:r>
            <a:r>
              <a:rPr lang="zh-CN" altLang="en-US" sz="2400" b="1" spc="5" dirty="0" smtClean="0">
                <a:latin typeface="Microsoft JhengHei"/>
                <a:cs typeface="Microsoft JhengHei"/>
              </a:rPr>
              <a:t>技术</a:t>
            </a:r>
            <a:endParaRPr sz="2400" b="1" dirty="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68340" y="3838258"/>
            <a:ext cx="1912620" cy="1367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None/>
              <a:tabLst>
                <a:tab pos="299085" algn="l"/>
              </a:tabLst>
            </a:pPr>
            <a:r>
              <a:rPr b="1" spc="-5" dirty="0">
                <a:latin typeface="Arial"/>
                <a:cs typeface="Arial"/>
              </a:rPr>
              <a:t>•	</a:t>
            </a:r>
            <a:r>
              <a:rPr b="1" dirty="0">
                <a:latin typeface="SimSun"/>
                <a:cs typeface="SimSun"/>
              </a:rPr>
              <a:t>深度学习</a:t>
            </a:r>
          </a:p>
          <a:p>
            <a:pPr marL="12700">
              <a:buNone/>
              <a:tabLst>
                <a:tab pos="299085" algn="l"/>
              </a:tabLst>
            </a:pPr>
            <a:r>
              <a:rPr b="1" spc="-5" dirty="0">
                <a:latin typeface="Arial"/>
                <a:cs typeface="Arial"/>
              </a:rPr>
              <a:t>•	</a:t>
            </a:r>
            <a:r>
              <a:rPr b="1" dirty="0">
                <a:latin typeface="SimSun"/>
                <a:cs typeface="SimSun"/>
              </a:rPr>
              <a:t>强化学习</a:t>
            </a:r>
          </a:p>
          <a:p>
            <a:pPr marL="12700">
              <a:lnSpc>
                <a:spcPts val="2155"/>
              </a:lnSpc>
              <a:buNone/>
              <a:tabLst>
                <a:tab pos="299085" algn="l"/>
              </a:tabLst>
            </a:pPr>
            <a:r>
              <a:rPr b="1" dirty="0">
                <a:latin typeface="Arial"/>
                <a:cs typeface="Arial"/>
              </a:rPr>
              <a:t>•	</a:t>
            </a:r>
            <a:r>
              <a:rPr b="1" spc="-5" dirty="0">
                <a:latin typeface="SimSun"/>
                <a:cs typeface="SimSun"/>
              </a:rPr>
              <a:t>蒙特卡洛树搜索</a:t>
            </a:r>
            <a:endParaRPr b="1" dirty="0">
              <a:latin typeface="SimSun"/>
              <a:cs typeface="SimSun"/>
            </a:endParaRPr>
          </a:p>
          <a:p>
            <a:pPr marL="12700">
              <a:lnSpc>
                <a:spcPts val="2155"/>
              </a:lnSpc>
              <a:buNone/>
              <a:tabLst>
                <a:tab pos="299085" algn="l"/>
              </a:tabLst>
            </a:pPr>
            <a:r>
              <a:rPr b="1" spc="-5" dirty="0">
                <a:latin typeface="Arial"/>
                <a:cs typeface="Arial"/>
              </a:rPr>
              <a:t>•	</a:t>
            </a:r>
            <a:r>
              <a:rPr b="1" spc="-5" dirty="0">
                <a:latin typeface="Verdana"/>
                <a:cs typeface="Verdana"/>
              </a:rPr>
              <a:t>…</a:t>
            </a:r>
            <a:endParaRPr b="1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50765" y="5795032"/>
            <a:ext cx="6330364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None/>
            </a:pPr>
            <a:r>
              <a:rPr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现代人工智能：数据 </a:t>
            </a:r>
            <a:r>
              <a:rPr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+ </a:t>
            </a:r>
            <a:r>
              <a:rPr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算法 </a:t>
            </a:r>
            <a:r>
              <a:rPr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+ </a:t>
            </a:r>
            <a:r>
              <a:rPr lang="zh-CN" altLang="en-US" sz="2800" b="1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算力</a:t>
            </a:r>
            <a:endParaRPr lang="en-US" altLang="zh-CN" sz="2800" b="1" dirty="0" smtClean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  <a:cs typeface="SimSun"/>
            </a:endParaRPr>
          </a:p>
          <a:p>
            <a:pPr marL="12700"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算力从何处来？</a:t>
            </a:r>
            <a:endParaRPr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  <a:cs typeface="SimSun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0"/>
            <a:ext cx="3498073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600" dirty="0" err="1" smtClean="0"/>
              <a:t>AlphaGo</a:t>
            </a:r>
            <a:r>
              <a:rPr lang="zh-CN" altLang="en-US" sz="3600" dirty="0" smtClean="0"/>
              <a:t>的故事</a:t>
            </a:r>
            <a:endParaRPr lang="zh-CN" altLang="en-US" sz="36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43" y="669978"/>
            <a:ext cx="5312408" cy="592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5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19336" y="44624"/>
            <a:ext cx="4424609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3600" dirty="0" smtClean="0">
                <a:solidFill>
                  <a:schemeClr val="accent1"/>
                </a:solidFill>
              </a:rPr>
              <a:t>聂卫平评价</a:t>
            </a:r>
            <a:r>
              <a:rPr lang="en-US" altLang="zh-CN" sz="3600" dirty="0" err="1" smtClean="0">
                <a:solidFill>
                  <a:schemeClr val="accent1"/>
                </a:solidFill>
              </a:rPr>
              <a:t>AlphaGo</a:t>
            </a:r>
            <a:endParaRPr lang="zh-CN" altLang="en-US" sz="3600" dirty="0">
              <a:solidFill>
                <a:schemeClr val="accent1"/>
              </a:solidFill>
            </a:endParaRPr>
          </a:p>
        </p:txBody>
      </p:sp>
      <p:pic>
        <p:nvPicPr>
          <p:cNvPr id="7170" name="Picture 2" descr="聂卫平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908720"/>
            <a:ext cx="4865404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/>
          <p:cNvSpPr txBox="1"/>
          <p:nvPr/>
        </p:nvSpPr>
        <p:spPr>
          <a:xfrm>
            <a:off x="5375920" y="908720"/>
            <a:ext cx="6696744" cy="4696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世界顶尖棋手李世石和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AlphaGo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的比赛消息一出，聂卫平第一反应是：“电脑和人比赛，电脑一点机会都没有。我很坚定的表态，谷歌就是在炒作。”可最后的结局却让聂卫平咋舌，“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AlphaGo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下的第五招在围棋的定式书上是没有的。没有人往那走，它竟然会自己创新！”聂卫平表示：“我非常震撼，它不但厉害，而且特别的厉害，它的水平显然在人类职业棋手的最高水平之上。”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91544" y="5949280"/>
            <a:ext cx="9145016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zh-CN" altLang="en-US" sz="3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计算机做了什么事情，智力如此之高？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200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2000"/>
            <a:ext cx="7752184" cy="426368"/>
          </a:xfrm>
        </p:spPr>
        <p:txBody>
          <a:bodyPr>
            <a:normAutofit/>
          </a:bodyPr>
          <a:lstStyle/>
          <a:p>
            <a:r>
              <a:rPr lang="zh-CN" altLang="en-US" sz="2400" i="0" dirty="0" smtClean="0">
                <a:latin typeface="+mn-lt"/>
              </a:rPr>
              <a:t>计算机真的是无所不能吗？它究竟</a:t>
            </a:r>
            <a:r>
              <a:rPr lang="zh-CN" altLang="en-US" sz="2400" i="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默默无闻</a:t>
            </a:r>
            <a:r>
              <a:rPr lang="zh-CN" altLang="en-US" sz="2400" i="0" dirty="0" smtClean="0">
                <a:latin typeface="+mn-lt"/>
              </a:rPr>
              <a:t>地做了什么？</a:t>
            </a:r>
            <a:endParaRPr lang="zh-CN" altLang="en-US" sz="2400" i="0" dirty="0">
              <a:latin typeface="+mn-lt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35360" y="678368"/>
            <a:ext cx="11496600" cy="6279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No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从底层来看计算机能够做的事情：通过由二极管、三极管等晶体管组成或、与、非门及其复合门实现的算术运算（加法和移位）和逻辑运算。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计算机的强大功能都是通过复杂的程序来实现的：数据结构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目前看似强大的人工智能主要表现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在封闭空间域，目前计算机与人脑的计算模式完全不一样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基于符号的逻辑推导（传统人工智能的符号主义）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规则约束空间（有限空间）的快速搜索与优化选择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基于数据的学习（联结主义）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目前通用人工智能还比较弱（开放空间域）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还远不如一个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5-6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岁孩子的理解力，很难理解人的意图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还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基本读不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懂图书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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计算机能够做的事情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存储并运行机器指令（不同的机器可能指令集是不一样的）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30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839" y="1493838"/>
            <a:ext cx="6256337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119336" y="157274"/>
            <a:ext cx="8229600" cy="533288"/>
          </a:xfrm>
        </p:spPr>
        <p:txBody>
          <a:bodyPr/>
          <a:lstStyle/>
          <a:p>
            <a:r>
              <a:rPr lang="zh-CN" altLang="en-US" sz="3600" dirty="0"/>
              <a:t>什么是计算机系统？</a:t>
            </a:r>
          </a:p>
        </p:txBody>
      </p:sp>
      <p:sp>
        <p:nvSpPr>
          <p:cNvPr id="533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74826" y="1177925"/>
            <a:ext cx="2384425" cy="401238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30000"/>
              </a:spcBef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</a:rPr>
              <a:t>程序执行结果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</a:rPr>
              <a:t>   </a:t>
            </a:r>
            <a:r>
              <a:rPr lang="zh-CN" altLang="en-US" sz="2200" dirty="0"/>
              <a:t>不仅取决于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Tx/>
              <a:buNone/>
            </a:pPr>
            <a:r>
              <a:rPr lang="zh-CN" altLang="en-US" sz="2200" dirty="0">
                <a:solidFill>
                  <a:srgbClr val="008000"/>
                </a:solidFill>
              </a:rPr>
              <a:t>算法、程序编写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Tx/>
              <a:buNone/>
            </a:pPr>
            <a:r>
              <a:rPr lang="zh-CN" altLang="en-US" sz="2200" dirty="0"/>
              <a:t>    而且取决于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Tx/>
              <a:buNone/>
            </a:pPr>
            <a:r>
              <a:rPr lang="zh-CN" altLang="en-US" sz="2200" dirty="0">
                <a:solidFill>
                  <a:srgbClr val="008000"/>
                </a:solidFill>
              </a:rPr>
              <a:t>语言处理系统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Tx/>
              <a:buNone/>
            </a:pPr>
            <a:r>
              <a:rPr lang="zh-CN" altLang="en-US" sz="2200" dirty="0">
                <a:solidFill>
                  <a:srgbClr val="008000"/>
                </a:solidFill>
              </a:rPr>
              <a:t>操作系统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Tx/>
              <a:buNone/>
            </a:pPr>
            <a:r>
              <a:rPr lang="en-US" altLang="zh-CN" sz="2200" dirty="0">
                <a:solidFill>
                  <a:srgbClr val="008000"/>
                </a:solidFill>
              </a:rPr>
              <a:t>ISA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Tx/>
              <a:buNone/>
            </a:pPr>
            <a:r>
              <a:rPr lang="zh-CN" altLang="en-US" sz="2200" dirty="0">
                <a:solidFill>
                  <a:srgbClr val="008000"/>
                </a:solidFill>
              </a:rPr>
              <a:t>微体系结构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Tx/>
              <a:buNone/>
            </a:pPr>
            <a:endParaRPr lang="en-US" altLang="zh-CN" sz="2200" dirty="0">
              <a:solidFill>
                <a:srgbClr val="008000"/>
              </a:solidFill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903788" y="904876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微软雅黑" panose="020B0503020204020204" pitchFamily="34" charset="-122"/>
              </a:rPr>
              <a:t>计算机系统</a:t>
            </a:r>
            <a:r>
              <a:rPr lang="zh-CN" altLang="en-US" dirty="0">
                <a:solidFill>
                  <a:schemeClr val="accent2"/>
                </a:solidFill>
                <a:ea typeface="微软雅黑" panose="020B0503020204020204" pitchFamily="34" charset="-122"/>
              </a:rPr>
              <a:t>抽象层的转换</a:t>
            </a:r>
            <a:r>
              <a:rPr lang="zh-CN" altLang="en-US" sz="1800" b="0" dirty="0"/>
              <a:t> 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4746626" y="2214563"/>
            <a:ext cx="3914775" cy="1035050"/>
          </a:xfrm>
          <a:prstGeom prst="rect">
            <a:avLst/>
          </a:prstGeom>
          <a:solidFill>
            <a:srgbClr val="339966">
              <a:alpha val="2392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0"/>
          </a:p>
        </p:txBody>
      </p:sp>
      <p:sp>
        <p:nvSpPr>
          <p:cNvPr id="533511" name="Text Box 7"/>
          <p:cNvSpPr txBox="1">
            <a:spLocks noChangeArrowheads="1"/>
          </p:cNvSpPr>
          <p:nvPr/>
        </p:nvSpPr>
        <p:spPr bwMode="auto">
          <a:xfrm>
            <a:off x="1774826" y="4868863"/>
            <a:ext cx="229552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ea typeface="微软雅黑" panose="020B0503020204020204" pitchFamily="34" charset="-122"/>
              </a:rPr>
              <a:t>不同计算机课程处于不同层次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ea typeface="微软雅黑" panose="020B0503020204020204" pitchFamily="34" charset="-122"/>
              </a:rPr>
              <a:t>必须将各层次关联起来解决问题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760296" y="6578600"/>
            <a:ext cx="2999656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dirty="0" smtClean="0"/>
              <a:t>from</a:t>
            </a:r>
            <a:r>
              <a:rPr lang="zh-CN" altLang="en-US" dirty="0" smtClean="0"/>
              <a:t>南大袁春风教授</a:t>
            </a:r>
            <a:r>
              <a:rPr lang="en-US" altLang="zh-CN" dirty="0" smtClean="0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115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3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3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3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3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3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3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3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3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3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713" y="1522066"/>
            <a:ext cx="2432050" cy="512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7031" y="178249"/>
            <a:ext cx="8229600" cy="426142"/>
          </a:xfrm>
        </p:spPr>
        <p:txBody>
          <a:bodyPr/>
          <a:lstStyle/>
          <a:p>
            <a:r>
              <a:rPr lang="zh-CN" altLang="en-US" sz="2800" dirty="0" smtClean="0">
                <a:latin typeface="黑体" panose="02010609060101010101" pitchFamily="49" charset="-122"/>
              </a:rPr>
              <a:t>本课程的定位</a:t>
            </a:r>
            <a:endParaRPr lang="zh-CN" altLang="en-US" sz="2800" dirty="0" smtClean="0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688288" y="980728"/>
            <a:ext cx="262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微软雅黑" panose="020B0503020204020204" pitchFamily="34" charset="-122"/>
              </a:rPr>
              <a:t>计算机系统</a:t>
            </a:r>
            <a:r>
              <a:rPr lang="zh-CN" altLang="en-US" dirty="0">
                <a:solidFill>
                  <a:schemeClr val="accent2"/>
                </a:solidFill>
                <a:ea typeface="微软雅黑" panose="020B0503020204020204" pitchFamily="34" charset="-122"/>
              </a:rPr>
              <a:t>抽象层</a:t>
            </a:r>
            <a:endParaRPr lang="zh-CN" altLang="en-US" sz="1800" b="0" dirty="0"/>
          </a:p>
        </p:txBody>
      </p:sp>
      <p:sp>
        <p:nvSpPr>
          <p:cNvPr id="534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63352" y="764704"/>
            <a:ext cx="7300986" cy="5975995"/>
          </a:xfrm>
          <a:noFill/>
        </p:spPr>
        <p:txBody>
          <a:bodyPr/>
          <a:lstStyle/>
          <a:p>
            <a:pPr>
              <a:buNone/>
            </a:pPr>
            <a:r>
              <a:rPr lang="zh-CN" altLang="en-US" sz="2200" dirty="0" smtClean="0">
                <a:solidFill>
                  <a:srgbClr val="FF0000"/>
                </a:solidFill>
              </a:rPr>
              <a:t>课程目标：</a:t>
            </a:r>
            <a:r>
              <a:rPr lang="en-US" altLang="zh-CN" sz="2200" dirty="0" smtClean="0"/>
              <a:t>1</a:t>
            </a:r>
            <a:r>
              <a:rPr lang="zh-CN" altLang="en-US" sz="2200" dirty="0" smtClean="0"/>
              <a:t>）清楚</a:t>
            </a:r>
            <a:r>
              <a:rPr lang="zh-CN" altLang="en-US" sz="2200" dirty="0" smtClean="0"/>
              <a:t>理解功能型计算机</a:t>
            </a:r>
            <a:r>
              <a:rPr lang="zh-CN" altLang="en-US" sz="2200" dirty="0"/>
              <a:t>是</a:t>
            </a:r>
            <a:r>
              <a:rPr lang="zh-CN" altLang="en-US" sz="2200" dirty="0" smtClean="0"/>
              <a:t>如何构建，可执行目标文件如何生成和运行；</a:t>
            </a:r>
            <a:r>
              <a:rPr lang="en-US" altLang="zh-CN" sz="2200" dirty="0" smtClean="0"/>
              <a:t>2</a:t>
            </a:r>
            <a:r>
              <a:rPr lang="zh-CN" altLang="en-US" sz="2200" dirty="0" smtClean="0"/>
              <a:t>）</a:t>
            </a:r>
            <a:r>
              <a:rPr lang="zh-CN" altLang="en-US" sz="2200" dirty="0"/>
              <a:t>培养学生的系统能力</a:t>
            </a:r>
            <a:r>
              <a:rPr lang="zh-CN" altLang="en-US" sz="2200" dirty="0" smtClean="0"/>
              <a:t>，能够编写高效的程序，建立计算机系统扎实的概念，</a:t>
            </a:r>
            <a:r>
              <a:rPr lang="zh-CN" altLang="en-US" sz="2200" dirty="0"/>
              <a:t>为后续的</a:t>
            </a:r>
            <a:r>
              <a:rPr lang="en-US" altLang="zh-CN" sz="2200" dirty="0"/>
              <a:t>OS</a:t>
            </a:r>
            <a:r>
              <a:rPr lang="zh-CN" altLang="en-US" sz="2200" dirty="0"/>
              <a:t>、编译、体系结构等课程打下坚实基础</a:t>
            </a:r>
          </a:p>
          <a:p>
            <a:pPr>
              <a:buFontTx/>
              <a:buNone/>
            </a:pPr>
            <a:r>
              <a:rPr lang="zh-CN" altLang="en-US" sz="2200" dirty="0" smtClean="0"/>
              <a:t>重点</a:t>
            </a:r>
            <a:r>
              <a:rPr lang="zh-CN" altLang="en-US" sz="2200" dirty="0"/>
              <a:t>在高级语言以下各抽象层</a:t>
            </a:r>
            <a:endParaRPr lang="en-US" altLang="zh-CN" sz="2200" dirty="0"/>
          </a:p>
          <a:p>
            <a:pPr lvl="1"/>
            <a:r>
              <a:rPr lang="en-US" altLang="zh-CN" sz="2200" dirty="0"/>
              <a:t>C</a:t>
            </a:r>
            <a:r>
              <a:rPr lang="zh-CN" altLang="en-US" sz="2200" dirty="0"/>
              <a:t>语言程序设计层</a:t>
            </a:r>
          </a:p>
          <a:p>
            <a:pPr lvl="2"/>
            <a:r>
              <a:rPr lang="zh-CN" altLang="en-US" sz="2200" dirty="0"/>
              <a:t>数据的机器级表示、运算</a:t>
            </a:r>
          </a:p>
          <a:p>
            <a:pPr lvl="2"/>
            <a:r>
              <a:rPr lang="zh-CN" altLang="en-US" sz="2200" dirty="0" smtClean="0"/>
              <a:t>过程调用</a:t>
            </a:r>
            <a:r>
              <a:rPr lang="zh-CN" altLang="en-US" sz="2200" dirty="0"/>
              <a:t>的机器级表示</a:t>
            </a:r>
            <a:endParaRPr lang="en-US" altLang="zh-CN" sz="2200" dirty="0"/>
          </a:p>
          <a:p>
            <a:pPr lvl="1"/>
            <a:r>
              <a:rPr lang="zh-CN" altLang="en-US" sz="2200" dirty="0"/>
              <a:t>操作系统、编译和链接</a:t>
            </a:r>
            <a:r>
              <a:rPr lang="zh-CN" altLang="en-US" sz="2200" dirty="0"/>
              <a:t>的接口部分</a:t>
            </a:r>
            <a:r>
              <a:rPr lang="zh-CN" altLang="en-US" sz="2200" dirty="0"/>
              <a:t>内容</a:t>
            </a:r>
          </a:p>
          <a:p>
            <a:pPr lvl="1"/>
            <a:r>
              <a:rPr lang="zh-CN" altLang="en-US" sz="2200" dirty="0"/>
              <a:t>指令集体系结构（</a:t>
            </a:r>
            <a:r>
              <a:rPr lang="en-US" altLang="zh-CN" sz="2200" dirty="0"/>
              <a:t>ISA</a:t>
            </a:r>
            <a:r>
              <a:rPr lang="zh-CN" altLang="en-US" sz="2200" dirty="0"/>
              <a:t>）和</a:t>
            </a:r>
            <a:r>
              <a:rPr lang="zh-CN" altLang="en-US" sz="2200" dirty="0"/>
              <a:t>汇编语言 </a:t>
            </a:r>
            <a:endParaRPr lang="zh-CN" altLang="en-US" sz="2200" dirty="0"/>
          </a:p>
          <a:p>
            <a:pPr lvl="2"/>
            <a:r>
              <a:rPr lang="zh-CN" altLang="en-US" sz="2200" dirty="0"/>
              <a:t>指令系统、机器代码、汇编语言</a:t>
            </a:r>
          </a:p>
          <a:p>
            <a:pPr lvl="1"/>
            <a:r>
              <a:rPr lang="zh-CN" altLang="en-US" sz="2200" dirty="0"/>
              <a:t>微体系结构及硬件层</a:t>
            </a:r>
          </a:p>
          <a:p>
            <a:pPr lvl="2"/>
            <a:r>
              <a:rPr lang="en-US" altLang="zh-CN" sz="2200" dirty="0" smtClean="0"/>
              <a:t>MIPS CPU</a:t>
            </a:r>
            <a:r>
              <a:rPr lang="zh-CN" altLang="en-US" sz="2200" dirty="0" smtClean="0"/>
              <a:t>构建</a:t>
            </a:r>
            <a:endParaRPr lang="zh-CN" altLang="en-US" sz="2200" dirty="0"/>
          </a:p>
          <a:p>
            <a:pPr lvl="2"/>
            <a:r>
              <a:rPr lang="zh-CN" altLang="en-US" sz="2200" dirty="0"/>
              <a:t>层次结构</a:t>
            </a:r>
            <a:r>
              <a:rPr lang="zh-CN" altLang="en-US" sz="2200" dirty="0" smtClean="0"/>
              <a:t>存储系统（主存储器、</a:t>
            </a:r>
            <a:r>
              <a:rPr lang="en-US" altLang="zh-CN" sz="2200" dirty="0" smtClean="0"/>
              <a:t>Cache</a:t>
            </a:r>
            <a:r>
              <a:rPr lang="zh-CN" altLang="en-US" sz="2200" dirty="0" smtClean="0"/>
              <a:t>，</a:t>
            </a:r>
            <a:r>
              <a:rPr lang="en-US" altLang="zh-CN" sz="2200" dirty="0" smtClean="0"/>
              <a:t>VM</a:t>
            </a:r>
            <a:r>
              <a:rPr lang="zh-CN" altLang="en-US" sz="2200" dirty="0" smtClean="0"/>
              <a:t>）</a:t>
            </a:r>
            <a:endParaRPr lang="en-US" altLang="zh-CN" sz="2200" dirty="0"/>
          </a:p>
        </p:txBody>
      </p:sp>
      <p:sp>
        <p:nvSpPr>
          <p:cNvPr id="534534" name="Rectangle 6"/>
          <p:cNvSpPr>
            <a:spLocks noChangeArrowheads="1"/>
          </p:cNvSpPr>
          <p:nvPr/>
        </p:nvSpPr>
        <p:spPr bwMode="auto">
          <a:xfrm>
            <a:off x="8913714" y="2692053"/>
            <a:ext cx="2384425" cy="495300"/>
          </a:xfrm>
          <a:prstGeom prst="rect">
            <a:avLst/>
          </a:prstGeom>
          <a:solidFill>
            <a:srgbClr val="00808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0"/>
          </a:p>
        </p:txBody>
      </p:sp>
      <p:sp>
        <p:nvSpPr>
          <p:cNvPr id="534535" name="Rectangle 7"/>
          <p:cNvSpPr>
            <a:spLocks noChangeArrowheads="1"/>
          </p:cNvSpPr>
          <p:nvPr/>
        </p:nvSpPr>
        <p:spPr bwMode="auto">
          <a:xfrm>
            <a:off x="8913714" y="3185766"/>
            <a:ext cx="2384425" cy="539750"/>
          </a:xfrm>
          <a:prstGeom prst="rect">
            <a:avLst/>
          </a:prstGeom>
          <a:solidFill>
            <a:srgbClr val="993366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0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7878663" y="4085878"/>
            <a:ext cx="10350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37" name="Rectangle 9"/>
          <p:cNvSpPr>
            <a:spLocks noChangeArrowheads="1"/>
          </p:cNvSpPr>
          <p:nvPr/>
        </p:nvSpPr>
        <p:spPr bwMode="auto">
          <a:xfrm>
            <a:off x="8913714" y="4355753"/>
            <a:ext cx="2384425" cy="1079500"/>
          </a:xfrm>
          <a:prstGeom prst="rect">
            <a:avLst/>
          </a:prstGeom>
          <a:solidFill>
            <a:srgbClr val="FFFF0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0"/>
          </a:p>
        </p:txBody>
      </p:sp>
      <p:grpSp>
        <p:nvGrpSpPr>
          <p:cNvPr id="21514" name="Group 10"/>
          <p:cNvGrpSpPr>
            <a:grpSpLocks/>
          </p:cNvGrpSpPr>
          <p:nvPr/>
        </p:nvGrpSpPr>
        <p:grpSpPr bwMode="auto">
          <a:xfrm>
            <a:off x="8192988" y="2465042"/>
            <a:ext cx="406400" cy="1620837"/>
            <a:chOff x="3645" y="1621"/>
            <a:chExt cx="256" cy="1021"/>
          </a:xfrm>
        </p:grpSpPr>
        <p:sp>
          <p:nvSpPr>
            <p:cNvPr id="21518" name="Line 11"/>
            <p:cNvSpPr>
              <a:spLocks noChangeShapeType="1"/>
            </p:cNvSpPr>
            <p:nvPr/>
          </p:nvSpPr>
          <p:spPr bwMode="auto">
            <a:xfrm flipV="1">
              <a:off x="3787" y="2103"/>
              <a:ext cx="0" cy="539"/>
            </a:xfrm>
            <a:prstGeom prst="line">
              <a:avLst/>
            </a:prstGeom>
            <a:noFill/>
            <a:ln w="57150">
              <a:solidFill>
                <a:srgbClr val="0066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9" name="Text Box 12"/>
            <p:cNvSpPr txBox="1">
              <a:spLocks noChangeArrowheads="1"/>
            </p:cNvSpPr>
            <p:nvPr/>
          </p:nvSpPr>
          <p:spPr bwMode="auto">
            <a:xfrm>
              <a:off x="3645" y="1621"/>
              <a:ext cx="256" cy="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300">
                  <a:ea typeface="微软雅黑" panose="020B0503020204020204" pitchFamily="34" charset="-122"/>
                </a:rPr>
                <a:t>软件</a:t>
              </a:r>
            </a:p>
          </p:txBody>
        </p:sp>
      </p:grpSp>
      <p:grpSp>
        <p:nvGrpSpPr>
          <p:cNvPr id="21515" name="Group 13"/>
          <p:cNvGrpSpPr>
            <a:grpSpLocks/>
          </p:cNvGrpSpPr>
          <p:nvPr/>
        </p:nvGrpSpPr>
        <p:grpSpPr bwMode="auto">
          <a:xfrm>
            <a:off x="8192988" y="4085879"/>
            <a:ext cx="406400" cy="1649413"/>
            <a:chOff x="3645" y="2642"/>
            <a:chExt cx="256" cy="1039"/>
          </a:xfrm>
        </p:grpSpPr>
        <p:sp>
          <p:nvSpPr>
            <p:cNvPr id="21516" name="Line 14"/>
            <p:cNvSpPr>
              <a:spLocks noChangeShapeType="1"/>
            </p:cNvSpPr>
            <p:nvPr/>
          </p:nvSpPr>
          <p:spPr bwMode="auto">
            <a:xfrm flipV="1">
              <a:off x="3787" y="2642"/>
              <a:ext cx="0" cy="539"/>
            </a:xfrm>
            <a:prstGeom prst="line">
              <a:avLst/>
            </a:prstGeom>
            <a:noFill/>
            <a:ln w="57150">
              <a:solidFill>
                <a:srgbClr val="0066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7" name="Text Box 15"/>
            <p:cNvSpPr txBox="1">
              <a:spLocks noChangeArrowheads="1"/>
            </p:cNvSpPr>
            <p:nvPr/>
          </p:nvSpPr>
          <p:spPr bwMode="auto">
            <a:xfrm>
              <a:off x="3645" y="3181"/>
              <a:ext cx="256" cy="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300">
                  <a:ea typeface="微软雅黑" panose="020B0503020204020204" pitchFamily="34" charset="-122"/>
                </a:rPr>
                <a:t>硬件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119181" y="6057007"/>
            <a:ext cx="2035833" cy="406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zh-CN" altLang="en-US" sz="2400" dirty="0" smtClean="0">
                <a:latin typeface="+mj-ea"/>
                <a:ea typeface="+mj-ea"/>
              </a:rPr>
              <a:t>半导体元器件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3599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4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4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4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34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34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34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3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34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34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34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34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34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4" grpId="0" animBg="1"/>
      <p:bldP spid="534535" grpId="0" animBg="1"/>
      <p:bldP spid="5345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116632"/>
            <a:ext cx="5257800" cy="479747"/>
          </a:xfrm>
        </p:spPr>
        <p:txBody>
          <a:bodyPr/>
          <a:lstStyle/>
          <a:p>
            <a:r>
              <a:rPr lang="zh-CN" altLang="en-US" sz="3200" dirty="0"/>
              <a:t>课程介绍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68" y="773354"/>
            <a:ext cx="11017224" cy="5699925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先导课程和基础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C</a:t>
            </a:r>
            <a:r>
              <a:rPr lang="zh-CN" altLang="en-US" sz="2000" dirty="0"/>
              <a:t>语言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zh-CN" altLang="en-US" sz="2800" dirty="0" smtClean="0"/>
              <a:t>课程</a:t>
            </a:r>
            <a:r>
              <a:rPr lang="zh-CN" altLang="en-US" sz="2800" dirty="0"/>
              <a:t>名称</a:t>
            </a:r>
          </a:p>
          <a:p>
            <a:pPr lvl="1" indent="-204788"/>
            <a:r>
              <a:rPr lang="zh-CN" altLang="en-US" sz="2000" dirty="0" smtClean="0"/>
              <a:t>计算机硬件基础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软件专业（</a:t>
            </a:r>
            <a:r>
              <a:rPr lang="en-US" altLang="zh-CN" sz="2000" dirty="0" smtClean="0"/>
              <a:t>Fundamentals of Computer </a:t>
            </a:r>
            <a:r>
              <a:rPr lang="en-US" altLang="zh-CN" sz="2000" dirty="0" smtClean="0"/>
              <a:t>Systems for a Programmer</a:t>
            </a:r>
            <a:r>
              <a:rPr lang="zh-CN" altLang="en-US" sz="2000" dirty="0" smtClean="0"/>
              <a:t>）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zh-CN" altLang="en-US" sz="2800" dirty="0"/>
              <a:t>学时学分</a:t>
            </a:r>
          </a:p>
          <a:p>
            <a:pPr lvl="1" indent="-204788"/>
            <a:r>
              <a:rPr lang="zh-CN" altLang="en-US" sz="2000" dirty="0"/>
              <a:t>课堂教学：</a:t>
            </a:r>
            <a:r>
              <a:rPr lang="en-US" altLang="zh-CN" sz="2000" dirty="0"/>
              <a:t>64+32</a:t>
            </a:r>
            <a:r>
              <a:rPr lang="zh-CN" altLang="en-US" sz="2000" dirty="0"/>
              <a:t>学时</a:t>
            </a:r>
            <a:r>
              <a:rPr lang="en-US" altLang="zh-CN" sz="2000" dirty="0"/>
              <a:t>/5</a:t>
            </a:r>
            <a:r>
              <a:rPr lang="zh-CN" altLang="en-US" sz="2000" dirty="0"/>
              <a:t>学分</a:t>
            </a:r>
            <a:endParaRPr lang="en-US" altLang="zh-CN" sz="2000" dirty="0"/>
          </a:p>
          <a:p>
            <a:pPr indent="-204788"/>
            <a:r>
              <a:rPr lang="zh-CN" altLang="en-US" sz="2800" dirty="0" smtClean="0"/>
              <a:t>配套实验课程（</a:t>
            </a:r>
            <a:r>
              <a:rPr lang="zh-CN" altLang="en-US" sz="2800" dirty="0"/>
              <a:t>单独开设）</a:t>
            </a:r>
            <a:endParaRPr lang="en-US" altLang="zh-CN" sz="2800" dirty="0"/>
          </a:p>
          <a:p>
            <a:pPr lvl="1" indent="-204788"/>
            <a:r>
              <a:rPr lang="zh-CN" altLang="en-US" sz="2000" dirty="0" smtClean="0"/>
              <a:t>基于</a:t>
            </a:r>
            <a:r>
              <a:rPr lang="en-US" altLang="zh-CN" sz="2000" dirty="0" err="1" smtClean="0"/>
              <a:t>Logisim</a:t>
            </a:r>
            <a:r>
              <a:rPr lang="zh-CN" altLang="en-US" sz="2000" dirty="0" smtClean="0"/>
              <a:t>要求</a:t>
            </a:r>
            <a:r>
              <a:rPr lang="zh-CN" altLang="en-US" sz="2000" dirty="0"/>
              <a:t>学生自主</a:t>
            </a:r>
            <a:r>
              <a:rPr lang="zh-CN" altLang="en-US" sz="2000" dirty="0" smtClean="0"/>
              <a:t>开发一个功能型</a:t>
            </a:r>
            <a:r>
              <a:rPr lang="en-US" altLang="zh-CN" sz="2000" dirty="0" smtClean="0"/>
              <a:t>MIPS</a:t>
            </a:r>
            <a:r>
              <a:rPr lang="zh-CN" altLang="en-US" sz="2000" dirty="0" smtClean="0"/>
              <a:t>处理器</a:t>
            </a:r>
            <a:endParaRPr lang="en-US" altLang="zh-CN" sz="2000" dirty="0" smtClean="0"/>
          </a:p>
          <a:p>
            <a:pPr lvl="1" indent="-204788"/>
            <a:r>
              <a:rPr lang="zh-CN" altLang="en-US" sz="2000" dirty="0" smtClean="0"/>
              <a:t>计算机</a:t>
            </a:r>
            <a:r>
              <a:rPr lang="zh-CN" altLang="en-US" sz="2000" dirty="0" smtClean="0"/>
              <a:t>的启动程序（</a:t>
            </a:r>
            <a:r>
              <a:rPr lang="en-US" altLang="zh-CN" sz="2000" dirty="0" smtClean="0"/>
              <a:t>Bootloader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 indent="-204788"/>
            <a:r>
              <a:rPr lang="zh-CN" altLang="en-US" sz="2000" dirty="0"/>
              <a:t>程序的链接</a:t>
            </a:r>
            <a:endParaRPr lang="en-US" altLang="zh-CN" sz="2000" dirty="0"/>
          </a:p>
          <a:p>
            <a:pPr lvl="1" indent="-204788"/>
            <a:r>
              <a:rPr lang="zh-CN" altLang="en-US" sz="2000" dirty="0" smtClean="0"/>
              <a:t>基本</a:t>
            </a:r>
            <a:r>
              <a:rPr lang="en-US" altLang="zh-CN" sz="2000" dirty="0" smtClean="0"/>
              <a:t>I/O</a:t>
            </a:r>
            <a:r>
              <a:rPr lang="zh-CN" altLang="en-US" sz="2000" dirty="0" smtClean="0"/>
              <a:t>驱动设计</a:t>
            </a:r>
            <a:endParaRPr lang="en-US" altLang="zh-CN" sz="2000" dirty="0" smtClean="0"/>
          </a:p>
          <a:p>
            <a:pPr lvl="1" indent="-204788"/>
            <a:r>
              <a:rPr lang="zh-CN" altLang="en-US" sz="2000" dirty="0" smtClean="0"/>
              <a:t>程序的加载执行</a:t>
            </a:r>
            <a:endParaRPr lang="en-US" altLang="zh-CN" sz="2000" dirty="0"/>
          </a:p>
          <a:p>
            <a:pPr lvl="1" indent="-204788"/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2044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188640"/>
            <a:ext cx="7010400" cy="479747"/>
          </a:xfrm>
        </p:spPr>
        <p:txBody>
          <a:bodyPr/>
          <a:lstStyle/>
          <a:p>
            <a:r>
              <a:rPr lang="zh-CN" altLang="en-US" sz="3200" dirty="0"/>
              <a:t>课程介绍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836712"/>
            <a:ext cx="11665296" cy="6399188"/>
          </a:xfrm>
        </p:spPr>
        <p:txBody>
          <a:bodyPr/>
          <a:lstStyle/>
          <a:p>
            <a:r>
              <a:rPr lang="zh-CN" altLang="en-US" sz="2800" dirty="0"/>
              <a:t>主要目标：理解并掌握计算机的运行原理</a:t>
            </a:r>
          </a:p>
          <a:p>
            <a:pPr lvl="1"/>
            <a:r>
              <a:rPr lang="zh-CN" altLang="en-US" sz="2400" dirty="0"/>
              <a:t>学习计算机硬件的组成</a:t>
            </a:r>
          </a:p>
          <a:p>
            <a:pPr lvl="1"/>
            <a:r>
              <a:rPr lang="zh-CN" altLang="en-US" sz="2400" dirty="0"/>
              <a:t>掌握</a:t>
            </a:r>
            <a:r>
              <a:rPr lang="zh-CN" altLang="en-US" sz="2400" dirty="0" smtClean="0"/>
              <a:t>计算机处理器的</a:t>
            </a:r>
            <a:r>
              <a:rPr lang="zh-CN" altLang="en-US" sz="2400" dirty="0"/>
              <a:t>设计</a:t>
            </a:r>
          </a:p>
          <a:p>
            <a:pPr lvl="1"/>
            <a:r>
              <a:rPr lang="zh-CN" altLang="en-US" sz="2400" dirty="0"/>
              <a:t>理解计算机硬件</a:t>
            </a:r>
            <a:r>
              <a:rPr lang="en-US" altLang="zh-CN" sz="2400" dirty="0"/>
              <a:t>/</a:t>
            </a:r>
            <a:r>
              <a:rPr lang="zh-CN" altLang="en-US" sz="2400" dirty="0"/>
              <a:t>软件的协同机制</a:t>
            </a:r>
            <a:endParaRPr lang="en-US" altLang="zh-CN" sz="2400" dirty="0"/>
          </a:p>
          <a:p>
            <a:r>
              <a:rPr lang="zh-CN" altLang="en-US" sz="2800" dirty="0"/>
              <a:t>核心任务</a:t>
            </a:r>
            <a:r>
              <a:rPr lang="zh-CN" altLang="en-US" sz="2800" dirty="0" smtClean="0"/>
              <a:t>：理解计算机系统的工作原理</a:t>
            </a:r>
            <a:endParaRPr lang="zh-CN" altLang="en-US" sz="2800" dirty="0"/>
          </a:p>
          <a:p>
            <a:pPr lvl="1"/>
            <a:r>
              <a:rPr lang="zh-CN" altLang="en-US" sz="2400" dirty="0" smtClean="0"/>
              <a:t>理解计算机的硬件系统工作原理（</a:t>
            </a:r>
            <a:r>
              <a:rPr lang="en-US" altLang="zh-CN" sz="2400" dirty="0" smtClean="0"/>
              <a:t>CPU+</a:t>
            </a:r>
            <a:r>
              <a:rPr lang="zh-CN" altLang="en-US" sz="2400" dirty="0" smtClean="0"/>
              <a:t>分层的存储系统）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计算机可执行程序的生成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计算机可执行程序</a:t>
            </a:r>
            <a:r>
              <a:rPr lang="zh-CN" altLang="en-US" sz="2400" dirty="0" smtClean="0"/>
              <a:t>的加载执行</a:t>
            </a:r>
            <a:endParaRPr lang="en-US" altLang="zh-CN" sz="2400" dirty="0"/>
          </a:p>
          <a:p>
            <a:r>
              <a:rPr lang="zh-CN" altLang="en-US" sz="3000" dirty="0" smtClean="0"/>
              <a:t>几个工具软件：熟练</a:t>
            </a:r>
            <a:r>
              <a:rPr lang="zh-CN" altLang="en-US" sz="3000" dirty="0" smtClean="0"/>
              <a:t>使用（前</a:t>
            </a:r>
            <a:r>
              <a:rPr lang="en-US" altLang="zh-CN" sz="3000" dirty="0"/>
              <a:t>6</a:t>
            </a:r>
            <a:r>
              <a:rPr lang="zh-CN" altLang="en-US" sz="3000" dirty="0" smtClean="0"/>
              <a:t>周自学）</a:t>
            </a:r>
            <a:endParaRPr lang="en-US" altLang="zh-CN" sz="3000" dirty="0" smtClean="0"/>
          </a:p>
          <a:p>
            <a:pPr lvl="1"/>
            <a:r>
              <a:rPr lang="en-US" altLang="zh-CN" sz="2400" dirty="0" smtClean="0"/>
              <a:t>MARS</a:t>
            </a:r>
            <a:r>
              <a:rPr lang="zh-CN" altLang="en-US" sz="2400" dirty="0"/>
              <a:t>：</a:t>
            </a:r>
            <a:r>
              <a:rPr lang="en-US" altLang="zh-CN" sz="2400" dirty="0"/>
              <a:t>MIPS</a:t>
            </a:r>
            <a:r>
              <a:rPr lang="zh-CN" altLang="en-US" sz="2400" dirty="0"/>
              <a:t>汇编语言编译与调试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LogicSim</a:t>
            </a:r>
            <a:r>
              <a:rPr lang="zh-CN" altLang="en-US" sz="2400" dirty="0"/>
              <a:t>：逻辑电路仿真</a:t>
            </a:r>
            <a:r>
              <a:rPr lang="zh-CN" altLang="en-US" sz="2400" dirty="0" smtClean="0"/>
              <a:t>工具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能够看懂</a:t>
            </a:r>
            <a:r>
              <a:rPr lang="en-US" altLang="zh-CN" sz="2400" dirty="0" smtClean="0"/>
              <a:t>Verilog</a:t>
            </a:r>
            <a:r>
              <a:rPr lang="zh-CN" altLang="en-US" sz="2400" dirty="0" smtClean="0"/>
              <a:t>代码</a:t>
            </a:r>
            <a:endParaRPr lang="en-US" altLang="zh-CN" sz="24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400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2000"/>
            <a:ext cx="7320136" cy="432048"/>
          </a:xfrm>
        </p:spPr>
        <p:txBody>
          <a:bodyPr>
            <a:noAutofit/>
          </a:bodyPr>
          <a:lstStyle/>
          <a:p>
            <a:r>
              <a:rPr lang="zh-CN" altLang="en-US" sz="3200" i="0" dirty="0" smtClean="0">
                <a:latin typeface="+mn-lt"/>
              </a:rPr>
              <a:t>本课程的主要</a:t>
            </a:r>
            <a:r>
              <a:rPr lang="zh-CN" altLang="en-US" sz="3200" i="0" dirty="0" smtClean="0">
                <a:latin typeface="+mn-lt"/>
              </a:rPr>
              <a:t>内容（从程序员角度看）</a:t>
            </a:r>
            <a:endParaRPr lang="zh-CN" altLang="en-US" sz="3200" i="0" dirty="0">
              <a:latin typeface="+mn-lt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63352" y="764704"/>
            <a:ext cx="11496600" cy="6279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/>
              <a:t>第</a:t>
            </a:r>
            <a:r>
              <a:rPr lang="zh-CN" altLang="en-US" sz="2000" dirty="0" smtClean="0"/>
              <a:t>一部分：可</a:t>
            </a:r>
            <a:r>
              <a:rPr lang="zh-CN" altLang="en-US" sz="2000" dirty="0" smtClean="0"/>
              <a:t>执行目标文件的</a:t>
            </a:r>
            <a:r>
              <a:rPr lang="zh-CN" altLang="en-US" sz="2000" dirty="0" smtClean="0"/>
              <a:t>生成</a:t>
            </a:r>
            <a:endParaRPr lang="en-US" altLang="zh-CN" sz="2000" dirty="0" smtClean="0"/>
          </a:p>
          <a:p>
            <a:pPr lvl="1"/>
            <a:r>
              <a:rPr lang="zh-CN" altLang="en-US" sz="2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概述（绪论）</a:t>
            </a:r>
            <a:endParaRPr lang="en-US" altLang="zh-CN" sz="2000" dirty="0" smtClean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计算机的底层执行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部件及其原理（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逻辑、布尔代数）</a:t>
            </a:r>
            <a:endParaRPr lang="zh-CN" altLang="en-US" sz="20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的表示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与运算（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数制与运算）</a:t>
            </a:r>
            <a:endParaRPr lang="zh-CN" altLang="en-US" sz="20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</a:t>
            </a:r>
            <a:r>
              <a:rPr lang="zh-CN" altLang="en-US" sz="2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表示（指令系统与汇编语言）</a:t>
            </a:r>
            <a:endParaRPr lang="zh-CN" altLang="en-US" sz="20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第二部分：可</a:t>
            </a:r>
            <a:r>
              <a:rPr lang="zh-CN" altLang="en-US" sz="2000" dirty="0" smtClean="0"/>
              <a:t>执行目标文件</a:t>
            </a:r>
            <a:r>
              <a:rPr lang="zh-CN" altLang="en-US" sz="2000" dirty="0" smtClean="0"/>
              <a:t>的执行</a:t>
            </a:r>
            <a:endParaRPr lang="en-US" altLang="zh-CN" sz="2000" dirty="0" smtClean="0"/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处理器模型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机（处理器</a:t>
            </a:r>
            <a:r>
              <a:rPr lang="en-US" altLang="zh-CN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中断与异常）</a:t>
            </a:r>
            <a:endParaRPr lang="en-US" altLang="zh-CN" sz="2000" dirty="0" smtClean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层次存储系统（存储器</a:t>
            </a:r>
            <a:r>
              <a:rPr lang="en-US" altLang="zh-CN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000" dirty="0" err="1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Cache+VM</a:t>
            </a: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 smtClean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程序的链接与执行</a:t>
            </a:r>
            <a:endParaRPr lang="en-US" altLang="zh-CN" sz="2000" dirty="0" smtClean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总线和</a:t>
            </a:r>
            <a:r>
              <a:rPr lang="en-US" altLang="zh-CN" sz="2000" dirty="0" smtClea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</a:p>
          <a:p>
            <a:pPr lvl="1">
              <a:lnSpc>
                <a:spcPct val="150000"/>
              </a:lnSpc>
            </a:pPr>
            <a:endParaRPr lang="en-US" altLang="zh-CN" sz="2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11190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260648"/>
            <a:ext cx="8568952" cy="479747"/>
          </a:xfrm>
        </p:spPr>
        <p:txBody>
          <a:bodyPr/>
          <a:lstStyle/>
          <a:p>
            <a:r>
              <a:rPr lang="zh-CN" altLang="en-US" sz="3200" dirty="0" smtClean="0"/>
              <a:t>第一章：</a:t>
            </a:r>
            <a:r>
              <a:rPr lang="zh-CN" altLang="en-US" sz="3200" dirty="0"/>
              <a:t>计算机组成概述（</a:t>
            </a:r>
            <a:r>
              <a:rPr lang="en-US" altLang="zh-CN" sz="3200" dirty="0"/>
              <a:t>4</a:t>
            </a:r>
            <a:r>
              <a:rPr lang="zh-CN" altLang="en-US" sz="3200" dirty="0"/>
              <a:t>学时</a:t>
            </a:r>
            <a:r>
              <a:rPr lang="zh-CN" altLang="en-US" sz="3200" dirty="0" smtClean="0"/>
              <a:t>）</a:t>
            </a:r>
            <a:endParaRPr lang="zh-CN" altLang="en-US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68" y="836712"/>
            <a:ext cx="10729192" cy="5422926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目      标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了解计算机系统的基本功能、组成框架、典型</a:t>
            </a:r>
            <a:r>
              <a:rPr lang="zh-CN" altLang="en-US" sz="2000" dirty="0" smtClean="0"/>
              <a:t>结构、层次关系、程序执行过程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主要内容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en-US" sz="2000" dirty="0" smtClean="0"/>
              <a:t>信息</a:t>
            </a:r>
            <a:r>
              <a:rPr lang="zh-CN" altLang="en-US" sz="2000" dirty="0"/>
              <a:t>的表示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程序编译过程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 smtClean="0"/>
              <a:t>计算机</a:t>
            </a:r>
            <a:r>
              <a:rPr lang="zh-CN" altLang="en-US" sz="2000" dirty="0"/>
              <a:t>层次结构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 smtClean="0"/>
              <a:t>程序执行的基本过程</a:t>
            </a:r>
            <a:endParaRPr lang="zh-CN" altLang="en-US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资源</a:t>
            </a:r>
            <a:r>
              <a:rPr lang="zh-CN" altLang="en-US" sz="2000" dirty="0" smtClean="0"/>
              <a:t>抽象</a:t>
            </a:r>
            <a:endParaRPr lang="en-US" altLang="zh-CN" sz="2000" dirty="0" smtClean="0"/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</a:rPr>
              <a:t>计算机发展历程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4647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50469"/>
            <a:ext cx="7272808" cy="64222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 smtClean="0"/>
              <a:t>第二章：数制与运算（</a:t>
            </a:r>
            <a:r>
              <a:rPr lang="en-US" altLang="zh-CN" sz="3200" dirty="0" smtClean="0"/>
              <a:t>4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392" y="836712"/>
            <a:ext cx="8162466" cy="3530100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目      标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1800" dirty="0" smtClean="0"/>
              <a:t>掌握数据在计算机的表示及运算。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主要内容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定点数表示及运算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浮点数表示及运算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非数值数据的表示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布尔代数简介</a:t>
            </a:r>
          </a:p>
        </p:txBody>
      </p:sp>
    </p:spTree>
    <p:extLst>
      <p:ext uri="{BB962C8B-B14F-4D97-AF65-F5344CB8AC3E}">
        <p14:creationId xmlns:p14="http://schemas.microsoft.com/office/powerpoint/2010/main" val="298890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22477"/>
            <a:ext cx="6480720" cy="64222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 smtClean="0"/>
              <a:t>第三章：数字逻辑（</a:t>
            </a:r>
            <a:r>
              <a:rPr lang="en-US" altLang="zh-CN" sz="3200" dirty="0" smtClean="0"/>
              <a:t>10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384" y="830867"/>
            <a:ext cx="10873208" cy="5958457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目      标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sz="1800" dirty="0"/>
              <a:t>掌握触发器、寄存器的结构和工作原理，掌握有限状态机、同步时序逻辑电路的设计方法和分析方法，具备使用仿真工具开发时序逻辑电路的能力。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主要内容</a:t>
            </a:r>
            <a:endParaRPr lang="en-US" altLang="zh-CN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基本组合逻辑部件设计</a:t>
            </a:r>
            <a:endParaRPr lang="en-US" altLang="zh-CN" sz="2000" dirty="0"/>
          </a:p>
          <a:p>
            <a:pPr marL="675085" lvl="1" indent="-332185">
              <a:lnSpc>
                <a:spcPct val="150000"/>
              </a:lnSpc>
              <a:buClr>
                <a:schemeClr val="accent2"/>
              </a:buClr>
            </a:pPr>
            <a:r>
              <a:rPr lang="zh-CN" altLang="en-US" sz="1800" dirty="0"/>
              <a:t>组合逻辑设计概述</a:t>
            </a:r>
            <a:endParaRPr lang="en-US" altLang="zh-CN" sz="1800" dirty="0"/>
          </a:p>
          <a:p>
            <a:pPr marL="675085" lvl="1" indent="-332185">
              <a:lnSpc>
                <a:spcPct val="150000"/>
              </a:lnSpc>
              <a:buClr>
                <a:schemeClr val="accent2"/>
              </a:buClr>
            </a:pPr>
            <a:r>
              <a:rPr lang="zh-CN" altLang="en-US" sz="1800" dirty="0"/>
              <a:t>运算单元</a:t>
            </a:r>
            <a:r>
              <a:rPr lang="zh-CN" altLang="en-US" sz="1800" dirty="0" smtClean="0"/>
              <a:t>电路（</a:t>
            </a:r>
            <a:r>
              <a:rPr lang="en-US" altLang="zh-CN" sz="1800" dirty="0" smtClean="0"/>
              <a:t>ALU</a:t>
            </a:r>
            <a:r>
              <a:rPr lang="zh-CN" altLang="en-US" sz="1800" dirty="0" smtClean="0"/>
              <a:t>）</a:t>
            </a:r>
            <a:endParaRPr lang="en-US" altLang="zh-CN" sz="1800" dirty="0"/>
          </a:p>
          <a:p>
            <a:pPr marL="675085" lvl="1" indent="-332185">
              <a:lnSpc>
                <a:spcPct val="150000"/>
              </a:lnSpc>
              <a:buClr>
                <a:schemeClr val="accent2"/>
              </a:buClr>
            </a:pPr>
            <a:r>
              <a:rPr lang="zh-CN" altLang="en-US" sz="1800" dirty="0"/>
              <a:t>编码器</a:t>
            </a:r>
            <a:r>
              <a:rPr lang="en-US" altLang="zh-CN" sz="1800" dirty="0"/>
              <a:t>/</a:t>
            </a:r>
            <a:r>
              <a:rPr lang="zh-CN" altLang="en-US" sz="1800" dirty="0"/>
              <a:t>译码器</a:t>
            </a:r>
            <a:endParaRPr lang="en-US" altLang="zh-CN" sz="1800" dirty="0"/>
          </a:p>
          <a:p>
            <a:pPr marL="675085" lvl="1" indent="-332185">
              <a:lnSpc>
                <a:spcPct val="150000"/>
              </a:lnSpc>
              <a:buClr>
                <a:schemeClr val="accent2"/>
              </a:buClr>
            </a:pPr>
            <a:r>
              <a:rPr lang="zh-CN" altLang="en-US" sz="1800" dirty="0"/>
              <a:t>多路选择器</a:t>
            </a:r>
            <a:endParaRPr lang="en-US" altLang="zh-CN" sz="1800" dirty="0"/>
          </a:p>
          <a:p>
            <a:pPr marL="675085" lvl="1" indent="-332185">
              <a:lnSpc>
                <a:spcPct val="150000"/>
              </a:lnSpc>
              <a:buClr>
                <a:schemeClr val="accent2"/>
              </a:buClr>
            </a:pPr>
            <a:r>
              <a:rPr lang="zh-CN" altLang="en-US" sz="1800" dirty="0"/>
              <a:t>组合逻辑电路的竞争冒险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cs typeface="楷体_GB2312"/>
              </a:rPr>
              <a:t>时序逻辑电路</a:t>
            </a:r>
            <a:endParaRPr lang="zh-CN" altLang="en-US" sz="2000" dirty="0"/>
          </a:p>
          <a:p>
            <a:pPr marL="676800" indent="-331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1800" dirty="0"/>
              <a:t>锁存器和触发器</a:t>
            </a:r>
          </a:p>
          <a:p>
            <a:pPr marL="676800" indent="-331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1800" dirty="0"/>
              <a:t>有限状态机</a:t>
            </a:r>
            <a:endParaRPr lang="en-US" altLang="zh-CN" sz="1800" dirty="0"/>
          </a:p>
          <a:p>
            <a:pPr marL="676800" indent="-331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1800" dirty="0"/>
              <a:t>时序逻辑电路设计分析</a:t>
            </a:r>
          </a:p>
        </p:txBody>
      </p:sp>
    </p:spTree>
    <p:extLst>
      <p:ext uri="{BB962C8B-B14F-4D97-AF65-F5344CB8AC3E}">
        <p14:creationId xmlns:p14="http://schemas.microsoft.com/office/powerpoint/2010/main" val="234226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122477"/>
            <a:ext cx="7392144" cy="64222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 smtClean="0"/>
              <a:t>第四章：指令系统与汇编语言（</a:t>
            </a:r>
            <a:r>
              <a:rPr lang="en-US" altLang="zh-CN" sz="3200" dirty="0" smtClean="0"/>
              <a:t>8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23392" y="758859"/>
            <a:ext cx="11233248" cy="54229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>
            <a:lvl1pPr marL="213122" indent="-213122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itchFamily="2" charset="2"/>
              <a:buChar char="v"/>
              <a:defRPr sz="165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01254" indent="-145256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001ADC"/>
              </a:buClr>
              <a:buSzPct val="100000"/>
              <a:buFont typeface="Wingdings" pitchFamily="2" charset="2"/>
              <a:buChar char="Ø"/>
              <a:defRPr sz="15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788194" indent="-144066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05AD01"/>
              </a:buClr>
              <a:buSzPct val="10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76375" indent="-257175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har char="–"/>
              <a:defRPr sz="135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76425" indent="-257175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har char="»"/>
              <a:defRPr sz="135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1932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56222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290512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24802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kern="0" dirty="0" smtClean="0"/>
              <a:t>目      标</a:t>
            </a:r>
            <a:endParaRPr lang="en-US" altLang="zh-CN" sz="2400" kern="0" dirty="0" smtClean="0"/>
          </a:p>
          <a:p>
            <a:pPr lvl="1">
              <a:lnSpc>
                <a:spcPct val="150000"/>
              </a:lnSpc>
            </a:pPr>
            <a:r>
              <a:rPr lang="zh-CN" altLang="en-US" sz="2000" kern="0" dirty="0" smtClean="0"/>
              <a:t>以</a:t>
            </a:r>
            <a:r>
              <a:rPr lang="en-US" altLang="zh-CN" sz="2000" kern="0" dirty="0" smtClean="0"/>
              <a:t>X86</a:t>
            </a:r>
            <a:r>
              <a:rPr lang="zh-CN" altLang="en-US" sz="2000" kern="0" dirty="0" smtClean="0"/>
              <a:t>和</a:t>
            </a:r>
            <a:r>
              <a:rPr lang="en-US" altLang="zh-CN" sz="2000" kern="0" dirty="0" smtClean="0"/>
              <a:t>MIPS</a:t>
            </a:r>
            <a:r>
              <a:rPr lang="zh-CN" altLang="en-US" sz="2000" kern="0" dirty="0" smtClean="0"/>
              <a:t>两种指令系统为研究对象，学习并掌握计算机指令系统的格式、寻址方式和设计方法，理解</a:t>
            </a:r>
            <a:r>
              <a:rPr lang="en-US" altLang="zh-CN" sz="2000" kern="0" dirty="0" smtClean="0"/>
              <a:t>CISC</a:t>
            </a:r>
            <a:r>
              <a:rPr lang="zh-CN" altLang="en-US" sz="2000" kern="0" dirty="0" smtClean="0"/>
              <a:t>和</a:t>
            </a:r>
            <a:r>
              <a:rPr lang="en-US" altLang="zh-CN" sz="2000" kern="0" dirty="0" smtClean="0"/>
              <a:t>RISC</a:t>
            </a:r>
            <a:r>
              <a:rPr lang="zh-CN" altLang="en-US" sz="2000" kern="0" dirty="0" smtClean="0"/>
              <a:t>两种指令系统的特点；学习并掌握汇编语言编程。</a:t>
            </a:r>
            <a:endParaRPr lang="en-US" altLang="zh-CN" sz="2000" kern="0" dirty="0" smtClean="0"/>
          </a:p>
          <a:p>
            <a:pPr>
              <a:lnSpc>
                <a:spcPct val="150000"/>
              </a:lnSpc>
            </a:pPr>
            <a:r>
              <a:rPr lang="zh-CN" altLang="en-US" sz="2400" kern="0" dirty="0" smtClean="0"/>
              <a:t>主要内容</a:t>
            </a:r>
            <a:endParaRPr lang="en-US" altLang="zh-CN" sz="2400" kern="0" dirty="0" smtClean="0"/>
          </a:p>
          <a:p>
            <a:pPr lvl="1">
              <a:lnSpc>
                <a:spcPct val="150000"/>
              </a:lnSpc>
            </a:pPr>
            <a:r>
              <a:rPr lang="zh-CN" altLang="en-US" sz="2000" kern="0" dirty="0" smtClean="0"/>
              <a:t>指令系统概述</a:t>
            </a:r>
            <a:endParaRPr lang="en-US" altLang="zh-CN" sz="2000" kern="0" dirty="0" smtClean="0"/>
          </a:p>
          <a:p>
            <a:pPr lvl="2">
              <a:lnSpc>
                <a:spcPct val="150000"/>
              </a:lnSpc>
            </a:pPr>
            <a:r>
              <a:rPr lang="zh-CN" altLang="en-US" sz="2000" kern="0" dirty="0" smtClean="0"/>
              <a:t>指令系统的基本要素</a:t>
            </a:r>
            <a:endParaRPr lang="en-US" altLang="zh-CN" sz="2000" kern="0" dirty="0" smtClean="0"/>
          </a:p>
          <a:p>
            <a:pPr lvl="2">
              <a:lnSpc>
                <a:spcPct val="150000"/>
              </a:lnSpc>
            </a:pPr>
            <a:r>
              <a:rPr lang="zh-CN" altLang="en-US" sz="2000" kern="0" dirty="0" smtClean="0"/>
              <a:t>指令格式、寻址方式</a:t>
            </a:r>
            <a:endParaRPr lang="en-US" altLang="zh-CN" sz="2000" kern="0" dirty="0" smtClean="0"/>
          </a:p>
          <a:p>
            <a:pPr lvl="1">
              <a:lnSpc>
                <a:spcPct val="150000"/>
              </a:lnSpc>
            </a:pPr>
            <a:r>
              <a:rPr lang="zh-CN" altLang="en-US" sz="2000" kern="0" dirty="0" smtClean="0"/>
              <a:t>典型指令系统简介</a:t>
            </a:r>
            <a:endParaRPr lang="en-US" altLang="zh-CN" sz="2000" kern="0" dirty="0" smtClean="0"/>
          </a:p>
          <a:p>
            <a:pPr lvl="2">
              <a:lnSpc>
                <a:spcPct val="150000"/>
              </a:lnSpc>
            </a:pPr>
            <a:r>
              <a:rPr lang="en-US" altLang="zh-CN" sz="2000" kern="0" dirty="0"/>
              <a:t>X86</a:t>
            </a:r>
            <a:r>
              <a:rPr lang="zh-CN" altLang="en-US" sz="2000" kern="0" dirty="0" smtClean="0"/>
              <a:t>指令系统及其汇编语言</a:t>
            </a:r>
            <a:endParaRPr lang="en-US" altLang="zh-CN" sz="2000" kern="0" dirty="0"/>
          </a:p>
          <a:p>
            <a:pPr lvl="2">
              <a:lnSpc>
                <a:spcPct val="150000"/>
              </a:lnSpc>
            </a:pPr>
            <a:r>
              <a:rPr lang="en-US" altLang="zh-CN" sz="2000" kern="0" dirty="0" smtClean="0"/>
              <a:t>MIPS</a:t>
            </a:r>
            <a:r>
              <a:rPr lang="zh-CN" altLang="en-US" sz="2000" kern="0" dirty="0"/>
              <a:t>指令系统及其汇编语言</a:t>
            </a:r>
            <a:endParaRPr lang="en-US" altLang="zh-CN" sz="2000" kern="0" dirty="0" smtClean="0"/>
          </a:p>
          <a:p>
            <a:pPr lvl="2">
              <a:lnSpc>
                <a:spcPct val="150000"/>
              </a:lnSpc>
            </a:pPr>
            <a:r>
              <a:rPr lang="en-US" altLang="zh-CN" sz="2000" kern="0" dirty="0" smtClean="0"/>
              <a:t>CISC</a:t>
            </a:r>
            <a:r>
              <a:rPr lang="zh-CN" altLang="en-US" sz="2000" kern="0" dirty="0" smtClean="0"/>
              <a:t>与</a:t>
            </a:r>
            <a:r>
              <a:rPr lang="en-US" altLang="zh-CN" sz="2000" kern="0" dirty="0" smtClean="0"/>
              <a:t>RISC</a:t>
            </a:r>
            <a:r>
              <a:rPr lang="zh-CN" altLang="en-US" sz="2000" kern="0" dirty="0" smtClean="0"/>
              <a:t>的特点</a:t>
            </a:r>
            <a:endParaRPr lang="en-US" altLang="zh-CN" sz="2000" kern="0" dirty="0" smtClean="0"/>
          </a:p>
        </p:txBody>
      </p:sp>
    </p:spTree>
    <p:extLst>
      <p:ext uri="{BB962C8B-B14F-4D97-AF65-F5344CB8AC3E}">
        <p14:creationId xmlns:p14="http://schemas.microsoft.com/office/powerpoint/2010/main" val="115298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44624"/>
            <a:ext cx="7992244" cy="64222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 smtClean="0"/>
              <a:t>第五讲</a:t>
            </a:r>
            <a:r>
              <a:rPr lang="zh-CN" altLang="en-US" sz="3200" dirty="0"/>
              <a:t>：</a:t>
            </a:r>
            <a:r>
              <a:rPr lang="en-US" altLang="zh-CN" sz="3200" dirty="0"/>
              <a:t>MIPS</a:t>
            </a:r>
            <a:r>
              <a:rPr lang="zh-CN" altLang="en-US" sz="3200" dirty="0"/>
              <a:t>处理器设计（</a:t>
            </a:r>
            <a:r>
              <a:rPr lang="en-US" altLang="zh-CN" sz="3200" dirty="0" smtClean="0"/>
              <a:t>12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68" y="836712"/>
            <a:ext cx="11017224" cy="5127461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/>
              <a:t>目      标</a:t>
            </a:r>
            <a:endParaRPr lang="en-US" altLang="zh-CN" sz="2800" dirty="0"/>
          </a:p>
          <a:p>
            <a:pPr lvl="1">
              <a:lnSpc>
                <a:spcPct val="120000"/>
              </a:lnSpc>
            </a:pPr>
            <a:r>
              <a:rPr lang="zh-CN" altLang="en-US" sz="1800" dirty="0"/>
              <a:t>以小型</a:t>
            </a:r>
            <a:r>
              <a:rPr lang="en-US" altLang="zh-CN" sz="1800" dirty="0"/>
              <a:t>MIPS</a:t>
            </a:r>
            <a:r>
              <a:rPr lang="zh-CN" altLang="en-US" sz="1800" dirty="0"/>
              <a:t>处理器为研究对象，学习并掌握基于指令执行分析的数据通路构造方法、基于与或逻辑阵列为基础的</a:t>
            </a:r>
            <a:r>
              <a:rPr lang="en-US" altLang="zh-CN" sz="1800" dirty="0"/>
              <a:t>MIPS</a:t>
            </a:r>
            <a:r>
              <a:rPr lang="zh-CN" altLang="en-US" sz="1800" dirty="0"/>
              <a:t>控制器设计方法，进而掌握</a:t>
            </a:r>
            <a:r>
              <a:rPr lang="en-US" altLang="zh-CN" sz="1800" dirty="0"/>
              <a:t>MIPS</a:t>
            </a:r>
            <a:r>
              <a:rPr lang="zh-CN" altLang="en-US" sz="1800" dirty="0"/>
              <a:t>处理器设计方法。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r>
              <a:rPr lang="zh-CN" altLang="en-US" sz="2800" dirty="0"/>
              <a:t>主要内容</a:t>
            </a:r>
            <a:endParaRPr lang="en-US" altLang="zh-CN" sz="2800" dirty="0"/>
          </a:p>
          <a:p>
            <a:pPr lvl="1">
              <a:lnSpc>
                <a:spcPct val="120000"/>
              </a:lnSpc>
            </a:pPr>
            <a:r>
              <a:rPr lang="zh-CN" altLang="en-US" sz="2000" dirty="0" smtClean="0"/>
              <a:t>处理器设计概述</a:t>
            </a:r>
            <a:endParaRPr lang="en-US" altLang="zh-CN" sz="2000" dirty="0" smtClean="0"/>
          </a:p>
          <a:p>
            <a:pPr lvl="1">
              <a:lnSpc>
                <a:spcPct val="120000"/>
              </a:lnSpc>
            </a:pPr>
            <a:r>
              <a:rPr lang="en-US" altLang="zh-CN" sz="2000" dirty="0" smtClean="0"/>
              <a:t>MIPS</a:t>
            </a:r>
            <a:r>
              <a:rPr lang="zh-CN" altLang="en-US" sz="2000" dirty="0" smtClean="0"/>
              <a:t>处理器设计概述</a:t>
            </a:r>
            <a:endParaRPr lang="en-US" altLang="zh-CN" sz="2000" dirty="0" smtClean="0"/>
          </a:p>
          <a:p>
            <a:pPr lvl="2">
              <a:lnSpc>
                <a:spcPct val="120000"/>
              </a:lnSpc>
            </a:pPr>
            <a:r>
              <a:rPr lang="zh-CN" altLang="en-US" sz="2000" dirty="0" smtClean="0"/>
              <a:t>结构</a:t>
            </a:r>
            <a:r>
              <a:rPr lang="zh-CN" altLang="en-US" sz="2000" dirty="0"/>
              <a:t>、指令集、数据通路的基本组件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单周期处理器</a:t>
            </a:r>
            <a:r>
              <a:rPr lang="zh-CN" altLang="en-US" sz="2000" dirty="0" smtClean="0"/>
              <a:t>设计</a:t>
            </a:r>
            <a:endParaRPr lang="en-US" altLang="zh-CN" sz="2000" dirty="0"/>
          </a:p>
          <a:p>
            <a:pPr lvl="2">
              <a:lnSpc>
                <a:spcPct val="120000"/>
              </a:lnSpc>
            </a:pPr>
            <a:r>
              <a:rPr lang="zh-CN" altLang="en-US" sz="2000" dirty="0"/>
              <a:t>单周期数据通路</a:t>
            </a:r>
            <a:r>
              <a:rPr lang="zh-CN" altLang="en-US" sz="2000" dirty="0" smtClean="0"/>
              <a:t>设计</a:t>
            </a:r>
            <a:endParaRPr lang="en-US" altLang="zh-CN" sz="2000" dirty="0"/>
          </a:p>
          <a:p>
            <a:pPr lvl="2">
              <a:lnSpc>
                <a:spcPct val="120000"/>
              </a:lnSpc>
            </a:pPr>
            <a:r>
              <a:rPr lang="zh-CN" altLang="en-US" sz="2000" dirty="0"/>
              <a:t>单周期控制器设计、性能分析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流水线</a:t>
            </a:r>
            <a:r>
              <a:rPr lang="zh-CN" altLang="en-US" sz="2000" dirty="0" smtClean="0"/>
              <a:t>设计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en-US" altLang="zh-CN" sz="2000" dirty="0" smtClean="0"/>
              <a:t>MIPS</a:t>
            </a:r>
            <a:r>
              <a:rPr lang="zh-CN" altLang="en-US" sz="2000" dirty="0"/>
              <a:t>异常</a:t>
            </a:r>
            <a:r>
              <a:rPr lang="en-US" altLang="zh-CN" sz="2000" dirty="0"/>
              <a:t>/</a:t>
            </a:r>
            <a:r>
              <a:rPr lang="zh-CN" altLang="en-US" sz="2000" dirty="0" smtClean="0"/>
              <a:t>中断处理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108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16632"/>
            <a:ext cx="8208912" cy="64222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 smtClean="0"/>
              <a:t>第六章：主存储系统（</a:t>
            </a:r>
            <a:r>
              <a:rPr lang="en-US" altLang="zh-CN" sz="3200" dirty="0" smtClean="0"/>
              <a:t>4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58006" y="836714"/>
            <a:ext cx="10334538" cy="49797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>
            <a:lvl1pPr marL="213122" indent="-213122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itchFamily="2" charset="2"/>
              <a:buChar char="v"/>
              <a:defRPr sz="165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01254" indent="-145256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001ADC"/>
              </a:buClr>
              <a:buSzPct val="100000"/>
              <a:buFont typeface="Wingdings" pitchFamily="2" charset="2"/>
              <a:buChar char="Ø"/>
              <a:defRPr sz="15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788194" indent="-144066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05AD01"/>
              </a:buClr>
              <a:buSzPct val="10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76375" indent="-257175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har char="–"/>
              <a:defRPr sz="135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76425" indent="-257175"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har char="»"/>
              <a:defRPr sz="135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1932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56222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290512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24802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kern="0" dirty="0" smtClean="0"/>
              <a:t>目      标</a:t>
            </a:r>
            <a:endParaRPr lang="en-US" altLang="zh-CN" sz="2800" kern="0" dirty="0" smtClean="0"/>
          </a:p>
          <a:p>
            <a:pPr lvl="1">
              <a:lnSpc>
                <a:spcPct val="120000"/>
              </a:lnSpc>
            </a:pPr>
            <a:r>
              <a:rPr lang="zh-CN" altLang="en-US" sz="2000" kern="0" dirty="0" smtClean="0"/>
              <a:t>了解存储单元电路的工作原理，掌握主存储器的结构特点、工作原理和构造方法。</a:t>
            </a:r>
            <a:endParaRPr lang="en-US" altLang="zh-CN" sz="2000" kern="0" dirty="0" smtClean="0"/>
          </a:p>
          <a:p>
            <a:pPr>
              <a:lnSpc>
                <a:spcPct val="120000"/>
              </a:lnSpc>
            </a:pPr>
            <a:r>
              <a:rPr lang="zh-CN" altLang="en-US" sz="2800" kern="0" dirty="0" smtClean="0"/>
              <a:t>主要内容</a:t>
            </a:r>
            <a:endParaRPr lang="en-US" altLang="zh-CN" sz="2800" kern="0" dirty="0" smtClean="0"/>
          </a:p>
          <a:p>
            <a:pPr lvl="1">
              <a:lnSpc>
                <a:spcPct val="120000"/>
              </a:lnSpc>
            </a:pPr>
            <a:r>
              <a:rPr lang="zh-CN" altLang="en-US" sz="2000" kern="0" dirty="0" smtClean="0"/>
              <a:t>存储单元电路（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1</a:t>
            </a:r>
            <a:r>
              <a:rPr lang="zh-CN" altLang="en-US" sz="2000" kern="0" dirty="0" smtClean="0">
                <a:solidFill>
                  <a:srgbClr val="FF0000"/>
                </a:solidFill>
              </a:rPr>
              <a:t>学时</a:t>
            </a:r>
            <a:r>
              <a:rPr lang="zh-CN" altLang="en-US" sz="2000" kern="0" dirty="0" smtClean="0"/>
              <a:t>）</a:t>
            </a:r>
            <a:endParaRPr lang="en-US" altLang="zh-CN" sz="2000" kern="0" dirty="0" smtClean="0"/>
          </a:p>
          <a:p>
            <a:pPr lvl="2">
              <a:lnSpc>
                <a:spcPct val="120000"/>
              </a:lnSpc>
            </a:pPr>
            <a:r>
              <a:rPr lang="en-US" altLang="zh-CN" sz="2000" kern="0" dirty="0" smtClean="0"/>
              <a:t>SRAM</a:t>
            </a:r>
            <a:r>
              <a:rPr lang="zh-CN" altLang="en-US" sz="2000" kern="0" dirty="0" smtClean="0"/>
              <a:t>存期单元电路</a:t>
            </a:r>
            <a:endParaRPr lang="en-US" altLang="zh-CN" sz="2000" kern="0" dirty="0" smtClean="0"/>
          </a:p>
          <a:p>
            <a:pPr lvl="2">
              <a:lnSpc>
                <a:spcPct val="120000"/>
              </a:lnSpc>
            </a:pPr>
            <a:r>
              <a:rPr lang="en-US" altLang="zh-CN" sz="2000" kern="0" dirty="0" smtClean="0"/>
              <a:t>DRAM</a:t>
            </a:r>
            <a:r>
              <a:rPr lang="zh-CN" altLang="en-US" sz="2000" kern="0" dirty="0" smtClean="0"/>
              <a:t>存储单元电路</a:t>
            </a:r>
            <a:endParaRPr lang="en-US" altLang="zh-CN" sz="2000" kern="0" dirty="0" smtClean="0"/>
          </a:p>
          <a:p>
            <a:pPr lvl="2">
              <a:lnSpc>
                <a:spcPct val="120000"/>
              </a:lnSpc>
            </a:pPr>
            <a:r>
              <a:rPr lang="en-US" altLang="zh-CN" sz="2000" kern="0" dirty="0" smtClean="0"/>
              <a:t>ROM</a:t>
            </a:r>
            <a:r>
              <a:rPr lang="zh-CN" altLang="en-US" sz="2000" kern="0" dirty="0" smtClean="0"/>
              <a:t>（</a:t>
            </a:r>
            <a:r>
              <a:rPr lang="en-US" altLang="zh-CN" sz="2000" kern="0" dirty="0" smtClean="0"/>
              <a:t>Flash</a:t>
            </a:r>
            <a:r>
              <a:rPr lang="zh-CN" altLang="en-US" sz="2000" kern="0" dirty="0" smtClean="0"/>
              <a:t>）存储单元</a:t>
            </a:r>
            <a:r>
              <a:rPr lang="zh-CN" altLang="en-US" sz="2000" kern="0" dirty="0" smtClean="0"/>
              <a:t>电路</a:t>
            </a:r>
            <a:endParaRPr lang="en-US" altLang="zh-CN" sz="2000" kern="0" dirty="0" smtClean="0"/>
          </a:p>
          <a:p>
            <a:pPr lvl="1">
              <a:lnSpc>
                <a:spcPct val="120000"/>
              </a:lnSpc>
            </a:pPr>
            <a:r>
              <a:rPr lang="zh-CN" altLang="en-US" sz="2000" kern="0" dirty="0" smtClean="0"/>
              <a:t>主存储器的结构（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1</a:t>
            </a:r>
            <a:r>
              <a:rPr lang="zh-CN" altLang="en-US" sz="2000" kern="0" dirty="0" smtClean="0">
                <a:solidFill>
                  <a:srgbClr val="FF0000"/>
                </a:solidFill>
              </a:rPr>
              <a:t>学时</a:t>
            </a:r>
            <a:r>
              <a:rPr lang="zh-CN" altLang="en-US" sz="2000" kern="0" dirty="0" smtClean="0"/>
              <a:t>）</a:t>
            </a:r>
            <a:endParaRPr lang="en-US" altLang="zh-CN" sz="2000" kern="0" dirty="0" smtClean="0"/>
          </a:p>
          <a:p>
            <a:pPr lvl="2">
              <a:lnSpc>
                <a:spcPct val="120000"/>
              </a:lnSpc>
            </a:pPr>
            <a:r>
              <a:rPr lang="en-US" altLang="zh-CN" sz="2000" kern="0" dirty="0" smtClean="0"/>
              <a:t>SRAM</a:t>
            </a:r>
            <a:r>
              <a:rPr lang="zh-CN" altLang="en-US" sz="2000" kern="0" dirty="0" smtClean="0"/>
              <a:t>芯片的内部结构</a:t>
            </a:r>
            <a:endParaRPr lang="en-US" altLang="zh-CN" sz="2000" kern="0" dirty="0" smtClean="0"/>
          </a:p>
          <a:p>
            <a:pPr lvl="2">
              <a:lnSpc>
                <a:spcPct val="120000"/>
              </a:lnSpc>
            </a:pPr>
            <a:r>
              <a:rPr lang="en-US" altLang="zh-CN" sz="2000" kern="0" dirty="0" smtClean="0"/>
              <a:t>DRAM</a:t>
            </a:r>
            <a:r>
              <a:rPr lang="zh-CN" altLang="en-US" sz="2000" kern="0" dirty="0" smtClean="0"/>
              <a:t>芯片的内部结构</a:t>
            </a:r>
            <a:endParaRPr lang="en-US" altLang="zh-CN" sz="2000" kern="0" dirty="0" smtClean="0"/>
          </a:p>
          <a:p>
            <a:pPr lvl="1">
              <a:lnSpc>
                <a:spcPct val="120000"/>
              </a:lnSpc>
            </a:pPr>
            <a:r>
              <a:rPr lang="zh-CN" altLang="en-US" sz="2000" kern="0" dirty="0" smtClean="0"/>
              <a:t>存储器的扩展（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2</a:t>
            </a:r>
            <a:r>
              <a:rPr lang="zh-CN" altLang="en-US" sz="2000" kern="0" dirty="0" smtClean="0">
                <a:solidFill>
                  <a:srgbClr val="FF0000"/>
                </a:solidFill>
              </a:rPr>
              <a:t>学时，包含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DRAM</a:t>
            </a:r>
            <a:r>
              <a:rPr lang="zh-CN" altLang="en-US" sz="2000" kern="0" dirty="0" smtClean="0">
                <a:solidFill>
                  <a:srgbClr val="FF0000"/>
                </a:solidFill>
              </a:rPr>
              <a:t>的刷新</a:t>
            </a:r>
            <a:r>
              <a:rPr lang="zh-CN" altLang="en-US" sz="2000" kern="0" dirty="0" smtClean="0"/>
              <a:t>）</a:t>
            </a:r>
            <a:endParaRPr lang="en-US" altLang="zh-CN" sz="2000" kern="0" dirty="0" smtClean="0"/>
          </a:p>
          <a:p>
            <a:pPr marL="985838"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kern="0" dirty="0"/>
              <a:t>DRAM</a:t>
            </a:r>
            <a:r>
              <a:rPr lang="zh-CN" altLang="en-US" sz="2000" kern="0" dirty="0"/>
              <a:t>的刷新</a:t>
            </a:r>
            <a:endParaRPr lang="en-US" altLang="zh-CN" sz="2000" kern="0" dirty="0"/>
          </a:p>
        </p:txBody>
      </p:sp>
    </p:spTree>
    <p:extLst>
      <p:ext uri="{BB962C8B-B14F-4D97-AF65-F5344CB8AC3E}">
        <p14:creationId xmlns:p14="http://schemas.microsoft.com/office/powerpoint/2010/main" val="150308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89526"/>
            <a:ext cx="8928992" cy="64222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 smtClean="0"/>
              <a:t>第七章：</a:t>
            </a:r>
            <a:r>
              <a:rPr lang="zh-CN" altLang="en-US" sz="3200" dirty="0"/>
              <a:t>高速缓存存储器（</a:t>
            </a:r>
            <a:r>
              <a:rPr lang="en-US" altLang="zh-CN" sz="3200" dirty="0"/>
              <a:t>CACHE</a:t>
            </a:r>
            <a:r>
              <a:rPr lang="zh-CN" altLang="en-US" sz="3200" dirty="0" smtClean="0"/>
              <a:t>）（</a:t>
            </a:r>
            <a:r>
              <a:rPr lang="en-US" altLang="zh-CN" sz="3200" dirty="0" smtClean="0"/>
              <a:t>5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00" y="836712"/>
            <a:ext cx="10513168" cy="5164394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目      标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掌握高速缓存存储器（</a:t>
            </a:r>
            <a:r>
              <a:rPr lang="en-US" altLang="zh-CN" sz="1600" dirty="0"/>
              <a:t>Cache</a:t>
            </a:r>
            <a:r>
              <a:rPr lang="zh-CN" altLang="en-US" sz="1600" dirty="0"/>
              <a:t>）的结构特点和工作原理，以及多级</a:t>
            </a:r>
            <a:r>
              <a:rPr lang="en-US" altLang="zh-CN" sz="1600" dirty="0"/>
              <a:t>Cache</a:t>
            </a:r>
            <a:r>
              <a:rPr lang="zh-CN" altLang="en-US" sz="1600" dirty="0"/>
              <a:t>层次关系，掌握</a:t>
            </a:r>
            <a:r>
              <a:rPr lang="en-US" altLang="zh-CN" sz="1600" dirty="0"/>
              <a:t>Cache</a:t>
            </a:r>
            <a:r>
              <a:rPr lang="zh-CN" altLang="en-US" sz="1600" dirty="0"/>
              <a:t>的映射机制、</a:t>
            </a:r>
            <a:r>
              <a:rPr lang="en-US" altLang="zh-CN" sz="1600" dirty="0"/>
              <a:t>Cache</a:t>
            </a:r>
            <a:r>
              <a:rPr lang="zh-CN" altLang="en-US" sz="1600" dirty="0"/>
              <a:t>的命中与缺失分析及其性能计算方法。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主要内容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程序执行局部性原理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en-US" altLang="zh-CN" sz="1600" dirty="0"/>
              <a:t>Cache</a:t>
            </a:r>
            <a:r>
              <a:rPr lang="zh-CN" altLang="en-US" sz="1600" dirty="0"/>
              <a:t>的结构与工作原理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en-US" altLang="zh-CN" sz="1600" dirty="0"/>
              <a:t>Cache</a:t>
            </a:r>
            <a:r>
              <a:rPr lang="zh-CN" altLang="en-US" sz="1600" dirty="0"/>
              <a:t>的映射机制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zh-CN" altLang="en-US" sz="1600" dirty="0"/>
              <a:t>直接映射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zh-CN" altLang="en-US" sz="1600" dirty="0"/>
              <a:t>全相联映射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zh-CN" altLang="en-US" sz="1600" dirty="0"/>
              <a:t>组相联映射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en-US" altLang="zh-CN" sz="1600" dirty="0"/>
              <a:t>Cache</a:t>
            </a:r>
            <a:r>
              <a:rPr lang="zh-CN" altLang="en-US" sz="1600" dirty="0"/>
              <a:t>的替换策略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en-US" altLang="zh-CN" sz="1600" dirty="0"/>
              <a:t>Cache</a:t>
            </a:r>
            <a:r>
              <a:rPr lang="zh-CN" altLang="en-US" sz="1600" dirty="0"/>
              <a:t>性能分析与其他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en-US" altLang="zh-CN" sz="1600" dirty="0"/>
              <a:t>Cache</a:t>
            </a:r>
            <a:r>
              <a:rPr lang="zh-CN" altLang="en-US" sz="1600" dirty="0"/>
              <a:t>数据一致性问题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zh-CN" altLang="en-US" sz="1600" dirty="0"/>
              <a:t>命中率与缺失分析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zh-CN" altLang="en-US" sz="1600" dirty="0"/>
              <a:t>性能计算</a:t>
            </a:r>
            <a:endParaRPr lang="en-US" altLang="zh-CN" sz="1600" dirty="0"/>
          </a:p>
          <a:p>
            <a:pPr marL="474663" lvl="1" indent="0">
              <a:lnSpc>
                <a:spcPct val="12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863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16632"/>
            <a:ext cx="7992244" cy="588303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 smtClean="0"/>
              <a:t>第八章：</a:t>
            </a:r>
            <a:r>
              <a:rPr lang="zh-CN" altLang="en-US" sz="3200" dirty="0"/>
              <a:t>虚拟存储系统</a:t>
            </a:r>
            <a:r>
              <a:rPr lang="zh-CN" altLang="en-US" sz="3200" dirty="0" smtClean="0"/>
              <a:t>（</a:t>
            </a:r>
            <a:r>
              <a:rPr lang="en-US" altLang="zh-CN" sz="3200" dirty="0" smtClean="0"/>
              <a:t>5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376" y="776943"/>
            <a:ext cx="8162466" cy="5030126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目      标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掌握虚拟存储器工作原理、虚实地址转换与页表工作原理、</a:t>
            </a:r>
            <a:r>
              <a:rPr lang="en-US" altLang="zh-CN" sz="1800" dirty="0"/>
              <a:t>TLB</a:t>
            </a:r>
            <a:r>
              <a:rPr lang="zh-CN" altLang="en-US" sz="1800" dirty="0"/>
              <a:t>工作原理，具备进行虚拟存储器性能分析的能力。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主要内容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外部存储器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 smtClean="0"/>
              <a:t>虚拟存储器</a:t>
            </a:r>
            <a:r>
              <a:rPr lang="zh-CN" altLang="en-US" sz="1800" dirty="0"/>
              <a:t>工作原理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虚实地址转换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页表工作原理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/>
              <a:t>TLB</a:t>
            </a:r>
            <a:r>
              <a:rPr lang="zh-CN" altLang="en-US" sz="1800" dirty="0"/>
              <a:t>工作原理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虚拟存储器性能分析</a:t>
            </a:r>
          </a:p>
          <a:p>
            <a:pPr marL="474663" lvl="1" indent="0">
              <a:lnSpc>
                <a:spcPct val="12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386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0"/>
            <a:ext cx="7992244" cy="64222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/>
              <a:t>第九讲</a:t>
            </a:r>
            <a:r>
              <a:rPr lang="zh-CN" altLang="en-US" sz="3200" dirty="0" smtClean="0"/>
              <a:t>：程序链接与运行（</a:t>
            </a:r>
            <a:r>
              <a:rPr lang="en-US" altLang="zh-CN" sz="3200" dirty="0"/>
              <a:t>8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392" y="830867"/>
            <a:ext cx="8162466" cy="6161590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目      标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掌握可执行文件的形成与加载执行原理。</a:t>
            </a:r>
            <a:endParaRPr lang="en-US" altLang="zh-CN" dirty="0" smtClean="0"/>
          </a:p>
          <a:p>
            <a:pPr marL="457200" indent="-457200">
              <a:lnSpc>
                <a:spcPct val="150000"/>
              </a:lnSpc>
              <a:buFont typeface="Wingdings" pitchFamily="2" charset="2"/>
              <a:buAutoNum type="ea1JpnChsDbPeriod"/>
            </a:pPr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pPr marL="594000" lvl="1" indent="-255600"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</a:pPr>
            <a:r>
              <a:rPr lang="zh-CN" altLang="en-US" sz="1400" dirty="0" smtClean="0"/>
              <a:t>链接</a:t>
            </a:r>
            <a:r>
              <a:rPr lang="zh-CN" altLang="en-US" sz="1400" dirty="0"/>
              <a:t>器驱动程序</a:t>
            </a:r>
            <a:endParaRPr lang="en-US" altLang="zh-CN" sz="1400" dirty="0"/>
          </a:p>
          <a:p>
            <a:pPr marL="594000" lvl="1" indent="-255600"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</a:pPr>
            <a:r>
              <a:rPr lang="zh-CN" altLang="en-US" sz="1400" dirty="0"/>
              <a:t>静态链接</a:t>
            </a:r>
            <a:endParaRPr lang="en-US" altLang="zh-CN" sz="1400" dirty="0"/>
          </a:p>
          <a:p>
            <a:pPr marL="594000" lvl="1" indent="-255600"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</a:pPr>
            <a:r>
              <a:rPr lang="zh-CN" altLang="en-US" sz="1400" dirty="0"/>
              <a:t>目标文件三种形式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AutoNum type="ea1JpnChsDbPeriod"/>
            </a:pPr>
            <a:r>
              <a:rPr lang="zh-CN" altLang="en-US" dirty="0"/>
              <a:t>符号解析与重定位</a:t>
            </a:r>
          </a:p>
          <a:p>
            <a:pPr marL="595313" indent="-257175"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</a:pPr>
            <a:r>
              <a:rPr lang="zh-CN" altLang="en-US" sz="1400" dirty="0"/>
              <a:t>符号和符号表</a:t>
            </a:r>
          </a:p>
          <a:p>
            <a:pPr marL="595313" indent="-257175"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</a:pPr>
            <a:r>
              <a:rPr lang="zh-CN" altLang="en-US" sz="1400" dirty="0"/>
              <a:t>符号解析</a:t>
            </a:r>
            <a:endParaRPr lang="en-US" altLang="zh-CN" sz="1400" dirty="0"/>
          </a:p>
          <a:p>
            <a:pPr marL="595313" indent="-257175"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</a:pPr>
            <a:r>
              <a:rPr lang="zh-CN" altLang="en-US" sz="1400" dirty="0"/>
              <a:t>重定位</a:t>
            </a:r>
          </a:p>
          <a:p>
            <a:pPr marL="457200" indent="-457200">
              <a:lnSpc>
                <a:spcPct val="150000"/>
              </a:lnSpc>
              <a:buFont typeface="+mj-ea"/>
              <a:buAutoNum type="ea1JpnChsDbPeriod" startAt="3"/>
            </a:pPr>
            <a:r>
              <a:rPr lang="zh-CN" altLang="en-US" dirty="0" smtClean="0"/>
              <a:t>程序运行</a:t>
            </a:r>
            <a:endParaRPr lang="en-US" altLang="zh-CN" dirty="0"/>
          </a:p>
          <a:p>
            <a:pPr marL="595313" lvl="0" indent="-257175">
              <a:lnSpc>
                <a:spcPct val="150000"/>
              </a:lnSpc>
              <a:buClr>
                <a:srgbClr val="063DE8"/>
              </a:buClr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</a:rPr>
              <a:t>可执行目标文件</a:t>
            </a:r>
          </a:p>
          <a:p>
            <a:pPr marL="595313" lvl="0" indent="-257175">
              <a:lnSpc>
                <a:spcPct val="150000"/>
              </a:lnSpc>
              <a:buClr>
                <a:srgbClr val="063DE8"/>
              </a:buClr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</a:rPr>
              <a:t>加载和运行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 marL="457200" lvl="0" indent="-457200">
              <a:lnSpc>
                <a:spcPct val="150000"/>
              </a:lnSpc>
              <a:buFont typeface="+mj-ea"/>
              <a:buAutoNum type="ea1JpnChsDbPeriod" startAt="4"/>
            </a:pPr>
            <a:r>
              <a:rPr lang="zh-CN" altLang="en-US" dirty="0">
                <a:solidFill>
                  <a:srgbClr val="000000"/>
                </a:solidFill>
              </a:rPr>
              <a:t>动态链接</a:t>
            </a:r>
            <a:endParaRPr lang="en-US" altLang="zh-CN" dirty="0">
              <a:solidFill>
                <a:srgbClr val="000000"/>
              </a:solidFill>
            </a:endParaRPr>
          </a:p>
          <a:p>
            <a:pPr marL="595313" lvl="0" indent="-257175">
              <a:lnSpc>
                <a:spcPct val="150000"/>
              </a:lnSpc>
              <a:buClr>
                <a:srgbClr val="063DE8"/>
              </a:buClr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</a:rPr>
              <a:t>加载时链接</a:t>
            </a:r>
          </a:p>
          <a:p>
            <a:pPr marL="595313" lvl="0" indent="-257175">
              <a:lnSpc>
                <a:spcPct val="150000"/>
              </a:lnSpc>
              <a:buClr>
                <a:srgbClr val="063DE8"/>
              </a:buClr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</a:rPr>
              <a:t>运行时链接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 marL="595313" lvl="0" indent="-257175">
              <a:lnSpc>
                <a:spcPct val="150000"/>
              </a:lnSpc>
              <a:buClr>
                <a:srgbClr val="063DE8"/>
              </a:buClr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</a:rPr>
              <a:t>位置无关</a:t>
            </a:r>
            <a:r>
              <a:rPr lang="zh-CN" altLang="en-US" sz="1400" dirty="0" smtClean="0">
                <a:solidFill>
                  <a:srgbClr val="000000"/>
                </a:solidFill>
              </a:rPr>
              <a:t>代码</a:t>
            </a:r>
            <a:endParaRPr lang="zh-CN" altLang="en-US" dirty="0"/>
          </a:p>
          <a:p>
            <a:pPr marL="474663" lvl="1" indent="0">
              <a:lnSpc>
                <a:spcPct val="12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474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6632"/>
            <a:ext cx="7992244" cy="64222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 smtClean="0"/>
              <a:t>第十章：总线与</a:t>
            </a:r>
            <a:r>
              <a:rPr lang="en-US" altLang="zh-CN" sz="3200" dirty="0" smtClean="0"/>
              <a:t>I/O</a:t>
            </a:r>
            <a:r>
              <a:rPr lang="zh-CN" altLang="en-US" sz="3200" dirty="0" smtClean="0"/>
              <a:t>（</a:t>
            </a:r>
            <a:r>
              <a:rPr lang="en-US" altLang="zh-CN" sz="3200" dirty="0" smtClean="0"/>
              <a:t>4</a:t>
            </a:r>
            <a:r>
              <a:rPr lang="zh-CN" altLang="en-US" sz="3200" dirty="0" smtClean="0"/>
              <a:t>学时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376" y="662265"/>
            <a:ext cx="8162466" cy="6346256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目      标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1600" dirty="0"/>
              <a:t>掌握程序查询</a:t>
            </a:r>
            <a:r>
              <a:rPr lang="en-US" altLang="zh-CN" sz="1600" dirty="0"/>
              <a:t>I/O</a:t>
            </a:r>
            <a:r>
              <a:rPr lang="zh-CN" altLang="en-US" sz="1600" dirty="0"/>
              <a:t>、中断</a:t>
            </a:r>
            <a:r>
              <a:rPr lang="en-US" altLang="zh-CN" sz="1600" dirty="0"/>
              <a:t>I/O</a:t>
            </a:r>
            <a:r>
              <a:rPr lang="zh-CN" altLang="en-US" sz="1600" dirty="0"/>
              <a:t>和</a:t>
            </a:r>
            <a:r>
              <a:rPr lang="en-US" altLang="zh-CN" sz="1600" dirty="0"/>
              <a:t>DMA I/O</a:t>
            </a:r>
            <a:r>
              <a:rPr lang="zh-CN" altLang="en-US" sz="1600" dirty="0"/>
              <a:t>等输入输出方式的工作原理。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主要内容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000" dirty="0" smtClean="0"/>
              <a:t>I/O</a:t>
            </a:r>
            <a:r>
              <a:rPr lang="zh-CN" altLang="en-US" sz="2000" dirty="0" smtClean="0"/>
              <a:t>方式</a:t>
            </a:r>
            <a:endParaRPr lang="en-US" altLang="zh-CN" sz="2000" dirty="0" smtClean="0"/>
          </a:p>
          <a:p>
            <a:pPr lvl="2">
              <a:lnSpc>
                <a:spcPct val="150000"/>
              </a:lnSpc>
            </a:pPr>
            <a:r>
              <a:rPr lang="zh-CN" altLang="en-US" sz="2000" dirty="0" smtClean="0"/>
              <a:t>程序查询</a:t>
            </a:r>
            <a:r>
              <a:rPr lang="en-US" altLang="zh-CN" sz="2000" dirty="0" smtClean="0"/>
              <a:t>I/O</a:t>
            </a:r>
            <a:r>
              <a:rPr lang="zh-CN" altLang="en-US" sz="2000" dirty="0" smtClean="0"/>
              <a:t>方式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 smtClean="0"/>
              <a:t>中断</a:t>
            </a:r>
            <a:r>
              <a:rPr lang="zh-CN" altLang="en-US" sz="2000" dirty="0"/>
              <a:t>与中断</a:t>
            </a:r>
            <a:r>
              <a:rPr lang="en-US" altLang="zh-CN" sz="2000" dirty="0"/>
              <a:t>I/O</a:t>
            </a:r>
            <a:r>
              <a:rPr lang="zh-CN" altLang="en-US" sz="2000" dirty="0"/>
              <a:t>方式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DMA I/O</a:t>
            </a:r>
            <a:r>
              <a:rPr lang="zh-CN" altLang="en-US" sz="2000" dirty="0"/>
              <a:t>方式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I/O</a:t>
            </a:r>
            <a:r>
              <a:rPr lang="zh-CN" altLang="en-US" sz="2000" dirty="0"/>
              <a:t>通道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 smtClean="0"/>
              <a:t>总线</a:t>
            </a:r>
            <a:endParaRPr lang="en-US" altLang="zh-CN" sz="1600" dirty="0" smtClean="0"/>
          </a:p>
          <a:p>
            <a:pPr lvl="2">
              <a:lnSpc>
                <a:spcPct val="150000"/>
              </a:lnSpc>
            </a:pPr>
            <a:r>
              <a:rPr lang="zh-CN" altLang="en-US" dirty="0" smtClean="0"/>
              <a:t>总线</a:t>
            </a:r>
            <a:r>
              <a:rPr lang="zh-CN" altLang="en-US" dirty="0"/>
              <a:t>的一般概念</a:t>
            </a:r>
          </a:p>
          <a:p>
            <a:pPr lvl="2">
              <a:lnSpc>
                <a:spcPct val="150000"/>
              </a:lnSpc>
            </a:pPr>
            <a:r>
              <a:rPr lang="zh-CN" altLang="en-US" dirty="0" smtClean="0"/>
              <a:t>总线</a:t>
            </a:r>
            <a:r>
              <a:rPr lang="zh-CN" altLang="en-US" dirty="0"/>
              <a:t>的结构</a:t>
            </a:r>
          </a:p>
          <a:p>
            <a:pPr lvl="2">
              <a:lnSpc>
                <a:spcPct val="150000"/>
              </a:lnSpc>
            </a:pPr>
            <a:r>
              <a:rPr lang="zh-CN" altLang="en-US" dirty="0" smtClean="0"/>
              <a:t>总线</a:t>
            </a:r>
            <a:r>
              <a:rPr lang="zh-CN" altLang="en-US" dirty="0"/>
              <a:t>的仲裁</a:t>
            </a:r>
          </a:p>
          <a:p>
            <a:pPr lvl="2">
              <a:lnSpc>
                <a:spcPct val="150000"/>
              </a:lnSpc>
            </a:pPr>
            <a:endParaRPr lang="zh-CN" altLang="en-US" dirty="0" smtClean="0"/>
          </a:p>
          <a:p>
            <a:pPr marL="474663" lvl="1" indent="0">
              <a:lnSpc>
                <a:spcPct val="12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801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0"/>
            <a:ext cx="7992244" cy="588303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/>
              <a:t>总复习（</a:t>
            </a:r>
            <a:r>
              <a:rPr lang="en-US" altLang="zh-CN" sz="3200" dirty="0"/>
              <a:t>1</a:t>
            </a:r>
            <a:r>
              <a:rPr lang="zh-CN" altLang="en-US" sz="3200" dirty="0"/>
              <a:t>学时）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68" y="836712"/>
            <a:ext cx="8162466" cy="2837603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目      标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回顾复习本学期知识点，备战期末考试。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主要内容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各章知识要点</a:t>
            </a:r>
          </a:p>
          <a:p>
            <a:pPr marL="474663" lvl="1" indent="0">
              <a:lnSpc>
                <a:spcPct val="12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4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/>
          </p:cNvSpPr>
          <p:nvPr>
            <p:ph type="title"/>
          </p:nvPr>
        </p:nvSpPr>
        <p:spPr>
          <a:xfrm>
            <a:off x="191344" y="188640"/>
            <a:ext cx="8950325" cy="479747"/>
          </a:xfrm>
          <a:ln/>
        </p:spPr>
        <p:txBody>
          <a:bodyPr anchor="b"/>
          <a:lstStyle/>
          <a:p>
            <a:r>
              <a:rPr lang="zh-CN" altLang="en-US" sz="3200" dirty="0"/>
              <a:t>实验教学目标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684478"/>
            <a:ext cx="10537825" cy="6004785"/>
          </a:xfrm>
        </p:spPr>
        <p:txBody>
          <a:bodyPr/>
          <a:lstStyle/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</a:rPr>
              <a:t>以</a:t>
            </a:r>
            <a:r>
              <a:rPr kumimoji="0" lang="en-US" altLang="zh-CN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</a:rPr>
              <a:t>MIPS</a:t>
            </a: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</a:rPr>
              <a:t>体系结构指令集为例</a:t>
            </a:r>
            <a:endParaRPr kumimoji="0" lang="en-US" altLang="zh-CN" sz="280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zh-CN" altLang="en-US" sz="24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能够编写一定规模的汇编语言程序</a:t>
            </a:r>
            <a:endParaRPr kumimoji="0" lang="en-US" altLang="zh-CN" sz="240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zh-CN" altLang="en-US" sz="24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从指令的操作语义推导出</a:t>
            </a:r>
            <a:r>
              <a:rPr kumimoji="0" lang="en-US" altLang="zh-CN" sz="24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CPU</a:t>
            </a:r>
            <a:r>
              <a:rPr kumimoji="0" lang="zh-CN" altLang="en-US" sz="24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设计的数据通路和控制部件</a:t>
            </a:r>
            <a:endParaRPr kumimoji="0" lang="en-US" altLang="zh-CN" sz="240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rPr>
              <a:t>掌握</a:t>
            </a:r>
            <a:r>
              <a:rPr kumimoji="0" lang="en-US" altLang="zh-CN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rPr>
              <a:t>MIPS</a:t>
            </a: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rPr>
              <a:t>流水线</a:t>
            </a:r>
            <a:r>
              <a:rPr kumimoji="0" lang="en-US" altLang="zh-CN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rPr>
              <a:t>CPU</a:t>
            </a: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  <a:sym typeface="+mn-ea"/>
              </a:rPr>
              <a:t>的工作原理及其构造方法</a:t>
            </a:r>
            <a:endParaRPr kumimoji="0" lang="en-US" altLang="zh-CN" sz="280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zh-CN" altLang="en-US" sz="24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用工程方法设计符合工业标准的流水线</a:t>
            </a:r>
            <a:r>
              <a:rPr kumimoji="0" lang="en-US" altLang="zh-CN" sz="24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CPU</a:t>
            </a: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kumimoji="0" lang="zh-CN" altLang="en-US" sz="20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理解计算机硬件工作原理及核心机制</a:t>
            </a:r>
            <a:endParaRPr kumimoji="0" lang="en-US" altLang="zh-CN" sz="200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kumimoji="0" lang="zh-CN" altLang="en-US" sz="20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通过工程能力训练过程建立系统观点</a:t>
            </a:r>
          </a:p>
          <a:p>
            <a:pPr marL="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zh-CN" altLang="en-US" sz="2800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掌握可执行目标的生成和装载运行原理（</a:t>
            </a:r>
            <a:r>
              <a:rPr kumimoji="0" lang="en-US" altLang="zh-CN" sz="2800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Linux</a:t>
            </a:r>
            <a:r>
              <a:rPr kumimoji="0" lang="zh-CN" altLang="en-US" sz="2800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平台）</a:t>
            </a:r>
            <a:endParaRPr kumimoji="0" lang="en-US" altLang="zh-CN" sz="2800" i="0" u="none" strike="noStrike" kern="0" cap="none" spc="0" normalizeH="0" baseline="0" noProof="1" smtClean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804863" lvl="3" indent="-358775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zh-CN" altLang="en-US" sz="2650" b="1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可执行目标文件的生成</a:t>
            </a:r>
            <a:endParaRPr kumimoji="0" lang="en-US" altLang="zh-CN" sz="2650" b="1" i="0" u="none" strike="noStrike" kern="0" cap="none" spc="0" normalizeH="0" baseline="0" noProof="1" smtClean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804863" lvl="3" indent="-358775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650" b="1" noProof="1">
                <a:latin typeface="+mn-lt"/>
                <a:ea typeface="+mn-ea"/>
                <a:cs typeface="+mn-ea"/>
              </a:rPr>
              <a:t>可执行目标文件的装载执行</a:t>
            </a:r>
            <a:endParaRPr lang="en-US" altLang="zh-CN" sz="2650" b="1" noProof="1">
              <a:latin typeface="+mn-lt"/>
              <a:ea typeface="+mn-ea"/>
              <a:cs typeface="+mn-ea"/>
            </a:endParaRPr>
          </a:p>
          <a:p>
            <a:pPr marL="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zh-CN" altLang="en-US" sz="2800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理解</a:t>
            </a: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计算机系统的软硬件接口及工作</a:t>
            </a:r>
            <a:r>
              <a:rPr kumimoji="0" lang="zh-CN" altLang="en-US" sz="2800" i="0" u="none" strike="noStrike" kern="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原理</a:t>
            </a:r>
            <a:endParaRPr kumimoji="0" lang="en-US" altLang="zh-CN" sz="2800" i="0" u="none" strike="noStrike" kern="0" cap="none" spc="0" normalizeH="0" baseline="0" noProof="1" smtClean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804863" lvl="3" indent="-358775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650" b="1" noProof="1">
                <a:latin typeface="+mn-lt"/>
                <a:ea typeface="+mn-ea"/>
                <a:cs typeface="+mn-ea"/>
              </a:rPr>
              <a:t>基于裸机的串口驱动和应用程序开发</a:t>
            </a:r>
          </a:p>
        </p:txBody>
      </p:sp>
    </p:spTree>
    <p:extLst>
      <p:ext uri="{BB962C8B-B14F-4D97-AF65-F5344CB8AC3E}">
        <p14:creationId xmlns:p14="http://schemas.microsoft.com/office/powerpoint/2010/main" val="124596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8184045"/>
              </p:ext>
            </p:extLst>
          </p:nvPr>
        </p:nvGraphicFramePr>
        <p:xfrm>
          <a:off x="551384" y="836712"/>
          <a:ext cx="10934700" cy="57863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280"/>
                <a:gridCol w="2667635"/>
                <a:gridCol w="2696845"/>
                <a:gridCol w="2848610"/>
                <a:gridCol w="615950"/>
                <a:gridCol w="708660"/>
                <a:gridCol w="807720"/>
              </a:tblGrid>
              <a:tr h="5099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课下任务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课上任务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启动周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学习周数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课上实验周</a:t>
                      </a:r>
                    </a:p>
                  </a:txBody>
                  <a:tcPr marL="33640" marR="33640" marT="4672" marB="0" anchor="ctr"/>
                </a:tc>
              </a:tr>
              <a:tr h="586740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P0</a:t>
                      </a:r>
                      <a:endParaRPr lang="zh-CN" altLang="en-US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 defTabSz="68580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数制、MIPS汇编、Mars、</a:t>
                      </a:r>
                      <a:r>
                        <a:rPr lang="zh-CN" alt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Logisim、</a:t>
                      </a:r>
                      <a:r>
                        <a:rPr lang="en-US" altLang="zh-CN" sz="1400" b="1" kern="100" dirty="0" err="1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verilog</a:t>
                      </a:r>
                      <a:r>
                        <a:rPr lang="zh-CN" alt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实验基础知识和工具学习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marR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第1~7周基于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实验平台开启自学，并配有部分练习题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marR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</a:t>
                      </a:r>
                    </a:p>
                  </a:txBody>
                  <a:tcPr marL="33640" marR="33640" marT="4672" marB="0" anchor="ctr"/>
                </a:tc>
              </a:tr>
              <a:tr h="644525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P1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简单部件与状态机设计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400" b="1" kern="1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Logisim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搭建支持加、减、按位或功能的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ALU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GRF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设计；表决器设计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扩展</a:t>
                      </a:r>
                      <a:r>
                        <a:rPr lang="en-US" altLang="zh-CN" sz="1400" b="1" kern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ALU</a:t>
                      </a:r>
                      <a:r>
                        <a:rPr lang="zh-CN" altLang="en-US" sz="1400" b="1" kern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支持按位与、移位和比较功能；简单投票表决器；基于</a:t>
                      </a:r>
                      <a:r>
                        <a:rPr lang="en-US" altLang="zh-CN" sz="1400" b="1" kern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FSM</a:t>
                      </a:r>
                      <a:r>
                        <a:rPr lang="zh-CN" altLang="en-US" sz="1400" b="1" kern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设计自动售货机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7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1" kern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</a:t>
                      </a:r>
                    </a:p>
                  </a:txBody>
                  <a:tcPr marL="33640" marR="33640" marT="4672" marB="0" anchor="ctr"/>
                </a:tc>
              </a:tr>
              <a:tr h="559435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P2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MIPS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汇编实验（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Mars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最大公约数、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字符串逆置、汉诺塔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汇编基础知识考核；编程题：冒泡排序、斐波那契数列计算（递归）；约瑟夫环的计算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1" kern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</a:t>
                      </a:r>
                    </a:p>
                  </a:txBody>
                  <a:tcPr marL="33640" marR="33640" marT="4672" marB="0" anchor="ctr"/>
                </a:tc>
              </a:tr>
              <a:tr h="513080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P3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基于组件搭建单周期CPU 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en-US" altLang="zh-CN" sz="1400" b="1" kern="1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Logisim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7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条指令的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单周期</a:t>
                      </a: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CPU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设计</a:t>
                      </a:r>
                      <a:endParaRPr lang="zh-CN" altLang="en-US" sz="14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新增指令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上课时指定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en-US" altLang="zh-CN" sz="14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1" kern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</a:t>
                      </a:r>
                    </a:p>
                  </a:txBody>
                  <a:tcPr marL="33640" marR="33640" marT="4672" marB="0" anchor="ctr"/>
                </a:tc>
              </a:tr>
              <a:tr h="5594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P4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kern="1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流水线CPU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en-US" altLang="zh-CN" sz="1400" b="1" kern="1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Logisim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10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指令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流水线</a:t>
                      </a: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CPU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设计</a:t>
                      </a:r>
                      <a:endParaRPr lang="zh-CN" altLang="zh-CN" sz="14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新增指令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上课时指定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14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13</a:t>
                      </a:r>
                    </a:p>
                  </a:txBody>
                  <a:tcPr marL="33640" marR="33640" marT="4672" marB="0" anchor="ctr"/>
                </a:tc>
              </a:tr>
              <a:tr h="5511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P5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支持组相联</a:t>
                      </a:r>
                      <a:r>
                        <a:rPr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Cache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CPU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设计（</a:t>
                      </a:r>
                      <a:r>
                        <a:rPr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Logisim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完成组相联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Cache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设计</a:t>
                      </a:r>
                      <a:endParaRPr lang="zh-CN" altLang="zh-CN" sz="14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支持组相联</a:t>
                      </a:r>
                      <a:r>
                        <a:rPr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Cache</a:t>
                      </a:r>
                      <a:r>
                        <a:rPr 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的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CPU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设计</a:t>
                      </a:r>
                      <a:r>
                        <a:rPr lang="zh-CN" altLang="en-US" sz="1400" b="1" kern="1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和测试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13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14</a:t>
                      </a:r>
                    </a:p>
                  </a:txBody>
                  <a:tcPr marL="33640" marR="33640" marT="4672" marB="0" anchor="ctr"/>
                </a:tc>
              </a:tr>
              <a:tr h="545465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P6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计算机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系统初始化和启动实验（实验板）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分析并理解硬件初始化和启动源码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补充特定代码，完成系统启动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14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15</a:t>
                      </a:r>
                      <a:r>
                        <a:rPr lang="zh-CN" altLang="en-US" sz="1400" b="1" kern="100" baseline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</a:t>
                      </a:r>
                    </a:p>
                  </a:txBody>
                  <a:tcPr marL="33640" marR="33640" marT="4672" marB="0" anchor="ctr"/>
                </a:tc>
              </a:tr>
              <a:tr h="4527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P7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程序链接实验</a:t>
                      </a:r>
                      <a:endParaRPr sz="1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分析C程序、汇编程序和链接后目标程序的对应关系，理解重定位信息和重定位以及位置无关代码</a:t>
                      </a:r>
                      <a:endParaRPr lang="zh-CN" alt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针对指定的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C语言代码编写一个简单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linker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程序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15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1" kern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16</a:t>
                      </a:r>
                    </a:p>
                  </a:txBody>
                  <a:tcPr marL="33640" marR="33640" marT="4672" marB="0" anchor="ctr"/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P8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计算机</a:t>
                      </a:r>
                      <a:r>
                        <a:rPr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I/O</a:t>
                      </a:r>
                      <a:r>
                        <a:rPr 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通信</a:t>
                      </a:r>
                      <a:r>
                        <a:rPr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实验（实验板）</a:t>
                      </a:r>
                      <a:endParaRPr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分析并理解串口控制流程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补充特定代码，完成串口通信</a:t>
                      </a:r>
                      <a:endParaRPr lang="zh-CN" altLang="en-US" sz="1400" b="1" kern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16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17</a:t>
                      </a:r>
                    </a:p>
                  </a:txBody>
                  <a:tcPr marL="33640" marR="33640" marT="4672" marB="0" anchor="ctr"/>
                </a:tc>
              </a:tr>
            </a:tbl>
          </a:graphicData>
        </a:graphic>
      </p:graphicFrame>
      <p:sp>
        <p:nvSpPr>
          <p:cNvPr id="11355" name="标题 1"/>
          <p:cNvSpPr>
            <a:spLocks noGrp="1"/>
          </p:cNvSpPr>
          <p:nvPr>
            <p:ph type="title"/>
          </p:nvPr>
        </p:nvSpPr>
        <p:spPr>
          <a:xfrm>
            <a:off x="191344" y="115616"/>
            <a:ext cx="10390187" cy="479747"/>
          </a:xfrm>
          <a:ln/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进度总体安排（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1-17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</a:p>
        </p:txBody>
      </p:sp>
    </p:spTree>
    <p:extLst>
      <p:ext uri="{BB962C8B-B14F-4D97-AF65-F5344CB8AC3E}">
        <p14:creationId xmlns:p14="http://schemas.microsoft.com/office/powerpoint/2010/main" val="39103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/>
          <p:cNvSpPr>
            <a:spLocks noGrp="1"/>
          </p:cNvSpPr>
          <p:nvPr>
            <p:ph type="title"/>
          </p:nvPr>
        </p:nvSpPr>
        <p:spPr>
          <a:xfrm>
            <a:off x="407368" y="187623"/>
            <a:ext cx="10390187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简单部件与状态机设计</a:t>
            </a:r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407368" y="1052736"/>
            <a:ext cx="11220450" cy="3301417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搭建支持加、减、按位或功能的ALU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GRF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表决器设计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扩展ALU支持按位与、移位和比较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基于FSM设计自动售货机</a:t>
            </a:r>
          </a:p>
        </p:txBody>
      </p:sp>
    </p:spTree>
    <p:extLst>
      <p:ext uri="{BB962C8B-B14F-4D97-AF65-F5344CB8AC3E}">
        <p14:creationId xmlns:p14="http://schemas.microsoft.com/office/powerpoint/2010/main" val="705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xfrm>
            <a:off x="191344" y="188640"/>
            <a:ext cx="10390187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MIPS汇编</a:t>
            </a: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335360" y="908720"/>
            <a:ext cx="11220450" cy="3744615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最大公约数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字符串逆置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汉诺塔（递归）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汇编基础知识考核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汇编实现冒泡排序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MIPS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汇编实现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斐波那契数列计算（递归）</a:t>
            </a:r>
          </a:p>
        </p:txBody>
      </p:sp>
    </p:spTree>
    <p:extLst>
      <p:ext uri="{BB962C8B-B14F-4D97-AF65-F5344CB8AC3E}">
        <p14:creationId xmlns:p14="http://schemas.microsoft.com/office/powerpoint/2010/main" val="19889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>
          <a:xfrm>
            <a:off x="119336" y="188640"/>
            <a:ext cx="10390187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基于CPU组件搭建单周期CPU</a:t>
            </a:r>
          </a:p>
        </p:txBody>
      </p:sp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335360" y="908720"/>
            <a:ext cx="10679112" cy="3843103"/>
          </a:xfrm>
        </p:spPr>
        <p:txBody>
          <a:bodyPr anchor="t"/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使用logisim和提供的部分CPU组件（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GRF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DM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等），自主搭建一个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单周期CPU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，支持指令集：{lw, sw, addu, subu,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lui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,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j, beq}。并通过课下正确性测试</a:t>
            </a: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基于课下完成的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增加新指令。</a:t>
            </a: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通过实验平台评测，并进行一对一问答检查</a:t>
            </a:r>
          </a:p>
        </p:txBody>
      </p:sp>
    </p:spTree>
    <p:extLst>
      <p:ext uri="{BB962C8B-B14F-4D97-AF65-F5344CB8AC3E}">
        <p14:creationId xmlns:p14="http://schemas.microsoft.com/office/powerpoint/2010/main" val="334717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0" y="188640"/>
            <a:ext cx="9877425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实验4 流水线CPU设计</a:t>
            </a: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335360" y="908720"/>
            <a:ext cx="10494962" cy="3843103"/>
          </a:xfrm>
        </p:spPr>
        <p:txBody>
          <a:bodyPr anchor="t"/>
          <a:lstStyle/>
          <a:p>
            <a:pPr>
              <a:lnSpc>
                <a:spcPct val="140000"/>
              </a:lnSpc>
            </a:pPr>
            <a:r>
              <a:rPr lang="zh-CN" altLang="en-US" sz="2800" dirty="0"/>
              <a:t>课下实验任务</a:t>
            </a:r>
            <a:endParaRPr lang="en-US" altLang="zh-CN" sz="2800" dirty="0"/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使用logisim和提供的部分CPU组件（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GRF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DM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等），自主搭建一个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支持五级流水线的CPU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，支持指令集：{lw, sw, addu, subu, lui j, beq}。并通过课下正确性测试。</a:t>
            </a: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基于课下完成的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增加新指令</a:t>
            </a: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通过实验平台评测，并进行一对一问答检查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170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119336" y="116632"/>
            <a:ext cx="10390187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支持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组相联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Cache的CPU设计</a:t>
            </a: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263352" y="908720"/>
            <a:ext cx="10793412" cy="402161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设计四路组相联Cache模拟器，并完成测试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支持四路组相联Cache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设计，其中RAM大小为4K，Cache大小为256B，每一个Block为16B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Cache的替换策略为LRU或其他指定替换策略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Cache写机制为需要写入数据时既更新Cache中的内容，也向主存中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写入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(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写直达，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write through)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80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119336" y="116632"/>
            <a:ext cx="10390187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计算机系统初始化和启动实验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335360" y="908720"/>
            <a:ext cx="10666412" cy="3559949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分析并理解硬件初始化和启动源码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根据给出的Bootloader框架，填写关键代码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基于实验板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完成系统硬件初始化与建立内存空间映射，引导一个简单操作系统启动</a:t>
            </a:r>
          </a:p>
        </p:txBody>
      </p:sp>
    </p:spTree>
    <p:extLst>
      <p:ext uri="{BB962C8B-B14F-4D97-AF65-F5344CB8AC3E}">
        <p14:creationId xmlns:p14="http://schemas.microsoft.com/office/powerpoint/2010/main" val="27676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263352" y="188640"/>
            <a:ext cx="9291637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程序链接实验</a:t>
            </a:r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650537" cy="4704878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课下实验任务</a:t>
            </a: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的原理和方法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一段简单的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语言程序和运行平台，分析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程序、汇编程序和链接后目标程序的对应关系，理解代码重定位信息和重定位以及位置无关代码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课上实验任务</a:t>
            </a:r>
          </a:p>
          <a:p>
            <a:pPr lvl="1">
              <a:lnSpc>
                <a:spcPct val="14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给定两个汇编语言程序，编写一个C程序将这两个汇编程序链接整合成一个汇编程序（简单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linker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程序），需要实现符号解析和重定位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可选实验内容：编写一个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load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程序，在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Linux shell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命令行下将一个可执行目标文件装载到内存并运行。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046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>
          <a:xfrm>
            <a:off x="119336" y="116632"/>
            <a:ext cx="10390187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计算机I/O通信实验</a:t>
            </a: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335360" y="836712"/>
            <a:ext cx="10379075" cy="2808974"/>
          </a:xfrm>
        </p:spPr>
        <p:txBody>
          <a:bodyPr anchor="t"/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分析并理解串口驱动设计，掌握寄存器操作、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中断处理原理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根据给出的串口驱动框架，填写关键代码</a:t>
            </a: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基于实验板完成串口通信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904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191344" y="188640"/>
            <a:ext cx="9505950" cy="479747"/>
          </a:xfrm>
          <a:ln/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实验平台简介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1190"/>
          <a:stretch>
            <a:fillRect/>
          </a:stretch>
        </p:blipFill>
        <p:spPr>
          <a:xfrm>
            <a:off x="1148715" y="2407285"/>
            <a:ext cx="10279380" cy="396430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1007745" y="1083310"/>
            <a:ext cx="53644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/>
              <a:t>实验平台网站：http://10.134.171.236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/>
              <a:t>用课程组提供的用户名和初始密码登录</a:t>
            </a:r>
          </a:p>
        </p:txBody>
      </p:sp>
    </p:spTree>
    <p:extLst>
      <p:ext uri="{BB962C8B-B14F-4D97-AF65-F5344CB8AC3E}">
        <p14:creationId xmlns:p14="http://schemas.microsoft.com/office/powerpoint/2010/main" val="70377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0" y="188640"/>
            <a:ext cx="9505950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实验平台简介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9004"/>
          <a:stretch>
            <a:fillRect/>
          </a:stretch>
        </p:blipFill>
        <p:spPr>
          <a:xfrm>
            <a:off x="4402455" y="2040255"/>
            <a:ext cx="7621270" cy="312356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263353" y="1248410"/>
            <a:ext cx="4053378" cy="465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/>
              <a:t>实验平台主要模块</a:t>
            </a:r>
            <a:r>
              <a:rPr lang="zh-CN" altLang="en-US" sz="2800" dirty="0" smtClean="0"/>
              <a:t>包括</a:t>
            </a:r>
            <a:endParaRPr lang="zh-CN" altLang="en-US" sz="2800" dirty="0"/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在线作业即课下实验区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在线考试即课时实验区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在线答疑是提问和答疑模块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在线教程是在线学习的相关教程</a:t>
            </a:r>
          </a:p>
        </p:txBody>
      </p:sp>
    </p:spTree>
    <p:extLst>
      <p:ext uri="{BB962C8B-B14F-4D97-AF65-F5344CB8AC3E}">
        <p14:creationId xmlns:p14="http://schemas.microsoft.com/office/powerpoint/2010/main" val="241563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191344" y="188640"/>
            <a:ext cx="9505950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预备阶段（第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1~6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07368" y="666899"/>
            <a:ext cx="11217275" cy="6079998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目标：学习相关基础知识、编程语言及设计工具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组合电路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、时序电路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汇编语言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指令集、汇编程序解析及设计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Logisim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数字电路模拟器，具有直观友善的电路建模和仿真功能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模拟器，辅助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汇编程序编写、调试，设计验证的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能够理解简单的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Verilog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程序，不需要会编写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Verilog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学习方式：在实验平台完成相关教学内容的自学与评测</a:t>
            </a:r>
          </a:p>
        </p:txBody>
      </p:sp>
    </p:spTree>
    <p:extLst>
      <p:ext uri="{BB962C8B-B14F-4D97-AF65-F5344CB8AC3E}">
        <p14:creationId xmlns:p14="http://schemas.microsoft.com/office/powerpoint/2010/main" val="99702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1"/>
          <p:cNvSpPr>
            <a:spLocks noGrp="1"/>
          </p:cNvSpPr>
          <p:nvPr>
            <p:ph idx="1"/>
          </p:nvPr>
        </p:nvSpPr>
        <p:spPr>
          <a:xfrm>
            <a:off x="479376" y="1268760"/>
            <a:ext cx="2459990" cy="31692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</a:rPr>
              <a:t>Logisim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400" dirty="0" err="1">
                <a:solidFill>
                  <a:schemeClr val="bg2"/>
                </a:solidFill>
              </a:rPr>
              <a:t>Logisim</a:t>
            </a:r>
            <a:r>
              <a:rPr lang="zh-CN" altLang="en-US" sz="2400" dirty="0">
                <a:solidFill>
                  <a:schemeClr val="bg2"/>
                </a:solidFill>
              </a:rPr>
              <a:t>是一个数字逻辑电路设计仿真的工具。</a:t>
            </a:r>
          </a:p>
        </p:txBody>
      </p:sp>
      <p:sp>
        <p:nvSpPr>
          <p:cNvPr id="31747" name="标题 2"/>
          <p:cNvSpPr>
            <a:spLocks noGrp="1"/>
          </p:cNvSpPr>
          <p:nvPr>
            <p:ph type="title"/>
          </p:nvPr>
        </p:nvSpPr>
        <p:spPr>
          <a:xfrm>
            <a:off x="239868" y="188640"/>
            <a:ext cx="7010400" cy="479747"/>
          </a:xfrm>
        </p:spPr>
        <p:txBody>
          <a:bodyPr/>
          <a:lstStyle/>
          <a:p>
            <a:pPr algn="l"/>
            <a:r>
              <a:rPr lang="zh-CN" altLang="en-US" sz="3200" dirty="0"/>
              <a:t>你需要学习的内容：软件工具</a:t>
            </a:r>
            <a:r>
              <a:rPr lang="en-US" altLang="zh-CN" sz="3200" dirty="0" err="1">
                <a:sym typeface="+mn-ea"/>
              </a:rPr>
              <a:t>Logisim</a:t>
            </a:r>
            <a:endParaRPr lang="zh-CN" altLang="en-US" sz="3200" dirty="0"/>
          </a:p>
        </p:txBody>
      </p:sp>
      <p:pic>
        <p:nvPicPr>
          <p:cNvPr id="5124" name="Picture 4" descr="http://a.fsdn.com/con/app/proj/circuit/screenshots/29789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908720"/>
            <a:ext cx="8592185" cy="551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69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1"/>
          <p:cNvSpPr>
            <a:spLocks noGrp="1"/>
          </p:cNvSpPr>
          <p:nvPr>
            <p:ph idx="1"/>
          </p:nvPr>
        </p:nvSpPr>
        <p:spPr>
          <a:xfrm>
            <a:off x="263352" y="1123999"/>
            <a:ext cx="3629025" cy="49968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MIPS</a:t>
            </a:r>
            <a:r>
              <a:rPr lang="zh-CN" altLang="en-US" sz="2400" dirty="0"/>
              <a:t>模拟器：</a:t>
            </a:r>
            <a:r>
              <a:rPr lang="en-US" altLang="zh-CN" sz="2400" dirty="0"/>
              <a:t>MARS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MARS (MIPS Assembler and Runtime Simulator) 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模拟一台</a:t>
            </a:r>
            <a:r>
              <a:rPr lang="en-US" altLang="zh-CN" sz="2400" dirty="0"/>
              <a:t>MIPS</a:t>
            </a:r>
            <a:r>
              <a:rPr lang="zh-CN" altLang="en-US" sz="2400" dirty="0"/>
              <a:t>计算机，可以编写、执行、调试</a:t>
            </a:r>
            <a:r>
              <a:rPr lang="en-US" altLang="zh-CN" sz="2400" dirty="0"/>
              <a:t>MIPS</a:t>
            </a:r>
            <a:r>
              <a:rPr lang="zh-CN" altLang="en-US" sz="2400" dirty="0"/>
              <a:t>汇编程序</a:t>
            </a:r>
            <a:endParaRPr lang="en-US" altLang="zh-CN" sz="2400" dirty="0"/>
          </a:p>
        </p:txBody>
      </p:sp>
      <p:sp>
        <p:nvSpPr>
          <p:cNvPr id="31747" name="标题 2"/>
          <p:cNvSpPr>
            <a:spLocks noGrp="1"/>
          </p:cNvSpPr>
          <p:nvPr>
            <p:ph type="title"/>
          </p:nvPr>
        </p:nvSpPr>
        <p:spPr>
          <a:xfrm>
            <a:off x="0" y="188640"/>
            <a:ext cx="7010400" cy="479747"/>
          </a:xfrm>
        </p:spPr>
        <p:txBody>
          <a:bodyPr/>
          <a:lstStyle/>
          <a:p>
            <a:pPr algn="l"/>
            <a:r>
              <a:rPr lang="zh-CN" altLang="en-US" sz="3200" dirty="0"/>
              <a:t>你需要学习的内容：软件工具</a:t>
            </a:r>
            <a:r>
              <a:rPr lang="en-US" altLang="zh-CN" sz="3200" dirty="0">
                <a:sym typeface="+mn-ea"/>
              </a:rPr>
              <a:t>MARS</a:t>
            </a:r>
            <a:endParaRPr lang="zh-CN" altLang="en-US" sz="3200" dirty="0"/>
          </a:p>
        </p:txBody>
      </p:sp>
      <p:pic>
        <p:nvPicPr>
          <p:cNvPr id="31748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377" y="1123999"/>
            <a:ext cx="8023696" cy="4825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814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/>
          </p:cNvSpPr>
          <p:nvPr>
            <p:ph type="title"/>
          </p:nvPr>
        </p:nvSpPr>
        <p:spPr>
          <a:xfrm>
            <a:off x="119336" y="260648"/>
            <a:ext cx="9405937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课下与课上实验（第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7~17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</a:p>
        </p:txBody>
      </p:sp>
      <p:sp>
        <p:nvSpPr>
          <p:cNvPr id="14338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1106150" cy="4336572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课下实验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：课下自学学习，并独立完成实验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）学习实验平台提供的学习材料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）在实验平台完成知识点评测（选择题、填空、判断题等）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）完成实验任务，并按实验要求提交至实验平台进行自动评测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课上实验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：进行课上实验任务测试，并评价实验完成情况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）基于实验平台完成知识点测评（选择题、填空、判断题等）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）以课下实验设计为基础，在限定时间内完成课上新增实验任务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步）按课上实验要求，完成实验任务，并提交实验平台通过自动评测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步）进行一对一回答方式检查</a:t>
            </a:r>
          </a:p>
        </p:txBody>
      </p:sp>
    </p:spTree>
    <p:extLst>
      <p:ext uri="{BB962C8B-B14F-4D97-AF65-F5344CB8AC3E}">
        <p14:creationId xmlns:p14="http://schemas.microsoft.com/office/powerpoint/2010/main" val="118464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/>
          <p:cNvSpPr>
            <a:spLocks noGrp="1"/>
          </p:cNvSpPr>
          <p:nvPr>
            <p:ph type="title"/>
          </p:nvPr>
        </p:nvSpPr>
        <p:spPr>
          <a:xfrm>
            <a:off x="119336" y="188640"/>
            <a:ext cx="9563100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课程实验成绩评定方法</a:t>
            </a:r>
          </a:p>
        </p:txBody>
      </p:sp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479376" y="836712"/>
            <a:ext cx="11220450" cy="5526000"/>
          </a:xfrm>
        </p:spPr>
        <p:txBody>
          <a:bodyPr anchor="t"/>
          <a:lstStyle/>
          <a:p>
            <a:pPr marL="342900" lvl="1" indent="-342900" algn="l">
              <a:lnSpc>
                <a:spcPct val="150000"/>
              </a:lnSpc>
            </a:pP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前5个实验（</a:t>
            </a:r>
            <a:r>
              <a:rPr lang="en-US" altLang="zh-CN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P1~P5</a:t>
            </a: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）为</a:t>
            </a:r>
            <a:r>
              <a:rPr lang="zh-CN" altLang="en-US" sz="2400" b="1" kern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必做实验</a:t>
            </a: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，每个实验满分16分，共占课程实验成绩的80%</a:t>
            </a:r>
            <a:endPara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1" indent="-342900" algn="l">
              <a:lnSpc>
                <a:spcPct val="150000"/>
              </a:lnSpc>
            </a:pP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后3个实验P6（满分8分）、P7（满分8分）、P8（满分4分）为</a:t>
            </a:r>
            <a:r>
              <a:rPr lang="zh-CN" altLang="en-US" sz="2400" b="1" kern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选做实验</a:t>
            </a: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，共占课程实验成绩的20%</a:t>
            </a:r>
            <a:endPara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</a:t>
            </a:r>
            <a:r>
              <a:rPr lang="en-US" altLang="zh-CN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次实验课，每次实验课为一次实验考核机会，对于</a:t>
            </a: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任一实验，如果一次实验课未</a:t>
            </a: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考核</a:t>
            </a:r>
            <a:r>
              <a:rPr lang="zh-CN" altLang="en-US" sz="2400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，可以继续该实验</a:t>
            </a: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，直至通过考核或实验考核机会用完为止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单个实验成绩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课下实验完成情况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课上实验完成及问答情况综合评定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实验课最终成绩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最终成绩由单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个实验成绩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求和</a:t>
            </a:r>
          </a:p>
        </p:txBody>
      </p:sp>
    </p:spTree>
    <p:extLst>
      <p:ext uri="{BB962C8B-B14F-4D97-AF65-F5344CB8AC3E}">
        <p14:creationId xmlns:p14="http://schemas.microsoft.com/office/powerpoint/2010/main" val="42117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119336" y="188640"/>
            <a:ext cx="9505950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诚实守信（很重要！！！）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551384" y="908720"/>
            <a:ext cx="10148570" cy="4212435"/>
          </a:xfrm>
        </p:spPr>
        <p:txBody>
          <a:bodyPr anchor="t"/>
          <a:lstStyle/>
          <a:p>
            <a:pPr>
              <a:lnSpc>
                <a:spcPct val="130000"/>
              </a:lnSpc>
            </a:pPr>
            <a:r>
              <a:rPr kumimoji="1" lang="zh-CN" altLang="en-US" sz="2800" dirty="0">
                <a:sym typeface="+mn-ea"/>
              </a:rPr>
              <a:t>查重机制：自动化查重</a:t>
            </a:r>
            <a:r>
              <a:rPr kumimoji="1" lang="en-US" altLang="zh-CN" sz="2800" dirty="0">
                <a:sym typeface="+mn-ea"/>
              </a:rPr>
              <a:t>+</a:t>
            </a:r>
            <a:r>
              <a:rPr kumimoji="1" lang="zh-CN" altLang="en-US" sz="2800" dirty="0">
                <a:sym typeface="+mn-ea"/>
              </a:rPr>
              <a:t>人工确认</a:t>
            </a:r>
            <a:endParaRPr kumimoji="1" lang="en-US" altLang="zh-CN" sz="2800" dirty="0"/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ym typeface="+mn-ea"/>
              </a:rPr>
              <a:t>若发现异常，将人工复查并进行答辩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kumimoji="1" lang="zh-CN" altLang="en-US" sz="2800" dirty="0">
                <a:sym typeface="+mn-ea"/>
              </a:rPr>
              <a:t>查重范围：涵盖</a:t>
            </a:r>
            <a:r>
              <a:rPr kumimoji="1" lang="zh-CN" altLang="en-US" sz="2800" dirty="0">
                <a:solidFill>
                  <a:srgbClr val="FF0000"/>
                </a:solidFill>
                <a:sym typeface="+mn-ea"/>
              </a:rPr>
              <a:t>本届</a:t>
            </a:r>
            <a:r>
              <a:rPr kumimoji="1" lang="zh-CN" altLang="en-US" sz="2800" dirty="0">
                <a:sym typeface="+mn-ea"/>
              </a:rPr>
              <a:t>及</a:t>
            </a:r>
            <a:r>
              <a:rPr kumimoji="1" lang="zh-CN" altLang="en-US" sz="2800" dirty="0">
                <a:solidFill>
                  <a:srgbClr val="FF0000"/>
                </a:solidFill>
                <a:sym typeface="+mn-ea"/>
              </a:rPr>
              <a:t>往届</a:t>
            </a:r>
            <a:endParaRPr kumimoji="1" lang="zh-CN" altLang="en-US" sz="28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2800" dirty="0">
                <a:sym typeface="+mn-ea"/>
              </a:rPr>
              <a:t>惩罚措施：抄袭行为确认后，课程成绩为</a:t>
            </a:r>
            <a:r>
              <a:rPr kumimoji="1" lang="zh-CN" altLang="en-US" sz="2800" dirty="0">
                <a:solidFill>
                  <a:srgbClr val="FF0000"/>
                </a:solidFill>
                <a:sym typeface="+mn-ea"/>
              </a:rPr>
              <a:t>零分</a:t>
            </a:r>
            <a:endParaRPr kumimoji="1" lang="en-US" altLang="zh-CN" sz="2800" dirty="0"/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ym typeface="+mn-ea"/>
              </a:rPr>
              <a:t>鼓励大家交流、讨论，但禁止拷贝代码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重要事情说</a:t>
            </a:r>
            <a:r>
              <a:rPr lang="en-US" altLang="zh-CN" sz="2800" dirty="0">
                <a:sym typeface="+mn-ea"/>
              </a:rPr>
              <a:t>3</a:t>
            </a:r>
            <a:r>
              <a:rPr lang="zh-CN" altLang="en-US" sz="2800" dirty="0">
                <a:sym typeface="+mn-ea"/>
              </a:rPr>
              <a:t>遍：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抄袭零容忍</a:t>
            </a:r>
            <a:r>
              <a:rPr lang="zh-CN" altLang="en-US" sz="2800" dirty="0">
                <a:sym typeface="+mn-ea"/>
              </a:rPr>
              <a:t>！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抄袭零容忍</a:t>
            </a:r>
            <a:r>
              <a:rPr lang="zh-CN" altLang="en-US" sz="2800" dirty="0">
                <a:sym typeface="+mn-ea"/>
              </a:rPr>
              <a:t>！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抄袭零容忍</a:t>
            </a:r>
            <a:r>
              <a:rPr lang="zh-CN" altLang="en-US" sz="2800" dirty="0">
                <a:sym typeface="+mn-ea"/>
              </a:rPr>
              <a:t>！</a:t>
            </a:r>
            <a:endParaRPr lang="en-US" altLang="zh-CN" sz="2800" dirty="0"/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ym typeface="+mn-ea"/>
              </a:rPr>
              <a:t>不要挑战学院惩处学术不端的决心</a:t>
            </a:r>
            <a:endParaRPr lang="en-US" altLang="zh-CN" sz="2400" dirty="0"/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ym typeface="+mn-ea"/>
              </a:rPr>
              <a:t>抄袭不仅导致课程成绩清零，还影响奖学金评定、保研等</a:t>
            </a:r>
          </a:p>
        </p:txBody>
      </p:sp>
    </p:spTree>
    <p:extLst>
      <p:ext uri="{BB962C8B-B14F-4D97-AF65-F5344CB8AC3E}">
        <p14:creationId xmlns:p14="http://schemas.microsoft.com/office/powerpoint/2010/main" val="316459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742950"/>
            <a:ext cx="9782175" cy="1593215"/>
          </a:xfrm>
        </p:spPr>
        <p:txBody>
          <a:bodyPr>
            <a:noAutofit/>
          </a:bodyPr>
          <a:lstStyle/>
          <a:p>
            <a:r>
              <a:rPr lang="zh-CN" altLang="en-US" sz="2400" b="1" dirty="0"/>
              <a:t>教师团队</a:t>
            </a:r>
            <a:endParaRPr lang="en-US" altLang="zh-CN" sz="2400" b="1" dirty="0"/>
          </a:p>
          <a:p>
            <a:pPr lvl="1"/>
            <a:r>
              <a:rPr lang="zh-CN" altLang="en-US" sz="2400" b="1" dirty="0">
                <a:cs typeface="+mn-ea"/>
                <a:sym typeface="+mn-ea"/>
              </a:rPr>
              <a:t>牛建伟  </a:t>
            </a:r>
            <a:r>
              <a:rPr lang="zh-CN" altLang="en-US" sz="2400" b="1" dirty="0" smtClean="0">
                <a:cs typeface="+mn-ea"/>
                <a:sym typeface="+mn-ea"/>
              </a:rPr>
              <a:t>王丽华  </a:t>
            </a:r>
            <a:r>
              <a:rPr lang="zh-CN" altLang="en-US" sz="2400" b="1" dirty="0">
                <a:cs typeface="+mn-ea"/>
                <a:sym typeface="+mn-ea"/>
              </a:rPr>
              <a:t>邓莹莹  </a:t>
            </a: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ea"/>
              </a:rPr>
              <a:t>李辉勇  李莹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r>
              <a:rPr lang="zh-CN" altLang="en-US" sz="2400" b="1" dirty="0"/>
              <a:t>教辅团队 </a:t>
            </a:r>
            <a:r>
              <a:rPr lang="zh-CN" altLang="zh-CN" sz="2400" dirty="0"/>
              <a:t> </a:t>
            </a:r>
            <a:endParaRPr lang="en-US" altLang="zh-CN" sz="2400" dirty="0"/>
          </a:p>
          <a:p>
            <a:endParaRPr kumimoji="1" lang="zh-CN" altLang="en-US" sz="1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3703" y="247516"/>
            <a:ext cx="7010400" cy="479747"/>
          </a:xfrm>
        </p:spPr>
        <p:txBody>
          <a:bodyPr/>
          <a:lstStyle/>
          <a:p>
            <a:r>
              <a:rPr kumimoji="1" lang="zh-CN" altLang="en-US" sz="3200" dirty="0"/>
              <a:t>教学团队</a:t>
            </a:r>
          </a:p>
        </p:txBody>
      </p:sp>
      <p:graphicFrame>
        <p:nvGraphicFramePr>
          <p:cNvPr id="28" name="表格 27"/>
          <p:cNvGraphicFramePr/>
          <p:nvPr>
            <p:custDataLst>
              <p:tags r:id="rId1"/>
            </p:custDataLst>
          </p:nvPr>
        </p:nvGraphicFramePr>
        <p:xfrm>
          <a:off x="734695" y="2336165"/>
          <a:ext cx="4982210" cy="4351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95"/>
                <a:gridCol w="2710815"/>
              </a:tblGrid>
              <a:tr h="3892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800" b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1800" b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144D73"/>
                      </a:solidFill>
                      <a:prstDash val="solid"/>
                    </a:lnT>
                    <a:lnB w="19050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4D73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邮箱</a:t>
                      </a:r>
                      <a:endParaRPr lang="zh-CN" altLang="en-US" sz="1800" b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 cap="rnd">
                      <a:solidFill>
                        <a:srgbClr val="144D73"/>
                      </a:solidFill>
                      <a:prstDash val="solid"/>
                    </a:lnT>
                    <a:lnB w="19050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4D73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黄炜（助教头子）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19050">
                      <a:solidFill>
                        <a:srgbClr val="144D73"/>
                      </a:solidFill>
                      <a:prstDash val="soli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398838870@qq.com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>
                      <a:solidFill>
                        <a:srgbClr val="144D73"/>
                      </a:solidFill>
                      <a:prstDash val="soli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刘川枫（助教副头子）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liucf.buaa@foxmail.com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范竞元</a:t>
                      </a:r>
                      <a:endParaRPr lang="zh-CN" altLang="en-US" sz="1800" b="0" dirty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f@buaa.edu.cn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马瑞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17005044@buaa.edu.cn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汤裕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1963086410@qq.com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颜月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yan1061192301@qq.com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文思勇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1350998449@qq.com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王一晴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19373408@buaa.edu.cn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王卓浩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1500305337@qq.com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尚文涛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1754917862@qq.com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sz="1800" b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刘博一</a:t>
                      </a:r>
                      <a:endParaRPr lang="zh-CN" altLang="en-US" sz="1800" b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</a:rPr>
                        <a:t>918444206@qq.com</a:t>
                      </a:r>
                      <a:endParaRPr lang="en-US" altLang="en-US" sz="1800" b="0">
                        <a:solidFill>
                          <a:srgbClr val="40404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" name="内容占位符 2"/>
          <p:cNvSpPr>
            <a:spLocks noGrp="1"/>
          </p:cNvSpPr>
          <p:nvPr/>
        </p:nvSpPr>
        <p:spPr>
          <a:xfrm>
            <a:off x="5879976" y="1916832"/>
            <a:ext cx="6235065" cy="42322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800" dirty="0"/>
              <a:t>教辅团队职责</a:t>
            </a:r>
            <a:endParaRPr lang="en-US" altLang="zh-CN" sz="2800" dirty="0"/>
          </a:p>
          <a:p>
            <a:pPr lvl="1">
              <a:lnSpc>
                <a:spcPct val="110000"/>
              </a:lnSpc>
            </a:pPr>
            <a:r>
              <a:rPr lang="zh-CN" altLang="zh-CN" sz="2400" dirty="0"/>
              <a:t>参与实验体系、实验环境建设 </a:t>
            </a:r>
            <a:endParaRPr lang="en-US" altLang="zh-CN" sz="2400" dirty="0"/>
          </a:p>
          <a:p>
            <a:pPr lvl="2">
              <a:lnSpc>
                <a:spcPct val="110000"/>
              </a:lnSpc>
            </a:pPr>
            <a:r>
              <a:rPr lang="zh-CN" altLang="en-US" sz="2000" dirty="0"/>
              <a:t>亲历整个实验过程，</a:t>
            </a:r>
            <a:r>
              <a:rPr lang="zh-CN" altLang="zh-CN" sz="2000" dirty="0"/>
              <a:t>产生有建设性改进想法 </a:t>
            </a:r>
            <a:endParaRPr lang="en-US" altLang="zh-CN" sz="2000" dirty="0"/>
          </a:p>
          <a:p>
            <a:pPr lvl="1">
              <a:lnSpc>
                <a:spcPct val="110000"/>
              </a:lnSpc>
            </a:pPr>
            <a:r>
              <a:rPr lang="zh-CN" altLang="zh-CN" sz="2400" dirty="0"/>
              <a:t>线上线下答疑</a:t>
            </a:r>
            <a:r>
              <a:rPr lang="zh-CN" altLang="en-US" sz="2400" dirty="0"/>
              <a:t>、</a:t>
            </a:r>
            <a:r>
              <a:rPr lang="zh-CN" altLang="zh-CN" sz="2400" dirty="0"/>
              <a:t>分享学习经验  </a:t>
            </a:r>
            <a:endParaRPr lang="en-US" altLang="zh-CN" sz="2400" dirty="0"/>
          </a:p>
          <a:p>
            <a:pPr lvl="2">
              <a:lnSpc>
                <a:spcPct val="110000"/>
              </a:lnSpc>
            </a:pPr>
            <a:r>
              <a:rPr lang="zh-CN" altLang="zh-CN" sz="2000" dirty="0"/>
              <a:t>知识要用来分享，才能承先启后</a:t>
            </a:r>
            <a:endParaRPr lang="en-US" altLang="zh-CN" sz="2000" dirty="0"/>
          </a:p>
          <a:p>
            <a:pPr lvl="2">
              <a:lnSpc>
                <a:spcPct val="110000"/>
              </a:lnSpc>
            </a:pPr>
            <a:r>
              <a:rPr lang="zh-CN" altLang="zh-CN" sz="2000" dirty="0"/>
              <a:t>成功不</a:t>
            </a:r>
            <a:r>
              <a:rPr lang="zh-CN" altLang="en-US" sz="2000" dirty="0"/>
              <a:t>只</a:t>
            </a:r>
            <a:r>
              <a:rPr lang="zh-CN" altLang="zh-CN" sz="2000" dirty="0"/>
              <a:t>付出与拥有，有承担才是最高的成就！ </a:t>
            </a:r>
            <a:endParaRPr lang="en-US" altLang="zh-CN" sz="2000" dirty="0"/>
          </a:p>
          <a:p>
            <a:pPr lvl="1">
              <a:lnSpc>
                <a:spcPct val="110000"/>
              </a:lnSpc>
            </a:pPr>
            <a:r>
              <a:rPr lang="zh-CN" altLang="zh-CN" sz="2400" dirty="0"/>
              <a:t>检查实验进度</a:t>
            </a:r>
            <a:r>
              <a:rPr lang="zh-CN" altLang="en-US" sz="2400" dirty="0"/>
              <a:t>、完善评价体系</a:t>
            </a:r>
            <a:endParaRPr lang="en-US" altLang="zh-CN" sz="2400" dirty="0"/>
          </a:p>
          <a:p>
            <a:pPr lvl="2">
              <a:lnSpc>
                <a:spcPct val="110000"/>
              </a:lnSpc>
            </a:pPr>
            <a:r>
              <a:rPr lang="zh-CN" altLang="en-US" sz="2000" dirty="0"/>
              <a:t>希望每一位同学都能凭借自己的努力，获得一份公正的评判</a:t>
            </a:r>
            <a:r>
              <a:rPr lang="zh-CN" altLang="zh-CN" sz="2000" dirty="0"/>
              <a:t>  </a:t>
            </a:r>
            <a:endParaRPr lang="en-US" altLang="zh-CN" sz="2000" dirty="0"/>
          </a:p>
          <a:p>
            <a:endParaRPr kumimoji="1"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60025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0390187" cy="479747"/>
          </a:xfrm>
        </p:spPr>
        <p:txBody>
          <a:bodyPr/>
          <a:lstStyle/>
          <a:p>
            <a:r>
              <a:rPr lang="zh-CN" altLang="en-US" sz="3200" dirty="0"/>
              <a:t>广告：</a:t>
            </a:r>
            <a:r>
              <a:rPr lang="en-US" altLang="zh-CN" sz="3200" dirty="0"/>
              <a:t>2022</a:t>
            </a:r>
            <a:r>
              <a:rPr lang="zh-CN" altLang="en-US" sz="3200" dirty="0"/>
              <a:t>课程教辅团队招募</a:t>
            </a:r>
            <a:endParaRPr kumimoji="1"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980728"/>
            <a:ext cx="10807700" cy="256050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800" dirty="0"/>
              <a:t>如果你</a:t>
            </a:r>
            <a:r>
              <a:rPr lang="zh-CN" altLang="en-US" sz="2800" dirty="0"/>
              <a:t>优秀且</a:t>
            </a:r>
            <a:r>
              <a:rPr lang="zh-CN" altLang="zh-CN" sz="2800" dirty="0"/>
              <a:t>具有强烈的责任感与使命感，请加入我们！ 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我们期待你们</a:t>
            </a:r>
            <a:r>
              <a:rPr lang="zh-CN" altLang="zh-CN" sz="2800" dirty="0"/>
              <a:t>新鲜的想法</a:t>
            </a:r>
            <a:r>
              <a:rPr lang="zh-CN" altLang="en-US" sz="2800" dirty="0"/>
              <a:t>与做法，</a:t>
            </a:r>
            <a:r>
              <a:rPr lang="zh-CN" altLang="zh-CN" sz="2800" dirty="0"/>
              <a:t>为课程添加新的活力</a:t>
            </a:r>
            <a:r>
              <a:rPr lang="zh-CN" altLang="en-US" sz="2800" dirty="0"/>
              <a:t>！</a:t>
            </a:r>
            <a:r>
              <a:rPr lang="zh-CN" altLang="zh-CN" sz="2800" dirty="0"/>
              <a:t> 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zh-CN" sz="2800" dirty="0"/>
              <a:t>课程组将向教辅团队成员颁发荣誉证书</a:t>
            </a:r>
            <a:r>
              <a:rPr lang="zh-CN" altLang="en-US" sz="2800" dirty="0"/>
              <a:t>！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zh-CN" sz="2800" dirty="0"/>
              <a:t>祝每位成员因有能力帮助他人，始终快乐！ </a:t>
            </a:r>
            <a:endParaRPr kumimoji="1" lang="zh-CN" altLang="en-US" sz="2800" dirty="0"/>
          </a:p>
        </p:txBody>
      </p:sp>
      <p:pic>
        <p:nvPicPr>
          <p:cNvPr id="1028" name="Picture 4" descr="https://img2.baidu.com/it/u=3653362538,491371703&amp;fm=253&amp;fmt=auto&amp;app=120&amp;f=JPEG?w=500&amp;h=89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40" y="2780928"/>
            <a:ext cx="2211213" cy="393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89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2000"/>
            <a:ext cx="7320136" cy="432048"/>
          </a:xfrm>
        </p:spPr>
        <p:txBody>
          <a:bodyPr>
            <a:noAutofit/>
          </a:bodyPr>
          <a:lstStyle/>
          <a:p>
            <a:r>
              <a:rPr lang="zh-CN" altLang="en-US" sz="3200" i="0" dirty="0" smtClean="0">
                <a:latin typeface="+mn-lt"/>
              </a:rPr>
              <a:t>  参考书</a:t>
            </a:r>
            <a:endParaRPr lang="zh-CN" altLang="en-US" sz="3200" i="0" dirty="0">
              <a:latin typeface="+mn-lt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0040" y="1080000"/>
            <a:ext cx="11496600" cy="5445344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 </a:t>
            </a:r>
            <a:r>
              <a:rPr lang="zh-CN" altLang="en-US" sz="2400" dirty="0" smtClean="0"/>
              <a:t>参考</a:t>
            </a:r>
            <a:r>
              <a:rPr lang="zh-CN" altLang="en-US" sz="2400" dirty="0"/>
              <a:t>教材</a:t>
            </a:r>
            <a:endParaRPr lang="zh-CN" altLang="en-US" sz="2000" dirty="0"/>
          </a:p>
          <a:p>
            <a:pPr marL="355998" lvl="1" indent="0">
              <a:buNone/>
            </a:pPr>
            <a:r>
              <a:rPr lang="zh-CN" altLang="en-US" sz="2000" b="0" dirty="0"/>
              <a:t> </a:t>
            </a:r>
            <a:r>
              <a:rPr lang="en-US" altLang="zh-CN" sz="2000" b="0" dirty="0" smtClean="0"/>
              <a:t>[</a:t>
            </a:r>
            <a:r>
              <a:rPr lang="en-US" altLang="zh-CN" sz="2000" b="0" dirty="0"/>
              <a:t>1] </a:t>
            </a:r>
            <a:r>
              <a:rPr lang="zh-CN" altLang="en-US" sz="2000" b="0" dirty="0"/>
              <a:t>戴维</a:t>
            </a:r>
            <a:r>
              <a:rPr lang="en-US" altLang="zh-CN" sz="2000" b="0" dirty="0"/>
              <a:t>A.</a:t>
            </a:r>
            <a:r>
              <a:rPr lang="zh-CN" altLang="en-US" sz="2000" b="0" dirty="0"/>
              <a:t>帕特森，计算机组成和设计（第</a:t>
            </a:r>
            <a:r>
              <a:rPr lang="en-US" altLang="zh-CN" sz="2000" b="0" dirty="0"/>
              <a:t>5</a:t>
            </a:r>
            <a:r>
              <a:rPr lang="zh-CN" altLang="en-US" sz="2000" b="0" dirty="0"/>
              <a:t>版），机械工业出版社，</a:t>
            </a:r>
            <a:r>
              <a:rPr lang="en-US" altLang="zh-CN" sz="2000" b="0" dirty="0"/>
              <a:t>2015.7</a:t>
            </a:r>
            <a:endParaRPr lang="en-US" altLang="zh-CN" sz="2000" b="0" dirty="0" smtClean="0"/>
          </a:p>
          <a:p>
            <a:pPr marL="355998" lvl="1" indent="0">
              <a:buNone/>
            </a:pPr>
            <a:r>
              <a:rPr lang="en-US" altLang="zh-CN" sz="2000" b="0" dirty="0"/>
              <a:t> </a:t>
            </a:r>
            <a:r>
              <a:rPr lang="en-US" altLang="zh-CN" sz="2000" b="0" dirty="0" smtClean="0"/>
              <a:t>[</a:t>
            </a:r>
            <a:r>
              <a:rPr lang="en-US" altLang="zh-CN" sz="2000" b="0" dirty="0"/>
              <a:t>2] </a:t>
            </a:r>
            <a:r>
              <a:rPr lang="zh-CN" altLang="en-US" sz="2000" b="0" dirty="0"/>
              <a:t>布莱恩特，深入理解</a:t>
            </a:r>
            <a:r>
              <a:rPr lang="zh-CN" altLang="en-US" sz="2000" b="0" dirty="0" smtClean="0"/>
              <a:t>计算机系统（第</a:t>
            </a:r>
            <a:r>
              <a:rPr lang="en-US" altLang="zh-CN" sz="2000" b="0" dirty="0" smtClean="0"/>
              <a:t>3</a:t>
            </a:r>
            <a:r>
              <a:rPr lang="zh-CN" altLang="en-US" sz="2000" b="0" dirty="0" smtClean="0"/>
              <a:t>版），</a:t>
            </a:r>
            <a:r>
              <a:rPr lang="zh-CN" altLang="en-US" sz="2000" b="0" dirty="0"/>
              <a:t>机械工业出版社，</a:t>
            </a:r>
            <a:r>
              <a:rPr lang="en-US" altLang="zh-CN" sz="2000" b="0" dirty="0" smtClean="0"/>
              <a:t>2016.12 </a:t>
            </a:r>
            <a:r>
              <a:rPr lang="zh-CN" altLang="en-US" sz="2000" b="0" dirty="0" smtClean="0"/>
              <a:t>（</a:t>
            </a:r>
            <a:r>
              <a:rPr lang="en-US" altLang="zh-CN" sz="2000" b="0" dirty="0" smtClean="0"/>
              <a:t>CSAPP</a:t>
            </a:r>
            <a:r>
              <a:rPr lang="zh-CN" altLang="en-US" sz="2000" b="0" dirty="0" smtClean="0"/>
              <a:t>）</a:t>
            </a:r>
            <a:endParaRPr lang="en-US" altLang="zh-CN" sz="2000" b="0" dirty="0"/>
          </a:p>
          <a:p>
            <a:pPr marL="355998" lvl="1" indent="0">
              <a:buNone/>
            </a:pPr>
            <a:endParaRPr lang="en-US" altLang="zh-CN" sz="2000" b="0" dirty="0" smtClean="0"/>
          </a:p>
          <a:p>
            <a:pPr lvl="0"/>
            <a:r>
              <a:rPr lang="en-US" altLang="zh-CN" sz="2400" dirty="0" smtClean="0">
                <a:solidFill>
                  <a:srgbClr val="000000"/>
                </a:solidFill>
              </a:rPr>
              <a:t> </a:t>
            </a:r>
            <a:r>
              <a:rPr lang="zh-CN" altLang="en-US" sz="2400" dirty="0" smtClean="0">
                <a:solidFill>
                  <a:srgbClr val="000000"/>
                </a:solidFill>
              </a:rPr>
              <a:t>参考资料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lvl="1"/>
            <a:r>
              <a:rPr lang="zh-CN" altLang="en-US" sz="2000" b="0" dirty="0" smtClean="0"/>
              <a:t> 戴</a:t>
            </a:r>
            <a:r>
              <a:rPr lang="zh-CN" altLang="en-US" sz="2000" b="0" dirty="0"/>
              <a:t>维</a:t>
            </a:r>
            <a:r>
              <a:rPr lang="en-US" altLang="zh-CN" sz="2000" b="0" dirty="0"/>
              <a:t>•</a:t>
            </a:r>
            <a:r>
              <a:rPr lang="zh-CN" altLang="en-US" sz="2000" b="0" dirty="0"/>
              <a:t>莫尼</a:t>
            </a:r>
            <a:r>
              <a:rPr lang="en-US" altLang="zh-CN" sz="2000" b="0" dirty="0"/>
              <a:t>•</a:t>
            </a:r>
            <a:r>
              <a:rPr lang="zh-CN" altLang="en-US" sz="2000" b="0" dirty="0"/>
              <a:t>哈里斯，数字设计和计算机体系结构（第</a:t>
            </a:r>
            <a:r>
              <a:rPr lang="en-US" altLang="zh-CN" sz="2000" b="0" dirty="0"/>
              <a:t>2</a:t>
            </a:r>
            <a:r>
              <a:rPr lang="zh-CN" altLang="en-US" sz="2000" b="0" dirty="0"/>
              <a:t>版），机械工业出版社，</a:t>
            </a:r>
            <a:r>
              <a:rPr lang="en-US" altLang="zh-CN" sz="2000" b="0" dirty="0" smtClean="0"/>
              <a:t>2016.4</a:t>
            </a:r>
          </a:p>
          <a:p>
            <a:pPr lvl="1"/>
            <a:r>
              <a:rPr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威廉</a:t>
            </a:r>
            <a:r>
              <a:rPr lang="en-US" altLang="zh-CN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•</a:t>
            </a:r>
            <a:r>
              <a:rPr lang="zh-CN" altLang="en-US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斯托林斯，计算机组成与体系结构：性能设计（第</a:t>
            </a:r>
            <a:r>
              <a:rPr lang="en-US" altLang="zh-CN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10</a:t>
            </a:r>
            <a:r>
              <a:rPr lang="zh-CN" altLang="en-US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版），机械工业出版社，</a:t>
            </a:r>
            <a:r>
              <a:rPr lang="en-US" altLang="zh-CN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2019.7</a:t>
            </a:r>
          </a:p>
          <a:p>
            <a:pPr lvl="1"/>
            <a:r>
              <a:rPr lang="en-US" altLang="zh-CN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John L. Hennessy</a:t>
            </a:r>
            <a:r>
              <a:rPr lang="zh-CN" altLang="en-US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，计算机体系结构：量化研究方法（第</a:t>
            </a:r>
            <a:r>
              <a:rPr lang="en-US" altLang="zh-CN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  <a:r>
              <a:rPr lang="zh-CN" altLang="en-US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版），人民邮电出版社，</a:t>
            </a:r>
            <a:r>
              <a:rPr lang="en-US" altLang="zh-CN" sz="20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2016.1</a:t>
            </a:r>
            <a:endParaRPr lang="en-US" altLang="zh-CN" sz="20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75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2000"/>
            <a:ext cx="7320136" cy="432048"/>
          </a:xfrm>
        </p:spPr>
        <p:txBody>
          <a:bodyPr>
            <a:noAutofit/>
          </a:bodyPr>
          <a:lstStyle/>
          <a:p>
            <a:r>
              <a:rPr lang="zh-CN" altLang="en-US" sz="3200" i="0" dirty="0" smtClean="0">
                <a:latin typeface="+mn-lt"/>
              </a:rPr>
              <a:t>  课程总成绩评定</a:t>
            </a:r>
            <a:endParaRPr lang="zh-CN" altLang="en-US" sz="3200" i="0" dirty="0">
              <a:latin typeface="+mn-lt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35360" y="980728"/>
            <a:ext cx="11496600" cy="544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 smtClean="0"/>
              <a:t>T*0.5 + E </a:t>
            </a:r>
            <a:r>
              <a:rPr lang="zh-CN" altLang="en-US" sz="3200" dirty="0" smtClean="0"/>
              <a:t>*</a:t>
            </a:r>
            <a:r>
              <a:rPr lang="en-US" altLang="zh-CN" sz="3200" dirty="0" smtClean="0"/>
              <a:t>0.4 + U</a:t>
            </a:r>
            <a:r>
              <a:rPr lang="zh-CN" altLang="en-US" sz="3200" dirty="0" smtClean="0"/>
              <a:t>*</a:t>
            </a:r>
            <a:r>
              <a:rPr lang="en-US" altLang="zh-CN" sz="3200" dirty="0" smtClean="0"/>
              <a:t>0.1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smtClean="0"/>
              <a:t>T</a:t>
            </a:r>
            <a:r>
              <a:rPr lang="zh-CN" altLang="en-US" sz="2400" dirty="0" smtClean="0"/>
              <a:t>：理论课考试</a:t>
            </a:r>
            <a:r>
              <a:rPr lang="zh-CN" altLang="en-US" sz="2400" dirty="0" smtClean="0"/>
              <a:t>成绩，满分</a:t>
            </a:r>
            <a:r>
              <a:rPr lang="en-US" altLang="zh-CN" sz="2400" dirty="0" smtClean="0"/>
              <a:t>100</a:t>
            </a:r>
            <a:r>
              <a:rPr lang="zh-CN" altLang="en-US" sz="2400" dirty="0" smtClean="0"/>
              <a:t>分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E</a:t>
            </a:r>
            <a:r>
              <a:rPr lang="zh-CN" altLang="en-US" sz="2400" dirty="0" smtClean="0"/>
              <a:t>：</a:t>
            </a:r>
            <a:r>
              <a:rPr lang="zh-CN" altLang="en-US" sz="2400" dirty="0" smtClean="0"/>
              <a:t>实验课</a:t>
            </a:r>
            <a:r>
              <a:rPr lang="zh-CN" altLang="en-US" sz="2400" dirty="0" smtClean="0"/>
              <a:t>成绩</a:t>
            </a:r>
            <a:r>
              <a:rPr lang="zh-CN" altLang="en-US" sz="2400" dirty="0"/>
              <a:t>，满分</a:t>
            </a:r>
            <a:r>
              <a:rPr lang="en-US" altLang="zh-CN" sz="2400" dirty="0"/>
              <a:t>100</a:t>
            </a:r>
            <a:r>
              <a:rPr lang="zh-CN" altLang="en-US" sz="2400" dirty="0"/>
              <a:t>分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U</a:t>
            </a:r>
            <a:r>
              <a:rPr lang="zh-CN" altLang="en-US" sz="2400" dirty="0" smtClean="0"/>
              <a:t>：理论课作业和平时</a:t>
            </a:r>
            <a:r>
              <a:rPr lang="zh-CN" altLang="en-US" sz="2400" dirty="0"/>
              <a:t>表现，满分</a:t>
            </a:r>
            <a:r>
              <a:rPr lang="en-US" altLang="zh-CN" sz="2400" dirty="0"/>
              <a:t>100</a:t>
            </a:r>
            <a:r>
              <a:rPr lang="zh-CN" altLang="en-US" sz="2400" dirty="0"/>
              <a:t>分</a:t>
            </a:r>
            <a:endParaRPr lang="zh-CN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83929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88640"/>
            <a:ext cx="5257800" cy="426142"/>
          </a:xfrm>
        </p:spPr>
        <p:txBody>
          <a:bodyPr/>
          <a:lstStyle/>
          <a:p>
            <a:r>
              <a:rPr lang="zh-CN" altLang="en-US" sz="2800" dirty="0" smtClean="0"/>
              <a:t>助教和课代表</a:t>
            </a:r>
            <a:endParaRPr lang="zh-CN" altLang="en-US" sz="2800" dirty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360" y="764704"/>
            <a:ext cx="11089232" cy="2468271"/>
          </a:xfrm>
          <a:noFill/>
        </p:spPr>
        <p:txBody>
          <a:bodyPr vert="horz" wrap="square" lIns="63500" tIns="97200" rIns="63500" bIns="6120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选一个课代表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建一个课程微信群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作业如何交？电子版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or 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纸质版？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助教的定位：帮助同学解答理论课中问题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本届助教 王一晴（</a:t>
            </a:r>
            <a:r>
              <a:rPr lang="zh-CN" altLang="en-US" sz="2400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北航计算机学院大三师姐</a:t>
            </a:r>
            <a:r>
              <a:rPr lang="zh-CN" altLang="en-US" sz="2400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），微信：</a:t>
            </a:r>
            <a:r>
              <a:rPr lang="en-US" altLang="zh-CN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wxid_r652289lpzon22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156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d13b6db-b1ad-4594-b9f4-46ee895b8f8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9375f3f-84c2-4261-86ae-1b214ecf24dd}"/>
  <p:tag name="TABLE_SKINIDX" val="0"/>
  <p:tag name="TABLE_ENCOLOR" val="#FFFFFF"/>
</p:tagLst>
</file>

<file path=ppt/theme/theme1.xml><?xml version="1.0" encoding="utf-8"?>
<a:theme xmlns:a="http://schemas.openxmlformats.org/drawingml/2006/main" name="新硬件基础模板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CS152-SP98">
      <a:majorFont>
        <a:latin typeface="楷体_GB2312"/>
        <a:ea typeface="楷体_GB2312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>
            <a:lumMod val="60000"/>
            <a:lumOff val="40000"/>
          </a:schemeClr>
        </a:solidFill>
        <a:ln w="12700" cap="flat" cmpd="sng" algn="ctr">
          <a:solidFill>
            <a:srgbClr val="00B05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CS152-SP9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52-SP9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新硬件基础模板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CS152-SP98">
      <a:majorFont>
        <a:latin typeface="楷体_GB2312"/>
        <a:ea typeface="楷体_GB2312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>
            <a:lumMod val="60000"/>
            <a:lumOff val="40000"/>
          </a:schemeClr>
        </a:solidFill>
        <a:ln w="12700" cap="flat" cmpd="sng" algn="ctr">
          <a:solidFill>
            <a:srgbClr val="00B05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CS152-SP9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52-SP9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新硬件基础模板</Template>
  <TotalTime>13402</TotalTime>
  <Pages>47</Pages>
  <Words>3428</Words>
  <Application>Microsoft Office PowerPoint</Application>
  <PresentationFormat>宽屏</PresentationFormat>
  <Paragraphs>488</Paragraphs>
  <Slides>43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Arial Unicode MS</vt:lpstr>
      <vt:lpstr>Microsoft JhengHei</vt:lpstr>
      <vt:lpstr>Yu Gothic</vt:lpstr>
      <vt:lpstr>黑体</vt:lpstr>
      <vt:lpstr>华文楷体</vt:lpstr>
      <vt:lpstr>楷体_GB2312</vt:lpstr>
      <vt:lpstr>SimSun</vt:lpstr>
      <vt:lpstr>SimSun</vt:lpstr>
      <vt:lpstr>微软雅黑</vt:lpstr>
      <vt:lpstr>Arial</vt:lpstr>
      <vt:lpstr>Times New Roman</vt:lpstr>
      <vt:lpstr>Verdana</vt:lpstr>
      <vt:lpstr>Wingdings</vt:lpstr>
      <vt:lpstr>新硬件基础模板</vt:lpstr>
      <vt:lpstr>1_新硬件基础模板</vt:lpstr>
      <vt:lpstr>计算机硬件基础 （2020级）</vt:lpstr>
      <vt:lpstr>AlphaGo</vt:lpstr>
      <vt:lpstr>PowerPoint 演示文稿</vt:lpstr>
      <vt:lpstr>计算机真的是无所不能吗？它究竟默默无闻地做了什么？</vt:lpstr>
      <vt:lpstr>什么是计算机系统？</vt:lpstr>
      <vt:lpstr>本课程的定位</vt:lpstr>
      <vt:lpstr>课程介绍</vt:lpstr>
      <vt:lpstr>课程介绍</vt:lpstr>
      <vt:lpstr>本课程的主要内容（从程序员角度看）</vt:lpstr>
      <vt:lpstr>第一章：计算机组成概述（4学时）</vt:lpstr>
      <vt:lpstr>第二章：数制与运算（4学时）</vt:lpstr>
      <vt:lpstr>第三章：数字逻辑（10学时）</vt:lpstr>
      <vt:lpstr>第四章：指令系统与汇编语言（8学时）</vt:lpstr>
      <vt:lpstr>第五讲：MIPS处理器设计（12学时）</vt:lpstr>
      <vt:lpstr>第六章：主存储系统（4学时）</vt:lpstr>
      <vt:lpstr>第七章：高速缓存存储器（CACHE）（5学时）</vt:lpstr>
      <vt:lpstr>第八章：虚拟存储系统（5学时）</vt:lpstr>
      <vt:lpstr>第九讲：程序链接与运行（8学时）</vt:lpstr>
      <vt:lpstr>第十章：总线与I/O（4学时）</vt:lpstr>
      <vt:lpstr>总复习（1学时）</vt:lpstr>
      <vt:lpstr>实验教学目标</vt:lpstr>
      <vt:lpstr>进度总体安排（1-17周）</vt:lpstr>
      <vt:lpstr>实验1 简单部件与状态机设计</vt:lpstr>
      <vt:lpstr>实验2 MIPS汇编</vt:lpstr>
      <vt:lpstr>实验3 基于CPU组件搭建单周期CPU</vt:lpstr>
      <vt:lpstr>实验4 流水线CPU设计</vt:lpstr>
      <vt:lpstr>实验5 支持组相联Cache的CPU设计</vt:lpstr>
      <vt:lpstr>实验6 计算机系统初始化和启动实验</vt:lpstr>
      <vt:lpstr>实验7 程序链接实验</vt:lpstr>
      <vt:lpstr>实验8 计算机I/O通信实验</vt:lpstr>
      <vt:lpstr>实验平台简介</vt:lpstr>
      <vt:lpstr>实验平台简介</vt:lpstr>
      <vt:lpstr>预备阶段（第1~6周）</vt:lpstr>
      <vt:lpstr>你需要学习的内容：软件工具Logisim</vt:lpstr>
      <vt:lpstr>你需要学习的内容：软件工具MARS</vt:lpstr>
      <vt:lpstr>课下与课上实验（第7~17周）</vt:lpstr>
      <vt:lpstr>课程实验成绩评定方法</vt:lpstr>
      <vt:lpstr>诚实守信（很重要！！！）</vt:lpstr>
      <vt:lpstr>教学团队</vt:lpstr>
      <vt:lpstr>广告：2022课程教辅团队招募</vt:lpstr>
      <vt:lpstr>  参考书</vt:lpstr>
      <vt:lpstr>  课程总成绩评定</vt:lpstr>
      <vt:lpstr>助教和课代表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计算机硬件基础 （2020级）</dc:title>
  <dc:creator>Administrator</dc:creator>
  <dc:description>lecture 1</dc:description>
  <cp:lastModifiedBy>JWN</cp:lastModifiedBy>
  <cp:revision>473</cp:revision>
  <cp:lastPrinted>2015-09-14T05:54:14Z</cp:lastPrinted>
  <dcterms:created xsi:type="dcterms:W3CDTF">2021-07-22T03:01:42Z</dcterms:created>
  <dcterms:modified xsi:type="dcterms:W3CDTF">2021-09-06T08:03:07Z</dcterms:modified>
</cp:coreProperties>
</file>