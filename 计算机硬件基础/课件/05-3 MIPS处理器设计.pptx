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2"/>
  </p:sldMasterIdLst>
  <p:notesMasterIdLst>
    <p:notesMasterId r:id="rId35"/>
  </p:notesMasterIdLst>
  <p:handoutMasterIdLst>
    <p:handoutMasterId r:id="rId36"/>
  </p:handoutMasterIdLst>
  <p:sldIdLst>
    <p:sldId id="1008" r:id="rId3"/>
    <p:sldId id="1066" r:id="rId4"/>
    <p:sldId id="1132" r:id="rId5"/>
    <p:sldId id="1133" r:id="rId6"/>
    <p:sldId id="1134" r:id="rId7"/>
    <p:sldId id="1135" r:id="rId8"/>
    <p:sldId id="1136" r:id="rId9"/>
    <p:sldId id="1137" r:id="rId10"/>
    <p:sldId id="1138" r:id="rId11"/>
    <p:sldId id="1140" r:id="rId12"/>
    <p:sldId id="1141" r:id="rId13"/>
    <p:sldId id="1142" r:id="rId14"/>
    <p:sldId id="1143" r:id="rId15"/>
    <p:sldId id="1144" r:id="rId16"/>
    <p:sldId id="1145" r:id="rId17"/>
    <p:sldId id="1147" r:id="rId18"/>
    <p:sldId id="1148" r:id="rId19"/>
    <p:sldId id="1149" r:id="rId20"/>
    <p:sldId id="1150" r:id="rId21"/>
    <p:sldId id="1151" r:id="rId22"/>
    <p:sldId id="1152" r:id="rId23"/>
    <p:sldId id="1154" r:id="rId24"/>
    <p:sldId id="1155" r:id="rId25"/>
    <p:sldId id="1156" r:id="rId26"/>
    <p:sldId id="1157" r:id="rId27"/>
    <p:sldId id="1158" r:id="rId28"/>
    <p:sldId id="1159" r:id="rId29"/>
    <p:sldId id="1160" r:id="rId30"/>
    <p:sldId id="1161" r:id="rId31"/>
    <p:sldId id="1162" r:id="rId32"/>
    <p:sldId id="1163" r:id="rId33"/>
    <p:sldId id="1164" r:id="rId34"/>
  </p:sldIdLst>
  <p:sldSz cx="12192000" cy="6858000"/>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p15:clr>
            <a:srgbClr val="A4A3A4"/>
          </p15:clr>
        </p15:guide>
        <p15:guide id="2" pos="3834">
          <p15:clr>
            <a:srgbClr val="A4A3A4"/>
          </p15:clr>
        </p15:guide>
      </p15:sldGuideLst>
    </p:ext>
    <p:ext uri="{2D200454-40CA-4A62-9FC3-DE9A4176ACB9}">
      <p15:notesGuideLst xmlns:p15="http://schemas.microsoft.com/office/powerpoint/2012/main">
        <p15:guide id="1" orient="horz" pos="2833">
          <p15:clr>
            <a:srgbClr val="A4A3A4"/>
          </p15:clr>
        </p15:guide>
        <p15:guide id="2" pos="2232">
          <p15:clr>
            <a:srgbClr val="A4A3A4"/>
          </p15:clr>
        </p15:guide>
        <p15:guide id="3" orient="horz" pos="32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D"/>
    <a:srgbClr val="F9FDC7"/>
    <a:srgbClr val="000099"/>
    <a:srgbClr val="535CA1"/>
    <a:srgbClr val="DDDDDD"/>
    <a:srgbClr val="EAEAEA"/>
    <a:srgbClr val="FFDA3F"/>
    <a:srgbClr val="00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9771" autoAdjust="0"/>
  </p:normalViewPr>
  <p:slideViewPr>
    <p:cSldViewPr>
      <p:cViewPr varScale="1">
        <p:scale>
          <a:sx n="57" d="100"/>
          <a:sy n="57" d="100"/>
        </p:scale>
        <p:origin x="1004" y="36"/>
      </p:cViewPr>
      <p:guideLst>
        <p:guide orient="horz" pos="2205"/>
        <p:guide pos="38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6"/>
    </p:cViewPr>
  </p:sorterViewPr>
  <p:notesViewPr>
    <p:cSldViewPr>
      <p:cViewPr varScale="1">
        <p:scale>
          <a:sx n="42" d="100"/>
          <a:sy n="42" d="100"/>
        </p:scale>
        <p:origin x="-1230" y="-96"/>
      </p:cViewPr>
      <p:guideLst>
        <p:guide orient="horz" pos="2833"/>
        <p:guide pos="2232"/>
        <p:guide orient="horz" pos="32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496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60338" y="658813"/>
            <a:ext cx="6792912" cy="3822700"/>
          </a:xfrm>
          <a:prstGeom prst="rect">
            <a:avLst/>
          </a:prstGeom>
          <a:noFill/>
          <a:ln w="12700">
            <a:noFill/>
            <a:miter lim="800000"/>
          </a:ln>
          <a:effectLst/>
        </p:spPr>
      </p:sp>
      <p:sp>
        <p:nvSpPr>
          <p:cNvPr id="2051" name="Rectangle 3"/>
          <p:cNvSpPr>
            <a:spLocks noGrp="1" noChangeArrowheads="1"/>
          </p:cNvSpPr>
          <p:nvPr>
            <p:ph type="body" sz="quarter" idx="3"/>
          </p:nvPr>
        </p:nvSpPr>
        <p:spPr bwMode="auto">
          <a:xfrm>
            <a:off x="533576" y="4860873"/>
            <a:ext cx="6119197" cy="4605312"/>
          </a:xfrm>
          <a:prstGeom prst="rect">
            <a:avLst/>
          </a:prstGeom>
          <a:noFill/>
          <a:ln w="12700">
            <a:noFill/>
            <a:miter lim="800000"/>
          </a:ln>
          <a:effectLst/>
        </p:spPr>
        <p:txBody>
          <a:bodyPr vert="horz" wrap="square" lIns="98007" tIns="48144" rIns="98007" bIns="48144" numCol="1" anchor="t" anchorCtr="0" compatLnSpc="1"/>
          <a:lstStyle/>
          <a:p>
            <a:pPr lvl="0"/>
            <a:r>
              <a:rPr lang="en-US" altLang="zh-CN"/>
              <a:t>We want this to be in font 11 and justify.</a:t>
            </a:r>
          </a:p>
        </p:txBody>
      </p:sp>
    </p:spTree>
    <p:extLst>
      <p:ext uri="{BB962C8B-B14F-4D97-AF65-F5344CB8AC3E}">
        <p14:creationId xmlns:p14="http://schemas.microsoft.com/office/powerpoint/2010/main" val="4037780464"/>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lib.csdn.net/base/operatingsystem"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lib.csdn.net/base/softwaretes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60338" y="658813"/>
            <a:ext cx="6792912" cy="3822700"/>
          </a:xfrm>
        </p:spPr>
      </p:sp>
      <p:sp>
        <p:nvSpPr>
          <p:cNvPr id="133123"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390941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6BEB134A-141B-5B40-9166-72E046F65F03}" type="datetime3">
              <a:rPr lang="en-AU">
                <a:solidFill>
                  <a:prstClr val="black"/>
                </a:solidFill>
              </a:rPr>
              <a:t>14 November, 2021</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020993C2-33EC-6841-8B88-705AD99553A6}" type="slidenum">
              <a:rPr lang="en-AU">
                <a:solidFill>
                  <a:prstClr val="black"/>
                </a:solidFill>
              </a:rPr>
              <a:t>3</a:t>
            </a:fld>
            <a:endParaRPr lang="en-AU">
              <a:solidFill>
                <a:prstClr val="black"/>
              </a:solidFill>
            </a:endParaRPr>
          </a:p>
        </p:txBody>
      </p:sp>
      <p:sp>
        <p:nvSpPr>
          <p:cNvPr id="453634" name="Rectangle 2"/>
          <p:cNvSpPr>
            <a:spLocks noGrp="1" noRot="1" noChangeAspect="1" noChangeArrowheads="1" noTextEdit="1"/>
          </p:cNvSpPr>
          <p:nvPr>
            <p:ph type="sldImg"/>
          </p:nvPr>
        </p:nvSpPr>
        <p:spPr>
          <a:xfrm>
            <a:off x="92075" y="746125"/>
            <a:ext cx="6613525" cy="3721100"/>
          </a:xfrm>
        </p:spPr>
      </p:sp>
      <p:sp>
        <p:nvSpPr>
          <p:cNvPr id="4536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09127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3D3508E0-F770-7C4D-9470-635F49919A05}" type="datetime3">
              <a:rPr lang="en-AU">
                <a:solidFill>
                  <a:prstClr val="black"/>
                </a:solidFill>
              </a:rPr>
              <a:t>15 November, 2021</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21571301-9103-074E-B9AA-6273CE542A86}" type="slidenum">
              <a:rPr lang="en-AU">
                <a:solidFill>
                  <a:prstClr val="black"/>
                </a:solidFill>
              </a:rPr>
              <a:t>4</a:t>
            </a:fld>
            <a:endParaRPr lang="en-AU">
              <a:solidFill>
                <a:prstClr val="black"/>
              </a:solidFill>
            </a:endParaRPr>
          </a:p>
        </p:txBody>
      </p:sp>
      <p:sp>
        <p:nvSpPr>
          <p:cNvPr id="455682" name="Rectangle 2"/>
          <p:cNvSpPr>
            <a:spLocks noGrp="1" noRot="1" noChangeAspect="1" noChangeArrowheads="1" noTextEdit="1"/>
          </p:cNvSpPr>
          <p:nvPr>
            <p:ph type="sldImg"/>
          </p:nvPr>
        </p:nvSpPr>
        <p:spPr>
          <a:xfrm>
            <a:off x="92075" y="746125"/>
            <a:ext cx="6613525" cy="3721100"/>
          </a:xfrm>
        </p:spPr>
      </p:sp>
      <p:sp>
        <p:nvSpPr>
          <p:cNvPr id="455683" name="Rectangle 3"/>
          <p:cNvSpPr>
            <a:spLocks noGrp="1" noChangeArrowheads="1"/>
          </p:cNvSpPr>
          <p:nvPr>
            <p:ph type="body" idx="1"/>
          </p:nvPr>
        </p:nvSpPr>
        <p:spPr/>
        <p:txBody>
          <a:bodyPr/>
          <a:lstStyle/>
          <a:p>
            <a:pPr>
              <a:buNone/>
            </a:pPr>
            <a:r>
              <a:rPr lang="en-US" altLang="zh-CN" dirty="0" smtClean="0"/>
              <a:t>MIPS </a:t>
            </a:r>
            <a:r>
              <a:rPr lang="zh-CN" altLang="en-US" dirty="0" smtClean="0"/>
              <a:t>的异常</a:t>
            </a:r>
            <a:r>
              <a:rPr lang="en-US" altLang="zh-CN" dirty="0" smtClean="0"/>
              <a:t>/</a:t>
            </a:r>
            <a:r>
              <a:rPr lang="zh-CN" altLang="en-US" dirty="0" smtClean="0"/>
              <a:t>中断向量表</a:t>
            </a:r>
            <a:r>
              <a:rPr lang="en-US" altLang="zh-CN" dirty="0" smtClean="0"/>
              <a:t>(</a:t>
            </a:r>
            <a:r>
              <a:rPr lang="zh-CN" altLang="en-US" dirty="0" smtClean="0"/>
              <a:t>假定将</a:t>
            </a:r>
            <a:r>
              <a:rPr lang="en-US" altLang="zh-CN" dirty="0" smtClean="0"/>
              <a:t>MIPS</a:t>
            </a:r>
            <a:r>
              <a:rPr lang="zh-CN" altLang="en-US" dirty="0" smtClean="0"/>
              <a:t>运行在</a:t>
            </a:r>
            <a:r>
              <a:rPr lang="en-US" altLang="zh-CN" dirty="0" smtClean="0"/>
              <a:t>32</a:t>
            </a:r>
            <a:r>
              <a:rPr lang="zh-CN" altLang="en-US" dirty="0" smtClean="0"/>
              <a:t>为模式下</a:t>
            </a:r>
            <a:r>
              <a:rPr lang="en-US" altLang="zh-CN" dirty="0" smtClean="0"/>
              <a:t>)</a:t>
            </a:r>
          </a:p>
          <a:p>
            <a:pPr>
              <a:buNone/>
            </a:pPr>
            <a:r>
              <a:rPr lang="en-US" altLang="zh-CN" dirty="0" smtClean="0"/>
              <a:t>Reset, NMI</a:t>
            </a:r>
            <a:r>
              <a:rPr lang="zh-CN" altLang="en-US" dirty="0" smtClean="0"/>
              <a:t>： </a:t>
            </a:r>
            <a:r>
              <a:rPr lang="en-US" altLang="zh-CN" dirty="0" smtClean="0"/>
              <a:t>0x8000 0000</a:t>
            </a:r>
          </a:p>
          <a:p>
            <a:pPr>
              <a:buNone/>
            </a:pPr>
            <a:r>
              <a:rPr lang="en-US" altLang="zh-CN" dirty="0" smtClean="0"/>
              <a:t>TLB Refill</a:t>
            </a:r>
            <a:r>
              <a:rPr lang="zh-CN" altLang="en-US" dirty="0" smtClean="0"/>
              <a:t>： </a:t>
            </a:r>
            <a:r>
              <a:rPr lang="en-US" altLang="zh-CN" dirty="0" smtClean="0"/>
              <a:t>0x8000 0000</a:t>
            </a:r>
          </a:p>
          <a:p>
            <a:pPr>
              <a:buNone/>
            </a:pPr>
            <a:r>
              <a:rPr lang="en-US" altLang="zh-CN" dirty="0" smtClean="0"/>
              <a:t>Cache Error: 0xA000 00100</a:t>
            </a:r>
          </a:p>
          <a:p>
            <a:pPr>
              <a:buNone/>
            </a:pPr>
            <a:r>
              <a:rPr lang="zh-CN" altLang="en-US" dirty="0" smtClean="0"/>
              <a:t>其他的异常都指向：</a:t>
            </a:r>
            <a:r>
              <a:rPr lang="en-US" altLang="zh-CN" dirty="0" smtClean="0"/>
              <a:t>0x8000 0180</a:t>
            </a:r>
          </a:p>
        </p:txBody>
      </p:sp>
    </p:spTree>
    <p:extLst>
      <p:ext uri="{BB962C8B-B14F-4D97-AF65-F5344CB8AC3E}">
        <p14:creationId xmlns:p14="http://schemas.microsoft.com/office/powerpoint/2010/main" val="3311493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A segmentation fault (often shortened to </a:t>
            </a:r>
            <a:r>
              <a:rPr kumimoji="1"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segfault</a:t>
            </a:r>
            <a:r>
              <a:rPr kumimoji="1"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 is a particular error condition that can occur during the operation of computer software. In short, a segmentation fault occurs when a program attempts to access a memory location that it is not allowed to access, or attempts to access a memory location in a way that is not allowed (e.g., attempts to write to a read-only location, or to overwrite part of the operating system). Systems based on processors like the Motorola 68000 tend to refer to these events as Address or Bus errors.</a:t>
            </a:r>
          </a:p>
          <a:p>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5</a:t>
            </a:fld>
            <a:endParaRPr lang="en-US" altLang="zh-CN"/>
          </a:p>
        </p:txBody>
      </p:sp>
    </p:spTree>
    <p:extLst>
      <p:ext uri="{BB962C8B-B14F-4D97-AF65-F5344CB8AC3E}">
        <p14:creationId xmlns:p14="http://schemas.microsoft.com/office/powerpoint/2010/main" val="639712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18666136-3E36-B74D-B6D8-BD0C0E1F0662}" type="datetime3">
              <a:rPr lang="en-AU">
                <a:solidFill>
                  <a:prstClr val="black"/>
                </a:solidFill>
              </a:rPr>
              <a:t>15 November, 2021</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020C7EBD-A2C0-624C-B468-E169A36EE307}" type="slidenum">
              <a:rPr lang="en-AU">
                <a:solidFill>
                  <a:prstClr val="black"/>
                </a:solidFill>
              </a:rPr>
              <a:t>6</a:t>
            </a:fld>
            <a:endParaRPr lang="en-AU">
              <a:solidFill>
                <a:prstClr val="black"/>
              </a:solidFill>
            </a:endParaRPr>
          </a:p>
        </p:txBody>
      </p:sp>
      <p:sp>
        <p:nvSpPr>
          <p:cNvPr id="467970" name="Rectangle 2"/>
          <p:cNvSpPr>
            <a:spLocks noGrp="1" noRot="1" noChangeAspect="1" noChangeArrowheads="1" noTextEdit="1"/>
          </p:cNvSpPr>
          <p:nvPr>
            <p:ph type="sldImg"/>
          </p:nvPr>
        </p:nvSpPr>
        <p:spPr>
          <a:xfrm>
            <a:off x="92075" y="746125"/>
            <a:ext cx="6613525" cy="3721100"/>
          </a:xfrm>
        </p:spPr>
      </p:sp>
      <p:sp>
        <p:nvSpPr>
          <p:cNvPr id="467971" name="Rectangle 3"/>
          <p:cNvSpPr>
            <a:spLocks noGrp="1" noChangeArrowheads="1"/>
          </p:cNvSpPr>
          <p:nvPr>
            <p:ph type="body" idx="1"/>
          </p:nvPr>
        </p:nvSpPr>
        <p:spPr/>
        <p:txBody>
          <a:bodyPr/>
          <a:lstStyle/>
          <a:p>
            <a:r>
              <a:rPr lang="en-US" dirty="0" smtClean="0"/>
              <a:t>Non-re-</a:t>
            </a:r>
            <a:r>
              <a:rPr lang="en-US" dirty="0" err="1" smtClean="0"/>
              <a:t>startable</a:t>
            </a:r>
            <a:r>
              <a:rPr lang="en-US" baseline="0" dirty="0" smtClean="0"/>
              <a:t> exception example:  arithmetic overflow.  If instruction completes, can’t show offending values</a:t>
            </a:r>
          </a:p>
          <a:p>
            <a:r>
              <a:rPr lang="en-US" baseline="0" dirty="0" smtClean="0"/>
              <a:t>Re-</a:t>
            </a:r>
            <a:r>
              <a:rPr lang="en-US" baseline="0" dirty="0" err="1" smtClean="0"/>
              <a:t>startable</a:t>
            </a:r>
            <a:r>
              <a:rPr lang="en-US" baseline="0" dirty="0" smtClean="0"/>
              <a:t> exception example:  I/O device interrupt.</a:t>
            </a:r>
            <a:endParaRPr lang="en-US" dirty="0"/>
          </a:p>
        </p:txBody>
      </p:sp>
    </p:spTree>
    <p:extLst>
      <p:ext uri="{BB962C8B-B14F-4D97-AF65-F5344CB8AC3E}">
        <p14:creationId xmlns:p14="http://schemas.microsoft.com/office/powerpoint/2010/main" val="2778329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E167AA84-6628-BA46-ADAB-A9204FFF4A43}" type="datetime3">
              <a:rPr lang="en-AU">
                <a:solidFill>
                  <a:prstClr val="black"/>
                </a:solidFill>
              </a:rPr>
              <a:t>14 November, 2021</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6373C6B3-8A30-AF4D-840E-01804555342F}" type="slidenum">
              <a:rPr lang="en-AU">
                <a:solidFill>
                  <a:prstClr val="black"/>
                </a:solidFill>
              </a:rPr>
              <a:t>7</a:t>
            </a:fld>
            <a:endParaRPr lang="en-AU">
              <a:solidFill>
                <a:prstClr val="black"/>
              </a:solidFill>
            </a:endParaRPr>
          </a:p>
        </p:txBody>
      </p:sp>
      <p:sp>
        <p:nvSpPr>
          <p:cNvPr id="459778" name="Rectangle 2"/>
          <p:cNvSpPr>
            <a:spLocks noGrp="1" noRot="1" noChangeAspect="1" noChangeArrowheads="1" noTextEdit="1"/>
          </p:cNvSpPr>
          <p:nvPr>
            <p:ph type="sldImg"/>
          </p:nvPr>
        </p:nvSpPr>
        <p:spPr>
          <a:xfrm>
            <a:off x="92075" y="746125"/>
            <a:ext cx="6613525" cy="3721100"/>
          </a:xfrm>
        </p:spPr>
      </p:sp>
      <p:sp>
        <p:nvSpPr>
          <p:cNvPr id="459779" name="Rectangle 3"/>
          <p:cNvSpPr>
            <a:spLocks noGrp="1" noChangeArrowheads="1"/>
          </p:cNvSpPr>
          <p:nvPr>
            <p:ph type="body" idx="1"/>
          </p:nvPr>
        </p:nvSpPr>
        <p:spPr/>
        <p:txBody>
          <a:bodyPr/>
          <a:lstStyle/>
          <a:p>
            <a:r>
              <a:rPr kumimoji="1"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一句话来说，段错误（</a:t>
            </a:r>
            <a:r>
              <a:rPr kumimoji="1"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segfault</a:t>
            </a:r>
            <a:r>
              <a:rPr kumimoji="1"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）是指访问的内存超出了系统给这个程序所设定的内存空间，例如访问了不存在的内存地址、访问了系统保护的内存地址、访问了只读的内存地址等等情况。</a:t>
            </a:r>
            <a:endParaRPr lang="en-US" dirty="0"/>
          </a:p>
        </p:txBody>
      </p:sp>
    </p:spTree>
    <p:extLst>
      <p:ext uri="{BB962C8B-B14F-4D97-AF65-F5344CB8AC3E}">
        <p14:creationId xmlns:p14="http://schemas.microsoft.com/office/powerpoint/2010/main" val="3517041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1266" name="Rectangle 2"/>
          <p:cNvSpPr>
            <a:spLocks noGrp="1" noChangeArrowheads="1"/>
          </p:cNvSpPr>
          <p:nvPr>
            <p:ph type="body" idx="1"/>
          </p:nvPr>
        </p:nvSpPr>
        <p:spPr bwMode="auto">
          <a:xfrm>
            <a:off x="511671" y="4715232"/>
            <a:ext cx="5857310" cy="4468039"/>
          </a:xfrm>
          <a:prstGeom prst="rect">
            <a:avLst/>
          </a:prstGeom>
          <a:noFill/>
          <a:ln w="12700">
            <a:miter lim="800000"/>
          </a:ln>
        </p:spPr>
        <p:txBody>
          <a:bodyPr lIns="92264" tIns="45322" rIns="92264" bIns="45322"/>
          <a:lstStyle/>
          <a:p>
            <a:r>
              <a:rPr lang="en-US" dirty="0"/>
              <a:t>How does an I/O interrupt different from the exception you already learned?</a:t>
            </a:r>
          </a:p>
          <a:p>
            <a:r>
              <a:rPr lang="en-US" dirty="0"/>
              <a:t>Well, an I/O interrupt is asynchronous with respect to the instruction execution while exception such as overflow or page fault are always associated with a certain instruction.</a:t>
            </a:r>
          </a:p>
          <a:p>
            <a:r>
              <a:rPr lang="en-US" dirty="0"/>
              <a:t>Also for exception, the only information needs to be conveyed is the fact that an exceptional condition has occurred but for interrupt, there is more information to be conveyed.</a:t>
            </a:r>
          </a:p>
          <a:p>
            <a:r>
              <a:rPr lang="en-US" dirty="0"/>
              <a:t>Let me  elaborate on each of these two points.</a:t>
            </a:r>
          </a:p>
          <a:p>
            <a:r>
              <a:rPr lang="en-US" dirty="0"/>
              <a:t>Unlike exception, which is always associated with an instruction,  interrupt is not associated with any instruction. The user program is just doing its things when an I/O interrupt occurs.</a:t>
            </a:r>
          </a:p>
          <a:p>
            <a:r>
              <a:rPr lang="en-US" dirty="0"/>
              <a:t>So I/O interrupt does not prevent any instruction from completing so you can pick your own convenient point to take the interrupt.</a:t>
            </a:r>
          </a:p>
          <a:p>
            <a:r>
              <a:rPr lang="en-US" dirty="0"/>
              <a:t>As far as conveying more information is concerned, the interrupt detection hardware must somehow let the OS know who is causing the interrupt.</a:t>
            </a:r>
          </a:p>
          <a:p>
            <a:r>
              <a:rPr lang="en-US" dirty="0"/>
              <a:t>Furthermore, interrupt requests needs to be prioritized.  The hardware that can do all these looks like this</a:t>
            </a:r>
            <a:r>
              <a:rPr lang="en-US" dirty="0" smtClean="0"/>
              <a:t>.</a:t>
            </a:r>
            <a:endParaRPr lang="en-US" dirty="0"/>
          </a:p>
        </p:txBody>
      </p:sp>
      <p:sp>
        <p:nvSpPr>
          <p:cNvPr id="3211267" name="Rectangle 3"/>
          <p:cNvSpPr>
            <a:spLocks noGrp="1" noRot="1" noChangeAspect="1" noChangeArrowheads="1"/>
          </p:cNvSpPr>
          <p:nvPr>
            <p:ph type="sldImg"/>
          </p:nvPr>
        </p:nvSpPr>
        <p:spPr bwMode="auto">
          <a:xfrm>
            <a:off x="115888" y="642938"/>
            <a:ext cx="6578600" cy="3702050"/>
          </a:xfrm>
          <a:prstGeom prst="rect">
            <a:avLst/>
          </a:prstGeom>
          <a:noFill/>
          <a:ln w="12700">
            <a:miter lim="800000"/>
          </a:ln>
        </p:spPr>
      </p:sp>
    </p:spTree>
    <p:extLst>
      <p:ext uri="{BB962C8B-B14F-4D97-AF65-F5344CB8AC3E}">
        <p14:creationId xmlns:p14="http://schemas.microsoft.com/office/powerpoint/2010/main" val="643376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62" name="Rectangle 2"/>
          <p:cNvSpPr>
            <a:spLocks noGrp="1" noChangeArrowheads="1"/>
          </p:cNvSpPr>
          <p:nvPr>
            <p:ph type="body" idx="1"/>
          </p:nvPr>
        </p:nvSpPr>
        <p:spPr bwMode="auto">
          <a:xfrm>
            <a:off x="511671" y="4715232"/>
            <a:ext cx="5857310" cy="4468039"/>
          </a:xfrm>
          <a:prstGeom prst="rect">
            <a:avLst/>
          </a:prstGeom>
          <a:noFill/>
          <a:ln w="12700">
            <a:miter lim="800000"/>
          </a:ln>
        </p:spPr>
        <p:txBody>
          <a:bodyPr lIns="92264" tIns="45322" rIns="92264" bIns="45322"/>
          <a:lstStyle/>
          <a:p>
            <a:r>
              <a:rPr lang="en-US" dirty="0"/>
              <a:t>That is, whenever an I/O device needs attention from the processor, it interrupts the processor from what it is currently doing.</a:t>
            </a:r>
          </a:p>
          <a:p>
            <a:r>
              <a:rPr lang="en-US" dirty="0"/>
              <a:t>This is how an I/O interrupt looks in the overall scheme of things.  The processor is  minding its business when one of the I/O device wants its attention and causes an I/O interrupt.</a:t>
            </a:r>
          </a:p>
          <a:p>
            <a:r>
              <a:rPr lang="en-US" dirty="0"/>
              <a:t>The processor then save the current PC, branch to the address where the interrupt service routine resides, and start executing the interrupt service routine.</a:t>
            </a:r>
          </a:p>
          <a:p>
            <a:r>
              <a:rPr lang="en-US" dirty="0"/>
              <a:t>When it finishes executing the interrupt service routine, it branches back to the point of the original program where we stop and continue.</a:t>
            </a:r>
          </a:p>
          <a:p>
            <a:r>
              <a:rPr lang="en-US" dirty="0"/>
              <a:t>The advantage of this approach is efficiency.  The user program’s progress is halted only during actual transfer.</a:t>
            </a:r>
          </a:p>
          <a:p>
            <a:r>
              <a:rPr lang="en-US" dirty="0"/>
              <a:t>The disadvantage is that it require special hardware in the I/O device to generate the interrupt.  And on the processor side, we need special hardware to detect the interrupt and then to save the proper states so we can resume after the interrupt.</a:t>
            </a:r>
          </a:p>
          <a:p>
            <a:endParaRPr lang="en-US" dirty="0"/>
          </a:p>
        </p:txBody>
      </p:sp>
      <p:sp>
        <p:nvSpPr>
          <p:cNvPr id="3215363" name="Rectangle 3"/>
          <p:cNvSpPr>
            <a:spLocks noGrp="1" noRot="1" noChangeAspect="1" noChangeArrowheads="1"/>
          </p:cNvSpPr>
          <p:nvPr>
            <p:ph type="sldImg"/>
          </p:nvPr>
        </p:nvSpPr>
        <p:spPr bwMode="auto">
          <a:xfrm>
            <a:off x="115888" y="642938"/>
            <a:ext cx="6578600" cy="3702050"/>
          </a:xfrm>
          <a:prstGeom prst="rect">
            <a:avLst/>
          </a:prstGeom>
          <a:noFill/>
          <a:ln w="12700">
            <a:miter lim="800000"/>
          </a:ln>
        </p:spPr>
      </p:sp>
    </p:spTree>
    <p:extLst>
      <p:ext uri="{BB962C8B-B14F-4D97-AF65-F5344CB8AC3E}">
        <p14:creationId xmlns:p14="http://schemas.microsoft.com/office/powerpoint/2010/main" val="4087026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https://blog.csdn.net/whuzm08/article/details/79536361</a:t>
            </a:r>
            <a:endParaRPr lang="zh-CN" altLang="en-US" dirty="0"/>
          </a:p>
        </p:txBody>
      </p:sp>
    </p:spTree>
    <p:extLst>
      <p:ext uri="{BB962C8B-B14F-4D97-AF65-F5344CB8AC3E}">
        <p14:creationId xmlns:p14="http://schemas.microsoft.com/office/powerpoint/2010/main" val="552838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9163" y="746125"/>
            <a:ext cx="4959350" cy="3721100"/>
          </a:xfrm>
        </p:spPr>
      </p:sp>
      <p:sp>
        <p:nvSpPr>
          <p:cNvPr id="3" name="备注占位符 2"/>
          <p:cNvSpPr>
            <a:spLocks noGrp="1"/>
          </p:cNvSpPr>
          <p:nvPr>
            <p:ph type="body" idx="1"/>
          </p:nvPr>
        </p:nvSpPr>
        <p:spPr/>
        <p:txBody>
          <a:bodyPr/>
          <a:lstStyle/>
          <a:p>
            <a:r>
              <a:rPr lang="en-US" altLang="zh-CN" dirty="0" smtClean="0"/>
              <a:t>SR</a:t>
            </a:r>
            <a:r>
              <a:rPr lang="zh-CN" altLang="en-US" dirty="0" smtClean="0"/>
              <a:t>：</a:t>
            </a:r>
            <a:r>
              <a:rPr lang="en-US" altLang="zh-CN" dirty="0" smtClean="0"/>
              <a:t>Status Register</a:t>
            </a:r>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13</a:t>
            </a:fld>
            <a:endParaRPr lang="en-US" altLang="zh-CN"/>
          </a:p>
        </p:txBody>
      </p:sp>
    </p:spTree>
    <p:extLst>
      <p:ext uri="{BB962C8B-B14F-4D97-AF65-F5344CB8AC3E}">
        <p14:creationId xmlns:p14="http://schemas.microsoft.com/office/powerpoint/2010/main" val="2557641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9163" y="746125"/>
            <a:ext cx="4959350" cy="3721100"/>
          </a:xfrm>
        </p:spPr>
      </p:sp>
      <p:sp>
        <p:nvSpPr>
          <p:cNvPr id="3" name="备注占位符 2"/>
          <p:cNvSpPr>
            <a:spLocks noGrp="1"/>
          </p:cNvSpPr>
          <p:nvPr>
            <p:ph type="body" idx="1"/>
          </p:nvPr>
        </p:nvSpPr>
        <p:spPr/>
        <p:txBody>
          <a:bodyPr/>
          <a:lstStyle/>
          <a:p>
            <a:pPr defTabSz="882015">
              <a:defRPr/>
            </a:pPr>
            <a:r>
              <a:rPr lang="en-US" altLang="zh-CN" dirty="0" smtClean="0"/>
              <a:t>SR:</a:t>
            </a:r>
            <a:r>
              <a:rPr lang="en-US" altLang="zh-CN" baseline="0" dirty="0" smtClean="0"/>
              <a:t> Status register </a:t>
            </a:r>
            <a:r>
              <a:rPr lang="en-US" altLang="zh-CN" dirty="0" err="1" smtClean="0"/>
              <a:t>sr</a:t>
            </a:r>
            <a:r>
              <a:rPr lang="en-US" altLang="zh-CN" dirty="0" smtClean="0"/>
              <a:t> ( </a:t>
            </a:r>
            <a:r>
              <a:rPr lang="zh-CN" altLang="en-US" dirty="0" smtClean="0"/>
              <a:t>全称</a:t>
            </a:r>
            <a:r>
              <a:rPr lang="en-US" altLang="zh-CN" dirty="0" smtClean="0"/>
              <a:t>Status ,CP0 Reg12) Processor status and control; interrupt control; and shadow set control</a:t>
            </a:r>
          </a:p>
          <a:p>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15</a:t>
            </a:fld>
            <a:endParaRPr lang="en-US" altLang="zh-CN"/>
          </a:p>
        </p:txBody>
      </p:sp>
    </p:spTree>
    <p:extLst>
      <p:ext uri="{BB962C8B-B14F-4D97-AF65-F5344CB8AC3E}">
        <p14:creationId xmlns:p14="http://schemas.microsoft.com/office/powerpoint/2010/main" val="1079527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16</a:t>
            </a:fld>
            <a:endParaRPr lang="en-US" altLang="zh-CN"/>
          </a:p>
        </p:txBody>
      </p:sp>
    </p:spTree>
    <p:extLst>
      <p:ext uri="{BB962C8B-B14F-4D97-AF65-F5344CB8AC3E}">
        <p14:creationId xmlns:p14="http://schemas.microsoft.com/office/powerpoint/2010/main" val="2019011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B9671BB-4B84-4AFE-AD6B-E13076ECCE2E}" type="slidenum">
              <a:rPr lang="zh-CN" altLang="en-US" smtClean="0">
                <a:solidFill>
                  <a:prstClr val="black"/>
                </a:solidFill>
              </a:rPr>
              <a:t>22</a:t>
            </a:fld>
            <a:endParaRPr lang="zh-CN" altLang="en-US">
              <a:solidFill>
                <a:prstClr val="black"/>
              </a:solidFill>
            </a:endParaRPr>
          </a:p>
        </p:txBody>
      </p:sp>
    </p:spTree>
    <p:extLst>
      <p:ext uri="{BB962C8B-B14F-4D97-AF65-F5344CB8AC3E}">
        <p14:creationId xmlns:p14="http://schemas.microsoft.com/office/powerpoint/2010/main" val="2330417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B9671BB-4B84-4AFE-AD6B-E13076ECCE2E}" type="slidenum">
              <a:rPr lang="zh-CN" altLang="en-US" smtClean="0">
                <a:solidFill>
                  <a:prstClr val="black"/>
                </a:solidFill>
              </a:rPr>
              <a:t>24</a:t>
            </a:fld>
            <a:endParaRPr lang="zh-CN" altLang="en-US">
              <a:solidFill>
                <a:prstClr val="black"/>
              </a:solidFill>
            </a:endParaRPr>
          </a:p>
        </p:txBody>
      </p:sp>
    </p:spTree>
    <p:extLst>
      <p:ext uri="{BB962C8B-B14F-4D97-AF65-F5344CB8AC3E}">
        <p14:creationId xmlns:p14="http://schemas.microsoft.com/office/powerpoint/2010/main" val="3031743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normAutofit/>
          </a:bodyPr>
          <a:lstStyle/>
          <a:p>
            <a:r>
              <a:rPr lang="en-US" altLang="zh-CN" dirty="0" smtClean="0"/>
              <a:t>MFC0</a:t>
            </a:r>
            <a:r>
              <a:rPr lang="zh-CN" altLang="en-US" dirty="0" smtClean="0"/>
              <a:t>：</a:t>
            </a:r>
            <a:r>
              <a:rPr lang="en-US" altLang="zh-CN" dirty="0" smtClean="0"/>
              <a:t>move from C0</a:t>
            </a:r>
          </a:p>
          <a:p>
            <a:r>
              <a:rPr lang="en-US" altLang="zh-CN" dirty="0" smtClean="0"/>
              <a:t>MTC0:</a:t>
            </a:r>
            <a:r>
              <a:rPr lang="en-US" altLang="zh-CN" baseline="0" dirty="0" smtClean="0"/>
              <a:t> Move To C0</a:t>
            </a:r>
            <a:endParaRPr lang="zh-CN" altLang="en-US" dirty="0"/>
          </a:p>
        </p:txBody>
      </p:sp>
      <p:sp>
        <p:nvSpPr>
          <p:cNvPr id="4" name="灯片编号占位符 3"/>
          <p:cNvSpPr>
            <a:spLocks noGrp="1"/>
          </p:cNvSpPr>
          <p:nvPr>
            <p:ph type="sldNum" sz="quarter" idx="10"/>
          </p:nvPr>
        </p:nvSpPr>
        <p:spPr/>
        <p:txBody>
          <a:bodyPr/>
          <a:lstStyle/>
          <a:p>
            <a:fld id="{4B9671BB-4B84-4AFE-AD6B-E13076ECCE2E}" type="slidenum">
              <a:rPr lang="zh-CN" altLang="en-US" smtClean="0">
                <a:solidFill>
                  <a:prstClr val="black"/>
                </a:solidFill>
              </a:rPr>
              <a:t>25</a:t>
            </a:fld>
            <a:endParaRPr lang="zh-CN" altLang="en-US">
              <a:solidFill>
                <a:prstClr val="black"/>
              </a:solidFill>
            </a:endParaRPr>
          </a:p>
        </p:txBody>
      </p:sp>
    </p:spTree>
    <p:extLst>
      <p:ext uri="{BB962C8B-B14F-4D97-AF65-F5344CB8AC3E}">
        <p14:creationId xmlns:p14="http://schemas.microsoft.com/office/powerpoint/2010/main" val="3847353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p = </a:t>
            </a:r>
            <a:r>
              <a:rPr kumimoji="1"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t.str</a:t>
            </a:r>
            <a:r>
              <a:rPr kumimoji="1"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 == “1” ? “11” : ((</a:t>
            </a:r>
            <a:r>
              <a:rPr kumimoji="1"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t.str</a:t>
            </a:r>
            <a:r>
              <a:rPr kumimoji="1"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 == “22”) ? “22” : “33”); </a:t>
            </a:r>
            <a:r>
              <a:rPr kumimoji="1"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？表达式的嵌套使用</a:t>
            </a:r>
            <a:endParaRPr lang="en-US" altLang="zh-CN" dirty="0" smtClean="0">
              <a:effectLst/>
            </a:endParaRPr>
          </a:p>
          <a:p>
            <a:r>
              <a:rPr lang="en-US" altLang="zh-CN" dirty="0" smtClean="0">
                <a:effectLst/>
              </a:rPr>
              <a:t>Register 0: Index</a:t>
            </a:r>
            <a:r>
              <a:rPr lang="zh-CN" altLang="en-US" dirty="0" smtClean="0">
                <a:effectLst/>
              </a:rPr>
              <a:t>，作为</a:t>
            </a:r>
            <a:r>
              <a:rPr lang="en-US" altLang="zh-CN" dirty="0" smtClean="0">
                <a:effectLst/>
              </a:rPr>
              <a:t>MMU</a:t>
            </a:r>
            <a:r>
              <a:rPr lang="zh-CN" altLang="en-US" dirty="0" smtClean="0">
                <a:effectLst/>
              </a:rPr>
              <a:t>的索引用。将来讨论</a:t>
            </a:r>
            <a:r>
              <a:rPr lang="en-US" altLang="zh-CN" dirty="0" smtClean="0">
                <a:effectLst/>
              </a:rPr>
              <a:t>MMU</a:t>
            </a:r>
            <a:r>
              <a:rPr lang="zh-CN" altLang="en-US" dirty="0" smtClean="0">
                <a:effectLst/>
              </a:rPr>
              <a:t>和</a:t>
            </a:r>
            <a:r>
              <a:rPr lang="en-US" altLang="zh-CN" dirty="0" smtClean="0">
                <a:effectLst/>
              </a:rPr>
              <a:t>TLB</a:t>
            </a:r>
            <a:r>
              <a:rPr lang="zh-CN" altLang="en-US" dirty="0" smtClean="0">
                <a:effectLst/>
              </a:rPr>
              <a:t>时会详解之。</a:t>
            </a:r>
            <a:br>
              <a:rPr lang="zh-CN" altLang="en-US" dirty="0" smtClean="0">
                <a:effectLst/>
              </a:rPr>
            </a:br>
            <a:r>
              <a:rPr lang="zh-CN" altLang="en-US" dirty="0" smtClean="0">
                <a:effectLst/>
              </a:rPr>
              <a:t>　　</a:t>
            </a:r>
            <a:r>
              <a:rPr lang="en-US" altLang="zh-CN" dirty="0" smtClean="0">
                <a:effectLst/>
              </a:rPr>
              <a:t>Register 2, EntryLo0</a:t>
            </a:r>
            <a:r>
              <a:rPr lang="zh-CN" altLang="en-US" dirty="0" smtClean="0">
                <a:effectLst/>
              </a:rPr>
              <a:t>，访问</a:t>
            </a:r>
            <a:r>
              <a:rPr lang="en-US" altLang="zh-CN" dirty="0"/>
              <a:t>TLB Entry</a:t>
            </a:r>
            <a:r>
              <a:rPr lang="zh-CN" altLang="en-US" dirty="0"/>
              <a:t>偶数页</a:t>
            </a:r>
            <a:r>
              <a:rPr lang="zh-CN" altLang="en-US" dirty="0" smtClean="0">
                <a:effectLst/>
              </a:rPr>
              <a:t>中的地址低</a:t>
            </a:r>
            <a:r>
              <a:rPr lang="en-US" altLang="zh-CN" dirty="0" smtClean="0">
                <a:effectLst/>
              </a:rPr>
              <a:t>32Bit</a:t>
            </a:r>
            <a:r>
              <a:rPr lang="zh-CN" altLang="en-US" dirty="0" smtClean="0">
                <a:effectLst/>
              </a:rPr>
              <a:t>用。同上，在</a:t>
            </a:r>
            <a:r>
              <a:rPr lang="en-US" altLang="zh-CN" dirty="0" smtClean="0">
                <a:effectLst/>
              </a:rPr>
              <a:t>MMU</a:t>
            </a:r>
            <a:r>
              <a:rPr lang="zh-CN" altLang="en-US" dirty="0" smtClean="0">
                <a:effectLst/>
              </a:rPr>
              <a:t>和</a:t>
            </a:r>
            <a:r>
              <a:rPr lang="en-US" altLang="zh-CN" dirty="0" smtClean="0">
                <a:effectLst/>
              </a:rPr>
              <a:t>TLB</a:t>
            </a:r>
            <a:r>
              <a:rPr lang="zh-CN" altLang="en-US" dirty="0" smtClean="0">
                <a:effectLst/>
              </a:rPr>
              <a:t>的相关章节中详解。</a:t>
            </a:r>
            <a:br>
              <a:rPr lang="zh-CN" altLang="en-US" dirty="0" smtClean="0">
                <a:effectLst/>
              </a:rPr>
            </a:br>
            <a:r>
              <a:rPr lang="zh-CN" altLang="en-US" dirty="0" smtClean="0">
                <a:effectLst/>
              </a:rPr>
              <a:t>　　</a:t>
            </a:r>
            <a:r>
              <a:rPr lang="en-US" altLang="zh-CN" dirty="0" smtClean="0">
                <a:effectLst/>
              </a:rPr>
              <a:t>Register 3, EntryLo1</a:t>
            </a:r>
            <a:r>
              <a:rPr lang="zh-CN" altLang="en-US" dirty="0" smtClean="0">
                <a:effectLst/>
              </a:rPr>
              <a:t>，访问</a:t>
            </a:r>
            <a:r>
              <a:rPr lang="en-US" altLang="zh-CN" dirty="0"/>
              <a:t>TLB Entry</a:t>
            </a:r>
            <a:r>
              <a:rPr lang="zh-CN" altLang="en-US" dirty="0"/>
              <a:t>奇数页</a:t>
            </a:r>
            <a:r>
              <a:rPr lang="zh-CN" altLang="en-US" dirty="0" smtClean="0">
                <a:effectLst/>
              </a:rPr>
              <a:t>中的地址低</a:t>
            </a:r>
            <a:r>
              <a:rPr lang="en-US" altLang="zh-CN" dirty="0" smtClean="0">
                <a:effectLst/>
              </a:rPr>
              <a:t>32Bit</a:t>
            </a:r>
            <a:r>
              <a:rPr lang="zh-CN" altLang="en-US" dirty="0" smtClean="0">
                <a:effectLst/>
              </a:rPr>
              <a:t>用。</a:t>
            </a:r>
            <a:br>
              <a:rPr lang="zh-CN" altLang="en-US" dirty="0" smtClean="0">
                <a:effectLst/>
              </a:rPr>
            </a:br>
            <a:r>
              <a:rPr lang="zh-CN" altLang="en-US" dirty="0" smtClean="0">
                <a:effectLst/>
              </a:rPr>
              <a:t>　　</a:t>
            </a:r>
            <a:r>
              <a:rPr lang="en-US" altLang="zh-CN" dirty="0" smtClean="0">
                <a:effectLst/>
              </a:rPr>
              <a:t>Register 4, Context</a:t>
            </a:r>
            <a:r>
              <a:rPr lang="zh-CN" altLang="en-US" dirty="0" smtClean="0">
                <a:effectLst/>
              </a:rPr>
              <a:t>，用以加速</a:t>
            </a:r>
            <a:r>
              <a:rPr lang="en-US" altLang="zh-CN" dirty="0" smtClean="0">
                <a:effectLst/>
              </a:rPr>
              <a:t>TLB Miss</a:t>
            </a:r>
            <a:r>
              <a:rPr lang="zh-CN" altLang="en-US" dirty="0" smtClean="0">
                <a:effectLst/>
              </a:rPr>
              <a:t>异常的处理。</a:t>
            </a:r>
            <a:br>
              <a:rPr lang="zh-CN" altLang="en-US" dirty="0" smtClean="0">
                <a:effectLst/>
              </a:rPr>
            </a:br>
            <a:r>
              <a:rPr lang="zh-CN" altLang="en-US" dirty="0" smtClean="0">
                <a:effectLst/>
              </a:rPr>
              <a:t>　　</a:t>
            </a:r>
            <a:r>
              <a:rPr lang="en-US" altLang="zh-CN" dirty="0" smtClean="0">
                <a:effectLst/>
              </a:rPr>
              <a:t>Register 5, </a:t>
            </a:r>
            <a:r>
              <a:rPr lang="en-US" altLang="zh-CN" dirty="0" err="1" smtClean="0">
                <a:effectLst/>
              </a:rPr>
              <a:t>PageMask</a:t>
            </a:r>
            <a:r>
              <a:rPr lang="zh-CN" altLang="en-US" dirty="0" smtClean="0">
                <a:effectLst/>
              </a:rPr>
              <a:t>，用以在</a:t>
            </a:r>
            <a:r>
              <a:rPr lang="en-US" altLang="zh-CN" dirty="0" smtClean="0">
                <a:effectLst/>
              </a:rPr>
              <a:t>MMU</a:t>
            </a:r>
            <a:r>
              <a:rPr lang="zh-CN" altLang="en-US" dirty="0" smtClean="0">
                <a:effectLst/>
              </a:rPr>
              <a:t>中分配可变大小的内存页。</a:t>
            </a:r>
            <a:br>
              <a:rPr lang="zh-CN" altLang="en-US" dirty="0" smtClean="0">
                <a:effectLst/>
              </a:rPr>
            </a:br>
            <a:r>
              <a:rPr lang="zh-CN" altLang="en-US" dirty="0" smtClean="0">
                <a:effectLst/>
              </a:rPr>
              <a:t>　　</a:t>
            </a:r>
            <a:r>
              <a:rPr lang="en-US" altLang="zh-CN" dirty="0" smtClean="0">
                <a:effectLst/>
              </a:rPr>
              <a:t>Register 8, </a:t>
            </a:r>
            <a:r>
              <a:rPr lang="en-US" altLang="zh-CN" dirty="0" err="1" smtClean="0">
                <a:effectLst/>
              </a:rPr>
              <a:t>BadVAddr</a:t>
            </a:r>
            <a:r>
              <a:rPr lang="zh-CN" altLang="en-US" dirty="0" smtClean="0">
                <a:effectLst/>
              </a:rPr>
              <a:t>，在系统捕获到</a:t>
            </a:r>
            <a:r>
              <a:rPr lang="en-US" altLang="zh-CN" dirty="0" smtClean="0">
                <a:effectLst/>
              </a:rPr>
              <a:t>TLB Miss</a:t>
            </a:r>
            <a:r>
              <a:rPr lang="zh-CN" altLang="en-US" dirty="0" smtClean="0">
                <a:effectLst/>
              </a:rPr>
              <a:t>或</a:t>
            </a:r>
            <a:r>
              <a:rPr lang="en-US" altLang="zh-CN" dirty="0" smtClean="0">
                <a:effectLst/>
              </a:rPr>
              <a:t>Address Error</a:t>
            </a:r>
            <a:r>
              <a:rPr lang="zh-CN" altLang="en-US" dirty="0" smtClean="0">
                <a:effectLst/>
              </a:rPr>
              <a:t>这两种</a:t>
            </a:r>
            <a:r>
              <a:rPr lang="en-US" altLang="zh-CN" dirty="0" smtClean="0">
                <a:effectLst/>
              </a:rPr>
              <a:t>Exception</a:t>
            </a:r>
            <a:r>
              <a:rPr lang="zh-CN" altLang="en-US" dirty="0" smtClean="0">
                <a:effectLst/>
              </a:rPr>
              <a:t>时，发生错误的虚拟地址会储存在该寄存器中。对于引发</a:t>
            </a:r>
            <a:r>
              <a:rPr lang="en-US" altLang="zh-CN" dirty="0" smtClean="0">
                <a:effectLst/>
              </a:rPr>
              <a:t>Exception</a:t>
            </a:r>
            <a:r>
              <a:rPr lang="zh-CN" altLang="en-US" dirty="0" smtClean="0">
                <a:effectLst/>
              </a:rPr>
              <a:t>的</a:t>
            </a:r>
            <a:r>
              <a:rPr lang="en-US" altLang="zh-CN" dirty="0" smtClean="0">
                <a:effectLst/>
              </a:rPr>
              <a:t>Bug</a:t>
            </a:r>
            <a:r>
              <a:rPr lang="zh-CN" altLang="en-US" dirty="0" smtClean="0">
                <a:effectLst/>
              </a:rPr>
              <a:t>的定位来说，这个寄存器非常重要。</a:t>
            </a:r>
            <a:br>
              <a:rPr lang="zh-CN" altLang="en-US" dirty="0" smtClean="0">
                <a:effectLst/>
              </a:rPr>
            </a:br>
            <a:r>
              <a:rPr lang="zh-CN" altLang="en-US" dirty="0" smtClean="0">
                <a:effectLst/>
              </a:rPr>
              <a:t>　　</a:t>
            </a:r>
            <a:r>
              <a:rPr lang="en-US" altLang="zh-CN" dirty="0" smtClean="0">
                <a:effectLst/>
              </a:rPr>
              <a:t>Register 9, Count</a:t>
            </a:r>
            <a:r>
              <a:rPr lang="zh-CN" altLang="en-US" dirty="0" smtClean="0">
                <a:effectLst/>
              </a:rPr>
              <a:t>，这个寄存器是</a:t>
            </a:r>
            <a:r>
              <a:rPr lang="en-US" altLang="zh-CN" dirty="0" smtClean="0">
                <a:effectLst/>
              </a:rPr>
              <a:t>R4000</a:t>
            </a:r>
            <a:r>
              <a:rPr lang="zh-CN" altLang="en-US" dirty="0" smtClean="0">
                <a:effectLst/>
              </a:rPr>
              <a:t>以后的</a:t>
            </a:r>
            <a:r>
              <a:rPr lang="en-US" altLang="zh-CN" dirty="0" smtClean="0">
                <a:effectLst/>
              </a:rPr>
              <a:t>MIPS</a:t>
            </a:r>
            <a:r>
              <a:rPr lang="zh-CN" altLang="en-US" dirty="0" smtClean="0">
                <a:effectLst/>
              </a:rPr>
              <a:t>系统引入的。它是一个计数器，计数频率是系统主频的</a:t>
            </a:r>
            <a:r>
              <a:rPr lang="en-US" altLang="zh-CN" dirty="0" smtClean="0">
                <a:effectLst/>
              </a:rPr>
              <a:t>1/2</a:t>
            </a:r>
            <a:r>
              <a:rPr lang="zh-CN" altLang="en-US" dirty="0" smtClean="0">
                <a:effectLst/>
              </a:rPr>
              <a:t>。</a:t>
            </a:r>
            <a:r>
              <a:rPr lang="en-US" altLang="zh-CN" dirty="0" smtClean="0">
                <a:effectLst/>
              </a:rPr>
              <a:t>BCM1125/1250</a:t>
            </a:r>
            <a:r>
              <a:rPr lang="zh-CN" altLang="en-US" dirty="0" smtClean="0">
                <a:effectLst/>
              </a:rPr>
              <a:t>，</a:t>
            </a:r>
            <a:r>
              <a:rPr lang="en-US" altLang="zh-CN" dirty="0" smtClean="0">
                <a:effectLst/>
              </a:rPr>
              <a:t>RMI XLR</a:t>
            </a:r>
            <a:r>
              <a:rPr lang="zh-CN" altLang="en-US" dirty="0" smtClean="0">
                <a:effectLst/>
              </a:rPr>
              <a:t>系列以及</a:t>
            </a:r>
            <a:r>
              <a:rPr lang="en-US" altLang="zh-CN" dirty="0" err="1" smtClean="0">
                <a:effectLst/>
              </a:rPr>
              <a:t>Octeon</a:t>
            </a:r>
            <a:r>
              <a:rPr lang="zh-CN" altLang="en-US" dirty="0" smtClean="0">
                <a:effectLst/>
              </a:rPr>
              <a:t>的</a:t>
            </a:r>
            <a:r>
              <a:rPr lang="en-US" altLang="zh-CN" dirty="0" smtClean="0">
                <a:effectLst/>
              </a:rPr>
              <a:t>Cavium</a:t>
            </a:r>
            <a:r>
              <a:rPr lang="zh-CN" altLang="en-US" dirty="0" smtClean="0">
                <a:effectLst/>
              </a:rPr>
              <a:t>处理器均支持该寄存器。对于</a:t>
            </a:r>
            <a:r>
              <a:rPr lang="zh-CN" altLang="en-US" b="1" dirty="0">
                <a:hlinkClick r:id="rId3" tooltip="操作系统知识库"/>
              </a:rPr>
              <a:t>操作系统</a:t>
            </a:r>
            <a:r>
              <a:rPr lang="zh-CN" altLang="en-US" dirty="0" smtClean="0">
                <a:effectLst/>
              </a:rPr>
              <a:t>来说，可以通过读取该寄存器的值来获取</a:t>
            </a:r>
            <a:r>
              <a:rPr lang="en-US" altLang="zh-CN" dirty="0" smtClean="0">
                <a:effectLst/>
              </a:rPr>
              <a:t>tick</a:t>
            </a:r>
            <a:r>
              <a:rPr lang="zh-CN" altLang="en-US" dirty="0" smtClean="0">
                <a:effectLst/>
              </a:rPr>
              <a:t>的时基。在系统性能</a:t>
            </a:r>
            <a:r>
              <a:rPr lang="zh-CN" altLang="en-US" b="1" dirty="0">
                <a:hlinkClick r:id="rId4" tooltip="软件测试知识库"/>
              </a:rPr>
              <a:t>测试</a:t>
            </a:r>
            <a:r>
              <a:rPr lang="zh-CN" altLang="en-US" dirty="0" smtClean="0">
                <a:effectLst/>
              </a:rPr>
              <a:t>中，利用该寄存器也可以实现打点计数。</a:t>
            </a:r>
            <a:br>
              <a:rPr lang="zh-CN" altLang="en-US" dirty="0" smtClean="0">
                <a:effectLst/>
              </a:rPr>
            </a:br>
            <a:r>
              <a:rPr lang="zh-CN" altLang="en-US" dirty="0" smtClean="0">
                <a:effectLst/>
              </a:rPr>
              <a:t>　　</a:t>
            </a:r>
            <a:r>
              <a:rPr lang="en-US" altLang="zh-CN" dirty="0" smtClean="0">
                <a:effectLst/>
              </a:rPr>
              <a:t>Register 10</a:t>
            </a:r>
            <a:r>
              <a:rPr lang="zh-CN" altLang="en-US" dirty="0" smtClean="0">
                <a:effectLst/>
              </a:rPr>
              <a:t>，</a:t>
            </a:r>
            <a:r>
              <a:rPr lang="en-US" altLang="zh-CN" dirty="0" err="1" smtClean="0">
                <a:effectLst/>
              </a:rPr>
              <a:t>EntryHi</a:t>
            </a:r>
            <a:r>
              <a:rPr lang="zh-CN" altLang="en-US" dirty="0" smtClean="0">
                <a:effectLst/>
              </a:rPr>
              <a:t>，这个寄存器同</a:t>
            </a:r>
            <a:r>
              <a:rPr lang="en-US" altLang="zh-CN" dirty="0" smtClean="0">
                <a:effectLst/>
              </a:rPr>
              <a:t>EntryLo0/1</a:t>
            </a:r>
            <a:r>
              <a:rPr lang="zh-CN" altLang="en-US" dirty="0" smtClean="0">
                <a:effectLst/>
              </a:rPr>
              <a:t>一样，用于</a:t>
            </a:r>
            <a:r>
              <a:rPr lang="en-US" altLang="zh-CN" dirty="0" smtClean="0">
                <a:effectLst/>
              </a:rPr>
              <a:t>MMU</a:t>
            </a:r>
            <a:r>
              <a:rPr lang="zh-CN" altLang="en-US" dirty="0" smtClean="0">
                <a:effectLst/>
              </a:rPr>
              <a:t>中。以后会详述。</a:t>
            </a:r>
            <a:br>
              <a:rPr lang="zh-CN" altLang="en-US" dirty="0" smtClean="0">
                <a:effectLst/>
              </a:rPr>
            </a:br>
            <a:r>
              <a:rPr lang="zh-CN" altLang="en-US" dirty="0" smtClean="0">
                <a:effectLst/>
              </a:rPr>
              <a:t>　　</a:t>
            </a:r>
            <a:r>
              <a:rPr lang="en-US" altLang="zh-CN" dirty="0" smtClean="0">
                <a:effectLst/>
              </a:rPr>
              <a:t>Register 11</a:t>
            </a:r>
            <a:r>
              <a:rPr lang="zh-CN" altLang="en-US" dirty="0" smtClean="0">
                <a:effectLst/>
              </a:rPr>
              <a:t>，</a:t>
            </a:r>
            <a:r>
              <a:rPr lang="en-US" altLang="zh-CN" dirty="0" smtClean="0">
                <a:effectLst/>
              </a:rPr>
              <a:t>Compare</a:t>
            </a:r>
            <a:r>
              <a:rPr lang="zh-CN" altLang="en-US" dirty="0" smtClean="0">
                <a:effectLst/>
              </a:rPr>
              <a:t>，配合</a:t>
            </a:r>
            <a:r>
              <a:rPr lang="en-US" altLang="zh-CN" dirty="0" smtClean="0">
                <a:effectLst/>
              </a:rPr>
              <a:t>Count</a:t>
            </a:r>
            <a:r>
              <a:rPr lang="zh-CN" altLang="en-US" dirty="0" smtClean="0">
                <a:effectLst/>
              </a:rPr>
              <a:t>使用。当</a:t>
            </a:r>
            <a:r>
              <a:rPr lang="en-US" altLang="zh-CN" dirty="0" smtClean="0">
                <a:effectLst/>
              </a:rPr>
              <a:t>Compare</a:t>
            </a:r>
            <a:r>
              <a:rPr lang="zh-CN" altLang="en-US" dirty="0" smtClean="0">
                <a:effectLst/>
              </a:rPr>
              <a:t>和</a:t>
            </a:r>
            <a:r>
              <a:rPr lang="en-US" altLang="zh-CN" dirty="0" smtClean="0">
                <a:effectLst/>
              </a:rPr>
              <a:t>Count</a:t>
            </a:r>
            <a:r>
              <a:rPr lang="zh-CN" altLang="en-US" dirty="0" smtClean="0">
                <a:effectLst/>
              </a:rPr>
              <a:t>的值相等的时候，会触发一个硬件中断</a:t>
            </a:r>
            <a:r>
              <a:rPr lang="en-US" altLang="zh-CN" dirty="0" smtClean="0">
                <a:effectLst/>
              </a:rPr>
              <a:t>(Hardware Interrupt)</a:t>
            </a:r>
            <a:r>
              <a:rPr lang="zh-CN" altLang="en-US" dirty="0" smtClean="0">
                <a:effectLst/>
              </a:rPr>
              <a:t>，并且总是使用</a:t>
            </a:r>
            <a:r>
              <a:rPr lang="en-US" altLang="zh-CN" dirty="0" smtClean="0">
                <a:effectLst/>
              </a:rPr>
              <a:t>Cause</a:t>
            </a:r>
            <a:r>
              <a:rPr lang="zh-CN" altLang="en-US" dirty="0" smtClean="0">
                <a:effectLst/>
              </a:rPr>
              <a:t>寄存器的</a:t>
            </a:r>
            <a:r>
              <a:rPr lang="en-US" altLang="zh-CN" dirty="0" smtClean="0">
                <a:effectLst/>
              </a:rPr>
              <a:t>IP7</a:t>
            </a:r>
            <a:r>
              <a:rPr lang="zh-CN" altLang="en-US" dirty="0" smtClean="0">
                <a:effectLst/>
              </a:rPr>
              <a:t>位。</a:t>
            </a:r>
            <a:br>
              <a:rPr lang="zh-CN" altLang="en-US" dirty="0" smtClean="0">
                <a:effectLst/>
              </a:rPr>
            </a:br>
            <a:r>
              <a:rPr lang="zh-CN" altLang="en-US" dirty="0" smtClean="0">
                <a:effectLst/>
              </a:rPr>
              <a:t>　　</a:t>
            </a:r>
            <a:r>
              <a:rPr lang="en-US" altLang="zh-CN" dirty="0" smtClean="0">
                <a:effectLst/>
              </a:rPr>
              <a:t>Register 12</a:t>
            </a:r>
            <a:r>
              <a:rPr lang="zh-CN" altLang="en-US" dirty="0" smtClean="0">
                <a:effectLst/>
              </a:rPr>
              <a:t>，</a:t>
            </a:r>
            <a:r>
              <a:rPr lang="en-US" altLang="zh-CN" dirty="0" smtClean="0">
                <a:effectLst/>
              </a:rPr>
              <a:t>Status</a:t>
            </a:r>
            <a:r>
              <a:rPr lang="zh-CN" altLang="en-US" dirty="0" smtClean="0">
                <a:effectLst/>
              </a:rPr>
              <a:t>，用于处理器状态的控制。</a:t>
            </a:r>
            <a:br>
              <a:rPr lang="zh-CN" altLang="en-US" dirty="0" smtClean="0">
                <a:effectLst/>
              </a:rPr>
            </a:br>
            <a:r>
              <a:rPr lang="zh-CN" altLang="en-US" dirty="0" smtClean="0">
                <a:effectLst/>
              </a:rPr>
              <a:t>　　</a:t>
            </a:r>
            <a:r>
              <a:rPr lang="en-US" altLang="zh-CN" dirty="0" smtClean="0">
                <a:effectLst/>
              </a:rPr>
              <a:t>Register 13</a:t>
            </a:r>
            <a:r>
              <a:rPr lang="zh-CN" altLang="en-US" dirty="0" smtClean="0">
                <a:effectLst/>
              </a:rPr>
              <a:t>，</a:t>
            </a:r>
            <a:r>
              <a:rPr lang="en-US" altLang="zh-CN" dirty="0" smtClean="0">
                <a:effectLst/>
              </a:rPr>
              <a:t>Cause</a:t>
            </a:r>
            <a:r>
              <a:rPr lang="zh-CN" altLang="en-US" dirty="0" smtClean="0">
                <a:effectLst/>
              </a:rPr>
              <a:t>，这个寄存器体现了处理器异常发生的原因。</a:t>
            </a:r>
            <a:br>
              <a:rPr lang="zh-CN" altLang="en-US" dirty="0" smtClean="0">
                <a:effectLst/>
              </a:rPr>
            </a:br>
            <a:r>
              <a:rPr lang="zh-CN" altLang="en-US" dirty="0" smtClean="0">
                <a:effectLst/>
              </a:rPr>
              <a:t>　　</a:t>
            </a:r>
            <a:r>
              <a:rPr lang="en-US" altLang="zh-CN" dirty="0" smtClean="0">
                <a:effectLst/>
              </a:rPr>
              <a:t>Register 14</a:t>
            </a:r>
            <a:r>
              <a:rPr lang="zh-CN" altLang="en-US" dirty="0" smtClean="0">
                <a:effectLst/>
              </a:rPr>
              <a:t>，</a:t>
            </a:r>
            <a:r>
              <a:rPr lang="en-US" altLang="zh-CN" dirty="0" smtClean="0">
                <a:effectLst/>
              </a:rPr>
              <a:t>EPC</a:t>
            </a:r>
            <a:r>
              <a:rPr lang="zh-CN" altLang="en-US" dirty="0" smtClean="0">
                <a:effectLst/>
              </a:rPr>
              <a:t>，这个寄存器存放异常发生时，系统正在执行的指令的地址。</a:t>
            </a:r>
            <a:br>
              <a:rPr lang="zh-CN" altLang="en-US" dirty="0" smtClean="0">
                <a:effectLst/>
              </a:rPr>
            </a:br>
            <a:r>
              <a:rPr lang="zh-CN" altLang="en-US" dirty="0" smtClean="0">
                <a:effectLst/>
              </a:rPr>
              <a:t>　　</a:t>
            </a:r>
            <a:r>
              <a:rPr lang="en-US" altLang="zh-CN" dirty="0" smtClean="0">
                <a:effectLst/>
              </a:rPr>
              <a:t>Register 15</a:t>
            </a:r>
            <a:r>
              <a:rPr lang="zh-CN" altLang="en-US" dirty="0" smtClean="0">
                <a:effectLst/>
              </a:rPr>
              <a:t>，</a:t>
            </a:r>
            <a:r>
              <a:rPr lang="en-US" altLang="zh-CN" dirty="0" smtClean="0">
                <a:effectLst/>
              </a:rPr>
              <a:t>PRID</a:t>
            </a:r>
            <a:r>
              <a:rPr lang="zh-CN" altLang="en-US" dirty="0" smtClean="0">
                <a:effectLst/>
              </a:rPr>
              <a:t>，这个寄存器是只读的，标识处理器的版本信息。向其中写入无意义。</a:t>
            </a:r>
            <a:br>
              <a:rPr lang="zh-CN" altLang="en-US" dirty="0" smtClean="0">
                <a:effectLst/>
              </a:rPr>
            </a:br>
            <a:r>
              <a:rPr lang="zh-CN" altLang="en-US" dirty="0" smtClean="0">
                <a:effectLst/>
              </a:rPr>
              <a:t>　　</a:t>
            </a:r>
            <a:r>
              <a:rPr lang="en-US" altLang="zh-CN" dirty="0" smtClean="0">
                <a:effectLst/>
              </a:rPr>
              <a:t>Register 18/19</a:t>
            </a:r>
            <a:r>
              <a:rPr lang="zh-CN" altLang="en-US" dirty="0" smtClean="0">
                <a:effectLst/>
              </a:rPr>
              <a:t>，</a:t>
            </a:r>
            <a:r>
              <a:rPr lang="en-US" altLang="zh-CN" dirty="0" err="1" smtClean="0">
                <a:effectLst/>
              </a:rPr>
              <a:t>WatchLo</a:t>
            </a:r>
            <a:r>
              <a:rPr lang="en-US" altLang="zh-CN" dirty="0" smtClean="0">
                <a:effectLst/>
              </a:rPr>
              <a:t>/</a:t>
            </a:r>
            <a:r>
              <a:rPr lang="en-US" altLang="zh-CN" dirty="0" err="1" smtClean="0">
                <a:effectLst/>
              </a:rPr>
              <a:t>WatchHi</a:t>
            </a:r>
            <a:r>
              <a:rPr lang="zh-CN" altLang="en-US" dirty="0" smtClean="0">
                <a:effectLst/>
              </a:rPr>
              <a:t>，这对寄存器用于设置硬件数据断点</a:t>
            </a:r>
            <a:r>
              <a:rPr lang="en-US" altLang="zh-CN" dirty="0" smtClean="0">
                <a:effectLst/>
              </a:rPr>
              <a:t>(Hardware Data Breakpoint)</a:t>
            </a:r>
            <a:r>
              <a:rPr lang="zh-CN" altLang="en-US" dirty="0" smtClean="0">
                <a:effectLst/>
              </a:rPr>
              <a:t>。该断点一旦设定，当</a:t>
            </a:r>
            <a:r>
              <a:rPr lang="en-US" altLang="zh-CN" dirty="0" smtClean="0">
                <a:effectLst/>
              </a:rPr>
              <a:t>CPU</a:t>
            </a:r>
            <a:r>
              <a:rPr lang="zh-CN" altLang="en-US" dirty="0" smtClean="0">
                <a:effectLst/>
              </a:rPr>
              <a:t>存取这个地址时，系统就会发生一个异常。这个功能广泛应用于调试定位内存写坏的错误。</a:t>
            </a:r>
            <a:br>
              <a:rPr lang="zh-CN" altLang="en-US" dirty="0" smtClean="0">
                <a:effectLst/>
              </a:rPr>
            </a:br>
            <a:r>
              <a:rPr lang="zh-CN" altLang="en-US" dirty="0" smtClean="0">
                <a:effectLst/>
              </a:rPr>
              <a:t>　　</a:t>
            </a:r>
            <a:r>
              <a:rPr lang="en-US" altLang="zh-CN" dirty="0" smtClean="0">
                <a:effectLst/>
              </a:rPr>
              <a:t>Register 28/29</a:t>
            </a:r>
            <a:r>
              <a:rPr lang="zh-CN" altLang="en-US" dirty="0" smtClean="0">
                <a:effectLst/>
              </a:rPr>
              <a:t>，</a:t>
            </a:r>
            <a:r>
              <a:rPr lang="en-US" altLang="zh-CN" dirty="0" err="1" smtClean="0">
                <a:effectLst/>
              </a:rPr>
              <a:t>TagLo</a:t>
            </a:r>
            <a:r>
              <a:rPr lang="zh-CN" altLang="en-US" dirty="0" smtClean="0">
                <a:effectLst/>
              </a:rPr>
              <a:t>和</a:t>
            </a:r>
            <a:r>
              <a:rPr lang="en-US" altLang="zh-CN" dirty="0" err="1" smtClean="0">
                <a:effectLst/>
              </a:rPr>
              <a:t>TagHi</a:t>
            </a:r>
            <a:r>
              <a:rPr lang="zh-CN" altLang="en-US" dirty="0" smtClean="0">
                <a:effectLst/>
              </a:rPr>
              <a:t>，用于高速缓存</a:t>
            </a:r>
            <a:r>
              <a:rPr lang="en-US" altLang="zh-CN" dirty="0" smtClean="0">
                <a:effectLst/>
              </a:rPr>
              <a:t>(Cache)</a:t>
            </a:r>
            <a:r>
              <a:rPr lang="zh-CN" altLang="en-US" dirty="0" smtClean="0">
                <a:effectLst/>
              </a:rPr>
              <a:t>管理。</a:t>
            </a:r>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32</a:t>
            </a:fld>
            <a:endParaRPr lang="en-US" altLang="zh-CN"/>
          </a:p>
        </p:txBody>
      </p:sp>
    </p:spTree>
    <p:extLst>
      <p:ext uri="{BB962C8B-B14F-4D97-AF65-F5344CB8AC3E}">
        <p14:creationId xmlns:p14="http://schemas.microsoft.com/office/powerpoint/2010/main" val="17038662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7051" name="Rectangle 11"/>
          <p:cNvSpPr>
            <a:spLocks noChangeArrowheads="1"/>
          </p:cNvSpPr>
          <p:nvPr userDrawn="1"/>
        </p:nvSpPr>
        <p:spPr bwMode="auto">
          <a:xfrm>
            <a:off x="1" y="1"/>
            <a:ext cx="9935633" cy="549275"/>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3200">
              <a:solidFill>
                <a:schemeClr val="tx2"/>
              </a:solidFill>
            </a:endParaRPr>
          </a:p>
        </p:txBody>
      </p:sp>
      <p:grpSp>
        <p:nvGrpSpPr>
          <p:cNvPr id="87054" name="Group 14"/>
          <p:cNvGrpSpPr/>
          <p:nvPr userDrawn="1"/>
        </p:nvGrpSpPr>
        <p:grpSpPr bwMode="auto">
          <a:xfrm>
            <a:off x="10128251" y="188913"/>
            <a:ext cx="1784349" cy="2189162"/>
            <a:chOff x="4704" y="1885"/>
            <a:chExt cx="843" cy="1379"/>
          </a:xfrm>
        </p:grpSpPr>
        <p:sp>
          <p:nvSpPr>
            <p:cNvPr id="87055" name="Oval 15"/>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endParaRPr lang="zh-CN" altLang="en-US"/>
            </a:p>
          </p:txBody>
        </p:sp>
        <p:sp>
          <p:nvSpPr>
            <p:cNvPr id="87056" name="Oval 16"/>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endParaRPr lang="zh-CN" altLang="en-US"/>
            </a:p>
          </p:txBody>
        </p:sp>
        <p:sp>
          <p:nvSpPr>
            <p:cNvPr id="87057" name="Oval 17"/>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endParaRPr lang="zh-CN" altLang="en-US"/>
            </a:p>
          </p:txBody>
        </p:sp>
        <p:sp>
          <p:nvSpPr>
            <p:cNvPr id="87058" name="Oval 18"/>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endParaRPr lang="zh-CN" altLang="en-US"/>
            </a:p>
          </p:txBody>
        </p:sp>
        <p:sp>
          <p:nvSpPr>
            <p:cNvPr id="87059" name="Oval 19"/>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endParaRPr lang="zh-CN" altLang="en-US"/>
            </a:p>
          </p:txBody>
        </p:sp>
        <p:sp>
          <p:nvSpPr>
            <p:cNvPr id="87060" name="Oval 20"/>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endParaRPr lang="zh-CN" altLang="en-US"/>
            </a:p>
          </p:txBody>
        </p:sp>
        <p:sp>
          <p:nvSpPr>
            <p:cNvPr id="87061" name="Oval 21"/>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endParaRPr lang="zh-CN" altLang="en-US"/>
            </a:p>
          </p:txBody>
        </p:sp>
        <p:sp>
          <p:nvSpPr>
            <p:cNvPr id="87062" name="Oval 22"/>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endParaRPr lang="zh-CN" altLang="en-US"/>
            </a:p>
          </p:txBody>
        </p:sp>
        <p:sp>
          <p:nvSpPr>
            <p:cNvPr id="87063" name="Oval 23"/>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endParaRPr lang="zh-CN" altLang="en-US"/>
            </a:p>
          </p:txBody>
        </p:sp>
        <p:sp>
          <p:nvSpPr>
            <p:cNvPr id="87064" name="Oval 24"/>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5" name="Oval 25"/>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6" name="Oval 26"/>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endParaRPr lang="zh-CN" altLang="en-US"/>
            </a:p>
          </p:txBody>
        </p:sp>
        <p:sp>
          <p:nvSpPr>
            <p:cNvPr id="87067" name="Oval 27"/>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endParaRPr lang="zh-CN" altLang="en-US"/>
            </a:p>
          </p:txBody>
        </p:sp>
        <p:sp>
          <p:nvSpPr>
            <p:cNvPr id="87068" name="Oval 28"/>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endParaRPr lang="zh-CN" altLang="en-US"/>
            </a:p>
          </p:txBody>
        </p:sp>
        <p:sp>
          <p:nvSpPr>
            <p:cNvPr id="87069" name="Oval 29"/>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endParaRPr lang="zh-CN" altLang="en-US"/>
            </a:p>
          </p:txBody>
        </p:sp>
        <p:sp>
          <p:nvSpPr>
            <p:cNvPr id="87070" name="Oval 30"/>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endParaRPr lang="zh-CN" altLang="en-US"/>
            </a:p>
          </p:txBody>
        </p:sp>
        <p:sp>
          <p:nvSpPr>
            <p:cNvPr id="87071" name="Oval 31"/>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2" name="Oval 32"/>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3" name="Oval 33"/>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4" name="Oval 34"/>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5" name="Oval 35"/>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endParaRPr lang="zh-CN" altLang="en-US"/>
            </a:p>
          </p:txBody>
        </p:sp>
        <p:sp>
          <p:nvSpPr>
            <p:cNvPr id="87076" name="Oval 36"/>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endParaRPr lang="zh-CN" altLang="en-US"/>
            </a:p>
          </p:txBody>
        </p:sp>
        <p:sp>
          <p:nvSpPr>
            <p:cNvPr id="87077" name="Oval 37"/>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8" name="Oval 38"/>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9" name="Oval 39"/>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endParaRPr lang="zh-CN" altLang="en-US"/>
            </a:p>
          </p:txBody>
        </p:sp>
        <p:sp>
          <p:nvSpPr>
            <p:cNvPr id="87080" name="Oval 40"/>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1" name="Oval 41"/>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2" name="Oval 42"/>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3" name="Oval 43"/>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4" name="Oval 44"/>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endParaRPr lang="zh-CN" altLang="en-US"/>
            </a:p>
          </p:txBody>
        </p:sp>
        <p:sp>
          <p:nvSpPr>
            <p:cNvPr id="87085" name="Oval 45"/>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endParaRPr lang="zh-CN" altLang="en-US"/>
            </a:p>
          </p:txBody>
        </p:sp>
      </p:grpSp>
      <p:sp>
        <p:nvSpPr>
          <p:cNvPr id="87086" name="Rectangle 46"/>
          <p:cNvSpPr>
            <a:spLocks noChangeArrowheads="1"/>
          </p:cNvSpPr>
          <p:nvPr userDrawn="1"/>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87087" name="Rectangle 47"/>
          <p:cNvSpPr>
            <a:spLocks noChangeArrowheads="1"/>
          </p:cNvSpPr>
          <p:nvPr userDrawn="1"/>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87088" name="Rectangle 48"/>
          <p:cNvSpPr>
            <a:spLocks noChangeArrowheads="1"/>
          </p:cNvSpPr>
          <p:nvPr userDrawn="1"/>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pic>
        <p:nvPicPr>
          <p:cNvPr id="87089"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87090" name="Line 50"/>
          <p:cNvSpPr>
            <a:spLocks noChangeShapeType="1"/>
          </p:cNvSpPr>
          <p:nvPr userDrawn="1"/>
        </p:nvSpPr>
        <p:spPr bwMode="auto">
          <a:xfrm flipV="1">
            <a:off x="624417" y="2852738"/>
            <a:ext cx="10752667" cy="0"/>
          </a:xfrm>
          <a:prstGeom prst="line">
            <a:avLst/>
          </a:prstGeom>
          <a:noFill/>
          <a:ln w="38100">
            <a:solidFill>
              <a:schemeClr val="bg2"/>
            </a:solidFill>
            <a:round/>
          </a:ln>
          <a:effectLst/>
        </p:spPr>
        <p:txBody>
          <a:bodyPr anchor="ctr">
            <a:spAutoFit/>
          </a:bodyPr>
          <a:lstStyle/>
          <a:p>
            <a:endParaRPr lang="zh-CN" altLang="en-US"/>
          </a:p>
        </p:txBody>
      </p:sp>
      <p:sp>
        <p:nvSpPr>
          <p:cNvPr id="87091" name="Line 51"/>
          <p:cNvSpPr>
            <a:spLocks noChangeShapeType="1"/>
          </p:cNvSpPr>
          <p:nvPr userDrawn="1"/>
        </p:nvSpPr>
        <p:spPr bwMode="auto">
          <a:xfrm>
            <a:off x="9935633" y="0"/>
            <a:ext cx="0" cy="5949950"/>
          </a:xfrm>
          <a:prstGeom prst="line">
            <a:avLst/>
          </a:prstGeom>
          <a:noFill/>
          <a:ln w="38100">
            <a:solidFill>
              <a:schemeClr val="bg2"/>
            </a:solidFill>
            <a:round/>
          </a:ln>
          <a:effectLst/>
        </p:spPr>
        <p:txBody>
          <a:bodyPr anchor="ctr">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840795" y="1125538"/>
            <a:ext cx="3538405" cy="220265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36950" y="404814"/>
            <a:ext cx="2922851"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4" name="Subtitle 2"/>
          <p:cNvSpPr>
            <a:spLocks noGrp="1"/>
          </p:cNvSpPr>
          <p:nvPr>
            <p:ph type="subTitle" idx="1"/>
          </p:nvPr>
        </p:nvSpPr>
        <p:spPr>
          <a:xfrm>
            <a:off x="1524000" y="3750112"/>
            <a:ext cx="9144000" cy="1004407"/>
          </a:xfrm>
          <a:prstGeom prst="rect">
            <a:avLst/>
          </a:prstGeom>
        </p:spPr>
        <p:txBody>
          <a:bodyPr anchor="ctr">
            <a:normAutofit/>
          </a:bodyPr>
          <a:lstStyle>
            <a:lvl1pPr marL="0" indent="0" algn="ctr">
              <a:buNone/>
              <a:defRPr lang="en-US" sz="2700" b="1" kern="1200" dirty="0">
                <a:solidFill>
                  <a:schemeClr val="tx1"/>
                </a:solidFill>
                <a:latin typeface="微软雅黑" panose="020B0503020204020204" pitchFamily="34" charset="-122"/>
                <a:ea typeface="微软雅黑" panose="020B0503020204020204" pitchFamily="34" charset="-122"/>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3432" y="564342"/>
            <a:ext cx="5567281" cy="632410"/>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685800" rtl="0" eaLnBrk="1" latinLnBrk="0" hangingPunct="1">
              <a:lnSpc>
                <a:spcPct val="100000"/>
              </a:lnSpc>
              <a:spcBef>
                <a:spcPct val="0"/>
              </a:spcBef>
              <a:buNone/>
              <a:defRPr lang="en-US" sz="36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smtClean="0"/>
              <a:t>单击此处编辑母版标题样式</a:t>
            </a:r>
            <a:endParaRPr lang="en-US" dirty="0"/>
          </a:p>
        </p:txBody>
      </p:sp>
      <p:pic>
        <p:nvPicPr>
          <p:cNvPr id="63490" name="Picture 2" descr="E:\Work buaa\Other\北航\软件学院图标.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20136" y="492333"/>
            <a:ext cx="3312368" cy="677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Subtitle 2"/>
          <p:cNvSpPr>
            <a:spLocks noGrp="1"/>
          </p:cNvSpPr>
          <p:nvPr>
            <p:ph type="subTitle" idx="1"/>
          </p:nvPr>
        </p:nvSpPr>
        <p:spPr>
          <a:xfrm>
            <a:off x="1524000" y="3750110"/>
            <a:ext cx="9144000" cy="1004407"/>
          </a:xfrm>
          <a:prstGeom prst="rect">
            <a:avLst/>
          </a:prstGeom>
        </p:spPr>
        <p:txBody>
          <a:bodyPr anchor="ctr">
            <a:normAutofit/>
          </a:bodyPr>
          <a:lstStyle>
            <a:lvl1pPr marL="0" indent="0" algn="ctr">
              <a:buNone/>
              <a:defRPr lang="en-US" sz="3600" b="1" kern="1200" dirty="0">
                <a:solidFill>
                  <a:schemeClr val="tx1"/>
                </a:solidFill>
                <a:latin typeface="微软雅黑" panose="020B0503020204020204" pitchFamily="34" charset="-122"/>
                <a:ea typeface="微软雅黑" panose="020B0503020204020204" pitchFamily="34" charset="-122"/>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68878" y="564339"/>
            <a:ext cx="8254245" cy="663787"/>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914400" rtl="0" eaLnBrk="1" latinLnBrk="0" hangingPunct="1">
              <a:lnSpc>
                <a:spcPct val="100000"/>
              </a:lnSpc>
              <a:spcBef>
                <a:spcPct val="0"/>
              </a:spcBef>
              <a:buNone/>
              <a:defRPr lang="en-US" sz="48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1"/>
            <a:ext cx="7010400" cy="372603"/>
          </a:xfrm>
        </p:spPr>
        <p:txBody>
          <a:bodyPr/>
          <a:lstStyle>
            <a:lvl1pPr>
              <a:defRPr i="0" baseline="0">
                <a:latin typeface="Arial Unicode MS" panose="020B0604020202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914400" y="764705"/>
            <a:ext cx="10464800" cy="1897955"/>
          </a:xfrm>
        </p:spPr>
        <p:txBody>
          <a:bodyPr/>
          <a:lstStyle>
            <a:lvl1pPr>
              <a:lnSpc>
                <a:spcPct val="125000"/>
              </a:lnSpc>
              <a:spcBef>
                <a:spcPts val="0"/>
              </a:spcBef>
              <a:defRPr sz="2200">
                <a:latin typeface="微软雅黑" panose="020B0503020204020204" pitchFamily="34" charset="-122"/>
                <a:ea typeface="微软雅黑" panose="020B0503020204020204" pitchFamily="34" charset="-122"/>
              </a:defRPr>
            </a:lvl1pPr>
            <a:lvl2pPr>
              <a:lnSpc>
                <a:spcPct val="125000"/>
              </a:lnSpc>
              <a:spcBef>
                <a:spcPts val="0"/>
              </a:spcBef>
              <a:defRPr sz="20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800">
                <a:latin typeface="微软雅黑" panose="020B0503020204020204" pitchFamily="34" charset="-122"/>
                <a:ea typeface="微软雅黑" panose="020B0503020204020204" pitchFamily="34" charset="-122"/>
              </a:defRPr>
            </a:lvl4pPr>
            <a:lvl5pPr>
              <a:lnSpc>
                <a:spcPct val="125000"/>
              </a:lnSpc>
              <a:spcBef>
                <a:spcPts val="0"/>
              </a:spcBef>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04746"/>
            <a:ext cx="5386917"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04746"/>
            <a:ext cx="5389033"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413" y="116633"/>
            <a:ext cx="9144000" cy="372603"/>
          </a:xfrm>
        </p:spPr>
        <p:txBody>
          <a:bodyPr anchor="ctr"/>
          <a:lstStyle>
            <a:lvl1pPr algn="l">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5.pn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4"/>
            <a:ext cx="7010400" cy="372603"/>
          </a:xfrm>
          <a:prstGeom prst="rect">
            <a:avLst/>
          </a:prstGeom>
          <a:noFill/>
          <a:ln w="12700">
            <a:noFill/>
            <a:miter lim="800000"/>
          </a:ln>
          <a:effectLst/>
        </p:spPr>
        <p:txBody>
          <a:bodyPr vert="horz" wrap="square" lIns="63500" tIns="25400" rIns="63500" bIns="25400" numCol="1" anchor="t" anchorCtr="0" compatLnSpc="1">
            <a:spAutoFit/>
          </a:bodyPr>
          <a:lstStyle/>
          <a:p>
            <a:pPr lvl="0"/>
            <a:r>
              <a:rPr lang="zh-CN" altLang="en-US"/>
              <a:t>标题</a:t>
            </a:r>
          </a:p>
        </p:txBody>
      </p:sp>
      <p:sp>
        <p:nvSpPr>
          <p:cNvPr id="1029" name="Rectangle 5"/>
          <p:cNvSpPr>
            <a:spLocks noGrp="1" noChangeArrowheads="1"/>
          </p:cNvSpPr>
          <p:nvPr>
            <p:ph type="body" idx="1"/>
          </p:nvPr>
        </p:nvSpPr>
        <p:spPr bwMode="auto">
          <a:xfrm>
            <a:off x="914400" y="1125538"/>
            <a:ext cx="10464800" cy="2202654"/>
          </a:xfrm>
          <a:prstGeom prst="rect">
            <a:avLst/>
          </a:prstGeom>
          <a:noFill/>
          <a:ln w="12700">
            <a:noFill/>
            <a:miter lim="800000"/>
          </a:ln>
          <a:effectLst/>
        </p:spPr>
        <p:txBody>
          <a:bodyPr vert="horz" wrap="square" lIns="63500" tIns="25400" rIns="63500" bIns="25400" numCol="1" anchor="t" anchorCtr="0" compatLnSpc="1">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5" name="Rectangle 11"/>
          <p:cNvSpPr>
            <a:spLocks noChangeArrowheads="1"/>
          </p:cNvSpPr>
          <p:nvPr/>
        </p:nvSpPr>
        <p:spPr bwMode="auto">
          <a:xfrm>
            <a:off x="0" y="0"/>
            <a:ext cx="9840384" cy="260350"/>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2400" b="0">
              <a:solidFill>
                <a:schemeClr val="tx2"/>
              </a:solidFill>
              <a:latin typeface="Times New Roman" panose="02020603050405020304" pitchFamily="18" charset="0"/>
            </a:endParaRPr>
          </a:p>
        </p:txBody>
      </p:sp>
      <p:sp>
        <p:nvSpPr>
          <p:cNvPr id="1037" name="Line 13"/>
          <p:cNvSpPr>
            <a:spLocks noChangeShapeType="1"/>
          </p:cNvSpPr>
          <p:nvPr/>
        </p:nvSpPr>
        <p:spPr bwMode="auto">
          <a:xfrm flipV="1">
            <a:off x="814917" y="836613"/>
            <a:ext cx="10752667" cy="0"/>
          </a:xfrm>
          <a:prstGeom prst="line">
            <a:avLst/>
          </a:prstGeom>
          <a:noFill/>
          <a:ln w="38100">
            <a:solidFill>
              <a:schemeClr val="bg2"/>
            </a:solidFill>
            <a:round/>
          </a:ln>
          <a:effectLst/>
        </p:spPr>
        <p:txBody>
          <a:bodyPr anchor="ctr">
            <a:spAutoFit/>
          </a:bodyPr>
          <a:lstStyle/>
          <a:p>
            <a:endParaRPr lang="zh-CN" altLang="en-US"/>
          </a:p>
        </p:txBody>
      </p:sp>
      <p:sp>
        <p:nvSpPr>
          <p:cNvPr id="1038" name="Rectangle 14"/>
          <p:cNvSpPr>
            <a:spLocks noChangeArrowheads="1"/>
          </p:cNvSpPr>
          <p:nvPr/>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1039" name="Rectangle 15"/>
          <p:cNvSpPr>
            <a:spLocks noChangeArrowheads="1"/>
          </p:cNvSpPr>
          <p:nvPr/>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1040" name="Rectangle 16"/>
          <p:cNvSpPr>
            <a:spLocks noChangeArrowheads="1"/>
          </p:cNvSpPr>
          <p:nvPr/>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sp>
        <p:nvSpPr>
          <p:cNvPr id="1041" name="Text Box 17"/>
          <p:cNvSpPr txBox="1">
            <a:spLocks noChangeArrowheads="1"/>
          </p:cNvSpPr>
          <p:nvPr/>
        </p:nvSpPr>
        <p:spPr bwMode="auto">
          <a:xfrm>
            <a:off x="11377084" y="6524625"/>
            <a:ext cx="768349" cy="304800"/>
          </a:xfrm>
          <a:prstGeom prst="rect">
            <a:avLst/>
          </a:prstGeom>
          <a:noFill/>
          <a:ln w="9525">
            <a:noFill/>
            <a:miter lim="800000"/>
          </a:ln>
          <a:effectLst/>
        </p:spPr>
        <p:txBody>
          <a:bodyPr>
            <a:spAutoFit/>
          </a:bodyPr>
          <a:lstStyle/>
          <a:p>
            <a:pPr algn="ctr">
              <a:lnSpc>
                <a:spcPct val="100000"/>
              </a:lnSpc>
              <a:spcBef>
                <a:spcPct val="50000"/>
              </a:spcBef>
              <a:buClrTx/>
              <a:buSzTx/>
              <a:buFontTx/>
              <a:buNone/>
            </a:pPr>
            <a:fld id="{8E6141A4-B4DF-417A-BE19-BD33A1D78EA3}" type="slidenum">
              <a:rPr lang="zh-CN" altLang="en-US" sz="1400" b="0">
                <a:solidFill>
                  <a:srgbClr val="000099"/>
                </a:solidFill>
              </a:rPr>
              <a:t>‹#›</a:t>
            </a:fld>
            <a:endParaRPr lang="en-US" altLang="zh-CN" sz="1400" b="0">
              <a:solidFill>
                <a:srgbClr val="000099"/>
              </a:solidFill>
            </a:endParaRPr>
          </a:p>
        </p:txBody>
      </p:sp>
      <p:pic>
        <p:nvPicPr>
          <p:cNvPr id="1044" name="Picture 20" descr="buaa_1"/>
          <p:cNvPicPr>
            <a:picLocks noChangeAspect="1" noChangeArrowheads="1"/>
          </p:cNvPicPr>
          <p:nvPr/>
        </p:nvPicPr>
        <p:blipFill>
          <a:blip r:embed="rId16" cstate="print"/>
          <a:srcRect/>
          <a:stretch>
            <a:fillRect/>
          </a:stretch>
        </p:blipFill>
        <p:spPr bwMode="auto">
          <a:xfrm>
            <a:off x="1" y="6597650"/>
            <a:ext cx="1775884" cy="2873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lnSpc>
          <a:spcPct val="87000"/>
        </a:lnSpc>
        <a:spcBef>
          <a:spcPct val="0"/>
        </a:spcBef>
        <a:spcAft>
          <a:spcPct val="0"/>
        </a:spcAft>
        <a:defRPr sz="2400" b="1" i="1">
          <a:solidFill>
            <a:srgbClr val="FF0000"/>
          </a:solidFill>
          <a:latin typeface="+mn-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spcBef>
          <a:spcPct val="10000"/>
        </a:spcBef>
        <a:spcAft>
          <a:spcPct val="1000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spcBef>
          <a:spcPct val="10000"/>
        </a:spcBef>
        <a:spcAft>
          <a:spcPct val="10000"/>
        </a:spcAft>
        <a:buClr>
          <a:srgbClr val="001ADC"/>
        </a:buClr>
        <a:buSzPct val="100000"/>
        <a:buFont typeface="Wingdings" panose="05000000000000000000" pitchFamily="2" charset="2"/>
        <a:buChar char="Ø"/>
        <a:defRPr b="1">
          <a:solidFill>
            <a:schemeClr val="tx1"/>
          </a:solidFill>
          <a:latin typeface="+mn-lt"/>
          <a:ea typeface="+mn-ea"/>
        </a:defRPr>
      </a:lvl2pPr>
      <a:lvl3pPr marL="1050925" indent="-192405" algn="l" rtl="0" eaLnBrk="0" fontAlgn="base" hangingPunct="0">
        <a:spcBef>
          <a:spcPct val="10000"/>
        </a:spcBef>
        <a:spcAft>
          <a:spcPct val="10000"/>
        </a:spcAft>
        <a:buClr>
          <a:srgbClr val="05AD01"/>
        </a:buClr>
        <a:buSzPct val="100000"/>
        <a:buFont typeface="Wingdings" panose="05000000000000000000" pitchFamily="2" charset="2"/>
        <a:buChar char="§"/>
        <a:defRPr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0">
            <a:extLst>
              <a:ext uri="{28A0092B-C50C-407E-A947-70E740481C1C}">
                <a14:useLocalDpi xmlns:a14="http://schemas.microsoft.com/office/drawing/2010/main" val="0"/>
              </a:ext>
            </a:extLst>
          </a:blip>
          <a:srcRect l="19240"/>
          <a:stretch>
            <a:fillRect/>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1"/>
            <a:ext cx="7010400" cy="372603"/>
          </a:xfrm>
          <a:prstGeom prst="rect">
            <a:avLst/>
          </a:prstGeom>
          <a:noFill/>
          <a:ln w="12700">
            <a:noFill/>
            <a:miter lim="800000"/>
          </a:ln>
        </p:spPr>
        <p:txBody>
          <a:bodyPr vert="horz" wrap="square" lIns="63500" tIns="25400" rIns="63500" bIns="25400" numCol="1" anchor="t" anchorCtr="0" compatLnSpc="1">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359620"/>
          </a:xfrm>
          <a:prstGeom prst="rect">
            <a:avLst/>
          </a:prstGeom>
          <a:noFill/>
          <a:ln w="12700">
            <a:noFill/>
            <a:miter lim="800000"/>
          </a:ln>
        </p:spPr>
        <p:txBody>
          <a:bodyPr vert="horz" wrap="square" lIns="63500" tIns="25400" rIns="63500" bIns="25400" numCol="1" anchor="t" anchorCtr="0" compatLnSpc="1">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userDrawn="1"/>
        </p:nvSpPr>
        <p:spPr bwMode="auto">
          <a:xfrm>
            <a:off x="11280577" y="6553201"/>
            <a:ext cx="864096" cy="276999"/>
          </a:xfrm>
          <a:prstGeom prst="rect">
            <a:avLst/>
          </a:prstGeom>
          <a:noFill/>
          <a:ln w="9525">
            <a:noFill/>
            <a:miter lim="800000"/>
          </a:ln>
          <a:effectLst/>
        </p:spPr>
        <p:txBody>
          <a:bodyPr wrap="square">
            <a:spAutoFit/>
          </a:bodyPr>
          <a:lstStyle/>
          <a:p>
            <a:pPr algn="ctr">
              <a:lnSpc>
                <a:spcPct val="100000"/>
              </a:lnSpc>
              <a:spcBef>
                <a:spcPct val="50000"/>
              </a:spcBef>
              <a:buClrTx/>
              <a:buSzTx/>
              <a:buFontTx/>
              <a:buNone/>
            </a:pPr>
            <a:fld id="{8E6141A4-B4DF-417A-BE19-BD33A1D78EA3}" type="slidenum">
              <a:rPr lang="zh-CN" altLang="en-US" sz="1200" b="0">
                <a:solidFill>
                  <a:srgbClr val="000099"/>
                </a:solidFill>
                <a:latin typeface="Arial" panose="020B0604020202020204" pitchFamily="34" charset="0"/>
                <a:ea typeface="Yu Gothic" panose="020B0400000000000000" pitchFamily="34" charset="-128"/>
                <a:cs typeface="Arial" panose="020B0604020202020204" pitchFamily="34" charset="0"/>
              </a:rPr>
              <a:t>‹#›</a:t>
            </a:fld>
            <a:endParaRPr lang="en-US" altLang="zh-CN" sz="1200" b="0" dirty="0">
              <a:solidFill>
                <a:srgbClr val="000099"/>
              </a:solidFill>
              <a:latin typeface="Arial" panose="020B0604020202020204" pitchFamily="34" charset="0"/>
              <a:ea typeface="Yu Gothic" panose="020B0400000000000000"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lnSpc>
          <a:spcPct val="125000"/>
        </a:lnSpc>
        <a:spcBef>
          <a:spcPts val="0"/>
        </a:spcBef>
        <a:spcAft>
          <a:spcPct val="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lnSpc>
          <a:spcPct val="125000"/>
        </a:lnSpc>
        <a:spcBef>
          <a:spcPts val="0"/>
        </a:spcBef>
        <a:spcAft>
          <a:spcPct val="0"/>
        </a:spcAft>
        <a:buClr>
          <a:srgbClr val="001ADC"/>
        </a:buClr>
        <a:buSzPct val="100000"/>
        <a:buFont typeface="Wingdings" panose="05000000000000000000" pitchFamily="2" charset="2"/>
        <a:buChar char="Ø"/>
        <a:defRPr b="1">
          <a:solidFill>
            <a:schemeClr val="tx1"/>
          </a:solidFill>
          <a:latin typeface="+mn-lt"/>
        </a:defRPr>
      </a:lvl2pPr>
      <a:lvl3pPr marL="1050925" indent="-192405" algn="l" rtl="0" eaLnBrk="0" fontAlgn="base" hangingPunct="0">
        <a:lnSpc>
          <a:spcPct val="125000"/>
        </a:lnSpc>
        <a:spcBef>
          <a:spcPts val="0"/>
        </a:spcBef>
        <a:spcAft>
          <a:spcPct val="0"/>
        </a:spcAft>
        <a:buClr>
          <a:srgbClr val="05AD01"/>
        </a:buClr>
        <a:buSzPct val="100000"/>
        <a:buFont typeface="Wingdings" panose="05000000000000000000"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smtClean="0"/>
              <a:t>计算机硬件基础</a:t>
            </a:r>
            <a:r>
              <a:rPr lang="zh-CN" altLang="en-US" dirty="0"/>
              <a:t/>
            </a:r>
            <a:br>
              <a:rPr lang="zh-CN" altLang="en-US" dirty="0"/>
            </a:br>
            <a:r>
              <a:rPr lang="zh-CN" altLang="en-US" dirty="0"/>
              <a:t>（</a:t>
            </a:r>
            <a:r>
              <a:rPr lang="en-US" altLang="zh-CN" dirty="0" smtClean="0"/>
              <a:t>2020</a:t>
            </a:r>
            <a:r>
              <a:rPr lang="zh-CN" altLang="en-US" dirty="0" smtClean="0"/>
              <a:t>级</a:t>
            </a:r>
            <a:r>
              <a:rPr lang="zh-CN" altLang="en-US" dirty="0"/>
              <a:t>）</a:t>
            </a:r>
          </a:p>
        </p:txBody>
      </p:sp>
      <p:sp>
        <p:nvSpPr>
          <p:cNvPr id="6" name="Rectangle 5"/>
          <p:cNvSpPr>
            <a:spLocks noGrp="1" noChangeArrowheads="1"/>
          </p:cNvSpPr>
          <p:nvPr>
            <p:ph type="subTitle" idx="4294967295"/>
          </p:nvPr>
        </p:nvSpPr>
        <p:spPr bwMode="auto">
          <a:xfrm>
            <a:off x="3503712" y="3849579"/>
            <a:ext cx="5400600" cy="875565"/>
          </a:xfrm>
          <a:prstGeom prst="rect">
            <a:avLst/>
          </a:prstGeom>
          <a:noFill/>
          <a:ln>
            <a:miter lim="800000"/>
          </a:ln>
        </p:spPr>
        <p:txBody>
          <a:bodyPr vert="horz" wrap="square" lIns="47625" tIns="72900" rIns="47625" bIns="72900" numCol="1" anchor="t" anchorCtr="0" compatLnSpc="1">
            <a:spAutoFit/>
          </a:bodyPr>
          <a:lstStyle/>
          <a:p>
            <a:pPr marL="0" indent="0" algn="ctr">
              <a:lnSpc>
                <a:spcPct val="150000"/>
              </a:lnSpc>
              <a:spcAft>
                <a:spcPts val="0"/>
              </a:spcAft>
              <a:buNone/>
            </a:pPr>
            <a:r>
              <a:rPr lang="zh-CN" altLang="en-US" sz="3600" baseline="30000"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牛建伟  王丽华  邓莹莹  李辉勇  李莹</a:t>
            </a:r>
            <a:endParaRPr lang="en-US" altLang="zh-CN" b="0" dirty="0">
              <a:solidFill>
                <a:srgbClr val="000066"/>
              </a:solidFill>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423556" y="1124744"/>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第五讲：</a:t>
            </a:r>
            <a:r>
              <a:rPr lang="en-US" altLang="zh-CN" sz="2800" dirty="0" smtClean="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308985" y="1931670"/>
            <a:ext cx="5932170" cy="4433570"/>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ct val="65000"/>
              </a:spcBef>
              <a:buClr>
                <a:srgbClr val="FF0000"/>
              </a:buClr>
              <a:buFont typeface="+mj-ea"/>
              <a:buAutoNum type="ea1JpnChsDbPeriod"/>
            </a:pPr>
            <a:r>
              <a:rPr lang="zh-CN" altLang="en-US" sz="2400" dirty="0"/>
              <a:t>处理器设计概述</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模型机</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单周期处理器设计</a:t>
            </a:r>
          </a:p>
          <a:p>
            <a:pPr marL="609600" indent="-609600">
              <a:lnSpc>
                <a:spcPct val="75000"/>
              </a:lnSpc>
              <a:spcBef>
                <a:spcPct val="65000"/>
              </a:spcBef>
              <a:buClr>
                <a:srgbClr val="FF0000"/>
              </a:buClr>
              <a:buFont typeface="+mj-ea"/>
              <a:buAutoNum type="ea1JpnChsDbPeriod"/>
            </a:pPr>
            <a:r>
              <a:rPr lang="zh-CN" altLang="en-US" sz="2400" dirty="0"/>
              <a:t>流水线及其冒险</a:t>
            </a:r>
          </a:p>
          <a:p>
            <a:pPr marL="609600" indent="-609600">
              <a:lnSpc>
                <a:spcPct val="75000"/>
              </a:lnSpc>
              <a:spcBef>
                <a:spcPct val="65000"/>
              </a:spcBef>
              <a:buClr>
                <a:srgbClr val="FF0000"/>
              </a:buClr>
              <a:buFont typeface="+mj-ea"/>
              <a:buAutoNum type="ea1JpnChsDbPeriod"/>
            </a:pPr>
            <a:r>
              <a:rPr lang="zh-CN" altLang="en-US" sz="2400" dirty="0">
                <a:solidFill>
                  <a:schemeClr val="tx2">
                    <a:lumMod val="75000"/>
                    <a:lumOff val="25000"/>
                  </a:schemeClr>
                </a:solidFill>
                <a:sym typeface="+mn-ea"/>
              </a:rPr>
              <a:t>MIPS异常/中断处理</a:t>
            </a:r>
            <a:endParaRPr lang="zh-CN" altLang="en-US" sz="2400" dirty="0">
              <a:sym typeface="+mn-ea"/>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MIPS中断/异常</a:t>
            </a:r>
            <a:endParaRPr lang="zh-CN" altLang="en-US" sz="2000" dirty="0">
              <a:solidFill>
                <a:schemeClr val="tx2">
                  <a:lumMod val="75000"/>
                  <a:lumOff val="25000"/>
                </a:schemeClr>
              </a:solidFill>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支持中断/异常的数据通路</a:t>
            </a:r>
            <a:endParaRPr lang="zh-CN" altLang="en-US" sz="2000" dirty="0">
              <a:solidFill>
                <a:schemeClr val="tx2">
                  <a:lumMod val="75000"/>
                  <a:lumOff val="25000"/>
                </a:schemeClr>
              </a:solidFill>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软硬件配合的中断响应机制</a:t>
            </a:r>
            <a:endParaRPr lang="zh-CN" altLang="en-US" sz="2000" dirty="0">
              <a:solidFill>
                <a:schemeClr val="tx2">
                  <a:lumMod val="75000"/>
                  <a:lumOff val="25000"/>
                </a:schemeClr>
              </a:solidFill>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CP0设计</a:t>
            </a:r>
            <a:endParaRPr lang="zh-CN" altLang="en-US" sz="2000" dirty="0">
              <a:solidFill>
                <a:schemeClr val="tx2">
                  <a:lumMod val="75000"/>
                  <a:lumOff val="2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a:xfrm>
            <a:off x="-211" y="300401"/>
            <a:ext cx="7010400" cy="371475"/>
          </a:xfrm>
        </p:spPr>
        <p:txBody>
          <a:bodyPr/>
          <a:lstStyle/>
          <a:p>
            <a:r>
              <a:rPr lang="en-US" dirty="0">
                <a:solidFill>
                  <a:schemeClr val="accent1"/>
                </a:solidFill>
              </a:rPr>
              <a:t>5.1 </a:t>
            </a:r>
            <a:r>
              <a:rPr lang="en-US" altLang="zh-CN" dirty="0" smtClean="0">
                <a:sym typeface="+mn-ea"/>
              </a:rPr>
              <a:t>MIPS中断/异常--</a:t>
            </a:r>
            <a:r>
              <a:rPr lang="en-US" dirty="0">
                <a:solidFill>
                  <a:schemeClr val="accent1"/>
                </a:solidFill>
              </a:rPr>
              <a:t>Exceptions and Interrupts</a:t>
            </a:r>
            <a:endParaRPr lang="en-AU" dirty="0">
              <a:solidFill>
                <a:schemeClr val="accent1"/>
              </a:solidFill>
            </a:endParaRPr>
          </a:p>
        </p:txBody>
      </p:sp>
      <p:sp>
        <p:nvSpPr>
          <p:cNvPr id="452611" name="Rectangle 3"/>
          <p:cNvSpPr>
            <a:spLocks noGrp="1" noChangeArrowheads="1"/>
          </p:cNvSpPr>
          <p:nvPr>
            <p:ph idx="1"/>
          </p:nvPr>
        </p:nvSpPr>
        <p:spPr>
          <a:xfrm>
            <a:off x="263352" y="908720"/>
            <a:ext cx="11665296" cy="4937760"/>
          </a:xfrm>
        </p:spPr>
        <p:txBody>
          <a:bodyPr>
            <a:normAutofit/>
          </a:bodyPr>
          <a:lstStyle/>
          <a:p>
            <a:r>
              <a:rPr lang="zh-CN" altLang="en-US" sz="2800" dirty="0" smtClean="0"/>
              <a:t>异常和中断的概念</a:t>
            </a:r>
            <a:endParaRPr lang="en-US" altLang="zh-CN" sz="2800" dirty="0" smtClean="0"/>
          </a:p>
          <a:p>
            <a:pPr lvl="1"/>
            <a:r>
              <a:rPr lang="zh-CN" altLang="en-US" sz="2400" dirty="0" smtClean="0"/>
              <a:t>在</a:t>
            </a:r>
            <a:r>
              <a:rPr lang="en-US" altLang="zh-CN" sz="2400" dirty="0" smtClean="0"/>
              <a:t>MIPS ISA</a:t>
            </a:r>
            <a:r>
              <a:rPr lang="zh-CN" altLang="en-US" sz="2400" dirty="0" smtClean="0"/>
              <a:t>中，</a:t>
            </a:r>
            <a:r>
              <a:rPr lang="en-US" altLang="zh-CN" sz="2400" dirty="0" smtClean="0"/>
              <a:t>CPU</a:t>
            </a:r>
            <a:r>
              <a:rPr lang="zh-CN" altLang="en-US" sz="2400" dirty="0" smtClean="0"/>
              <a:t>内部的或者外部的非期望事件统称为“异常”</a:t>
            </a:r>
            <a:endParaRPr lang="en-US" altLang="zh-CN" sz="2400" dirty="0" smtClean="0"/>
          </a:p>
          <a:p>
            <a:pPr lvl="1"/>
            <a:r>
              <a:rPr lang="zh-CN" altLang="en-US" sz="2400" dirty="0" smtClean="0"/>
              <a:t>在</a:t>
            </a:r>
            <a:r>
              <a:rPr lang="en-US" altLang="zh-CN" sz="2400" dirty="0" smtClean="0"/>
              <a:t>X86 ISA</a:t>
            </a:r>
            <a:r>
              <a:rPr lang="zh-CN" altLang="en-US" sz="2400" dirty="0" smtClean="0"/>
              <a:t>中，由于</a:t>
            </a:r>
            <a:r>
              <a:rPr lang="en-US" altLang="zh-CN" sz="2400" dirty="0" smtClean="0"/>
              <a:t>CPU</a:t>
            </a:r>
            <a:r>
              <a:rPr lang="zh-CN" altLang="en-US" sz="2400" dirty="0" smtClean="0"/>
              <a:t>执行某些指令带来的非期望事件称之为“异常”，由外部</a:t>
            </a:r>
            <a:r>
              <a:rPr lang="en-US" altLang="zh-CN" sz="2400" dirty="0" smtClean="0"/>
              <a:t>I</a:t>
            </a:r>
            <a:r>
              <a:rPr lang="en-US" altLang="zh-CN" sz="2400" dirty="0" smtClean="0"/>
              <a:t>/O</a:t>
            </a:r>
            <a:r>
              <a:rPr lang="zh-CN" altLang="en-US" sz="2400" dirty="0" smtClean="0"/>
              <a:t>设备产生的非期望事件称之为“中断”</a:t>
            </a:r>
            <a:endParaRPr lang="en-US" altLang="zh-CN" sz="2400" dirty="0" smtClean="0"/>
          </a:p>
          <a:p>
            <a:pPr lvl="1"/>
            <a:r>
              <a:rPr lang="zh-CN" altLang="en-US" sz="2400" dirty="0" smtClean="0"/>
              <a:t>本课程采用</a:t>
            </a:r>
            <a:r>
              <a:rPr lang="en-US" altLang="zh-CN" sz="2400" dirty="0" smtClean="0"/>
              <a:t>MIPS </a:t>
            </a:r>
            <a:r>
              <a:rPr lang="zh-CN" altLang="en-US" sz="2400" dirty="0" smtClean="0"/>
              <a:t>体系的说法，即“异常”和“中断”统称为异常</a:t>
            </a:r>
            <a:endParaRPr lang="en-US" sz="2400" dirty="0" smtClean="0"/>
          </a:p>
          <a:p>
            <a:r>
              <a:rPr lang="zh-CN" altLang="en-US" sz="2800" dirty="0" smtClean="0"/>
              <a:t>异常来源于</a:t>
            </a:r>
            <a:r>
              <a:rPr lang="en-US" sz="2400" dirty="0" smtClean="0"/>
              <a:t>CPU</a:t>
            </a:r>
            <a:r>
              <a:rPr lang="zh-CN" altLang="en-US" sz="2400" dirty="0" smtClean="0"/>
              <a:t>内部</a:t>
            </a:r>
            <a:r>
              <a:rPr lang="en-US" sz="2400" dirty="0" smtClean="0"/>
              <a:t> </a:t>
            </a:r>
          </a:p>
          <a:p>
            <a:pPr lvl="1"/>
            <a:r>
              <a:rPr lang="zh-CN" altLang="en-US" sz="2400" dirty="0" smtClean="0"/>
              <a:t>例如，</a:t>
            </a:r>
            <a:r>
              <a:rPr lang="en-US" sz="2400" dirty="0" smtClean="0"/>
              <a:t>undefined </a:t>
            </a:r>
            <a:r>
              <a:rPr lang="en-US" sz="2400" dirty="0" smtClean="0"/>
              <a:t>opcode, overflow, </a:t>
            </a:r>
            <a:r>
              <a:rPr lang="en-US" sz="2400" dirty="0" err="1" smtClean="0"/>
              <a:t>syscall</a:t>
            </a:r>
            <a:r>
              <a:rPr lang="en-US" sz="2400" dirty="0" smtClean="0"/>
              <a:t>, TLB </a:t>
            </a:r>
            <a:r>
              <a:rPr lang="en-US" sz="2400" dirty="0" smtClean="0"/>
              <a:t>Miss</a:t>
            </a:r>
            <a:r>
              <a:rPr lang="zh-CN" altLang="en-US" sz="2400" dirty="0" smtClean="0"/>
              <a:t>，</a:t>
            </a:r>
            <a:r>
              <a:rPr lang="en-US" altLang="zh-CN" sz="2400" dirty="0" smtClean="0"/>
              <a:t>page Miss</a:t>
            </a:r>
            <a:r>
              <a:rPr lang="zh-CN" altLang="en-US" sz="2400" dirty="0" smtClean="0"/>
              <a:t>等</a:t>
            </a:r>
            <a:endParaRPr lang="en-US" sz="2400" dirty="0"/>
          </a:p>
          <a:p>
            <a:r>
              <a:rPr lang="zh-CN" altLang="en-US" sz="2800" dirty="0"/>
              <a:t>中断</a:t>
            </a:r>
            <a:endParaRPr lang="en-US" sz="2800" dirty="0"/>
          </a:p>
          <a:p>
            <a:pPr lvl="1"/>
            <a:r>
              <a:rPr lang="zh-CN" altLang="en-US" sz="2400" dirty="0" smtClean="0"/>
              <a:t>产生于外部</a:t>
            </a:r>
            <a:r>
              <a:rPr lang="en-US" sz="2400" dirty="0" smtClean="0"/>
              <a:t>I/O</a:t>
            </a:r>
            <a:r>
              <a:rPr lang="zh-CN" altLang="en-US" sz="2400" dirty="0" smtClean="0"/>
              <a:t>控制器</a:t>
            </a:r>
            <a:endParaRPr lang="en-US" sz="2400" dirty="0"/>
          </a:p>
          <a:p>
            <a:r>
              <a:rPr lang="zh-CN" altLang="en-US" sz="2800" dirty="0" smtClean="0"/>
              <a:t>合理处理异常而又不牺牲系统性能是一件困难的事情</a:t>
            </a:r>
            <a:r>
              <a:rPr lang="en-US" sz="2800" dirty="0" smtClean="0"/>
              <a:t>!</a:t>
            </a:r>
            <a:endParaRPr lang="en-AU" sz="2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9" name="Rectangle 3"/>
          <p:cNvSpPr>
            <a:spLocks noGrp="1" noChangeArrowheads="1"/>
          </p:cNvSpPr>
          <p:nvPr>
            <p:ph idx="1"/>
          </p:nvPr>
        </p:nvSpPr>
        <p:spPr>
          <a:xfrm>
            <a:off x="479376" y="819149"/>
            <a:ext cx="11377264" cy="4937760"/>
          </a:xfrm>
        </p:spPr>
        <p:txBody>
          <a:bodyPr>
            <a:normAutofit/>
          </a:bodyPr>
          <a:lstStyle/>
          <a:p>
            <a:r>
              <a:rPr lang="zh-CN" altLang="en-US" dirty="0" smtClean="0"/>
              <a:t>在</a:t>
            </a:r>
            <a:r>
              <a:rPr lang="en-US" dirty="0" smtClean="0"/>
              <a:t>MIPS</a:t>
            </a:r>
            <a:r>
              <a:rPr lang="zh-CN" altLang="en-US" dirty="0" smtClean="0"/>
              <a:t>中</a:t>
            </a:r>
            <a:r>
              <a:rPr lang="en-US" dirty="0" smtClean="0"/>
              <a:t>, </a:t>
            </a:r>
            <a:r>
              <a:rPr lang="zh-CN" altLang="en-US" dirty="0" smtClean="0"/>
              <a:t>异常是由协处理器</a:t>
            </a:r>
            <a:r>
              <a:rPr lang="zh-CN" altLang="en-US" dirty="0"/>
              <a:t>（</a:t>
            </a:r>
            <a:r>
              <a:rPr lang="en-US" dirty="0" smtClean="0"/>
              <a:t>Coprocessor</a:t>
            </a:r>
            <a:r>
              <a:rPr lang="zh-CN" altLang="en-US" dirty="0" smtClean="0"/>
              <a:t>）</a:t>
            </a:r>
            <a:r>
              <a:rPr lang="en-US" dirty="0" smtClean="0"/>
              <a:t> CP0</a:t>
            </a:r>
            <a:r>
              <a:rPr lang="zh-CN" altLang="en-US" dirty="0" smtClean="0"/>
              <a:t>来管理的</a:t>
            </a:r>
            <a:endParaRPr lang="en-US" dirty="0"/>
          </a:p>
          <a:p>
            <a:r>
              <a:rPr lang="zh-CN" altLang="en-US" dirty="0" smtClean="0"/>
              <a:t>当异常发生时，产生异常（或被中断）的指令地址保存在</a:t>
            </a:r>
            <a:r>
              <a:rPr lang="en-US" altLang="zh-CN" dirty="0" smtClean="0"/>
              <a:t>CP0</a:t>
            </a:r>
            <a:r>
              <a:rPr lang="zh-CN" altLang="en-US" dirty="0" smtClean="0"/>
              <a:t>的</a:t>
            </a:r>
            <a:r>
              <a:rPr lang="en-US" altLang="zh-CN" dirty="0" smtClean="0"/>
              <a:t>EPC</a:t>
            </a:r>
            <a:r>
              <a:rPr lang="zh-CN" altLang="en-US" dirty="0" smtClean="0"/>
              <a:t>寄存器中</a:t>
            </a:r>
            <a:endParaRPr lang="en-US" dirty="0" smtClean="0"/>
          </a:p>
          <a:p>
            <a:pPr lvl="1"/>
            <a:r>
              <a:rPr lang="en-US" dirty="0" smtClean="0">
                <a:solidFill>
                  <a:srgbClr val="FF0000"/>
                </a:solidFill>
              </a:rPr>
              <a:t>Exception </a:t>
            </a:r>
            <a:r>
              <a:rPr lang="en-US" dirty="0">
                <a:solidFill>
                  <a:srgbClr val="FF0000"/>
                </a:solidFill>
              </a:rPr>
              <a:t>Program Counter (EPC)</a:t>
            </a:r>
          </a:p>
          <a:p>
            <a:r>
              <a:rPr lang="zh-CN" altLang="en-US" dirty="0" smtClean="0"/>
              <a:t>保存产出异常的原因</a:t>
            </a:r>
            <a:endParaRPr lang="en-US" dirty="0" smtClean="0"/>
          </a:p>
          <a:p>
            <a:pPr lvl="1"/>
            <a:r>
              <a:rPr lang="zh-CN" altLang="en-US" dirty="0" smtClean="0"/>
              <a:t>在</a:t>
            </a:r>
            <a:r>
              <a:rPr lang="en-US" dirty="0" smtClean="0"/>
              <a:t>MIPS</a:t>
            </a:r>
            <a:r>
              <a:rPr lang="zh-CN" altLang="en-US" dirty="0" smtClean="0"/>
              <a:t>中</a:t>
            </a:r>
            <a:r>
              <a:rPr lang="en-US" dirty="0" smtClean="0"/>
              <a:t>: </a:t>
            </a:r>
            <a:r>
              <a:rPr lang="zh-CN" altLang="en-US" dirty="0" smtClean="0"/>
              <a:t>该原因保存在</a:t>
            </a:r>
            <a:r>
              <a:rPr lang="en-US" altLang="zh-CN" dirty="0" smtClean="0"/>
              <a:t>CP0</a:t>
            </a:r>
            <a:r>
              <a:rPr lang="zh-CN" altLang="en-US" dirty="0" smtClean="0"/>
              <a:t>的</a:t>
            </a:r>
            <a:r>
              <a:rPr lang="en-US" dirty="0" smtClean="0">
                <a:solidFill>
                  <a:srgbClr val="FF0000"/>
                </a:solidFill>
              </a:rPr>
              <a:t>Cause </a:t>
            </a:r>
            <a:r>
              <a:rPr lang="zh-CN" altLang="en-US" dirty="0"/>
              <a:t>寄存器中</a:t>
            </a:r>
            <a:endParaRPr lang="en-US" dirty="0"/>
          </a:p>
          <a:p>
            <a:pPr lvl="1"/>
            <a:r>
              <a:rPr lang="zh-CN" altLang="en-US" dirty="0" smtClean="0"/>
              <a:t>在一些简单的实现中</a:t>
            </a:r>
            <a:r>
              <a:rPr lang="en-US" dirty="0" smtClean="0"/>
              <a:t>, </a:t>
            </a:r>
            <a:r>
              <a:rPr lang="zh-CN" altLang="en-US" dirty="0" smtClean="0"/>
              <a:t>只使用</a:t>
            </a:r>
            <a:r>
              <a:rPr lang="en-US" dirty="0" smtClean="0"/>
              <a:t>1-bit </a:t>
            </a:r>
            <a:r>
              <a:rPr lang="zh-CN" altLang="en-US" dirty="0" smtClean="0"/>
              <a:t>信息表示异常原因</a:t>
            </a:r>
            <a:r>
              <a:rPr lang="en-US" dirty="0" smtClean="0"/>
              <a:t> </a:t>
            </a:r>
            <a:r>
              <a:rPr lang="en-US" dirty="0" smtClean="0"/>
              <a:t/>
            </a:r>
            <a:br>
              <a:rPr lang="en-US" dirty="0" smtClean="0"/>
            </a:br>
            <a:r>
              <a:rPr lang="zh-CN" altLang="en-US" dirty="0" smtClean="0"/>
              <a:t>例如，</a:t>
            </a:r>
            <a:r>
              <a:rPr lang="en-US" dirty="0" smtClean="0"/>
              <a:t>0 </a:t>
            </a:r>
            <a:r>
              <a:rPr lang="en-US" dirty="0"/>
              <a:t>for undefined opcode, 1 for </a:t>
            </a:r>
            <a:r>
              <a:rPr lang="en-US" dirty="0" smtClean="0"/>
              <a:t>overflow</a:t>
            </a:r>
            <a:endParaRPr lang="en-US" dirty="0"/>
          </a:p>
          <a:p>
            <a:r>
              <a:rPr lang="zh-CN" altLang="en-US" dirty="0" smtClean="0"/>
              <a:t>异常产生后，</a:t>
            </a:r>
            <a:r>
              <a:rPr lang="en-US" altLang="zh-CN" dirty="0" smtClean="0"/>
              <a:t>CPU</a:t>
            </a:r>
            <a:r>
              <a:rPr lang="zh-CN" altLang="en-US" dirty="0" smtClean="0"/>
              <a:t>控制转移到异常处理程序（</a:t>
            </a:r>
            <a:r>
              <a:rPr lang="en-US" altLang="zh-CN" i="1" dirty="0">
                <a:solidFill>
                  <a:srgbClr val="FF0000"/>
                </a:solidFill>
              </a:rPr>
              <a:t> </a:t>
            </a:r>
            <a:r>
              <a:rPr lang="en-US" altLang="zh-CN" dirty="0">
                <a:solidFill>
                  <a:srgbClr val="FF0000"/>
                </a:solidFill>
              </a:rPr>
              <a:t>exception handler </a:t>
            </a:r>
            <a:r>
              <a:rPr lang="zh-CN" altLang="en-US" dirty="0" smtClean="0"/>
              <a:t>）的首地址</a:t>
            </a:r>
            <a:endParaRPr lang="en-US" altLang="zh-CN" dirty="0" smtClean="0"/>
          </a:p>
          <a:p>
            <a:pPr lvl="1"/>
            <a:r>
              <a:rPr lang="en-US" dirty="0" smtClean="0"/>
              <a:t>0x8000 0180(</a:t>
            </a:r>
            <a:r>
              <a:rPr lang="en-US" altLang="zh-CN" dirty="0" smtClean="0"/>
              <a:t>cached </a:t>
            </a:r>
            <a:r>
              <a:rPr lang="zh-CN" altLang="en-US" dirty="0" smtClean="0"/>
              <a:t>模式，有</a:t>
            </a:r>
            <a:r>
              <a:rPr lang="en-US" altLang="zh-CN" dirty="0" smtClean="0"/>
              <a:t>OS</a:t>
            </a:r>
            <a:r>
              <a:rPr lang="zh-CN" altLang="en-US" dirty="0" smtClean="0"/>
              <a:t>），</a:t>
            </a:r>
            <a:r>
              <a:rPr lang="zh-CN" altLang="en-US" dirty="0" smtClean="0"/>
              <a:t>或者</a:t>
            </a:r>
            <a:r>
              <a:rPr lang="en-US" altLang="zh-CN" dirty="0" smtClean="0"/>
              <a:t>0xBFC00 0400</a:t>
            </a:r>
            <a:r>
              <a:rPr lang="zh-CN" altLang="en-US" dirty="0" smtClean="0"/>
              <a:t>（</a:t>
            </a:r>
            <a:r>
              <a:rPr lang="en-US" altLang="zh-CN" dirty="0" err="1" smtClean="0"/>
              <a:t>uncached</a:t>
            </a:r>
            <a:r>
              <a:rPr lang="zh-CN" altLang="en-US" dirty="0" smtClean="0"/>
              <a:t>模式，无</a:t>
            </a:r>
            <a:r>
              <a:rPr lang="en-US" altLang="zh-CN" dirty="0" smtClean="0"/>
              <a:t>OS)</a:t>
            </a:r>
            <a:endParaRPr lang="en-US" baseline="-25000" dirty="0"/>
          </a:p>
        </p:txBody>
      </p:sp>
      <p:sp>
        <p:nvSpPr>
          <p:cNvPr id="2" name="TextBox 1"/>
          <p:cNvSpPr txBox="1"/>
          <p:nvPr/>
        </p:nvSpPr>
        <p:spPr>
          <a:xfrm>
            <a:off x="1775397" y="4509120"/>
            <a:ext cx="8857230" cy="1791260"/>
          </a:xfrm>
          <a:prstGeom prst="rect">
            <a:avLst/>
          </a:prstGeom>
          <a:solidFill>
            <a:schemeClr val="accent1"/>
          </a:solidFill>
        </p:spPr>
        <p:txBody>
          <a:bodyPr wrap="square" rtlCol="0">
            <a:spAutoFit/>
          </a:bodyPr>
          <a:lstStyle/>
          <a:p>
            <a:pPr algn="l">
              <a:buNone/>
            </a:pPr>
            <a:r>
              <a:rPr lang="en-US" altLang="zh-CN" sz="2400" dirty="0"/>
              <a:t>Reset, NMI</a:t>
            </a:r>
            <a:r>
              <a:rPr lang="zh-CN" altLang="en-US" sz="2400" dirty="0"/>
              <a:t>： </a:t>
            </a:r>
            <a:r>
              <a:rPr lang="en-US" altLang="zh-CN" sz="2400" dirty="0"/>
              <a:t>0x8000 0000</a:t>
            </a:r>
          </a:p>
          <a:p>
            <a:pPr algn="l">
              <a:buNone/>
            </a:pPr>
            <a:r>
              <a:rPr lang="en-US" altLang="zh-CN" sz="2400" dirty="0"/>
              <a:t>TLB Refill</a:t>
            </a:r>
            <a:r>
              <a:rPr lang="zh-CN" altLang="en-US" sz="2400" dirty="0"/>
              <a:t>： </a:t>
            </a:r>
            <a:r>
              <a:rPr lang="en-US" altLang="zh-CN" sz="2400" dirty="0"/>
              <a:t>0x8000 0000</a:t>
            </a:r>
          </a:p>
          <a:p>
            <a:pPr algn="l">
              <a:buNone/>
            </a:pPr>
            <a:r>
              <a:rPr lang="en-US" altLang="zh-CN" sz="2400" dirty="0"/>
              <a:t>Cache Error: 0xA000 00100</a:t>
            </a:r>
          </a:p>
          <a:p>
            <a:pPr algn="l">
              <a:buNone/>
            </a:pPr>
            <a:r>
              <a:rPr lang="zh-CN" altLang="en-US" sz="2400" dirty="0"/>
              <a:t>其他的异常都指向：</a:t>
            </a:r>
            <a:r>
              <a:rPr lang="en-US" altLang="zh-CN" sz="2400" dirty="0"/>
              <a:t>0x8000 </a:t>
            </a:r>
            <a:r>
              <a:rPr lang="en-US" altLang="zh-CN" sz="2400" dirty="0" smtClean="0"/>
              <a:t>0180</a:t>
            </a:r>
            <a:endParaRPr lang="zh-CN" altLang="en-US" sz="2400"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smtClean="0">
                <a:sym typeface="+mn-ea"/>
              </a:rPr>
              <a:t>MIPS中断/异常--</a:t>
            </a:r>
            <a:r>
              <a:rPr lang="en-US" dirty="0">
                <a:solidFill>
                  <a:schemeClr val="accent1"/>
                </a:solidFill>
                <a:sym typeface="+mn-ea"/>
              </a:rPr>
              <a:t>Handling </a:t>
            </a:r>
            <a:r>
              <a:rPr lang="en-US" dirty="0" smtClean="0">
                <a:solidFill>
                  <a:schemeClr val="accent1"/>
                </a:solidFill>
                <a:sym typeface="+mn-ea"/>
              </a:rPr>
              <a:t>Exceptions (1/2)</a:t>
            </a:r>
            <a:endParaRPr lang="en-AU" dirty="0">
              <a:solidFill>
                <a:schemeClr val="accent1"/>
              </a:solidFill>
            </a:endParaRPr>
          </a:p>
        </p:txBody>
      </p:sp>
      <p:sp>
        <p:nvSpPr>
          <p:cNvPr id="3" name="矩形 2"/>
          <p:cNvSpPr/>
          <p:nvPr/>
        </p:nvSpPr>
        <p:spPr>
          <a:xfrm>
            <a:off x="2135560" y="6422840"/>
            <a:ext cx="7471917" cy="406265"/>
          </a:xfrm>
          <a:prstGeom prst="rect">
            <a:avLst/>
          </a:prstGeom>
        </p:spPr>
        <p:txBody>
          <a:bodyPr wrap="none">
            <a:spAutoFit/>
          </a:bodyPr>
          <a:lstStyle/>
          <a:p>
            <a:pPr>
              <a:buNone/>
            </a:pPr>
            <a:r>
              <a:rPr lang="zh-CN" altLang="en-US" sz="2400" dirty="0" smtClean="0">
                <a:latin typeface="黑体" panose="02010609060101010101" pitchFamily="49" charset="-122"/>
                <a:ea typeface="黑体" panose="02010609060101010101" pitchFamily="49" charset="-122"/>
              </a:rPr>
              <a:t>详细信息参加：</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See </a:t>
            </a:r>
            <a:r>
              <a:rPr lang="zh-CN" altLang="en-US" sz="2400" dirty="0">
                <a:latin typeface="黑体" panose="02010609060101010101" pitchFamily="49" charset="-122"/>
                <a:ea typeface="黑体" panose="02010609060101010101" pitchFamily="49" charset="-122"/>
              </a:rPr>
              <a:t>MIPS Run </a:t>
            </a:r>
            <a:r>
              <a:rPr lang="zh-CN" altLang="en-US" sz="2400" dirty="0" smtClean="0">
                <a:latin typeface="黑体" panose="02010609060101010101" pitchFamily="49" charset="-122"/>
                <a:ea typeface="黑体" panose="02010609060101010101" pitchFamily="49" charset="-122"/>
              </a:rPr>
              <a:t>Linux</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一书的</a:t>
            </a:r>
            <a:r>
              <a:rPr lang="en-US" altLang="zh-CN" sz="2400" dirty="0" smtClean="0">
                <a:latin typeface="黑体" panose="02010609060101010101" pitchFamily="49" charset="-122"/>
                <a:ea typeface="黑体" panose="02010609060101010101" pitchFamily="49" charset="-122"/>
              </a:rPr>
              <a:t>5.3</a:t>
            </a:r>
            <a:r>
              <a:rPr lang="zh-CN" altLang="en-US" sz="2400" dirty="0" smtClean="0">
                <a:latin typeface="黑体" panose="02010609060101010101" pitchFamily="49" charset="-122"/>
                <a:ea typeface="黑体" panose="02010609060101010101" pitchFamily="49" charset="-122"/>
              </a:rPr>
              <a:t>节</a:t>
            </a:r>
            <a:endParaRPr lang="zh-CN" altLang="en-US" sz="24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376" y="908720"/>
            <a:ext cx="11089232" cy="2244204"/>
          </a:xfrm>
        </p:spPr>
        <p:txBody>
          <a:bodyPr/>
          <a:lstStyle/>
          <a:p>
            <a:r>
              <a:rPr lang="zh-CN" altLang="en-US" sz="2400" dirty="0" smtClean="0"/>
              <a:t>对于有些异常需要操作系统来处理</a:t>
            </a:r>
            <a:endParaRPr lang="en-US" altLang="zh-CN" sz="2400" dirty="0" smtClean="0"/>
          </a:p>
          <a:p>
            <a:pPr lvl="1"/>
            <a:r>
              <a:rPr lang="en-US" sz="2400" dirty="0" smtClean="0"/>
              <a:t>Can kill program (</a:t>
            </a:r>
            <a:r>
              <a:rPr lang="en-US" sz="2400" dirty="0" smtClean="0"/>
              <a:t>e.g. </a:t>
            </a:r>
            <a:r>
              <a:rPr lang="en-US" sz="2400" dirty="0" err="1" smtClean="0"/>
              <a:t>segfault</a:t>
            </a:r>
            <a:r>
              <a:rPr lang="en-US" sz="2400" dirty="0" smtClean="0"/>
              <a:t>)</a:t>
            </a:r>
          </a:p>
          <a:p>
            <a:pPr lvl="1"/>
            <a:r>
              <a:rPr lang="en-US" sz="2400" dirty="0" smtClean="0"/>
              <a:t>For I/O device request or </a:t>
            </a:r>
            <a:r>
              <a:rPr lang="en-US" sz="2400" dirty="0" err="1" smtClean="0"/>
              <a:t>syscall</a:t>
            </a:r>
            <a:r>
              <a:rPr lang="en-US" sz="2400" dirty="0" smtClean="0"/>
              <a:t>, often switch to another process in meantime</a:t>
            </a:r>
          </a:p>
          <a:p>
            <a:pPr lvl="2"/>
            <a:r>
              <a:rPr lang="en-US" sz="2000" dirty="0" smtClean="0"/>
              <a:t>This is what happens on a TLB misses and page faults</a:t>
            </a:r>
            <a:endParaRPr lang="en-US" sz="2000"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smtClean="0">
                <a:sym typeface="+mn-ea"/>
              </a:rPr>
              <a:t>MIPS中断/异常</a:t>
            </a:r>
            <a:r>
              <a:rPr lang="en-US" dirty="0" smtClean="0">
                <a:solidFill>
                  <a:schemeClr val="accent1"/>
                </a:solidFill>
                <a:sym typeface="+mn-ea"/>
              </a:rPr>
              <a:t>--Handling Exceptions (2/2)</a:t>
            </a:r>
            <a:endParaRPr lang="en-AU" dirty="0">
              <a:solidFill>
                <a:schemeClr val="accent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7" name="Rectangle 3"/>
          <p:cNvSpPr>
            <a:spLocks noGrp="1" noChangeArrowheads="1"/>
          </p:cNvSpPr>
          <p:nvPr>
            <p:ph idx="1"/>
          </p:nvPr>
        </p:nvSpPr>
        <p:spPr>
          <a:xfrm>
            <a:off x="479376" y="836712"/>
            <a:ext cx="11881320" cy="3590727"/>
          </a:xfrm>
        </p:spPr>
        <p:txBody>
          <a:bodyPr/>
          <a:lstStyle/>
          <a:p>
            <a:r>
              <a:rPr lang="zh-CN" altLang="en-US" sz="2400" dirty="0" smtClean="0"/>
              <a:t>可重启异常</a:t>
            </a:r>
            <a:endParaRPr lang="en-US" sz="2400" dirty="0"/>
          </a:p>
          <a:p>
            <a:pPr lvl="1"/>
            <a:r>
              <a:rPr lang="en-US" sz="2400" dirty="0"/>
              <a:t>Pipeline can flush the instruction</a:t>
            </a:r>
          </a:p>
          <a:p>
            <a:pPr lvl="1"/>
            <a:r>
              <a:rPr lang="zh-CN" altLang="en-US" sz="2400" dirty="0" smtClean="0"/>
              <a:t>异常处理程序（</a:t>
            </a:r>
            <a:r>
              <a:rPr lang="en-US" sz="2400" dirty="0" smtClean="0"/>
              <a:t>Handler</a:t>
            </a:r>
            <a:r>
              <a:rPr lang="zh-CN" altLang="en-US" sz="2400" dirty="0" smtClean="0"/>
              <a:t>）执行完成后</a:t>
            </a:r>
            <a:r>
              <a:rPr lang="en-US" sz="2400" dirty="0" smtClean="0"/>
              <a:t>, </a:t>
            </a:r>
            <a:r>
              <a:rPr lang="zh-CN" altLang="en-US" sz="2400" dirty="0" smtClean="0"/>
              <a:t>再重新返回到该指令执行</a:t>
            </a:r>
            <a:endParaRPr lang="en-US" sz="2400" dirty="0"/>
          </a:p>
          <a:p>
            <a:pPr lvl="2"/>
            <a:r>
              <a:rPr lang="en-US" sz="2000" dirty="0" smtClean="0"/>
              <a:t>Re-fetched </a:t>
            </a:r>
            <a:r>
              <a:rPr lang="en-US" sz="2000" dirty="0"/>
              <a:t>and executed from scratch</a:t>
            </a:r>
          </a:p>
          <a:p>
            <a:r>
              <a:rPr lang="en-US" sz="2400" dirty="0" smtClean="0">
                <a:solidFill>
                  <a:srgbClr val="FF0000"/>
                </a:solidFill>
              </a:rPr>
              <a:t>PC+4 </a:t>
            </a:r>
            <a:r>
              <a:rPr lang="zh-CN" altLang="en-US" sz="2400" dirty="0" smtClean="0">
                <a:solidFill>
                  <a:srgbClr val="FF0000"/>
                </a:solidFill>
              </a:rPr>
              <a:t>保存在</a:t>
            </a:r>
            <a:r>
              <a:rPr lang="en-US" sz="2400" dirty="0" smtClean="0">
                <a:solidFill>
                  <a:srgbClr val="FF0000"/>
                </a:solidFill>
              </a:rPr>
              <a:t> </a:t>
            </a:r>
            <a:r>
              <a:rPr lang="en-US" sz="2400" dirty="0">
                <a:solidFill>
                  <a:srgbClr val="FF0000"/>
                </a:solidFill>
              </a:rPr>
              <a:t>EPC </a:t>
            </a:r>
            <a:r>
              <a:rPr lang="zh-CN" altLang="en-US" sz="2400" dirty="0" smtClean="0">
                <a:solidFill>
                  <a:srgbClr val="FF0000"/>
                </a:solidFill>
              </a:rPr>
              <a:t>寄存器</a:t>
            </a:r>
            <a:endParaRPr lang="en-US" sz="2400" dirty="0">
              <a:solidFill>
                <a:srgbClr val="FF0000"/>
              </a:solidFill>
            </a:endParaRPr>
          </a:p>
          <a:p>
            <a:pPr lvl="1"/>
            <a:r>
              <a:rPr lang="zh-CN" altLang="en-US" sz="2400" dirty="0" smtClean="0"/>
              <a:t>指名了产生异常的指令</a:t>
            </a:r>
            <a:endParaRPr lang="en-US" altLang="zh-CN" sz="2400" dirty="0" smtClean="0"/>
          </a:p>
          <a:p>
            <a:pPr lvl="1"/>
            <a:r>
              <a:rPr lang="en-US" altLang="zh-CN" sz="2400" dirty="0" smtClean="0"/>
              <a:t>PC+4</a:t>
            </a:r>
            <a:r>
              <a:rPr lang="zh-CN" altLang="en-US" sz="2400" dirty="0" smtClean="0"/>
              <a:t>是在异常产生时流水线上唯一可以获取的数据</a:t>
            </a:r>
            <a:endParaRPr lang="en-US" sz="2400" dirty="0" smtClean="0"/>
          </a:p>
          <a:p>
            <a:pPr lvl="2"/>
            <a:r>
              <a:rPr lang="zh-CN" altLang="en-US" sz="2000" dirty="0" smtClean="0"/>
              <a:t>异常处理程序必须计算正确的异常返回地址</a:t>
            </a:r>
            <a:endParaRPr lang="en-AU" sz="2000" dirty="0"/>
          </a:p>
        </p:txBody>
      </p:sp>
      <p:sp>
        <p:nvSpPr>
          <p:cNvPr id="452610" name="Rectangle 2"/>
          <p:cNvSpPr>
            <a:spLocks noGrp="1" noChangeArrowheads="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smtClean="0">
                <a:sym typeface="+mn-ea"/>
              </a:rPr>
              <a:t>MIPS中断/异常--</a:t>
            </a:r>
            <a:r>
              <a:rPr lang="en-US" dirty="0" smtClean="0">
                <a:solidFill>
                  <a:schemeClr val="accent1"/>
                </a:solidFill>
                <a:sym typeface="+mn-ea"/>
              </a:rPr>
              <a:t>Exception Properties</a:t>
            </a:r>
            <a:endParaRPr lang="en-US" dirty="0">
              <a:solidFill>
                <a:schemeClr val="accent1"/>
              </a:solidFill>
            </a:endParaRPr>
          </a:p>
          <a:p>
            <a:pPr indent="0">
              <a:buNone/>
            </a:pPr>
            <a:endParaRPr lang="en-AU" dirty="0">
              <a:solidFill>
                <a:schemeClr val="accent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p:cNvSpPr>
            <a:spLocks noGrp="1" noChangeArrowheads="1"/>
          </p:cNvSpPr>
          <p:nvPr>
            <p:ph idx="1"/>
          </p:nvPr>
        </p:nvSpPr>
        <p:spPr>
          <a:xfrm>
            <a:off x="479376" y="908720"/>
            <a:ext cx="10585176" cy="4760278"/>
          </a:xfrm>
        </p:spPr>
        <p:txBody>
          <a:bodyPr/>
          <a:lstStyle/>
          <a:p>
            <a:pPr>
              <a:lnSpc>
                <a:spcPct val="150000"/>
              </a:lnSpc>
            </a:pPr>
            <a:r>
              <a:rPr lang="zh-CN" altLang="en-US" dirty="0" smtClean="0"/>
              <a:t>读</a:t>
            </a:r>
            <a:r>
              <a:rPr lang="en-US" altLang="zh-CN" dirty="0" smtClean="0"/>
              <a:t>Cause</a:t>
            </a:r>
            <a:r>
              <a:rPr lang="zh-CN" altLang="en-US" dirty="0" smtClean="0"/>
              <a:t>寄存器，转移到对应的异常处理程序</a:t>
            </a:r>
            <a:endParaRPr lang="en-US" dirty="0" smtClean="0"/>
          </a:p>
          <a:p>
            <a:pPr>
              <a:lnSpc>
                <a:spcPct val="150000"/>
              </a:lnSpc>
            </a:pPr>
            <a:r>
              <a:rPr lang="zh-CN" altLang="en-US" dirty="0" smtClean="0"/>
              <a:t>对于来源于</a:t>
            </a:r>
            <a:r>
              <a:rPr lang="en-US" altLang="zh-CN" dirty="0" smtClean="0"/>
              <a:t>CPU</a:t>
            </a:r>
            <a:r>
              <a:rPr lang="zh-CN" altLang="en-US" dirty="0" smtClean="0"/>
              <a:t>内部的“异常”，操作系统决定处理的过程</a:t>
            </a:r>
            <a:endParaRPr lang="en-US" dirty="0" smtClean="0"/>
          </a:p>
          <a:p>
            <a:pPr lvl="1">
              <a:lnSpc>
                <a:spcPct val="150000"/>
              </a:lnSpc>
            </a:pPr>
            <a:r>
              <a:rPr lang="zh-CN" altLang="en-US" dirty="0" smtClean="0"/>
              <a:t>系统调用</a:t>
            </a:r>
            <a:r>
              <a:rPr lang="en-US" altLang="zh-CN" dirty="0" err="1" smtClean="0"/>
              <a:t>Syscall</a:t>
            </a:r>
            <a:r>
              <a:rPr lang="zh-CN" altLang="en-US" dirty="0" smtClean="0"/>
              <a:t>，执行相应的功能后返回用户程序</a:t>
            </a:r>
            <a:endParaRPr lang="en-US" altLang="zh-CN" dirty="0" smtClean="0"/>
          </a:p>
          <a:p>
            <a:pPr lvl="1">
              <a:lnSpc>
                <a:spcPct val="150000"/>
              </a:lnSpc>
            </a:pPr>
            <a:r>
              <a:rPr lang="zh-CN" altLang="en-US" dirty="0" smtClean="0"/>
              <a:t>如果是可重启的异常，在</a:t>
            </a:r>
            <a:r>
              <a:rPr lang="en-US" altLang="zh-CN" dirty="0" smtClean="0"/>
              <a:t>Handler</a:t>
            </a:r>
            <a:r>
              <a:rPr lang="zh-CN" altLang="en-US" dirty="0" smtClean="0"/>
              <a:t>中处理错误，然后再返回到引起异常的指令从头执行</a:t>
            </a:r>
            <a:endParaRPr lang="en-US" altLang="zh-CN" dirty="0" smtClean="0"/>
          </a:p>
          <a:p>
            <a:pPr lvl="2">
              <a:lnSpc>
                <a:spcPct val="150000"/>
              </a:lnSpc>
            </a:pPr>
            <a:r>
              <a:rPr lang="zh-CN" altLang="en-US" dirty="0" smtClean="0"/>
              <a:t>读取数据 </a:t>
            </a:r>
            <a:r>
              <a:rPr lang="en-US" altLang="zh-CN" dirty="0" err="1" smtClean="0"/>
              <a:t>lw</a:t>
            </a:r>
            <a:r>
              <a:rPr lang="zh-CN" altLang="en-US" dirty="0" smtClean="0"/>
              <a:t>，程序溢出</a:t>
            </a:r>
            <a:endParaRPr lang="en-US" dirty="0" smtClean="0"/>
          </a:p>
          <a:p>
            <a:pPr lvl="1">
              <a:lnSpc>
                <a:spcPct val="150000"/>
              </a:lnSpc>
            </a:pPr>
            <a:r>
              <a:rPr lang="zh-CN" altLang="en-US" dirty="0" smtClean="0"/>
              <a:t>有些时候，需要中断程序的执行，同时使用</a:t>
            </a:r>
            <a:r>
              <a:rPr lang="en-US" altLang="zh-CN" dirty="0" smtClean="0"/>
              <a:t>EPC</a:t>
            </a:r>
            <a:r>
              <a:rPr lang="zh-CN" altLang="en-US" dirty="0" smtClean="0"/>
              <a:t>，</a:t>
            </a:r>
            <a:r>
              <a:rPr lang="en-US" altLang="zh-CN" dirty="0" smtClean="0"/>
              <a:t>Cause</a:t>
            </a:r>
            <a:r>
              <a:rPr lang="zh-CN" altLang="en-US" dirty="0" smtClean="0"/>
              <a:t>等寄存器报告出错原因</a:t>
            </a:r>
            <a:endParaRPr lang="en-US" altLang="zh-CN" dirty="0"/>
          </a:p>
          <a:p>
            <a:pPr lvl="2">
              <a:lnSpc>
                <a:spcPct val="150000"/>
              </a:lnSpc>
            </a:pPr>
            <a:r>
              <a:rPr lang="zh-CN" altLang="en-US" dirty="0" smtClean="0"/>
              <a:t>例如，</a:t>
            </a:r>
            <a:r>
              <a:rPr lang="en-US" dirty="0" err="1" smtClean="0"/>
              <a:t>segfault</a:t>
            </a:r>
            <a:endParaRPr lang="en-US" dirty="0" smtClean="0"/>
          </a:p>
          <a:p>
            <a:pPr>
              <a:lnSpc>
                <a:spcPct val="150000"/>
              </a:lnSpc>
            </a:pPr>
            <a:r>
              <a:rPr lang="zh-CN" altLang="en-US" dirty="0" smtClean="0"/>
              <a:t>对于外部中断</a:t>
            </a:r>
            <a:endParaRPr lang="en-US" altLang="zh-CN" dirty="0" smtClean="0"/>
          </a:p>
          <a:p>
            <a:pPr lvl="1">
              <a:lnSpc>
                <a:spcPct val="150000"/>
              </a:lnSpc>
            </a:pPr>
            <a:r>
              <a:rPr lang="zh-CN" altLang="en-US" dirty="0" smtClean="0"/>
              <a:t>转移到相应的中断向量完成</a:t>
            </a:r>
            <a:r>
              <a:rPr lang="en-US" altLang="zh-CN" dirty="0" smtClean="0"/>
              <a:t>I/O</a:t>
            </a:r>
            <a:r>
              <a:rPr lang="zh-CN" altLang="en-US" dirty="0" smtClean="0"/>
              <a:t>处理任务</a:t>
            </a:r>
            <a:endParaRPr lang="en-US" dirty="0" smtClean="0"/>
          </a:p>
          <a:p>
            <a:pPr marL="474980" lvl="1" indent="0">
              <a:lnSpc>
                <a:spcPct val="150000"/>
              </a:lnSpc>
              <a:buNone/>
            </a:pPr>
            <a:endParaRPr lang="en-AU"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smtClean="0">
                <a:sym typeface="+mn-ea"/>
              </a:rPr>
              <a:t>MIPS中断/</a:t>
            </a:r>
            <a:r>
              <a:rPr lang="en-US" altLang="zh-CN" dirty="0" err="1" smtClean="0">
                <a:sym typeface="+mn-ea"/>
              </a:rPr>
              <a:t>异常</a:t>
            </a:r>
            <a:r>
              <a:rPr lang="en-US" altLang="zh-CN" dirty="0" smtClean="0">
                <a:sym typeface="+mn-ea"/>
              </a:rPr>
              <a:t>—</a:t>
            </a:r>
            <a:r>
              <a:rPr lang="zh-CN" altLang="en-US" dirty="0" smtClean="0">
                <a:sym typeface="+mn-ea"/>
              </a:rPr>
              <a:t>异常处理程序</a:t>
            </a:r>
            <a:r>
              <a:rPr lang="en-US" dirty="0" smtClean="0">
                <a:solidFill>
                  <a:schemeClr val="accent1"/>
                </a:solidFill>
                <a:sym typeface="+mn-ea"/>
              </a:rPr>
              <a:t>Handler</a:t>
            </a:r>
            <a:endParaRPr lang="en-AU" dirty="0">
              <a:solidFill>
                <a:schemeClr val="accent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0243" name="Rectangle 3"/>
          <p:cNvSpPr>
            <a:spLocks noGrp="1" noChangeArrowheads="1"/>
          </p:cNvSpPr>
          <p:nvPr>
            <p:ph idx="1"/>
          </p:nvPr>
        </p:nvSpPr>
        <p:spPr>
          <a:xfrm>
            <a:off x="407368" y="875028"/>
            <a:ext cx="11089232" cy="5257801"/>
          </a:xfrm>
        </p:spPr>
        <p:txBody>
          <a:bodyPr>
            <a:normAutofit/>
          </a:bodyPr>
          <a:lstStyle/>
          <a:p>
            <a:pPr algn="just">
              <a:lnSpc>
                <a:spcPct val="150000"/>
              </a:lnSpc>
            </a:pPr>
            <a:r>
              <a:rPr lang="en-US" dirty="0" smtClean="0"/>
              <a:t>I/O </a:t>
            </a:r>
            <a:r>
              <a:rPr lang="zh-CN" altLang="en-US" dirty="0" smtClean="0"/>
              <a:t>中断很类似异常，除了：</a:t>
            </a:r>
            <a:endParaRPr lang="en-US" dirty="0" smtClean="0"/>
          </a:p>
          <a:p>
            <a:pPr lvl="1" algn="just">
              <a:lnSpc>
                <a:spcPct val="150000"/>
              </a:lnSpc>
            </a:pPr>
            <a:r>
              <a:rPr lang="en-US" dirty="0" smtClean="0"/>
              <a:t>I/O </a:t>
            </a:r>
            <a:r>
              <a:rPr lang="zh-CN" altLang="en-US" dirty="0" smtClean="0"/>
              <a:t>中断是异步的</a:t>
            </a:r>
            <a:r>
              <a:rPr lang="en-US" dirty="0" smtClean="0"/>
              <a:t>“asynchronous”</a:t>
            </a:r>
          </a:p>
          <a:p>
            <a:pPr lvl="1" algn="just">
              <a:lnSpc>
                <a:spcPct val="150000"/>
              </a:lnSpc>
            </a:pPr>
            <a:r>
              <a:rPr lang="zh-CN" altLang="en-US" dirty="0" smtClean="0"/>
              <a:t>而异常是同步的</a:t>
            </a:r>
            <a:endParaRPr lang="en-US" dirty="0" smtClean="0"/>
          </a:p>
          <a:p>
            <a:pPr algn="just">
              <a:lnSpc>
                <a:spcPct val="150000"/>
              </a:lnSpc>
            </a:pPr>
            <a:r>
              <a:rPr lang="en-US" dirty="0" smtClean="0"/>
              <a:t>“</a:t>
            </a:r>
            <a:r>
              <a:rPr lang="en-US" dirty="0" smtClean="0"/>
              <a:t>Asynchronous” with respect to instruction execution:</a:t>
            </a:r>
          </a:p>
          <a:p>
            <a:pPr lvl="1" algn="just">
              <a:lnSpc>
                <a:spcPct val="150000"/>
              </a:lnSpc>
            </a:pPr>
            <a:r>
              <a:rPr lang="en-US" dirty="0" smtClean="0"/>
              <a:t>I/O interrupt is not associated with any instruction, but it can happen in the middle of any given instruction</a:t>
            </a:r>
          </a:p>
          <a:p>
            <a:pPr lvl="1" algn="just">
              <a:lnSpc>
                <a:spcPct val="150000"/>
              </a:lnSpc>
            </a:pPr>
            <a:r>
              <a:rPr lang="en-US" i="1" dirty="0" smtClean="0"/>
              <a:t>I/O interrupt does not prevent any instruction from running to </a:t>
            </a:r>
            <a:r>
              <a:rPr lang="en-US" i="1" dirty="0" smtClean="0"/>
              <a:t>completion</a:t>
            </a:r>
          </a:p>
          <a:p>
            <a:pPr algn="just">
              <a:lnSpc>
                <a:spcPct val="150000"/>
              </a:lnSpc>
            </a:pPr>
            <a:r>
              <a:rPr lang="zh-CN" altLang="en-US" dirty="0" smtClean="0"/>
              <a:t>在中断时需要更多的信息</a:t>
            </a:r>
            <a:endParaRPr lang="en-US" altLang="zh-CN" dirty="0" smtClean="0"/>
          </a:p>
          <a:p>
            <a:pPr lvl="1" algn="just">
              <a:lnSpc>
                <a:spcPct val="150000"/>
              </a:lnSpc>
            </a:pPr>
            <a:r>
              <a:rPr lang="zh-CN" altLang="en-US" dirty="0" smtClean="0"/>
              <a:t>中断控制器必须让</a:t>
            </a:r>
            <a:r>
              <a:rPr lang="en-US" altLang="zh-CN" dirty="0" smtClean="0"/>
              <a:t>OS</a:t>
            </a:r>
            <a:r>
              <a:rPr lang="zh-CN" altLang="en-US" dirty="0" smtClean="0"/>
              <a:t>知道哪个</a:t>
            </a:r>
            <a:r>
              <a:rPr lang="en-US" altLang="zh-CN" dirty="0" smtClean="0"/>
              <a:t>I/O</a:t>
            </a:r>
            <a:r>
              <a:rPr lang="zh-CN" altLang="en-US" dirty="0" smtClean="0"/>
              <a:t>设备产生的中断，</a:t>
            </a:r>
            <a:endParaRPr lang="en-US" altLang="zh-CN" dirty="0" smtClean="0"/>
          </a:p>
          <a:p>
            <a:pPr lvl="1" algn="just">
              <a:lnSpc>
                <a:spcPct val="150000"/>
              </a:lnSpc>
            </a:pPr>
            <a:r>
              <a:rPr lang="zh-CN" altLang="en-US" dirty="0" smtClean="0"/>
              <a:t>中断需要优先级处理</a:t>
            </a:r>
            <a:endParaRPr lang="en-US" i="1"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smtClean="0">
                <a:sym typeface="+mn-ea"/>
              </a:rPr>
              <a:t>MIPS中断/异常</a:t>
            </a:r>
            <a:r>
              <a:rPr lang="en-US" dirty="0" smtClean="0">
                <a:solidFill>
                  <a:schemeClr val="accent1"/>
                </a:solidFill>
                <a:sym typeface="+mn-ea"/>
              </a:rPr>
              <a:t>--I/O Interrupt</a:t>
            </a:r>
            <a:endParaRPr lang="en-AU" dirty="0">
              <a:solidFill>
                <a:schemeClr val="accent1"/>
              </a:solidFill>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3619500" y="1803402"/>
            <a:ext cx="2006600" cy="784226"/>
            <a:chOff x="1320" y="1136"/>
            <a:chExt cx="1264" cy="494"/>
          </a:xfrm>
        </p:grpSpPr>
        <p:sp>
          <p:nvSpPr>
            <p:cNvPr id="3214340" name="Line 4"/>
            <p:cNvSpPr>
              <a:spLocks noChangeShapeType="1"/>
            </p:cNvSpPr>
            <p:nvPr/>
          </p:nvSpPr>
          <p:spPr bwMode="auto">
            <a:xfrm>
              <a:off x="1976" y="1584"/>
              <a:ext cx="608" cy="0"/>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41" name="Rectangle 5"/>
            <p:cNvSpPr>
              <a:spLocks noChangeArrowheads="1"/>
            </p:cNvSpPr>
            <p:nvPr/>
          </p:nvSpPr>
          <p:spPr bwMode="auto">
            <a:xfrm>
              <a:off x="1320" y="1136"/>
              <a:ext cx="1099" cy="494"/>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(1) I/O</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interrupt</a:t>
              </a:r>
            </a:p>
          </p:txBody>
        </p:sp>
      </p:grpSp>
      <p:grpSp>
        <p:nvGrpSpPr>
          <p:cNvPr id="3" name="Group 6"/>
          <p:cNvGrpSpPr/>
          <p:nvPr/>
        </p:nvGrpSpPr>
        <p:grpSpPr bwMode="auto">
          <a:xfrm>
            <a:off x="3009900" y="2527302"/>
            <a:ext cx="2628900" cy="836613"/>
            <a:chOff x="936" y="1592"/>
            <a:chExt cx="1656" cy="527"/>
          </a:xfrm>
        </p:grpSpPr>
        <p:sp>
          <p:nvSpPr>
            <p:cNvPr id="3214343" name="Line 7"/>
            <p:cNvSpPr>
              <a:spLocks noChangeShapeType="1"/>
            </p:cNvSpPr>
            <p:nvPr/>
          </p:nvSpPr>
          <p:spPr bwMode="auto">
            <a:xfrm flipH="1">
              <a:off x="1816" y="1592"/>
              <a:ext cx="776" cy="264"/>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44" name="Rectangle 8"/>
            <p:cNvSpPr>
              <a:spLocks noChangeArrowheads="1"/>
            </p:cNvSpPr>
            <p:nvPr/>
          </p:nvSpPr>
          <p:spPr bwMode="auto">
            <a:xfrm>
              <a:off x="936" y="1856"/>
              <a:ext cx="1325" cy="263"/>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dirty="0">
                  <a:ln>
                    <a:solidFill>
                      <a:srgbClr val="FF0000"/>
                    </a:solidFill>
                  </a:ln>
                  <a:solidFill>
                    <a:prstClr val="black"/>
                  </a:solidFill>
                  <a:latin typeface="18 VAG Rounded Light   02390"/>
                  <a:ea typeface="+mn-ea"/>
                </a:rPr>
                <a:t>(2) save PC</a:t>
              </a:r>
            </a:p>
          </p:txBody>
        </p:sp>
      </p:grpSp>
      <p:sp>
        <p:nvSpPr>
          <p:cNvPr id="3214345" name="Rectangle 9"/>
          <p:cNvSpPr>
            <a:spLocks noChangeArrowheads="1"/>
          </p:cNvSpPr>
          <p:nvPr/>
        </p:nvSpPr>
        <p:spPr bwMode="auto">
          <a:xfrm>
            <a:off x="5562600" y="1143000"/>
            <a:ext cx="1215076" cy="417550"/>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dirty="0">
                <a:solidFill>
                  <a:prstClr val="black"/>
                </a:solidFill>
                <a:latin typeface="18 VAG Rounded Light   02390"/>
                <a:ea typeface="+mn-ea"/>
              </a:rPr>
              <a:t>Memory</a:t>
            </a:r>
          </a:p>
        </p:txBody>
      </p:sp>
      <p:grpSp>
        <p:nvGrpSpPr>
          <p:cNvPr id="4" name="Group 10"/>
          <p:cNvGrpSpPr/>
          <p:nvPr/>
        </p:nvGrpSpPr>
        <p:grpSpPr bwMode="auto">
          <a:xfrm>
            <a:off x="5403850" y="2819400"/>
            <a:ext cx="215900" cy="234950"/>
            <a:chOff x="2444" y="1776"/>
            <a:chExt cx="136" cy="148"/>
          </a:xfrm>
        </p:grpSpPr>
        <p:sp>
          <p:nvSpPr>
            <p:cNvPr id="3214347" name="Line 11"/>
            <p:cNvSpPr>
              <a:spLocks noChangeShapeType="1"/>
            </p:cNvSpPr>
            <p:nvPr/>
          </p:nvSpPr>
          <p:spPr bwMode="auto">
            <a:xfrm flipH="1">
              <a:off x="2448" y="1776"/>
              <a:ext cx="128" cy="6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48" name="Line 12"/>
            <p:cNvSpPr>
              <a:spLocks noChangeShapeType="1"/>
            </p:cNvSpPr>
            <p:nvPr/>
          </p:nvSpPr>
          <p:spPr bwMode="auto">
            <a:xfrm>
              <a:off x="2444" y="1868"/>
              <a:ext cx="136" cy="56"/>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grpSp>
        <p:nvGrpSpPr>
          <p:cNvPr id="5" name="Group 13"/>
          <p:cNvGrpSpPr/>
          <p:nvPr/>
        </p:nvGrpSpPr>
        <p:grpSpPr bwMode="auto">
          <a:xfrm>
            <a:off x="5334000" y="1695450"/>
            <a:ext cx="3802063" cy="4781550"/>
            <a:chOff x="2400" y="1068"/>
            <a:chExt cx="2395" cy="3012"/>
          </a:xfrm>
        </p:grpSpPr>
        <p:grpSp>
          <p:nvGrpSpPr>
            <p:cNvPr id="6" name="Group 14"/>
            <p:cNvGrpSpPr/>
            <p:nvPr/>
          </p:nvGrpSpPr>
          <p:grpSpPr bwMode="auto">
            <a:xfrm>
              <a:off x="2400" y="1068"/>
              <a:ext cx="2000" cy="3012"/>
              <a:chOff x="2400" y="1068"/>
              <a:chExt cx="2000" cy="3012"/>
            </a:xfrm>
          </p:grpSpPr>
          <p:sp>
            <p:nvSpPr>
              <p:cNvPr id="3214351" name="Line 15"/>
              <p:cNvSpPr>
                <a:spLocks noChangeShapeType="1"/>
              </p:cNvSpPr>
              <p:nvPr/>
            </p:nvSpPr>
            <p:spPr bwMode="auto">
              <a:xfrm>
                <a:off x="2584" y="1080"/>
                <a:ext cx="0" cy="300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2" name="Line 16"/>
              <p:cNvSpPr>
                <a:spLocks noChangeShapeType="1"/>
              </p:cNvSpPr>
              <p:nvPr/>
            </p:nvSpPr>
            <p:spPr bwMode="auto">
              <a:xfrm>
                <a:off x="3360" y="1088"/>
                <a:ext cx="0" cy="294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3" name="Line 17"/>
              <p:cNvSpPr>
                <a:spLocks noChangeShapeType="1"/>
              </p:cNvSpPr>
              <p:nvPr/>
            </p:nvSpPr>
            <p:spPr bwMode="auto">
              <a:xfrm>
                <a:off x="2428" y="1068"/>
                <a:ext cx="152" cy="120"/>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4" name="Line 18"/>
              <p:cNvSpPr>
                <a:spLocks noChangeShapeType="1"/>
              </p:cNvSpPr>
              <p:nvPr/>
            </p:nvSpPr>
            <p:spPr bwMode="auto">
              <a:xfrm flipH="1">
                <a:off x="2400" y="1296"/>
                <a:ext cx="144" cy="6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5" name="Line 19"/>
              <p:cNvSpPr>
                <a:spLocks noChangeShapeType="1"/>
              </p:cNvSpPr>
              <p:nvPr/>
            </p:nvSpPr>
            <p:spPr bwMode="auto">
              <a:xfrm>
                <a:off x="2404" y="1368"/>
                <a:ext cx="136" cy="48"/>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6" name="Rectangle 20"/>
              <p:cNvSpPr>
                <a:spLocks noChangeArrowheads="1"/>
              </p:cNvSpPr>
              <p:nvPr/>
            </p:nvSpPr>
            <p:spPr bwMode="auto">
              <a:xfrm>
                <a:off x="2736" y="1104"/>
                <a:ext cx="420" cy="955"/>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add</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sub</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and</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or</a:t>
                </a:r>
              </a:p>
            </p:txBody>
          </p:sp>
          <p:sp>
            <p:nvSpPr>
              <p:cNvPr id="3214357" name="Rectangle 21"/>
              <p:cNvSpPr>
                <a:spLocks noChangeArrowheads="1"/>
              </p:cNvSpPr>
              <p:nvPr/>
            </p:nvSpPr>
            <p:spPr bwMode="auto">
              <a:xfrm>
                <a:off x="3528" y="1376"/>
                <a:ext cx="872" cy="494"/>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user</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program</a:t>
                </a:r>
              </a:p>
            </p:txBody>
          </p:sp>
          <p:sp>
            <p:nvSpPr>
              <p:cNvPr id="3214358" name="Line 22"/>
              <p:cNvSpPr>
                <a:spLocks noChangeShapeType="1"/>
              </p:cNvSpPr>
              <p:nvPr/>
            </p:nvSpPr>
            <p:spPr bwMode="auto">
              <a:xfrm>
                <a:off x="2592" y="1344"/>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9" name="Line 23"/>
              <p:cNvSpPr>
                <a:spLocks noChangeShapeType="1"/>
              </p:cNvSpPr>
              <p:nvPr/>
            </p:nvSpPr>
            <p:spPr bwMode="auto">
              <a:xfrm>
                <a:off x="2600" y="1120"/>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0" name="Line 24"/>
              <p:cNvSpPr>
                <a:spLocks noChangeShapeType="1"/>
              </p:cNvSpPr>
              <p:nvPr/>
            </p:nvSpPr>
            <p:spPr bwMode="auto">
              <a:xfrm>
                <a:off x="2592" y="1584"/>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1" name="Line 25"/>
              <p:cNvSpPr>
                <a:spLocks noChangeShapeType="1"/>
              </p:cNvSpPr>
              <p:nvPr/>
            </p:nvSpPr>
            <p:spPr bwMode="auto">
              <a:xfrm>
                <a:off x="2592" y="2064"/>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2" name="Line 26"/>
              <p:cNvSpPr>
                <a:spLocks noChangeShapeType="1"/>
              </p:cNvSpPr>
              <p:nvPr/>
            </p:nvSpPr>
            <p:spPr bwMode="auto">
              <a:xfrm>
                <a:off x="2576" y="1848"/>
                <a:ext cx="776"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3" name="Line 27"/>
              <p:cNvSpPr>
                <a:spLocks noChangeShapeType="1"/>
              </p:cNvSpPr>
              <p:nvPr/>
            </p:nvSpPr>
            <p:spPr bwMode="auto">
              <a:xfrm>
                <a:off x="3380" y="1124"/>
                <a:ext cx="144" cy="22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4" name="Line 28"/>
              <p:cNvSpPr>
                <a:spLocks noChangeShapeType="1"/>
              </p:cNvSpPr>
              <p:nvPr/>
            </p:nvSpPr>
            <p:spPr bwMode="auto">
              <a:xfrm flipV="1">
                <a:off x="3384" y="1856"/>
                <a:ext cx="136" cy="20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sp>
          <p:nvSpPr>
            <p:cNvPr id="3214365" name="Rectangle 29"/>
            <p:cNvSpPr>
              <a:spLocks noChangeArrowheads="1"/>
            </p:cNvSpPr>
            <p:nvPr/>
          </p:nvSpPr>
          <p:spPr bwMode="auto">
            <a:xfrm>
              <a:off x="2664" y="2880"/>
              <a:ext cx="646" cy="955"/>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read</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store</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a:t>
              </a:r>
            </a:p>
            <a:p>
              <a:pPr algn="l" defTabSz="457200" fontAlgn="auto">
                <a:lnSpc>
                  <a:spcPct val="85000"/>
                </a:lnSpc>
                <a:spcBef>
                  <a:spcPts val="0"/>
                </a:spcBef>
                <a:spcAft>
                  <a:spcPts val="0"/>
                </a:spcAft>
                <a:buNone/>
              </a:pPr>
              <a:r>
                <a:rPr lang="en-US" altLang="zh-CN" sz="2800" b="0" dirty="0" err="1" smtClean="0">
                  <a:solidFill>
                    <a:srgbClr val="FF0000"/>
                  </a:solidFill>
                  <a:latin typeface="18 VAG Rounded Light   02390"/>
                  <a:ea typeface="+mn-ea"/>
                </a:rPr>
                <a:t>eret</a:t>
              </a:r>
              <a:endParaRPr lang="en-US" sz="2800" b="0" dirty="0">
                <a:solidFill>
                  <a:srgbClr val="FF0000"/>
                </a:solidFill>
                <a:latin typeface="18 VAG Rounded Light   02390"/>
                <a:ea typeface="+mn-ea"/>
              </a:endParaRPr>
            </a:p>
          </p:txBody>
        </p:sp>
        <p:sp>
          <p:nvSpPr>
            <p:cNvPr id="3214366" name="Line 30"/>
            <p:cNvSpPr>
              <a:spLocks noChangeShapeType="1"/>
            </p:cNvSpPr>
            <p:nvPr/>
          </p:nvSpPr>
          <p:spPr bwMode="auto">
            <a:xfrm>
              <a:off x="2592" y="2912"/>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7" name="Line 31"/>
            <p:cNvSpPr>
              <a:spLocks noChangeShapeType="1"/>
            </p:cNvSpPr>
            <p:nvPr/>
          </p:nvSpPr>
          <p:spPr bwMode="auto">
            <a:xfrm>
              <a:off x="2592" y="3584"/>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8" name="Line 32"/>
            <p:cNvSpPr>
              <a:spLocks noChangeShapeType="1"/>
            </p:cNvSpPr>
            <p:nvPr/>
          </p:nvSpPr>
          <p:spPr bwMode="auto">
            <a:xfrm>
              <a:off x="2584" y="3872"/>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9" name="Line 33"/>
            <p:cNvSpPr>
              <a:spLocks noChangeShapeType="1"/>
            </p:cNvSpPr>
            <p:nvPr/>
          </p:nvSpPr>
          <p:spPr bwMode="auto">
            <a:xfrm>
              <a:off x="2600" y="3152"/>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0" name="Line 34"/>
            <p:cNvSpPr>
              <a:spLocks noChangeShapeType="1"/>
            </p:cNvSpPr>
            <p:nvPr/>
          </p:nvSpPr>
          <p:spPr bwMode="auto">
            <a:xfrm>
              <a:off x="2592" y="3392"/>
              <a:ext cx="768"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1" name="Rectangle 35"/>
            <p:cNvSpPr>
              <a:spLocks noChangeArrowheads="1"/>
            </p:cNvSpPr>
            <p:nvPr/>
          </p:nvSpPr>
          <p:spPr bwMode="auto">
            <a:xfrm>
              <a:off x="3696" y="2976"/>
              <a:ext cx="1099" cy="724"/>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interrupt</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service</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routine</a:t>
              </a:r>
            </a:p>
          </p:txBody>
        </p:sp>
        <p:sp>
          <p:nvSpPr>
            <p:cNvPr id="3214372" name="Line 36"/>
            <p:cNvSpPr>
              <a:spLocks noChangeShapeType="1"/>
            </p:cNvSpPr>
            <p:nvPr/>
          </p:nvSpPr>
          <p:spPr bwMode="auto">
            <a:xfrm>
              <a:off x="3384" y="2912"/>
              <a:ext cx="248" cy="88"/>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3" name="Line 37"/>
            <p:cNvSpPr>
              <a:spLocks noChangeShapeType="1"/>
            </p:cNvSpPr>
            <p:nvPr/>
          </p:nvSpPr>
          <p:spPr bwMode="auto">
            <a:xfrm flipV="1">
              <a:off x="3384" y="3680"/>
              <a:ext cx="240" cy="20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grpSp>
        <p:nvGrpSpPr>
          <p:cNvPr id="7" name="Group 38"/>
          <p:cNvGrpSpPr/>
          <p:nvPr/>
        </p:nvGrpSpPr>
        <p:grpSpPr bwMode="auto">
          <a:xfrm>
            <a:off x="2857500" y="3403601"/>
            <a:ext cx="2781300" cy="1819276"/>
            <a:chOff x="840" y="2144"/>
            <a:chExt cx="1752" cy="1146"/>
          </a:xfrm>
        </p:grpSpPr>
        <p:sp>
          <p:nvSpPr>
            <p:cNvPr id="3214375" name="Line 39"/>
            <p:cNvSpPr>
              <a:spLocks noChangeShapeType="1"/>
            </p:cNvSpPr>
            <p:nvPr/>
          </p:nvSpPr>
          <p:spPr bwMode="auto">
            <a:xfrm>
              <a:off x="1606" y="2144"/>
              <a:ext cx="2" cy="256"/>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6" name="Rectangle 40"/>
            <p:cNvSpPr>
              <a:spLocks noChangeArrowheads="1"/>
            </p:cNvSpPr>
            <p:nvPr/>
          </p:nvSpPr>
          <p:spPr bwMode="auto">
            <a:xfrm>
              <a:off x="840" y="2336"/>
              <a:ext cx="1656" cy="954"/>
            </a:xfrm>
            <a:prstGeom prst="rect">
              <a:avLst/>
            </a:prstGeom>
            <a:noFill/>
            <a:ln w="12700">
              <a:noFill/>
              <a:miter lim="800000"/>
            </a:ln>
            <a:effectLst/>
          </p:spPr>
          <p:txBody>
            <a:bodyPr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(3) jump to interrupt</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service routine</a:t>
              </a:r>
            </a:p>
          </p:txBody>
        </p:sp>
        <p:sp>
          <p:nvSpPr>
            <p:cNvPr id="3214377" name="Line 41"/>
            <p:cNvSpPr>
              <a:spLocks noChangeShapeType="1"/>
            </p:cNvSpPr>
            <p:nvPr/>
          </p:nvSpPr>
          <p:spPr bwMode="auto">
            <a:xfrm>
              <a:off x="2016" y="2736"/>
              <a:ext cx="576" cy="160"/>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sp>
        <p:nvSpPr>
          <p:cNvPr id="3214378" name="Rectangle 42"/>
          <p:cNvSpPr>
            <a:spLocks noChangeArrowheads="1"/>
          </p:cNvSpPr>
          <p:nvPr/>
        </p:nvSpPr>
        <p:spPr bwMode="auto">
          <a:xfrm>
            <a:off x="2895600" y="5257800"/>
            <a:ext cx="1981200" cy="1148715"/>
          </a:xfrm>
          <a:prstGeom prst="rect">
            <a:avLst/>
          </a:prstGeom>
          <a:noFill/>
          <a:ln w="38100">
            <a:noFill/>
            <a:miter lim="800000"/>
          </a:ln>
          <a:effectLst/>
        </p:spPr>
        <p:txBody>
          <a:bodyPr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(4) perform transfer</a:t>
            </a:r>
          </a:p>
        </p:txBody>
      </p:sp>
      <p:grpSp>
        <p:nvGrpSpPr>
          <p:cNvPr id="8" name="Group 43"/>
          <p:cNvGrpSpPr/>
          <p:nvPr/>
        </p:nvGrpSpPr>
        <p:grpSpPr bwMode="auto">
          <a:xfrm>
            <a:off x="4495800" y="2590800"/>
            <a:ext cx="1104900" cy="3556000"/>
            <a:chOff x="1872" y="1632"/>
            <a:chExt cx="696" cy="2240"/>
          </a:xfrm>
        </p:grpSpPr>
        <p:grpSp>
          <p:nvGrpSpPr>
            <p:cNvPr id="9" name="Group 44"/>
            <p:cNvGrpSpPr/>
            <p:nvPr/>
          </p:nvGrpSpPr>
          <p:grpSpPr bwMode="auto">
            <a:xfrm>
              <a:off x="2248" y="1632"/>
              <a:ext cx="320" cy="2240"/>
              <a:chOff x="2248" y="1728"/>
              <a:chExt cx="320" cy="2240"/>
            </a:xfrm>
          </p:grpSpPr>
          <p:sp>
            <p:nvSpPr>
              <p:cNvPr id="3214381" name="Line 45"/>
              <p:cNvSpPr>
                <a:spLocks noChangeShapeType="1"/>
              </p:cNvSpPr>
              <p:nvPr/>
            </p:nvSpPr>
            <p:spPr bwMode="auto">
              <a:xfrm flipH="1" flipV="1">
                <a:off x="2256" y="3768"/>
                <a:ext cx="312" cy="200"/>
              </a:xfrm>
              <a:prstGeom prst="line">
                <a:avLst/>
              </a:prstGeom>
              <a:noFill/>
              <a:ln w="38100">
                <a:solidFill>
                  <a:schemeClr val="accent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82" name="Line 46"/>
              <p:cNvSpPr>
                <a:spLocks noChangeShapeType="1"/>
              </p:cNvSpPr>
              <p:nvPr/>
            </p:nvSpPr>
            <p:spPr bwMode="auto">
              <a:xfrm flipV="1">
                <a:off x="2248" y="1944"/>
                <a:ext cx="0" cy="1824"/>
              </a:xfrm>
              <a:prstGeom prst="line">
                <a:avLst/>
              </a:prstGeom>
              <a:noFill/>
              <a:ln w="38100">
                <a:solidFill>
                  <a:schemeClr val="accent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83" name="Line 47"/>
              <p:cNvSpPr>
                <a:spLocks noChangeShapeType="1"/>
              </p:cNvSpPr>
              <p:nvPr/>
            </p:nvSpPr>
            <p:spPr bwMode="auto">
              <a:xfrm flipV="1">
                <a:off x="2264" y="1728"/>
                <a:ext cx="288" cy="208"/>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sp>
          <p:nvSpPr>
            <p:cNvPr id="3214384" name="Rectangle 48"/>
            <p:cNvSpPr>
              <a:spLocks noChangeArrowheads="1"/>
            </p:cNvSpPr>
            <p:nvPr/>
          </p:nvSpPr>
          <p:spPr bwMode="auto">
            <a:xfrm>
              <a:off x="1872" y="2976"/>
              <a:ext cx="420" cy="263"/>
            </a:xfrm>
            <a:prstGeom prst="rect">
              <a:avLst/>
            </a:prstGeom>
            <a:noFill/>
            <a:ln w="381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(5)</a:t>
              </a:r>
            </a:p>
          </p:txBody>
        </p:sp>
      </p:grpSp>
      <p:sp>
        <p:nvSpPr>
          <p:cNvPr id="452610" name="Rectangle 2"/>
          <p:cNvSpPr>
            <a:spLocks noGrp="1" noChangeArrowheads="1"/>
          </p:cNvSpPr>
          <p:nvPr/>
        </p:nvSpPr>
        <p:spPr>
          <a:xfrm>
            <a:off x="0" y="300355"/>
            <a:ext cx="82169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smtClean="0">
                <a:sym typeface="+mn-ea"/>
              </a:rPr>
              <a:t>MIPS中断/异常--</a:t>
            </a:r>
            <a:r>
              <a:rPr lang="en-US" dirty="0" smtClean="0">
                <a:solidFill>
                  <a:schemeClr val="accent1"/>
                </a:solidFill>
                <a:sym typeface="+mn-ea"/>
              </a:rPr>
              <a:t>Interrupt-Driven Data Transfer</a:t>
            </a:r>
            <a:endParaRPr lang="en-AU" dirty="0">
              <a:solidFill>
                <a:schemeClr val="accent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214378"/>
                                        </p:tgtEl>
                                        <p:attrNameLst>
                                          <p:attrName>style.visibility</p:attrName>
                                        </p:attrNameLst>
                                      </p:cBhvr>
                                      <p:to>
                                        <p:strVal val="visible"/>
                                      </p:to>
                                    </p:set>
                                    <p:animEffect transition="in" filter="wipe(up)">
                                      <p:cBhvr>
                                        <p:cTn id="22" dur="500"/>
                                        <p:tgtEl>
                                          <p:spTgt spid="32143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4378"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1344" y="923996"/>
            <a:ext cx="10755808" cy="1243330"/>
          </a:xfrm>
        </p:spPr>
        <p:txBody>
          <a:bodyPr/>
          <a:lstStyle/>
          <a:p>
            <a:r>
              <a:rPr lang="en-US" altLang="zh-CN" dirty="0" smtClean="0"/>
              <a:t>EPC</a:t>
            </a:r>
            <a:r>
              <a:rPr lang="zh-CN" altLang="en-US" dirty="0" smtClean="0"/>
              <a:t>：保存中断</a:t>
            </a:r>
            <a:r>
              <a:rPr lang="en-US" altLang="zh-CN" dirty="0" smtClean="0"/>
              <a:t>/</a:t>
            </a:r>
            <a:r>
              <a:rPr lang="zh-CN" altLang="en-US" dirty="0" smtClean="0"/>
              <a:t>异常时的</a:t>
            </a:r>
            <a:r>
              <a:rPr lang="en-US" altLang="zh-CN" dirty="0" smtClean="0"/>
              <a:t>PC</a:t>
            </a:r>
          </a:p>
          <a:p>
            <a:pPr lvl="1"/>
            <a:r>
              <a:rPr lang="zh-CN" altLang="en-US" dirty="0" smtClean="0"/>
              <a:t>以便从中断</a:t>
            </a:r>
            <a:r>
              <a:rPr lang="en-US" altLang="zh-CN" dirty="0" smtClean="0"/>
              <a:t>/</a:t>
            </a:r>
            <a:r>
              <a:rPr lang="zh-CN" altLang="en-US" dirty="0" smtClean="0"/>
              <a:t>异常服务程序返回被中断指令</a:t>
            </a:r>
            <a:endParaRPr lang="en-US" altLang="zh-CN" dirty="0" smtClean="0"/>
          </a:p>
          <a:p>
            <a:pPr lvl="1"/>
            <a:r>
              <a:rPr lang="zh-CN" altLang="en-US" dirty="0"/>
              <a:t>中断</a:t>
            </a:r>
            <a:r>
              <a:rPr lang="en-US" altLang="zh-CN" dirty="0"/>
              <a:t>/</a:t>
            </a:r>
            <a:r>
              <a:rPr lang="zh-CN" altLang="en-US" dirty="0"/>
              <a:t>异常服务程序</a:t>
            </a:r>
            <a:r>
              <a:rPr lang="zh-CN" altLang="en-US" dirty="0" smtClean="0"/>
              <a:t>返回指令：</a:t>
            </a:r>
            <a:r>
              <a:rPr lang="en-US" altLang="zh-CN" dirty="0" smtClean="0"/>
              <a:t>ERET</a:t>
            </a:r>
            <a:endParaRPr lang="zh-CN" altLang="en-US" dirty="0"/>
          </a:p>
        </p:txBody>
      </p:sp>
      <p:sp>
        <p:nvSpPr>
          <p:cNvPr id="3" name="标题 2"/>
          <p:cNvSpPr>
            <a:spLocks noGrp="1"/>
          </p:cNvSpPr>
          <p:nvPr>
            <p:ph type="title"/>
          </p:nvPr>
        </p:nvSpPr>
        <p:spPr>
          <a:xfrm>
            <a:off x="-211" y="300401"/>
            <a:ext cx="7010400" cy="371475"/>
          </a:xfrm>
        </p:spPr>
        <p:txBody>
          <a:bodyPr/>
          <a:lstStyle/>
          <a:p>
            <a:r>
              <a:rPr lang="en-US" altLang="zh-CN" dirty="0" smtClean="0"/>
              <a:t>5.2 </a:t>
            </a:r>
            <a:r>
              <a:rPr lang="zh-CN" altLang="en-US" dirty="0" smtClean="0">
                <a:sym typeface="+mn-ea"/>
              </a:rPr>
              <a:t>支持中断</a:t>
            </a:r>
            <a:r>
              <a:rPr lang="en-US" altLang="zh-CN" dirty="0" smtClean="0">
                <a:sym typeface="+mn-ea"/>
              </a:rPr>
              <a:t>/</a:t>
            </a:r>
            <a:r>
              <a:rPr lang="zh-CN" altLang="en-US" dirty="0" smtClean="0">
                <a:sym typeface="+mn-ea"/>
              </a:rPr>
              <a:t>异常的数据通路</a:t>
            </a:r>
            <a:r>
              <a:rPr lang="en-US" altLang="zh-CN" dirty="0" smtClean="0">
                <a:sym typeface="+mn-ea"/>
              </a:rPr>
              <a:t>--</a:t>
            </a:r>
            <a:r>
              <a:rPr lang="zh-CN" altLang="en-US" dirty="0" smtClean="0"/>
              <a:t>增加</a:t>
            </a:r>
            <a:r>
              <a:rPr lang="en-US" altLang="zh-CN" dirty="0" smtClean="0"/>
              <a:t>EPC</a:t>
            </a:r>
            <a:endParaRPr lang="zh-CN" altLang="en-US" dirty="0"/>
          </a:p>
        </p:txBody>
      </p:sp>
      <p:pic>
        <p:nvPicPr>
          <p:cNvPr id="118" name="图片 117"/>
          <p:cNvPicPr>
            <a:picLocks noChangeAspect="1"/>
          </p:cNvPicPr>
          <p:nvPr/>
        </p:nvPicPr>
        <p:blipFill>
          <a:blip r:embed="rId2"/>
          <a:stretch>
            <a:fillRect/>
          </a:stretch>
        </p:blipFill>
        <p:spPr>
          <a:xfrm>
            <a:off x="1655445" y="2160905"/>
            <a:ext cx="8982710" cy="43840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3184" y="907120"/>
            <a:ext cx="11139439" cy="2205732"/>
          </a:xfrm>
        </p:spPr>
        <p:txBody>
          <a:bodyPr/>
          <a:lstStyle/>
          <a:p>
            <a:r>
              <a:rPr lang="en-US" altLang="zh-CN" sz="2400" dirty="0">
                <a:solidFill>
                  <a:srgbClr val="000000"/>
                </a:solidFill>
              </a:rPr>
              <a:t>NPC</a:t>
            </a:r>
            <a:r>
              <a:rPr lang="zh-CN" altLang="en-US" sz="2400" dirty="0">
                <a:solidFill>
                  <a:srgbClr val="000000"/>
                </a:solidFill>
              </a:rPr>
              <a:t>需要</a:t>
            </a:r>
            <a:r>
              <a:rPr lang="zh-CN" altLang="en-US" sz="2400" dirty="0" smtClean="0">
                <a:solidFill>
                  <a:srgbClr val="000000"/>
                </a:solidFill>
              </a:rPr>
              <a:t>增加</a:t>
            </a:r>
            <a:r>
              <a:rPr lang="en-US" altLang="zh-CN" sz="2400" dirty="0" smtClean="0">
                <a:solidFill>
                  <a:srgbClr val="000000"/>
                </a:solidFill>
              </a:rPr>
              <a:t>3</a:t>
            </a:r>
            <a:r>
              <a:rPr lang="zh-CN" altLang="en-US" sz="2400" dirty="0">
                <a:solidFill>
                  <a:srgbClr val="000000"/>
                </a:solidFill>
              </a:rPr>
              <a:t>个</a:t>
            </a:r>
            <a:r>
              <a:rPr lang="zh-CN" altLang="en-US" sz="2400" dirty="0" smtClean="0">
                <a:solidFill>
                  <a:srgbClr val="000000"/>
                </a:solidFill>
              </a:rPr>
              <a:t>输出值：异常</a:t>
            </a:r>
            <a:r>
              <a:rPr lang="en-US" altLang="zh-CN" sz="2400" dirty="0" smtClean="0">
                <a:solidFill>
                  <a:srgbClr val="000000"/>
                </a:solidFill>
              </a:rPr>
              <a:t>/</a:t>
            </a:r>
            <a:r>
              <a:rPr lang="zh-CN" altLang="en-US" sz="2400" dirty="0" smtClean="0">
                <a:solidFill>
                  <a:srgbClr val="000000"/>
                </a:solidFill>
              </a:rPr>
              <a:t>中断处理程序的首</a:t>
            </a:r>
            <a:r>
              <a:rPr lang="zh-CN" altLang="en-US" sz="2400" dirty="0" smtClean="0">
                <a:solidFill>
                  <a:srgbClr val="000000"/>
                </a:solidFill>
              </a:rPr>
              <a:t>地址（</a:t>
            </a:r>
            <a:r>
              <a:rPr lang="en-US" altLang="zh-CN" sz="2400" dirty="0" err="1" smtClean="0">
                <a:solidFill>
                  <a:srgbClr val="000000"/>
                </a:solidFill>
              </a:rPr>
              <a:t>uncached</a:t>
            </a:r>
            <a:r>
              <a:rPr lang="en-US" altLang="zh-CN" sz="2400" dirty="0" smtClean="0">
                <a:solidFill>
                  <a:srgbClr val="000000"/>
                </a:solidFill>
              </a:rPr>
              <a:t> </a:t>
            </a:r>
            <a:r>
              <a:rPr lang="zh-CN" altLang="en-US" sz="2400" dirty="0" smtClean="0">
                <a:solidFill>
                  <a:srgbClr val="000000"/>
                </a:solidFill>
              </a:rPr>
              <a:t>地址，刚上的的地址，还没有使用高速缓存；操作系统启动后，地址变为</a:t>
            </a:r>
            <a:r>
              <a:rPr lang="en-US" altLang="zh-CN" sz="2400" dirty="0" smtClean="0">
                <a:solidFill>
                  <a:srgbClr val="000000"/>
                </a:solidFill>
              </a:rPr>
              <a:t>cached</a:t>
            </a:r>
            <a:r>
              <a:rPr lang="zh-CN" altLang="en-US" sz="2400" dirty="0" smtClean="0">
                <a:solidFill>
                  <a:srgbClr val="000000"/>
                </a:solidFill>
              </a:rPr>
              <a:t>地址</a:t>
            </a:r>
            <a:r>
              <a:rPr lang="en-US" altLang="zh-CN" sz="2400" dirty="0" smtClean="0">
                <a:solidFill>
                  <a:srgbClr val="000000"/>
                </a:solidFill>
              </a:rPr>
              <a:t>0x8000 0000</a:t>
            </a:r>
            <a:r>
              <a:rPr lang="zh-CN" altLang="en-US" sz="2400" dirty="0" smtClean="0">
                <a:solidFill>
                  <a:srgbClr val="000000"/>
                </a:solidFill>
              </a:rPr>
              <a:t>段）</a:t>
            </a:r>
            <a:endParaRPr lang="en-US" altLang="zh-CN" sz="2400" dirty="0">
              <a:solidFill>
                <a:srgbClr val="000000"/>
              </a:solidFill>
            </a:endParaRPr>
          </a:p>
          <a:p>
            <a:pPr lvl="1"/>
            <a:r>
              <a:rPr lang="zh-CN" altLang="en-US" dirty="0">
                <a:solidFill>
                  <a:srgbClr val="FF0000"/>
                </a:solidFill>
              </a:rPr>
              <a:t>系统复位时输出：</a:t>
            </a:r>
            <a:r>
              <a:rPr lang="en-US" altLang="zh-CN" dirty="0">
                <a:solidFill>
                  <a:srgbClr val="FF0000"/>
                </a:solidFill>
              </a:rPr>
              <a:t>0xBFC0_0000</a:t>
            </a:r>
          </a:p>
          <a:p>
            <a:pPr lvl="1"/>
            <a:r>
              <a:rPr lang="zh-CN" altLang="en-US" dirty="0">
                <a:solidFill>
                  <a:srgbClr val="FF0000"/>
                </a:solidFill>
              </a:rPr>
              <a:t>硬件中断时输出：</a:t>
            </a:r>
            <a:r>
              <a:rPr lang="en-US" altLang="zh-CN" dirty="0" smtClean="0">
                <a:solidFill>
                  <a:srgbClr val="FF0000"/>
                </a:solidFill>
              </a:rPr>
              <a:t>0xBFC0_0400</a:t>
            </a:r>
          </a:p>
        </p:txBody>
      </p:sp>
      <p:pic>
        <p:nvPicPr>
          <p:cNvPr id="118" name="图片 117"/>
          <p:cNvPicPr>
            <a:picLocks noChangeAspect="1"/>
          </p:cNvPicPr>
          <p:nvPr/>
        </p:nvPicPr>
        <p:blipFill>
          <a:blip r:embed="rId3"/>
          <a:stretch>
            <a:fillRect/>
          </a:stretch>
        </p:blipFill>
        <p:spPr>
          <a:xfrm>
            <a:off x="3215680" y="2975321"/>
            <a:ext cx="7959090" cy="3870325"/>
          </a:xfrm>
          <a:prstGeom prst="rect">
            <a:avLst/>
          </a:prstGeom>
        </p:spPr>
      </p:pic>
      <p:sp>
        <p:nvSpPr>
          <p:cNvPr id="119"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t>5.2 </a:t>
            </a:r>
            <a:r>
              <a:rPr lang="zh-CN" altLang="en-US" dirty="0" smtClean="0">
                <a:sym typeface="+mn-ea"/>
              </a:rPr>
              <a:t>支持中断</a:t>
            </a:r>
            <a:r>
              <a:rPr lang="en-US" altLang="zh-CN" dirty="0" smtClean="0">
                <a:sym typeface="+mn-ea"/>
              </a:rPr>
              <a:t>/</a:t>
            </a:r>
            <a:r>
              <a:rPr lang="zh-CN" altLang="en-US" dirty="0" smtClean="0">
                <a:sym typeface="+mn-ea"/>
              </a:rPr>
              <a:t>异常的数据通路</a:t>
            </a:r>
            <a:r>
              <a:rPr lang="en-US" altLang="zh-CN" dirty="0" smtClean="0">
                <a:sym typeface="+mn-ea"/>
              </a:rPr>
              <a:t>--</a:t>
            </a:r>
            <a:r>
              <a:rPr lang="zh-CN" altLang="en-US" dirty="0" smtClean="0">
                <a:sym typeface="+mn-ea"/>
              </a:rPr>
              <a:t>修改</a:t>
            </a:r>
            <a:r>
              <a:rPr lang="en-US" altLang="zh-CN" dirty="0" smtClean="0">
                <a:sym typeface="+mn-ea"/>
              </a:rPr>
              <a:t>NPC</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14400" y="764705"/>
            <a:ext cx="10464800" cy="1281430"/>
          </a:xfrm>
        </p:spPr>
        <p:txBody>
          <a:bodyPr/>
          <a:lstStyle/>
          <a:p>
            <a:r>
              <a:rPr lang="zh-CN" altLang="en-US" sz="2400" dirty="0" smtClean="0">
                <a:solidFill>
                  <a:srgbClr val="000000"/>
                </a:solidFill>
              </a:rPr>
              <a:t>记录当前哪些硬件中断正在有效</a:t>
            </a:r>
            <a:endParaRPr lang="en-US" altLang="zh-CN" sz="2400" dirty="0" smtClean="0">
              <a:solidFill>
                <a:srgbClr val="000000"/>
              </a:solidFill>
            </a:endParaRPr>
          </a:p>
          <a:p>
            <a:pPr lvl="1"/>
            <a:r>
              <a:rPr lang="en-US" altLang="zh-CN" dirty="0" smtClean="0">
                <a:solidFill>
                  <a:srgbClr val="000000"/>
                </a:solidFill>
              </a:rPr>
              <a:t>IP[7:2]</a:t>
            </a:r>
            <a:r>
              <a:rPr lang="zh-CN" altLang="en-US" dirty="0" smtClean="0">
                <a:solidFill>
                  <a:srgbClr val="000000"/>
                </a:solidFill>
              </a:rPr>
              <a:t>：</a:t>
            </a:r>
            <a:r>
              <a:rPr lang="en-US" altLang="zh-CN" dirty="0" smtClean="0">
                <a:solidFill>
                  <a:srgbClr val="000000"/>
                </a:solidFill>
              </a:rPr>
              <a:t>6</a:t>
            </a:r>
            <a:r>
              <a:rPr lang="zh-CN" altLang="en-US" dirty="0" smtClean="0">
                <a:solidFill>
                  <a:srgbClr val="000000"/>
                </a:solidFill>
              </a:rPr>
              <a:t>个硬件中断</a:t>
            </a:r>
            <a:endParaRPr lang="en-US" altLang="zh-CN" dirty="0" smtClean="0">
              <a:solidFill>
                <a:srgbClr val="000000"/>
              </a:solidFill>
            </a:endParaRPr>
          </a:p>
          <a:p>
            <a:pPr lvl="1"/>
            <a:r>
              <a:rPr lang="en-US" altLang="zh-CN" dirty="0" smtClean="0">
                <a:solidFill>
                  <a:srgbClr val="000000"/>
                </a:solidFill>
              </a:rPr>
              <a:t>MIPS</a:t>
            </a:r>
            <a:r>
              <a:rPr lang="zh-CN" altLang="en-US" dirty="0" smtClean="0">
                <a:solidFill>
                  <a:srgbClr val="000000"/>
                </a:solidFill>
              </a:rPr>
              <a:t>：支持</a:t>
            </a:r>
            <a:r>
              <a:rPr lang="en-US" altLang="zh-CN" dirty="0" smtClean="0">
                <a:solidFill>
                  <a:srgbClr val="000000"/>
                </a:solidFill>
              </a:rPr>
              <a:t>6</a:t>
            </a:r>
            <a:r>
              <a:rPr lang="zh-CN" altLang="en-US" dirty="0" smtClean="0">
                <a:solidFill>
                  <a:srgbClr val="000000"/>
                </a:solidFill>
              </a:rPr>
              <a:t>个硬件中断</a:t>
            </a:r>
          </a:p>
        </p:txBody>
      </p:sp>
      <p:pic>
        <p:nvPicPr>
          <p:cNvPr id="101378" name="Picture 2"/>
          <p:cNvPicPr>
            <a:picLocks noChangeAspect="1" noChangeArrowheads="1"/>
          </p:cNvPicPr>
          <p:nvPr/>
        </p:nvPicPr>
        <p:blipFill rotWithShape="1">
          <a:blip r:embed="rId2" cstate="print"/>
          <a:srcRect b="30214"/>
          <a:stretch>
            <a:fillRect/>
          </a:stretch>
        </p:blipFill>
        <p:spPr bwMode="auto">
          <a:xfrm>
            <a:off x="2567510" y="2204830"/>
            <a:ext cx="7239000" cy="576080"/>
          </a:xfrm>
          <a:prstGeom prst="rect">
            <a:avLst/>
          </a:prstGeom>
          <a:noFill/>
          <a:ln w="9525">
            <a:noFill/>
            <a:miter lim="800000"/>
            <a:headEnd/>
            <a:tailEnd/>
          </a:ln>
        </p:spPr>
      </p:pic>
      <p:sp>
        <p:nvSpPr>
          <p:cNvPr id="179" name="圆角矩形 178"/>
          <p:cNvSpPr/>
          <p:nvPr/>
        </p:nvSpPr>
        <p:spPr bwMode="auto">
          <a:xfrm>
            <a:off x="6168010" y="2204830"/>
            <a:ext cx="1368190" cy="57608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80" name="矩形 179"/>
          <p:cNvSpPr/>
          <p:nvPr/>
        </p:nvSpPr>
        <p:spPr bwMode="auto">
          <a:xfrm>
            <a:off x="2567510" y="2420860"/>
            <a:ext cx="367251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smtClean="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7392180" y="2420860"/>
            <a:ext cx="237633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44"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t>5.2 </a:t>
            </a:r>
            <a:r>
              <a:rPr lang="zh-CN" altLang="en-US" dirty="0" smtClean="0">
                <a:sym typeface="+mn-ea"/>
              </a:rPr>
              <a:t>支持中断</a:t>
            </a:r>
            <a:r>
              <a:rPr lang="en-US" altLang="zh-CN" dirty="0" smtClean="0">
                <a:sym typeface="+mn-ea"/>
              </a:rPr>
              <a:t>/</a:t>
            </a:r>
            <a:r>
              <a:rPr lang="zh-CN" altLang="en-US" dirty="0" smtClean="0">
                <a:sym typeface="+mn-ea"/>
              </a:rPr>
              <a:t>异常的数据通路</a:t>
            </a:r>
            <a:r>
              <a:rPr lang="en-US" altLang="zh-CN" dirty="0" smtClean="0">
                <a:sym typeface="+mn-ea"/>
              </a:rPr>
              <a:t>--</a:t>
            </a:r>
            <a:r>
              <a:rPr lang="zh-CN" altLang="en-US" dirty="0" smtClean="0">
                <a:sym typeface="+mn-ea"/>
              </a:rPr>
              <a:t>增加</a:t>
            </a:r>
            <a:r>
              <a:rPr lang="en-US" altLang="zh-CN" dirty="0" smtClean="0">
                <a:sym typeface="+mn-ea"/>
              </a:rPr>
              <a:t>Cause</a:t>
            </a:r>
            <a:r>
              <a:rPr lang="zh-CN" altLang="en-US" dirty="0" smtClean="0">
                <a:sym typeface="+mn-ea"/>
              </a:rPr>
              <a:t>寄存器</a:t>
            </a:r>
            <a:endParaRPr lang="zh-CN" altLang="en-US" dirty="0"/>
          </a:p>
        </p:txBody>
      </p:sp>
      <p:pic>
        <p:nvPicPr>
          <p:cNvPr id="146" name="图片 145"/>
          <p:cNvPicPr>
            <a:picLocks noChangeAspect="1"/>
          </p:cNvPicPr>
          <p:nvPr/>
        </p:nvPicPr>
        <p:blipFill>
          <a:blip r:embed="rId3"/>
          <a:stretch>
            <a:fillRect/>
          </a:stretch>
        </p:blipFill>
        <p:spPr>
          <a:xfrm>
            <a:off x="2005330" y="2917825"/>
            <a:ext cx="8282940" cy="376745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1772770"/>
            <a:ext cx="72771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内容占位符 1"/>
          <p:cNvSpPr>
            <a:spLocks noGrp="1"/>
          </p:cNvSpPr>
          <p:nvPr>
            <p:ph idx="1"/>
          </p:nvPr>
        </p:nvSpPr>
        <p:spPr>
          <a:xfrm>
            <a:off x="914400" y="764705"/>
            <a:ext cx="10464800" cy="896620"/>
          </a:xfrm>
        </p:spPr>
        <p:txBody>
          <a:bodyPr/>
          <a:lstStyle/>
          <a:p>
            <a:r>
              <a:rPr lang="en-US" altLang="zh-CN" sz="2400" dirty="0" smtClean="0">
                <a:solidFill>
                  <a:srgbClr val="000000"/>
                </a:solidFill>
              </a:rPr>
              <a:t>IM[7:2]</a:t>
            </a:r>
            <a:r>
              <a:rPr lang="zh-CN" altLang="en-US" sz="2400" dirty="0">
                <a:solidFill>
                  <a:srgbClr val="000000"/>
                </a:solidFill>
              </a:rPr>
              <a:t>：</a:t>
            </a:r>
            <a:r>
              <a:rPr lang="zh-CN" altLang="en-US" sz="2400" dirty="0" smtClean="0">
                <a:solidFill>
                  <a:srgbClr val="000000"/>
                </a:solidFill>
              </a:rPr>
              <a:t>中断屏蔽，对应</a:t>
            </a:r>
            <a:r>
              <a:rPr lang="en-US" altLang="zh-CN" sz="2400" dirty="0" smtClean="0">
                <a:solidFill>
                  <a:srgbClr val="000000"/>
                </a:solidFill>
              </a:rPr>
              <a:t>6</a:t>
            </a:r>
            <a:r>
              <a:rPr lang="zh-CN" altLang="en-US" sz="2400" dirty="0" smtClean="0">
                <a:solidFill>
                  <a:srgbClr val="000000"/>
                </a:solidFill>
              </a:rPr>
              <a:t>个硬件中断</a:t>
            </a:r>
            <a:endParaRPr lang="en-US" altLang="zh-CN" sz="2400" dirty="0" smtClean="0">
              <a:solidFill>
                <a:srgbClr val="000000"/>
              </a:solidFill>
            </a:endParaRPr>
          </a:p>
          <a:p>
            <a:pPr lvl="1"/>
            <a:r>
              <a:rPr lang="en-US" altLang="zh-CN" dirty="0" smtClean="0">
                <a:solidFill>
                  <a:srgbClr val="000000"/>
                </a:solidFill>
              </a:rPr>
              <a:t>1</a:t>
            </a:r>
            <a:r>
              <a:rPr lang="zh-CN" altLang="en-US" dirty="0" smtClean="0">
                <a:solidFill>
                  <a:srgbClr val="000000"/>
                </a:solidFill>
              </a:rPr>
              <a:t>：使能，</a:t>
            </a:r>
            <a:r>
              <a:rPr lang="en-US" altLang="zh-CN" dirty="0" smtClean="0">
                <a:solidFill>
                  <a:srgbClr val="000000"/>
                </a:solidFill>
              </a:rPr>
              <a:t>0</a:t>
            </a:r>
            <a:r>
              <a:rPr lang="zh-CN" altLang="en-US" dirty="0" smtClean="0">
                <a:solidFill>
                  <a:srgbClr val="000000"/>
                </a:solidFill>
              </a:rPr>
              <a:t>：禁止</a:t>
            </a:r>
          </a:p>
        </p:txBody>
      </p:sp>
      <p:sp>
        <p:nvSpPr>
          <p:cNvPr id="179" name="圆角矩形 178"/>
          <p:cNvSpPr/>
          <p:nvPr/>
        </p:nvSpPr>
        <p:spPr bwMode="auto">
          <a:xfrm>
            <a:off x="6168010" y="1700760"/>
            <a:ext cx="864120" cy="86412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80" name="矩形 179"/>
          <p:cNvSpPr/>
          <p:nvPr/>
        </p:nvSpPr>
        <p:spPr bwMode="auto">
          <a:xfrm>
            <a:off x="2567510" y="1916790"/>
            <a:ext cx="367251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smtClean="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7032130" y="1916790"/>
            <a:ext cx="2122827"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43"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t>5.2 </a:t>
            </a:r>
            <a:r>
              <a:rPr lang="zh-CN" altLang="en-US" dirty="0" smtClean="0">
                <a:sym typeface="+mn-ea"/>
              </a:rPr>
              <a:t>支持中断</a:t>
            </a:r>
            <a:r>
              <a:rPr lang="en-US" altLang="zh-CN" dirty="0" smtClean="0">
                <a:sym typeface="+mn-ea"/>
              </a:rPr>
              <a:t>/</a:t>
            </a:r>
            <a:r>
              <a:rPr lang="zh-CN" altLang="en-US" dirty="0" smtClean="0">
                <a:sym typeface="+mn-ea"/>
              </a:rPr>
              <a:t>异常的数据通路</a:t>
            </a:r>
            <a:r>
              <a:rPr lang="en-US" altLang="zh-CN" dirty="0" smtClean="0">
                <a:sym typeface="+mn-ea"/>
              </a:rPr>
              <a:t>--</a:t>
            </a:r>
            <a:r>
              <a:rPr lang="zh-CN" altLang="en-US" dirty="0" smtClean="0">
                <a:sym typeface="+mn-ea"/>
              </a:rPr>
              <a:t>增加</a:t>
            </a:r>
            <a:r>
              <a:rPr lang="en-US" altLang="zh-CN" dirty="0" smtClean="0">
                <a:sym typeface="+mn-ea"/>
              </a:rPr>
              <a:t>SR</a:t>
            </a:r>
            <a:r>
              <a:rPr lang="zh-CN" altLang="en-US" dirty="0" smtClean="0">
                <a:sym typeface="+mn-ea"/>
              </a:rPr>
              <a:t>寄存器</a:t>
            </a:r>
            <a:r>
              <a:rPr lang="en-US" altLang="zh-CN" dirty="0" smtClean="0">
                <a:sym typeface="+mn-ea"/>
              </a:rPr>
              <a:t>(1)</a:t>
            </a:r>
            <a:endParaRPr lang="zh-CN" altLang="en-US" dirty="0"/>
          </a:p>
        </p:txBody>
      </p:sp>
      <p:pic>
        <p:nvPicPr>
          <p:cNvPr id="145" name="图片 144"/>
          <p:cNvPicPr>
            <a:picLocks noChangeAspect="1"/>
          </p:cNvPicPr>
          <p:nvPr/>
        </p:nvPicPr>
        <p:blipFill>
          <a:blip r:embed="rId4"/>
          <a:stretch>
            <a:fillRect/>
          </a:stretch>
        </p:blipFill>
        <p:spPr>
          <a:xfrm>
            <a:off x="2264410" y="2666365"/>
            <a:ext cx="7718425" cy="405828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cstate="print"/>
          <a:srcRect/>
          <a:stretch>
            <a:fillRect/>
          </a:stretch>
        </p:blipFill>
        <p:spPr bwMode="auto">
          <a:xfrm>
            <a:off x="2497760" y="1772770"/>
            <a:ext cx="7270750" cy="692150"/>
          </a:xfrm>
          <a:prstGeom prst="rect">
            <a:avLst/>
          </a:prstGeom>
          <a:noFill/>
          <a:ln w="9525">
            <a:noFill/>
            <a:miter lim="800000"/>
            <a:headEnd/>
            <a:tailEnd/>
          </a:ln>
        </p:spPr>
      </p:pic>
      <p:sp>
        <p:nvSpPr>
          <p:cNvPr id="2" name="内容占位符 1"/>
          <p:cNvSpPr>
            <a:spLocks noGrp="1"/>
          </p:cNvSpPr>
          <p:nvPr>
            <p:ph idx="1"/>
          </p:nvPr>
        </p:nvSpPr>
        <p:spPr>
          <a:xfrm>
            <a:off x="914400" y="764705"/>
            <a:ext cx="10464800" cy="896620"/>
          </a:xfrm>
        </p:spPr>
        <p:txBody>
          <a:bodyPr/>
          <a:lstStyle/>
          <a:p>
            <a:pPr marL="342900" lvl="1" indent="-342900">
              <a:buClr>
                <a:srgbClr val="0000FF"/>
              </a:buClr>
              <a:buSzTx/>
              <a:buFont typeface="Wingdings" panose="05000000000000000000" pitchFamily="2" charset="2"/>
              <a:buChar char="§"/>
            </a:pPr>
            <a:r>
              <a:rPr lang="en-US" altLang="zh-CN" sz="2400" dirty="0" smtClean="0">
                <a:solidFill>
                  <a:srgbClr val="000000"/>
                </a:solidFill>
              </a:rPr>
              <a:t>IE</a:t>
            </a:r>
            <a:r>
              <a:rPr lang="zh-CN" altLang="en-US" sz="1800" dirty="0">
                <a:solidFill>
                  <a:srgbClr val="000000"/>
                </a:solidFill>
              </a:rPr>
              <a:t>：</a:t>
            </a:r>
            <a:r>
              <a:rPr lang="zh-CN" altLang="en-US" sz="2400" dirty="0" smtClean="0">
                <a:solidFill>
                  <a:srgbClr val="000000"/>
                </a:solidFill>
              </a:rPr>
              <a:t>全局中断使能</a:t>
            </a:r>
            <a:endParaRPr lang="en-US" altLang="zh-CN" sz="2400" dirty="0" smtClean="0">
              <a:solidFill>
                <a:srgbClr val="000000"/>
              </a:solidFill>
            </a:endParaRPr>
          </a:p>
          <a:p>
            <a:pPr lvl="1"/>
            <a:r>
              <a:rPr lang="en-US" altLang="zh-CN" dirty="0" smtClean="0">
                <a:solidFill>
                  <a:srgbClr val="000000"/>
                </a:solidFill>
              </a:rPr>
              <a:t>1</a:t>
            </a:r>
            <a:r>
              <a:rPr lang="zh-CN" altLang="en-US" dirty="0" smtClean="0">
                <a:solidFill>
                  <a:srgbClr val="000000"/>
                </a:solidFill>
              </a:rPr>
              <a:t>：允许中断</a:t>
            </a:r>
            <a:r>
              <a:rPr lang="zh-CN" altLang="en-US" dirty="0">
                <a:solidFill>
                  <a:srgbClr val="000000"/>
                </a:solidFill>
              </a:rPr>
              <a:t>；</a:t>
            </a:r>
            <a:r>
              <a:rPr lang="en-US" altLang="zh-CN" dirty="0" smtClean="0">
                <a:solidFill>
                  <a:srgbClr val="000000"/>
                </a:solidFill>
              </a:rPr>
              <a:t>0</a:t>
            </a:r>
            <a:r>
              <a:rPr lang="zh-CN" altLang="en-US" dirty="0" smtClean="0">
                <a:solidFill>
                  <a:srgbClr val="000000"/>
                </a:solidFill>
              </a:rPr>
              <a:t>：禁止中断</a:t>
            </a:r>
          </a:p>
        </p:txBody>
      </p:sp>
      <p:sp>
        <p:nvSpPr>
          <p:cNvPr id="180" name="矩形 179"/>
          <p:cNvSpPr/>
          <p:nvPr/>
        </p:nvSpPr>
        <p:spPr bwMode="auto">
          <a:xfrm>
            <a:off x="2567510" y="1916790"/>
            <a:ext cx="374452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smtClean="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7032130" y="1916790"/>
            <a:ext cx="216030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75" name="圆角矩形 174"/>
          <p:cNvSpPr/>
          <p:nvPr/>
        </p:nvSpPr>
        <p:spPr bwMode="auto">
          <a:xfrm>
            <a:off x="9480470" y="1700760"/>
            <a:ext cx="360050" cy="64809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6" name="标题 2"/>
          <p:cNvSpPr>
            <a:spLocks noGrp="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t>5.2 </a:t>
            </a:r>
            <a:r>
              <a:rPr lang="zh-CN" altLang="en-US" dirty="0" smtClean="0">
                <a:sym typeface="+mn-ea"/>
              </a:rPr>
              <a:t>支持中断</a:t>
            </a:r>
            <a:r>
              <a:rPr lang="en-US" altLang="zh-CN" dirty="0" smtClean="0">
                <a:sym typeface="+mn-ea"/>
              </a:rPr>
              <a:t>/</a:t>
            </a:r>
            <a:r>
              <a:rPr lang="zh-CN" altLang="en-US" dirty="0" smtClean="0">
                <a:sym typeface="+mn-ea"/>
              </a:rPr>
              <a:t>异常的数据通路</a:t>
            </a:r>
            <a:r>
              <a:rPr lang="en-US" altLang="zh-CN" dirty="0" smtClean="0">
                <a:sym typeface="+mn-ea"/>
              </a:rPr>
              <a:t>--</a:t>
            </a:r>
            <a:r>
              <a:rPr lang="zh-CN" altLang="en-US" dirty="0" smtClean="0">
                <a:sym typeface="+mn-ea"/>
              </a:rPr>
              <a:t>增加</a:t>
            </a:r>
            <a:r>
              <a:rPr lang="en-US" altLang="zh-CN" dirty="0" smtClean="0">
                <a:sym typeface="+mn-ea"/>
              </a:rPr>
              <a:t>SR</a:t>
            </a:r>
            <a:r>
              <a:rPr lang="zh-CN" altLang="en-US" dirty="0" smtClean="0">
                <a:sym typeface="+mn-ea"/>
              </a:rPr>
              <a:t>寄存器</a:t>
            </a:r>
            <a:r>
              <a:rPr lang="en-US" altLang="zh-CN" dirty="0" smtClean="0">
                <a:sym typeface="+mn-ea"/>
              </a:rPr>
              <a:t>(2)</a:t>
            </a:r>
            <a:endParaRPr lang="zh-CN" altLang="en-US" dirty="0"/>
          </a:p>
          <a:p>
            <a:pPr indent="0">
              <a:buNone/>
            </a:pPr>
            <a:endParaRPr lang="zh-CN" altLang="en-US" dirty="0"/>
          </a:p>
        </p:txBody>
      </p:sp>
      <p:pic>
        <p:nvPicPr>
          <p:cNvPr id="49" name="图片 48"/>
          <p:cNvPicPr>
            <a:picLocks noChangeAspect="1"/>
          </p:cNvPicPr>
          <p:nvPr/>
        </p:nvPicPr>
        <p:blipFill>
          <a:blip r:embed="rId3"/>
          <a:stretch>
            <a:fillRect/>
          </a:stretch>
        </p:blipFill>
        <p:spPr>
          <a:xfrm>
            <a:off x="2290445" y="2465070"/>
            <a:ext cx="7713345" cy="42164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3" cstate="print"/>
          <a:srcRect/>
          <a:stretch>
            <a:fillRect/>
          </a:stretch>
        </p:blipFill>
        <p:spPr bwMode="auto">
          <a:xfrm>
            <a:off x="1813755" y="1614405"/>
            <a:ext cx="7270750" cy="692150"/>
          </a:xfrm>
          <a:prstGeom prst="rect">
            <a:avLst/>
          </a:prstGeom>
          <a:noFill/>
          <a:ln w="9525">
            <a:noFill/>
            <a:miter lim="800000"/>
            <a:headEnd/>
            <a:tailEnd/>
          </a:ln>
        </p:spPr>
      </p:pic>
      <p:sp>
        <p:nvSpPr>
          <p:cNvPr id="2" name="内容占位符 1"/>
          <p:cNvSpPr>
            <a:spLocks noGrp="1"/>
          </p:cNvSpPr>
          <p:nvPr>
            <p:ph idx="1"/>
          </p:nvPr>
        </p:nvSpPr>
        <p:spPr>
          <a:xfrm>
            <a:off x="914400" y="764705"/>
            <a:ext cx="10464800" cy="781685"/>
          </a:xfrm>
        </p:spPr>
        <p:txBody>
          <a:bodyPr/>
          <a:lstStyle/>
          <a:p>
            <a:pPr marL="342900" lvl="1" indent="-342900">
              <a:buClr>
                <a:srgbClr val="0000FF"/>
              </a:buClr>
              <a:buSzTx/>
              <a:buFont typeface="Wingdings" panose="05000000000000000000" pitchFamily="2" charset="2"/>
              <a:buChar char="§"/>
            </a:pPr>
            <a:r>
              <a:rPr lang="en-US" altLang="zh-CN" sz="1800" dirty="0" smtClean="0">
                <a:solidFill>
                  <a:srgbClr val="000000"/>
                </a:solidFill>
              </a:rPr>
              <a:t>EXL</a:t>
            </a:r>
            <a:r>
              <a:rPr lang="zh-CN" altLang="en-US" sz="1800" dirty="0" smtClean="0">
                <a:solidFill>
                  <a:srgbClr val="000000"/>
                </a:solidFill>
              </a:rPr>
              <a:t>：进入中断后，必须置位，防止再次进入</a:t>
            </a:r>
            <a:endParaRPr lang="en-US" altLang="zh-CN" sz="1800" dirty="0" smtClean="0">
              <a:solidFill>
                <a:srgbClr val="000000"/>
              </a:solidFill>
            </a:endParaRPr>
          </a:p>
          <a:p>
            <a:pPr lvl="1"/>
            <a:r>
              <a:rPr lang="zh-CN" altLang="en-US" dirty="0" smtClean="0">
                <a:solidFill>
                  <a:srgbClr val="000000"/>
                </a:solidFill>
              </a:rPr>
              <a:t>在执行中断处理程序过程中是否允许再次产生中断</a:t>
            </a:r>
          </a:p>
        </p:txBody>
      </p:sp>
      <p:sp>
        <p:nvSpPr>
          <p:cNvPr id="180" name="矩形 179"/>
          <p:cNvSpPr/>
          <p:nvPr/>
        </p:nvSpPr>
        <p:spPr bwMode="auto">
          <a:xfrm>
            <a:off x="1883505" y="1758425"/>
            <a:ext cx="374452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smtClean="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6348125" y="1758425"/>
            <a:ext cx="208829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75" name="圆角矩形 174"/>
          <p:cNvSpPr/>
          <p:nvPr/>
        </p:nvSpPr>
        <p:spPr bwMode="auto">
          <a:xfrm>
            <a:off x="8436415" y="1542395"/>
            <a:ext cx="432060" cy="64809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6" name="标题 2"/>
          <p:cNvSpPr>
            <a:spLocks noGrp="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t>5.2 </a:t>
            </a:r>
            <a:r>
              <a:rPr lang="zh-CN" altLang="en-US" dirty="0" smtClean="0">
                <a:sym typeface="+mn-ea"/>
              </a:rPr>
              <a:t>支持中断</a:t>
            </a:r>
            <a:r>
              <a:rPr lang="en-US" altLang="zh-CN" dirty="0" smtClean="0">
                <a:sym typeface="+mn-ea"/>
              </a:rPr>
              <a:t>/</a:t>
            </a:r>
            <a:r>
              <a:rPr lang="zh-CN" altLang="en-US" dirty="0" smtClean="0">
                <a:sym typeface="+mn-ea"/>
              </a:rPr>
              <a:t>异常的数据通路</a:t>
            </a:r>
            <a:r>
              <a:rPr lang="en-US" altLang="zh-CN" dirty="0" smtClean="0">
                <a:sym typeface="+mn-ea"/>
              </a:rPr>
              <a:t>--</a:t>
            </a:r>
            <a:r>
              <a:rPr lang="zh-CN" altLang="en-US" dirty="0" smtClean="0">
                <a:sym typeface="+mn-ea"/>
              </a:rPr>
              <a:t>增加</a:t>
            </a:r>
            <a:r>
              <a:rPr lang="en-US" altLang="zh-CN" dirty="0" smtClean="0">
                <a:sym typeface="+mn-ea"/>
              </a:rPr>
              <a:t>SR</a:t>
            </a:r>
            <a:r>
              <a:rPr lang="zh-CN" altLang="en-US" dirty="0" smtClean="0">
                <a:sym typeface="+mn-ea"/>
              </a:rPr>
              <a:t>寄存器</a:t>
            </a:r>
            <a:r>
              <a:rPr lang="en-US" altLang="zh-CN" dirty="0" smtClean="0">
                <a:sym typeface="+mn-ea"/>
              </a:rPr>
              <a:t>(3)</a:t>
            </a:r>
            <a:endParaRPr lang="zh-CN" altLang="en-US" dirty="0"/>
          </a:p>
          <a:p>
            <a:pPr indent="0">
              <a:buNone/>
            </a:pPr>
            <a:endParaRPr lang="zh-CN" altLang="en-US" dirty="0"/>
          </a:p>
        </p:txBody>
      </p:sp>
      <p:pic>
        <p:nvPicPr>
          <p:cNvPr id="52" name="图片 51"/>
          <p:cNvPicPr>
            <a:picLocks noChangeAspect="1"/>
          </p:cNvPicPr>
          <p:nvPr/>
        </p:nvPicPr>
        <p:blipFill>
          <a:blip r:embed="rId4"/>
          <a:stretch>
            <a:fillRect/>
          </a:stretch>
        </p:blipFill>
        <p:spPr>
          <a:xfrm>
            <a:off x="1419225" y="2387600"/>
            <a:ext cx="8308975" cy="427609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9376" y="836930"/>
            <a:ext cx="6989009" cy="2589530"/>
          </a:xfrm>
        </p:spPr>
        <p:txBody>
          <a:bodyPr/>
          <a:lstStyle/>
          <a:p>
            <a:r>
              <a:rPr lang="zh-CN" altLang="en-US" sz="2400" dirty="0" smtClean="0">
                <a:solidFill>
                  <a:srgbClr val="FF0000"/>
                </a:solidFill>
              </a:rPr>
              <a:t>检测</a:t>
            </a:r>
            <a:r>
              <a:rPr lang="zh-CN" altLang="en-US" sz="2400" dirty="0" smtClean="0">
                <a:solidFill>
                  <a:srgbClr val="000000"/>
                </a:solidFill>
              </a:rPr>
              <a:t>：每条指令的最后</a:t>
            </a:r>
            <a:r>
              <a:rPr lang="en-US" altLang="zh-CN" sz="2400" dirty="0" smtClean="0">
                <a:solidFill>
                  <a:srgbClr val="000000"/>
                </a:solidFill>
              </a:rPr>
              <a:t>1</a:t>
            </a:r>
            <a:r>
              <a:rPr lang="zh-CN" altLang="en-US" sz="2400" dirty="0" smtClean="0">
                <a:solidFill>
                  <a:srgbClr val="000000"/>
                </a:solidFill>
              </a:rPr>
              <a:t>个状态</a:t>
            </a:r>
            <a:endParaRPr lang="en-US" altLang="zh-CN" sz="2400" dirty="0" smtClean="0">
              <a:solidFill>
                <a:srgbClr val="000000"/>
              </a:solidFill>
            </a:endParaRPr>
          </a:p>
          <a:p>
            <a:pPr lvl="1"/>
            <a:r>
              <a:rPr lang="zh-CN" altLang="en-US" dirty="0" smtClean="0">
                <a:solidFill>
                  <a:srgbClr val="000000"/>
                </a:solidFill>
              </a:rPr>
              <a:t>若有中断请求，则进入中断响应状态</a:t>
            </a:r>
            <a:endParaRPr lang="en-US" altLang="zh-CN" dirty="0" smtClean="0">
              <a:solidFill>
                <a:srgbClr val="000000"/>
              </a:solidFill>
            </a:endParaRPr>
          </a:p>
          <a:p>
            <a:r>
              <a:rPr lang="zh-CN" altLang="en-US" sz="2400" dirty="0" smtClean="0">
                <a:solidFill>
                  <a:srgbClr val="000000"/>
                </a:solidFill>
              </a:rPr>
              <a:t>检测时需要判断是否中断允许等</a:t>
            </a:r>
            <a:endParaRPr lang="en-US" altLang="zh-CN" sz="2400" dirty="0" smtClean="0">
              <a:solidFill>
                <a:srgbClr val="000000"/>
              </a:solidFill>
            </a:endParaRPr>
          </a:p>
          <a:p>
            <a:r>
              <a:rPr lang="zh-CN" altLang="en-US" sz="2400" dirty="0" smtClean="0">
                <a:solidFill>
                  <a:srgbClr val="000000"/>
                </a:solidFill>
              </a:rPr>
              <a:t>解决方法：</a:t>
            </a:r>
            <a:endParaRPr lang="en-US" altLang="zh-CN" sz="2400" dirty="0" smtClean="0">
              <a:solidFill>
                <a:srgbClr val="000000"/>
              </a:solidFill>
            </a:endParaRPr>
          </a:p>
          <a:p>
            <a:pPr lvl="1"/>
            <a:r>
              <a:rPr lang="en-US" altLang="zh-CN" dirty="0" err="1" smtClean="0">
                <a:solidFill>
                  <a:srgbClr val="000000"/>
                </a:solidFill>
                <a:latin typeface="Courier New" panose="02070309020205020404" pitchFamily="49" charset="0"/>
                <a:cs typeface="Courier New" panose="02070309020205020404" pitchFamily="49" charset="0"/>
              </a:rPr>
              <a:t>IntReq</a:t>
            </a:r>
            <a:r>
              <a:rPr lang="en-US" altLang="zh-CN" dirty="0" smtClean="0">
                <a:solidFill>
                  <a:srgbClr val="000000"/>
                </a:solidFill>
                <a:latin typeface="Courier New" panose="02070309020205020404" pitchFamily="49" charset="0"/>
                <a:cs typeface="Courier New" panose="02070309020205020404" pitchFamily="49" charset="0"/>
              </a:rPr>
              <a:t> = </a:t>
            </a:r>
            <a:r>
              <a:rPr lang="en-US" altLang="zh-CN" dirty="0" smtClean="0">
                <a:solidFill>
                  <a:srgbClr val="FF0000"/>
                </a:solidFill>
                <a:latin typeface="Courier New" panose="02070309020205020404" pitchFamily="49" charset="0"/>
                <a:cs typeface="Courier New" panose="02070309020205020404" pitchFamily="49" charset="0"/>
              </a:rPr>
              <a:t>|</a:t>
            </a:r>
            <a:r>
              <a:rPr lang="en-US" altLang="zh-CN" dirty="0" smtClean="0">
                <a:solidFill>
                  <a:srgbClr val="000000"/>
                </a:solidFill>
                <a:latin typeface="Courier New" panose="02070309020205020404" pitchFamily="49" charset="0"/>
                <a:cs typeface="Courier New" panose="02070309020205020404" pitchFamily="49" charset="0"/>
              </a:rPr>
              <a:t>(</a:t>
            </a:r>
            <a:r>
              <a:rPr lang="en-US" altLang="zh-CN" dirty="0" err="1" smtClean="0">
                <a:solidFill>
                  <a:srgbClr val="000000"/>
                </a:solidFill>
                <a:latin typeface="Courier New" panose="02070309020205020404" pitchFamily="49" charset="0"/>
                <a:cs typeface="Courier New" panose="02070309020205020404" pitchFamily="49" charset="0"/>
              </a:rPr>
              <a:t>HWInt</a:t>
            </a:r>
            <a:r>
              <a:rPr lang="en-US" altLang="zh-CN" dirty="0" smtClean="0">
                <a:solidFill>
                  <a:srgbClr val="000000"/>
                </a:solidFill>
                <a:latin typeface="Courier New" panose="02070309020205020404" pitchFamily="49" charset="0"/>
                <a:cs typeface="Courier New" panose="02070309020205020404" pitchFamily="49" charset="0"/>
              </a:rPr>
              <a:t>[7:2] &amp; IM[15:10]) &amp; IE &amp; !EXL</a:t>
            </a:r>
          </a:p>
        </p:txBody>
      </p:sp>
      <p:sp>
        <p:nvSpPr>
          <p:cNvPr id="168" name="矩形 167"/>
          <p:cNvSpPr/>
          <p:nvPr/>
        </p:nvSpPr>
        <p:spPr bwMode="auto">
          <a:xfrm>
            <a:off x="1524000" y="6525344"/>
            <a:ext cx="9144000" cy="332656"/>
          </a:xfrm>
          <a:prstGeom prst="rect">
            <a:avLst/>
          </a:prstGeom>
          <a:solidFill>
            <a:schemeClr val="bg1"/>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60" name="Oval 249"/>
          <p:cNvSpPr>
            <a:spLocks noChangeArrowheads="1"/>
          </p:cNvSpPr>
          <p:nvPr/>
        </p:nvSpPr>
        <p:spPr bwMode="auto">
          <a:xfrm>
            <a:off x="8472266" y="96961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S0</a:t>
            </a:r>
          </a:p>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Fetch</a:t>
            </a:r>
            <a:endParaRPr lang="zh-CN" altLang="en-US" sz="1200" b="0" kern="0" dirty="0">
              <a:solidFill>
                <a:prstClr val="black"/>
              </a:solidFill>
              <a:latin typeface="Calibri" panose="020F0502020204030204"/>
              <a:ea typeface="宋体" panose="02010600030101010101" pitchFamily="2" charset="-122"/>
            </a:endParaRPr>
          </a:p>
        </p:txBody>
      </p:sp>
      <p:sp>
        <p:nvSpPr>
          <p:cNvPr id="161" name="Oval 250"/>
          <p:cNvSpPr>
            <a:spLocks noChangeArrowheads="1"/>
          </p:cNvSpPr>
          <p:nvPr/>
        </p:nvSpPr>
        <p:spPr bwMode="auto">
          <a:xfrm>
            <a:off x="9408456" y="96961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S1</a:t>
            </a:r>
          </a:p>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DCD/RF</a:t>
            </a:r>
          </a:p>
        </p:txBody>
      </p:sp>
      <p:sp>
        <p:nvSpPr>
          <p:cNvPr id="162" name="Oval 251"/>
          <p:cNvSpPr>
            <a:spLocks noChangeArrowheads="1"/>
          </p:cNvSpPr>
          <p:nvPr/>
        </p:nvSpPr>
        <p:spPr bwMode="auto">
          <a:xfrm>
            <a:off x="8472326" y="165015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S2</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MA</a:t>
            </a:r>
            <a:endParaRPr lang="zh-CN" altLang="en-US" sz="1200" b="0" kern="0" dirty="0">
              <a:solidFill>
                <a:prstClr val="black"/>
              </a:solidFill>
              <a:latin typeface="Calibri" panose="020F0502020204030204"/>
              <a:ea typeface="宋体" panose="02010600030101010101" pitchFamily="2" charset="-122"/>
            </a:endParaRPr>
          </a:p>
        </p:txBody>
      </p:sp>
      <p:sp>
        <p:nvSpPr>
          <p:cNvPr id="163" name="Oval 252"/>
          <p:cNvSpPr>
            <a:spLocks noChangeArrowheads="1"/>
          </p:cNvSpPr>
          <p:nvPr/>
        </p:nvSpPr>
        <p:spPr bwMode="auto">
          <a:xfrm>
            <a:off x="9093531" y="165015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S6</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EXE</a:t>
            </a:r>
            <a:endParaRPr lang="zh-CN" altLang="en-US" sz="1200" b="0" kern="0" dirty="0">
              <a:solidFill>
                <a:prstClr val="black"/>
              </a:solidFill>
              <a:latin typeface="Calibri" panose="020F0502020204030204"/>
              <a:ea typeface="宋体" panose="02010600030101010101" pitchFamily="2" charset="-122"/>
            </a:endParaRPr>
          </a:p>
        </p:txBody>
      </p:sp>
      <p:sp>
        <p:nvSpPr>
          <p:cNvPr id="165" name="Oval 254"/>
          <p:cNvSpPr>
            <a:spLocks noChangeArrowheads="1"/>
          </p:cNvSpPr>
          <p:nvPr/>
        </p:nvSpPr>
        <p:spPr bwMode="auto">
          <a:xfrm>
            <a:off x="10338461" y="165015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S9</a:t>
            </a:r>
          </a:p>
          <a:p>
            <a:pPr algn="ctr" fontAlgn="auto">
              <a:spcBef>
                <a:spcPts val="0"/>
              </a:spcBef>
              <a:spcAft>
                <a:spcPts val="0"/>
              </a:spcAft>
            </a:pPr>
            <a:r>
              <a:rPr lang="en-US" altLang="zh-CN" sz="1200" b="0" kern="0" dirty="0" err="1" smtClean="0">
                <a:solidFill>
                  <a:prstClr val="black"/>
                </a:solidFill>
                <a:latin typeface="Calibri" panose="020F0502020204030204"/>
                <a:ea typeface="宋体" panose="02010600030101010101" pitchFamily="2" charset="-122"/>
              </a:rPr>
              <a:t>Jmp</a:t>
            </a:r>
            <a:endParaRPr lang="zh-CN" altLang="en-US" sz="1200" b="0" kern="0" dirty="0">
              <a:solidFill>
                <a:prstClr val="black"/>
              </a:solidFill>
              <a:latin typeface="Calibri" panose="020F0502020204030204"/>
              <a:ea typeface="宋体" panose="02010600030101010101" pitchFamily="2" charset="-122"/>
            </a:endParaRPr>
          </a:p>
        </p:txBody>
      </p:sp>
      <p:sp>
        <p:nvSpPr>
          <p:cNvPr id="166" name="Oval 255"/>
          <p:cNvSpPr>
            <a:spLocks noChangeArrowheads="1"/>
          </p:cNvSpPr>
          <p:nvPr/>
        </p:nvSpPr>
        <p:spPr bwMode="auto">
          <a:xfrm>
            <a:off x="8138565" y="268836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S3</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MR</a:t>
            </a:r>
            <a:endParaRPr lang="zh-CN" altLang="en-US" sz="1200" b="0" kern="0" dirty="0">
              <a:solidFill>
                <a:prstClr val="black"/>
              </a:solidFill>
              <a:latin typeface="Calibri" panose="020F0502020204030204"/>
              <a:ea typeface="宋体" panose="02010600030101010101" pitchFamily="2" charset="-122"/>
            </a:endParaRPr>
          </a:p>
        </p:txBody>
      </p:sp>
      <p:sp>
        <p:nvSpPr>
          <p:cNvPr id="167" name="Oval 256"/>
          <p:cNvSpPr>
            <a:spLocks noChangeArrowheads="1"/>
          </p:cNvSpPr>
          <p:nvPr/>
        </p:nvSpPr>
        <p:spPr bwMode="auto">
          <a:xfrm>
            <a:off x="8760402" y="268836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S5</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MW</a:t>
            </a:r>
            <a:endParaRPr lang="zh-CN" altLang="en-US" sz="1200" b="0" kern="0" dirty="0">
              <a:solidFill>
                <a:prstClr val="black"/>
              </a:solidFill>
              <a:latin typeface="Calibri" panose="020F0502020204030204"/>
              <a:ea typeface="宋体" panose="02010600030101010101" pitchFamily="2" charset="-122"/>
            </a:endParaRPr>
          </a:p>
        </p:txBody>
      </p:sp>
      <p:sp>
        <p:nvSpPr>
          <p:cNvPr id="169" name="Oval 257"/>
          <p:cNvSpPr>
            <a:spLocks noChangeArrowheads="1"/>
          </p:cNvSpPr>
          <p:nvPr/>
        </p:nvSpPr>
        <p:spPr bwMode="auto">
          <a:xfrm>
            <a:off x="9408492" y="2687446"/>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S7</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WB</a:t>
            </a:r>
            <a:endParaRPr lang="zh-CN" altLang="en-US" sz="1200" b="0" kern="0" dirty="0">
              <a:solidFill>
                <a:prstClr val="black"/>
              </a:solidFill>
              <a:latin typeface="Calibri" panose="020F0502020204030204"/>
              <a:ea typeface="宋体" panose="02010600030101010101" pitchFamily="2" charset="-122"/>
            </a:endParaRPr>
          </a:p>
        </p:txBody>
      </p:sp>
      <p:sp>
        <p:nvSpPr>
          <p:cNvPr id="171" name="Oval 260"/>
          <p:cNvSpPr>
            <a:spLocks noChangeArrowheads="1"/>
          </p:cNvSpPr>
          <p:nvPr/>
        </p:nvSpPr>
        <p:spPr bwMode="auto">
          <a:xfrm>
            <a:off x="10128592" y="2687446"/>
            <a:ext cx="432000" cy="432000"/>
          </a:xfrm>
          <a:prstGeom prst="ellipse">
            <a:avLst/>
          </a:prstGeom>
          <a:solidFill>
            <a:schemeClr val="bg1"/>
          </a:solidFill>
          <a:ln w="9525" algn="ctr">
            <a:solidFill>
              <a:sysClr val="windowText" lastClr="000000"/>
            </a:solidFill>
            <a:round/>
          </a:ln>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S10</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INT</a:t>
            </a:r>
            <a:endParaRPr lang="zh-CN" altLang="en-US" sz="1200" b="0" kern="0" dirty="0">
              <a:solidFill>
                <a:prstClr val="black"/>
              </a:solidFill>
              <a:latin typeface="Calibri" panose="020F0502020204030204"/>
              <a:ea typeface="宋体" panose="02010600030101010101" pitchFamily="2" charset="-122"/>
            </a:endParaRPr>
          </a:p>
        </p:txBody>
      </p:sp>
      <p:cxnSp>
        <p:nvCxnSpPr>
          <p:cNvPr id="172" name="AutoShape 266"/>
          <p:cNvCxnSpPr>
            <a:cxnSpLocks noChangeShapeType="1"/>
            <a:stCxn id="160" idx="6"/>
            <a:endCxn id="161" idx="2"/>
          </p:cNvCxnSpPr>
          <p:nvPr/>
        </p:nvCxnSpPr>
        <p:spPr bwMode="auto">
          <a:xfrm>
            <a:off x="8904266" y="1185610"/>
            <a:ext cx="504190"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3" name="AutoShape 267"/>
          <p:cNvCxnSpPr>
            <a:cxnSpLocks noChangeShapeType="1"/>
            <a:stCxn id="161" idx="3"/>
            <a:endCxn id="162" idx="7"/>
          </p:cNvCxnSpPr>
          <p:nvPr/>
        </p:nvCxnSpPr>
        <p:spPr bwMode="auto">
          <a:xfrm flipH="1">
            <a:off x="8840531" y="1337710"/>
            <a:ext cx="631190" cy="3759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4" name="AutoShape 268"/>
          <p:cNvCxnSpPr>
            <a:cxnSpLocks noChangeShapeType="1"/>
            <a:stCxn id="161" idx="4"/>
            <a:endCxn id="163" idx="7"/>
          </p:cNvCxnSpPr>
          <p:nvPr/>
        </p:nvCxnSpPr>
        <p:spPr bwMode="auto">
          <a:xfrm flipH="1">
            <a:off x="9461896" y="1401610"/>
            <a:ext cx="161925"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5" name="AutoShape 269"/>
          <p:cNvCxnSpPr>
            <a:cxnSpLocks noChangeShapeType="1"/>
            <a:stCxn id="161" idx="5"/>
            <a:endCxn id="164" idx="0"/>
          </p:cNvCxnSpPr>
          <p:nvPr/>
        </p:nvCxnSpPr>
        <p:spPr bwMode="auto">
          <a:xfrm>
            <a:off x="9776556" y="1337710"/>
            <a:ext cx="156210"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6" name="AutoShape 270"/>
          <p:cNvCxnSpPr>
            <a:cxnSpLocks noChangeShapeType="1"/>
            <a:stCxn id="161" idx="6"/>
            <a:endCxn id="165" idx="0"/>
          </p:cNvCxnSpPr>
          <p:nvPr/>
        </p:nvCxnSpPr>
        <p:spPr bwMode="auto">
          <a:xfrm>
            <a:off x="9839821" y="1185610"/>
            <a:ext cx="714375" cy="4648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7" name="AutoShape 271"/>
          <p:cNvCxnSpPr>
            <a:cxnSpLocks noChangeShapeType="1"/>
            <a:stCxn id="162" idx="3"/>
            <a:endCxn id="166" idx="0"/>
          </p:cNvCxnSpPr>
          <p:nvPr/>
        </p:nvCxnSpPr>
        <p:spPr bwMode="auto">
          <a:xfrm flipH="1">
            <a:off x="8354616" y="2018890"/>
            <a:ext cx="180975"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8" name="AutoShape 272"/>
          <p:cNvCxnSpPr>
            <a:cxnSpLocks noChangeShapeType="1"/>
            <a:stCxn id="162" idx="5"/>
            <a:endCxn id="167" idx="0"/>
          </p:cNvCxnSpPr>
          <p:nvPr/>
        </p:nvCxnSpPr>
        <p:spPr bwMode="auto">
          <a:xfrm>
            <a:off x="8840426" y="2018890"/>
            <a:ext cx="135890"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9" name="AutoShape 273"/>
          <p:cNvCxnSpPr>
            <a:cxnSpLocks noChangeShapeType="1"/>
            <a:stCxn id="163" idx="4"/>
            <a:endCxn id="169" idx="0"/>
          </p:cNvCxnSpPr>
          <p:nvPr/>
        </p:nvCxnSpPr>
        <p:spPr bwMode="auto">
          <a:xfrm>
            <a:off x="9309531" y="2082155"/>
            <a:ext cx="314960" cy="60515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0" name="Freeform 279"/>
          <p:cNvSpPr/>
          <p:nvPr/>
        </p:nvSpPr>
        <p:spPr bwMode="auto">
          <a:xfrm flipV="1">
            <a:off x="9923180" y="2065437"/>
            <a:ext cx="997426" cy="289966"/>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sp>
        <p:nvSpPr>
          <p:cNvPr id="181" name="Oval 287"/>
          <p:cNvSpPr>
            <a:spLocks noChangeArrowheads="1"/>
          </p:cNvSpPr>
          <p:nvPr/>
        </p:nvSpPr>
        <p:spPr bwMode="auto">
          <a:xfrm>
            <a:off x="8139479" y="334600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S4</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MWB</a:t>
            </a:r>
            <a:endParaRPr lang="zh-CN" altLang="en-US" sz="1200" b="0" kern="0" dirty="0">
              <a:solidFill>
                <a:prstClr val="black"/>
              </a:solidFill>
              <a:latin typeface="Calibri" panose="020F0502020204030204"/>
              <a:ea typeface="宋体" panose="02010600030101010101" pitchFamily="2" charset="-122"/>
            </a:endParaRPr>
          </a:p>
        </p:txBody>
      </p:sp>
      <p:cxnSp>
        <p:nvCxnSpPr>
          <p:cNvPr id="182" name="AutoShape 288"/>
          <p:cNvCxnSpPr>
            <a:cxnSpLocks noChangeShapeType="1"/>
            <a:stCxn id="166" idx="4"/>
            <a:endCxn id="181" idx="0"/>
          </p:cNvCxnSpPr>
          <p:nvPr/>
        </p:nvCxnSpPr>
        <p:spPr bwMode="auto">
          <a:xfrm>
            <a:off x="8354565" y="3120361"/>
            <a:ext cx="635" cy="2254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3" name="Line 290"/>
          <p:cNvSpPr>
            <a:spLocks noChangeShapeType="1"/>
          </p:cNvSpPr>
          <p:nvPr/>
        </p:nvSpPr>
        <p:spPr bwMode="auto">
          <a:xfrm>
            <a:off x="8570565" y="3561970"/>
            <a:ext cx="2350041"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184" name="AutoShape 292"/>
          <p:cNvCxnSpPr>
            <a:cxnSpLocks noChangeShapeType="1"/>
            <a:stCxn id="167" idx="4"/>
          </p:cNvCxnSpPr>
          <p:nvPr/>
        </p:nvCxnSpPr>
        <p:spPr bwMode="auto">
          <a:xfrm>
            <a:off x="8976402" y="3120361"/>
            <a:ext cx="0" cy="441639"/>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5" name="AutoShape 293"/>
          <p:cNvCxnSpPr>
            <a:cxnSpLocks noChangeShapeType="1"/>
            <a:stCxn id="169" idx="4"/>
          </p:cNvCxnSpPr>
          <p:nvPr/>
        </p:nvCxnSpPr>
        <p:spPr bwMode="auto">
          <a:xfrm>
            <a:off x="9624492" y="3118811"/>
            <a:ext cx="0" cy="442554"/>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8" name="AutoShape 303"/>
          <p:cNvCxnSpPr>
            <a:cxnSpLocks noChangeShapeType="1"/>
          </p:cNvCxnSpPr>
          <p:nvPr/>
        </p:nvCxnSpPr>
        <p:spPr bwMode="auto">
          <a:xfrm>
            <a:off x="10546103" y="2064523"/>
            <a:ext cx="914" cy="29088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9" name="Freeform 307"/>
          <p:cNvSpPr/>
          <p:nvPr/>
        </p:nvSpPr>
        <p:spPr bwMode="auto">
          <a:xfrm flipH="1">
            <a:off x="9260009" y="2479805"/>
            <a:ext cx="1094362" cy="207641"/>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191" name="AutoShape 312"/>
          <p:cNvCxnSpPr>
            <a:cxnSpLocks noChangeShapeType="1"/>
          </p:cNvCxnSpPr>
          <p:nvPr/>
        </p:nvCxnSpPr>
        <p:spPr bwMode="auto">
          <a:xfrm>
            <a:off x="10344592" y="3088034"/>
            <a:ext cx="914" cy="473966"/>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92" name="Freeform 314"/>
          <p:cNvSpPr/>
          <p:nvPr/>
        </p:nvSpPr>
        <p:spPr bwMode="auto">
          <a:xfrm flipH="1">
            <a:off x="10354370" y="2023361"/>
            <a:ext cx="62201" cy="458460"/>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sp>
        <p:nvSpPr>
          <p:cNvPr id="193" name="Freeform 315"/>
          <p:cNvSpPr/>
          <p:nvPr/>
        </p:nvSpPr>
        <p:spPr bwMode="auto">
          <a:xfrm>
            <a:off x="10047581" y="2023360"/>
            <a:ext cx="124402" cy="456445"/>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223" name="AutoShape 317"/>
          <p:cNvCxnSpPr>
            <a:cxnSpLocks noChangeShapeType="1"/>
            <a:endCxn id="160" idx="2"/>
          </p:cNvCxnSpPr>
          <p:nvPr/>
        </p:nvCxnSpPr>
        <p:spPr bwMode="auto">
          <a:xfrm>
            <a:off x="8139479" y="1185610"/>
            <a:ext cx="332787"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224" name="AutoShape 322"/>
          <p:cNvCxnSpPr>
            <a:cxnSpLocks noChangeShapeType="1"/>
            <a:stCxn id="169" idx="7"/>
          </p:cNvCxnSpPr>
          <p:nvPr/>
        </p:nvCxnSpPr>
        <p:spPr bwMode="auto">
          <a:xfrm flipV="1">
            <a:off x="9777227" y="2479807"/>
            <a:ext cx="104790" cy="270904"/>
          </a:xfrm>
          <a:prstGeom prst="straightConnector1">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cxnSp>
      <p:sp>
        <p:nvSpPr>
          <p:cNvPr id="226" name="Freeform 323"/>
          <p:cNvSpPr/>
          <p:nvPr/>
        </p:nvSpPr>
        <p:spPr bwMode="auto">
          <a:xfrm>
            <a:off x="8512684" y="3060652"/>
            <a:ext cx="1670214" cy="332043"/>
          </a:xfrm>
          <a:custGeom>
            <a:avLst/>
            <a:gdLst>
              <a:gd name="T0" fmla="*/ 0 w 2540"/>
              <a:gd name="T1" fmla="*/ 2147483647 h 363"/>
              <a:gd name="T2" fmla="*/ 2147483647 w 2540"/>
              <a:gd name="T3" fmla="*/ 2147483647 h 363"/>
              <a:gd name="T4" fmla="*/ 2147483647 w 2540"/>
              <a:gd name="T5" fmla="*/ 2147483647 h 363"/>
              <a:gd name="T6" fmla="*/ 2147483647 w 2540"/>
              <a:gd name="T7" fmla="*/ 0 h 363"/>
              <a:gd name="T8" fmla="*/ 0 60000 65536"/>
              <a:gd name="T9" fmla="*/ 0 60000 65536"/>
              <a:gd name="T10" fmla="*/ 0 60000 65536"/>
              <a:gd name="T11" fmla="*/ 0 60000 65536"/>
              <a:gd name="T12" fmla="*/ 0 w 2540"/>
              <a:gd name="T13" fmla="*/ 0 h 363"/>
              <a:gd name="T14" fmla="*/ 2540 w 2540"/>
              <a:gd name="T15" fmla="*/ 363 h 363"/>
            </a:gdLst>
            <a:ahLst/>
            <a:cxnLst>
              <a:cxn ang="T8">
                <a:pos x="T0" y="T1"/>
              </a:cxn>
              <a:cxn ang="T9">
                <a:pos x="T2" y="T3"/>
              </a:cxn>
              <a:cxn ang="T10">
                <a:pos x="T4" y="T5"/>
              </a:cxn>
              <a:cxn ang="T11">
                <a:pos x="T6" y="T7"/>
              </a:cxn>
            </a:cxnLst>
            <a:rect l="T12" t="T13" r="T14" b="T15"/>
            <a:pathLst>
              <a:path w="2540" h="363">
                <a:moveTo>
                  <a:pt x="0" y="363"/>
                </a:moveTo>
                <a:lnTo>
                  <a:pt x="91" y="227"/>
                </a:lnTo>
                <a:lnTo>
                  <a:pt x="2359" y="227"/>
                </a:lnTo>
                <a:lnTo>
                  <a:pt x="2540" y="0"/>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227" name="AutoShape 322"/>
          <p:cNvCxnSpPr>
            <a:cxnSpLocks noChangeShapeType="1"/>
            <a:stCxn id="167" idx="7"/>
          </p:cNvCxnSpPr>
          <p:nvPr/>
        </p:nvCxnSpPr>
        <p:spPr bwMode="auto">
          <a:xfrm flipV="1">
            <a:off x="9128502" y="2482456"/>
            <a:ext cx="135275" cy="269805"/>
          </a:xfrm>
          <a:prstGeom prst="straightConnector1">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cxnSp>
      <p:sp>
        <p:nvSpPr>
          <p:cNvPr id="228" name="Line 290"/>
          <p:cNvSpPr>
            <a:spLocks noChangeShapeType="1"/>
          </p:cNvSpPr>
          <p:nvPr/>
        </p:nvSpPr>
        <p:spPr bwMode="auto">
          <a:xfrm flipV="1">
            <a:off x="10920606" y="897600"/>
            <a:ext cx="0" cy="26644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sp>
        <p:nvSpPr>
          <p:cNvPr id="229" name="Line 290"/>
          <p:cNvSpPr>
            <a:spLocks noChangeShapeType="1"/>
          </p:cNvSpPr>
          <p:nvPr/>
        </p:nvSpPr>
        <p:spPr bwMode="auto">
          <a:xfrm>
            <a:off x="9048346" y="897600"/>
            <a:ext cx="1872259"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230" name="AutoShape 268"/>
          <p:cNvCxnSpPr>
            <a:cxnSpLocks noChangeShapeType="1"/>
            <a:endCxn id="160" idx="7"/>
          </p:cNvCxnSpPr>
          <p:nvPr/>
        </p:nvCxnSpPr>
        <p:spPr bwMode="auto">
          <a:xfrm flipH="1">
            <a:off x="8840366" y="897630"/>
            <a:ext cx="207345" cy="13524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64" name="Oval 253"/>
          <p:cNvSpPr>
            <a:spLocks noChangeArrowheads="1"/>
          </p:cNvSpPr>
          <p:nvPr/>
        </p:nvSpPr>
        <p:spPr bwMode="auto">
          <a:xfrm>
            <a:off x="9716453" y="1650155"/>
            <a:ext cx="432000" cy="432000"/>
          </a:xfrm>
          <a:prstGeom prst="ellipse">
            <a:avLst/>
          </a:prstGeom>
          <a:solidFill>
            <a:schemeClr val="bg1"/>
          </a:solidFill>
          <a:ln w="9525" algn="ctr">
            <a:solidFill>
              <a:sysClr val="windowText" lastClr="000000"/>
            </a:solidFill>
            <a:round/>
          </a:ln>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S8</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Branch</a:t>
            </a:r>
            <a:endParaRPr lang="zh-CN" altLang="en-US" sz="1200" b="0" kern="0" dirty="0">
              <a:solidFill>
                <a:prstClr val="black"/>
              </a:solidFill>
              <a:latin typeface="Calibri" panose="020F0502020204030204"/>
              <a:ea typeface="宋体" panose="02010600030101010101" pitchFamily="2" charset="-122"/>
            </a:endParaRPr>
          </a:p>
        </p:txBody>
      </p:sp>
      <p:sp>
        <p:nvSpPr>
          <p:cNvPr id="43" name="线形标注 1 42"/>
          <p:cNvSpPr/>
          <p:nvPr/>
        </p:nvSpPr>
        <p:spPr bwMode="auto">
          <a:xfrm>
            <a:off x="9506755" y="3922020"/>
            <a:ext cx="1296180" cy="612648"/>
          </a:xfrm>
          <a:prstGeom prst="borderCallout1">
            <a:avLst>
              <a:gd name="adj1" fmla="val 18750"/>
              <a:gd name="adj2" fmla="val -8333"/>
              <a:gd name="adj3" fmla="val -100719"/>
              <a:gd name="adj4" fmla="val -28255"/>
            </a:avLst>
          </a:prstGeom>
          <a:ln w="38100">
            <a:headEnd type="none" w="med" len="med"/>
            <a:tailEnd type="triangle" w="lg" len="lg"/>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r>
              <a:rPr kumimoji="0" lang="en-US" altLang="zh-CN" sz="2800" b="0" i="0" u="none" strike="noStrike" cap="none" normalizeH="0" baseline="0" dirty="0" err="1" smtClean="0">
                <a:ln>
                  <a:noFill/>
                </a:ln>
                <a:solidFill>
                  <a:schemeClr val="bg1"/>
                </a:solidFill>
                <a:effectLst/>
                <a:latin typeface="Cambria" panose="02040503050406030204" pitchFamily="18" charset="0"/>
                <a:ea typeface="宋体" panose="02010600030101010101" pitchFamily="2" charset="-122"/>
                <a:sym typeface="Wingdings" panose="05000000000000000000" pitchFamily="2" charset="2"/>
              </a:rPr>
              <a:t>IntReq</a:t>
            </a:r>
            <a:endParaRPr kumimoji="0" lang="zh-CN" altLang="en-US" sz="2800" b="0" i="0" u="none" strike="noStrike" cap="none" normalizeH="0" baseline="0" dirty="0" smtClean="0">
              <a:ln>
                <a:noFill/>
              </a:ln>
              <a:solidFill>
                <a:schemeClr val="bg1"/>
              </a:solidFill>
              <a:effectLst/>
              <a:latin typeface="Cambria" panose="02040503050406030204" pitchFamily="18" charset="0"/>
              <a:ea typeface="宋体" panose="02010600030101010101" pitchFamily="2" charset="-122"/>
              <a:sym typeface="Wingdings" panose="05000000000000000000" pitchFamily="2" charset="2"/>
            </a:endParaRPr>
          </a:p>
        </p:txBody>
      </p:sp>
      <p:pic>
        <p:nvPicPr>
          <p:cNvPr id="103426" name="Picture 2"/>
          <p:cNvPicPr>
            <a:picLocks noChangeAspect="1" noChangeArrowheads="1"/>
          </p:cNvPicPr>
          <p:nvPr/>
        </p:nvPicPr>
        <p:blipFill>
          <a:blip r:embed="rId3" cstate="print"/>
          <a:srcRect/>
          <a:stretch>
            <a:fillRect/>
          </a:stretch>
        </p:blipFill>
        <p:spPr bwMode="auto">
          <a:xfrm>
            <a:off x="1525080" y="3600298"/>
            <a:ext cx="6300000" cy="3105222"/>
          </a:xfrm>
          <a:prstGeom prst="rect">
            <a:avLst/>
          </a:prstGeom>
          <a:noFill/>
          <a:ln w="9525">
            <a:noFill/>
            <a:miter lim="800000"/>
            <a:headEnd/>
            <a:tailEnd/>
          </a:ln>
        </p:spPr>
      </p:pic>
      <p:sp>
        <p:nvSpPr>
          <p:cNvPr id="46" name="标题 2"/>
          <p:cNvSpPr>
            <a:spLocks noGrp="1"/>
          </p:cNvSpPr>
          <p:nvPr/>
        </p:nvSpPr>
        <p:spPr>
          <a:xfrm>
            <a:off x="0" y="300355"/>
            <a:ext cx="8527415"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5.3 </a:t>
            </a:r>
            <a:r>
              <a:rPr lang="zh-CN" altLang="en-US" dirty="0" smtClean="0">
                <a:sym typeface="+mn-ea"/>
              </a:rPr>
              <a:t>软硬件配合的中断响应机制</a:t>
            </a:r>
            <a:r>
              <a:rPr lang="en-US" altLang="zh-CN" dirty="0" smtClean="0">
                <a:sym typeface="+mn-ea"/>
              </a:rPr>
              <a:t>--</a:t>
            </a:r>
            <a:r>
              <a:rPr lang="zh-CN" altLang="en-US" dirty="0" smtClean="0">
                <a:sym typeface="+mn-ea"/>
              </a:rPr>
              <a:t>控制器</a:t>
            </a:r>
            <a:r>
              <a:rPr lang="en-US" altLang="zh-CN" dirty="0" smtClean="0">
                <a:sym typeface="+mn-ea"/>
              </a:rPr>
              <a:t>(1)</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2"/>
          <p:cNvPicPr>
            <a:picLocks noChangeAspect="1" noChangeArrowheads="1"/>
          </p:cNvPicPr>
          <p:nvPr/>
        </p:nvPicPr>
        <p:blipFill>
          <a:blip r:embed="rId2" cstate="print"/>
          <a:srcRect/>
          <a:stretch>
            <a:fillRect/>
          </a:stretch>
        </p:blipFill>
        <p:spPr bwMode="auto">
          <a:xfrm>
            <a:off x="1559370" y="3708248"/>
            <a:ext cx="6300000" cy="3105222"/>
          </a:xfrm>
          <a:prstGeom prst="rect">
            <a:avLst/>
          </a:prstGeom>
          <a:noFill/>
          <a:ln w="9525">
            <a:noFill/>
            <a:miter lim="800000"/>
            <a:headEnd/>
            <a:tailEnd/>
          </a:ln>
        </p:spPr>
      </p:pic>
      <p:sp>
        <p:nvSpPr>
          <p:cNvPr id="2" name="内容占位符 1"/>
          <p:cNvSpPr>
            <a:spLocks noGrp="1"/>
          </p:cNvSpPr>
          <p:nvPr>
            <p:ph idx="1"/>
          </p:nvPr>
        </p:nvSpPr>
        <p:spPr>
          <a:xfrm>
            <a:off x="479377" y="836930"/>
            <a:ext cx="7128204" cy="2320290"/>
          </a:xfrm>
        </p:spPr>
        <p:txBody>
          <a:bodyPr/>
          <a:lstStyle/>
          <a:p>
            <a:r>
              <a:rPr lang="zh-CN" altLang="en-US" sz="2000" dirty="0" smtClean="0">
                <a:solidFill>
                  <a:srgbClr val="FF0000"/>
                </a:solidFill>
              </a:rPr>
              <a:t>处理</a:t>
            </a:r>
            <a:r>
              <a:rPr lang="zh-CN" altLang="en-US" sz="2000" dirty="0" smtClean="0">
                <a:solidFill>
                  <a:srgbClr val="000000"/>
                </a:solidFill>
              </a:rPr>
              <a:t>：保存</a:t>
            </a:r>
            <a:r>
              <a:rPr lang="en-US" altLang="zh-CN" sz="2000" dirty="0" smtClean="0">
                <a:solidFill>
                  <a:srgbClr val="000000"/>
                </a:solidFill>
              </a:rPr>
              <a:t>PC</a:t>
            </a:r>
            <a:r>
              <a:rPr lang="en-US" altLang="zh-CN" sz="2000" dirty="0">
                <a:solidFill>
                  <a:srgbClr val="000000"/>
                </a:solidFill>
              </a:rPr>
              <a:t>/</a:t>
            </a:r>
            <a:r>
              <a:rPr lang="zh-CN" altLang="en-US" sz="2000" dirty="0" smtClean="0">
                <a:solidFill>
                  <a:srgbClr val="000000"/>
                </a:solidFill>
              </a:rPr>
              <a:t>跳转</a:t>
            </a:r>
            <a:r>
              <a:rPr lang="en-US" altLang="zh-CN" sz="2000" dirty="0" smtClean="0">
                <a:solidFill>
                  <a:srgbClr val="000000"/>
                </a:solidFill>
              </a:rPr>
              <a:t>/</a:t>
            </a:r>
            <a:r>
              <a:rPr lang="zh-CN" altLang="en-US" sz="2000" dirty="0" smtClean="0">
                <a:solidFill>
                  <a:srgbClr val="000000"/>
                </a:solidFill>
              </a:rPr>
              <a:t>关中断</a:t>
            </a:r>
            <a:r>
              <a:rPr lang="zh-CN" altLang="en-US" sz="2000" dirty="0">
                <a:solidFill>
                  <a:srgbClr val="000000"/>
                </a:solidFill>
              </a:rPr>
              <a:t>均</a:t>
            </a:r>
            <a:r>
              <a:rPr lang="zh-CN" altLang="en-US" sz="2000" dirty="0" smtClean="0">
                <a:solidFill>
                  <a:srgbClr val="000000"/>
                </a:solidFill>
              </a:rPr>
              <a:t>在中断响应状态完成</a:t>
            </a:r>
            <a:endParaRPr lang="en-US" altLang="zh-CN" sz="2000" dirty="0" smtClean="0">
              <a:solidFill>
                <a:srgbClr val="000000"/>
              </a:solidFill>
            </a:endParaRPr>
          </a:p>
          <a:p>
            <a:r>
              <a:rPr lang="zh-CN" altLang="en-US" sz="2000" dirty="0" smtClean="0">
                <a:solidFill>
                  <a:srgbClr val="000000"/>
                </a:solidFill>
                <a:sym typeface="Wingdings 2" panose="05020102010507070707"/>
              </a:rPr>
              <a:t></a:t>
            </a:r>
            <a:r>
              <a:rPr lang="zh-CN" altLang="en-US" sz="2000" dirty="0" smtClean="0">
                <a:solidFill>
                  <a:srgbClr val="000000"/>
                </a:solidFill>
              </a:rPr>
              <a:t>保存：将</a:t>
            </a:r>
            <a:r>
              <a:rPr lang="en-US" altLang="zh-CN" sz="2000" dirty="0" smtClean="0">
                <a:solidFill>
                  <a:srgbClr val="000000"/>
                </a:solidFill>
              </a:rPr>
              <a:t>PC</a:t>
            </a:r>
            <a:r>
              <a:rPr lang="zh-CN" altLang="en-US" sz="2000" dirty="0" smtClean="0">
                <a:solidFill>
                  <a:srgbClr val="000000"/>
                </a:solidFill>
              </a:rPr>
              <a:t>保存在</a:t>
            </a:r>
            <a:r>
              <a:rPr lang="en-US" altLang="zh-CN" sz="2000" dirty="0" smtClean="0">
                <a:solidFill>
                  <a:srgbClr val="000000"/>
                </a:solidFill>
              </a:rPr>
              <a:t>EPC</a:t>
            </a:r>
            <a:r>
              <a:rPr lang="zh-CN" altLang="en-US" sz="2000" dirty="0" smtClean="0">
                <a:solidFill>
                  <a:srgbClr val="000000"/>
                </a:solidFill>
              </a:rPr>
              <a:t>中</a:t>
            </a:r>
            <a:endParaRPr lang="en-US" altLang="zh-CN" sz="2000" dirty="0" smtClean="0">
              <a:solidFill>
                <a:srgbClr val="000000"/>
              </a:solidFill>
            </a:endParaRPr>
          </a:p>
          <a:p>
            <a:pPr lvl="1"/>
            <a:r>
              <a:rPr lang="zh-CN" altLang="en-US" sz="1800" dirty="0" smtClean="0">
                <a:solidFill>
                  <a:srgbClr val="000000"/>
                </a:solidFill>
              </a:rPr>
              <a:t>注意：</a:t>
            </a:r>
            <a:r>
              <a:rPr lang="en-US" altLang="zh-CN" sz="1800" dirty="0" smtClean="0">
                <a:solidFill>
                  <a:srgbClr val="000000"/>
                </a:solidFill>
              </a:rPr>
              <a:t>PC</a:t>
            </a:r>
            <a:r>
              <a:rPr lang="zh-CN" altLang="en-US" sz="1800" dirty="0" smtClean="0">
                <a:solidFill>
                  <a:srgbClr val="000000"/>
                </a:solidFill>
              </a:rPr>
              <a:t>已经存储新指令地址了</a:t>
            </a:r>
            <a:endParaRPr lang="en-US" altLang="zh-CN" sz="1800" dirty="0" smtClean="0">
              <a:solidFill>
                <a:srgbClr val="000000"/>
              </a:solidFill>
            </a:endParaRPr>
          </a:p>
          <a:p>
            <a:r>
              <a:rPr lang="zh-CN" altLang="en-US" sz="2000" dirty="0" smtClean="0">
                <a:solidFill>
                  <a:srgbClr val="000000"/>
                </a:solidFill>
                <a:sym typeface="Wingdings 2" panose="05020102010507070707"/>
              </a:rPr>
              <a:t></a:t>
            </a:r>
            <a:r>
              <a:rPr lang="zh-CN" altLang="en-US" sz="2000" dirty="0" smtClean="0">
                <a:solidFill>
                  <a:srgbClr val="000000"/>
                </a:solidFill>
              </a:rPr>
              <a:t>跳转：控制</a:t>
            </a:r>
            <a:r>
              <a:rPr lang="en-US" altLang="zh-CN" sz="2000" dirty="0" smtClean="0">
                <a:solidFill>
                  <a:srgbClr val="000000"/>
                </a:solidFill>
              </a:rPr>
              <a:t>NPC</a:t>
            </a:r>
            <a:r>
              <a:rPr lang="zh-CN" altLang="en-US" sz="2000" dirty="0" smtClean="0">
                <a:solidFill>
                  <a:srgbClr val="000000"/>
                </a:solidFill>
              </a:rPr>
              <a:t>产生中断处理程序入口地址，并写入</a:t>
            </a:r>
            <a:r>
              <a:rPr lang="en-US" altLang="zh-CN" sz="2000" dirty="0" smtClean="0">
                <a:solidFill>
                  <a:srgbClr val="000000"/>
                </a:solidFill>
              </a:rPr>
              <a:t>PC</a:t>
            </a:r>
          </a:p>
          <a:p>
            <a:r>
              <a:rPr lang="zh-CN" altLang="en-US" sz="2000" dirty="0" smtClean="0">
                <a:solidFill>
                  <a:srgbClr val="000000"/>
                </a:solidFill>
                <a:sym typeface="Wingdings 2" panose="05020102010507070707"/>
              </a:rPr>
              <a:t></a:t>
            </a:r>
            <a:r>
              <a:rPr lang="zh-CN" altLang="en-US" sz="2000" dirty="0" smtClean="0">
                <a:solidFill>
                  <a:srgbClr val="000000"/>
                </a:solidFill>
              </a:rPr>
              <a:t>关中断：</a:t>
            </a:r>
            <a:r>
              <a:rPr lang="en-US" altLang="zh-CN" sz="2000" dirty="0" smtClean="0">
                <a:solidFill>
                  <a:srgbClr val="000000"/>
                </a:solidFill>
              </a:rPr>
              <a:t>EXL</a:t>
            </a:r>
            <a:r>
              <a:rPr lang="zh-CN" altLang="en-US" sz="2000" dirty="0" smtClean="0">
                <a:solidFill>
                  <a:srgbClr val="000000"/>
                </a:solidFill>
              </a:rPr>
              <a:t>置位，防止再次进入</a:t>
            </a:r>
          </a:p>
        </p:txBody>
      </p:sp>
      <p:sp>
        <p:nvSpPr>
          <p:cNvPr id="160" name="Oval 249"/>
          <p:cNvSpPr>
            <a:spLocks noChangeArrowheads="1"/>
          </p:cNvSpPr>
          <p:nvPr/>
        </p:nvSpPr>
        <p:spPr bwMode="auto">
          <a:xfrm>
            <a:off x="8970741" y="90865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S0</a:t>
            </a:r>
          </a:p>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Fetch</a:t>
            </a:r>
            <a:endParaRPr lang="zh-CN" altLang="en-US" sz="1200" b="0" kern="0" dirty="0">
              <a:solidFill>
                <a:prstClr val="black"/>
              </a:solidFill>
              <a:latin typeface="Calibri" panose="020F0502020204030204"/>
              <a:ea typeface="宋体" panose="02010600030101010101" pitchFamily="2" charset="-122"/>
            </a:endParaRPr>
          </a:p>
        </p:txBody>
      </p:sp>
      <p:sp>
        <p:nvSpPr>
          <p:cNvPr id="161" name="Oval 250"/>
          <p:cNvSpPr>
            <a:spLocks noChangeArrowheads="1"/>
          </p:cNvSpPr>
          <p:nvPr/>
        </p:nvSpPr>
        <p:spPr bwMode="auto">
          <a:xfrm>
            <a:off x="9906931" y="90865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S1</a:t>
            </a:r>
          </a:p>
          <a:p>
            <a:pPr algn="ctr" fontAlgn="auto">
              <a:spcBef>
                <a:spcPts val="0"/>
              </a:spcBef>
              <a:spcAft>
                <a:spcPts val="0"/>
              </a:spcAft>
            </a:pPr>
            <a:r>
              <a:rPr lang="en-US" altLang="zh-CN" sz="1200" b="0" kern="0" dirty="0">
                <a:solidFill>
                  <a:prstClr val="black"/>
                </a:solidFill>
                <a:latin typeface="Calibri" panose="020F0502020204030204"/>
                <a:ea typeface="宋体" panose="02010600030101010101" pitchFamily="2" charset="-122"/>
              </a:rPr>
              <a:t>DCD/RF</a:t>
            </a:r>
          </a:p>
        </p:txBody>
      </p:sp>
      <p:sp>
        <p:nvSpPr>
          <p:cNvPr id="162" name="Oval 251"/>
          <p:cNvSpPr>
            <a:spLocks noChangeArrowheads="1"/>
          </p:cNvSpPr>
          <p:nvPr/>
        </p:nvSpPr>
        <p:spPr bwMode="auto">
          <a:xfrm>
            <a:off x="8970801" y="158919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S2</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MA</a:t>
            </a:r>
            <a:endParaRPr lang="zh-CN" altLang="en-US" sz="1200" b="0" kern="0" dirty="0">
              <a:solidFill>
                <a:prstClr val="black"/>
              </a:solidFill>
              <a:latin typeface="Calibri" panose="020F0502020204030204"/>
              <a:ea typeface="宋体" panose="02010600030101010101" pitchFamily="2" charset="-122"/>
            </a:endParaRPr>
          </a:p>
        </p:txBody>
      </p:sp>
      <p:sp>
        <p:nvSpPr>
          <p:cNvPr id="163" name="Oval 252"/>
          <p:cNvSpPr>
            <a:spLocks noChangeArrowheads="1"/>
          </p:cNvSpPr>
          <p:nvPr/>
        </p:nvSpPr>
        <p:spPr bwMode="auto">
          <a:xfrm>
            <a:off x="9592006" y="158919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S6</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EXE</a:t>
            </a:r>
            <a:endParaRPr lang="zh-CN" altLang="en-US" sz="1200" b="0" kern="0" dirty="0">
              <a:solidFill>
                <a:prstClr val="black"/>
              </a:solidFill>
              <a:latin typeface="Calibri" panose="020F0502020204030204"/>
              <a:ea typeface="宋体" panose="02010600030101010101" pitchFamily="2" charset="-122"/>
            </a:endParaRPr>
          </a:p>
        </p:txBody>
      </p:sp>
      <p:sp>
        <p:nvSpPr>
          <p:cNvPr id="165" name="Oval 254"/>
          <p:cNvSpPr>
            <a:spLocks noChangeArrowheads="1"/>
          </p:cNvSpPr>
          <p:nvPr/>
        </p:nvSpPr>
        <p:spPr bwMode="auto">
          <a:xfrm>
            <a:off x="10836936" y="158919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S9</a:t>
            </a:r>
          </a:p>
          <a:p>
            <a:pPr algn="ctr" fontAlgn="auto">
              <a:spcBef>
                <a:spcPts val="0"/>
              </a:spcBef>
              <a:spcAft>
                <a:spcPts val="0"/>
              </a:spcAft>
            </a:pPr>
            <a:r>
              <a:rPr lang="en-US" altLang="zh-CN" sz="1200" b="0" kern="0" dirty="0" err="1" smtClean="0">
                <a:solidFill>
                  <a:prstClr val="black"/>
                </a:solidFill>
                <a:latin typeface="Calibri" panose="020F0502020204030204"/>
                <a:ea typeface="宋体" panose="02010600030101010101" pitchFamily="2" charset="-122"/>
              </a:rPr>
              <a:t>Jmp</a:t>
            </a:r>
            <a:endParaRPr lang="zh-CN" altLang="en-US" sz="1200" b="0" kern="0" dirty="0">
              <a:solidFill>
                <a:prstClr val="black"/>
              </a:solidFill>
              <a:latin typeface="Calibri" panose="020F0502020204030204"/>
              <a:ea typeface="宋体" panose="02010600030101010101" pitchFamily="2" charset="-122"/>
            </a:endParaRPr>
          </a:p>
        </p:txBody>
      </p:sp>
      <p:sp>
        <p:nvSpPr>
          <p:cNvPr id="166" name="Oval 255"/>
          <p:cNvSpPr>
            <a:spLocks noChangeArrowheads="1"/>
          </p:cNvSpPr>
          <p:nvPr/>
        </p:nvSpPr>
        <p:spPr bwMode="auto">
          <a:xfrm>
            <a:off x="8637040" y="262740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S3</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MR</a:t>
            </a:r>
            <a:endParaRPr lang="zh-CN" altLang="en-US" sz="1200" b="0" kern="0" dirty="0">
              <a:solidFill>
                <a:prstClr val="black"/>
              </a:solidFill>
              <a:latin typeface="Calibri" panose="020F0502020204030204"/>
              <a:ea typeface="宋体" panose="02010600030101010101" pitchFamily="2" charset="-122"/>
            </a:endParaRPr>
          </a:p>
        </p:txBody>
      </p:sp>
      <p:sp>
        <p:nvSpPr>
          <p:cNvPr id="167" name="Oval 256"/>
          <p:cNvSpPr>
            <a:spLocks noChangeArrowheads="1"/>
          </p:cNvSpPr>
          <p:nvPr/>
        </p:nvSpPr>
        <p:spPr bwMode="auto">
          <a:xfrm>
            <a:off x="9258877" y="262740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S5</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MW</a:t>
            </a:r>
            <a:endParaRPr lang="zh-CN" altLang="en-US" sz="1200" b="0" kern="0" dirty="0">
              <a:solidFill>
                <a:prstClr val="black"/>
              </a:solidFill>
              <a:latin typeface="Calibri" panose="020F0502020204030204"/>
              <a:ea typeface="宋体" panose="02010600030101010101" pitchFamily="2" charset="-122"/>
            </a:endParaRPr>
          </a:p>
        </p:txBody>
      </p:sp>
      <p:sp>
        <p:nvSpPr>
          <p:cNvPr id="169" name="Oval 257"/>
          <p:cNvSpPr>
            <a:spLocks noChangeArrowheads="1"/>
          </p:cNvSpPr>
          <p:nvPr/>
        </p:nvSpPr>
        <p:spPr bwMode="auto">
          <a:xfrm>
            <a:off x="9906967" y="2626486"/>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S7</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WB</a:t>
            </a:r>
            <a:endParaRPr lang="zh-CN" altLang="en-US" sz="1200" b="0" kern="0" dirty="0">
              <a:solidFill>
                <a:prstClr val="black"/>
              </a:solidFill>
              <a:latin typeface="Calibri" panose="020F0502020204030204"/>
              <a:ea typeface="宋体" panose="02010600030101010101" pitchFamily="2" charset="-122"/>
            </a:endParaRPr>
          </a:p>
        </p:txBody>
      </p:sp>
      <p:cxnSp>
        <p:nvCxnSpPr>
          <p:cNvPr id="172" name="AutoShape 266"/>
          <p:cNvCxnSpPr>
            <a:cxnSpLocks noChangeShapeType="1"/>
            <a:stCxn id="160" idx="6"/>
            <a:endCxn id="161" idx="2"/>
          </p:cNvCxnSpPr>
          <p:nvPr/>
        </p:nvCxnSpPr>
        <p:spPr bwMode="auto">
          <a:xfrm>
            <a:off x="9402741" y="1124650"/>
            <a:ext cx="504190"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3" name="AutoShape 267"/>
          <p:cNvCxnSpPr>
            <a:cxnSpLocks noChangeShapeType="1"/>
            <a:stCxn id="161" idx="3"/>
            <a:endCxn id="162" idx="7"/>
          </p:cNvCxnSpPr>
          <p:nvPr/>
        </p:nvCxnSpPr>
        <p:spPr bwMode="auto">
          <a:xfrm flipH="1">
            <a:off x="9339006" y="1276750"/>
            <a:ext cx="631190" cy="3759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4" name="AutoShape 268"/>
          <p:cNvCxnSpPr>
            <a:cxnSpLocks noChangeShapeType="1"/>
            <a:stCxn id="161" idx="4"/>
            <a:endCxn id="163" idx="7"/>
          </p:cNvCxnSpPr>
          <p:nvPr/>
        </p:nvCxnSpPr>
        <p:spPr bwMode="auto">
          <a:xfrm flipH="1">
            <a:off x="9960371" y="1340650"/>
            <a:ext cx="161925"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5" name="AutoShape 269"/>
          <p:cNvCxnSpPr>
            <a:cxnSpLocks noChangeShapeType="1"/>
            <a:stCxn id="161" idx="5"/>
            <a:endCxn id="164" idx="0"/>
          </p:cNvCxnSpPr>
          <p:nvPr/>
        </p:nvCxnSpPr>
        <p:spPr bwMode="auto">
          <a:xfrm>
            <a:off x="10275031" y="1276750"/>
            <a:ext cx="156210"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6" name="AutoShape 270"/>
          <p:cNvCxnSpPr>
            <a:cxnSpLocks noChangeShapeType="1"/>
            <a:stCxn id="161" idx="6"/>
            <a:endCxn id="165" idx="0"/>
          </p:cNvCxnSpPr>
          <p:nvPr/>
        </p:nvCxnSpPr>
        <p:spPr bwMode="auto">
          <a:xfrm>
            <a:off x="10338296" y="1124650"/>
            <a:ext cx="714375" cy="4648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7" name="AutoShape 271"/>
          <p:cNvCxnSpPr>
            <a:cxnSpLocks noChangeShapeType="1"/>
            <a:stCxn id="162" idx="3"/>
            <a:endCxn id="166" idx="0"/>
          </p:cNvCxnSpPr>
          <p:nvPr/>
        </p:nvCxnSpPr>
        <p:spPr bwMode="auto">
          <a:xfrm flipH="1">
            <a:off x="8853091" y="1957930"/>
            <a:ext cx="180975"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8" name="AutoShape 272"/>
          <p:cNvCxnSpPr>
            <a:cxnSpLocks noChangeShapeType="1"/>
            <a:stCxn id="162" idx="5"/>
            <a:endCxn id="167" idx="0"/>
          </p:cNvCxnSpPr>
          <p:nvPr/>
        </p:nvCxnSpPr>
        <p:spPr bwMode="auto">
          <a:xfrm>
            <a:off x="9338901" y="1957930"/>
            <a:ext cx="135890"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9" name="AutoShape 273"/>
          <p:cNvCxnSpPr>
            <a:cxnSpLocks noChangeShapeType="1"/>
            <a:stCxn id="163" idx="4"/>
            <a:endCxn id="169" idx="0"/>
          </p:cNvCxnSpPr>
          <p:nvPr/>
        </p:nvCxnSpPr>
        <p:spPr bwMode="auto">
          <a:xfrm>
            <a:off x="9808006" y="2021195"/>
            <a:ext cx="314960" cy="60515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0" name="Freeform 279"/>
          <p:cNvSpPr/>
          <p:nvPr/>
        </p:nvSpPr>
        <p:spPr bwMode="auto">
          <a:xfrm flipV="1">
            <a:off x="10421655" y="2004477"/>
            <a:ext cx="997426" cy="289966"/>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sp>
        <p:nvSpPr>
          <p:cNvPr id="181" name="Oval 287"/>
          <p:cNvSpPr>
            <a:spLocks noChangeArrowheads="1"/>
          </p:cNvSpPr>
          <p:nvPr/>
        </p:nvSpPr>
        <p:spPr bwMode="auto">
          <a:xfrm>
            <a:off x="8637954" y="328504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S4</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MWB</a:t>
            </a:r>
            <a:endParaRPr lang="zh-CN" altLang="en-US" sz="1200" b="0" kern="0" dirty="0">
              <a:solidFill>
                <a:prstClr val="black"/>
              </a:solidFill>
              <a:latin typeface="Calibri" panose="020F0502020204030204"/>
              <a:ea typeface="宋体" panose="02010600030101010101" pitchFamily="2" charset="-122"/>
            </a:endParaRPr>
          </a:p>
        </p:txBody>
      </p:sp>
      <p:cxnSp>
        <p:nvCxnSpPr>
          <p:cNvPr id="182" name="AutoShape 288"/>
          <p:cNvCxnSpPr>
            <a:cxnSpLocks noChangeShapeType="1"/>
            <a:stCxn id="166" idx="4"/>
            <a:endCxn id="181" idx="0"/>
          </p:cNvCxnSpPr>
          <p:nvPr/>
        </p:nvCxnSpPr>
        <p:spPr bwMode="auto">
          <a:xfrm>
            <a:off x="8853040" y="3059401"/>
            <a:ext cx="635" cy="2254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3" name="Line 290"/>
          <p:cNvSpPr>
            <a:spLocks noChangeShapeType="1"/>
          </p:cNvSpPr>
          <p:nvPr/>
        </p:nvSpPr>
        <p:spPr bwMode="auto">
          <a:xfrm>
            <a:off x="9069040" y="3501010"/>
            <a:ext cx="2350041"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184" name="AutoShape 292"/>
          <p:cNvCxnSpPr>
            <a:cxnSpLocks noChangeShapeType="1"/>
            <a:stCxn id="167" idx="4"/>
          </p:cNvCxnSpPr>
          <p:nvPr/>
        </p:nvCxnSpPr>
        <p:spPr bwMode="auto">
          <a:xfrm>
            <a:off x="9474877" y="3059401"/>
            <a:ext cx="0" cy="441639"/>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5" name="AutoShape 293"/>
          <p:cNvCxnSpPr>
            <a:cxnSpLocks noChangeShapeType="1"/>
            <a:stCxn id="169" idx="4"/>
          </p:cNvCxnSpPr>
          <p:nvPr/>
        </p:nvCxnSpPr>
        <p:spPr bwMode="auto">
          <a:xfrm>
            <a:off x="10122967" y="3057851"/>
            <a:ext cx="0" cy="442554"/>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8" name="AutoShape 303"/>
          <p:cNvCxnSpPr>
            <a:cxnSpLocks noChangeShapeType="1"/>
          </p:cNvCxnSpPr>
          <p:nvPr/>
        </p:nvCxnSpPr>
        <p:spPr bwMode="auto">
          <a:xfrm>
            <a:off x="11044578" y="2003563"/>
            <a:ext cx="914" cy="29088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9" name="Freeform 307"/>
          <p:cNvSpPr/>
          <p:nvPr/>
        </p:nvSpPr>
        <p:spPr bwMode="auto">
          <a:xfrm flipH="1">
            <a:off x="9758484" y="2418845"/>
            <a:ext cx="1094362" cy="207641"/>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191" name="AutoShape 312"/>
          <p:cNvCxnSpPr>
            <a:cxnSpLocks noChangeShapeType="1"/>
          </p:cNvCxnSpPr>
          <p:nvPr/>
        </p:nvCxnSpPr>
        <p:spPr bwMode="auto">
          <a:xfrm>
            <a:off x="10843067" y="3027074"/>
            <a:ext cx="914" cy="473966"/>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92" name="Freeform 314"/>
          <p:cNvSpPr/>
          <p:nvPr/>
        </p:nvSpPr>
        <p:spPr bwMode="auto">
          <a:xfrm flipH="1">
            <a:off x="10852845" y="1962401"/>
            <a:ext cx="62201" cy="458460"/>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sp>
        <p:nvSpPr>
          <p:cNvPr id="193" name="Freeform 315"/>
          <p:cNvSpPr/>
          <p:nvPr/>
        </p:nvSpPr>
        <p:spPr bwMode="auto">
          <a:xfrm>
            <a:off x="10546056" y="1962400"/>
            <a:ext cx="124402" cy="456445"/>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223" name="AutoShape 317"/>
          <p:cNvCxnSpPr>
            <a:cxnSpLocks noChangeShapeType="1"/>
            <a:endCxn id="160" idx="2"/>
          </p:cNvCxnSpPr>
          <p:nvPr/>
        </p:nvCxnSpPr>
        <p:spPr bwMode="auto">
          <a:xfrm>
            <a:off x="8637954" y="1124650"/>
            <a:ext cx="332787"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224" name="AutoShape 322"/>
          <p:cNvCxnSpPr>
            <a:cxnSpLocks noChangeShapeType="1"/>
            <a:stCxn id="169" idx="7"/>
          </p:cNvCxnSpPr>
          <p:nvPr/>
        </p:nvCxnSpPr>
        <p:spPr bwMode="auto">
          <a:xfrm flipV="1">
            <a:off x="10275702" y="2418847"/>
            <a:ext cx="104790" cy="270904"/>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226" name="Freeform 323"/>
          <p:cNvSpPr/>
          <p:nvPr/>
        </p:nvSpPr>
        <p:spPr bwMode="auto">
          <a:xfrm>
            <a:off x="9011159" y="2999692"/>
            <a:ext cx="1670214" cy="332043"/>
          </a:xfrm>
          <a:custGeom>
            <a:avLst/>
            <a:gdLst>
              <a:gd name="T0" fmla="*/ 0 w 2540"/>
              <a:gd name="T1" fmla="*/ 2147483647 h 363"/>
              <a:gd name="T2" fmla="*/ 2147483647 w 2540"/>
              <a:gd name="T3" fmla="*/ 2147483647 h 363"/>
              <a:gd name="T4" fmla="*/ 2147483647 w 2540"/>
              <a:gd name="T5" fmla="*/ 2147483647 h 363"/>
              <a:gd name="T6" fmla="*/ 2147483647 w 2540"/>
              <a:gd name="T7" fmla="*/ 0 h 363"/>
              <a:gd name="T8" fmla="*/ 0 60000 65536"/>
              <a:gd name="T9" fmla="*/ 0 60000 65536"/>
              <a:gd name="T10" fmla="*/ 0 60000 65536"/>
              <a:gd name="T11" fmla="*/ 0 60000 65536"/>
              <a:gd name="T12" fmla="*/ 0 w 2540"/>
              <a:gd name="T13" fmla="*/ 0 h 363"/>
              <a:gd name="T14" fmla="*/ 2540 w 2540"/>
              <a:gd name="T15" fmla="*/ 363 h 363"/>
            </a:gdLst>
            <a:ahLst/>
            <a:cxnLst>
              <a:cxn ang="T8">
                <a:pos x="T0" y="T1"/>
              </a:cxn>
              <a:cxn ang="T9">
                <a:pos x="T2" y="T3"/>
              </a:cxn>
              <a:cxn ang="T10">
                <a:pos x="T4" y="T5"/>
              </a:cxn>
              <a:cxn ang="T11">
                <a:pos x="T6" y="T7"/>
              </a:cxn>
            </a:cxnLst>
            <a:rect l="T12" t="T13" r="T14" b="T15"/>
            <a:pathLst>
              <a:path w="2540" h="363">
                <a:moveTo>
                  <a:pt x="0" y="363"/>
                </a:moveTo>
                <a:lnTo>
                  <a:pt x="91" y="227"/>
                </a:lnTo>
                <a:lnTo>
                  <a:pt x="2359" y="227"/>
                </a:lnTo>
                <a:lnTo>
                  <a:pt x="2540" y="0"/>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227" name="AutoShape 322"/>
          <p:cNvCxnSpPr>
            <a:cxnSpLocks noChangeShapeType="1"/>
            <a:stCxn id="167" idx="7"/>
          </p:cNvCxnSpPr>
          <p:nvPr/>
        </p:nvCxnSpPr>
        <p:spPr bwMode="auto">
          <a:xfrm flipV="1">
            <a:off x="9626977" y="2421496"/>
            <a:ext cx="135275" cy="26980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228" name="Line 290"/>
          <p:cNvSpPr>
            <a:spLocks noChangeShapeType="1"/>
          </p:cNvSpPr>
          <p:nvPr/>
        </p:nvSpPr>
        <p:spPr bwMode="auto">
          <a:xfrm flipV="1">
            <a:off x="11419081" y="836640"/>
            <a:ext cx="0" cy="26644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sp>
        <p:nvSpPr>
          <p:cNvPr id="229" name="Line 290"/>
          <p:cNvSpPr>
            <a:spLocks noChangeShapeType="1"/>
          </p:cNvSpPr>
          <p:nvPr/>
        </p:nvSpPr>
        <p:spPr bwMode="auto">
          <a:xfrm>
            <a:off x="9546821" y="836640"/>
            <a:ext cx="1872259"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endParaRPr kumimoji="1" lang="zh-CN" altLang="en-US" sz="1400" b="0" smtClean="0">
              <a:solidFill>
                <a:srgbClr val="000000"/>
              </a:solidFill>
              <a:ea typeface="宋体" panose="02010600030101010101" pitchFamily="2" charset="-122"/>
            </a:endParaRPr>
          </a:p>
        </p:txBody>
      </p:sp>
      <p:cxnSp>
        <p:nvCxnSpPr>
          <p:cNvPr id="230" name="AutoShape 268"/>
          <p:cNvCxnSpPr>
            <a:cxnSpLocks noChangeShapeType="1"/>
            <a:endCxn id="160" idx="7"/>
          </p:cNvCxnSpPr>
          <p:nvPr/>
        </p:nvCxnSpPr>
        <p:spPr bwMode="auto">
          <a:xfrm flipH="1">
            <a:off x="9338841" y="836670"/>
            <a:ext cx="207345" cy="13524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64" name="Oval 253"/>
          <p:cNvSpPr>
            <a:spLocks noChangeArrowheads="1"/>
          </p:cNvSpPr>
          <p:nvPr/>
        </p:nvSpPr>
        <p:spPr bwMode="auto">
          <a:xfrm>
            <a:off x="10214928" y="1589195"/>
            <a:ext cx="432000" cy="432000"/>
          </a:xfrm>
          <a:prstGeom prst="ellipse">
            <a:avLst/>
          </a:prstGeom>
          <a:solidFill>
            <a:schemeClr val="bg1"/>
          </a:solidFill>
          <a:ln w="9525" algn="ctr">
            <a:solidFill>
              <a:sysClr val="windowText" lastClr="000000"/>
            </a:solidFill>
            <a:round/>
          </a:ln>
        </p:spPr>
        <p:txBody>
          <a:bodyPr wrap="none" anchor="ctr"/>
          <a:lstStyle/>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S8</a:t>
            </a:r>
          </a:p>
          <a:p>
            <a:pPr algn="ctr" fontAlgn="auto">
              <a:spcBef>
                <a:spcPts val="0"/>
              </a:spcBef>
              <a:spcAft>
                <a:spcPts val="0"/>
              </a:spcAft>
            </a:pPr>
            <a:r>
              <a:rPr lang="en-US" altLang="zh-CN" sz="1200" b="0" kern="0" dirty="0" smtClean="0">
                <a:solidFill>
                  <a:prstClr val="black"/>
                </a:solidFill>
                <a:latin typeface="Calibri" panose="020F0502020204030204"/>
                <a:ea typeface="宋体" panose="02010600030101010101" pitchFamily="2" charset="-122"/>
              </a:rPr>
              <a:t>Branch</a:t>
            </a:r>
            <a:endParaRPr lang="zh-CN" altLang="en-US" sz="1200" b="0" kern="0" dirty="0">
              <a:solidFill>
                <a:prstClr val="black"/>
              </a:solidFill>
              <a:latin typeface="Calibri" panose="020F0502020204030204"/>
              <a:ea typeface="宋体" panose="02010600030101010101" pitchFamily="2" charset="-122"/>
            </a:endParaRPr>
          </a:p>
        </p:txBody>
      </p:sp>
      <p:sp>
        <p:nvSpPr>
          <p:cNvPr id="171" name="Oval 260"/>
          <p:cNvSpPr>
            <a:spLocks noChangeArrowheads="1"/>
          </p:cNvSpPr>
          <p:nvPr/>
        </p:nvSpPr>
        <p:spPr bwMode="auto">
          <a:xfrm>
            <a:off x="10627067" y="2626486"/>
            <a:ext cx="432000" cy="432000"/>
          </a:xfrm>
          <a:prstGeom prst="ellipse">
            <a:avLst/>
          </a:prstGeom>
          <a:solidFill>
            <a:srgbClr val="FF0000"/>
          </a:solidFill>
        </p:spPr>
        <p:style>
          <a:lnRef idx="1">
            <a:schemeClr val="accent6"/>
          </a:lnRef>
          <a:fillRef idx="3">
            <a:schemeClr val="accent6"/>
          </a:fillRef>
          <a:effectRef idx="2">
            <a:schemeClr val="accent6"/>
          </a:effectRef>
          <a:fontRef idx="minor">
            <a:schemeClr val="lt1"/>
          </a:fontRef>
        </p:style>
        <p:txBody>
          <a:bodyPr wrap="none" anchor="ctr"/>
          <a:lstStyle/>
          <a:p>
            <a:pPr algn="ctr" fontAlgn="auto">
              <a:spcBef>
                <a:spcPts val="0"/>
              </a:spcBef>
              <a:spcAft>
                <a:spcPts val="0"/>
              </a:spcAft>
            </a:pPr>
            <a:r>
              <a:rPr lang="en-US" altLang="zh-CN" sz="1200" kern="0" dirty="0" smtClean="0">
                <a:solidFill>
                  <a:schemeClr val="bg1"/>
                </a:solidFill>
                <a:latin typeface="Calibri" panose="020F0502020204030204"/>
                <a:ea typeface="宋体" panose="02010600030101010101" pitchFamily="2" charset="-122"/>
              </a:rPr>
              <a:t>S10</a:t>
            </a:r>
          </a:p>
          <a:p>
            <a:pPr algn="ctr" fontAlgn="auto">
              <a:spcBef>
                <a:spcPts val="0"/>
              </a:spcBef>
              <a:spcAft>
                <a:spcPts val="0"/>
              </a:spcAft>
            </a:pPr>
            <a:r>
              <a:rPr lang="en-US" altLang="zh-CN" sz="1200" kern="0" dirty="0" smtClean="0">
                <a:solidFill>
                  <a:schemeClr val="bg1"/>
                </a:solidFill>
                <a:latin typeface="Calibri" panose="020F0502020204030204"/>
                <a:ea typeface="宋体" panose="02010600030101010101" pitchFamily="2" charset="-122"/>
              </a:rPr>
              <a:t>INT</a:t>
            </a:r>
            <a:endParaRPr lang="zh-CN" altLang="en-US" sz="1200" kern="0" dirty="0">
              <a:solidFill>
                <a:schemeClr val="bg1"/>
              </a:solidFill>
              <a:latin typeface="Calibri" panose="020F0502020204030204"/>
              <a:ea typeface="宋体" panose="02010600030101010101" pitchFamily="2" charset="-122"/>
            </a:endParaRPr>
          </a:p>
        </p:txBody>
      </p:sp>
      <p:sp>
        <p:nvSpPr>
          <p:cNvPr id="44" name="圆角矩形 43"/>
          <p:cNvSpPr/>
          <p:nvPr/>
        </p:nvSpPr>
        <p:spPr bwMode="auto">
          <a:xfrm>
            <a:off x="1559420" y="4365130"/>
            <a:ext cx="360000" cy="936130"/>
          </a:xfrm>
          <a:prstGeom prst="roundRect">
            <a:avLst>
              <a:gd name="adj" fmla="val 0"/>
            </a:avLst>
          </a:prstGeom>
          <a:noFill/>
          <a:ln w="38100" cap="flat" cmpd="sng" algn="ctr">
            <a:solidFill>
              <a:srgbClr val="00B0F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5" name="圆角矩形 44"/>
          <p:cNvSpPr/>
          <p:nvPr/>
        </p:nvSpPr>
        <p:spPr bwMode="auto">
          <a:xfrm>
            <a:off x="6240020" y="3645030"/>
            <a:ext cx="648090" cy="360000"/>
          </a:xfrm>
          <a:prstGeom prst="roundRect">
            <a:avLst/>
          </a:prstGeom>
          <a:noFill/>
          <a:ln w="28575"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cxnSp>
        <p:nvCxnSpPr>
          <p:cNvPr id="47" name="形状 46"/>
          <p:cNvCxnSpPr>
            <a:stCxn id="44" idx="3"/>
            <a:endCxn id="45" idx="2"/>
          </p:cNvCxnSpPr>
          <p:nvPr/>
        </p:nvCxnSpPr>
        <p:spPr bwMode="auto">
          <a:xfrm flipV="1">
            <a:off x="1919420" y="4005030"/>
            <a:ext cx="4644645" cy="828165"/>
          </a:xfrm>
          <a:prstGeom prst="curvedConnector2">
            <a:avLst/>
          </a:prstGeom>
          <a:solidFill>
            <a:schemeClr val="bg1"/>
          </a:solidFill>
          <a:ln w="38100" cap="flat" cmpd="sng" algn="ctr">
            <a:solidFill>
              <a:srgbClr val="FF0000"/>
            </a:solidFill>
            <a:prstDash val="solid"/>
            <a:round/>
            <a:headEnd type="none" w="med" len="med"/>
            <a:tailEnd type="triangle" w="lg" len="lg"/>
          </a:ln>
          <a:effectLst/>
        </p:spPr>
      </p:cxnSp>
      <p:sp>
        <p:nvSpPr>
          <p:cNvPr id="49" name="圆角矩形 48"/>
          <p:cNvSpPr/>
          <p:nvPr/>
        </p:nvSpPr>
        <p:spPr bwMode="auto">
          <a:xfrm>
            <a:off x="5375900" y="3933070"/>
            <a:ext cx="864120" cy="864120"/>
          </a:xfrm>
          <a:prstGeom prst="roundRect">
            <a:avLst/>
          </a:prstGeom>
          <a:noFill/>
          <a:ln w="57150" cap="flat" cmpd="sng" algn="ctr">
            <a:solidFill>
              <a:srgbClr val="CC00FF"/>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cxnSp>
        <p:nvCxnSpPr>
          <p:cNvPr id="52" name="形状 51"/>
          <p:cNvCxnSpPr>
            <a:stCxn id="49" idx="0"/>
            <a:endCxn id="44" idx="0"/>
          </p:cNvCxnSpPr>
          <p:nvPr/>
        </p:nvCxnSpPr>
        <p:spPr bwMode="auto">
          <a:xfrm rot="16200000" flipH="1" flipV="1">
            <a:off x="3557660" y="2114830"/>
            <a:ext cx="432060" cy="4068540"/>
          </a:xfrm>
          <a:prstGeom prst="curvedConnector3">
            <a:avLst>
              <a:gd name="adj1" fmla="val -52909"/>
            </a:avLst>
          </a:prstGeom>
          <a:solidFill>
            <a:schemeClr val="bg1"/>
          </a:solidFill>
          <a:ln w="38100" cap="flat" cmpd="sng" algn="ctr">
            <a:solidFill>
              <a:srgbClr val="FF0000"/>
            </a:solidFill>
            <a:prstDash val="solid"/>
            <a:round/>
            <a:headEnd type="none" w="med" len="med"/>
            <a:tailEnd type="triangle" w="lg" len="lg"/>
          </a:ln>
          <a:effectLst/>
        </p:spPr>
      </p:cxnSp>
      <p:sp>
        <p:nvSpPr>
          <p:cNvPr id="58" name="TextBox 57"/>
          <p:cNvSpPr txBox="1"/>
          <p:nvPr/>
        </p:nvSpPr>
        <p:spPr>
          <a:xfrm>
            <a:off x="8723405" y="3933325"/>
            <a:ext cx="2483710" cy="2861310"/>
          </a:xfrm>
          <a:prstGeom prst="rect">
            <a:avLst/>
          </a:prstGeom>
          <a:solidFill>
            <a:srgbClr val="002060"/>
          </a:solidFill>
        </p:spPr>
        <p:style>
          <a:lnRef idx="1">
            <a:schemeClr val="accent6"/>
          </a:lnRef>
          <a:fillRef idx="3">
            <a:schemeClr val="accent6"/>
          </a:fillRef>
          <a:effectRef idx="2">
            <a:schemeClr val="accent6"/>
          </a:effectRef>
          <a:fontRef idx="minor">
            <a:schemeClr val="lt1"/>
          </a:fontRef>
        </p:style>
        <p:txBody>
          <a:bodyPr wrap="square" rtlCol="0">
            <a:spAutoFit/>
          </a:bodyPr>
          <a:lstStyle/>
          <a:p>
            <a:pPr algn="just">
              <a:lnSpc>
                <a:spcPct val="125000"/>
              </a:lnSpc>
              <a:spcBef>
                <a:spcPts val="0"/>
              </a:spcBef>
              <a:spcAft>
                <a:spcPts val="0"/>
              </a:spcAft>
            </a:pPr>
            <a:r>
              <a:rPr lang="zh-CN" altLang="en-US" sz="2400" dirty="0" smtClean="0">
                <a:solidFill>
                  <a:schemeClr val="bg1"/>
                </a:solidFill>
              </a:rPr>
              <a:t>系统需求：</a:t>
            </a:r>
            <a:endParaRPr lang="en-US" altLang="zh-CN" sz="2400" dirty="0" smtClean="0">
              <a:solidFill>
                <a:schemeClr val="bg1"/>
              </a:solidFill>
            </a:endParaRPr>
          </a:p>
          <a:p>
            <a:pPr algn="just">
              <a:lnSpc>
                <a:spcPct val="125000"/>
              </a:lnSpc>
              <a:spcBef>
                <a:spcPts val="0"/>
              </a:spcBef>
              <a:spcAft>
                <a:spcPts val="0"/>
              </a:spcAft>
            </a:pPr>
            <a:r>
              <a:rPr lang="zh-CN" altLang="en-US" sz="2400" dirty="0" smtClean="0">
                <a:solidFill>
                  <a:schemeClr val="bg1"/>
                </a:solidFill>
                <a:sym typeface="Wingdings 2" panose="05020102010507070707"/>
              </a:rPr>
              <a:t></a:t>
            </a:r>
            <a:r>
              <a:rPr lang="zh-CN" altLang="en-US" sz="2400" dirty="0" smtClean="0">
                <a:solidFill>
                  <a:schemeClr val="bg1"/>
                </a:solidFill>
              </a:rPr>
              <a:t>在</a:t>
            </a:r>
            <a:r>
              <a:rPr lang="zh-CN" altLang="en-US" sz="2400" dirty="0" smtClean="0">
                <a:solidFill>
                  <a:srgbClr val="FF0000"/>
                </a:solidFill>
              </a:rPr>
              <a:t>同一周期</a:t>
            </a:r>
            <a:r>
              <a:rPr lang="zh-CN" altLang="en-US" sz="2400" dirty="0" smtClean="0">
                <a:solidFill>
                  <a:schemeClr val="bg1"/>
                </a:solidFill>
              </a:rPr>
              <a:t>完成</a:t>
            </a:r>
            <a:endParaRPr lang="en-US" altLang="zh-CN" sz="2400" dirty="0" smtClean="0">
              <a:solidFill>
                <a:schemeClr val="bg1"/>
              </a:solidFill>
            </a:endParaRPr>
          </a:p>
          <a:p>
            <a:pPr algn="just" fontAlgn="ctr">
              <a:lnSpc>
                <a:spcPct val="125000"/>
              </a:lnSpc>
              <a:spcBef>
                <a:spcPts val="0"/>
              </a:spcBef>
              <a:spcAft>
                <a:spcPts val="0"/>
              </a:spcAft>
              <a:buSzPct val="60000"/>
            </a:pPr>
            <a:r>
              <a:rPr lang="zh-CN" altLang="en-US" sz="2400" dirty="0" smtClean="0">
                <a:solidFill>
                  <a:schemeClr val="bg1"/>
                </a:solidFill>
              </a:rPr>
              <a:t>实现技巧：</a:t>
            </a:r>
            <a:endParaRPr lang="en-US" altLang="zh-CN" sz="2400" dirty="0" smtClean="0">
              <a:solidFill>
                <a:schemeClr val="bg1"/>
              </a:solidFill>
            </a:endParaRPr>
          </a:p>
          <a:p>
            <a:pPr algn="just" fontAlgn="ctr">
              <a:lnSpc>
                <a:spcPct val="125000"/>
              </a:lnSpc>
              <a:spcBef>
                <a:spcPts val="0"/>
              </a:spcBef>
              <a:spcAft>
                <a:spcPts val="0"/>
              </a:spcAft>
              <a:buSzPct val="60000"/>
            </a:pPr>
            <a:r>
              <a:rPr lang="en-US" altLang="zh-CN" sz="2400" dirty="0" smtClean="0">
                <a:solidFill>
                  <a:schemeClr val="bg1"/>
                </a:solidFill>
              </a:rPr>
              <a:t>PC/EPC/EXL</a:t>
            </a:r>
            <a:r>
              <a:rPr lang="zh-CN" altLang="en-US" sz="2400" dirty="0" smtClean="0">
                <a:solidFill>
                  <a:schemeClr val="bg1"/>
                </a:solidFill>
              </a:rPr>
              <a:t>写使能</a:t>
            </a:r>
            <a:r>
              <a:rPr lang="zh-CN" altLang="en-US" sz="2400" dirty="0" smtClean="0">
                <a:solidFill>
                  <a:srgbClr val="FF0000"/>
                </a:solidFill>
              </a:rPr>
              <a:t>同时产生</a:t>
            </a:r>
            <a:endParaRPr lang="zh-CN" altLang="en-US" sz="2400" dirty="0">
              <a:solidFill>
                <a:srgbClr val="FF0000"/>
              </a:solidFill>
            </a:endParaRPr>
          </a:p>
        </p:txBody>
      </p:sp>
      <p:sp>
        <p:nvSpPr>
          <p:cNvPr id="59" name="TextBox 58"/>
          <p:cNvSpPr txBox="1"/>
          <p:nvPr/>
        </p:nvSpPr>
        <p:spPr>
          <a:xfrm>
            <a:off x="3453821" y="4284425"/>
            <a:ext cx="868680" cy="509270"/>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r>
              <a:rPr lang="en-US" altLang="zh-CN" sz="3200" dirty="0" smtClean="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sp>
        <p:nvSpPr>
          <p:cNvPr id="60" name="TextBox 59"/>
          <p:cNvSpPr txBox="1"/>
          <p:nvPr/>
        </p:nvSpPr>
        <p:spPr>
          <a:xfrm>
            <a:off x="4321679" y="3564325"/>
            <a:ext cx="868680" cy="509270"/>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r>
              <a:rPr lang="en-US" altLang="zh-CN" sz="3200" dirty="0" smtClean="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cxnSp>
        <p:nvCxnSpPr>
          <p:cNvPr id="63" name="形状 62"/>
          <p:cNvCxnSpPr/>
          <p:nvPr/>
        </p:nvCxnSpPr>
        <p:spPr bwMode="auto">
          <a:xfrm rot="5400000">
            <a:off x="7607420" y="3996090"/>
            <a:ext cx="342070" cy="216030"/>
          </a:xfrm>
          <a:prstGeom prst="curvedConnector2">
            <a:avLst/>
          </a:prstGeom>
          <a:solidFill>
            <a:schemeClr val="bg1"/>
          </a:solidFill>
          <a:ln w="38100" cap="flat" cmpd="sng" algn="ctr">
            <a:solidFill>
              <a:srgbClr val="FF0000"/>
            </a:solidFill>
            <a:prstDash val="solid"/>
            <a:round/>
            <a:headEnd type="none" w="med" len="med"/>
            <a:tailEnd type="triangle" w="lg" len="lg"/>
          </a:ln>
          <a:effectLst/>
        </p:spPr>
      </p:cxnSp>
      <p:sp>
        <p:nvSpPr>
          <p:cNvPr id="64" name="圆角矩形 63"/>
          <p:cNvSpPr/>
          <p:nvPr/>
        </p:nvSpPr>
        <p:spPr bwMode="auto">
          <a:xfrm>
            <a:off x="7032130" y="4113140"/>
            <a:ext cx="576080" cy="324000"/>
          </a:xfrm>
          <a:prstGeom prst="roundRect">
            <a:avLst/>
          </a:prstGeom>
          <a:noFill/>
          <a:ln w="28575" cap="flat" cmpd="sng" algn="ctr">
            <a:solidFill>
              <a:srgbClr val="00CC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67" name="TextBox 66"/>
          <p:cNvSpPr txBox="1"/>
          <p:nvPr/>
        </p:nvSpPr>
        <p:spPr>
          <a:xfrm>
            <a:off x="7310390" y="3356990"/>
            <a:ext cx="868680" cy="509270"/>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r>
              <a:rPr lang="en-US" altLang="zh-CN" sz="3200" dirty="0" smtClean="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sp>
        <p:nvSpPr>
          <p:cNvPr id="46" name="标题 2"/>
          <p:cNvSpPr>
            <a:spLocks noGrp="1"/>
          </p:cNvSpPr>
          <p:nvPr/>
        </p:nvSpPr>
        <p:spPr>
          <a:xfrm>
            <a:off x="0" y="300355"/>
            <a:ext cx="8527415"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5.3 </a:t>
            </a:r>
            <a:r>
              <a:rPr lang="zh-CN" altLang="en-US" dirty="0" smtClean="0">
                <a:sym typeface="+mn-ea"/>
              </a:rPr>
              <a:t>软硬件配合的中断响应机制</a:t>
            </a:r>
            <a:r>
              <a:rPr lang="en-US" altLang="zh-CN" dirty="0" smtClean="0">
                <a:sym typeface="+mn-ea"/>
              </a:rPr>
              <a:t>--</a:t>
            </a:r>
            <a:r>
              <a:rPr lang="zh-CN" altLang="en-US" dirty="0" smtClean="0">
                <a:sym typeface="+mn-ea"/>
              </a:rPr>
              <a:t>控制器</a:t>
            </a:r>
            <a:r>
              <a:rPr lang="en-US" altLang="zh-CN" dirty="0" smtClean="0">
                <a:sym typeface="+mn-ea"/>
              </a:rPr>
              <a:t>(2)</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1385" y="993140"/>
            <a:ext cx="9124806" cy="4090035"/>
          </a:xfrm>
          <a:solidFill>
            <a:schemeClr val="bg1"/>
          </a:solidFill>
        </p:spPr>
        <p:txBody>
          <a:bodyPr/>
          <a:lstStyle/>
          <a:p>
            <a:r>
              <a:rPr lang="zh-CN" altLang="en-US" dirty="0">
                <a:solidFill>
                  <a:srgbClr val="000000"/>
                </a:solidFill>
              </a:rPr>
              <a:t>框架结构：保存现场、中断处理、恢复</a:t>
            </a:r>
            <a:r>
              <a:rPr lang="zh-CN" altLang="en-US" dirty="0" smtClean="0">
                <a:solidFill>
                  <a:srgbClr val="000000"/>
                </a:solidFill>
              </a:rPr>
              <a:t>现场、中断返回</a:t>
            </a:r>
            <a:endParaRPr lang="en-US" altLang="zh-CN" dirty="0">
              <a:solidFill>
                <a:srgbClr val="000000"/>
              </a:solidFill>
            </a:endParaRPr>
          </a:p>
          <a:p>
            <a:r>
              <a:rPr lang="en-US" altLang="zh-CN" dirty="0" smtClean="0">
                <a:solidFill>
                  <a:srgbClr val="000000"/>
                </a:solidFill>
              </a:rPr>
              <a:t>1</a:t>
            </a:r>
            <a:r>
              <a:rPr lang="zh-CN" altLang="en-US" dirty="0" smtClean="0">
                <a:solidFill>
                  <a:srgbClr val="000000"/>
                </a:solidFill>
              </a:rPr>
              <a:t>、保存现场</a:t>
            </a:r>
            <a:endParaRPr lang="en-US" altLang="zh-CN" dirty="0" smtClean="0">
              <a:solidFill>
                <a:srgbClr val="000000"/>
              </a:solidFill>
            </a:endParaRPr>
          </a:p>
          <a:p>
            <a:pPr lvl="1"/>
            <a:r>
              <a:rPr lang="zh-CN" altLang="en-US" dirty="0" smtClean="0">
                <a:solidFill>
                  <a:srgbClr val="000000"/>
                </a:solidFill>
              </a:rPr>
              <a:t>将所有寄存器都保存在堆栈中</a:t>
            </a:r>
            <a:endParaRPr lang="en-US" altLang="zh-CN" dirty="0" smtClean="0">
              <a:solidFill>
                <a:srgbClr val="000000"/>
              </a:solidFill>
            </a:endParaRPr>
          </a:p>
          <a:p>
            <a:r>
              <a:rPr lang="en-US" altLang="zh-CN" dirty="0" smtClean="0">
                <a:solidFill>
                  <a:srgbClr val="000000"/>
                </a:solidFill>
              </a:rPr>
              <a:t>2</a:t>
            </a:r>
            <a:r>
              <a:rPr lang="zh-CN" altLang="en-US" dirty="0" smtClean="0">
                <a:solidFill>
                  <a:srgbClr val="000000"/>
                </a:solidFill>
              </a:rPr>
              <a:t>、中断处理</a:t>
            </a:r>
            <a:endParaRPr lang="en-US" altLang="zh-CN" dirty="0" smtClean="0">
              <a:solidFill>
                <a:srgbClr val="000000"/>
              </a:solidFill>
            </a:endParaRPr>
          </a:p>
          <a:p>
            <a:pPr lvl="1"/>
            <a:r>
              <a:rPr lang="zh-CN" altLang="en-US" dirty="0" smtClean="0">
                <a:solidFill>
                  <a:srgbClr val="000000"/>
                </a:solidFill>
              </a:rPr>
              <a:t>读取特殊寄存器了解哪个硬件中断发生</a:t>
            </a:r>
            <a:endParaRPr lang="en-US" altLang="zh-CN" dirty="0" smtClean="0">
              <a:solidFill>
                <a:srgbClr val="000000"/>
              </a:solidFill>
            </a:endParaRPr>
          </a:p>
          <a:p>
            <a:pPr lvl="1"/>
            <a:r>
              <a:rPr lang="zh-CN" altLang="en-US" dirty="0" smtClean="0">
                <a:solidFill>
                  <a:srgbClr val="000000"/>
                </a:solidFill>
              </a:rPr>
              <a:t>执行对应的处理策略</a:t>
            </a:r>
            <a:endParaRPr lang="en-US" altLang="zh-CN" dirty="0" smtClean="0">
              <a:solidFill>
                <a:srgbClr val="000000"/>
              </a:solidFill>
            </a:endParaRPr>
          </a:p>
          <a:p>
            <a:r>
              <a:rPr lang="en-US" altLang="zh-CN" dirty="0" smtClean="0">
                <a:solidFill>
                  <a:srgbClr val="000000"/>
                </a:solidFill>
              </a:rPr>
              <a:t>3</a:t>
            </a:r>
            <a:r>
              <a:rPr lang="zh-CN" altLang="en-US" dirty="0" smtClean="0">
                <a:solidFill>
                  <a:srgbClr val="000000"/>
                </a:solidFill>
              </a:rPr>
              <a:t>、恢复现场</a:t>
            </a:r>
            <a:endParaRPr lang="en-US" altLang="zh-CN" dirty="0">
              <a:solidFill>
                <a:srgbClr val="000000"/>
              </a:solidFill>
            </a:endParaRPr>
          </a:p>
          <a:p>
            <a:pPr lvl="1"/>
            <a:r>
              <a:rPr lang="zh-CN" altLang="en-US" dirty="0">
                <a:solidFill>
                  <a:srgbClr val="000000"/>
                </a:solidFill>
              </a:rPr>
              <a:t>从堆栈中</a:t>
            </a:r>
            <a:r>
              <a:rPr lang="zh-CN" altLang="en-US" dirty="0" smtClean="0">
                <a:solidFill>
                  <a:srgbClr val="000000"/>
                </a:solidFill>
              </a:rPr>
              <a:t>恢复所有寄存器</a:t>
            </a:r>
            <a:endParaRPr lang="en-US" altLang="zh-CN" dirty="0" smtClean="0">
              <a:solidFill>
                <a:srgbClr val="000000"/>
              </a:solidFill>
            </a:endParaRPr>
          </a:p>
          <a:p>
            <a:r>
              <a:rPr lang="en-US" altLang="zh-CN" dirty="0" smtClean="0">
                <a:solidFill>
                  <a:srgbClr val="000000"/>
                </a:solidFill>
              </a:rPr>
              <a:t>4</a:t>
            </a:r>
            <a:r>
              <a:rPr lang="zh-CN" altLang="en-US" dirty="0" smtClean="0">
                <a:solidFill>
                  <a:srgbClr val="000000"/>
                </a:solidFill>
              </a:rPr>
              <a:t>、中断返回</a:t>
            </a:r>
            <a:endParaRPr lang="en-US" altLang="zh-CN" dirty="0" smtClean="0">
              <a:solidFill>
                <a:srgbClr val="000000"/>
              </a:solidFill>
            </a:endParaRPr>
          </a:p>
          <a:p>
            <a:pPr lvl="1"/>
            <a:r>
              <a:rPr lang="zh-CN" altLang="en-US" dirty="0" smtClean="0">
                <a:solidFill>
                  <a:srgbClr val="000000"/>
                </a:solidFill>
              </a:rPr>
              <a:t>执行</a:t>
            </a:r>
            <a:r>
              <a:rPr lang="en-US" altLang="zh-CN" dirty="0" err="1" smtClean="0">
                <a:solidFill>
                  <a:srgbClr val="000000"/>
                </a:solidFill>
              </a:rPr>
              <a:t>eret</a:t>
            </a:r>
            <a:r>
              <a:rPr lang="zh-CN" altLang="en-US" dirty="0" smtClean="0">
                <a:solidFill>
                  <a:srgbClr val="000000"/>
                </a:solidFill>
              </a:rPr>
              <a:t>指令</a:t>
            </a:r>
            <a:endParaRPr lang="en-US" altLang="zh-CN" dirty="0" smtClean="0">
              <a:solidFill>
                <a:srgbClr val="000000"/>
              </a:solidFill>
            </a:endParaRPr>
          </a:p>
        </p:txBody>
      </p:sp>
      <p:sp>
        <p:nvSpPr>
          <p:cNvPr id="5" name="TextBox 4"/>
          <p:cNvSpPr txBox="1"/>
          <p:nvPr/>
        </p:nvSpPr>
        <p:spPr>
          <a:xfrm>
            <a:off x="1991544" y="5589240"/>
            <a:ext cx="5311131" cy="67183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just"/>
            <a:r>
              <a:rPr lang="en-US" altLang="zh-CN" b="0" dirty="0" smtClean="0"/>
              <a:t>1</a:t>
            </a:r>
            <a:r>
              <a:rPr lang="en-US" altLang="zh-CN" b="0" dirty="0"/>
              <a:t>/</a:t>
            </a:r>
            <a:r>
              <a:rPr lang="en-US" altLang="zh-CN" b="0" dirty="0" smtClean="0"/>
              <a:t>3/4</a:t>
            </a:r>
            <a:r>
              <a:rPr lang="zh-CN" altLang="en-US" b="0" dirty="0" smtClean="0"/>
              <a:t>：通用架构</a:t>
            </a:r>
            <a:endParaRPr lang="en-US" altLang="zh-CN" b="0" dirty="0" smtClean="0"/>
          </a:p>
          <a:p>
            <a:pPr algn="just"/>
            <a:r>
              <a:rPr lang="en-US" altLang="zh-CN" b="0" dirty="0" smtClean="0"/>
              <a:t>2</a:t>
            </a:r>
            <a:r>
              <a:rPr lang="zh-CN" altLang="en-US" b="0" dirty="0" smtClean="0"/>
              <a:t>：针对</a:t>
            </a:r>
            <a:r>
              <a:rPr lang="zh-CN" altLang="en-US" b="0" dirty="0"/>
              <a:t>具体</a:t>
            </a:r>
            <a:r>
              <a:rPr lang="zh-CN" altLang="en-US" b="0" dirty="0" smtClean="0"/>
              <a:t>设备</a:t>
            </a:r>
            <a:endParaRPr lang="zh-CN" altLang="en-US" b="0" dirty="0"/>
          </a:p>
        </p:txBody>
      </p:sp>
      <p:sp>
        <p:nvSpPr>
          <p:cNvPr id="46" name="标题 2"/>
          <p:cNvSpPr>
            <a:spLocks noGrp="1"/>
          </p:cNvSpPr>
          <p:nvPr/>
        </p:nvSpPr>
        <p:spPr>
          <a:xfrm>
            <a:off x="0" y="300355"/>
            <a:ext cx="8811895"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5.3 </a:t>
            </a:r>
            <a:r>
              <a:rPr lang="zh-CN" altLang="en-US" dirty="0" smtClean="0">
                <a:sym typeface="+mn-ea"/>
              </a:rPr>
              <a:t>软硬件配合的中断响应机制</a:t>
            </a:r>
            <a:r>
              <a:rPr lang="en-US" altLang="zh-CN" dirty="0" smtClean="0">
                <a:sym typeface="+mn-ea"/>
              </a:rPr>
              <a:t>--</a:t>
            </a:r>
            <a:r>
              <a:rPr lang="zh-CN" altLang="en-US" dirty="0" smtClean="0">
                <a:sym typeface="+mn-ea"/>
              </a:rPr>
              <a:t>中断服务程序</a:t>
            </a: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a:blip r:embed="rId2" cstate="print"/>
          <a:srcRect/>
          <a:stretch>
            <a:fillRect/>
          </a:stretch>
        </p:blipFill>
        <p:spPr bwMode="auto">
          <a:xfrm>
            <a:off x="1245045" y="3244063"/>
            <a:ext cx="6300000" cy="3105222"/>
          </a:xfrm>
          <a:prstGeom prst="rect">
            <a:avLst/>
          </a:prstGeom>
          <a:noFill/>
          <a:ln w="9525">
            <a:noFill/>
            <a:miter lim="800000"/>
            <a:headEnd/>
            <a:tailEnd/>
          </a:ln>
        </p:spPr>
      </p:pic>
      <p:sp>
        <p:nvSpPr>
          <p:cNvPr id="2" name="内容占位符 1"/>
          <p:cNvSpPr>
            <a:spLocks noGrp="1"/>
          </p:cNvSpPr>
          <p:nvPr>
            <p:ph idx="1"/>
          </p:nvPr>
        </p:nvSpPr>
        <p:spPr>
          <a:xfrm>
            <a:off x="1079183" y="993140"/>
            <a:ext cx="8678287" cy="1435735"/>
          </a:xfrm>
          <a:solidFill>
            <a:schemeClr val="bg1"/>
          </a:solidFill>
        </p:spPr>
        <p:txBody>
          <a:bodyPr/>
          <a:lstStyle/>
          <a:p>
            <a:r>
              <a:rPr lang="zh-CN" altLang="en-US" sz="2400" dirty="0" smtClean="0"/>
              <a:t>恢复</a:t>
            </a:r>
            <a:r>
              <a:rPr lang="en-US" altLang="zh-CN" sz="2400" dirty="0" smtClean="0"/>
              <a:t>PC</a:t>
            </a:r>
            <a:r>
              <a:rPr lang="zh-CN" altLang="en-US" sz="2400" dirty="0" smtClean="0"/>
              <a:t>，开中断</a:t>
            </a:r>
            <a:endParaRPr lang="en-US" altLang="zh-CN" sz="2400" dirty="0" smtClean="0"/>
          </a:p>
          <a:p>
            <a:r>
              <a:rPr lang="zh-CN" altLang="en-US" sz="2400" dirty="0" smtClean="0">
                <a:solidFill>
                  <a:srgbClr val="000000"/>
                </a:solidFill>
                <a:sym typeface="Wingdings 2" panose="05020102010507070707"/>
              </a:rPr>
              <a:t>恢复</a:t>
            </a:r>
            <a:r>
              <a:rPr lang="en-US" altLang="zh-CN" sz="2400" dirty="0" smtClean="0">
                <a:solidFill>
                  <a:srgbClr val="000000"/>
                </a:solidFill>
                <a:sym typeface="Wingdings 2" panose="05020102010507070707"/>
              </a:rPr>
              <a:t>PC</a:t>
            </a:r>
            <a:r>
              <a:rPr lang="zh-CN" altLang="en-US" sz="2400" dirty="0" smtClean="0">
                <a:solidFill>
                  <a:srgbClr val="000000"/>
                </a:solidFill>
              </a:rPr>
              <a:t>：将</a:t>
            </a:r>
            <a:r>
              <a:rPr lang="en-US" altLang="zh-CN" sz="2400" dirty="0" smtClean="0">
                <a:solidFill>
                  <a:srgbClr val="000000"/>
                </a:solidFill>
              </a:rPr>
              <a:t>EPC</a:t>
            </a:r>
            <a:r>
              <a:rPr lang="zh-CN" altLang="en-US" sz="2400" dirty="0" smtClean="0">
                <a:solidFill>
                  <a:srgbClr val="000000"/>
                </a:solidFill>
              </a:rPr>
              <a:t>写入</a:t>
            </a:r>
            <a:r>
              <a:rPr lang="en-US" altLang="zh-CN" sz="2400" dirty="0" smtClean="0">
                <a:solidFill>
                  <a:srgbClr val="000000"/>
                </a:solidFill>
              </a:rPr>
              <a:t>PC</a:t>
            </a:r>
            <a:endParaRPr lang="en-US" altLang="zh-CN" sz="2400" dirty="0">
              <a:solidFill>
                <a:srgbClr val="000000"/>
              </a:solidFill>
            </a:endParaRPr>
          </a:p>
          <a:p>
            <a:r>
              <a:rPr lang="zh-CN" altLang="en-US" sz="2400" dirty="0" smtClean="0">
                <a:solidFill>
                  <a:srgbClr val="000000"/>
                </a:solidFill>
                <a:sym typeface="Wingdings 2" panose="05020102010507070707"/>
              </a:rPr>
              <a:t>开中断：清除</a:t>
            </a:r>
            <a:r>
              <a:rPr lang="en-US" altLang="zh-CN" sz="2400" dirty="0" smtClean="0">
                <a:solidFill>
                  <a:srgbClr val="000000"/>
                </a:solidFill>
                <a:sym typeface="Wingdings 2" panose="05020102010507070707"/>
              </a:rPr>
              <a:t>EXL</a:t>
            </a:r>
            <a:r>
              <a:rPr lang="zh-CN" altLang="en-US" sz="2400" dirty="0" smtClean="0">
                <a:solidFill>
                  <a:srgbClr val="000000"/>
                </a:solidFill>
              </a:rPr>
              <a:t>，允许再次产生</a:t>
            </a:r>
          </a:p>
        </p:txBody>
      </p:sp>
      <p:sp>
        <p:nvSpPr>
          <p:cNvPr id="8" name="圆角矩形 7"/>
          <p:cNvSpPr/>
          <p:nvPr/>
        </p:nvSpPr>
        <p:spPr bwMode="auto">
          <a:xfrm>
            <a:off x="1317055" y="3900945"/>
            <a:ext cx="360050" cy="936130"/>
          </a:xfrm>
          <a:prstGeom prst="roundRect">
            <a:avLst>
              <a:gd name="adj" fmla="val 0"/>
            </a:avLst>
          </a:prstGeom>
          <a:noFill/>
          <a:ln w="38100" cap="flat" cmpd="sng" algn="ctr">
            <a:solidFill>
              <a:srgbClr val="00B0F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9" name="圆角矩形 8"/>
          <p:cNvSpPr/>
          <p:nvPr/>
        </p:nvSpPr>
        <p:spPr bwMode="auto">
          <a:xfrm>
            <a:off x="5853685" y="3180845"/>
            <a:ext cx="648090" cy="360000"/>
          </a:xfrm>
          <a:prstGeom prst="roundRect">
            <a:avLst/>
          </a:prstGeom>
          <a:noFill/>
          <a:ln w="28575"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cxnSp>
        <p:nvCxnSpPr>
          <p:cNvPr id="12" name="形状 51"/>
          <p:cNvCxnSpPr>
            <a:stCxn id="9" idx="0"/>
            <a:endCxn id="8" idx="0"/>
          </p:cNvCxnSpPr>
          <p:nvPr/>
        </p:nvCxnSpPr>
        <p:spPr bwMode="auto">
          <a:xfrm rot="16200000" flipH="1" flipV="1">
            <a:off x="3477578" y="1200468"/>
            <a:ext cx="720090" cy="4680585"/>
          </a:xfrm>
          <a:prstGeom prst="curvedConnector3">
            <a:avLst>
              <a:gd name="adj1" fmla="val -33113"/>
            </a:avLst>
          </a:prstGeom>
          <a:solidFill>
            <a:schemeClr val="bg1"/>
          </a:solidFill>
          <a:ln w="38100" cap="flat" cmpd="sng" algn="ctr">
            <a:solidFill>
              <a:srgbClr val="FF0000"/>
            </a:solidFill>
            <a:prstDash val="solid"/>
            <a:round/>
            <a:headEnd type="none" w="med" len="med"/>
            <a:tailEnd type="triangle" w="lg" len="lg"/>
          </a:ln>
          <a:effectLst/>
        </p:spPr>
      </p:cxnSp>
      <p:sp>
        <p:nvSpPr>
          <p:cNvPr id="14" name="TextBox 13"/>
          <p:cNvSpPr txBox="1"/>
          <p:nvPr/>
        </p:nvSpPr>
        <p:spPr>
          <a:xfrm>
            <a:off x="4007354" y="2812100"/>
            <a:ext cx="868680" cy="509270"/>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r>
              <a:rPr lang="en-US" altLang="zh-CN" sz="3200" dirty="0" smtClean="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cxnSp>
        <p:nvCxnSpPr>
          <p:cNvPr id="15" name="形状 62"/>
          <p:cNvCxnSpPr>
            <a:endCxn id="16" idx="3"/>
          </p:cNvCxnSpPr>
          <p:nvPr/>
        </p:nvCxnSpPr>
        <p:spPr bwMode="auto">
          <a:xfrm rot="10800000" flipV="1">
            <a:off x="7365895" y="3432290"/>
            <a:ext cx="648090" cy="378030"/>
          </a:xfrm>
          <a:prstGeom prst="curvedConnector3">
            <a:avLst>
              <a:gd name="adj1" fmla="val 50000"/>
            </a:avLst>
          </a:prstGeom>
          <a:solidFill>
            <a:schemeClr val="bg1"/>
          </a:solidFill>
          <a:ln w="38100" cap="flat" cmpd="sng" algn="ctr">
            <a:solidFill>
              <a:srgbClr val="FF0000"/>
            </a:solidFill>
            <a:prstDash val="solid"/>
            <a:round/>
            <a:headEnd type="none" w="med" len="med"/>
            <a:tailEnd type="triangle" w="lg" len="lg"/>
          </a:ln>
          <a:effectLst/>
        </p:spPr>
      </p:cxnSp>
      <p:sp>
        <p:nvSpPr>
          <p:cNvPr id="16" name="圆角矩形 15"/>
          <p:cNvSpPr/>
          <p:nvPr/>
        </p:nvSpPr>
        <p:spPr bwMode="auto">
          <a:xfrm>
            <a:off x="6717805" y="3648955"/>
            <a:ext cx="648090" cy="324000"/>
          </a:xfrm>
          <a:prstGeom prst="roundRect">
            <a:avLst/>
          </a:prstGeom>
          <a:noFill/>
          <a:ln w="28575" cap="flat" cmpd="sng" algn="ctr">
            <a:solidFill>
              <a:srgbClr val="00CC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1" name="TextBox 20"/>
          <p:cNvSpPr txBox="1"/>
          <p:nvPr/>
        </p:nvSpPr>
        <p:spPr>
          <a:xfrm>
            <a:off x="7171814" y="2956120"/>
            <a:ext cx="2183765" cy="509270"/>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r>
              <a:rPr lang="en-US" altLang="zh-CN" sz="3200" dirty="0" smtClean="0">
                <a:solidFill>
                  <a:schemeClr val="tx1"/>
                </a:solidFill>
                <a:latin typeface="Cambria" panose="02040503050406030204" pitchFamily="18" charset="0"/>
                <a:sym typeface="Wingdings 2" panose="05020102010507070707"/>
              </a:rPr>
              <a:t></a:t>
            </a:r>
            <a:r>
              <a:rPr lang="en-US" altLang="zh-CN" sz="3200" b="0" dirty="0" smtClean="0">
                <a:solidFill>
                  <a:schemeClr val="tx1"/>
                </a:solidFill>
                <a:latin typeface="Cambria" panose="02040503050406030204" pitchFamily="18" charset="0"/>
                <a:sym typeface="Wingdings 2" panose="05020102010507070707"/>
              </a:rPr>
              <a:t>EXL</a:t>
            </a:r>
            <a:r>
              <a:rPr lang="zh-CN" altLang="en-US" sz="3200" b="0" dirty="0" smtClean="0">
                <a:solidFill>
                  <a:schemeClr val="tx1"/>
                </a:solidFill>
                <a:latin typeface="Cambria" panose="02040503050406030204" pitchFamily="18" charset="0"/>
                <a:sym typeface="Wingdings 2" panose="05020102010507070707"/>
              </a:rPr>
              <a:t>清</a:t>
            </a:r>
            <a:r>
              <a:rPr lang="en-US" altLang="zh-CN" sz="3200" b="0" dirty="0" smtClean="0">
                <a:solidFill>
                  <a:schemeClr val="tx1"/>
                </a:solidFill>
                <a:latin typeface="Cambria" panose="02040503050406030204" pitchFamily="18" charset="0"/>
                <a:sym typeface="Wingdings 2" panose="05020102010507070707"/>
              </a:rPr>
              <a:t>0</a:t>
            </a:r>
            <a:endParaRPr lang="zh-CN" altLang="en-US" sz="3200" b="0" dirty="0">
              <a:solidFill>
                <a:schemeClr val="tx1"/>
              </a:solidFill>
              <a:latin typeface="Cambria" panose="02040503050406030204" pitchFamily="18" charset="0"/>
            </a:endParaRPr>
          </a:p>
        </p:txBody>
      </p:sp>
      <p:sp>
        <p:nvSpPr>
          <p:cNvPr id="46" name="标题 2"/>
          <p:cNvSpPr>
            <a:spLocks noGrp="1"/>
          </p:cNvSpPr>
          <p:nvPr/>
        </p:nvSpPr>
        <p:spPr>
          <a:xfrm>
            <a:off x="0" y="300355"/>
            <a:ext cx="8527415"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5.3 </a:t>
            </a:r>
            <a:r>
              <a:rPr lang="zh-CN" altLang="en-US" dirty="0" smtClean="0">
                <a:sym typeface="+mn-ea"/>
              </a:rPr>
              <a:t>软硬件配合的中断响应机制</a:t>
            </a:r>
            <a:r>
              <a:rPr lang="en-US" altLang="zh-CN" dirty="0" smtClean="0">
                <a:sym typeface="+mn-ea"/>
              </a:rPr>
              <a:t>--ERET</a:t>
            </a:r>
            <a:r>
              <a:rPr lang="zh-CN" altLang="en-US" dirty="0" smtClean="0">
                <a:sym typeface="+mn-ea"/>
              </a:rPr>
              <a:t>指令</a:t>
            </a: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表格 74"/>
          <p:cNvGraphicFramePr>
            <a:graphicFrameLocks noGrp="1"/>
          </p:cNvGraphicFramePr>
          <p:nvPr>
            <p:custDataLst>
              <p:tags r:id="rId1"/>
            </p:custDataLst>
          </p:nvPr>
        </p:nvGraphicFramePr>
        <p:xfrm>
          <a:off x="2340542" y="836640"/>
          <a:ext cx="3167380" cy="4450080"/>
        </p:xfrm>
        <a:graphic>
          <a:graphicData uri="http://schemas.openxmlformats.org/drawingml/2006/table">
            <a:tbl>
              <a:tblPr firstRow="1" bandRow="1"/>
              <a:tblGrid>
                <a:gridCol w="1259840"/>
                <a:gridCol w="1907540"/>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1400" dirty="0" smtClean="0"/>
                        <a:t>地址</a:t>
                      </a:r>
                      <a:endParaRPr lang="zh-CN" altLang="en-US" sz="1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dirty="0" smtClean="0"/>
                        <a:t>指令</a:t>
                      </a:r>
                      <a:endParaRPr lang="en-US" altLang="zh-CN" sz="1400" dirty="0" smtClean="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altLang="zh-CN" sz="1400" dirty="0" smtClean="0">
                          <a:latin typeface="Courier New" panose="02070309020205020404" pitchFamily="49" charset="0"/>
                          <a:cs typeface="Courier New" panose="02070309020205020404" pitchFamily="49" charset="0"/>
                        </a:rPr>
                        <a:t>0xBFC00180</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altLang="zh-CN" sz="1400" dirty="0" smtClean="0">
                          <a:latin typeface="Courier New" panose="02070309020205020404" pitchFamily="49" charset="0"/>
                          <a:cs typeface="Courier New" panose="02070309020205020404" pitchFamily="49" charset="0"/>
                        </a:rPr>
                        <a:t>ADD $</a:t>
                      </a:r>
                      <a:r>
                        <a:rPr lang="en-US" altLang="zh-CN" sz="1400" dirty="0" err="1" smtClean="0">
                          <a:latin typeface="Courier New" panose="02070309020205020404" pitchFamily="49" charset="0"/>
                          <a:cs typeface="Courier New" panose="02070309020205020404" pitchFamily="49" charset="0"/>
                        </a:rPr>
                        <a:t>sp</a:t>
                      </a:r>
                      <a:r>
                        <a:rPr lang="en-US" altLang="zh-CN" sz="1400" dirty="0" smtClean="0">
                          <a:latin typeface="Courier New" panose="02070309020205020404" pitchFamily="49" charset="0"/>
                          <a:cs typeface="Courier New" panose="02070309020205020404" pitchFamily="49" charset="0"/>
                        </a:rPr>
                        <a:t>,</a:t>
                      </a:r>
                      <a:r>
                        <a:rPr lang="en-US" altLang="zh-CN" sz="1400" baseline="0" dirty="0" smtClean="0">
                          <a:latin typeface="Courier New" panose="02070309020205020404" pitchFamily="49" charset="0"/>
                          <a:cs typeface="Courier New" panose="02070309020205020404" pitchFamily="49" charset="0"/>
                        </a:rPr>
                        <a:t> $</a:t>
                      </a:r>
                      <a:r>
                        <a:rPr lang="en-US" altLang="zh-CN" sz="1400" baseline="0" dirty="0" err="1" smtClean="0">
                          <a:latin typeface="Courier New" panose="02070309020205020404" pitchFamily="49" charset="0"/>
                          <a:cs typeface="Courier New" panose="02070309020205020404" pitchFamily="49" charset="0"/>
                        </a:rPr>
                        <a:t>sp</a:t>
                      </a:r>
                      <a:r>
                        <a:rPr lang="en-US" altLang="zh-CN" sz="1400" baseline="0" dirty="0" smtClean="0">
                          <a:latin typeface="Courier New" panose="02070309020205020404" pitchFamily="49" charset="0"/>
                          <a:cs typeface="Courier New" panose="02070309020205020404" pitchFamily="49" charset="0"/>
                        </a:rPr>
                        <a:t>, -8</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0xBFC00184</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SW  $t0, 0($</a:t>
                      </a:r>
                      <a:r>
                        <a:rPr lang="en-US" altLang="zh-CN" sz="1400" dirty="0" err="1" smtClean="0">
                          <a:latin typeface="Courier New" panose="02070309020205020404" pitchFamily="49" charset="0"/>
                          <a:cs typeface="Courier New" panose="02070309020205020404" pitchFamily="49" charset="0"/>
                        </a:rPr>
                        <a:t>sp</a:t>
                      </a:r>
                      <a:r>
                        <a:rPr lang="en-US" altLang="zh-CN" sz="1400" dirty="0" smtClean="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0xBFC00188</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SW  $t1, 4($</a:t>
                      </a:r>
                      <a:r>
                        <a:rPr lang="en-US" altLang="zh-CN" sz="1400" dirty="0" err="1" smtClean="0">
                          <a:latin typeface="Courier New" panose="02070309020205020404" pitchFamily="49" charset="0"/>
                          <a:cs typeface="Courier New" panose="02070309020205020404" pitchFamily="49" charset="0"/>
                        </a:rPr>
                        <a:t>sp</a:t>
                      </a:r>
                      <a:r>
                        <a:rPr lang="en-US" altLang="zh-CN" sz="1400" dirty="0" smtClean="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0xBFC0018C</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LUI $t1, 0x8000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0xBFC00190</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altLang="zh-CN" sz="1400" dirty="0" smtClean="0">
                          <a:latin typeface="Courier New" panose="02070309020205020404" pitchFamily="49" charset="0"/>
                          <a:cs typeface="Courier New" panose="02070309020205020404" pitchFamily="49" charset="0"/>
                        </a:rPr>
                        <a:t>ORI $t1, 0x0200</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0xBFC00194</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LW  $t0, 0($t1)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0xBFC00198</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ADDI $t0, 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0xBFC0019C</a:t>
                      </a:r>
                      <a:endParaRPr lang="zh-CN" altLang="en-US" sz="1400" dirty="0" smtClean="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SW  $t0, 0($t1)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0xBFC001A0</a:t>
                      </a:r>
                      <a:endParaRPr lang="zh-CN" altLang="en-US" sz="1400" kern="1200" dirty="0" smtClean="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LW  $t0, 0($</a:t>
                      </a:r>
                      <a:r>
                        <a:rPr lang="en-US" altLang="zh-CN" sz="1400" dirty="0" err="1" smtClean="0">
                          <a:latin typeface="Courier New" panose="02070309020205020404" pitchFamily="49" charset="0"/>
                          <a:cs typeface="Courier New" panose="02070309020205020404" pitchFamily="49" charset="0"/>
                        </a:rPr>
                        <a:t>sp</a:t>
                      </a:r>
                      <a:r>
                        <a:rPr lang="en-US" altLang="zh-CN" sz="1400" dirty="0" smtClean="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0xBFC001A4</a:t>
                      </a:r>
                      <a:endParaRPr lang="zh-CN" altLang="en-US" sz="1400" kern="1200" dirty="0" smtClean="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LW  $t1, 4($</a:t>
                      </a:r>
                      <a:r>
                        <a:rPr lang="en-US" altLang="zh-CN" sz="1400" dirty="0" err="1" smtClean="0">
                          <a:latin typeface="Courier New" panose="02070309020205020404" pitchFamily="49" charset="0"/>
                          <a:cs typeface="Courier New" panose="02070309020205020404" pitchFamily="49" charset="0"/>
                        </a:rPr>
                        <a:t>sp</a:t>
                      </a:r>
                      <a:r>
                        <a:rPr lang="en-US" altLang="zh-CN" sz="1400" dirty="0" smtClean="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0xBFC001A8</a:t>
                      </a:r>
                      <a:endParaRPr lang="zh-CN" altLang="en-US" sz="1400" kern="1200" dirty="0" smtClean="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Courier New" panose="02070309020205020404" pitchFamily="49" charset="0"/>
                          <a:cs typeface="Courier New" panose="02070309020205020404" pitchFamily="49" charset="0"/>
                        </a:rPr>
                        <a:t>ERET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grpSp>
        <p:nvGrpSpPr>
          <p:cNvPr id="79" name="组合 78"/>
          <p:cNvGrpSpPr/>
          <p:nvPr/>
        </p:nvGrpSpPr>
        <p:grpSpPr>
          <a:xfrm>
            <a:off x="1559370" y="1127556"/>
            <a:ext cx="789187" cy="460375"/>
            <a:chOff x="5306813" y="1268627"/>
            <a:chExt cx="789187" cy="460375"/>
          </a:xfrm>
        </p:grpSpPr>
        <p:sp>
          <p:nvSpPr>
            <p:cNvPr id="80" name="右箭头 79"/>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81" name="文本框 59"/>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85" name="组合 84"/>
          <p:cNvGrpSpPr/>
          <p:nvPr/>
        </p:nvGrpSpPr>
        <p:grpSpPr>
          <a:xfrm>
            <a:off x="1559370" y="4498286"/>
            <a:ext cx="789187" cy="460375"/>
            <a:chOff x="5306813" y="1268627"/>
            <a:chExt cx="789187" cy="460375"/>
          </a:xfrm>
        </p:grpSpPr>
        <p:sp>
          <p:nvSpPr>
            <p:cNvPr id="86" name="右箭头 85"/>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87" name="文本框 65"/>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91" name="组合 90"/>
          <p:cNvGrpSpPr/>
          <p:nvPr/>
        </p:nvGrpSpPr>
        <p:grpSpPr>
          <a:xfrm>
            <a:off x="1559370" y="1501554"/>
            <a:ext cx="789187" cy="460375"/>
            <a:chOff x="5306813" y="1268627"/>
            <a:chExt cx="789187" cy="460375"/>
          </a:xfrm>
        </p:grpSpPr>
        <p:sp>
          <p:nvSpPr>
            <p:cNvPr id="92" name="右箭头 9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93" name="文本框 7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97" name="组合 96"/>
          <p:cNvGrpSpPr/>
          <p:nvPr/>
        </p:nvGrpSpPr>
        <p:grpSpPr>
          <a:xfrm>
            <a:off x="1559370" y="1889894"/>
            <a:ext cx="789187" cy="460375"/>
            <a:chOff x="5306813" y="1268627"/>
            <a:chExt cx="789187" cy="460375"/>
          </a:xfrm>
        </p:grpSpPr>
        <p:sp>
          <p:nvSpPr>
            <p:cNvPr id="98" name="右箭头 97"/>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99" name="文本框 80"/>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03" name="组合 102"/>
          <p:cNvGrpSpPr/>
          <p:nvPr/>
        </p:nvGrpSpPr>
        <p:grpSpPr>
          <a:xfrm>
            <a:off x="1559370" y="2272326"/>
            <a:ext cx="789187" cy="460375"/>
            <a:chOff x="5306813" y="1268627"/>
            <a:chExt cx="789187" cy="460375"/>
          </a:xfrm>
        </p:grpSpPr>
        <p:sp>
          <p:nvSpPr>
            <p:cNvPr id="104" name="右箭头 103"/>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05" name="文本框 86"/>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09" name="组合 108"/>
          <p:cNvGrpSpPr/>
          <p:nvPr/>
        </p:nvGrpSpPr>
        <p:grpSpPr>
          <a:xfrm>
            <a:off x="1559370" y="2652232"/>
            <a:ext cx="789187" cy="460375"/>
            <a:chOff x="5306813" y="1268627"/>
            <a:chExt cx="789187" cy="460375"/>
          </a:xfrm>
        </p:grpSpPr>
        <p:sp>
          <p:nvSpPr>
            <p:cNvPr id="110" name="右箭头 109"/>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11" name="文本框 92"/>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15" name="组合 114"/>
          <p:cNvGrpSpPr/>
          <p:nvPr/>
        </p:nvGrpSpPr>
        <p:grpSpPr>
          <a:xfrm>
            <a:off x="1559370" y="3026230"/>
            <a:ext cx="789187" cy="460375"/>
            <a:chOff x="5306813" y="1268627"/>
            <a:chExt cx="789187" cy="460375"/>
          </a:xfrm>
        </p:grpSpPr>
        <p:sp>
          <p:nvSpPr>
            <p:cNvPr id="116" name="右箭头 115"/>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17" name="文本框 98"/>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21" name="组合 120"/>
          <p:cNvGrpSpPr/>
          <p:nvPr/>
        </p:nvGrpSpPr>
        <p:grpSpPr>
          <a:xfrm>
            <a:off x="1559370" y="3414570"/>
            <a:ext cx="789187" cy="460375"/>
            <a:chOff x="5306813" y="1268627"/>
            <a:chExt cx="789187" cy="460375"/>
          </a:xfrm>
        </p:grpSpPr>
        <p:sp>
          <p:nvSpPr>
            <p:cNvPr id="122" name="右箭头 12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23" name="文本框 10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27" name="组合 126"/>
          <p:cNvGrpSpPr/>
          <p:nvPr/>
        </p:nvGrpSpPr>
        <p:grpSpPr>
          <a:xfrm>
            <a:off x="1559370" y="3797002"/>
            <a:ext cx="789187" cy="460375"/>
            <a:chOff x="5306813" y="1268627"/>
            <a:chExt cx="789187" cy="460375"/>
          </a:xfrm>
        </p:grpSpPr>
        <p:sp>
          <p:nvSpPr>
            <p:cNvPr id="128" name="右箭头 127"/>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29" name="文本框 110"/>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33" name="组合 132"/>
          <p:cNvGrpSpPr/>
          <p:nvPr/>
        </p:nvGrpSpPr>
        <p:grpSpPr>
          <a:xfrm>
            <a:off x="1559370" y="4854023"/>
            <a:ext cx="789187" cy="460375"/>
            <a:chOff x="5306813" y="1268627"/>
            <a:chExt cx="789187" cy="460375"/>
          </a:xfrm>
        </p:grpSpPr>
        <p:sp>
          <p:nvSpPr>
            <p:cNvPr id="134" name="右箭头 133"/>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35" name="文本框 116"/>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39" name="组合 138"/>
          <p:cNvGrpSpPr/>
          <p:nvPr/>
        </p:nvGrpSpPr>
        <p:grpSpPr>
          <a:xfrm>
            <a:off x="1559370" y="4130809"/>
            <a:ext cx="789187" cy="460375"/>
            <a:chOff x="5306813" y="1268627"/>
            <a:chExt cx="789187" cy="460375"/>
          </a:xfrm>
        </p:grpSpPr>
        <p:sp>
          <p:nvSpPr>
            <p:cNvPr id="140" name="右箭头 139"/>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41" name="文本框 122"/>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sp>
        <p:nvSpPr>
          <p:cNvPr id="142" name="右大括号 141"/>
          <p:cNvSpPr/>
          <p:nvPr/>
        </p:nvSpPr>
        <p:spPr>
          <a:xfrm>
            <a:off x="5374349" y="1718583"/>
            <a:ext cx="62753" cy="430306"/>
          </a:xfrm>
          <a:prstGeom prst="rightBrace">
            <a:avLst/>
          </a:prstGeom>
          <a:noFill/>
          <a:ln w="190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Calibri" panose="020F0502020204030204"/>
              <a:ea typeface="宋体" panose="02010600030101010101" pitchFamily="2" charset="-122"/>
            </a:endParaRPr>
          </a:p>
        </p:txBody>
      </p:sp>
      <p:sp>
        <p:nvSpPr>
          <p:cNvPr id="143" name="右大括号 142"/>
          <p:cNvSpPr/>
          <p:nvPr/>
        </p:nvSpPr>
        <p:spPr>
          <a:xfrm>
            <a:off x="5374349" y="4343711"/>
            <a:ext cx="62753" cy="430306"/>
          </a:xfrm>
          <a:prstGeom prst="rightBrace">
            <a:avLst/>
          </a:prstGeom>
          <a:noFill/>
          <a:ln w="190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Calibri" panose="020F0502020204030204"/>
              <a:ea typeface="宋体" panose="02010600030101010101" pitchFamily="2" charset="-122"/>
            </a:endParaRPr>
          </a:p>
        </p:txBody>
      </p:sp>
      <p:sp>
        <p:nvSpPr>
          <p:cNvPr id="144" name="文本框 179"/>
          <p:cNvSpPr txBox="1"/>
          <p:nvPr/>
        </p:nvSpPr>
        <p:spPr>
          <a:xfrm>
            <a:off x="5458657" y="1571168"/>
            <a:ext cx="640080" cy="561975"/>
          </a:xfrm>
          <a:prstGeom prst="rect">
            <a:avLst/>
          </a:prstGeom>
          <a:noFill/>
        </p:spPr>
        <p:txBody>
          <a:bodyPr wrap="none" rtlCol="0">
            <a:spAutoFit/>
          </a:bodyPr>
          <a:lstStyle/>
          <a:p>
            <a:pPr indent="0" algn="l" fontAlgn="auto">
              <a:spcBef>
                <a:spcPts val="0"/>
              </a:spcBef>
              <a:spcAft>
                <a:spcPts val="0"/>
              </a:spcAft>
              <a:buNone/>
            </a:pPr>
            <a:r>
              <a:rPr lang="zh-CN" altLang="en-US" sz="1800" b="0" dirty="0" smtClean="0">
                <a:solidFill>
                  <a:prstClr val="black"/>
                </a:solidFill>
                <a:latin typeface="黑体" panose="02010609060101010101" pitchFamily="49" charset="-122"/>
                <a:ea typeface="黑体" panose="02010609060101010101" pitchFamily="49" charset="-122"/>
              </a:rPr>
              <a:t>保存</a:t>
            </a:r>
            <a:endParaRPr lang="en-US" altLang="zh-CN" sz="1800" b="0" dirty="0" smtClean="0">
              <a:solidFill>
                <a:prstClr val="black"/>
              </a:solidFill>
              <a:latin typeface="黑体" panose="02010609060101010101" pitchFamily="49" charset="-122"/>
              <a:ea typeface="黑体" panose="02010609060101010101" pitchFamily="49" charset="-122"/>
            </a:endParaRPr>
          </a:p>
          <a:p>
            <a:pPr indent="0" algn="l" fontAlgn="auto">
              <a:spcBef>
                <a:spcPts val="0"/>
              </a:spcBef>
              <a:spcAft>
                <a:spcPts val="0"/>
              </a:spcAft>
              <a:buNone/>
            </a:pPr>
            <a:r>
              <a:rPr lang="zh-CN" altLang="en-US" sz="1800" b="0" dirty="0" smtClean="0">
                <a:solidFill>
                  <a:prstClr val="black"/>
                </a:solidFill>
                <a:latin typeface="黑体" panose="02010609060101010101" pitchFamily="49" charset="-122"/>
                <a:ea typeface="黑体" panose="02010609060101010101" pitchFamily="49" charset="-122"/>
              </a:rPr>
              <a:t>现场</a:t>
            </a:r>
            <a:endParaRPr lang="zh-CN" altLang="en-US" sz="1800" b="0" dirty="0">
              <a:solidFill>
                <a:prstClr val="black"/>
              </a:solidFill>
              <a:latin typeface="黑体" panose="02010609060101010101" pitchFamily="49" charset="-122"/>
              <a:ea typeface="黑体" panose="02010609060101010101" pitchFamily="49" charset="-122"/>
            </a:endParaRPr>
          </a:p>
        </p:txBody>
      </p:sp>
      <p:sp>
        <p:nvSpPr>
          <p:cNvPr id="145" name="文本框 180"/>
          <p:cNvSpPr txBox="1"/>
          <p:nvPr/>
        </p:nvSpPr>
        <p:spPr>
          <a:xfrm>
            <a:off x="5449422" y="4237297"/>
            <a:ext cx="640080" cy="561975"/>
          </a:xfrm>
          <a:prstGeom prst="rect">
            <a:avLst/>
          </a:prstGeom>
          <a:noFill/>
        </p:spPr>
        <p:txBody>
          <a:bodyPr wrap="none" rtlCol="0">
            <a:spAutoFit/>
          </a:bodyPr>
          <a:lstStyle/>
          <a:p>
            <a:pPr indent="0" algn="l" fontAlgn="auto">
              <a:spcBef>
                <a:spcPts val="0"/>
              </a:spcBef>
              <a:spcAft>
                <a:spcPts val="0"/>
              </a:spcAft>
              <a:buNone/>
            </a:pPr>
            <a:r>
              <a:rPr lang="zh-CN" altLang="en-US" sz="1800" b="0" dirty="0" smtClean="0">
                <a:solidFill>
                  <a:prstClr val="black"/>
                </a:solidFill>
                <a:latin typeface="黑体" panose="02010609060101010101" pitchFamily="49" charset="-122"/>
                <a:ea typeface="黑体" panose="02010609060101010101" pitchFamily="49" charset="-122"/>
              </a:rPr>
              <a:t>恢复</a:t>
            </a:r>
            <a:endParaRPr lang="en-US" altLang="zh-CN" sz="1800" b="0" dirty="0" smtClean="0">
              <a:solidFill>
                <a:prstClr val="black"/>
              </a:solidFill>
              <a:latin typeface="黑体" panose="02010609060101010101" pitchFamily="49" charset="-122"/>
              <a:ea typeface="黑体" panose="02010609060101010101" pitchFamily="49" charset="-122"/>
            </a:endParaRPr>
          </a:p>
          <a:p>
            <a:pPr indent="0" algn="l" fontAlgn="auto">
              <a:spcBef>
                <a:spcPts val="0"/>
              </a:spcBef>
              <a:spcAft>
                <a:spcPts val="0"/>
              </a:spcAft>
              <a:buNone/>
            </a:pPr>
            <a:r>
              <a:rPr lang="zh-CN" altLang="en-US" sz="1800" b="0" dirty="0" smtClean="0">
                <a:solidFill>
                  <a:prstClr val="black"/>
                </a:solidFill>
                <a:latin typeface="黑体" panose="02010609060101010101" pitchFamily="49" charset="-122"/>
                <a:ea typeface="黑体" panose="02010609060101010101" pitchFamily="49" charset="-122"/>
              </a:rPr>
              <a:t>现场</a:t>
            </a:r>
            <a:endParaRPr lang="zh-CN" altLang="en-US" sz="1800" b="0" dirty="0">
              <a:solidFill>
                <a:prstClr val="black"/>
              </a:solidFill>
              <a:latin typeface="黑体" panose="02010609060101010101" pitchFamily="49" charset="-122"/>
              <a:ea typeface="黑体" panose="02010609060101010101" pitchFamily="49" charset="-122"/>
            </a:endParaRPr>
          </a:p>
        </p:txBody>
      </p:sp>
      <p:graphicFrame>
        <p:nvGraphicFramePr>
          <p:cNvPr id="180" name="表格 179"/>
          <p:cNvGraphicFramePr>
            <a:graphicFrameLocks noGrp="1"/>
          </p:cNvGraphicFramePr>
          <p:nvPr/>
        </p:nvGraphicFramePr>
        <p:xfrm>
          <a:off x="7212630" y="836640"/>
          <a:ext cx="3419475" cy="3337560"/>
        </p:xfrm>
        <a:graphic>
          <a:graphicData uri="http://schemas.openxmlformats.org/drawingml/2006/table">
            <a:tbl>
              <a:tblPr firstRow="1" bandRow="1"/>
              <a:tblGrid>
                <a:gridCol w="1296035"/>
                <a:gridCol w="2123440"/>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dirty="0" smtClean="0"/>
                        <a:t>地址</a:t>
                      </a:r>
                      <a:endParaRPr lang="zh-CN"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dirty="0" smtClean="0"/>
                        <a:t>指令</a:t>
                      </a:r>
                      <a:endParaRPr lang="en-US" altLang="zh-CN" dirty="0" smtClean="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0xA000001C</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ADD  $s1, $s2, $s3</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0xA0000020</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AND  $s2, $s1, $s2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0xA0000024</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SUB  $t0, $s1, $s2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0xA0000028</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LW  $t1, 0($</a:t>
                      </a:r>
                      <a:r>
                        <a:rPr lang="en-US" altLang="zh-CN" sz="1400" kern="1200" dirty="0" err="1" smtClean="0">
                          <a:solidFill>
                            <a:schemeClr val="dk1"/>
                          </a:solidFill>
                          <a:latin typeface="Courier New" panose="02070309020205020404" pitchFamily="49" charset="0"/>
                          <a:cs typeface="Courier New" panose="02070309020205020404" pitchFamily="49" charset="0"/>
                        </a:rPr>
                        <a:t>sp</a:t>
                      </a:r>
                      <a:r>
                        <a:rPr lang="en-US" altLang="zh-CN" sz="1400" kern="1200" dirty="0" smtClean="0">
                          <a:solidFill>
                            <a:schemeClr val="dk1"/>
                          </a:solidFill>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0xA000002C</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OR  $s0, $t2, $t1</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0xA0000030</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ADD  $s0, $s0, $s2</a:t>
                      </a:r>
                      <a:endParaRPr lang="zh-CN" altLang="en-US" sz="1400" kern="1200" dirty="0" smtClean="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smtClean="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smtClean="0">
                          <a:solidFill>
                            <a:schemeClr val="dk1"/>
                          </a:solidFill>
                          <a:latin typeface="Courier New" panose="02070309020205020404" pitchFamily="49" charset="0"/>
                          <a:cs typeface="Courier New" panose="02070309020205020404" pitchFamily="49" charset="0"/>
                        </a:rPr>
                        <a:t>……</a:t>
                      </a:r>
                      <a:endParaRPr lang="zh-CN" altLang="en-US" sz="1400" kern="1200" dirty="0" smtClean="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bl>
          </a:graphicData>
        </a:graphic>
      </p:graphicFrame>
      <p:grpSp>
        <p:nvGrpSpPr>
          <p:cNvPr id="181" name="组合 180"/>
          <p:cNvGrpSpPr/>
          <p:nvPr/>
        </p:nvGrpSpPr>
        <p:grpSpPr>
          <a:xfrm>
            <a:off x="6401971" y="1586554"/>
            <a:ext cx="789187" cy="460375"/>
            <a:chOff x="5306813" y="1268627"/>
            <a:chExt cx="789187" cy="460375"/>
          </a:xfrm>
        </p:grpSpPr>
        <p:sp>
          <p:nvSpPr>
            <p:cNvPr id="182" name="右箭头 18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83" name="文本框 7"/>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187" name="组合 186"/>
          <p:cNvGrpSpPr/>
          <p:nvPr/>
        </p:nvGrpSpPr>
        <p:grpSpPr>
          <a:xfrm>
            <a:off x="6401971" y="1912299"/>
            <a:ext cx="789187" cy="460375"/>
            <a:chOff x="5306813" y="1268627"/>
            <a:chExt cx="789187" cy="460375"/>
          </a:xfrm>
        </p:grpSpPr>
        <p:sp>
          <p:nvSpPr>
            <p:cNvPr id="188" name="右箭头 187"/>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189" name="文本框 1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202" name="组合 201"/>
          <p:cNvGrpSpPr/>
          <p:nvPr/>
        </p:nvGrpSpPr>
        <p:grpSpPr>
          <a:xfrm>
            <a:off x="6401971" y="2238044"/>
            <a:ext cx="789187" cy="460375"/>
            <a:chOff x="5306813" y="1268627"/>
            <a:chExt cx="789187" cy="460375"/>
          </a:xfrm>
        </p:grpSpPr>
        <p:sp>
          <p:nvSpPr>
            <p:cNvPr id="203" name="右箭头 202"/>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204" name="文本框 4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205" name="组合 204"/>
          <p:cNvGrpSpPr/>
          <p:nvPr/>
        </p:nvGrpSpPr>
        <p:grpSpPr>
          <a:xfrm>
            <a:off x="6401971" y="2597473"/>
            <a:ext cx="789187" cy="460375"/>
            <a:chOff x="5306813" y="1268627"/>
            <a:chExt cx="789187" cy="460375"/>
          </a:xfrm>
        </p:grpSpPr>
        <p:sp>
          <p:nvSpPr>
            <p:cNvPr id="206" name="右箭头 205"/>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207" name="文本框 47"/>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208" name="组合 207"/>
          <p:cNvGrpSpPr/>
          <p:nvPr/>
        </p:nvGrpSpPr>
        <p:grpSpPr>
          <a:xfrm>
            <a:off x="6401971" y="2979571"/>
            <a:ext cx="789187" cy="460375"/>
            <a:chOff x="5306813" y="1268627"/>
            <a:chExt cx="789187" cy="460375"/>
          </a:xfrm>
        </p:grpSpPr>
        <p:sp>
          <p:nvSpPr>
            <p:cNvPr id="209" name="右箭头 208"/>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210" name="文本框 50"/>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grpSp>
        <p:nvGrpSpPr>
          <p:cNvPr id="211" name="组合 210"/>
          <p:cNvGrpSpPr/>
          <p:nvPr/>
        </p:nvGrpSpPr>
        <p:grpSpPr>
          <a:xfrm>
            <a:off x="6401971" y="3350444"/>
            <a:ext cx="789187" cy="460375"/>
            <a:chOff x="5306813" y="1268627"/>
            <a:chExt cx="789187" cy="460375"/>
          </a:xfrm>
        </p:grpSpPr>
        <p:sp>
          <p:nvSpPr>
            <p:cNvPr id="212" name="右箭头 21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213" name="文本框 53"/>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rPr>
                <a:t>PC</a:t>
              </a:r>
              <a:endParaRPr kumimoji="0" lang="zh-CN" altLang="en-US" sz="2400" b="0" i="0" u="none" strike="noStrike" kern="0" cap="none" spc="0" normalizeH="0" baseline="0" noProof="0" dirty="0" smtClean="0">
                <a:ln>
                  <a:noFill/>
                </a:ln>
                <a:solidFill>
                  <a:prstClr val="black"/>
                </a:solidFill>
                <a:effectLst/>
                <a:uLnTx/>
                <a:uFillTx/>
                <a:latin typeface="Calibri" panose="020F0502020204030204"/>
                <a:ea typeface="宋体" panose="02010600030101010101" pitchFamily="2" charset="-122"/>
              </a:endParaRPr>
            </a:p>
          </p:txBody>
        </p:sp>
      </p:grpSp>
      <p:sp>
        <p:nvSpPr>
          <p:cNvPr id="215" name="TextBox 214"/>
          <p:cNvSpPr txBox="1"/>
          <p:nvPr/>
        </p:nvSpPr>
        <p:spPr>
          <a:xfrm>
            <a:off x="6533608" y="5724038"/>
            <a:ext cx="84328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none" rtlCol="0">
            <a:spAutoFit/>
          </a:bodyPr>
          <a:lstStyle/>
          <a:p>
            <a:pPr indent="0" algn="ctr">
              <a:buNone/>
            </a:pPr>
            <a:r>
              <a:rPr lang="en-US" altLang="zh-CN" sz="1800" b="0" dirty="0" smtClean="0">
                <a:solidFill>
                  <a:schemeClr val="tx1"/>
                </a:solidFill>
              </a:rPr>
              <a:t>Cause</a:t>
            </a:r>
            <a:endParaRPr lang="zh-CN" altLang="en-US" sz="1800" b="0" dirty="0">
              <a:solidFill>
                <a:schemeClr val="tx1"/>
              </a:solidFill>
            </a:endParaRPr>
          </a:p>
        </p:txBody>
      </p:sp>
      <p:sp>
        <p:nvSpPr>
          <p:cNvPr id="216" name="TextBox 215"/>
          <p:cNvSpPr txBox="1"/>
          <p:nvPr/>
        </p:nvSpPr>
        <p:spPr>
          <a:xfrm>
            <a:off x="7826000" y="5733320"/>
            <a:ext cx="50038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none" rtlCol="0">
            <a:spAutoFit/>
          </a:bodyPr>
          <a:lstStyle/>
          <a:p>
            <a:pPr indent="0" algn="ctr">
              <a:buNone/>
            </a:pPr>
            <a:r>
              <a:rPr lang="en-US" altLang="zh-CN" sz="1800" b="0" dirty="0" smtClean="0">
                <a:solidFill>
                  <a:schemeClr val="tx1"/>
                </a:solidFill>
              </a:rPr>
              <a:t>SR</a:t>
            </a:r>
            <a:endParaRPr lang="zh-CN" altLang="en-US" sz="1800" b="0" dirty="0">
              <a:solidFill>
                <a:schemeClr val="tx1"/>
              </a:solidFill>
            </a:endParaRPr>
          </a:p>
        </p:txBody>
      </p:sp>
      <p:cxnSp>
        <p:nvCxnSpPr>
          <p:cNvPr id="219" name="直接箭头连接符 218"/>
          <p:cNvCxnSpPr/>
          <p:nvPr/>
        </p:nvCxnSpPr>
        <p:spPr bwMode="auto">
          <a:xfrm flipV="1">
            <a:off x="6594341"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0" name="直接箭头连接符 219"/>
          <p:cNvCxnSpPr/>
          <p:nvPr/>
        </p:nvCxnSpPr>
        <p:spPr bwMode="auto">
          <a:xfrm flipV="1">
            <a:off x="7032130"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2" name="直接箭头连接符 221"/>
          <p:cNvCxnSpPr/>
          <p:nvPr/>
        </p:nvCxnSpPr>
        <p:spPr bwMode="auto">
          <a:xfrm flipV="1">
            <a:off x="6746741"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3" name="直接箭头连接符 222"/>
          <p:cNvCxnSpPr/>
          <p:nvPr/>
        </p:nvCxnSpPr>
        <p:spPr bwMode="auto">
          <a:xfrm flipV="1">
            <a:off x="6888110"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5" name="直接箭头连接符 224"/>
          <p:cNvCxnSpPr/>
          <p:nvPr/>
        </p:nvCxnSpPr>
        <p:spPr bwMode="auto">
          <a:xfrm flipV="1">
            <a:off x="7178801" y="6121946"/>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26" name="直接箭头连接符 225"/>
          <p:cNvCxnSpPr/>
          <p:nvPr/>
        </p:nvCxnSpPr>
        <p:spPr bwMode="auto">
          <a:xfrm flipV="1">
            <a:off x="7320170"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7" name="直接箭头连接符 226"/>
          <p:cNvCxnSpPr/>
          <p:nvPr/>
        </p:nvCxnSpPr>
        <p:spPr bwMode="auto">
          <a:xfrm flipV="1">
            <a:off x="660007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8" name="直接箭头连接符 227"/>
          <p:cNvCxnSpPr/>
          <p:nvPr/>
        </p:nvCxnSpPr>
        <p:spPr bwMode="auto">
          <a:xfrm flipV="1">
            <a:off x="7037859"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9" name="直接箭头连接符 228"/>
          <p:cNvCxnSpPr/>
          <p:nvPr/>
        </p:nvCxnSpPr>
        <p:spPr bwMode="auto">
          <a:xfrm flipV="1">
            <a:off x="675247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0" name="直接箭头连接符 229"/>
          <p:cNvCxnSpPr/>
          <p:nvPr/>
        </p:nvCxnSpPr>
        <p:spPr bwMode="auto">
          <a:xfrm flipV="1">
            <a:off x="6893839"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1" name="直接箭头连接符 230"/>
          <p:cNvCxnSpPr/>
          <p:nvPr/>
        </p:nvCxnSpPr>
        <p:spPr bwMode="auto">
          <a:xfrm flipV="1">
            <a:off x="7184530"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32" name="直接箭头连接符 231"/>
          <p:cNvCxnSpPr/>
          <p:nvPr/>
        </p:nvCxnSpPr>
        <p:spPr bwMode="auto">
          <a:xfrm flipV="1">
            <a:off x="7325899"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3" name="直接箭头连接符 232"/>
          <p:cNvCxnSpPr/>
          <p:nvPr/>
        </p:nvCxnSpPr>
        <p:spPr bwMode="auto">
          <a:xfrm flipV="1">
            <a:off x="7530471"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4" name="直接箭头连接符 233"/>
          <p:cNvCxnSpPr/>
          <p:nvPr/>
        </p:nvCxnSpPr>
        <p:spPr bwMode="auto">
          <a:xfrm flipV="1">
            <a:off x="796826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5" name="直接箭头连接符 234"/>
          <p:cNvCxnSpPr/>
          <p:nvPr/>
        </p:nvCxnSpPr>
        <p:spPr bwMode="auto">
          <a:xfrm flipV="1">
            <a:off x="7682871"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6" name="直接箭头连接符 235"/>
          <p:cNvCxnSpPr/>
          <p:nvPr/>
        </p:nvCxnSpPr>
        <p:spPr bwMode="auto">
          <a:xfrm flipV="1">
            <a:off x="782424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7" name="直接箭头连接符 236"/>
          <p:cNvCxnSpPr/>
          <p:nvPr/>
        </p:nvCxnSpPr>
        <p:spPr bwMode="auto">
          <a:xfrm flipV="1">
            <a:off x="8114931"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38" name="直接箭头连接符 237"/>
          <p:cNvCxnSpPr/>
          <p:nvPr/>
        </p:nvCxnSpPr>
        <p:spPr bwMode="auto">
          <a:xfrm flipV="1">
            <a:off x="825630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9" name="直接箭头连接符 238"/>
          <p:cNvCxnSpPr/>
          <p:nvPr/>
        </p:nvCxnSpPr>
        <p:spPr bwMode="auto">
          <a:xfrm flipV="1">
            <a:off x="8474981"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40" name="直接箭头连接符 239"/>
          <p:cNvCxnSpPr/>
          <p:nvPr/>
        </p:nvCxnSpPr>
        <p:spPr bwMode="auto">
          <a:xfrm flipV="1">
            <a:off x="8616350"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sp>
        <p:nvSpPr>
          <p:cNvPr id="241" name="TextBox 240"/>
          <p:cNvSpPr txBox="1"/>
          <p:nvPr/>
        </p:nvSpPr>
        <p:spPr>
          <a:xfrm>
            <a:off x="6456050" y="5003938"/>
            <a:ext cx="223214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indent="0" algn="ctr">
              <a:buNone/>
            </a:pPr>
            <a:r>
              <a:rPr lang="zh-CN" altLang="en-US" sz="1800" b="0" dirty="0" smtClean="0">
                <a:solidFill>
                  <a:schemeClr val="tx1"/>
                </a:solidFill>
              </a:rPr>
              <a:t>中断请求产生</a:t>
            </a:r>
            <a:endParaRPr lang="zh-CN" altLang="en-US" sz="1800" b="0" dirty="0">
              <a:solidFill>
                <a:schemeClr val="tx1"/>
              </a:solidFill>
            </a:endParaRPr>
          </a:p>
        </p:txBody>
      </p:sp>
      <p:cxnSp>
        <p:nvCxnSpPr>
          <p:cNvPr id="242" name="直接箭头连接符 241"/>
          <p:cNvCxnSpPr/>
          <p:nvPr/>
        </p:nvCxnSpPr>
        <p:spPr bwMode="auto">
          <a:xfrm flipV="1">
            <a:off x="7536200" y="46531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sp>
        <p:nvSpPr>
          <p:cNvPr id="243" name="TextBox 242"/>
          <p:cNvSpPr txBox="1"/>
          <p:nvPr/>
        </p:nvSpPr>
        <p:spPr>
          <a:xfrm>
            <a:off x="10568620" y="5723646"/>
            <a:ext cx="652780" cy="326390"/>
          </a:xfrm>
          <a:prstGeom prst="rect">
            <a:avLst/>
          </a:prstGeom>
          <a:noFill/>
        </p:spPr>
        <p:txBody>
          <a:bodyPr wrap="none" rtlCol="0">
            <a:spAutoFit/>
          </a:bodyPr>
          <a:lstStyle/>
          <a:p>
            <a:pPr indent="0">
              <a:buNone/>
            </a:pPr>
            <a:r>
              <a:rPr lang="en-US" altLang="zh-CN" sz="1800" dirty="0" smtClean="0">
                <a:solidFill>
                  <a:schemeClr val="tx1"/>
                </a:solidFill>
              </a:rPr>
              <a:t>EPC</a:t>
            </a:r>
            <a:endParaRPr lang="zh-CN" altLang="en-US" sz="1800" dirty="0">
              <a:solidFill>
                <a:schemeClr val="tx1"/>
              </a:solidFill>
            </a:endParaRPr>
          </a:p>
        </p:txBody>
      </p:sp>
      <p:sp>
        <p:nvSpPr>
          <p:cNvPr id="244" name="TextBox 243"/>
          <p:cNvSpPr txBox="1"/>
          <p:nvPr/>
        </p:nvSpPr>
        <p:spPr>
          <a:xfrm>
            <a:off x="7595167" y="4581160"/>
            <a:ext cx="894080" cy="326390"/>
          </a:xfrm>
          <a:prstGeom prst="rect">
            <a:avLst/>
          </a:prstGeom>
          <a:noFill/>
        </p:spPr>
        <p:txBody>
          <a:bodyPr wrap="none" rtlCol="0">
            <a:spAutoFit/>
          </a:bodyPr>
          <a:lstStyle/>
          <a:p>
            <a:pPr indent="0">
              <a:buNone/>
            </a:pPr>
            <a:r>
              <a:rPr lang="en-US" altLang="zh-CN" sz="1800" dirty="0" err="1" smtClean="0">
                <a:solidFill>
                  <a:schemeClr val="tx1"/>
                </a:solidFill>
              </a:rPr>
              <a:t>IntReq</a:t>
            </a:r>
            <a:endParaRPr lang="zh-CN" altLang="en-US" sz="1800" dirty="0">
              <a:solidFill>
                <a:schemeClr val="tx1"/>
              </a:solidFill>
            </a:endParaRPr>
          </a:p>
        </p:txBody>
      </p:sp>
      <p:sp>
        <p:nvSpPr>
          <p:cNvPr id="245" name="TextBox 244"/>
          <p:cNvSpPr txBox="1"/>
          <p:nvPr/>
        </p:nvSpPr>
        <p:spPr>
          <a:xfrm>
            <a:off x="6256558" y="6444138"/>
            <a:ext cx="1325880" cy="326390"/>
          </a:xfrm>
          <a:prstGeom prst="rect">
            <a:avLst/>
          </a:prstGeom>
          <a:solidFill>
            <a:schemeClr val="bg1"/>
          </a:solidFill>
        </p:spPr>
        <p:txBody>
          <a:bodyPr wrap="none" rtlCol="0">
            <a:spAutoFit/>
          </a:bodyPr>
          <a:lstStyle/>
          <a:p>
            <a:pPr indent="0">
              <a:buNone/>
            </a:pPr>
            <a:r>
              <a:rPr lang="en-US" altLang="zh-CN" sz="1800" dirty="0" err="1" smtClean="0">
                <a:solidFill>
                  <a:schemeClr val="tx1"/>
                </a:solidFill>
              </a:rPr>
              <a:t>HWInt</a:t>
            </a:r>
            <a:r>
              <a:rPr lang="en-US" altLang="zh-CN" sz="1800" dirty="0" smtClean="0">
                <a:solidFill>
                  <a:schemeClr val="tx1"/>
                </a:solidFill>
              </a:rPr>
              <a:t>[5:0]</a:t>
            </a:r>
            <a:endParaRPr lang="zh-CN" altLang="en-US" sz="1800" dirty="0">
              <a:solidFill>
                <a:schemeClr val="tx1"/>
              </a:solidFill>
            </a:endParaRPr>
          </a:p>
        </p:txBody>
      </p:sp>
      <p:sp>
        <p:nvSpPr>
          <p:cNvPr id="246" name="圆角矩形 245"/>
          <p:cNvSpPr/>
          <p:nvPr/>
        </p:nvSpPr>
        <p:spPr bwMode="auto">
          <a:xfrm>
            <a:off x="6402070" y="4853940"/>
            <a:ext cx="4229735" cy="1416685"/>
          </a:xfrm>
          <a:prstGeom prst="roundRect">
            <a:avLst>
              <a:gd name="adj" fmla="val 6788"/>
            </a:avLst>
          </a:prstGeom>
          <a:noFill/>
          <a:ln w="9525" cap="flat" cmpd="sng" algn="ctr">
            <a:solidFill>
              <a:schemeClr val="tx1"/>
            </a:solidFill>
            <a:prstDash val="solid"/>
            <a:round/>
            <a:headEnd type="none" w="med" len="med"/>
            <a:tailEnd type="triangle" w="lg" len="lg"/>
          </a:ln>
          <a:effectLst/>
        </p:spPr>
        <p:txBody>
          <a:bodyPr vert="horz" wrap="none" lIns="91440" tIns="45720" rIns="91440" bIns="45720" numCol="1" rtlCol="0" anchor="t" anchorCtr="0" compatLnSpc="1"/>
          <a:lstStyle/>
          <a:p>
            <a:pPr marL="342900" marR="0" indent="-342900"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7" name="TextBox 246"/>
          <p:cNvSpPr txBox="1"/>
          <p:nvPr/>
        </p:nvSpPr>
        <p:spPr>
          <a:xfrm>
            <a:off x="2855550" y="5214073"/>
            <a:ext cx="2011680" cy="404495"/>
          </a:xfrm>
          <a:prstGeom prst="rect">
            <a:avLst/>
          </a:prstGeom>
          <a:noFill/>
        </p:spPr>
        <p:txBody>
          <a:bodyPr wrap="none" rtlCol="0">
            <a:spAutoFit/>
          </a:bodyPr>
          <a:lstStyle/>
          <a:p>
            <a:pPr indent="0">
              <a:buNone/>
            </a:pPr>
            <a:r>
              <a:rPr lang="zh-CN" altLang="en-US" sz="2400" b="0" dirty="0" smtClean="0">
                <a:solidFill>
                  <a:schemeClr val="tx1"/>
                </a:solidFill>
              </a:rPr>
              <a:t>中断服务程序</a:t>
            </a:r>
            <a:endParaRPr lang="zh-CN" altLang="en-US" sz="2400" b="0" dirty="0">
              <a:solidFill>
                <a:schemeClr val="tx1"/>
              </a:solidFill>
            </a:endParaRPr>
          </a:p>
        </p:txBody>
      </p:sp>
      <p:sp>
        <p:nvSpPr>
          <p:cNvPr id="248" name="TextBox 247"/>
          <p:cNvSpPr txBox="1"/>
          <p:nvPr/>
        </p:nvSpPr>
        <p:spPr>
          <a:xfrm>
            <a:off x="9192183" y="4316045"/>
            <a:ext cx="1097280" cy="404495"/>
          </a:xfrm>
          <a:prstGeom prst="rect">
            <a:avLst/>
          </a:prstGeom>
          <a:noFill/>
        </p:spPr>
        <p:txBody>
          <a:bodyPr wrap="none" rtlCol="0">
            <a:spAutoFit/>
          </a:bodyPr>
          <a:lstStyle/>
          <a:p>
            <a:pPr indent="0">
              <a:buNone/>
            </a:pPr>
            <a:r>
              <a:rPr lang="zh-CN" altLang="en-US" sz="2400" b="0" dirty="0">
                <a:solidFill>
                  <a:schemeClr val="tx1"/>
                </a:solidFill>
              </a:rPr>
              <a:t>主</a:t>
            </a:r>
            <a:r>
              <a:rPr lang="zh-CN" altLang="en-US" sz="2400" b="0" dirty="0" smtClean="0">
                <a:solidFill>
                  <a:schemeClr val="tx1"/>
                </a:solidFill>
              </a:rPr>
              <a:t>程序</a:t>
            </a:r>
            <a:endParaRPr lang="zh-CN" altLang="en-US" sz="2400" b="0" dirty="0">
              <a:solidFill>
                <a:schemeClr val="tx1"/>
              </a:solidFill>
            </a:endParaRPr>
          </a:p>
        </p:txBody>
      </p:sp>
      <p:sp>
        <p:nvSpPr>
          <p:cNvPr id="250" name="TextBox 249"/>
          <p:cNvSpPr txBox="1"/>
          <p:nvPr/>
        </p:nvSpPr>
        <p:spPr>
          <a:xfrm>
            <a:off x="8760370" y="5733320"/>
            <a:ext cx="144000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US" altLang="zh-CN" sz="1800" b="0" dirty="0" smtClean="0">
                <a:solidFill>
                  <a:schemeClr val="tx1"/>
                </a:solidFill>
              </a:rPr>
              <a:t>XXXXXX</a:t>
            </a:r>
            <a:endParaRPr lang="zh-CN" altLang="en-US" sz="1800" b="0" dirty="0">
              <a:solidFill>
                <a:schemeClr val="tx1"/>
              </a:solidFill>
            </a:endParaRPr>
          </a:p>
        </p:txBody>
      </p:sp>
      <p:sp>
        <p:nvSpPr>
          <p:cNvPr id="214" name="TextBox 213"/>
          <p:cNvSpPr txBox="1"/>
          <p:nvPr/>
        </p:nvSpPr>
        <p:spPr>
          <a:xfrm>
            <a:off x="8760460" y="5733415"/>
            <a:ext cx="180721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indent="0" algn="ctr">
              <a:buNone/>
            </a:pPr>
            <a:r>
              <a:rPr lang="en-US" altLang="zh-CN" sz="1800" b="0" dirty="0" smtClean="0">
                <a:solidFill>
                  <a:schemeClr val="tx1"/>
                </a:solidFill>
              </a:rPr>
              <a:t>0xA0000028</a:t>
            </a:r>
            <a:endParaRPr lang="zh-CN" altLang="en-US" sz="1800" b="0" dirty="0">
              <a:solidFill>
                <a:schemeClr val="tx1"/>
              </a:solidFill>
            </a:endParaRPr>
          </a:p>
        </p:txBody>
      </p:sp>
      <p:cxnSp>
        <p:nvCxnSpPr>
          <p:cNvPr id="251" name="直接箭头连接符 250"/>
          <p:cNvCxnSpPr/>
          <p:nvPr/>
        </p:nvCxnSpPr>
        <p:spPr bwMode="auto">
          <a:xfrm>
            <a:off x="6955248" y="2618314"/>
            <a:ext cx="2525122" cy="305742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54" name="直接箭头连接符 253"/>
          <p:cNvCxnSpPr/>
          <p:nvPr/>
        </p:nvCxnSpPr>
        <p:spPr bwMode="auto">
          <a:xfrm flipH="1" flipV="1">
            <a:off x="2019043" y="5214073"/>
            <a:ext cx="6885348" cy="807287"/>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sp>
        <p:nvSpPr>
          <p:cNvPr id="46" name="标题 2"/>
          <p:cNvSpPr>
            <a:spLocks noGrp="1"/>
          </p:cNvSpPr>
          <p:nvPr/>
        </p:nvSpPr>
        <p:spPr>
          <a:xfrm>
            <a:off x="0" y="300355"/>
            <a:ext cx="8527415"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5.3 </a:t>
            </a:r>
            <a:r>
              <a:rPr lang="zh-CN" altLang="en-US" dirty="0" smtClean="0">
                <a:sym typeface="+mn-ea"/>
              </a:rPr>
              <a:t>示例：执行到</a:t>
            </a:r>
            <a:r>
              <a:rPr lang="en-US" altLang="zh-CN" dirty="0" smtClean="0">
                <a:sym typeface="+mn-ea"/>
              </a:rPr>
              <a:t>0xA0000024</a:t>
            </a:r>
            <a:r>
              <a:rPr lang="zh-CN" altLang="en-US" dirty="0" smtClean="0">
                <a:sym typeface="+mn-ea"/>
              </a:rPr>
              <a:t>时发生中断</a:t>
            </a:r>
            <a:endParaRPr lang="zh-CN" altLang="en-US" dirty="0"/>
          </a:p>
          <a:p>
            <a:pPr indent="0">
              <a:buNone/>
            </a:pPr>
            <a:endParaRPr lang="zh-CN" altLang="en-US" dirty="0"/>
          </a:p>
        </p:txBody>
      </p:sp>
      <p:sp>
        <p:nvSpPr>
          <p:cNvPr id="5" name="TextBox 242"/>
          <p:cNvSpPr txBox="1"/>
          <p:nvPr/>
        </p:nvSpPr>
        <p:spPr>
          <a:xfrm>
            <a:off x="9772965" y="5003556"/>
            <a:ext cx="627380" cy="326390"/>
          </a:xfrm>
          <a:prstGeom prst="rect">
            <a:avLst/>
          </a:prstGeom>
          <a:noFill/>
        </p:spPr>
        <p:txBody>
          <a:bodyPr wrap="none" rtlCol="0">
            <a:spAutoFit/>
          </a:bodyPr>
          <a:lstStyle/>
          <a:p>
            <a:pPr indent="0">
              <a:buNone/>
            </a:pPr>
            <a:r>
              <a:rPr lang="en-US" altLang="zh-CN" sz="1800" dirty="0" smtClean="0">
                <a:solidFill>
                  <a:schemeClr val="tx1"/>
                </a:solidFill>
              </a:rPr>
              <a:t>CP0</a:t>
            </a:r>
            <a:endParaRPr lang="zh-CN"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8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8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1"/>
                                        </p:tgtEl>
                                        <p:attrNameLst>
                                          <p:attrName>style.visibility</p:attrName>
                                        </p:attrNameLst>
                                      </p:cBhvr>
                                      <p:to>
                                        <p:strVal val="visible"/>
                                      </p:to>
                                    </p:set>
                                  </p:childTnLst>
                                  <p:subTnLst>
                                    <p:set>
                                      <p:cBhvr override="childStyle">
                                        <p:cTn dur="1" fill="hold" display="0" masterRel="nextClick" afterEffect="1"/>
                                        <p:tgtEl>
                                          <p:spTgt spid="25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0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79"/>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91"/>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97"/>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10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03"/>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10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09"/>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115"/>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1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121"/>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1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127"/>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13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139"/>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85"/>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1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54"/>
                                        </p:tgtEl>
                                        <p:attrNameLst>
                                          <p:attrName>style.visibility</p:attrName>
                                        </p:attrNameLst>
                                      </p:cBhvr>
                                      <p:to>
                                        <p:strVal val="visible"/>
                                      </p:to>
                                    </p:set>
                                  </p:childTnLst>
                                  <p:subTnLst>
                                    <p:set>
                                      <p:cBhvr override="childStyle">
                                        <p:cTn dur="1" fill="hold" display="0" masterRel="nextClick" afterEffect="1"/>
                                        <p:tgtEl>
                                          <p:spTgt spid="254"/>
                                        </p:tgtEl>
                                        <p:attrNameLst>
                                          <p:attrName>style.visibility</p:attrName>
                                        </p:attrNameLst>
                                      </p:cBhvr>
                                      <p:to>
                                        <p:strVal val="hidden"/>
                                      </p:to>
                                    </p:set>
                                  </p:sub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133"/>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20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205"/>
                                        </p:tgtEl>
                                        <p:attrNameLst>
                                          <p:attrName>style.visibility</p:attrName>
                                        </p:attrNameLst>
                                      </p:cBhvr>
                                      <p:to>
                                        <p:strVal val="hidden"/>
                                      </p:to>
                                    </p:set>
                                  </p:childTnLst>
                                </p:cTn>
                              </p:par>
                              <p:par>
                                <p:cTn id="107" presetID="1" presetClass="entr" presetSubtype="0" fill="hold" nodeType="withEffect">
                                  <p:stCondLst>
                                    <p:cond delay="0"/>
                                  </p:stCondLst>
                                  <p:childTnLst>
                                    <p:set>
                                      <p:cBhvr>
                                        <p:cTn id="108" dur="1" fill="hold">
                                          <p:stCondLst>
                                            <p:cond delay="0"/>
                                          </p:stCondLst>
                                        </p:cTn>
                                        <p:tgtEl>
                                          <p:spTgt spid="20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208"/>
                                        </p:tgtEl>
                                        <p:attrNameLst>
                                          <p:attrName>style.visibility</p:attrName>
                                        </p:attrNameLst>
                                      </p:cBhvr>
                                      <p:to>
                                        <p:strVal val="hidden"/>
                                      </p:to>
                                    </p:set>
                                  </p:childTnLst>
                                </p:cTn>
                              </p:par>
                              <p:par>
                                <p:cTn id="113" presetID="1" presetClass="entr" presetSubtype="0" fill="hold" nodeType="withEffect">
                                  <p:stCondLst>
                                    <p:cond delay="0"/>
                                  </p:stCondLst>
                                  <p:childTnLst>
                                    <p:set>
                                      <p:cBhvr>
                                        <p:cTn id="114"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bwMode="auto">
          <a:xfrm>
            <a:off x="4810870" y="5775740"/>
            <a:ext cx="3420000" cy="936130"/>
          </a:xfrm>
          <a:prstGeom prst="rect">
            <a:avLst/>
          </a:prstGeom>
          <a:solidFill>
            <a:schemeClr val="bg1"/>
          </a:solidFill>
          <a:ln w="28575" cap="flat" cmpd="sng" algn="ctr">
            <a:solidFill>
              <a:srgbClr val="0070C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0" name="矩形 39"/>
          <p:cNvSpPr/>
          <p:nvPr/>
        </p:nvSpPr>
        <p:spPr bwMode="auto">
          <a:xfrm>
            <a:off x="4811370" y="3111370"/>
            <a:ext cx="3420000" cy="1440000"/>
          </a:xfrm>
          <a:prstGeom prst="rect">
            <a:avLst/>
          </a:prstGeom>
          <a:solidFill>
            <a:schemeClr val="bg1"/>
          </a:solidFill>
          <a:ln w="28575" cap="flat" cmpd="sng" algn="ctr">
            <a:solidFill>
              <a:srgbClr val="0070C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graphicFrame>
        <p:nvGraphicFramePr>
          <p:cNvPr id="13" name="表格 12"/>
          <p:cNvGraphicFramePr>
            <a:graphicFrameLocks noGrp="1"/>
          </p:cNvGraphicFramePr>
          <p:nvPr/>
        </p:nvGraphicFramePr>
        <p:xfrm>
          <a:off x="1559370" y="836640"/>
          <a:ext cx="9053830" cy="457200"/>
        </p:xfrm>
        <a:graphic>
          <a:graphicData uri="http://schemas.openxmlformats.org/drawingml/2006/table">
            <a:tbl>
              <a:tblPr firstRow="1" bandRow="1">
                <a:tableStyleId>{5C22544A-7EE6-4342-B048-85BDC9FD1C3A}</a:tableStyleId>
              </a:tblPr>
              <a:tblGrid>
                <a:gridCol w="2000250"/>
                <a:gridCol w="2482215"/>
                <a:gridCol w="2447290"/>
                <a:gridCol w="2124075"/>
              </a:tblGrid>
              <a:tr h="370840">
                <a:tc>
                  <a:txBody>
                    <a:bodyPr/>
                    <a:lstStyle/>
                    <a:p>
                      <a:pPr algn="ctr"/>
                      <a:r>
                        <a:rPr lang="zh-CN" altLang="en-US" sz="2400" b="0" dirty="0" smtClean="0">
                          <a:solidFill>
                            <a:schemeClr val="tx1"/>
                          </a:solidFill>
                          <a:latin typeface="Cambria" panose="02040503050406030204" pitchFamily="18" charset="0"/>
                        </a:rPr>
                        <a:t>设备</a:t>
                      </a:r>
                      <a:endParaRPr lang="zh-CN" altLang="en-US" sz="2400" b="0" dirty="0">
                        <a:solidFill>
                          <a:schemeClr val="tx1"/>
                        </a:solidFill>
                        <a:latin typeface="Cambria" panose="02040503050406030204" pitchFamily="18" charset="0"/>
                      </a:endParaRPr>
                    </a:p>
                  </a:txBody>
                  <a:tcPr/>
                </a:tc>
                <a:tc>
                  <a:txBody>
                    <a:bodyPr/>
                    <a:lstStyle/>
                    <a:p>
                      <a:pPr algn="ctr"/>
                      <a:r>
                        <a:rPr lang="en-US" altLang="zh-CN" sz="2400" b="0" dirty="0" smtClean="0">
                          <a:solidFill>
                            <a:schemeClr val="tx1"/>
                          </a:solidFill>
                          <a:latin typeface="Cambria" panose="02040503050406030204" pitchFamily="18" charset="0"/>
                        </a:rPr>
                        <a:t>CP0</a:t>
                      </a:r>
                      <a:endParaRPr lang="zh-CN" altLang="en-US" sz="2400" b="0" dirty="0">
                        <a:solidFill>
                          <a:schemeClr val="tx1"/>
                        </a:solidFill>
                        <a:latin typeface="Cambria" panose="02040503050406030204" pitchFamily="18" charset="0"/>
                      </a:endParaRPr>
                    </a:p>
                  </a:txBody>
                  <a:tcPr/>
                </a:tc>
                <a:tc>
                  <a:txBody>
                    <a:bodyPr/>
                    <a:lstStyle/>
                    <a:p>
                      <a:pPr algn="ctr"/>
                      <a:r>
                        <a:rPr lang="en-US" altLang="zh-CN" sz="2400" b="0" dirty="0" smtClean="0">
                          <a:solidFill>
                            <a:schemeClr val="tx1"/>
                          </a:solidFill>
                          <a:latin typeface="Cambria" panose="02040503050406030204" pitchFamily="18" charset="0"/>
                        </a:rPr>
                        <a:t>CPU</a:t>
                      </a:r>
                      <a:endParaRPr lang="zh-CN" altLang="en-US" sz="2400" b="0" dirty="0">
                        <a:solidFill>
                          <a:schemeClr val="tx1"/>
                        </a:solidFill>
                        <a:latin typeface="Cambria" panose="02040503050406030204" pitchFamily="18" charset="0"/>
                      </a:endParaRPr>
                    </a:p>
                  </a:txBody>
                  <a:tcPr/>
                </a:tc>
                <a:tc>
                  <a:txBody>
                    <a:bodyPr/>
                    <a:lstStyle/>
                    <a:p>
                      <a:pPr algn="ctr"/>
                      <a:r>
                        <a:rPr lang="zh-CN" altLang="en-US" sz="2400" b="0" dirty="0" smtClean="0">
                          <a:solidFill>
                            <a:schemeClr val="tx1"/>
                          </a:solidFill>
                          <a:latin typeface="Cambria" panose="02040503050406030204" pitchFamily="18" charset="0"/>
                        </a:rPr>
                        <a:t>中断服务程序</a:t>
                      </a:r>
                      <a:endParaRPr lang="zh-CN" altLang="en-US" sz="2400" b="0" dirty="0">
                        <a:solidFill>
                          <a:schemeClr val="tx1"/>
                        </a:solidFill>
                        <a:latin typeface="Cambria" panose="02040503050406030204" pitchFamily="18" charset="0"/>
                      </a:endParaRPr>
                    </a:p>
                  </a:txBody>
                  <a:tcPr/>
                </a:tc>
              </a:tr>
            </a:tbl>
          </a:graphicData>
        </a:graphic>
      </p:graphicFrame>
      <p:sp>
        <p:nvSpPr>
          <p:cNvPr id="19" name="TextBox 18"/>
          <p:cNvSpPr txBox="1"/>
          <p:nvPr/>
        </p:nvSpPr>
        <p:spPr>
          <a:xfrm>
            <a:off x="4295750" y="1628750"/>
            <a:ext cx="3168440" cy="71691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err="1" smtClean="0">
                <a:solidFill>
                  <a:schemeClr val="tx1"/>
                </a:solidFill>
                <a:latin typeface="Courier New" panose="02070309020205020404" pitchFamily="49" charset="0"/>
                <a:cs typeface="Courier New" panose="02070309020205020404" pitchFamily="49" charset="0"/>
              </a:rPr>
              <a:t>IntReq</a:t>
            </a:r>
            <a:r>
              <a:rPr lang="en-US" altLang="zh-CN" sz="2000" b="0" dirty="0" smtClean="0">
                <a:solidFill>
                  <a:schemeClr val="tx1"/>
                </a:solidFill>
                <a:latin typeface="Courier New" panose="02070309020205020404" pitchFamily="49" charset="0"/>
                <a:cs typeface="Courier New" panose="02070309020205020404" pitchFamily="49" charset="0"/>
              </a:rPr>
              <a:t> = </a:t>
            </a:r>
          </a:p>
          <a:p>
            <a:pPr indent="0" algn="l">
              <a:buNone/>
            </a:pPr>
            <a:r>
              <a:rPr lang="en-US" altLang="zh-CN" sz="2000" b="0" dirty="0" smtClean="0">
                <a:solidFill>
                  <a:schemeClr val="tx1"/>
                </a:solidFill>
                <a:latin typeface="Courier New" panose="02070309020205020404" pitchFamily="49" charset="0"/>
                <a:cs typeface="Courier New" panose="02070309020205020404" pitchFamily="49" charset="0"/>
              </a:rPr>
              <a:t>f(IE/EXL/IM/IP)</a:t>
            </a:r>
            <a:endParaRPr lang="zh-CN" altLang="en-US" sz="2000" b="0" dirty="0" smtClean="0">
              <a:solidFill>
                <a:schemeClr val="tx1"/>
              </a:solidFill>
              <a:latin typeface="Courier New" panose="02070309020205020404" pitchFamily="49" charset="0"/>
              <a:cs typeface="Courier New" panose="02070309020205020404" pitchFamily="49" charset="0"/>
            </a:endParaRPr>
          </a:p>
        </p:txBody>
      </p:sp>
      <p:sp>
        <p:nvSpPr>
          <p:cNvPr id="23" name="TextBox 22"/>
          <p:cNvSpPr txBox="1"/>
          <p:nvPr/>
        </p:nvSpPr>
        <p:spPr>
          <a:xfrm>
            <a:off x="7608700" y="2277350"/>
            <a:ext cx="1944270" cy="593725"/>
          </a:xfrm>
          <a:prstGeom prst="rect">
            <a:avLst/>
          </a:prstGeom>
          <a:solidFill>
            <a:schemeClr val="accent1">
              <a:lumMod val="40000"/>
              <a:lumOff val="60000"/>
            </a:schemeClr>
          </a:solidFill>
          <a:ln w="28575">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ctr">
              <a:buNone/>
            </a:pPr>
            <a:r>
              <a:rPr lang="zh-CN" altLang="en-US" sz="2000" b="0" dirty="0" smtClean="0">
                <a:solidFill>
                  <a:schemeClr val="tx1"/>
                </a:solidFill>
              </a:rPr>
              <a:t>指令最后周期检测</a:t>
            </a:r>
            <a:r>
              <a:rPr lang="en-US" altLang="zh-CN" sz="2000" b="0" dirty="0" err="1" smtClean="0">
                <a:solidFill>
                  <a:schemeClr val="tx1"/>
                </a:solidFill>
              </a:rPr>
              <a:t>IntReq</a:t>
            </a:r>
            <a:endParaRPr lang="zh-CN" altLang="en-US" sz="2000" b="0" dirty="0">
              <a:solidFill>
                <a:schemeClr val="tx1"/>
              </a:solidFill>
            </a:endParaRPr>
          </a:p>
        </p:txBody>
      </p:sp>
      <p:cxnSp>
        <p:nvCxnSpPr>
          <p:cNvPr id="25" name="直接箭头连接符 24"/>
          <p:cNvCxnSpPr/>
          <p:nvPr/>
        </p:nvCxnSpPr>
        <p:spPr bwMode="auto">
          <a:xfrm>
            <a:off x="2279470" y="1412720"/>
            <a:ext cx="158422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cxnSp>
        <p:nvCxnSpPr>
          <p:cNvPr id="26" name="直接箭头连接符 25"/>
          <p:cNvCxnSpPr/>
          <p:nvPr/>
        </p:nvCxnSpPr>
        <p:spPr bwMode="auto">
          <a:xfrm>
            <a:off x="2279690" y="1916790"/>
            <a:ext cx="158400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27" name="TextBox 26"/>
          <p:cNvSpPr txBox="1"/>
          <p:nvPr/>
        </p:nvSpPr>
        <p:spPr>
          <a:xfrm>
            <a:off x="2275661" y="1484730"/>
            <a:ext cx="1593850" cy="352425"/>
          </a:xfrm>
          <a:prstGeom prst="rect">
            <a:avLst/>
          </a:prstGeom>
          <a:noFill/>
        </p:spPr>
        <p:txBody>
          <a:bodyPr wrap="none" rtlCol="0">
            <a:spAutoFit/>
          </a:bodyPr>
          <a:lstStyle/>
          <a:p>
            <a:pPr indent="0">
              <a:buNone/>
            </a:pPr>
            <a:r>
              <a:rPr lang="en-US" altLang="zh-CN" sz="2000" b="0" dirty="0" smtClean="0">
                <a:solidFill>
                  <a:schemeClr val="tx1"/>
                </a:solidFill>
              </a:rPr>
              <a:t>6</a:t>
            </a:r>
            <a:r>
              <a:rPr lang="zh-CN" altLang="en-US" sz="2000" b="0" dirty="0" smtClean="0">
                <a:solidFill>
                  <a:schemeClr val="tx1"/>
                </a:solidFill>
              </a:rPr>
              <a:t>个硬件中断</a:t>
            </a:r>
            <a:endParaRPr lang="zh-CN" altLang="en-US" sz="2000" b="0" dirty="0">
              <a:solidFill>
                <a:schemeClr val="tx1"/>
              </a:solidFill>
            </a:endParaRPr>
          </a:p>
        </p:txBody>
      </p:sp>
      <p:cxnSp>
        <p:nvCxnSpPr>
          <p:cNvPr id="29" name="直接箭头连接符 28"/>
          <p:cNvCxnSpPr/>
          <p:nvPr/>
        </p:nvCxnSpPr>
        <p:spPr bwMode="auto">
          <a:xfrm>
            <a:off x="4151730" y="227684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cxnSp>
        <p:nvCxnSpPr>
          <p:cNvPr id="31" name="直接箭头连接符 30"/>
          <p:cNvCxnSpPr/>
          <p:nvPr/>
        </p:nvCxnSpPr>
        <p:spPr bwMode="auto">
          <a:xfrm flipH="1">
            <a:off x="4882880" y="339941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32" name="TextBox 31"/>
          <p:cNvSpPr txBox="1"/>
          <p:nvPr/>
        </p:nvSpPr>
        <p:spPr>
          <a:xfrm>
            <a:off x="5386950" y="303936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smtClean="0">
                <a:solidFill>
                  <a:schemeClr val="tx1"/>
                </a:solidFill>
                <a:latin typeface="Courier New" panose="02070309020205020404" pitchFamily="49" charset="0"/>
                <a:cs typeface="Courier New" panose="02070309020205020404" pitchFamily="49" charset="0"/>
              </a:rPr>
              <a:t>EPC </a:t>
            </a:r>
            <a:r>
              <a:rPr lang="en-US" altLang="zh-CN" sz="2000" b="0" dirty="0" smtClean="0">
                <a:solidFill>
                  <a:schemeClr val="tx1"/>
                </a:solidFill>
                <a:latin typeface="Courier New" panose="02070309020205020404" pitchFamily="49" charset="0"/>
                <a:cs typeface="Courier New" panose="02070309020205020404" pitchFamily="49" charset="0"/>
                <a:sym typeface="Wingdings" panose="05000000000000000000" pitchFamily="2" charset="2"/>
              </a:rPr>
              <a:t> PC</a:t>
            </a:r>
            <a:endParaRPr lang="en-US" altLang="zh-CN" sz="2000" b="0" dirty="0" smtClean="0">
              <a:solidFill>
                <a:schemeClr val="tx1"/>
              </a:solidFill>
              <a:latin typeface="Courier New" panose="02070309020205020404" pitchFamily="49" charset="0"/>
              <a:cs typeface="Courier New" panose="02070309020205020404" pitchFamily="49" charset="0"/>
            </a:endParaRPr>
          </a:p>
        </p:txBody>
      </p:sp>
      <p:sp>
        <p:nvSpPr>
          <p:cNvPr id="36" name="TextBox 35"/>
          <p:cNvSpPr txBox="1"/>
          <p:nvPr/>
        </p:nvSpPr>
        <p:spPr>
          <a:xfrm>
            <a:off x="6251070" y="3831470"/>
            <a:ext cx="1944000" cy="593725"/>
          </a:xfrm>
          <a:prstGeom prst="rect">
            <a:avLst/>
          </a:prstGeom>
          <a:solidFill>
            <a:srgbClr val="FFFF00"/>
          </a:solid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buNone/>
            </a:pPr>
            <a:r>
              <a:rPr lang="en-US" altLang="zh-CN" sz="2000" b="0" dirty="0" smtClean="0">
                <a:solidFill>
                  <a:schemeClr val="tx1"/>
                </a:solidFill>
              </a:rPr>
              <a:t>PC</a:t>
            </a:r>
            <a:r>
              <a:rPr lang="en-US" altLang="zh-CN" sz="2000" b="0" dirty="0" smtClean="0">
                <a:solidFill>
                  <a:schemeClr val="tx1"/>
                </a:solidFill>
                <a:sym typeface="Wingdings" panose="05000000000000000000" pitchFamily="2" charset="2"/>
              </a:rPr>
              <a:t></a:t>
            </a:r>
            <a:r>
              <a:rPr lang="zh-CN" altLang="en-US" sz="2000" b="0" dirty="0" smtClean="0">
                <a:solidFill>
                  <a:schemeClr val="tx1"/>
                </a:solidFill>
                <a:sym typeface="Wingdings" panose="05000000000000000000" pitchFamily="2" charset="2"/>
              </a:rPr>
              <a:t>硬件中断服务程序入口</a:t>
            </a:r>
            <a:endParaRPr lang="zh-CN" altLang="en-US" sz="2000" b="0" dirty="0">
              <a:solidFill>
                <a:schemeClr val="tx1"/>
              </a:solidFill>
            </a:endParaRPr>
          </a:p>
        </p:txBody>
      </p:sp>
      <p:cxnSp>
        <p:nvCxnSpPr>
          <p:cNvPr id="37" name="直接箭头连接符 36"/>
          <p:cNvCxnSpPr/>
          <p:nvPr/>
        </p:nvCxnSpPr>
        <p:spPr bwMode="auto">
          <a:xfrm flipH="1">
            <a:off x="4882880" y="375946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38" name="TextBox 37"/>
          <p:cNvSpPr txBox="1"/>
          <p:nvPr/>
        </p:nvSpPr>
        <p:spPr>
          <a:xfrm>
            <a:off x="5386950" y="339941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smtClean="0">
                <a:solidFill>
                  <a:schemeClr val="tx1"/>
                </a:solidFill>
                <a:latin typeface="Courier New" panose="02070309020205020404" pitchFamily="49" charset="0"/>
                <a:cs typeface="Courier New" panose="02070309020205020404" pitchFamily="49" charset="0"/>
              </a:rPr>
              <a:t>EXL</a:t>
            </a:r>
            <a:r>
              <a:rPr lang="zh-CN" altLang="en-US" sz="2000" b="0" dirty="0" smtClean="0">
                <a:solidFill>
                  <a:schemeClr val="tx1"/>
                </a:solidFill>
                <a:latin typeface="Courier New" panose="02070309020205020404" pitchFamily="49" charset="0"/>
                <a:cs typeface="Courier New" panose="02070309020205020404" pitchFamily="49" charset="0"/>
              </a:rPr>
              <a:t>置位</a:t>
            </a:r>
            <a:endParaRPr lang="en-US" altLang="zh-CN" sz="2000" b="0" dirty="0" smtClean="0">
              <a:solidFill>
                <a:schemeClr val="tx1"/>
              </a:solidFill>
              <a:latin typeface="Courier New" panose="02070309020205020404" pitchFamily="49" charset="0"/>
              <a:cs typeface="Courier New" panose="02070309020205020404" pitchFamily="49" charset="0"/>
            </a:endParaRPr>
          </a:p>
        </p:txBody>
      </p:sp>
      <p:sp>
        <p:nvSpPr>
          <p:cNvPr id="41" name="TextBox 40"/>
          <p:cNvSpPr txBox="1"/>
          <p:nvPr/>
        </p:nvSpPr>
        <p:spPr>
          <a:xfrm>
            <a:off x="8926482" y="4479560"/>
            <a:ext cx="1198880" cy="1506855"/>
          </a:xfrm>
          <a:prstGeom prst="rect">
            <a:avLst/>
          </a:prstGeom>
          <a:solidFill>
            <a:srgbClr val="33CCFF"/>
          </a:solidFill>
        </p:spPr>
        <p:txBody>
          <a:bodyPr wrap="none" rtlCol="0">
            <a:spAutoFit/>
          </a:bodyPr>
          <a:lstStyle/>
          <a:p>
            <a:pPr indent="0">
              <a:buNone/>
            </a:pPr>
            <a:r>
              <a:rPr lang="zh-CN" altLang="en-US" sz="2000" b="0" dirty="0" smtClean="0">
                <a:solidFill>
                  <a:schemeClr val="tx1"/>
                </a:solidFill>
              </a:rPr>
              <a:t>保存现场</a:t>
            </a:r>
            <a:endParaRPr lang="en-US" altLang="zh-CN" sz="2000" b="0" dirty="0" smtClean="0">
              <a:solidFill>
                <a:schemeClr val="tx1"/>
              </a:solidFill>
            </a:endParaRPr>
          </a:p>
          <a:p>
            <a:pPr indent="0">
              <a:buNone/>
            </a:pPr>
            <a:r>
              <a:rPr lang="zh-CN" altLang="en-US" sz="2000" b="0" dirty="0" smtClean="0">
                <a:solidFill>
                  <a:schemeClr val="tx1"/>
                </a:solidFill>
              </a:rPr>
              <a:t>中断处理</a:t>
            </a:r>
            <a:endParaRPr lang="en-US" altLang="zh-CN" sz="2000" b="0" dirty="0" smtClean="0">
              <a:solidFill>
                <a:schemeClr val="tx1"/>
              </a:solidFill>
            </a:endParaRPr>
          </a:p>
          <a:p>
            <a:pPr indent="0">
              <a:buNone/>
            </a:pPr>
            <a:r>
              <a:rPr lang="zh-CN" altLang="en-US" sz="2000" b="0" dirty="0" smtClean="0">
                <a:solidFill>
                  <a:schemeClr val="tx1"/>
                </a:solidFill>
              </a:rPr>
              <a:t>恢复现场</a:t>
            </a:r>
            <a:endParaRPr lang="en-US" altLang="zh-CN" sz="2000" b="0" dirty="0" smtClean="0">
              <a:solidFill>
                <a:schemeClr val="tx1"/>
              </a:solidFill>
            </a:endParaRPr>
          </a:p>
          <a:p>
            <a:pPr indent="0">
              <a:buNone/>
            </a:pPr>
            <a:r>
              <a:rPr lang="en-US" altLang="zh-CN" sz="2000" b="0" dirty="0" smtClean="0">
                <a:solidFill>
                  <a:schemeClr val="tx1"/>
                </a:solidFill>
              </a:rPr>
              <a:t>ERET</a:t>
            </a:r>
            <a:endParaRPr lang="zh-CN" altLang="en-US" sz="2000" b="0" dirty="0">
              <a:solidFill>
                <a:schemeClr val="tx1"/>
              </a:solidFill>
            </a:endParaRPr>
          </a:p>
        </p:txBody>
      </p:sp>
      <p:cxnSp>
        <p:nvCxnSpPr>
          <p:cNvPr id="43" name="曲线连接符 42"/>
          <p:cNvCxnSpPr/>
          <p:nvPr/>
        </p:nvCxnSpPr>
        <p:spPr bwMode="auto">
          <a:xfrm rot="10800000" flipV="1">
            <a:off x="6827640" y="2514163"/>
            <a:ext cx="720100" cy="447982"/>
          </a:xfrm>
          <a:prstGeom prst="curvedConnector3">
            <a:avLst>
              <a:gd name="adj1" fmla="val 101123"/>
            </a:avLst>
          </a:prstGeom>
          <a:solidFill>
            <a:schemeClr val="bg1"/>
          </a:solidFill>
          <a:ln w="38100" cap="flat" cmpd="sng" algn="ctr">
            <a:solidFill>
              <a:srgbClr val="00CC00"/>
            </a:solidFill>
            <a:prstDash val="solid"/>
            <a:round/>
            <a:headEnd type="none" w="med" len="med"/>
            <a:tailEnd type="triangle" w="lg" len="lg"/>
          </a:ln>
          <a:effectLst/>
        </p:spPr>
      </p:cxnSp>
      <p:cxnSp>
        <p:nvCxnSpPr>
          <p:cNvPr id="49" name="直接箭头连接符 48"/>
          <p:cNvCxnSpPr/>
          <p:nvPr/>
        </p:nvCxnSpPr>
        <p:spPr bwMode="auto">
          <a:xfrm>
            <a:off x="4882880" y="618737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50" name="TextBox 49"/>
          <p:cNvSpPr txBox="1"/>
          <p:nvPr/>
        </p:nvSpPr>
        <p:spPr>
          <a:xfrm>
            <a:off x="5386950" y="580689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smtClean="0">
                <a:solidFill>
                  <a:schemeClr val="tx1"/>
                </a:solidFill>
                <a:latin typeface="Courier New" panose="02070309020205020404" pitchFamily="49" charset="0"/>
                <a:cs typeface="Courier New" panose="02070309020205020404" pitchFamily="49" charset="0"/>
              </a:rPr>
              <a:t>PC </a:t>
            </a:r>
            <a:r>
              <a:rPr lang="en-US" altLang="zh-CN" sz="2000" b="0" dirty="0" smtClean="0">
                <a:solidFill>
                  <a:schemeClr val="tx1"/>
                </a:solidFill>
                <a:latin typeface="Courier New" panose="02070309020205020404" pitchFamily="49" charset="0"/>
                <a:cs typeface="Courier New" panose="02070309020205020404" pitchFamily="49" charset="0"/>
                <a:sym typeface="Wingdings" panose="05000000000000000000" pitchFamily="2" charset="2"/>
              </a:rPr>
              <a:t> EPC</a:t>
            </a:r>
            <a:endParaRPr lang="en-US" altLang="zh-CN" sz="2000" b="0" dirty="0" smtClean="0">
              <a:solidFill>
                <a:schemeClr val="tx1"/>
              </a:solidFill>
              <a:latin typeface="Courier New" panose="02070309020205020404" pitchFamily="49" charset="0"/>
              <a:cs typeface="Courier New" panose="02070309020205020404" pitchFamily="49" charset="0"/>
            </a:endParaRPr>
          </a:p>
        </p:txBody>
      </p:sp>
      <p:cxnSp>
        <p:nvCxnSpPr>
          <p:cNvPr id="51" name="直接箭头连接符 50"/>
          <p:cNvCxnSpPr/>
          <p:nvPr/>
        </p:nvCxnSpPr>
        <p:spPr bwMode="auto">
          <a:xfrm flipH="1">
            <a:off x="4882880" y="654742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52" name="TextBox 51"/>
          <p:cNvSpPr txBox="1"/>
          <p:nvPr/>
        </p:nvSpPr>
        <p:spPr>
          <a:xfrm>
            <a:off x="5386950" y="618737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smtClean="0">
                <a:solidFill>
                  <a:schemeClr val="tx1"/>
                </a:solidFill>
                <a:latin typeface="Courier New" panose="02070309020205020404" pitchFamily="49" charset="0"/>
                <a:cs typeface="Courier New" panose="02070309020205020404" pitchFamily="49" charset="0"/>
              </a:rPr>
              <a:t>EXL</a:t>
            </a:r>
            <a:r>
              <a:rPr lang="zh-CN" altLang="en-US" sz="2000" b="0" dirty="0" smtClean="0">
                <a:solidFill>
                  <a:schemeClr val="tx1"/>
                </a:solidFill>
                <a:latin typeface="Courier New" panose="02070309020205020404" pitchFamily="49" charset="0"/>
                <a:cs typeface="Courier New" panose="02070309020205020404" pitchFamily="49" charset="0"/>
              </a:rPr>
              <a:t>清除</a:t>
            </a:r>
            <a:endParaRPr lang="en-US" altLang="zh-CN" sz="2000" b="0" dirty="0" smtClean="0">
              <a:solidFill>
                <a:schemeClr val="tx1"/>
              </a:solidFill>
              <a:latin typeface="Courier New" panose="02070309020205020404" pitchFamily="49" charset="0"/>
              <a:cs typeface="Courier New" panose="02070309020205020404" pitchFamily="49" charset="0"/>
            </a:endParaRPr>
          </a:p>
        </p:txBody>
      </p:sp>
      <p:cxnSp>
        <p:nvCxnSpPr>
          <p:cNvPr id="54" name="曲线连接符 53"/>
          <p:cNvCxnSpPr>
            <a:stCxn id="36" idx="3"/>
            <a:endCxn id="41" idx="0"/>
          </p:cNvCxnSpPr>
          <p:nvPr/>
        </p:nvCxnSpPr>
        <p:spPr bwMode="auto">
          <a:xfrm>
            <a:off x="8194675" y="4128770"/>
            <a:ext cx="1330960" cy="350520"/>
          </a:xfrm>
          <a:prstGeom prst="curvedConnector2">
            <a:avLst/>
          </a:prstGeom>
          <a:solidFill>
            <a:schemeClr val="bg1"/>
          </a:solidFill>
          <a:ln w="38100" cap="flat" cmpd="sng" algn="ctr">
            <a:solidFill>
              <a:srgbClr val="00CC00"/>
            </a:solidFill>
            <a:prstDash val="solid"/>
            <a:round/>
            <a:headEnd type="none" w="med" len="med"/>
            <a:tailEnd type="triangle" w="lg" len="lg"/>
          </a:ln>
          <a:effectLst/>
        </p:spPr>
      </p:cxnSp>
      <p:cxnSp>
        <p:nvCxnSpPr>
          <p:cNvPr id="57" name="曲线连接符 53"/>
          <p:cNvCxnSpPr>
            <a:stCxn id="41" idx="2"/>
            <a:endCxn id="53" idx="3"/>
          </p:cNvCxnSpPr>
          <p:nvPr/>
        </p:nvCxnSpPr>
        <p:spPr bwMode="auto">
          <a:xfrm rot="5400000">
            <a:off x="8749348" y="5467668"/>
            <a:ext cx="257810" cy="1294765"/>
          </a:xfrm>
          <a:prstGeom prst="curvedConnector2">
            <a:avLst/>
          </a:prstGeom>
          <a:solidFill>
            <a:schemeClr val="bg1"/>
          </a:solidFill>
          <a:ln w="38100" cap="flat" cmpd="sng" algn="ctr">
            <a:solidFill>
              <a:srgbClr val="00CC00"/>
            </a:solidFill>
            <a:prstDash val="solid"/>
            <a:round/>
            <a:headEnd type="none" w="med" len="med"/>
            <a:tailEnd type="triangle" w="lg" len="lg"/>
          </a:ln>
          <a:effectLst/>
        </p:spPr>
      </p:cxnSp>
      <p:sp>
        <p:nvSpPr>
          <p:cNvPr id="46" name="标题 2"/>
          <p:cNvSpPr>
            <a:spLocks noGrp="1"/>
          </p:cNvSpPr>
          <p:nvPr/>
        </p:nvSpPr>
        <p:spPr>
          <a:xfrm>
            <a:off x="0" y="300355"/>
            <a:ext cx="8527415"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5.3 </a:t>
            </a:r>
            <a:r>
              <a:rPr lang="zh-CN" altLang="en-US" dirty="0" smtClean="0">
                <a:sym typeface="+mn-ea"/>
              </a:rPr>
              <a:t>软硬件配合的中断响应机制</a:t>
            </a:r>
            <a:r>
              <a:rPr lang="en-US" altLang="zh-CN" dirty="0" smtClean="0">
                <a:sym typeface="+mn-ea"/>
              </a:rPr>
              <a:t>--</a:t>
            </a:r>
            <a:r>
              <a:rPr lang="zh-CN" altLang="en-US" dirty="0" smtClean="0">
                <a:sym typeface="+mn-ea"/>
              </a:rPr>
              <a:t>软硬件协同</a:t>
            </a: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a:xfrm>
            <a:off x="479376" y="908720"/>
            <a:ext cx="10464800" cy="2867025"/>
          </a:xfrm>
        </p:spPr>
        <p:txBody>
          <a:bodyPr/>
          <a:lstStyle/>
          <a:p>
            <a:pPr>
              <a:lnSpc>
                <a:spcPct val="150000"/>
              </a:lnSpc>
              <a:spcBef>
                <a:spcPts val="0"/>
              </a:spcBef>
            </a:pPr>
            <a:r>
              <a:rPr lang="zh-CN" altLang="en-US" dirty="0" smtClean="0"/>
              <a:t>完成系统管理相关的功能</a:t>
            </a:r>
            <a:endParaRPr lang="en-US" altLang="zh-CN" dirty="0" smtClean="0"/>
          </a:p>
          <a:p>
            <a:pPr lvl="1">
              <a:lnSpc>
                <a:spcPct val="150000"/>
              </a:lnSpc>
              <a:spcBef>
                <a:spcPts val="0"/>
              </a:spcBef>
            </a:pPr>
            <a:r>
              <a:rPr lang="en-US" altLang="zh-CN" dirty="0" smtClean="0"/>
              <a:t>CPU</a:t>
            </a:r>
            <a:r>
              <a:rPr lang="zh-CN" altLang="en-US" dirty="0" smtClean="0"/>
              <a:t>配置</a:t>
            </a:r>
            <a:endParaRPr lang="en-US" altLang="zh-CN" dirty="0" smtClean="0"/>
          </a:p>
          <a:p>
            <a:pPr lvl="1">
              <a:lnSpc>
                <a:spcPct val="150000"/>
              </a:lnSpc>
              <a:spcBef>
                <a:spcPts val="0"/>
              </a:spcBef>
            </a:pPr>
            <a:r>
              <a:rPr lang="en-US" altLang="zh-CN" dirty="0" smtClean="0"/>
              <a:t>Cache</a:t>
            </a:r>
            <a:r>
              <a:rPr lang="zh-CN" altLang="en-US" dirty="0" smtClean="0"/>
              <a:t>管理</a:t>
            </a:r>
            <a:endParaRPr lang="en-US" altLang="zh-CN" dirty="0" smtClean="0"/>
          </a:p>
          <a:p>
            <a:pPr lvl="1">
              <a:lnSpc>
                <a:spcPct val="150000"/>
              </a:lnSpc>
              <a:spcBef>
                <a:spcPts val="0"/>
              </a:spcBef>
            </a:pPr>
            <a:r>
              <a:rPr lang="zh-CN" altLang="en-US" dirty="0" smtClean="0"/>
              <a:t>异常</a:t>
            </a:r>
            <a:r>
              <a:rPr lang="en-US" altLang="zh-CN" dirty="0" smtClean="0"/>
              <a:t>/</a:t>
            </a:r>
            <a:r>
              <a:rPr lang="zh-CN" altLang="en-US" dirty="0" smtClean="0"/>
              <a:t>中断控制</a:t>
            </a:r>
            <a:endParaRPr lang="en-US" altLang="zh-CN" dirty="0" smtClean="0"/>
          </a:p>
          <a:p>
            <a:pPr lvl="1">
              <a:lnSpc>
                <a:spcPct val="150000"/>
              </a:lnSpc>
              <a:spcBef>
                <a:spcPts val="0"/>
              </a:spcBef>
            </a:pPr>
            <a:r>
              <a:rPr lang="zh-CN" altLang="en-US" dirty="0" smtClean="0"/>
              <a:t>存储管理单元控制</a:t>
            </a:r>
            <a:endParaRPr lang="en-US" altLang="zh-CN" dirty="0" smtClean="0"/>
          </a:p>
          <a:p>
            <a:pPr lvl="1">
              <a:lnSpc>
                <a:spcPct val="150000"/>
              </a:lnSpc>
              <a:spcBef>
                <a:spcPts val="0"/>
              </a:spcBef>
            </a:pPr>
            <a:r>
              <a:rPr lang="zh-CN" altLang="en-US" dirty="0" smtClean="0"/>
              <a:t>杂项：定时、奇偶校验、错误检测。。。</a:t>
            </a:r>
            <a:endParaRPr lang="en-US" altLang="zh-CN" dirty="0" smtClean="0"/>
          </a:p>
        </p:txBody>
      </p:sp>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en-US" altLang="zh-CN" dirty="0">
                <a:sym typeface="+mn-ea"/>
              </a:rPr>
              <a:t>0</a:t>
            </a:r>
            <a:r>
              <a:rPr lang="zh-CN" altLang="en-US" dirty="0">
                <a:sym typeface="+mn-ea"/>
              </a:rPr>
              <a:t>号协处理器</a:t>
            </a: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7203" y="1079500"/>
            <a:ext cx="8678287" cy="512445"/>
          </a:xfrm>
          <a:solidFill>
            <a:schemeClr val="bg1"/>
          </a:solidFill>
        </p:spPr>
        <p:txBody>
          <a:bodyPr/>
          <a:lstStyle/>
          <a:p>
            <a:r>
              <a:rPr lang="zh-CN" altLang="en-US" sz="2400" dirty="0" smtClean="0">
                <a:solidFill>
                  <a:srgbClr val="000000"/>
                </a:solidFill>
              </a:rPr>
              <a:t>包含</a:t>
            </a:r>
            <a:r>
              <a:rPr lang="en-US" altLang="zh-CN" sz="2400" dirty="0" smtClean="0">
                <a:solidFill>
                  <a:srgbClr val="000000"/>
                </a:solidFill>
              </a:rPr>
              <a:t>EPC</a:t>
            </a:r>
            <a:r>
              <a:rPr lang="zh-CN" altLang="en-US" sz="2400" dirty="0" smtClean="0">
                <a:solidFill>
                  <a:srgbClr val="000000"/>
                </a:solidFill>
              </a:rPr>
              <a:t>、</a:t>
            </a:r>
            <a:r>
              <a:rPr lang="en-US" altLang="zh-CN" sz="2400" dirty="0" smtClean="0">
                <a:solidFill>
                  <a:srgbClr val="000000"/>
                </a:solidFill>
              </a:rPr>
              <a:t>SR</a:t>
            </a:r>
            <a:r>
              <a:rPr lang="zh-CN" altLang="en-US" sz="2400" dirty="0" smtClean="0">
                <a:solidFill>
                  <a:srgbClr val="000000"/>
                </a:solidFill>
              </a:rPr>
              <a:t>、</a:t>
            </a:r>
            <a:r>
              <a:rPr lang="en-US" altLang="zh-CN" sz="2400" dirty="0" smtClean="0">
                <a:solidFill>
                  <a:srgbClr val="000000"/>
                </a:solidFill>
              </a:rPr>
              <a:t>CAUSE</a:t>
            </a:r>
            <a:r>
              <a:rPr lang="zh-CN" altLang="en-US" sz="2400" dirty="0" smtClean="0">
                <a:solidFill>
                  <a:srgbClr val="000000"/>
                </a:solidFill>
              </a:rPr>
              <a:t>等特殊寄存器</a:t>
            </a:r>
          </a:p>
        </p:txBody>
      </p:sp>
      <p:sp>
        <p:nvSpPr>
          <p:cNvPr id="5"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en-US" altLang="zh-CN" dirty="0">
                <a:sym typeface="+mn-ea"/>
              </a:rPr>
              <a:t>0</a:t>
            </a:r>
            <a:r>
              <a:rPr lang="zh-CN" altLang="en-US" dirty="0">
                <a:sym typeface="+mn-ea"/>
              </a:rPr>
              <a:t>号协处理器</a:t>
            </a:r>
            <a:endParaRPr lang="zh-CN" altLang="en-US" dirty="0" smtClean="0"/>
          </a:p>
          <a:p>
            <a:pPr indent="0">
              <a:buNone/>
            </a:pPr>
            <a:endParaRPr lang="zh-CN" altLang="en-US" dirty="0"/>
          </a:p>
          <a:p>
            <a:pPr indent="0">
              <a:buNone/>
            </a:pPr>
            <a:endParaRPr lang="zh-CN" altLang="en-US" dirty="0"/>
          </a:p>
        </p:txBody>
      </p:sp>
      <p:pic>
        <p:nvPicPr>
          <p:cNvPr id="7" name="图片 6"/>
          <p:cNvPicPr>
            <a:picLocks noChangeAspect="1"/>
          </p:cNvPicPr>
          <p:nvPr/>
        </p:nvPicPr>
        <p:blipFill>
          <a:blip r:embed="rId2"/>
          <a:stretch>
            <a:fillRect/>
          </a:stretch>
        </p:blipFill>
        <p:spPr>
          <a:xfrm>
            <a:off x="1577975" y="1790065"/>
            <a:ext cx="8865870" cy="47244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a:xfrm>
            <a:off x="479376" y="764705"/>
            <a:ext cx="10899824" cy="5360035"/>
          </a:xfrm>
        </p:spPr>
        <p:txBody>
          <a:bodyPr/>
          <a:lstStyle/>
          <a:p>
            <a:r>
              <a:rPr lang="en-US" altLang="zh-CN" sz="2400" dirty="0" smtClean="0"/>
              <a:t>4</a:t>
            </a:r>
            <a:r>
              <a:rPr lang="zh-CN" altLang="en-US" sz="2400" dirty="0" smtClean="0"/>
              <a:t>个寄存器：</a:t>
            </a:r>
            <a:r>
              <a:rPr lang="en-US" altLang="zh-CN" sz="2400" dirty="0" smtClean="0"/>
              <a:t>SR</a:t>
            </a:r>
            <a:r>
              <a:rPr lang="zh-CN" altLang="en-US" sz="2400" dirty="0" smtClean="0"/>
              <a:t>、</a:t>
            </a:r>
            <a:r>
              <a:rPr lang="en-US" altLang="zh-CN" sz="2400" dirty="0" smtClean="0"/>
              <a:t>Cause</a:t>
            </a:r>
            <a:r>
              <a:rPr lang="zh-CN" altLang="en-US" sz="2400" dirty="0" smtClean="0"/>
              <a:t>、</a:t>
            </a:r>
            <a:r>
              <a:rPr lang="en-US" altLang="zh-CN" sz="2400" dirty="0" smtClean="0"/>
              <a:t>EPC</a:t>
            </a:r>
            <a:r>
              <a:rPr lang="zh-CN" altLang="en-US" sz="2400" dirty="0" smtClean="0"/>
              <a:t>、</a:t>
            </a:r>
            <a:r>
              <a:rPr lang="en-US" altLang="zh-CN" sz="2400" dirty="0" err="1" smtClean="0"/>
              <a:t>PRId</a:t>
            </a:r>
            <a:endParaRPr lang="en-US" altLang="zh-CN" sz="2400" dirty="0" smtClean="0"/>
          </a:p>
          <a:p>
            <a:pPr lvl="1"/>
            <a:r>
              <a:rPr lang="zh-CN" altLang="en-US" dirty="0" smtClean="0"/>
              <a:t>阅读</a:t>
            </a:r>
            <a:r>
              <a:rPr lang="en-US" altLang="zh-CN" dirty="0" smtClean="0"/>
              <a:t>《See MIPS Run Linux》</a:t>
            </a:r>
            <a:r>
              <a:rPr lang="zh-CN" altLang="en-US" dirty="0" smtClean="0"/>
              <a:t>第</a:t>
            </a:r>
            <a:r>
              <a:rPr lang="en-US" altLang="zh-CN" dirty="0" smtClean="0"/>
              <a:t>3</a:t>
            </a:r>
            <a:r>
              <a:rPr lang="zh-CN" altLang="en-US" dirty="0" smtClean="0"/>
              <a:t>章</a:t>
            </a:r>
            <a:endParaRPr lang="en-US" altLang="zh-CN" dirty="0" smtClean="0"/>
          </a:p>
          <a:p>
            <a:pPr lvl="1"/>
            <a:r>
              <a:rPr lang="zh-CN" altLang="en-US" dirty="0" smtClean="0"/>
              <a:t>无关</a:t>
            </a:r>
            <a:r>
              <a:rPr lang="zh-CN" altLang="en-US" dirty="0"/>
              <a:t>寄存器及无关位可以</a:t>
            </a:r>
            <a:r>
              <a:rPr lang="zh-CN" altLang="en-US" dirty="0" smtClean="0"/>
              <a:t>不阅读</a:t>
            </a:r>
            <a:endParaRPr lang="en-US" altLang="zh-CN" dirty="0" smtClean="0"/>
          </a:p>
          <a:p>
            <a:r>
              <a:rPr lang="zh-CN" altLang="en-US" sz="2400" dirty="0" smtClean="0"/>
              <a:t>理解要点：</a:t>
            </a:r>
            <a:endParaRPr lang="en-US" altLang="zh-CN" sz="2400" dirty="0" smtClean="0"/>
          </a:p>
          <a:p>
            <a:pPr lvl="1"/>
            <a:r>
              <a:rPr lang="en-US" altLang="zh-CN" dirty="0" smtClean="0"/>
              <a:t>SR</a:t>
            </a:r>
            <a:r>
              <a:rPr lang="zh-CN" altLang="en-US" dirty="0"/>
              <a:t>：用于对系统进行</a:t>
            </a:r>
            <a:r>
              <a:rPr lang="zh-CN" altLang="en-US" dirty="0" smtClean="0"/>
              <a:t>控制</a:t>
            </a:r>
            <a:endParaRPr lang="en-US" altLang="zh-CN" dirty="0" smtClean="0"/>
          </a:p>
          <a:p>
            <a:pPr lvl="2"/>
            <a:r>
              <a:rPr lang="zh-CN" altLang="en-US" sz="1800" dirty="0" smtClean="0"/>
              <a:t>指令可读可写</a:t>
            </a:r>
            <a:endParaRPr lang="en-US" altLang="zh-CN" sz="1800" dirty="0" smtClean="0"/>
          </a:p>
          <a:p>
            <a:pPr lvl="1"/>
            <a:r>
              <a:rPr lang="en-US" altLang="zh-CN" dirty="0" smtClean="0"/>
              <a:t>Cause</a:t>
            </a:r>
            <a:r>
              <a:rPr lang="zh-CN" altLang="en-US" dirty="0" smtClean="0"/>
              <a:t>：指令读取，硬件控制写入</a:t>
            </a:r>
            <a:endParaRPr lang="en-US" altLang="zh-CN" dirty="0" smtClean="0"/>
          </a:p>
          <a:p>
            <a:pPr lvl="2"/>
            <a:r>
              <a:rPr lang="en-US" altLang="zh-CN" sz="1800" dirty="0" smtClean="0"/>
              <a:t>IP[7:2]</a:t>
            </a:r>
            <a:r>
              <a:rPr lang="zh-CN" altLang="en-US" sz="1800" dirty="0" smtClean="0"/>
              <a:t>：对应外部</a:t>
            </a:r>
            <a:r>
              <a:rPr lang="en-US" altLang="zh-CN" sz="1800" dirty="0" smtClean="0"/>
              <a:t>6</a:t>
            </a:r>
            <a:r>
              <a:rPr lang="zh-CN" altLang="en-US" sz="1800" dirty="0" smtClean="0"/>
              <a:t>个中断源</a:t>
            </a:r>
            <a:endParaRPr lang="en-US" altLang="zh-CN" sz="1800" dirty="0" smtClean="0"/>
          </a:p>
          <a:p>
            <a:pPr lvl="2"/>
            <a:r>
              <a:rPr lang="en-US" altLang="zh-CN" sz="1800" dirty="0" err="1" smtClean="0"/>
              <a:t>ExcCode</a:t>
            </a:r>
            <a:r>
              <a:rPr lang="zh-CN" altLang="en-US" sz="1800" dirty="0" smtClean="0"/>
              <a:t>：</a:t>
            </a:r>
            <a:r>
              <a:rPr lang="en-US" altLang="zh-CN" sz="1800" dirty="0" smtClean="0"/>
              <a:t>5</a:t>
            </a:r>
            <a:r>
              <a:rPr lang="zh-CN" altLang="en-US" sz="1800" dirty="0" smtClean="0"/>
              <a:t>位</a:t>
            </a:r>
            <a:r>
              <a:rPr lang="en-US" altLang="zh-CN" sz="1800" dirty="0" smtClean="0"/>
              <a:t>6-2</a:t>
            </a:r>
            <a:r>
              <a:rPr lang="zh-CN" altLang="en-US" sz="1800" dirty="0" smtClean="0"/>
              <a:t>，异常</a:t>
            </a:r>
            <a:r>
              <a:rPr lang="en-US" altLang="zh-CN" sz="1800" dirty="0" smtClean="0"/>
              <a:t>/</a:t>
            </a:r>
            <a:r>
              <a:rPr lang="zh-CN" altLang="en-US" sz="1800" dirty="0" smtClean="0"/>
              <a:t>中断发生时控制器控制写入编码值（异常类型）</a:t>
            </a:r>
            <a:endParaRPr lang="en-US" altLang="zh-CN" sz="1800" dirty="0"/>
          </a:p>
          <a:p>
            <a:pPr lvl="1"/>
            <a:r>
              <a:rPr lang="en-US" altLang="zh-CN" dirty="0" smtClean="0"/>
              <a:t>EPC</a:t>
            </a:r>
            <a:r>
              <a:rPr lang="zh-CN" altLang="en-US" dirty="0" smtClean="0"/>
              <a:t>：用于保存异常</a:t>
            </a:r>
            <a:r>
              <a:rPr lang="en-US" altLang="zh-CN" dirty="0" smtClean="0"/>
              <a:t>/</a:t>
            </a:r>
            <a:r>
              <a:rPr lang="zh-CN" altLang="en-US" dirty="0" smtClean="0"/>
              <a:t>中断发生时的</a:t>
            </a:r>
            <a:r>
              <a:rPr lang="en-US" altLang="zh-CN" dirty="0" smtClean="0"/>
              <a:t>PC</a:t>
            </a:r>
          </a:p>
          <a:p>
            <a:pPr lvl="2"/>
            <a:r>
              <a:rPr lang="zh-CN" altLang="en-US" sz="1800" dirty="0" smtClean="0"/>
              <a:t>保存</a:t>
            </a:r>
            <a:r>
              <a:rPr lang="en-US" altLang="zh-CN" sz="1800" dirty="0" smtClean="0"/>
              <a:t>PC</a:t>
            </a:r>
            <a:r>
              <a:rPr lang="zh-CN" altLang="en-US" sz="1800" dirty="0" smtClean="0"/>
              <a:t>：硬件控制写入</a:t>
            </a:r>
            <a:endParaRPr lang="en-US" altLang="zh-CN" sz="1800" dirty="0" smtClean="0"/>
          </a:p>
          <a:p>
            <a:pPr lvl="2"/>
            <a:r>
              <a:rPr lang="zh-CN" altLang="en-US" sz="1800" dirty="0" smtClean="0"/>
              <a:t>指令读取：中断服务程序</a:t>
            </a:r>
            <a:endParaRPr lang="en-US" altLang="zh-CN" sz="1800" dirty="0" smtClean="0"/>
          </a:p>
          <a:p>
            <a:pPr lvl="1"/>
            <a:r>
              <a:rPr lang="en-US" altLang="zh-CN" dirty="0" err="1"/>
              <a:t>PRId</a:t>
            </a:r>
            <a:r>
              <a:rPr lang="zh-CN" altLang="en-US" dirty="0"/>
              <a:t>：处理器</a:t>
            </a:r>
            <a:r>
              <a:rPr lang="en-US" altLang="zh-CN" dirty="0" smtClean="0"/>
              <a:t>ID</a:t>
            </a:r>
            <a:r>
              <a:rPr lang="zh-CN" altLang="en-US" dirty="0" smtClean="0"/>
              <a:t>（</a:t>
            </a:r>
            <a:r>
              <a:rPr lang="en-US" altLang="zh-CN" dirty="0"/>
              <a:t> </a:t>
            </a:r>
            <a:r>
              <a:rPr lang="en-US" altLang="zh-CN" dirty="0" smtClean="0"/>
              <a:t>CPU</a:t>
            </a:r>
            <a:r>
              <a:rPr lang="zh-CN" altLang="en-US" dirty="0" smtClean="0"/>
              <a:t>类型和版本号）</a:t>
            </a:r>
            <a:endParaRPr lang="en-US" altLang="zh-CN" sz="1800" dirty="0"/>
          </a:p>
          <a:p>
            <a:pPr lvl="2"/>
            <a:r>
              <a:rPr lang="zh-CN" altLang="en-US" sz="1800" dirty="0" smtClean="0"/>
              <a:t>可以用于实现个性的编码</a:t>
            </a:r>
            <a:r>
              <a:rPr lang="en-US" altLang="zh-CN" sz="1800" dirty="0" smtClean="0">
                <a:sym typeface="Wingdings" panose="05000000000000000000" pitchFamily="2" charset="2"/>
              </a:rPr>
              <a:t></a:t>
            </a:r>
          </a:p>
        </p:txBody>
      </p:sp>
      <p:graphicFrame>
        <p:nvGraphicFramePr>
          <p:cNvPr id="4" name="表格 3"/>
          <p:cNvGraphicFramePr>
            <a:graphicFrameLocks noGrp="1"/>
          </p:cNvGraphicFramePr>
          <p:nvPr>
            <p:custDataLst>
              <p:tags r:id="rId1"/>
            </p:custDataLst>
          </p:nvPr>
        </p:nvGraphicFramePr>
        <p:xfrm>
          <a:off x="8827135" y="887730"/>
          <a:ext cx="2305050" cy="3017520"/>
        </p:xfrm>
        <a:graphic>
          <a:graphicData uri="http://schemas.openxmlformats.org/drawingml/2006/table">
            <a:tbl>
              <a:tblPr firstRow="1" bandRow="1">
                <a:tableStyleId>{21E4AEA4-8DFA-4A89-87EB-49C32662AFE0}</a:tableStyleId>
              </a:tblPr>
              <a:tblGrid>
                <a:gridCol w="970915"/>
                <a:gridCol w="1334135"/>
              </a:tblGrid>
              <a:tr h="822960">
                <a:tc>
                  <a:txBody>
                    <a:bodyPr/>
                    <a:lstStyle/>
                    <a:p>
                      <a:pPr algn="ctr"/>
                      <a:r>
                        <a:rPr lang="zh-CN" altLang="en-US" sz="2400" dirty="0" smtClean="0"/>
                        <a:t>寄存器号</a:t>
                      </a:r>
                      <a:endParaRPr lang="zh-CN" altLang="en-US" sz="2400" dirty="0"/>
                    </a:p>
                  </a:txBody>
                  <a:tcPr anchor="ctr"/>
                </a:tc>
                <a:tc>
                  <a:txBody>
                    <a:bodyPr/>
                    <a:lstStyle/>
                    <a:p>
                      <a:pPr algn="ctr"/>
                      <a:r>
                        <a:rPr lang="zh-CN" altLang="en-US" sz="2400" dirty="0" smtClean="0"/>
                        <a:t>寄存器</a:t>
                      </a:r>
                      <a:endParaRPr lang="zh-CN" altLang="en-US" sz="2400" dirty="0"/>
                    </a:p>
                  </a:txBody>
                  <a:tcPr anchor="ctr"/>
                </a:tc>
              </a:tr>
              <a:tr h="457200">
                <a:tc>
                  <a:txBody>
                    <a:bodyPr/>
                    <a:lstStyle/>
                    <a:p>
                      <a:pPr algn="ctr"/>
                      <a:r>
                        <a:rPr lang="en-US" altLang="zh-CN" sz="2400" dirty="0" smtClean="0"/>
                        <a:t>12</a:t>
                      </a:r>
                      <a:endParaRPr lang="zh-CN" altLang="en-US" sz="2400" dirty="0"/>
                    </a:p>
                  </a:txBody>
                  <a:tcPr/>
                </a:tc>
                <a:tc>
                  <a:txBody>
                    <a:bodyPr/>
                    <a:lstStyle/>
                    <a:p>
                      <a:pPr algn="ctr"/>
                      <a:r>
                        <a:rPr lang="en-US" altLang="zh-CN" sz="2400" dirty="0" smtClean="0"/>
                        <a:t>SR</a:t>
                      </a:r>
                      <a:endParaRPr lang="zh-CN" altLang="en-US" sz="2400" dirty="0"/>
                    </a:p>
                  </a:txBody>
                  <a:tcPr/>
                </a:tc>
              </a:tr>
              <a:tr h="822960">
                <a:tc>
                  <a:txBody>
                    <a:bodyPr/>
                    <a:lstStyle/>
                    <a:p>
                      <a:pPr algn="ctr"/>
                      <a:r>
                        <a:rPr lang="en-US" altLang="zh-CN" sz="2400" dirty="0" smtClean="0"/>
                        <a:t>13</a:t>
                      </a:r>
                      <a:endParaRPr lang="zh-CN" altLang="en-US" sz="2400" dirty="0"/>
                    </a:p>
                  </a:txBody>
                  <a:tcPr/>
                </a:tc>
                <a:tc>
                  <a:txBody>
                    <a:bodyPr/>
                    <a:lstStyle/>
                    <a:p>
                      <a:pPr algn="ctr"/>
                      <a:r>
                        <a:rPr lang="en-US" altLang="zh-CN" sz="2400" dirty="0" smtClean="0"/>
                        <a:t>CAUSE</a:t>
                      </a:r>
                      <a:endParaRPr lang="zh-CN" altLang="en-US" sz="2400" dirty="0"/>
                    </a:p>
                  </a:txBody>
                  <a:tcPr/>
                </a:tc>
              </a:tr>
              <a:tr h="457200">
                <a:tc>
                  <a:txBody>
                    <a:bodyPr/>
                    <a:lstStyle/>
                    <a:p>
                      <a:pPr algn="ctr"/>
                      <a:r>
                        <a:rPr lang="en-US" altLang="zh-CN" sz="2400" dirty="0" smtClean="0"/>
                        <a:t>14</a:t>
                      </a:r>
                      <a:endParaRPr lang="zh-CN" altLang="en-US" sz="2400" dirty="0"/>
                    </a:p>
                  </a:txBody>
                  <a:tcPr/>
                </a:tc>
                <a:tc>
                  <a:txBody>
                    <a:bodyPr/>
                    <a:lstStyle/>
                    <a:p>
                      <a:pPr algn="ctr"/>
                      <a:r>
                        <a:rPr lang="en-US" altLang="zh-CN" sz="2400" dirty="0" smtClean="0"/>
                        <a:t>EPC</a:t>
                      </a:r>
                      <a:endParaRPr lang="zh-CN" altLang="en-US" sz="2400" dirty="0"/>
                    </a:p>
                  </a:txBody>
                  <a:tcPr/>
                </a:tc>
              </a:tr>
              <a:tr h="457200">
                <a:tc>
                  <a:txBody>
                    <a:bodyPr/>
                    <a:lstStyle/>
                    <a:p>
                      <a:pPr algn="ctr"/>
                      <a:r>
                        <a:rPr lang="en-US" altLang="zh-CN" sz="2400" dirty="0" smtClean="0"/>
                        <a:t>15</a:t>
                      </a:r>
                      <a:endParaRPr lang="zh-CN" altLang="en-US" sz="2400" dirty="0"/>
                    </a:p>
                  </a:txBody>
                  <a:tcPr/>
                </a:tc>
                <a:tc>
                  <a:txBody>
                    <a:bodyPr/>
                    <a:lstStyle/>
                    <a:p>
                      <a:pPr algn="ctr"/>
                      <a:r>
                        <a:rPr lang="en-US" altLang="zh-CN" sz="2400" dirty="0" err="1" smtClean="0"/>
                        <a:t>PrID</a:t>
                      </a:r>
                      <a:endParaRPr lang="zh-CN" altLang="en-US" sz="2400" dirty="0"/>
                    </a:p>
                  </a:txBody>
                  <a:tcPr/>
                </a:tc>
              </a:tr>
            </a:tbl>
          </a:graphicData>
        </a:graphic>
      </p:graphicFrame>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en-US" altLang="zh-CN" dirty="0">
                <a:sym typeface="+mn-ea"/>
              </a:rPr>
              <a:t>0</a:t>
            </a:r>
            <a:r>
              <a:rPr lang="zh-CN" altLang="en-US" dirty="0">
                <a:sym typeface="+mn-ea"/>
              </a:rPr>
              <a:t>号协处理器</a:t>
            </a: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a:xfrm>
            <a:off x="551384" y="764705"/>
            <a:ext cx="10827816" cy="4128770"/>
          </a:xfrm>
        </p:spPr>
        <p:txBody>
          <a:bodyPr/>
          <a:lstStyle/>
          <a:p>
            <a:r>
              <a:rPr lang="zh-CN" altLang="en-US" sz="2400" dirty="0" smtClean="0"/>
              <a:t>指令：</a:t>
            </a:r>
            <a:r>
              <a:rPr lang="en-US" altLang="zh-CN" sz="2400" dirty="0" smtClean="0"/>
              <a:t>MFC0</a:t>
            </a:r>
            <a:r>
              <a:rPr lang="zh-CN" altLang="en-US" sz="2400" dirty="0" smtClean="0"/>
              <a:t>、</a:t>
            </a:r>
            <a:r>
              <a:rPr lang="en-US" altLang="zh-CN" sz="2400" dirty="0" smtClean="0"/>
              <a:t>MTC0</a:t>
            </a:r>
          </a:p>
          <a:p>
            <a:pPr lvl="1"/>
            <a:r>
              <a:rPr lang="zh-CN" altLang="en-US" dirty="0" smtClean="0"/>
              <a:t>不能直接修改</a:t>
            </a:r>
            <a:r>
              <a:rPr lang="en-US" altLang="zh-CN" dirty="0" smtClean="0"/>
              <a:t>CP0</a:t>
            </a:r>
            <a:r>
              <a:rPr lang="zh-CN" altLang="en-US" dirty="0" smtClean="0"/>
              <a:t>寄存器，必须借助通用寄存器</a:t>
            </a:r>
            <a:endParaRPr lang="en-US" altLang="zh-CN" dirty="0" smtClean="0"/>
          </a:p>
          <a:p>
            <a:r>
              <a:rPr lang="en-US" altLang="zh-CN" sz="2400" dirty="0" smtClean="0"/>
              <a:t>MFC0</a:t>
            </a:r>
            <a:r>
              <a:rPr lang="zh-CN" altLang="en-US" sz="2400" dirty="0" smtClean="0"/>
              <a:t>：读取</a:t>
            </a:r>
            <a:r>
              <a:rPr lang="en-US" altLang="zh-CN" sz="2400" dirty="0" smtClean="0"/>
              <a:t>CP0</a:t>
            </a:r>
            <a:r>
              <a:rPr lang="zh-CN" altLang="en-US" sz="2400" dirty="0" smtClean="0"/>
              <a:t>寄存器至通用寄存器</a:t>
            </a:r>
            <a:endParaRPr lang="en-US" altLang="zh-CN" sz="2400" dirty="0" smtClean="0"/>
          </a:p>
          <a:p>
            <a:pPr lvl="1"/>
            <a:r>
              <a:rPr lang="en-US" altLang="zh-CN" dirty="0" smtClean="0"/>
              <a:t>SR</a:t>
            </a:r>
            <a:r>
              <a:rPr lang="zh-CN" altLang="en-US" dirty="0" smtClean="0"/>
              <a:t>：获取处理器的控制信息</a:t>
            </a:r>
            <a:endParaRPr lang="en-US" altLang="zh-CN" dirty="0" smtClean="0"/>
          </a:p>
          <a:p>
            <a:pPr lvl="1"/>
            <a:r>
              <a:rPr lang="en-US" altLang="zh-CN" dirty="0" smtClean="0"/>
              <a:t>Cause</a:t>
            </a:r>
            <a:r>
              <a:rPr lang="zh-CN" altLang="en-US" dirty="0" smtClean="0"/>
              <a:t>：获取处理器当前所处于的状态</a:t>
            </a:r>
            <a:endParaRPr lang="en-US" altLang="zh-CN" dirty="0" smtClean="0"/>
          </a:p>
          <a:p>
            <a:pPr lvl="1"/>
            <a:r>
              <a:rPr lang="en-US" altLang="zh-CN" dirty="0" smtClean="0"/>
              <a:t>EPC</a:t>
            </a:r>
            <a:r>
              <a:rPr lang="zh-CN" altLang="en-US" dirty="0" smtClean="0"/>
              <a:t>：获取被异常</a:t>
            </a:r>
            <a:r>
              <a:rPr lang="en-US" altLang="zh-CN" dirty="0" smtClean="0"/>
              <a:t>/</a:t>
            </a:r>
            <a:r>
              <a:rPr lang="zh-CN" altLang="en-US" dirty="0" smtClean="0"/>
              <a:t>中断的指令地址</a:t>
            </a:r>
            <a:endParaRPr lang="en-US" altLang="zh-CN" dirty="0" smtClean="0"/>
          </a:p>
          <a:p>
            <a:pPr lvl="1"/>
            <a:r>
              <a:rPr lang="en-US" altLang="zh-CN" dirty="0" err="1" smtClean="0"/>
              <a:t>PRId</a:t>
            </a:r>
            <a:r>
              <a:rPr lang="zh-CN" altLang="en-US" dirty="0" smtClean="0"/>
              <a:t>：读取处理器</a:t>
            </a:r>
            <a:r>
              <a:rPr lang="en-US" altLang="zh-CN" dirty="0" smtClean="0"/>
              <a:t>ID</a:t>
            </a:r>
            <a:r>
              <a:rPr lang="zh-CN" altLang="en-US" dirty="0" smtClean="0"/>
              <a:t>（可以读取你的个性签名</a:t>
            </a:r>
            <a:r>
              <a:rPr lang="en-US" altLang="zh-CN" dirty="0" smtClean="0">
                <a:sym typeface="Wingdings" panose="05000000000000000000" pitchFamily="2" charset="2"/>
              </a:rPr>
              <a:t></a:t>
            </a:r>
            <a:r>
              <a:rPr lang="zh-CN" altLang="en-US" dirty="0" smtClean="0"/>
              <a:t>）</a:t>
            </a:r>
            <a:endParaRPr lang="en-US" altLang="zh-CN" dirty="0" smtClean="0"/>
          </a:p>
          <a:p>
            <a:r>
              <a:rPr lang="en-US" altLang="zh-CN" sz="2400" dirty="0" smtClean="0"/>
              <a:t>MTC0</a:t>
            </a:r>
            <a:r>
              <a:rPr lang="zh-CN" altLang="en-US" sz="2400" dirty="0" smtClean="0"/>
              <a:t>：通用寄存器值写入</a:t>
            </a:r>
            <a:r>
              <a:rPr lang="en-US" altLang="zh-CN" sz="2400" dirty="0" smtClean="0"/>
              <a:t>CP0</a:t>
            </a:r>
            <a:r>
              <a:rPr lang="zh-CN" altLang="en-US" sz="2400" dirty="0" smtClean="0"/>
              <a:t>寄存器</a:t>
            </a:r>
            <a:endParaRPr lang="en-US" altLang="zh-CN" sz="2400" dirty="0" smtClean="0"/>
          </a:p>
          <a:p>
            <a:pPr lvl="1"/>
            <a:r>
              <a:rPr lang="en-US" altLang="zh-CN" dirty="0" smtClean="0"/>
              <a:t>SR</a:t>
            </a:r>
            <a:r>
              <a:rPr lang="zh-CN" altLang="en-US" dirty="0" smtClean="0"/>
              <a:t>：对处理器进行控制，例如关闭中断</a:t>
            </a:r>
            <a:endParaRPr lang="en-US" altLang="zh-CN" dirty="0" smtClean="0"/>
          </a:p>
          <a:p>
            <a:pPr lvl="1"/>
            <a:r>
              <a:rPr lang="en-US" altLang="zh-CN" dirty="0" smtClean="0"/>
              <a:t>EPC</a:t>
            </a:r>
            <a:r>
              <a:rPr lang="zh-CN" altLang="en-US" dirty="0" smtClean="0"/>
              <a:t>：操作系统中将用于多任务切换</a:t>
            </a:r>
          </a:p>
        </p:txBody>
      </p:sp>
      <p:sp>
        <p:nvSpPr>
          <p:cNvPr id="2" name="文本框 1"/>
          <p:cNvSpPr txBox="1"/>
          <p:nvPr/>
        </p:nvSpPr>
        <p:spPr>
          <a:xfrm>
            <a:off x="1210380" y="5538500"/>
            <a:ext cx="4104570" cy="865505"/>
          </a:xfrm>
          <a:prstGeom prst="rect">
            <a:avLst/>
          </a:prstGeom>
          <a:noFill/>
        </p:spPr>
        <p:txBody>
          <a:bodyPr wrap="square" rtlCol="0">
            <a:spAutoFit/>
          </a:bodyPr>
          <a:lstStyle/>
          <a:p>
            <a:pPr indent="0">
              <a:buNone/>
            </a:pPr>
            <a:r>
              <a:rPr lang="fr-FR" altLang="zh-CN" sz="1600" dirty="0"/>
              <a:t> </a:t>
            </a:r>
            <a:r>
              <a:rPr lang="fr-FR" altLang="zh-CN" sz="2400" dirty="0">
                <a:solidFill>
                  <a:schemeClr val="tx1"/>
                </a:solidFill>
              </a:rPr>
              <a:t>MFC0 $t0, </a:t>
            </a:r>
            <a:r>
              <a:rPr lang="fr-FR" altLang="zh-CN" sz="2400" dirty="0" smtClean="0">
                <a:solidFill>
                  <a:schemeClr val="tx1"/>
                </a:solidFill>
              </a:rPr>
              <a:t>Cause </a:t>
            </a:r>
            <a:r>
              <a:rPr lang="zh-CN" altLang="en-US" sz="2400" dirty="0" smtClean="0">
                <a:solidFill>
                  <a:schemeClr val="tx1"/>
                </a:solidFill>
              </a:rPr>
              <a:t>读</a:t>
            </a:r>
            <a:endParaRPr lang="fr-FR" altLang="zh-CN" sz="2400" dirty="0">
              <a:solidFill>
                <a:schemeClr val="tx1"/>
              </a:solidFill>
            </a:endParaRPr>
          </a:p>
          <a:p>
            <a:pPr indent="0">
              <a:buNone/>
            </a:pPr>
            <a:r>
              <a:rPr lang="fr-FR" altLang="zh-CN" sz="2400" dirty="0">
                <a:solidFill>
                  <a:schemeClr val="tx1"/>
                </a:solidFill>
              </a:rPr>
              <a:t>MTC0 $t1, </a:t>
            </a:r>
            <a:r>
              <a:rPr lang="fr-FR" altLang="zh-CN" sz="2400" dirty="0" smtClean="0">
                <a:solidFill>
                  <a:schemeClr val="tx1"/>
                </a:solidFill>
              </a:rPr>
              <a:t>Cause </a:t>
            </a:r>
            <a:r>
              <a:rPr lang="zh-CN" altLang="en-US" sz="2400" dirty="0" smtClean="0">
                <a:solidFill>
                  <a:schemeClr val="tx1"/>
                </a:solidFill>
              </a:rPr>
              <a:t>写</a:t>
            </a:r>
            <a:r>
              <a:rPr lang="fr-FR" altLang="zh-CN" sz="2400" dirty="0" smtClean="0">
                <a:solidFill>
                  <a:schemeClr val="tx1"/>
                </a:solidFill>
              </a:rPr>
              <a:t> </a:t>
            </a:r>
          </a:p>
        </p:txBody>
      </p:sp>
      <p:sp>
        <p:nvSpPr>
          <p:cNvPr id="46" name="标题 2"/>
          <p:cNvSpPr>
            <a:spLocks noGrp="1"/>
          </p:cNvSpPr>
          <p:nvPr/>
        </p:nvSpPr>
        <p:spPr>
          <a:xfrm>
            <a:off x="0" y="300355"/>
            <a:ext cx="8527415" cy="133540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zh-CN" altLang="en-US" dirty="0" smtClean="0">
                <a:sym typeface="+mn-ea"/>
              </a:rPr>
              <a:t>协处理器指令及用途</a:t>
            </a:r>
            <a:endParaRPr lang="zh-CN" altLang="en-US" dirty="0" smtClean="0"/>
          </a:p>
          <a:p>
            <a:pPr indent="0">
              <a:buNone/>
            </a:pP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nvPr>
        </p:nvGraphicFramePr>
        <p:xfrm>
          <a:off x="1237935" y="950000"/>
          <a:ext cx="9177020" cy="5852160"/>
        </p:xfrm>
        <a:graphic>
          <a:graphicData uri="http://schemas.openxmlformats.org/drawingml/2006/table">
            <a:tbl>
              <a:tblPr firstRow="1" bandRow="1">
                <a:tableStyleId>{21E4AEA4-8DFA-4A89-87EB-49C32662AFE0}</a:tableStyleId>
              </a:tblPr>
              <a:tblGrid>
                <a:gridCol w="1653540"/>
                <a:gridCol w="647700"/>
                <a:gridCol w="3167380"/>
                <a:gridCol w="3708400"/>
              </a:tblGrid>
              <a:tr h="365760">
                <a:tc>
                  <a:txBody>
                    <a:bodyPr/>
                    <a:lstStyle/>
                    <a:p>
                      <a:pPr algn="ctr"/>
                      <a:r>
                        <a:rPr lang="zh-CN" altLang="en-US" sz="1800" dirty="0" smtClean="0"/>
                        <a:t>信号名</a:t>
                      </a:r>
                      <a:endParaRPr lang="zh-CN" altLang="en-US" sz="1800" dirty="0"/>
                    </a:p>
                  </a:txBody>
                  <a:tcPr/>
                </a:tc>
                <a:tc>
                  <a:txBody>
                    <a:bodyPr/>
                    <a:lstStyle/>
                    <a:p>
                      <a:pPr algn="ctr"/>
                      <a:r>
                        <a:rPr lang="zh-CN" altLang="en-US" sz="1800" dirty="0" smtClean="0"/>
                        <a:t>方向</a:t>
                      </a:r>
                      <a:endParaRPr lang="zh-CN" altLang="en-US" sz="1800" dirty="0"/>
                    </a:p>
                  </a:txBody>
                  <a:tcPr/>
                </a:tc>
                <a:tc>
                  <a:txBody>
                    <a:bodyPr/>
                    <a:lstStyle/>
                    <a:p>
                      <a:pPr algn="ctr"/>
                      <a:r>
                        <a:rPr lang="zh-CN" altLang="en-US" sz="1800" dirty="0" smtClean="0"/>
                        <a:t>用途</a:t>
                      </a:r>
                      <a:endParaRPr lang="zh-CN" altLang="en-US" sz="1800" dirty="0"/>
                    </a:p>
                  </a:txBody>
                  <a:tcPr/>
                </a:tc>
                <a:tc>
                  <a:txBody>
                    <a:bodyPr/>
                    <a:lstStyle/>
                    <a:p>
                      <a:pPr algn="ctr"/>
                      <a:r>
                        <a:rPr lang="zh-CN" altLang="en-US" sz="1800" dirty="0" smtClean="0"/>
                        <a:t>产生来源及机制</a:t>
                      </a:r>
                      <a:endParaRPr lang="zh-CN" altLang="en-US" sz="1800" dirty="0"/>
                    </a:p>
                  </a:txBody>
                  <a:tcPr/>
                </a:tc>
              </a:tr>
              <a:tr h="365760">
                <a:tc>
                  <a:txBody>
                    <a:bodyPr/>
                    <a:lstStyle/>
                    <a:p>
                      <a:pPr algn="ctr"/>
                      <a:r>
                        <a:rPr lang="en-US" altLang="zh-CN" sz="1800" dirty="0" smtClean="0"/>
                        <a:t>PC[31:2]</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algn="just"/>
                      <a:r>
                        <a:rPr lang="zh-CN" altLang="en-US" sz="1800" dirty="0" smtClean="0"/>
                        <a:t>用于保存</a:t>
                      </a:r>
                      <a:r>
                        <a:rPr lang="en-US" altLang="zh-CN" sz="1800" dirty="0" smtClean="0"/>
                        <a:t>PC</a:t>
                      </a:r>
                      <a:endParaRPr lang="zh-CN" altLang="en-US" sz="1800" dirty="0"/>
                    </a:p>
                  </a:txBody>
                  <a:tcPr anchor="ctr"/>
                </a:tc>
                <a:tc>
                  <a:txBody>
                    <a:bodyPr/>
                    <a:lstStyle/>
                    <a:p>
                      <a:pPr algn="just"/>
                      <a:r>
                        <a:rPr lang="en-US" altLang="zh-CN" sz="1800" dirty="0" smtClean="0"/>
                        <a:t>PC</a:t>
                      </a:r>
                      <a:endParaRPr lang="zh-CN" altLang="en-US" sz="1800" dirty="0"/>
                    </a:p>
                  </a:txBody>
                  <a:tcPr/>
                </a:tc>
              </a:tr>
              <a:tr h="640080">
                <a:tc>
                  <a:txBody>
                    <a:bodyPr/>
                    <a:lstStyle/>
                    <a:p>
                      <a:pPr algn="ctr"/>
                      <a:r>
                        <a:rPr lang="en-US" altLang="zh-CN" sz="1800" dirty="0" err="1" smtClean="0"/>
                        <a:t>DIn</a:t>
                      </a:r>
                      <a:r>
                        <a:rPr lang="en-US" altLang="zh-CN" sz="1800" dirty="0" smtClean="0"/>
                        <a:t>[31:0]</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800" dirty="0" smtClean="0"/>
                        <a:t>CP0</a:t>
                      </a:r>
                      <a:r>
                        <a:rPr lang="zh-CN" altLang="en-US" sz="1800" dirty="0" smtClean="0"/>
                        <a:t>寄存器的写入数据</a:t>
                      </a:r>
                      <a:endParaRPr lang="en-US" altLang="zh-CN" sz="1800" dirty="0" smtClean="0"/>
                    </a:p>
                  </a:txBody>
                  <a:tcPr anchor="ctr"/>
                </a:tc>
                <a:tc>
                  <a:txBody>
                    <a:bodyPr/>
                    <a:lstStyle/>
                    <a:p>
                      <a:pPr marL="0" marR="0" lvl="0" indent="0" algn="just" defTabSz="914400" rtl="0" eaLnBrk="1" fontAlgn="ctr" latinLnBrk="0" hangingPunct="1">
                        <a:lnSpc>
                          <a:spcPct val="100000"/>
                        </a:lnSpc>
                        <a:spcBef>
                          <a:spcPts val="0"/>
                        </a:spcBef>
                        <a:spcAft>
                          <a:spcPts val="0"/>
                        </a:spcAft>
                        <a:buClr>
                          <a:srgbClr val="FFC000"/>
                        </a:buClr>
                        <a:buSzPct val="50000"/>
                        <a:buFont typeface="Wingdings" panose="05000000000000000000" pitchFamily="2" charset="2"/>
                        <a:buNone/>
                        <a:defRPr/>
                      </a:pPr>
                      <a:r>
                        <a:rPr kumimoji="0" lang="zh-CN" altLang="en-US" sz="1800" b="0" i="0" u="none" strike="noStrike" kern="1200" cap="none" spc="0" normalizeH="0" baseline="0" noProof="0" dirty="0" smtClean="0">
                          <a:ln>
                            <a:noFill/>
                          </a:ln>
                          <a:solidFill>
                            <a:srgbClr val="000000"/>
                          </a:solidFill>
                          <a:effectLst/>
                          <a:uLnTx/>
                          <a:uFillTx/>
                          <a:latin typeface="+mn-lt"/>
                          <a:ea typeface="+mn-ea"/>
                        </a:rPr>
                        <a:t>执行</a:t>
                      </a:r>
                      <a:r>
                        <a:rPr kumimoji="0" lang="en-US" altLang="zh-CN" sz="1800" b="0" i="0" u="none" strike="noStrike" kern="1200" cap="none" spc="0" normalizeH="0" baseline="0" noProof="0" dirty="0" smtClean="0">
                          <a:ln>
                            <a:noFill/>
                          </a:ln>
                          <a:solidFill>
                            <a:srgbClr val="000000"/>
                          </a:solidFill>
                          <a:effectLst/>
                          <a:uLnTx/>
                          <a:uFillTx/>
                          <a:latin typeface="+mn-lt"/>
                          <a:ea typeface="+mn-ea"/>
                        </a:rPr>
                        <a:t>MTC0</a:t>
                      </a:r>
                      <a:r>
                        <a:rPr kumimoji="0" lang="zh-CN" altLang="en-US" sz="1800" b="0" i="0" u="none" strike="noStrike" kern="1200" cap="none" spc="0" normalizeH="0" baseline="0" noProof="0" dirty="0" smtClean="0">
                          <a:ln>
                            <a:noFill/>
                          </a:ln>
                          <a:solidFill>
                            <a:srgbClr val="000000"/>
                          </a:solidFill>
                          <a:effectLst/>
                          <a:uLnTx/>
                          <a:uFillTx/>
                          <a:latin typeface="+mn-lt"/>
                          <a:ea typeface="+mn-ea"/>
                        </a:rPr>
                        <a:t>指令时产生</a:t>
                      </a:r>
                      <a:endParaRPr kumimoji="0" lang="en-US" altLang="zh-CN" sz="1800" b="0" i="0" u="none" strike="noStrike" kern="1200" cap="none" spc="0" normalizeH="0" baseline="0" noProof="0" dirty="0" smtClean="0">
                        <a:ln>
                          <a:noFill/>
                        </a:ln>
                        <a:solidFill>
                          <a:srgbClr val="000000"/>
                        </a:solidFill>
                        <a:effectLst/>
                        <a:uLnTx/>
                        <a:uFillTx/>
                        <a:latin typeface="+mn-lt"/>
                        <a:ea typeface="+mn-ea"/>
                      </a:endParaRPr>
                    </a:p>
                    <a:p>
                      <a:pPr marL="0" marR="0" lvl="0" indent="0" algn="just" defTabSz="914400" rtl="0" eaLnBrk="1" fontAlgn="ctr" latinLnBrk="0" hangingPunct="1">
                        <a:lnSpc>
                          <a:spcPct val="100000"/>
                        </a:lnSpc>
                        <a:spcBef>
                          <a:spcPts val="0"/>
                        </a:spcBef>
                        <a:spcAft>
                          <a:spcPts val="0"/>
                        </a:spcAft>
                        <a:buClr>
                          <a:srgbClr val="FFC000"/>
                        </a:buClr>
                        <a:buSzPct val="50000"/>
                        <a:buFont typeface="Wingdings" panose="05000000000000000000" pitchFamily="2" charset="2"/>
                        <a:buNone/>
                        <a:defRPr/>
                      </a:pPr>
                      <a:r>
                        <a:rPr kumimoji="0" lang="zh-CN" altLang="en-US" sz="1800" b="0" i="0" u="none" strike="noStrike" kern="1200" cap="none" spc="0" normalizeH="0" baseline="0" noProof="0" dirty="0" smtClean="0">
                          <a:ln>
                            <a:noFill/>
                          </a:ln>
                          <a:solidFill>
                            <a:srgbClr val="000000"/>
                          </a:solidFill>
                          <a:effectLst/>
                          <a:uLnTx/>
                          <a:uFillTx/>
                          <a:latin typeface="+mn-lt"/>
                          <a:ea typeface="+mn-ea"/>
                        </a:rPr>
                        <a:t>数据来自</a:t>
                      </a:r>
                      <a:r>
                        <a:rPr kumimoji="0" lang="en-US" altLang="zh-CN" sz="1800" b="0" i="0" u="none" strike="noStrike" kern="1200" cap="none" spc="0" normalizeH="0" baseline="0" noProof="0" dirty="0" smtClean="0">
                          <a:ln>
                            <a:noFill/>
                          </a:ln>
                          <a:solidFill>
                            <a:srgbClr val="000000"/>
                          </a:solidFill>
                          <a:effectLst/>
                          <a:uLnTx/>
                          <a:uFillTx/>
                          <a:latin typeface="+mn-lt"/>
                          <a:ea typeface="+mn-ea"/>
                        </a:rPr>
                        <a:t>GPR[</a:t>
                      </a:r>
                      <a:r>
                        <a:rPr kumimoji="0" lang="en-US" altLang="zh-CN" sz="1800" b="0" i="0" u="none" strike="noStrike" kern="1200" cap="none" spc="0" normalizeH="0" baseline="0" noProof="0" dirty="0" err="1" smtClean="0">
                          <a:ln>
                            <a:noFill/>
                          </a:ln>
                          <a:solidFill>
                            <a:srgbClr val="000000"/>
                          </a:solidFill>
                          <a:effectLst/>
                          <a:uLnTx/>
                          <a:uFillTx/>
                          <a:latin typeface="+mn-lt"/>
                          <a:ea typeface="+mn-ea"/>
                        </a:rPr>
                        <a:t>rt</a:t>
                      </a:r>
                      <a:r>
                        <a:rPr kumimoji="0" lang="en-US" altLang="zh-CN" sz="1800" b="0" i="0" u="none" strike="noStrike" kern="1200" cap="none" spc="0" normalizeH="0" baseline="0" noProof="0" dirty="0" smtClean="0">
                          <a:ln>
                            <a:noFill/>
                          </a:ln>
                          <a:solidFill>
                            <a:srgbClr val="000000"/>
                          </a:solidFill>
                          <a:effectLst/>
                          <a:uLnTx/>
                          <a:uFillTx/>
                          <a:latin typeface="+mn-lt"/>
                          <a:ea typeface="+mn-ea"/>
                        </a:rPr>
                        <a:t>]</a:t>
                      </a:r>
                      <a:endParaRPr kumimoji="0" lang="zh-CN" altLang="en-US" sz="1800" b="0" i="0" u="none" strike="noStrike" kern="1200" cap="none" spc="0" normalizeH="0" baseline="0" noProof="0" dirty="0" smtClean="0">
                        <a:ln>
                          <a:noFill/>
                        </a:ln>
                        <a:solidFill>
                          <a:srgbClr val="000000"/>
                        </a:solidFill>
                        <a:effectLst/>
                        <a:uLnTx/>
                        <a:uFillTx/>
                        <a:latin typeface="+mn-lt"/>
                        <a:ea typeface="+mn-ea"/>
                      </a:endParaRPr>
                    </a:p>
                  </a:txBody>
                  <a:tcPr/>
                </a:tc>
              </a:tr>
              <a:tr h="640080">
                <a:tc>
                  <a:txBody>
                    <a:bodyPr/>
                    <a:lstStyle/>
                    <a:p>
                      <a:pPr algn="ctr"/>
                      <a:r>
                        <a:rPr lang="en-US" altLang="zh-CN" sz="1800" dirty="0" err="1" smtClean="0"/>
                        <a:t>HWInt</a:t>
                      </a:r>
                      <a:r>
                        <a:rPr lang="en-US" altLang="zh-CN" sz="1800" dirty="0" smtClean="0"/>
                        <a:t>[5:0]</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algn="just"/>
                      <a:r>
                        <a:rPr lang="en-US" altLang="zh-CN" sz="1800" dirty="0" smtClean="0"/>
                        <a:t>6</a:t>
                      </a:r>
                      <a:r>
                        <a:rPr lang="zh-CN" altLang="en-US" sz="1800" dirty="0" smtClean="0"/>
                        <a:t>个设备中断</a:t>
                      </a:r>
                      <a:endParaRPr lang="zh-CN" altLang="en-US" sz="1800" dirty="0"/>
                    </a:p>
                  </a:txBody>
                  <a:tcPr anchor="ctr"/>
                </a:tc>
                <a:tc>
                  <a:txBody>
                    <a:bodyPr/>
                    <a:lstStyle/>
                    <a:p>
                      <a:pPr algn="just"/>
                      <a:endParaRPr lang="zh-CN" altLang="en-US" sz="1800" dirty="0"/>
                    </a:p>
                  </a:txBody>
                  <a:tcPr/>
                </a:tc>
              </a:tr>
              <a:tr h="365760">
                <a:tc>
                  <a:txBody>
                    <a:bodyPr/>
                    <a:lstStyle/>
                    <a:p>
                      <a:pPr algn="ctr"/>
                      <a:r>
                        <a:rPr lang="en-US" altLang="zh-CN" sz="1800" dirty="0" err="1" smtClean="0"/>
                        <a:t>Sel</a:t>
                      </a:r>
                      <a:r>
                        <a:rPr lang="en-US" altLang="zh-CN" sz="1800" dirty="0" smtClean="0"/>
                        <a:t>[4:0]</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algn="just"/>
                      <a:r>
                        <a:rPr lang="zh-CN" altLang="en-US" sz="1800" dirty="0" smtClean="0"/>
                        <a:t>用于选择</a:t>
                      </a:r>
                      <a:r>
                        <a:rPr lang="en-US" altLang="zh-CN" sz="1800" dirty="0" smtClean="0"/>
                        <a:t>CP0</a:t>
                      </a:r>
                      <a:r>
                        <a:rPr lang="zh-CN" altLang="en-US" sz="1800" dirty="0" smtClean="0"/>
                        <a:t>内部的寄存器</a:t>
                      </a:r>
                      <a:endParaRPr lang="en-US" altLang="zh-CN" sz="1800" dirty="0" smtClean="0"/>
                    </a:p>
                  </a:txBody>
                  <a:tcPr anchor="ctr"/>
                </a:tc>
                <a:tc>
                  <a:txBody>
                    <a:bodyPr/>
                    <a:lstStyle/>
                    <a:p>
                      <a:pPr marL="0" marR="0" indent="0" algn="just" defTabSz="914400" rtl="0" eaLnBrk="1" fontAlgn="ctr" latinLnBrk="0" hangingPunct="1">
                        <a:lnSpc>
                          <a:spcPct val="100000"/>
                        </a:lnSpc>
                        <a:spcBef>
                          <a:spcPts val="0"/>
                        </a:spcBef>
                        <a:spcAft>
                          <a:spcPts val="0"/>
                        </a:spcAft>
                        <a:buClr>
                          <a:srgbClr val="FFC000"/>
                        </a:buClr>
                        <a:buSzPct val="50000"/>
                        <a:buFont typeface="Wingdings" panose="05000000000000000000" pitchFamily="2" charset="2"/>
                        <a:buNone/>
                        <a:defRPr/>
                      </a:pPr>
                      <a:r>
                        <a:rPr lang="zh-CN" altLang="en-US" sz="1800" dirty="0" smtClean="0"/>
                        <a:t>执行</a:t>
                      </a:r>
                      <a:r>
                        <a:rPr lang="en-US" altLang="zh-CN" sz="1800" dirty="0" smtClean="0"/>
                        <a:t>MFC0/MTC0</a:t>
                      </a:r>
                      <a:r>
                        <a:rPr lang="zh-CN" altLang="en-US" sz="1800" dirty="0" smtClean="0"/>
                        <a:t>指令时产生</a:t>
                      </a:r>
                    </a:p>
                  </a:txBody>
                  <a:tcPr/>
                </a:tc>
              </a:tr>
              <a:tr h="365760">
                <a:tc>
                  <a:txBody>
                    <a:bodyPr/>
                    <a:lstStyle/>
                    <a:p>
                      <a:pPr algn="ctr"/>
                      <a:r>
                        <a:rPr lang="en-US" altLang="zh-CN" sz="1800" dirty="0" smtClean="0"/>
                        <a:t>Wen</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algn="just"/>
                      <a:r>
                        <a:rPr lang="en-US" altLang="zh-CN" sz="1800" dirty="0" smtClean="0"/>
                        <a:t>CP0</a:t>
                      </a:r>
                      <a:r>
                        <a:rPr lang="zh-CN" altLang="en-US" sz="1800" dirty="0" smtClean="0"/>
                        <a:t>寄存器写使能</a:t>
                      </a:r>
                      <a:endParaRPr lang="en-US" altLang="zh-CN" sz="1800" dirty="0" smtClean="0"/>
                    </a:p>
                  </a:txBody>
                  <a:tcPr anchor="ctr"/>
                </a:tc>
                <a:tc>
                  <a:txBody>
                    <a:bodyPr/>
                    <a:lstStyle/>
                    <a:p>
                      <a:pPr marL="0" marR="0" indent="0" algn="just" defTabSz="914400" rtl="0" eaLnBrk="1" fontAlgn="ctr" latinLnBrk="0" hangingPunct="1">
                        <a:lnSpc>
                          <a:spcPct val="100000"/>
                        </a:lnSpc>
                        <a:spcBef>
                          <a:spcPts val="0"/>
                        </a:spcBef>
                        <a:spcAft>
                          <a:spcPts val="0"/>
                        </a:spcAft>
                        <a:buClr>
                          <a:srgbClr val="FFC000"/>
                        </a:buClr>
                        <a:buSzPct val="50000"/>
                        <a:buFont typeface="Wingdings" panose="05000000000000000000" pitchFamily="2" charset="2"/>
                        <a:buNone/>
                        <a:defRPr/>
                      </a:pPr>
                      <a:r>
                        <a:rPr lang="zh-CN" altLang="en-US" sz="1800" kern="1200" dirty="0" smtClean="0">
                          <a:solidFill>
                            <a:schemeClr val="dk1"/>
                          </a:solidFill>
                          <a:latin typeface="+mn-lt"/>
                          <a:ea typeface="+mn-ea"/>
                          <a:cs typeface="+mn-cs"/>
                        </a:rPr>
                        <a:t>执行</a:t>
                      </a:r>
                      <a:r>
                        <a:rPr lang="en-US" altLang="zh-CN" sz="1800" kern="1200" dirty="0" smtClean="0">
                          <a:solidFill>
                            <a:schemeClr val="dk1"/>
                          </a:solidFill>
                          <a:latin typeface="+mn-lt"/>
                          <a:ea typeface="+mn-ea"/>
                          <a:cs typeface="+mn-cs"/>
                        </a:rPr>
                        <a:t>MTC0</a:t>
                      </a:r>
                      <a:r>
                        <a:rPr lang="zh-CN" altLang="en-US" sz="1800" kern="1200" dirty="0" smtClean="0">
                          <a:solidFill>
                            <a:schemeClr val="dk1"/>
                          </a:solidFill>
                          <a:latin typeface="+mn-lt"/>
                          <a:ea typeface="+mn-ea"/>
                          <a:cs typeface="+mn-cs"/>
                        </a:rPr>
                        <a:t>指令时产生</a:t>
                      </a:r>
                      <a:endParaRPr lang="zh-CN" altLang="en-US" sz="1800" kern="1200" dirty="0">
                        <a:solidFill>
                          <a:schemeClr val="dk1"/>
                        </a:solidFill>
                        <a:latin typeface="+mn-lt"/>
                        <a:ea typeface="+mn-ea"/>
                        <a:cs typeface="+mn-cs"/>
                      </a:endParaRPr>
                    </a:p>
                  </a:txBody>
                  <a:tcPr/>
                </a:tc>
              </a:tr>
              <a:tr h="365760">
                <a:tc>
                  <a:txBody>
                    <a:bodyPr/>
                    <a:lstStyle/>
                    <a:p>
                      <a:pPr algn="ctr"/>
                      <a:r>
                        <a:rPr lang="en-US" altLang="zh-CN" sz="1800" dirty="0" err="1" smtClean="0"/>
                        <a:t>EXLSet</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algn="just"/>
                      <a:r>
                        <a:rPr lang="zh-CN" altLang="en-US" sz="1800" dirty="0" smtClean="0"/>
                        <a:t>用于置位</a:t>
                      </a:r>
                      <a:r>
                        <a:rPr lang="en-US" altLang="zh-CN" sz="1800" dirty="0" smtClean="0"/>
                        <a:t>SR</a:t>
                      </a:r>
                      <a:r>
                        <a:rPr lang="zh-CN" altLang="en-US" sz="1800" dirty="0" smtClean="0"/>
                        <a:t>的</a:t>
                      </a:r>
                      <a:r>
                        <a:rPr lang="en-US" altLang="zh-CN" sz="1800" dirty="0" smtClean="0"/>
                        <a:t>EXL(EXL</a:t>
                      </a:r>
                      <a:r>
                        <a:rPr lang="zh-CN" altLang="en-US" sz="1800" dirty="0" smtClean="0"/>
                        <a:t>为</a:t>
                      </a:r>
                      <a:r>
                        <a:rPr lang="en-US" altLang="zh-CN" sz="1800" dirty="0" smtClean="0"/>
                        <a:t>1)</a:t>
                      </a:r>
                    </a:p>
                  </a:txBody>
                  <a:tcPr anchor="ctr"/>
                </a:tc>
                <a:tc>
                  <a:txBody>
                    <a:bodyPr/>
                    <a:lstStyle/>
                    <a:p>
                      <a:pPr marL="0" marR="0" indent="0" algn="just" defTabSz="914400" rtl="0" eaLnBrk="1" fontAlgn="ctr" latinLnBrk="0" hangingPunct="1">
                        <a:lnSpc>
                          <a:spcPct val="100000"/>
                        </a:lnSpc>
                        <a:spcBef>
                          <a:spcPts val="0"/>
                        </a:spcBef>
                        <a:spcAft>
                          <a:spcPts val="0"/>
                        </a:spcAft>
                        <a:buClr>
                          <a:srgbClr val="FFC000"/>
                        </a:buClr>
                        <a:buSzPct val="50000"/>
                        <a:buFont typeface="Wingdings" panose="05000000000000000000" pitchFamily="2" charset="2"/>
                        <a:buNone/>
                        <a:defRPr/>
                      </a:pPr>
                      <a:r>
                        <a:rPr lang="en-US" altLang="zh-CN" sz="1800" kern="1200" dirty="0" smtClean="0">
                          <a:solidFill>
                            <a:schemeClr val="dk1"/>
                          </a:solidFill>
                          <a:latin typeface="+mn-lt"/>
                          <a:ea typeface="+mn-ea"/>
                          <a:cs typeface="+mn-cs"/>
                        </a:rPr>
                        <a:t>CPU</a:t>
                      </a:r>
                      <a:r>
                        <a:rPr lang="zh-CN" altLang="en-US" sz="1800" kern="1200" dirty="0" smtClean="0">
                          <a:solidFill>
                            <a:schemeClr val="dk1"/>
                          </a:solidFill>
                          <a:latin typeface="+mn-lt"/>
                          <a:ea typeface="+mn-ea"/>
                          <a:cs typeface="+mn-cs"/>
                        </a:rPr>
                        <a:t>控制器在中断响应状态产生</a:t>
                      </a:r>
                    </a:p>
                  </a:txBody>
                  <a:tcPr/>
                </a:tc>
              </a:tr>
              <a:tr h="365760">
                <a:tc>
                  <a:txBody>
                    <a:bodyPr/>
                    <a:lstStyle/>
                    <a:p>
                      <a:pPr algn="ctr"/>
                      <a:r>
                        <a:rPr lang="en-US" altLang="zh-CN" sz="1800" dirty="0" err="1" smtClean="0"/>
                        <a:t>EXLClr</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用于清除</a:t>
                      </a:r>
                      <a:r>
                        <a:rPr lang="en-US" altLang="zh-CN" sz="1800" dirty="0" smtClean="0"/>
                        <a:t>SR</a:t>
                      </a:r>
                      <a:r>
                        <a:rPr lang="zh-CN" altLang="en-US" sz="1800" dirty="0" smtClean="0"/>
                        <a:t>的</a:t>
                      </a:r>
                      <a:r>
                        <a:rPr lang="en-US" altLang="zh-CN" sz="1800" dirty="0" smtClean="0"/>
                        <a:t>EXL(EXL</a:t>
                      </a:r>
                      <a:r>
                        <a:rPr lang="zh-CN" altLang="en-US" sz="1800" dirty="0" smtClean="0"/>
                        <a:t>为</a:t>
                      </a:r>
                      <a:r>
                        <a:rPr lang="en-US" altLang="zh-CN" sz="1800" dirty="0" smtClean="0"/>
                        <a:t>0)</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800" dirty="0" smtClean="0"/>
                        <a:t>CPU</a:t>
                      </a:r>
                      <a:r>
                        <a:rPr lang="zh-CN" altLang="en-US" sz="1800" dirty="0" smtClean="0"/>
                        <a:t>执行</a:t>
                      </a:r>
                      <a:r>
                        <a:rPr lang="en-US" altLang="zh-CN" sz="1800" dirty="0" smtClean="0"/>
                        <a:t>ERET</a:t>
                      </a:r>
                      <a:r>
                        <a:rPr lang="zh-CN" altLang="en-US" sz="1800" dirty="0" smtClean="0"/>
                        <a:t>指令时产生</a:t>
                      </a:r>
                    </a:p>
                  </a:txBody>
                  <a:tcPr/>
                </a:tc>
              </a:tr>
              <a:tr h="365760">
                <a:tc>
                  <a:txBody>
                    <a:bodyPr/>
                    <a:lstStyle/>
                    <a:p>
                      <a:pPr algn="ctr"/>
                      <a:r>
                        <a:rPr lang="en-US" altLang="zh-CN" sz="1800" dirty="0" err="1" smtClean="0"/>
                        <a:t>clk</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时钟</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endParaRPr lang="zh-CN" altLang="en-US" sz="1800" dirty="0" smtClean="0"/>
                    </a:p>
                  </a:txBody>
                  <a:tcPr/>
                </a:tc>
              </a:tr>
              <a:tr h="365760">
                <a:tc>
                  <a:txBody>
                    <a:bodyPr/>
                    <a:lstStyle/>
                    <a:p>
                      <a:pPr algn="ctr"/>
                      <a:r>
                        <a:rPr lang="en-US" altLang="zh-CN" sz="1800" dirty="0" err="1" smtClean="0"/>
                        <a:t>rst</a:t>
                      </a:r>
                      <a:endParaRPr lang="zh-CN" altLang="en-US" sz="1800" dirty="0"/>
                    </a:p>
                  </a:txBody>
                  <a:tcPr anchor="ctr"/>
                </a:tc>
                <a:tc>
                  <a:txBody>
                    <a:bodyPr/>
                    <a:lstStyle/>
                    <a:p>
                      <a:pPr algn="ctr"/>
                      <a:r>
                        <a:rPr lang="en-US" altLang="zh-CN" sz="1800" dirty="0" smtClean="0"/>
                        <a:t>I</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复位</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endParaRPr lang="zh-CN" altLang="en-US" sz="1800" dirty="0" smtClean="0"/>
                    </a:p>
                  </a:txBody>
                  <a:tcPr/>
                </a:tc>
              </a:tr>
              <a:tr h="640080">
                <a:tc>
                  <a:txBody>
                    <a:bodyPr/>
                    <a:lstStyle/>
                    <a:p>
                      <a:pPr algn="ctr"/>
                      <a:r>
                        <a:rPr lang="en-US" altLang="zh-CN" sz="1800" dirty="0" err="1" smtClean="0"/>
                        <a:t>IntReq</a:t>
                      </a:r>
                      <a:endParaRPr lang="zh-CN" altLang="en-US" sz="1800" dirty="0"/>
                    </a:p>
                  </a:txBody>
                  <a:tcPr anchor="ctr"/>
                </a:tc>
                <a:tc>
                  <a:txBody>
                    <a:bodyPr/>
                    <a:lstStyle/>
                    <a:p>
                      <a:pPr algn="ctr"/>
                      <a:r>
                        <a:rPr lang="en-US" altLang="zh-CN" sz="1800" dirty="0" smtClean="0"/>
                        <a:t>O</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中断请求，输出至</a:t>
                      </a:r>
                      <a:r>
                        <a:rPr lang="en-US" altLang="zh-CN" sz="1800" dirty="0" smtClean="0"/>
                        <a:t>CPU</a:t>
                      </a:r>
                      <a:r>
                        <a:rPr lang="zh-CN" altLang="en-US" sz="1800" dirty="0" smtClean="0"/>
                        <a:t>控制器</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是</a:t>
                      </a:r>
                      <a:r>
                        <a:rPr lang="en-US" altLang="zh-CN" sz="1800" dirty="0" err="1" smtClean="0"/>
                        <a:t>HWInt</a:t>
                      </a:r>
                      <a:r>
                        <a:rPr lang="en-US" altLang="zh-CN" sz="1800" dirty="0" smtClean="0"/>
                        <a:t>/IM/EXL/IM</a:t>
                      </a:r>
                      <a:r>
                        <a:rPr lang="zh-CN" altLang="en-US" sz="1800" dirty="0" smtClean="0"/>
                        <a:t>的函数</a:t>
                      </a:r>
                      <a:endParaRPr lang="en-US" altLang="zh-CN" sz="1800" dirty="0" smtClean="0"/>
                    </a:p>
                  </a:txBody>
                  <a:tcPr/>
                </a:tc>
              </a:tr>
              <a:tr h="365760">
                <a:tc>
                  <a:txBody>
                    <a:bodyPr/>
                    <a:lstStyle/>
                    <a:p>
                      <a:pPr algn="ctr"/>
                      <a:r>
                        <a:rPr lang="en-US" altLang="zh-CN" sz="1800" dirty="0" smtClean="0"/>
                        <a:t>EPC[31:2]</a:t>
                      </a:r>
                      <a:endParaRPr lang="zh-CN" altLang="en-US" sz="1800" dirty="0"/>
                    </a:p>
                  </a:txBody>
                  <a:tcPr anchor="ctr"/>
                </a:tc>
                <a:tc>
                  <a:txBody>
                    <a:bodyPr/>
                    <a:lstStyle/>
                    <a:p>
                      <a:pPr algn="ctr"/>
                      <a:r>
                        <a:rPr lang="en-US" altLang="zh-CN" sz="1800" dirty="0" smtClean="0"/>
                        <a:t>O</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800" dirty="0" smtClean="0"/>
                        <a:t>EPC</a:t>
                      </a:r>
                      <a:r>
                        <a:rPr lang="zh-CN" altLang="en-US" sz="1800" dirty="0" smtClean="0"/>
                        <a:t>寄存器输出至</a:t>
                      </a:r>
                      <a:r>
                        <a:rPr lang="en-US" altLang="zh-CN" sz="1800" dirty="0" smtClean="0"/>
                        <a:t>NPC</a:t>
                      </a:r>
                      <a:endParaRPr lang="zh-CN" altLang="en-US" sz="1800" dirty="0" smtClean="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endParaRPr lang="zh-CN" altLang="en-US" sz="1800" dirty="0" smtClean="0"/>
                    </a:p>
                  </a:txBody>
                  <a:tcPr/>
                </a:tc>
              </a:tr>
              <a:tr h="640080">
                <a:tc>
                  <a:txBody>
                    <a:bodyPr/>
                    <a:lstStyle/>
                    <a:p>
                      <a:pPr algn="ctr"/>
                      <a:r>
                        <a:rPr lang="en-US" altLang="zh-CN" sz="1800" dirty="0" err="1" smtClean="0"/>
                        <a:t>DOut</a:t>
                      </a:r>
                      <a:r>
                        <a:rPr lang="en-US" altLang="zh-CN" sz="1800" dirty="0" smtClean="0"/>
                        <a:t>[31:0]</a:t>
                      </a:r>
                      <a:endParaRPr lang="zh-CN" altLang="en-US" sz="1800" dirty="0"/>
                    </a:p>
                  </a:txBody>
                  <a:tcPr anchor="ctr"/>
                </a:tc>
                <a:tc>
                  <a:txBody>
                    <a:bodyPr/>
                    <a:lstStyle/>
                    <a:p>
                      <a:pPr algn="ctr"/>
                      <a:r>
                        <a:rPr lang="en-US" altLang="zh-CN" sz="1800" dirty="0" smtClean="0"/>
                        <a:t>O</a:t>
                      </a:r>
                      <a:endParaRPr lang="zh-CN" altLang="en-US" sz="1800" dirty="0"/>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800" dirty="0" smtClean="0"/>
                        <a:t>CP0</a:t>
                      </a:r>
                      <a:r>
                        <a:rPr lang="zh-CN" altLang="en-US" sz="1800" dirty="0" smtClean="0"/>
                        <a:t>寄存器的输出数据</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执行</a:t>
                      </a:r>
                      <a:r>
                        <a:rPr lang="en-US" altLang="zh-CN" sz="1800" dirty="0" smtClean="0"/>
                        <a:t>MFC0</a:t>
                      </a:r>
                      <a:r>
                        <a:rPr lang="zh-CN" altLang="en-US" sz="1800" dirty="0" smtClean="0"/>
                        <a:t>指令时产生</a:t>
                      </a:r>
                      <a:endParaRPr lang="en-US" altLang="zh-CN" sz="1800" dirty="0" smtClean="0"/>
                    </a:p>
                    <a:p>
                      <a:pPr marL="0" marR="0" indent="0" algn="just" defTabSz="914400" rtl="0" eaLnBrk="1" fontAlgn="auto" latinLnBrk="0" hangingPunct="1">
                        <a:lnSpc>
                          <a:spcPct val="100000"/>
                        </a:lnSpc>
                        <a:spcBef>
                          <a:spcPts val="0"/>
                        </a:spcBef>
                        <a:spcAft>
                          <a:spcPts val="0"/>
                        </a:spcAft>
                        <a:buClrTx/>
                        <a:buSzTx/>
                        <a:buFontTx/>
                        <a:buNone/>
                        <a:defRPr/>
                      </a:pPr>
                      <a:r>
                        <a:rPr lang="zh-CN" altLang="en-US" sz="1800" dirty="0" smtClean="0"/>
                        <a:t>数据写入</a:t>
                      </a:r>
                      <a:r>
                        <a:rPr lang="en-US" altLang="zh-CN" sz="1800" dirty="0" smtClean="0"/>
                        <a:t>GPR[</a:t>
                      </a:r>
                      <a:r>
                        <a:rPr lang="en-US" altLang="zh-CN" sz="1800" dirty="0" err="1" smtClean="0"/>
                        <a:t>rt</a:t>
                      </a:r>
                      <a:r>
                        <a:rPr lang="en-US" altLang="zh-CN" sz="1800" dirty="0" smtClean="0"/>
                        <a:t>]</a:t>
                      </a:r>
                      <a:endParaRPr lang="zh-CN" altLang="en-US" sz="1800" dirty="0" smtClean="0"/>
                    </a:p>
                  </a:txBody>
                  <a:tcPr/>
                </a:tc>
              </a:tr>
            </a:tbl>
          </a:graphicData>
        </a:graphic>
      </p:graphicFrame>
      <p:sp>
        <p:nvSpPr>
          <p:cNvPr id="46" name="标题 2"/>
          <p:cNvSpPr>
            <a:spLocks noGrp="1"/>
          </p:cNvSpPr>
          <p:nvPr/>
        </p:nvSpPr>
        <p:spPr>
          <a:xfrm>
            <a:off x="0" y="300355"/>
            <a:ext cx="8527415" cy="133540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zh-CN" altLang="en-US" dirty="0" smtClean="0">
                <a:sym typeface="+mn-ea"/>
              </a:rPr>
              <a:t>模块接口</a:t>
            </a:r>
            <a:endParaRPr lang="zh-CN" altLang="en-US" dirty="0"/>
          </a:p>
          <a:p>
            <a:pPr indent="0">
              <a:buNone/>
            </a:pP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00" y="1018540"/>
            <a:ext cx="9286225" cy="2858770"/>
          </a:xfrm>
          <a:solidFill>
            <a:schemeClr val="bg1"/>
          </a:solidFill>
        </p:spPr>
        <p:txBody>
          <a:bodyPr/>
          <a:lstStyle/>
          <a:p>
            <a:r>
              <a:rPr lang="zh-CN" altLang="en-US" dirty="0" smtClean="0">
                <a:solidFill>
                  <a:srgbClr val="000000"/>
                </a:solidFill>
              </a:rPr>
              <a:t>由于无用位较多，因此只定义有用位</a:t>
            </a:r>
            <a:endParaRPr lang="en-US" altLang="zh-CN" dirty="0" smtClean="0">
              <a:solidFill>
                <a:srgbClr val="000000"/>
              </a:solidFill>
            </a:endParaRPr>
          </a:p>
          <a:p>
            <a:pPr lvl="1"/>
            <a:r>
              <a:rPr lang="en-US" altLang="zh-CN" dirty="0" err="1" smtClean="0">
                <a:solidFill>
                  <a:srgbClr val="000000"/>
                </a:solidFill>
                <a:latin typeface="Courier New" panose="02070309020205020404" pitchFamily="49" charset="0"/>
                <a:cs typeface="Courier New" panose="02070309020205020404" pitchFamily="49" charset="0"/>
              </a:rPr>
              <a:t>reg</a:t>
            </a:r>
            <a:r>
              <a:rPr lang="en-US" altLang="zh-CN" dirty="0" smtClean="0">
                <a:solidFill>
                  <a:srgbClr val="000000"/>
                </a:solidFill>
                <a:latin typeface="Courier New" panose="02070309020205020404" pitchFamily="49" charset="0"/>
                <a:cs typeface="Courier New" panose="02070309020205020404" pitchFamily="49" charset="0"/>
              </a:rPr>
              <a:t> [15:10] </a:t>
            </a:r>
            <a:r>
              <a:rPr lang="en-US" altLang="zh-CN" dirty="0" err="1" smtClean="0">
                <a:solidFill>
                  <a:srgbClr val="000000"/>
                </a:solidFill>
                <a:latin typeface="Courier New" panose="02070309020205020404" pitchFamily="49" charset="0"/>
                <a:cs typeface="Courier New" panose="02070309020205020404" pitchFamily="49" charset="0"/>
              </a:rPr>
              <a:t>im</a:t>
            </a:r>
            <a:r>
              <a:rPr lang="en-US" altLang="zh-CN" dirty="0" smtClean="0">
                <a:solidFill>
                  <a:srgbClr val="000000"/>
                </a:solidFill>
                <a:latin typeface="Courier New" panose="02070309020205020404" pitchFamily="49" charset="0"/>
                <a:cs typeface="Courier New" panose="02070309020205020404" pitchFamily="49" charset="0"/>
              </a:rPr>
              <a:t> ;</a:t>
            </a:r>
          </a:p>
          <a:p>
            <a:pPr lvl="1"/>
            <a:r>
              <a:rPr lang="en-US" altLang="zh-CN" dirty="0" err="1" smtClean="0">
                <a:solidFill>
                  <a:srgbClr val="000000"/>
                </a:solidFill>
                <a:latin typeface="Courier New" panose="02070309020205020404" pitchFamily="49" charset="0"/>
                <a:cs typeface="Courier New" panose="02070309020205020404" pitchFamily="49" charset="0"/>
              </a:rPr>
              <a:t>reg</a:t>
            </a: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exl</a:t>
            </a: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ie</a:t>
            </a:r>
            <a:r>
              <a:rPr lang="en-US" altLang="zh-CN" dirty="0" smtClean="0">
                <a:solidFill>
                  <a:srgbClr val="000000"/>
                </a:solidFill>
                <a:latin typeface="Courier New" panose="02070309020205020404" pitchFamily="49" charset="0"/>
                <a:cs typeface="Courier New" panose="02070309020205020404" pitchFamily="49" charset="0"/>
              </a:rPr>
              <a:t> ;</a:t>
            </a:r>
          </a:p>
          <a:p>
            <a:r>
              <a:rPr lang="en-US" altLang="zh-CN" dirty="0" smtClean="0">
                <a:solidFill>
                  <a:srgbClr val="000000"/>
                </a:solidFill>
              </a:rPr>
              <a:t>SR</a:t>
            </a:r>
            <a:r>
              <a:rPr lang="zh-CN" altLang="en-US" dirty="0" smtClean="0">
                <a:solidFill>
                  <a:srgbClr val="000000"/>
                </a:solidFill>
              </a:rPr>
              <a:t>整体表示为：</a:t>
            </a:r>
            <a:r>
              <a:rPr lang="en-US" altLang="zh-CN" dirty="0" smtClean="0">
                <a:solidFill>
                  <a:srgbClr val="000000"/>
                </a:solidFill>
                <a:latin typeface="Courier New" panose="02070309020205020404" pitchFamily="49" charset="0"/>
                <a:cs typeface="Courier New" panose="02070309020205020404" pitchFamily="49" charset="0"/>
              </a:rPr>
              <a:t>{16’b0, </a:t>
            </a:r>
            <a:r>
              <a:rPr lang="en-US" altLang="zh-CN" dirty="0" err="1" smtClean="0">
                <a:solidFill>
                  <a:srgbClr val="000000"/>
                </a:solidFill>
                <a:latin typeface="Courier New" panose="02070309020205020404" pitchFamily="49" charset="0"/>
                <a:cs typeface="Courier New" panose="02070309020205020404" pitchFamily="49" charset="0"/>
              </a:rPr>
              <a:t>im</a:t>
            </a:r>
            <a:r>
              <a:rPr lang="en-US" altLang="zh-CN" dirty="0" smtClean="0">
                <a:solidFill>
                  <a:srgbClr val="000000"/>
                </a:solidFill>
                <a:latin typeface="Courier New" panose="02070309020205020404" pitchFamily="49" charset="0"/>
                <a:cs typeface="Courier New" panose="02070309020205020404" pitchFamily="49" charset="0"/>
              </a:rPr>
              <a:t>, 8’b0, </a:t>
            </a:r>
            <a:r>
              <a:rPr lang="en-US" altLang="zh-CN" dirty="0" err="1" smtClean="0">
                <a:solidFill>
                  <a:srgbClr val="000000"/>
                </a:solidFill>
                <a:latin typeface="Courier New" panose="02070309020205020404" pitchFamily="49" charset="0"/>
                <a:cs typeface="Courier New" panose="02070309020205020404" pitchFamily="49" charset="0"/>
              </a:rPr>
              <a:t>exl</a:t>
            </a: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ie</a:t>
            </a:r>
            <a:r>
              <a:rPr lang="en-US" altLang="zh-CN" dirty="0" smtClean="0">
                <a:solidFill>
                  <a:srgbClr val="000000"/>
                </a:solidFill>
                <a:latin typeface="Courier New" panose="02070309020205020404" pitchFamily="49" charset="0"/>
                <a:cs typeface="Courier New" panose="02070309020205020404" pitchFamily="49" charset="0"/>
              </a:rPr>
              <a:t>}</a:t>
            </a:r>
          </a:p>
          <a:p>
            <a:r>
              <a:rPr lang="en-US" altLang="zh-CN" dirty="0" err="1" smtClean="0">
                <a:solidFill>
                  <a:srgbClr val="000000"/>
                </a:solidFill>
              </a:rPr>
              <a:t>im</a:t>
            </a:r>
            <a:r>
              <a:rPr lang="zh-CN" altLang="en-US" dirty="0" smtClean="0">
                <a:solidFill>
                  <a:srgbClr val="000000"/>
                </a:solidFill>
              </a:rPr>
              <a:t>，</a:t>
            </a:r>
            <a:r>
              <a:rPr lang="en-US" altLang="zh-CN" dirty="0" err="1" smtClean="0">
                <a:solidFill>
                  <a:srgbClr val="000000"/>
                </a:solidFill>
              </a:rPr>
              <a:t>ie</a:t>
            </a:r>
            <a:r>
              <a:rPr lang="zh-CN" altLang="en-US" dirty="0" smtClean="0">
                <a:solidFill>
                  <a:srgbClr val="000000"/>
                </a:solidFill>
              </a:rPr>
              <a:t>的行为很简单</a:t>
            </a:r>
            <a:endParaRPr lang="en-US" altLang="zh-CN" dirty="0" smtClean="0">
              <a:solidFill>
                <a:srgbClr val="000000"/>
              </a:solidFill>
            </a:endParaRPr>
          </a:p>
          <a:p>
            <a:pPr marL="457200" lvl="1" indent="0">
              <a:buNone/>
            </a:pPr>
            <a:r>
              <a:rPr lang="en-US" altLang="zh-CN" dirty="0" smtClean="0">
                <a:solidFill>
                  <a:srgbClr val="000000"/>
                </a:solidFill>
                <a:latin typeface="Courier New" panose="02070309020205020404" pitchFamily="49" charset="0"/>
                <a:cs typeface="Courier New" panose="02070309020205020404" pitchFamily="49" charset="0"/>
              </a:rPr>
              <a:t>if (</a:t>
            </a:r>
            <a:r>
              <a:rPr lang="zh-CN" altLang="en-US" dirty="0" smtClean="0">
                <a:solidFill>
                  <a:srgbClr val="000000"/>
                </a:solidFill>
                <a:latin typeface="Courier New" panose="02070309020205020404" pitchFamily="49" charset="0"/>
                <a:cs typeface="Courier New" panose="02070309020205020404" pitchFamily="49" charset="0"/>
              </a:rPr>
              <a:t>当</a:t>
            </a:r>
            <a:r>
              <a:rPr lang="en-US" altLang="zh-CN" dirty="0" smtClean="0">
                <a:solidFill>
                  <a:srgbClr val="000000"/>
                </a:solidFill>
                <a:latin typeface="Courier New" panose="02070309020205020404" pitchFamily="49" charset="0"/>
                <a:cs typeface="Courier New" panose="02070309020205020404" pitchFamily="49" charset="0"/>
              </a:rPr>
              <a:t>Wen</a:t>
            </a:r>
            <a:r>
              <a:rPr lang="zh-CN" altLang="en-US" dirty="0" smtClean="0">
                <a:solidFill>
                  <a:srgbClr val="000000"/>
                </a:solidFill>
                <a:latin typeface="Courier New" panose="02070309020205020404" pitchFamily="49" charset="0"/>
                <a:cs typeface="Courier New" panose="02070309020205020404" pitchFamily="49" charset="0"/>
              </a:rPr>
              <a:t>有效并且</a:t>
            </a:r>
            <a:r>
              <a:rPr lang="en-US" altLang="zh-CN" dirty="0" err="1" smtClean="0">
                <a:solidFill>
                  <a:srgbClr val="000000"/>
                </a:solidFill>
                <a:latin typeface="Courier New" panose="02070309020205020404" pitchFamily="49" charset="0"/>
                <a:cs typeface="Courier New" panose="02070309020205020404" pitchFamily="49" charset="0"/>
              </a:rPr>
              <a:t>Sel</a:t>
            </a:r>
            <a:r>
              <a:rPr lang="zh-CN" altLang="en-US" dirty="0" smtClean="0">
                <a:solidFill>
                  <a:srgbClr val="000000"/>
                </a:solidFill>
                <a:latin typeface="Courier New" panose="02070309020205020404" pitchFamily="49" charset="0"/>
                <a:cs typeface="Courier New" panose="02070309020205020404" pitchFamily="49" charset="0"/>
              </a:rPr>
              <a:t>为对应的寄存器编号</a:t>
            </a:r>
            <a:r>
              <a:rPr lang="en-US" altLang="zh-CN" dirty="0" smtClean="0">
                <a:solidFill>
                  <a:srgbClr val="000000"/>
                </a:solidFill>
                <a:latin typeface="Courier New" panose="02070309020205020404" pitchFamily="49" charset="0"/>
                <a:cs typeface="Courier New" panose="02070309020205020404" pitchFamily="49" charset="0"/>
              </a:rPr>
              <a:t>)</a:t>
            </a:r>
          </a:p>
          <a:p>
            <a:pPr marL="4749800" lvl="1" indent="-4292600">
              <a:buNone/>
            </a:pP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im</a:t>
            </a: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exl</a:t>
            </a: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ie</a:t>
            </a:r>
            <a:r>
              <a:rPr lang="en-US" altLang="zh-CN" dirty="0" smtClean="0">
                <a:solidFill>
                  <a:srgbClr val="000000"/>
                </a:solidFill>
                <a:latin typeface="Courier New" panose="02070309020205020404" pitchFamily="49" charset="0"/>
                <a:cs typeface="Courier New" panose="02070309020205020404" pitchFamily="49" charset="0"/>
              </a:rPr>
              <a:t>} &lt;= {</a:t>
            </a:r>
            <a:r>
              <a:rPr lang="en-US" altLang="zh-CN" dirty="0" err="1" smtClean="0">
                <a:solidFill>
                  <a:srgbClr val="000000"/>
                </a:solidFill>
                <a:latin typeface="Courier New" panose="02070309020205020404" pitchFamily="49" charset="0"/>
                <a:cs typeface="Courier New" panose="02070309020205020404" pitchFamily="49" charset="0"/>
              </a:rPr>
              <a:t>DIn</a:t>
            </a:r>
            <a:r>
              <a:rPr lang="en-US" altLang="zh-CN" dirty="0" smtClean="0">
                <a:solidFill>
                  <a:srgbClr val="000000"/>
                </a:solidFill>
                <a:latin typeface="Courier New" panose="02070309020205020404" pitchFamily="49" charset="0"/>
                <a:cs typeface="Courier New" panose="02070309020205020404" pitchFamily="49" charset="0"/>
              </a:rPr>
              <a:t>[15:10</a:t>
            </a:r>
            <a:r>
              <a:rPr lang="en-US" altLang="zh-CN" dirty="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DIn</a:t>
            </a:r>
            <a:r>
              <a:rPr lang="en-US" altLang="zh-CN" dirty="0" smtClean="0">
                <a:solidFill>
                  <a:srgbClr val="000000"/>
                </a:solidFill>
                <a:latin typeface="Courier New" panose="02070309020205020404" pitchFamily="49" charset="0"/>
                <a:cs typeface="Courier New" panose="02070309020205020404" pitchFamily="49" charset="0"/>
              </a:rPr>
              <a:t>[1], </a:t>
            </a:r>
            <a:r>
              <a:rPr lang="en-US" altLang="zh-CN" dirty="0" err="1" smtClean="0">
                <a:solidFill>
                  <a:srgbClr val="000000"/>
                </a:solidFill>
                <a:latin typeface="Courier New" panose="02070309020205020404" pitchFamily="49" charset="0"/>
                <a:cs typeface="Courier New" panose="02070309020205020404" pitchFamily="49" charset="0"/>
              </a:rPr>
              <a:t>DIn</a:t>
            </a:r>
            <a:r>
              <a:rPr lang="en-US" altLang="zh-CN" dirty="0" smtClean="0">
                <a:solidFill>
                  <a:srgbClr val="000000"/>
                </a:solidFill>
                <a:latin typeface="Courier New" panose="02070309020205020404" pitchFamily="49" charset="0"/>
                <a:cs typeface="Courier New" panose="02070309020205020404" pitchFamily="49" charset="0"/>
              </a:rPr>
              <a:t>[0]} ;</a:t>
            </a:r>
          </a:p>
        </p:txBody>
      </p:sp>
      <p:sp>
        <p:nvSpPr>
          <p:cNvPr id="5" name="TextBox 4"/>
          <p:cNvSpPr txBox="1"/>
          <p:nvPr/>
        </p:nvSpPr>
        <p:spPr>
          <a:xfrm>
            <a:off x="2800831" y="4598156"/>
            <a:ext cx="4159250" cy="671830"/>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lgn="just"/>
            <a:r>
              <a:rPr lang="en-US" altLang="zh-CN" b="0" dirty="0" err="1" smtClean="0">
                <a:latin typeface="Courier New" panose="02070309020205020404" pitchFamily="49" charset="0"/>
                <a:cs typeface="Courier New" panose="02070309020205020404" pitchFamily="49" charset="0"/>
              </a:rPr>
              <a:t>reg</a:t>
            </a:r>
            <a:r>
              <a:rPr lang="en-US" altLang="zh-CN" b="0" dirty="0" smtClean="0">
                <a:latin typeface="Courier New" panose="02070309020205020404" pitchFamily="49" charset="0"/>
                <a:cs typeface="Courier New" panose="02070309020205020404" pitchFamily="49" charset="0"/>
              </a:rPr>
              <a:t> [5:0] </a:t>
            </a:r>
            <a:r>
              <a:rPr lang="en-US" altLang="zh-CN" b="0" dirty="0" err="1" smtClean="0">
                <a:latin typeface="Courier New" panose="02070309020205020404" pitchFamily="49" charset="0"/>
                <a:cs typeface="Courier New" panose="02070309020205020404" pitchFamily="49" charset="0"/>
              </a:rPr>
              <a:t>im</a:t>
            </a:r>
            <a:r>
              <a:rPr lang="zh-CN" altLang="en-US" b="0" dirty="0" smtClean="0">
                <a:latin typeface="Courier New" panose="02070309020205020404" pitchFamily="49" charset="0"/>
                <a:cs typeface="Courier New" panose="02070309020205020404" pitchFamily="49" charset="0"/>
              </a:rPr>
              <a:t>与</a:t>
            </a:r>
            <a:r>
              <a:rPr lang="en-US" altLang="zh-CN" b="0" dirty="0" err="1" smtClean="0">
                <a:latin typeface="Courier New" panose="02070309020205020404" pitchFamily="49" charset="0"/>
                <a:cs typeface="Courier New" panose="02070309020205020404" pitchFamily="49" charset="0"/>
              </a:rPr>
              <a:t>reg</a:t>
            </a:r>
            <a:r>
              <a:rPr lang="en-US" altLang="zh-CN" b="0" dirty="0" smtClean="0">
                <a:latin typeface="Courier New" panose="02070309020205020404" pitchFamily="49" charset="0"/>
                <a:cs typeface="Courier New" panose="02070309020205020404" pitchFamily="49" charset="0"/>
              </a:rPr>
              <a:t> [15:10]</a:t>
            </a:r>
            <a:r>
              <a:rPr lang="en-US" altLang="zh-CN" b="0" dirty="0">
                <a:latin typeface="Courier New" panose="02070309020205020404" pitchFamily="49" charset="0"/>
                <a:cs typeface="Courier New" panose="02070309020205020404" pitchFamily="49" charset="0"/>
              </a:rPr>
              <a:t> </a:t>
            </a:r>
            <a:r>
              <a:rPr lang="en-US" altLang="zh-CN" b="0" dirty="0" err="1" smtClean="0">
                <a:latin typeface="Courier New" panose="02070309020205020404" pitchFamily="49" charset="0"/>
                <a:cs typeface="Courier New" panose="02070309020205020404" pitchFamily="49" charset="0"/>
              </a:rPr>
              <a:t>im</a:t>
            </a:r>
            <a:endParaRPr lang="en-US" altLang="zh-CN" b="0" dirty="0" smtClean="0">
              <a:latin typeface="Courier New" panose="02070309020205020404" pitchFamily="49" charset="0"/>
              <a:cs typeface="Courier New" panose="02070309020205020404" pitchFamily="49" charset="0"/>
            </a:endParaRPr>
          </a:p>
          <a:p>
            <a:pPr algn="just"/>
            <a:r>
              <a:rPr lang="zh-CN" altLang="en-US" b="0" dirty="0" smtClean="0">
                <a:latin typeface="Courier New" panose="02070309020205020404" pitchFamily="49" charset="0"/>
                <a:cs typeface="Courier New" panose="02070309020205020404" pitchFamily="49" charset="0"/>
              </a:rPr>
              <a:t>是等价的，但后者编码风格更好</a:t>
            </a:r>
            <a:endParaRPr lang="en-US" altLang="zh-CN" b="0" dirty="0" smtClean="0">
              <a:latin typeface="Courier New" panose="02070309020205020404" pitchFamily="49" charset="0"/>
              <a:cs typeface="Courier New" panose="02070309020205020404" pitchFamily="49" charset="0"/>
            </a:endParaRPr>
          </a:p>
        </p:txBody>
      </p:sp>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en-US" dirty="0">
                <a:sym typeface="+mn-ea"/>
              </a:rPr>
              <a:t>SR</a:t>
            </a: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1385" y="1038860"/>
            <a:ext cx="9418176" cy="1666240"/>
          </a:xfrm>
          <a:solidFill>
            <a:schemeClr val="bg1"/>
          </a:solidFill>
        </p:spPr>
        <p:txBody>
          <a:bodyPr/>
          <a:lstStyle/>
          <a:p>
            <a:r>
              <a:rPr lang="en-US" altLang="zh-CN" dirty="0" err="1" smtClean="0">
                <a:solidFill>
                  <a:srgbClr val="000000"/>
                </a:solidFill>
              </a:rPr>
              <a:t>exl</a:t>
            </a:r>
            <a:r>
              <a:rPr lang="zh-CN" altLang="en-US" dirty="0" smtClean="0">
                <a:solidFill>
                  <a:srgbClr val="000000"/>
                </a:solidFill>
              </a:rPr>
              <a:t>要复杂一些：除了类似</a:t>
            </a:r>
            <a:r>
              <a:rPr lang="en-US" altLang="zh-CN" dirty="0" err="1" smtClean="0">
                <a:solidFill>
                  <a:srgbClr val="000000"/>
                </a:solidFill>
              </a:rPr>
              <a:t>im</a:t>
            </a:r>
            <a:r>
              <a:rPr lang="en-US" altLang="zh-CN" dirty="0" smtClean="0">
                <a:solidFill>
                  <a:srgbClr val="000000"/>
                </a:solidFill>
              </a:rPr>
              <a:t>/</a:t>
            </a:r>
            <a:r>
              <a:rPr lang="en-US" altLang="zh-CN" dirty="0" err="1" smtClean="0">
                <a:solidFill>
                  <a:srgbClr val="000000"/>
                </a:solidFill>
              </a:rPr>
              <a:t>ie</a:t>
            </a:r>
            <a:r>
              <a:rPr lang="zh-CN" altLang="en-US" dirty="0" smtClean="0">
                <a:solidFill>
                  <a:srgbClr val="000000"/>
                </a:solidFill>
              </a:rPr>
              <a:t>的行为外，还必须有置位和清除的功能。以置位为例：</a:t>
            </a:r>
            <a:endParaRPr lang="en-US" altLang="zh-CN" dirty="0" smtClean="0">
              <a:solidFill>
                <a:srgbClr val="000000"/>
              </a:solidFill>
            </a:endParaRPr>
          </a:p>
          <a:p>
            <a:pPr marL="400050" lvl="1" indent="0">
              <a:buNone/>
            </a:pPr>
            <a:r>
              <a:rPr lang="en-US" altLang="zh-CN" dirty="0" smtClean="0">
                <a:solidFill>
                  <a:srgbClr val="000000"/>
                </a:solidFill>
                <a:latin typeface="Courier New" panose="02070309020205020404" pitchFamily="49" charset="0"/>
                <a:cs typeface="Courier New" panose="02070309020205020404" pitchFamily="49" charset="0"/>
              </a:rPr>
              <a:t>if (</a:t>
            </a:r>
            <a:r>
              <a:rPr lang="en-US" altLang="zh-CN" dirty="0" err="1" smtClean="0">
                <a:solidFill>
                  <a:srgbClr val="000000"/>
                </a:solidFill>
                <a:latin typeface="Courier New" panose="02070309020205020404" pitchFamily="49" charset="0"/>
                <a:cs typeface="Courier New" panose="02070309020205020404" pitchFamily="49" charset="0"/>
              </a:rPr>
              <a:t>EXLSet</a:t>
            </a:r>
            <a:r>
              <a:rPr lang="en-US" altLang="zh-CN" dirty="0" smtClean="0">
                <a:solidFill>
                  <a:srgbClr val="000000"/>
                </a:solidFill>
                <a:latin typeface="Courier New" panose="02070309020205020404" pitchFamily="49" charset="0"/>
                <a:cs typeface="Courier New" panose="02070309020205020404" pitchFamily="49" charset="0"/>
              </a:rPr>
              <a:t>)</a:t>
            </a:r>
          </a:p>
          <a:p>
            <a:pPr marL="400050" lvl="1" indent="0">
              <a:buNone/>
            </a:pPr>
            <a:r>
              <a:rPr lang="en-US" altLang="zh-CN" dirty="0" smtClean="0">
                <a:solidFill>
                  <a:srgbClr val="000000"/>
                </a:solidFill>
                <a:latin typeface="Courier New" panose="02070309020205020404" pitchFamily="49" charset="0"/>
                <a:cs typeface="Courier New" panose="02070309020205020404" pitchFamily="49" charset="0"/>
              </a:rPr>
              <a:t>    </a:t>
            </a:r>
            <a:r>
              <a:rPr lang="en-US" altLang="zh-CN" dirty="0" err="1" smtClean="0">
                <a:solidFill>
                  <a:srgbClr val="000000"/>
                </a:solidFill>
                <a:latin typeface="Courier New" panose="02070309020205020404" pitchFamily="49" charset="0"/>
                <a:cs typeface="Courier New" panose="02070309020205020404" pitchFamily="49" charset="0"/>
              </a:rPr>
              <a:t>exl</a:t>
            </a:r>
            <a:r>
              <a:rPr lang="en-US" altLang="zh-CN" dirty="0" smtClean="0">
                <a:solidFill>
                  <a:srgbClr val="000000"/>
                </a:solidFill>
                <a:latin typeface="Courier New" panose="02070309020205020404" pitchFamily="49" charset="0"/>
                <a:cs typeface="Courier New" panose="02070309020205020404" pitchFamily="49" charset="0"/>
              </a:rPr>
              <a:t> &lt;= 1’b1 ;</a:t>
            </a:r>
          </a:p>
        </p:txBody>
      </p:sp>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en-US" dirty="0">
                <a:sym typeface="+mn-ea"/>
              </a:rPr>
              <a:t>SR</a:t>
            </a: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3393" y="1242060"/>
            <a:ext cx="9314418" cy="1281430"/>
          </a:xfrm>
          <a:solidFill>
            <a:schemeClr val="bg1"/>
          </a:solidFill>
        </p:spPr>
        <p:txBody>
          <a:bodyPr/>
          <a:lstStyle/>
          <a:p>
            <a:r>
              <a:rPr lang="en-US" altLang="zh-CN" dirty="0" smtClean="0">
                <a:solidFill>
                  <a:srgbClr val="000000"/>
                </a:solidFill>
              </a:rPr>
              <a:t>Cause</a:t>
            </a:r>
            <a:r>
              <a:rPr lang="zh-CN" altLang="en-US" dirty="0" smtClean="0">
                <a:solidFill>
                  <a:srgbClr val="000000"/>
                </a:solidFill>
              </a:rPr>
              <a:t>：只需定义</a:t>
            </a:r>
            <a:r>
              <a:rPr lang="en-US" altLang="zh-CN" dirty="0" smtClean="0">
                <a:solidFill>
                  <a:srgbClr val="000000"/>
                </a:solidFill>
              </a:rPr>
              <a:t>6</a:t>
            </a:r>
            <a:r>
              <a:rPr lang="zh-CN" altLang="en-US" dirty="0" smtClean="0">
                <a:solidFill>
                  <a:srgbClr val="000000"/>
                </a:solidFill>
              </a:rPr>
              <a:t>位寄存器，不断的锁存</a:t>
            </a:r>
            <a:r>
              <a:rPr lang="en-US" altLang="zh-CN" dirty="0" err="1" smtClean="0">
                <a:solidFill>
                  <a:srgbClr val="000000"/>
                </a:solidFill>
              </a:rPr>
              <a:t>HWInt</a:t>
            </a:r>
            <a:r>
              <a:rPr lang="en-US" altLang="zh-CN" dirty="0" smtClean="0">
                <a:solidFill>
                  <a:srgbClr val="000000"/>
                </a:solidFill>
              </a:rPr>
              <a:t>[5:0]</a:t>
            </a:r>
          </a:p>
          <a:p>
            <a:pPr lvl="1"/>
            <a:r>
              <a:rPr lang="en-US" altLang="zh-CN" dirty="0" err="1" smtClean="0">
                <a:solidFill>
                  <a:srgbClr val="000000"/>
                </a:solidFill>
                <a:latin typeface="Courier New" panose="02070309020205020404" pitchFamily="49" charset="0"/>
                <a:cs typeface="Courier New" panose="02070309020205020404" pitchFamily="49" charset="0"/>
              </a:rPr>
              <a:t>reg</a:t>
            </a:r>
            <a:r>
              <a:rPr lang="en-US" altLang="zh-CN" dirty="0" smtClean="0">
                <a:solidFill>
                  <a:srgbClr val="000000"/>
                </a:solidFill>
                <a:latin typeface="Courier New" panose="02070309020205020404" pitchFamily="49" charset="0"/>
                <a:cs typeface="Courier New" panose="02070309020205020404" pitchFamily="49" charset="0"/>
              </a:rPr>
              <a:t> [15:10] </a:t>
            </a:r>
            <a:r>
              <a:rPr lang="en-US" altLang="zh-CN" dirty="0" err="1" smtClean="0">
                <a:solidFill>
                  <a:srgbClr val="000000"/>
                </a:solidFill>
                <a:latin typeface="Courier New" panose="02070309020205020404" pitchFamily="49" charset="0"/>
                <a:cs typeface="Courier New" panose="02070309020205020404" pitchFamily="49" charset="0"/>
              </a:rPr>
              <a:t>ip</a:t>
            </a:r>
            <a:r>
              <a:rPr lang="en-US" altLang="zh-CN" dirty="0" smtClean="0">
                <a:solidFill>
                  <a:srgbClr val="000000"/>
                </a:solidFill>
                <a:latin typeface="Courier New" panose="02070309020205020404" pitchFamily="49" charset="0"/>
                <a:cs typeface="Courier New" panose="02070309020205020404" pitchFamily="49" charset="0"/>
              </a:rPr>
              <a:t> ;</a:t>
            </a:r>
          </a:p>
          <a:p>
            <a:r>
              <a:rPr lang="en-US" altLang="zh-CN" dirty="0" smtClean="0">
                <a:solidFill>
                  <a:srgbClr val="000000"/>
                </a:solidFill>
              </a:rPr>
              <a:t>Cause</a:t>
            </a:r>
            <a:r>
              <a:rPr lang="zh-CN" altLang="en-US" dirty="0" smtClean="0">
                <a:solidFill>
                  <a:srgbClr val="000000"/>
                </a:solidFill>
              </a:rPr>
              <a:t>整体</a:t>
            </a:r>
            <a:r>
              <a:rPr lang="zh-CN" altLang="en-US" dirty="0">
                <a:solidFill>
                  <a:srgbClr val="000000"/>
                </a:solidFill>
              </a:rPr>
              <a:t>表示为：</a:t>
            </a:r>
            <a:r>
              <a:rPr lang="en-US" altLang="zh-CN" dirty="0">
                <a:solidFill>
                  <a:srgbClr val="000000"/>
                </a:solidFill>
                <a:latin typeface="Courier New" panose="02070309020205020404" pitchFamily="49" charset="0"/>
                <a:cs typeface="Courier New" panose="02070309020205020404" pitchFamily="49" charset="0"/>
              </a:rPr>
              <a:t>{16’b0, </a:t>
            </a:r>
            <a:r>
              <a:rPr lang="en-US" altLang="zh-CN" dirty="0" err="1" smtClean="0">
                <a:solidFill>
                  <a:srgbClr val="000000"/>
                </a:solidFill>
                <a:latin typeface="Courier New" panose="02070309020205020404" pitchFamily="49" charset="0"/>
                <a:cs typeface="Courier New" panose="02070309020205020404" pitchFamily="49" charset="0"/>
              </a:rPr>
              <a:t>ip</a:t>
            </a:r>
            <a:r>
              <a:rPr lang="en-US" altLang="zh-CN" dirty="0" smtClean="0">
                <a:solidFill>
                  <a:srgbClr val="000000"/>
                </a:solidFill>
                <a:latin typeface="Courier New" panose="02070309020205020404" pitchFamily="49" charset="0"/>
                <a:cs typeface="Courier New" panose="02070309020205020404" pitchFamily="49" charset="0"/>
              </a:rPr>
              <a:t>, 10’b0}</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46" name="标题 2"/>
          <p:cNvSpPr>
            <a:spLocks noGrp="1"/>
          </p:cNvSpPr>
          <p:nvPr/>
        </p:nvSpPr>
        <p:spPr>
          <a:xfrm>
            <a:off x="0" y="300355"/>
            <a:ext cx="8527415" cy="133540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--Cause</a:t>
            </a:r>
            <a:endParaRPr lang="zh-CN" altLang="en-US" dirty="0"/>
          </a:p>
          <a:p>
            <a:pPr indent="0">
              <a:buNone/>
            </a:pP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3392" y="1090930"/>
            <a:ext cx="9358233" cy="1704975"/>
          </a:xfrm>
          <a:solidFill>
            <a:schemeClr val="bg1"/>
          </a:solidFill>
        </p:spPr>
        <p:txBody>
          <a:bodyPr/>
          <a:lstStyle/>
          <a:p>
            <a:r>
              <a:rPr lang="zh-CN" altLang="en-US" dirty="0" smtClean="0">
                <a:solidFill>
                  <a:srgbClr val="000000"/>
                </a:solidFill>
              </a:rPr>
              <a:t>定义</a:t>
            </a:r>
            <a:r>
              <a:rPr lang="en-US" altLang="zh-CN" dirty="0" smtClean="0">
                <a:solidFill>
                  <a:srgbClr val="000000"/>
                </a:solidFill>
              </a:rPr>
              <a:t>30</a:t>
            </a:r>
            <a:r>
              <a:rPr lang="zh-CN" altLang="en-US" dirty="0" smtClean="0">
                <a:solidFill>
                  <a:srgbClr val="000000"/>
                </a:solidFill>
              </a:rPr>
              <a:t>位寄存器</a:t>
            </a:r>
            <a:endParaRPr lang="en-US" altLang="zh-CN" dirty="0" smtClean="0">
              <a:solidFill>
                <a:srgbClr val="000000"/>
              </a:solidFill>
            </a:endParaRPr>
          </a:p>
          <a:p>
            <a:pPr lvl="1"/>
            <a:r>
              <a:rPr lang="en-US" altLang="zh-CN" dirty="0" err="1" smtClean="0">
                <a:solidFill>
                  <a:srgbClr val="000000"/>
                </a:solidFill>
                <a:latin typeface="Courier New" panose="02070309020205020404" pitchFamily="49" charset="0"/>
                <a:cs typeface="Courier New" panose="02070309020205020404" pitchFamily="49" charset="0"/>
              </a:rPr>
              <a:t>reg</a:t>
            </a:r>
            <a:r>
              <a:rPr lang="en-US" altLang="zh-CN" dirty="0" smtClean="0">
                <a:solidFill>
                  <a:srgbClr val="000000"/>
                </a:solidFill>
                <a:latin typeface="Courier New" panose="02070309020205020404" pitchFamily="49" charset="0"/>
                <a:cs typeface="Courier New" panose="02070309020205020404" pitchFamily="49" charset="0"/>
              </a:rPr>
              <a:t> [31:2] </a:t>
            </a:r>
            <a:r>
              <a:rPr lang="en-US" altLang="zh-CN" dirty="0" err="1" smtClean="0">
                <a:solidFill>
                  <a:srgbClr val="000000"/>
                </a:solidFill>
                <a:latin typeface="Courier New" panose="02070309020205020404" pitchFamily="49" charset="0"/>
                <a:cs typeface="Courier New" panose="02070309020205020404" pitchFamily="49" charset="0"/>
              </a:rPr>
              <a:t>epc</a:t>
            </a:r>
            <a:r>
              <a:rPr lang="en-US" altLang="zh-CN" dirty="0" smtClean="0">
                <a:solidFill>
                  <a:srgbClr val="000000"/>
                </a:solidFill>
                <a:latin typeface="Courier New" panose="02070309020205020404" pitchFamily="49" charset="0"/>
                <a:cs typeface="Courier New" panose="02070309020205020404" pitchFamily="49" charset="0"/>
              </a:rPr>
              <a:t>;</a:t>
            </a:r>
          </a:p>
          <a:p>
            <a:r>
              <a:rPr lang="zh-CN" altLang="en-US" dirty="0" smtClean="0">
                <a:solidFill>
                  <a:srgbClr val="000000"/>
                </a:solidFill>
                <a:latin typeface="Courier New" panose="02070309020205020404" pitchFamily="49" charset="0"/>
                <a:cs typeface="Courier New" panose="02070309020205020404" pitchFamily="49" charset="0"/>
              </a:rPr>
              <a:t>为什么不需要</a:t>
            </a:r>
            <a:r>
              <a:rPr lang="en-US" altLang="zh-CN" dirty="0" smtClean="0">
                <a:solidFill>
                  <a:srgbClr val="000000"/>
                </a:solidFill>
                <a:latin typeface="Courier New" panose="02070309020205020404" pitchFamily="49" charset="0"/>
                <a:cs typeface="Courier New" panose="02070309020205020404" pitchFamily="49" charset="0"/>
              </a:rPr>
              <a:t>32</a:t>
            </a:r>
            <a:r>
              <a:rPr lang="zh-CN" altLang="en-US" dirty="0" smtClean="0">
                <a:solidFill>
                  <a:srgbClr val="000000"/>
                </a:solidFill>
                <a:latin typeface="Courier New" panose="02070309020205020404" pitchFamily="49" charset="0"/>
                <a:cs typeface="Courier New" panose="02070309020205020404" pitchFamily="49" charset="0"/>
              </a:rPr>
              <a:t>位？</a:t>
            </a:r>
            <a:endParaRPr lang="en-US" altLang="zh-CN" dirty="0" smtClean="0">
              <a:solidFill>
                <a:srgbClr val="000000"/>
              </a:solidFill>
              <a:latin typeface="Courier New" panose="02070309020205020404" pitchFamily="49" charset="0"/>
              <a:cs typeface="Courier New" panose="02070309020205020404" pitchFamily="49" charset="0"/>
            </a:endParaRPr>
          </a:p>
          <a:p>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46" name="标题 2"/>
          <p:cNvSpPr>
            <a:spLocks noGrp="1"/>
          </p:cNvSpPr>
          <p:nvPr/>
        </p:nvSpPr>
        <p:spPr>
          <a:xfrm>
            <a:off x="0" y="300355"/>
            <a:ext cx="8527415" cy="133540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--EPC</a:t>
            </a:r>
            <a:endParaRPr lang="zh-CN" altLang="en-US" dirty="0"/>
          </a:p>
          <a:p>
            <a:pPr indent="0">
              <a:buNone/>
            </a:pP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3392" y="1314450"/>
            <a:ext cx="8678287" cy="2936240"/>
          </a:xfrm>
          <a:solidFill>
            <a:schemeClr val="bg1"/>
          </a:solidFill>
        </p:spPr>
        <p:txBody>
          <a:bodyPr/>
          <a:lstStyle/>
          <a:p>
            <a:r>
              <a:rPr lang="zh-CN" altLang="en-US" dirty="0" smtClean="0">
                <a:solidFill>
                  <a:srgbClr val="000000"/>
                </a:solidFill>
                <a:cs typeface="Courier New" panose="02070309020205020404" pitchFamily="49" charset="0"/>
              </a:rPr>
              <a:t>用于对公司</a:t>
            </a:r>
            <a:r>
              <a:rPr lang="en-US" altLang="zh-CN" dirty="0" smtClean="0">
                <a:solidFill>
                  <a:srgbClr val="000000"/>
                </a:solidFill>
                <a:cs typeface="Courier New" panose="02070309020205020404" pitchFamily="49" charset="0"/>
              </a:rPr>
              <a:t>/</a:t>
            </a:r>
            <a:r>
              <a:rPr lang="zh-CN" altLang="en-US" dirty="0" smtClean="0">
                <a:solidFill>
                  <a:srgbClr val="000000"/>
                </a:solidFill>
                <a:cs typeface="Courier New" panose="02070309020205020404" pitchFamily="49" charset="0"/>
              </a:rPr>
              <a:t>指令集版本等进行标识</a:t>
            </a:r>
            <a:endParaRPr lang="en-US" altLang="zh-CN" dirty="0" smtClean="0">
              <a:solidFill>
                <a:srgbClr val="000000"/>
              </a:solidFill>
              <a:cs typeface="Courier New" panose="02070309020205020404" pitchFamily="49" charset="0"/>
            </a:endParaRPr>
          </a:p>
          <a:p>
            <a:pPr lvl="1"/>
            <a:r>
              <a:rPr lang="en-US" altLang="zh-CN" dirty="0" smtClean="0">
                <a:solidFill>
                  <a:srgbClr val="000000"/>
                </a:solidFill>
                <a:cs typeface="Courier New" panose="02070309020205020404" pitchFamily="49" charset="0"/>
              </a:rPr>
              <a:t>Intel</a:t>
            </a:r>
            <a:r>
              <a:rPr lang="zh-CN" altLang="en-US" dirty="0" smtClean="0">
                <a:solidFill>
                  <a:srgbClr val="000000"/>
                </a:solidFill>
                <a:cs typeface="Courier New" panose="02070309020205020404" pitchFamily="49" charset="0"/>
              </a:rPr>
              <a:t>处理器也有</a:t>
            </a:r>
            <a:r>
              <a:rPr lang="en-US" altLang="zh-CN" dirty="0" smtClean="0">
                <a:solidFill>
                  <a:srgbClr val="000000"/>
                </a:solidFill>
                <a:cs typeface="Courier New" panose="02070309020205020404" pitchFamily="49" charset="0"/>
              </a:rPr>
              <a:t>ID</a:t>
            </a:r>
            <a:r>
              <a:rPr lang="zh-CN" altLang="en-US" dirty="0" smtClean="0">
                <a:solidFill>
                  <a:srgbClr val="000000"/>
                </a:solidFill>
                <a:cs typeface="Courier New" panose="02070309020205020404" pitchFamily="49" charset="0"/>
              </a:rPr>
              <a:t>，</a:t>
            </a:r>
            <a:r>
              <a:rPr lang="en-US" altLang="zh-CN" dirty="0" smtClean="0">
                <a:solidFill>
                  <a:srgbClr val="000000"/>
                </a:solidFill>
                <a:cs typeface="Courier New" panose="02070309020205020404" pitchFamily="49" charset="0"/>
              </a:rPr>
              <a:t>CPU-Z</a:t>
            </a:r>
            <a:r>
              <a:rPr lang="zh-CN" altLang="en-US" dirty="0" smtClean="0">
                <a:solidFill>
                  <a:srgbClr val="000000"/>
                </a:solidFill>
                <a:cs typeface="Courier New" panose="02070309020205020404" pitchFamily="49" charset="0"/>
              </a:rPr>
              <a:t>就可以读取</a:t>
            </a:r>
            <a:endParaRPr lang="en-US" altLang="zh-CN" dirty="0" smtClean="0">
              <a:solidFill>
                <a:srgbClr val="000000"/>
              </a:solidFill>
              <a:cs typeface="Courier New" panose="02070309020205020404" pitchFamily="49" charset="0"/>
            </a:endParaRPr>
          </a:p>
          <a:p>
            <a:endParaRPr lang="en-US" altLang="zh-CN" dirty="0" smtClean="0">
              <a:solidFill>
                <a:srgbClr val="000000"/>
              </a:solidFill>
              <a:cs typeface="Courier New" panose="02070309020205020404" pitchFamily="49" charset="0"/>
            </a:endParaRPr>
          </a:p>
          <a:p>
            <a:endParaRPr lang="en-US" altLang="zh-CN" dirty="0" smtClean="0">
              <a:solidFill>
                <a:srgbClr val="000000"/>
              </a:solidFill>
              <a:cs typeface="Courier New" panose="02070309020205020404" pitchFamily="49" charset="0"/>
            </a:endParaRPr>
          </a:p>
          <a:p>
            <a:r>
              <a:rPr lang="zh-CN" altLang="en-US" dirty="0" smtClean="0">
                <a:solidFill>
                  <a:srgbClr val="000000"/>
                </a:solidFill>
                <a:cs typeface="Courier New" panose="02070309020205020404" pitchFamily="49" charset="0"/>
              </a:rPr>
              <a:t>目前可以任意选则用一个</a:t>
            </a:r>
            <a:r>
              <a:rPr lang="en-US" altLang="zh-CN" dirty="0" smtClean="0">
                <a:solidFill>
                  <a:srgbClr val="000000"/>
                </a:solidFill>
                <a:cs typeface="Courier New" panose="02070309020205020404" pitchFamily="49" charset="0"/>
              </a:rPr>
              <a:t>4</a:t>
            </a:r>
            <a:r>
              <a:rPr lang="zh-CN" altLang="en-US" dirty="0" smtClean="0">
                <a:solidFill>
                  <a:srgbClr val="000000"/>
                </a:solidFill>
                <a:cs typeface="Courier New" panose="02070309020205020404" pitchFamily="49" charset="0"/>
              </a:rPr>
              <a:t>字节的编码值，如</a:t>
            </a:r>
            <a:endParaRPr lang="en-US" altLang="zh-CN" dirty="0" smtClean="0">
              <a:solidFill>
                <a:srgbClr val="000000"/>
              </a:solidFill>
              <a:cs typeface="Courier New" panose="02070309020205020404" pitchFamily="49" charset="0"/>
            </a:endParaRPr>
          </a:p>
          <a:p>
            <a:pPr lvl="1"/>
            <a:r>
              <a:rPr lang="en-US" altLang="zh-CN" dirty="0" smtClean="0">
                <a:solidFill>
                  <a:srgbClr val="000000"/>
                </a:solidFill>
                <a:cs typeface="Courier New" panose="02070309020205020404" pitchFamily="49" charset="0"/>
              </a:rPr>
              <a:t>0x1234_5678</a:t>
            </a:r>
          </a:p>
          <a:p>
            <a:endParaRPr lang="en-US" altLang="zh-CN" dirty="0">
              <a:solidFill>
                <a:srgbClr val="000000"/>
              </a:solidFill>
              <a:cs typeface="Courier New" panose="02070309020205020404" pitchFamily="49"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883" y="2152630"/>
            <a:ext cx="9017917" cy="6804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en-US" altLang="zh-CN" dirty="0" err="1" smtClean="0">
                <a:sym typeface="+mn-ea"/>
              </a:rPr>
              <a:t>PRId</a:t>
            </a:r>
            <a:endParaRPr lang="zh-CN" altLang="en-US" dirty="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9417" y="1109980"/>
            <a:ext cx="9333344" cy="3667125"/>
          </a:xfrm>
          <a:solidFill>
            <a:schemeClr val="bg1"/>
          </a:solidFill>
        </p:spPr>
        <p:txBody>
          <a:bodyPr/>
          <a:lstStyle/>
          <a:p>
            <a:r>
              <a:rPr lang="zh-CN" altLang="en-US" dirty="0" smtClean="0">
                <a:solidFill>
                  <a:srgbClr val="000000"/>
                </a:solidFill>
                <a:cs typeface="Courier New" panose="02070309020205020404" pitchFamily="49" charset="0"/>
              </a:rPr>
              <a:t>除了</a:t>
            </a:r>
            <a:r>
              <a:rPr lang="en-US" altLang="zh-CN" dirty="0" smtClean="0">
                <a:solidFill>
                  <a:srgbClr val="000000"/>
                </a:solidFill>
                <a:cs typeface="Courier New" panose="02070309020205020404" pitchFamily="49" charset="0"/>
              </a:rPr>
              <a:t>SR/Cause/EPC/</a:t>
            </a:r>
            <a:r>
              <a:rPr lang="en-US" altLang="zh-CN" dirty="0" err="1" smtClean="0">
                <a:solidFill>
                  <a:srgbClr val="000000"/>
                </a:solidFill>
                <a:cs typeface="Courier New" panose="02070309020205020404" pitchFamily="49" charset="0"/>
              </a:rPr>
              <a:t>PRId</a:t>
            </a:r>
            <a:r>
              <a:rPr lang="en-US" altLang="zh-CN" dirty="0" smtClean="0">
                <a:solidFill>
                  <a:srgbClr val="000000"/>
                </a:solidFill>
                <a:cs typeface="Courier New" panose="02070309020205020404" pitchFamily="49" charset="0"/>
              </a:rPr>
              <a:t> (12/13/14/15)</a:t>
            </a:r>
            <a:r>
              <a:rPr lang="zh-CN" altLang="en-US" dirty="0" smtClean="0">
                <a:solidFill>
                  <a:srgbClr val="000000"/>
                </a:solidFill>
                <a:cs typeface="Courier New" panose="02070309020205020404" pitchFamily="49" charset="0"/>
              </a:rPr>
              <a:t>外，一律输出</a:t>
            </a:r>
            <a:r>
              <a:rPr lang="en-US" altLang="zh-CN" dirty="0" smtClean="0">
                <a:solidFill>
                  <a:srgbClr val="000000"/>
                </a:solidFill>
                <a:cs typeface="Courier New" panose="02070309020205020404" pitchFamily="49" charset="0"/>
              </a:rPr>
              <a:t>0</a:t>
            </a:r>
            <a:r>
              <a:rPr lang="zh-CN" altLang="en-US" dirty="0" smtClean="0">
                <a:solidFill>
                  <a:srgbClr val="000000"/>
                </a:solidFill>
                <a:cs typeface="Courier New" panose="02070309020205020404" pitchFamily="49" charset="0"/>
              </a:rPr>
              <a:t>。</a:t>
            </a:r>
            <a:endParaRPr lang="en-US" altLang="zh-CN" dirty="0" smtClean="0">
              <a:solidFill>
                <a:srgbClr val="000000"/>
              </a:solidFill>
              <a:cs typeface="Courier New" panose="02070309020205020404" pitchFamily="49" charset="0"/>
            </a:endParaRPr>
          </a:p>
          <a:p>
            <a:r>
              <a:rPr lang="zh-CN" altLang="en-US" dirty="0" smtClean="0">
                <a:solidFill>
                  <a:srgbClr val="000000"/>
                </a:solidFill>
                <a:cs typeface="Courier New" panose="02070309020205020404" pitchFamily="49" charset="0"/>
              </a:rPr>
              <a:t>可以设计一个</a:t>
            </a:r>
            <a:r>
              <a:rPr lang="en-US" altLang="zh-CN" dirty="0" smtClean="0">
                <a:solidFill>
                  <a:srgbClr val="000000"/>
                </a:solidFill>
                <a:cs typeface="Courier New" panose="02070309020205020404" pitchFamily="49" charset="0"/>
              </a:rPr>
              <a:t>5</a:t>
            </a:r>
            <a:r>
              <a:rPr lang="zh-CN" altLang="en-US" dirty="0" smtClean="0">
                <a:solidFill>
                  <a:srgbClr val="000000"/>
                </a:solidFill>
                <a:cs typeface="Courier New" panose="02070309020205020404" pitchFamily="49" charset="0"/>
              </a:rPr>
              <a:t>选</a:t>
            </a:r>
            <a:r>
              <a:rPr lang="en-US" altLang="zh-CN" dirty="0" smtClean="0">
                <a:solidFill>
                  <a:srgbClr val="000000"/>
                </a:solidFill>
                <a:cs typeface="Courier New" panose="02070309020205020404" pitchFamily="49" charset="0"/>
              </a:rPr>
              <a:t>1</a:t>
            </a:r>
            <a:r>
              <a:rPr lang="zh-CN" altLang="en-US" dirty="0" smtClean="0">
                <a:solidFill>
                  <a:srgbClr val="000000"/>
                </a:solidFill>
                <a:cs typeface="Courier New" panose="02070309020205020404" pitchFamily="49" charset="0"/>
              </a:rPr>
              <a:t>的</a:t>
            </a:r>
            <a:r>
              <a:rPr lang="en-US" altLang="zh-CN" dirty="0" smtClean="0">
                <a:solidFill>
                  <a:srgbClr val="000000"/>
                </a:solidFill>
                <a:cs typeface="Courier New" panose="02070309020205020404" pitchFamily="49" charset="0"/>
              </a:rPr>
              <a:t>MUX</a:t>
            </a:r>
            <a:r>
              <a:rPr lang="zh-CN" altLang="en-US" dirty="0" smtClean="0">
                <a:solidFill>
                  <a:srgbClr val="000000"/>
                </a:solidFill>
                <a:cs typeface="Courier New" panose="02070309020205020404" pitchFamily="49" charset="0"/>
              </a:rPr>
              <a:t>。</a:t>
            </a:r>
            <a:endParaRPr lang="en-US" altLang="zh-CN" dirty="0" smtClean="0">
              <a:solidFill>
                <a:srgbClr val="000000"/>
              </a:solidFill>
              <a:cs typeface="Courier New" panose="02070309020205020404" pitchFamily="49" charset="0"/>
            </a:endParaRPr>
          </a:p>
          <a:p>
            <a:r>
              <a:rPr lang="zh-CN" altLang="en-US" dirty="0" smtClean="0">
                <a:solidFill>
                  <a:srgbClr val="000000"/>
                </a:solidFill>
                <a:cs typeface="Courier New" panose="02070309020205020404" pitchFamily="49" charset="0"/>
              </a:rPr>
              <a:t>也可以用行为描述，样例代码：</a:t>
            </a:r>
            <a:endParaRPr lang="en-US" altLang="zh-CN" dirty="0" smtClean="0">
              <a:solidFill>
                <a:srgbClr val="000000"/>
              </a:solidFill>
              <a:cs typeface="Courier New" panose="02070309020205020404" pitchFamily="49" charset="0"/>
            </a:endParaRPr>
          </a:p>
          <a:p>
            <a:pPr marL="0" indent="0">
              <a:buNone/>
            </a:pPr>
            <a:r>
              <a:rPr lang="en-US" altLang="zh-CN" sz="2000" dirty="0" smtClean="0">
                <a:solidFill>
                  <a:srgbClr val="000000"/>
                </a:solidFill>
                <a:latin typeface="+mn-ea"/>
                <a:ea typeface="+mn-ea"/>
                <a:cs typeface="Courier New" panose="02070309020205020404" pitchFamily="49" charset="0"/>
              </a:rPr>
              <a:t>assign </a:t>
            </a:r>
            <a:r>
              <a:rPr lang="en-US" altLang="zh-CN" sz="2000" dirty="0" err="1" smtClean="0">
                <a:solidFill>
                  <a:srgbClr val="000000"/>
                </a:solidFill>
                <a:latin typeface="+mn-ea"/>
                <a:ea typeface="+mn-ea"/>
                <a:cs typeface="Courier New" panose="02070309020205020404" pitchFamily="49" charset="0"/>
              </a:rPr>
              <a:t>DOut</a:t>
            </a:r>
            <a:r>
              <a:rPr lang="en-US" altLang="zh-CN" sz="2000" dirty="0" smtClean="0">
                <a:solidFill>
                  <a:srgbClr val="000000"/>
                </a:solidFill>
                <a:latin typeface="+mn-ea"/>
                <a:ea typeface="+mn-ea"/>
                <a:cs typeface="Courier New" panose="02070309020205020404" pitchFamily="49" charset="0"/>
              </a:rPr>
              <a:t> = (</a:t>
            </a:r>
            <a:r>
              <a:rPr lang="en-US" altLang="zh-CN" sz="2000" dirty="0" err="1" smtClean="0">
                <a:solidFill>
                  <a:srgbClr val="000000"/>
                </a:solidFill>
                <a:latin typeface="+mn-ea"/>
                <a:ea typeface="+mn-ea"/>
                <a:cs typeface="Courier New" panose="02070309020205020404" pitchFamily="49" charset="0"/>
              </a:rPr>
              <a:t>Sel</a:t>
            </a:r>
            <a:r>
              <a:rPr lang="en-US" altLang="zh-CN" sz="2000" dirty="0" smtClean="0">
                <a:solidFill>
                  <a:srgbClr val="000000"/>
                </a:solidFill>
                <a:latin typeface="+mn-ea"/>
                <a:ea typeface="+mn-ea"/>
                <a:cs typeface="Courier New" panose="02070309020205020404" pitchFamily="49" charset="0"/>
              </a:rPr>
              <a:t>==12) ? {16’b0, </a:t>
            </a:r>
            <a:r>
              <a:rPr lang="en-US" altLang="zh-CN" sz="2000" dirty="0" err="1" smtClean="0">
                <a:solidFill>
                  <a:srgbClr val="000000"/>
                </a:solidFill>
                <a:latin typeface="+mn-ea"/>
                <a:ea typeface="+mn-ea"/>
                <a:cs typeface="Courier New" panose="02070309020205020404" pitchFamily="49" charset="0"/>
              </a:rPr>
              <a:t>im</a:t>
            </a:r>
            <a:r>
              <a:rPr lang="en-US" altLang="zh-CN" sz="2000" dirty="0" smtClean="0">
                <a:solidFill>
                  <a:srgbClr val="000000"/>
                </a:solidFill>
                <a:latin typeface="+mn-ea"/>
                <a:ea typeface="+mn-ea"/>
                <a:cs typeface="Courier New" panose="02070309020205020404" pitchFamily="49" charset="0"/>
              </a:rPr>
              <a:t>, 8’b0, </a:t>
            </a:r>
            <a:r>
              <a:rPr lang="en-US" altLang="zh-CN" sz="2000" dirty="0" err="1" smtClean="0">
                <a:solidFill>
                  <a:srgbClr val="000000"/>
                </a:solidFill>
                <a:latin typeface="+mn-ea"/>
                <a:ea typeface="+mn-ea"/>
                <a:cs typeface="Courier New" panose="02070309020205020404" pitchFamily="49" charset="0"/>
              </a:rPr>
              <a:t>exl</a:t>
            </a:r>
            <a:r>
              <a:rPr lang="en-US" altLang="zh-CN" sz="2000" dirty="0" smtClean="0">
                <a:solidFill>
                  <a:srgbClr val="000000"/>
                </a:solidFill>
                <a:latin typeface="+mn-ea"/>
                <a:ea typeface="+mn-ea"/>
                <a:cs typeface="Courier New" panose="02070309020205020404" pitchFamily="49" charset="0"/>
              </a:rPr>
              <a:t>, </a:t>
            </a:r>
            <a:r>
              <a:rPr lang="en-US" altLang="zh-CN" sz="2000" dirty="0" err="1" smtClean="0">
                <a:solidFill>
                  <a:srgbClr val="000000"/>
                </a:solidFill>
                <a:latin typeface="+mn-ea"/>
                <a:ea typeface="+mn-ea"/>
                <a:cs typeface="Courier New" panose="02070309020205020404" pitchFamily="49" charset="0"/>
              </a:rPr>
              <a:t>ie</a:t>
            </a:r>
            <a:r>
              <a:rPr lang="en-US" altLang="zh-CN" sz="2000" dirty="0" smtClean="0">
                <a:solidFill>
                  <a:srgbClr val="000000"/>
                </a:solidFill>
                <a:latin typeface="+mn-ea"/>
                <a:ea typeface="+mn-ea"/>
                <a:cs typeface="Courier New" panose="02070309020205020404" pitchFamily="49" charset="0"/>
              </a:rPr>
              <a:t>} </a:t>
            </a:r>
            <a:r>
              <a:rPr lang="zh-CN" altLang="en-US" sz="2000" dirty="0" smtClean="0">
                <a:solidFill>
                  <a:srgbClr val="000000"/>
                </a:solidFill>
                <a:latin typeface="+mn-ea"/>
                <a:ea typeface="+mn-ea"/>
                <a:cs typeface="Courier New" panose="02070309020205020404" pitchFamily="49" charset="0"/>
              </a:rPr>
              <a:t>：</a:t>
            </a:r>
            <a:endParaRPr lang="en-US" altLang="zh-CN" sz="2000" dirty="0" smtClean="0">
              <a:solidFill>
                <a:srgbClr val="000000"/>
              </a:solidFill>
              <a:latin typeface="+mn-ea"/>
              <a:ea typeface="+mn-ea"/>
              <a:cs typeface="Courier New" panose="02070309020205020404" pitchFamily="49" charset="0"/>
            </a:endParaRPr>
          </a:p>
          <a:p>
            <a:pPr marL="0" indent="0">
              <a:buNone/>
            </a:pPr>
            <a:r>
              <a:rPr lang="en-US" altLang="zh-CN" sz="2000" dirty="0" smtClean="0">
                <a:solidFill>
                  <a:srgbClr val="000000"/>
                </a:solidFill>
                <a:latin typeface="Courier New" panose="02070309020205020404" pitchFamily="49" charset="0"/>
                <a:cs typeface="Courier New" panose="02070309020205020404" pitchFamily="49" charset="0"/>
              </a:rPr>
              <a:t>              XXXXXXXXXXXXXXXXXXXXXXXXXXXXXXXXXXXXXX :</a:t>
            </a:r>
          </a:p>
          <a:p>
            <a:pPr marL="0" indent="0">
              <a:buNone/>
            </a:pPr>
            <a:r>
              <a:rPr lang="en-US" altLang="zh-CN" sz="2000" dirty="0" smtClean="0">
                <a:solidFill>
                  <a:srgbClr val="000000"/>
                </a:solidFill>
                <a:latin typeface="Courier New" panose="02070309020205020404" pitchFamily="49" charset="0"/>
                <a:cs typeface="Courier New" panose="02070309020205020404" pitchFamily="49" charset="0"/>
              </a:rPr>
              <a:t>              XXXXXXXXXXXXXXXXXXXXXXXXXXXXXXXXXXXXXX :</a:t>
            </a:r>
          </a:p>
          <a:p>
            <a:pPr marL="0" indent="0">
              <a:buNone/>
            </a:pPr>
            <a:r>
              <a:rPr lang="en-US" altLang="zh-CN" sz="2000" dirty="0" smtClean="0">
                <a:solidFill>
                  <a:srgbClr val="000000"/>
                </a:solidFill>
                <a:latin typeface="Courier New" panose="02070309020205020404" pitchFamily="49" charset="0"/>
                <a:cs typeface="Courier New" panose="02070309020205020404" pitchFamily="49" charset="0"/>
              </a:rPr>
              <a:t>              XXXXXXXXXXXXXXXXXXXXXXXXXXXXXXXXXXXXXX :</a:t>
            </a:r>
          </a:p>
          <a:p>
            <a:pPr marL="0" indent="0">
              <a:buNone/>
            </a:pPr>
            <a:r>
              <a:rPr lang="en-US" altLang="zh-CN" sz="2000" dirty="0" smtClean="0">
                <a:solidFill>
                  <a:srgbClr val="000000"/>
                </a:solidFill>
                <a:latin typeface="Courier New" panose="02070309020205020404" pitchFamily="49" charset="0"/>
                <a:cs typeface="Courier New" panose="02070309020205020404" pitchFamily="49" charset="0"/>
              </a:rPr>
              <a:t>              32’b0 ;</a:t>
            </a:r>
          </a:p>
          <a:p>
            <a:endParaRPr lang="en-US" altLang="zh-CN" dirty="0">
              <a:solidFill>
                <a:srgbClr val="000000"/>
              </a:solidFill>
              <a:cs typeface="Courier New" panose="02070309020205020404" pitchFamily="49" charset="0"/>
            </a:endParaRPr>
          </a:p>
        </p:txBody>
      </p:sp>
      <p:sp>
        <p:nvSpPr>
          <p:cNvPr id="4" name="矩形 3"/>
          <p:cNvSpPr/>
          <p:nvPr/>
        </p:nvSpPr>
        <p:spPr>
          <a:xfrm>
            <a:off x="1448759" y="4976775"/>
            <a:ext cx="8533123" cy="353943"/>
          </a:xfrm>
          <a:prstGeom prst="rect">
            <a:avLst/>
          </a:prstGeom>
        </p:spPr>
        <p:txBody>
          <a:bodyPr wrap="square">
            <a:spAutoFit/>
          </a:bodyPr>
          <a:lstStyle/>
          <a:p>
            <a:pPr>
              <a:buNone/>
            </a:pPr>
            <a:r>
              <a:rPr kumimoji="1" lang="en-US" altLang="zh-CN" sz="2000" dirty="0">
                <a:solidFill>
                  <a:schemeClr val="tx1"/>
                </a:solidFill>
              </a:rPr>
              <a:t>p = </a:t>
            </a:r>
            <a:r>
              <a:rPr kumimoji="1" lang="en-US" altLang="zh-CN" sz="2000" dirty="0" err="1" smtClean="0">
                <a:solidFill>
                  <a:schemeClr val="tx1"/>
                </a:solidFill>
              </a:rPr>
              <a:t>sel</a:t>
            </a:r>
            <a:r>
              <a:rPr kumimoji="1" lang="en-US" altLang="zh-CN" sz="2000" dirty="0" smtClean="0">
                <a:solidFill>
                  <a:schemeClr val="tx1"/>
                </a:solidFill>
              </a:rPr>
              <a:t>==</a:t>
            </a:r>
            <a:r>
              <a:rPr kumimoji="1" lang="en-US" altLang="zh-CN" sz="2000" dirty="0">
                <a:solidFill>
                  <a:schemeClr val="tx1"/>
                </a:solidFill>
              </a:rPr>
              <a:t> </a:t>
            </a:r>
            <a:r>
              <a:rPr kumimoji="1" lang="en-US" altLang="zh-CN" sz="2000" dirty="0" smtClean="0">
                <a:solidFill>
                  <a:schemeClr val="tx1"/>
                </a:solidFill>
              </a:rPr>
              <a:t>12</a:t>
            </a:r>
            <a:r>
              <a:rPr kumimoji="1" lang="en-US" altLang="zh-CN" sz="2000" dirty="0">
                <a:solidFill>
                  <a:schemeClr val="tx1"/>
                </a:solidFill>
              </a:rPr>
              <a:t> ? </a:t>
            </a:r>
            <a:r>
              <a:rPr kumimoji="1" lang="en-US" altLang="zh-CN" sz="2000" dirty="0" smtClean="0">
                <a:solidFill>
                  <a:schemeClr val="tx1"/>
                </a:solidFill>
              </a:rPr>
              <a:t>“XXX”</a:t>
            </a:r>
            <a:r>
              <a:rPr kumimoji="1" lang="en-US" altLang="zh-CN" sz="2000" dirty="0">
                <a:solidFill>
                  <a:schemeClr val="tx1"/>
                </a:solidFill>
              </a:rPr>
              <a:t> : </a:t>
            </a:r>
            <a:r>
              <a:rPr kumimoji="1" lang="en-US" altLang="zh-CN" sz="2000" dirty="0" smtClean="0">
                <a:solidFill>
                  <a:schemeClr val="tx1"/>
                </a:solidFill>
              </a:rPr>
              <a:t>((</a:t>
            </a:r>
            <a:r>
              <a:rPr kumimoji="1" lang="en-US" altLang="zh-CN" sz="2000" dirty="0" err="1" smtClean="0">
                <a:solidFill>
                  <a:schemeClr val="tx1"/>
                </a:solidFill>
              </a:rPr>
              <a:t>sel</a:t>
            </a:r>
            <a:r>
              <a:rPr kumimoji="1" lang="en-US" altLang="zh-CN" sz="2000" dirty="0">
                <a:solidFill>
                  <a:schemeClr val="tx1"/>
                </a:solidFill>
              </a:rPr>
              <a:t> == </a:t>
            </a:r>
            <a:r>
              <a:rPr kumimoji="1" lang="en-US" altLang="zh-CN" sz="2000" dirty="0" smtClean="0">
                <a:solidFill>
                  <a:schemeClr val="tx1"/>
                </a:solidFill>
              </a:rPr>
              <a:t>13)</a:t>
            </a:r>
            <a:r>
              <a:rPr kumimoji="1" lang="en-US" altLang="zh-CN" sz="2000" dirty="0">
                <a:solidFill>
                  <a:schemeClr val="tx1"/>
                </a:solidFill>
              </a:rPr>
              <a:t> ? </a:t>
            </a:r>
            <a:r>
              <a:rPr kumimoji="1" lang="en-US" altLang="zh-CN" sz="2000" dirty="0" smtClean="0">
                <a:solidFill>
                  <a:schemeClr val="tx1"/>
                </a:solidFill>
              </a:rPr>
              <a:t>“YYY”</a:t>
            </a:r>
            <a:r>
              <a:rPr kumimoji="1" lang="en-US" altLang="zh-CN" sz="2000" dirty="0">
                <a:solidFill>
                  <a:schemeClr val="tx1"/>
                </a:solidFill>
              </a:rPr>
              <a:t> : </a:t>
            </a:r>
            <a:r>
              <a:rPr kumimoji="1" lang="en-US" altLang="zh-CN" sz="2000" dirty="0" smtClean="0">
                <a:solidFill>
                  <a:schemeClr val="tx1"/>
                </a:solidFill>
              </a:rPr>
              <a:t>32’b0);</a:t>
            </a:r>
            <a:endParaRPr lang="zh-CN" altLang="en-US" sz="2000" dirty="0"/>
          </a:p>
        </p:txBody>
      </p:sp>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smtClean="0">
                <a:sym typeface="+mn-ea"/>
              </a:rPr>
              <a:t>5.4 CP0</a:t>
            </a:r>
            <a:r>
              <a:rPr lang="zh-CN" altLang="en-US" dirty="0" smtClean="0">
                <a:sym typeface="+mn-ea"/>
              </a:rPr>
              <a:t>设计</a:t>
            </a:r>
            <a:r>
              <a:rPr lang="en-US" altLang="zh-CN" dirty="0" smtClean="0">
                <a:sym typeface="+mn-ea"/>
              </a:rPr>
              <a:t>--</a:t>
            </a:r>
            <a:r>
              <a:rPr lang="zh-CN" altLang="en-US" dirty="0" smtClean="0">
                <a:sym typeface="+mn-ea"/>
              </a:rPr>
              <a:t>输出</a:t>
            </a:r>
            <a:r>
              <a:rPr lang="en-US" altLang="zh-CN" dirty="0" smtClean="0">
                <a:sym typeface="+mn-ea"/>
              </a:rPr>
              <a:t>CP0</a:t>
            </a:r>
            <a:r>
              <a:rPr lang="zh-CN" altLang="en-US" dirty="0" smtClean="0">
                <a:sym typeface="+mn-ea"/>
              </a:rPr>
              <a:t>寄存器</a:t>
            </a:r>
            <a:endParaRPr lang="zh-CN" altLang="en-US" dirty="0" smtClean="0"/>
          </a:p>
          <a:p>
            <a:pPr indent="0">
              <a:buNone/>
            </a:pPr>
            <a:endParaRPr lang="zh-CN" altLang="en-US" dirty="0"/>
          </a:p>
          <a:p>
            <a:pPr indent="0">
              <a:buNone/>
            </a:pPr>
            <a:endParaRPr lang="zh-CN" alt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021320ed-6230-4f10-8d3e-999541f6565a}"/>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f4188e85-8fc4-493f-84c3-53eeea37e058}"/>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369f2645-c6c8-49bf-b613-2a775847cf7a}"/>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6F5BD"/>
        </a:solidFill>
        <a:ln w="12700">
          <a:solidFill>
            <a:schemeClr val="tx1"/>
          </a:solidFill>
          <a:miter lim="800000"/>
        </a:ln>
      </a:spPr>
      <a:bodyPr lIns="90487" tIns="44450" rIns="90487" bIns="44450">
        <a:spAutoFit/>
      </a:bodyPr>
      <a:lstStyle>
        <a:defPPr>
          <a:lnSpc>
            <a:spcPct val="100000"/>
          </a:lnSpc>
          <a:buNone/>
          <a:tabLst>
            <a:tab pos="292100" algn="l"/>
          </a:tabLst>
          <a:defRPr dirty="0">
            <a:latin typeface="Courier New" panose="02070309020205020404" pitchFamily="49"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accent1"/>
            </a:solidFill>
            <a:effectLst/>
            <a:latin typeface="Arial" panose="020B0604020202020204" pitchFamily="34" charset="0"/>
          </a:defRPr>
        </a:defPPr>
      </a:lstStyle>
    </a:lnDef>
    <a:txDef>
      <a:spPr>
        <a:noFill/>
      </a:spPr>
      <a:bodyPr wrap="square" rtlCol="0">
        <a:spAutoFit/>
      </a:bodyPr>
      <a:lstStyle>
        <a:defPPr>
          <a:buNone/>
          <a:defRPr dirty="0">
            <a:latin typeface="Calibri" panose="020F0502020204030204" pitchFamily="34" charset="0"/>
          </a:defRPr>
        </a:defPPr>
      </a:lstStyle>
    </a:tx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940</TotalTime>
  <Pages>47</Pages>
  <Words>2858</Words>
  <Application>Microsoft Office PowerPoint</Application>
  <PresentationFormat>宽屏</PresentationFormat>
  <Paragraphs>485</Paragraphs>
  <Slides>32</Slides>
  <Notes>16</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32</vt:i4>
      </vt:variant>
    </vt:vector>
  </HeadingPairs>
  <TitlesOfParts>
    <vt:vector size="49" baseType="lpstr">
      <vt:lpstr>18 VAG Rounded Light   02390</vt:lpstr>
      <vt:lpstr>Arial Unicode MS</vt:lpstr>
      <vt:lpstr>Yu Gothic</vt:lpstr>
      <vt:lpstr>黑体</vt:lpstr>
      <vt:lpstr>华文楷体</vt:lpstr>
      <vt:lpstr>楷体_GB2312</vt:lpstr>
      <vt:lpstr>宋体</vt:lpstr>
      <vt:lpstr>微软雅黑</vt:lpstr>
      <vt:lpstr>Arial</vt:lpstr>
      <vt:lpstr>Calibri</vt:lpstr>
      <vt:lpstr>Cambria</vt:lpstr>
      <vt:lpstr>Courier New</vt:lpstr>
      <vt:lpstr>Times New Roman</vt:lpstr>
      <vt:lpstr>Wingdings</vt:lpstr>
      <vt:lpstr>Wingdings 2</vt:lpstr>
      <vt:lpstr>CS152-SP98</vt:lpstr>
      <vt:lpstr>1_CS152-SP98</vt:lpstr>
      <vt:lpstr>计算机硬件基础 （2020级）</vt:lpstr>
      <vt:lpstr>PowerPoint 演示文稿</vt:lpstr>
      <vt:lpstr>5.1 MIPS中断/异常--Exceptions and Interrupts</vt:lpstr>
      <vt:lpstr>PowerPoint 演示文稿</vt:lpstr>
      <vt:lpstr>PowerPoint 演示文稿</vt:lpstr>
      <vt:lpstr>PowerPoint 演示文稿</vt:lpstr>
      <vt:lpstr>PowerPoint 演示文稿</vt:lpstr>
      <vt:lpstr>PowerPoint 演示文稿</vt:lpstr>
      <vt:lpstr>PowerPoint 演示文稿</vt:lpstr>
      <vt:lpstr>5.2 支持中断/异常的数据通路--增加EPC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BUAA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lxd</dc:creator>
  <dc:description>lecture 1</dc:description>
  <cp:lastModifiedBy>JWN</cp:lastModifiedBy>
  <cp:revision>434</cp:revision>
  <cp:lastPrinted>2015-10-29T05:44:00Z</cp:lastPrinted>
  <dcterms:created xsi:type="dcterms:W3CDTF">1997-08-19T16:58:00Z</dcterms:created>
  <dcterms:modified xsi:type="dcterms:W3CDTF">2021-11-15T04:13:16Z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2052-11.1.0.9995</vt:lpwstr>
  </property>
</Properties>
</file>