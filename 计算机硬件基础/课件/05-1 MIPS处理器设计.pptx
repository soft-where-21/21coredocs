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2"/>
  </p:sldMasterIdLst>
  <p:notesMasterIdLst>
    <p:notesMasterId r:id="rId68"/>
  </p:notesMasterIdLst>
  <p:handoutMasterIdLst>
    <p:handoutMasterId r:id="rId69"/>
  </p:handoutMasterIdLst>
  <p:sldIdLst>
    <p:sldId id="1008" r:id="rId3"/>
    <p:sldId id="1066" r:id="rId4"/>
    <p:sldId id="1067" r:id="rId5"/>
    <p:sldId id="1068" r:id="rId6"/>
    <p:sldId id="1069" r:id="rId7"/>
    <p:sldId id="1070" r:id="rId8"/>
    <p:sldId id="1071" r:id="rId9"/>
    <p:sldId id="1072" r:id="rId10"/>
    <p:sldId id="1073" r:id="rId11"/>
    <p:sldId id="1074" r:id="rId12"/>
    <p:sldId id="1076" r:id="rId13"/>
    <p:sldId id="1077" r:id="rId14"/>
    <p:sldId id="1078" r:id="rId15"/>
    <p:sldId id="1079" r:id="rId16"/>
    <p:sldId id="1080" r:id="rId17"/>
    <p:sldId id="1081" r:id="rId18"/>
    <p:sldId id="1082" r:id="rId19"/>
    <p:sldId id="1083" r:id="rId20"/>
    <p:sldId id="1084" r:id="rId21"/>
    <p:sldId id="1085" r:id="rId22"/>
    <p:sldId id="1086" r:id="rId23"/>
    <p:sldId id="1087" r:id="rId24"/>
    <p:sldId id="1088" r:id="rId25"/>
    <p:sldId id="1089" r:id="rId26"/>
    <p:sldId id="1090" r:id="rId27"/>
    <p:sldId id="1091" r:id="rId28"/>
    <p:sldId id="1092" r:id="rId29"/>
    <p:sldId id="1093" r:id="rId30"/>
    <p:sldId id="1094" r:id="rId31"/>
    <p:sldId id="1095" r:id="rId32"/>
    <p:sldId id="1096" r:id="rId33"/>
    <p:sldId id="1097" r:id="rId34"/>
    <p:sldId id="1098" r:id="rId35"/>
    <p:sldId id="1099" r:id="rId36"/>
    <p:sldId id="1100" r:id="rId37"/>
    <p:sldId id="1101" r:id="rId38"/>
    <p:sldId id="1102" r:id="rId39"/>
    <p:sldId id="1103" r:id="rId40"/>
    <p:sldId id="1104" r:id="rId41"/>
    <p:sldId id="1105" r:id="rId42"/>
    <p:sldId id="1106" r:id="rId43"/>
    <p:sldId id="1107" r:id="rId44"/>
    <p:sldId id="1108" r:id="rId45"/>
    <p:sldId id="1109" r:id="rId46"/>
    <p:sldId id="1110" r:id="rId47"/>
    <p:sldId id="1111" r:id="rId48"/>
    <p:sldId id="1112" r:id="rId49"/>
    <p:sldId id="1113" r:id="rId50"/>
    <p:sldId id="1114" r:id="rId51"/>
    <p:sldId id="1115" r:id="rId52"/>
    <p:sldId id="1116" r:id="rId53"/>
    <p:sldId id="1117" r:id="rId54"/>
    <p:sldId id="1118" r:id="rId55"/>
    <p:sldId id="1119" r:id="rId56"/>
    <p:sldId id="1120" r:id="rId57"/>
    <p:sldId id="1121" r:id="rId58"/>
    <p:sldId id="1124" r:id="rId59"/>
    <p:sldId id="1125" r:id="rId60"/>
    <p:sldId id="1126" r:id="rId61"/>
    <p:sldId id="1127" r:id="rId62"/>
    <p:sldId id="1128" r:id="rId63"/>
    <p:sldId id="1129" r:id="rId64"/>
    <p:sldId id="1130" r:id="rId65"/>
    <p:sldId id="1131" r:id="rId66"/>
    <p:sldId id="1132" r:id="rId67"/>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51">
          <p15:clr>
            <a:srgbClr val="A4A3A4"/>
          </p15:clr>
        </p15:guide>
      </p15:sldGuideLst>
    </p:ext>
    <p:ext uri="{2D200454-40CA-4A62-9FC3-DE9A4176ACB9}">
      <p15:notesGuideLst xmlns:p15="http://schemas.microsoft.com/office/powerpoint/2012/main">
        <p15:guide id="1" orient="horz" pos="2884">
          <p15:clr>
            <a:srgbClr val="A4A3A4"/>
          </p15:clr>
        </p15:guide>
        <p15:guide id="2" pos="2242">
          <p15:clr>
            <a:srgbClr val="A4A3A4"/>
          </p15:clr>
        </p15:guide>
        <p15:guide id="3" orient="horz" pos="322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D"/>
    <a:srgbClr val="F9FDC7"/>
    <a:srgbClr val="000099"/>
    <a:srgbClr val="535CA1"/>
    <a:srgbClr val="DDDDDD"/>
    <a:srgbClr val="EAEAEA"/>
    <a:srgbClr val="FFDA3F"/>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94" autoAdjust="0"/>
    <p:restoredTop sz="95701" autoAdjust="0"/>
  </p:normalViewPr>
  <p:slideViewPr>
    <p:cSldViewPr>
      <p:cViewPr varScale="1">
        <p:scale>
          <a:sx n="93" d="100"/>
          <a:sy n="93" d="100"/>
        </p:scale>
        <p:origin x="240" y="424"/>
      </p:cViewPr>
      <p:guideLst>
        <p:guide orient="horz" pos="2160"/>
        <p:guide pos="3851"/>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884"/>
        <p:guide pos="2242"/>
        <p:guide orient="horz" pos="322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2455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ln>
          <a:effectLst/>
        </p:spPr>
        <p:txBody>
          <a:bodyPr vert="horz" wrap="square" lIns="98007" tIns="48144" rIns="98007" bIns="48144" numCol="1" anchor="t" anchorCtr="0" compatLnSpc="1"/>
          <a:lstStyle/>
          <a:p>
            <a:pPr lvl="0"/>
            <a:r>
              <a:rPr lang="en-US" altLang="zh-CN"/>
              <a:t>We want this to be in font 11 and justify.</a:t>
            </a:r>
          </a:p>
        </p:txBody>
      </p:sp>
    </p:spTree>
    <p:extLst>
      <p:ext uri="{BB962C8B-B14F-4D97-AF65-F5344CB8AC3E}">
        <p14:creationId xmlns:p14="http://schemas.microsoft.com/office/powerpoint/2010/main" val="1968892674"/>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012944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Rot="1" noChangeAspect="1" noChangeArrowheads="1" noTextEdit="1"/>
          </p:cNvSpPr>
          <p:nvPr>
            <p:ph type="sldImg"/>
          </p:nvPr>
        </p:nvSpPr>
        <p:spPr/>
      </p:sp>
      <p:sp>
        <p:nvSpPr>
          <p:cNvPr id="513027"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4124625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Rot="1" noChangeAspect="1" noChangeArrowheads="1" noTextEdit="1"/>
          </p:cNvSpPr>
          <p:nvPr>
            <p:ph type="sldImg"/>
          </p:nvPr>
        </p:nvSpPr>
        <p:spPr/>
      </p:sp>
      <p:sp>
        <p:nvSpPr>
          <p:cNvPr id="509955" name="Rectangle 3"/>
          <p:cNvSpPr>
            <a:spLocks noGrp="1" noChangeArrowheads="1"/>
          </p:cNvSpPr>
          <p:nvPr>
            <p:ph type="body" idx="1"/>
          </p:nvPr>
        </p:nvSpPr>
        <p:spPr/>
        <p:txBody>
          <a:bodyPr/>
          <a:lstStyle/>
          <a:p>
            <a:r>
              <a:rPr lang="en-US" altLang="zh-CN" dirty="0"/>
              <a:t>MAR</a:t>
            </a:r>
            <a:r>
              <a:rPr lang="zh-CN" altLang="en-US" dirty="0"/>
              <a:t>：</a:t>
            </a:r>
            <a:r>
              <a:rPr lang="en-US" altLang="zh-CN" dirty="0"/>
              <a:t>Memory Address Register</a:t>
            </a:r>
            <a:endParaRPr lang="zh-CN" altLang="en-US" dirty="0"/>
          </a:p>
        </p:txBody>
      </p:sp>
    </p:spTree>
    <p:extLst>
      <p:ext uri="{BB962C8B-B14F-4D97-AF65-F5344CB8AC3E}">
        <p14:creationId xmlns:p14="http://schemas.microsoft.com/office/powerpoint/2010/main" val="1290947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Rot="1" noChangeAspect="1" noChangeArrowheads="1" noTextEdit="1"/>
          </p:cNvSpPr>
          <p:nvPr>
            <p:ph type="sldImg"/>
          </p:nvPr>
        </p:nvSpPr>
        <p:spPr/>
      </p:sp>
      <p:sp>
        <p:nvSpPr>
          <p:cNvPr id="512003"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715080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spect="1" noChangeArrowheads="1" noTextEdit="1"/>
          </p:cNvSpPr>
          <p:nvPr>
            <p:ph type="sldImg"/>
          </p:nvPr>
        </p:nvSpPr>
        <p:spPr/>
      </p:sp>
      <p:sp>
        <p:nvSpPr>
          <p:cNvPr id="510979" name="Rectangle 3"/>
          <p:cNvSpPr>
            <a:spLocks noGrp="1" noChangeArrowheads="1"/>
          </p:cNvSpPr>
          <p:nvPr>
            <p:ph type="body" idx="1"/>
          </p:nvPr>
        </p:nvSpPr>
        <p:spPr/>
        <p:txBody>
          <a:bodyPr/>
          <a:lstStyle/>
          <a:p>
            <a:r>
              <a:rPr lang="en-US" altLang="zh-CN" dirty="0">
                <a:ea typeface="+mn-ea"/>
              </a:rPr>
              <a:t>CPU</a:t>
            </a:r>
            <a:r>
              <a:rPr lang="zh-CN" altLang="en-US" dirty="0">
                <a:ea typeface="+mn-ea"/>
              </a:rPr>
              <a:t>指令执行可类比于厨师做菜：先看客户点订单（指令），然后配菜，切菜，炒菜，装盘，送菜（存结果），整个过程构成了</a:t>
            </a:r>
            <a:r>
              <a:rPr lang="en-US" altLang="zh-CN" dirty="0" err="1">
                <a:ea typeface="+mn-ea"/>
              </a:rPr>
              <a:t>datapath</a:t>
            </a:r>
            <a:endParaRPr lang="zh-CN" altLang="en-US" dirty="0"/>
          </a:p>
        </p:txBody>
      </p:sp>
    </p:spTree>
    <p:extLst>
      <p:ext uri="{BB962C8B-B14F-4D97-AF65-F5344CB8AC3E}">
        <p14:creationId xmlns:p14="http://schemas.microsoft.com/office/powerpoint/2010/main" val="339352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spect="1" noChangeArrowheads="1" noTextEdit="1"/>
          </p:cNvSpPr>
          <p:nvPr>
            <p:ph type="sldImg"/>
          </p:nvPr>
        </p:nvSpPr>
        <p:spPr/>
      </p:sp>
      <p:sp>
        <p:nvSpPr>
          <p:cNvPr id="510979" name="Rectangle 3"/>
          <p:cNvSpPr>
            <a:spLocks noGrp="1" noChangeArrowheads="1"/>
          </p:cNvSpPr>
          <p:nvPr>
            <p:ph type="body" idx="1"/>
          </p:nvPr>
        </p:nvSpPr>
        <p:spPr/>
        <p:txBody>
          <a:bodyPr/>
          <a:lstStyle/>
          <a:p>
            <a:r>
              <a:rPr lang="en-US" altLang="zh-CN" sz="1200" i="1" dirty="0"/>
              <a:t>IBR</a:t>
            </a:r>
            <a:r>
              <a:rPr lang="en-US" altLang="zh-CN" dirty="0">
                <a:effectLst/>
              </a:rPr>
              <a:t> (</a:t>
            </a:r>
            <a:r>
              <a:rPr lang="en-US" altLang="zh-CN" sz="1200" i="1" dirty="0"/>
              <a:t>Instruction</a:t>
            </a:r>
            <a:r>
              <a:rPr lang="en-US" altLang="zh-CN" dirty="0">
                <a:effectLst/>
              </a:rPr>
              <a:t> buffer </a:t>
            </a:r>
            <a:r>
              <a:rPr lang="en-US" altLang="zh-CN" sz="1200" i="1" dirty="0"/>
              <a:t>register</a:t>
            </a:r>
            <a:r>
              <a:rPr lang="en-US" altLang="zh-CN" dirty="0">
                <a:effectLst/>
              </a:rPr>
              <a:t>). Memory Buffer </a:t>
            </a:r>
            <a:r>
              <a:rPr lang="en-US" altLang="zh-CN" sz="1200" i="1" dirty="0"/>
              <a:t>Register</a:t>
            </a:r>
            <a:r>
              <a:rPr lang="en-US" altLang="zh-CN" dirty="0">
                <a:effectLst/>
              </a:rPr>
              <a:t> (</a:t>
            </a:r>
            <a:r>
              <a:rPr lang="en-US" altLang="zh-CN" sz="1200" i="1" dirty="0"/>
              <a:t>MBR</a:t>
            </a:r>
            <a:r>
              <a:rPr lang="en-US" altLang="zh-CN" dirty="0">
                <a:effectLst/>
              </a:rPr>
              <a:t>)</a:t>
            </a:r>
          </a:p>
          <a:p>
            <a:r>
              <a:rPr lang="zh-CN" altLang="en-US" sz="1200" dirty="0"/>
              <a:t>存储器地址寄存器</a:t>
            </a:r>
            <a:r>
              <a:rPr lang="en-US" altLang="zh-CN" sz="1200" dirty="0"/>
              <a:t>(</a:t>
            </a:r>
            <a:r>
              <a:rPr lang="en-US" altLang="zh-CN" sz="1200" i="1" dirty="0"/>
              <a:t>MAR</a:t>
            </a:r>
            <a:r>
              <a:rPr lang="en-US" altLang="zh-CN" sz="1200" dirty="0"/>
              <a:t>)</a:t>
            </a:r>
            <a:r>
              <a:rPr lang="zh-CN" altLang="en-US" sz="1200" dirty="0"/>
              <a:t>和存储器数据寄存器</a:t>
            </a:r>
            <a:r>
              <a:rPr lang="en-US" altLang="zh-CN" sz="1200" dirty="0"/>
              <a:t>(MDR)</a:t>
            </a:r>
            <a:r>
              <a:rPr lang="zh-CN" altLang="en-US" sz="1200" dirty="0"/>
              <a:t>。</a:t>
            </a:r>
            <a:r>
              <a:rPr lang="en-US" altLang="zh-CN" sz="1200" dirty="0"/>
              <a:t>AC-MQ</a:t>
            </a:r>
            <a:r>
              <a:rPr lang="zh-CN" altLang="en-US" sz="1200" dirty="0"/>
              <a:t>为乘商寄存器（乘积或商与余数）</a:t>
            </a:r>
            <a:endParaRPr lang="zh-CN" altLang="en-US" dirty="0"/>
          </a:p>
        </p:txBody>
      </p:sp>
    </p:spTree>
    <p:extLst>
      <p:ext uri="{BB962C8B-B14F-4D97-AF65-F5344CB8AC3E}">
        <p14:creationId xmlns:p14="http://schemas.microsoft.com/office/powerpoint/2010/main" val="2534342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66275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603199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4197850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ADDI</a:t>
            </a:r>
            <a:r>
              <a:rPr lang="zh-CN" altLang="en-US" dirty="0"/>
              <a:t>：</a:t>
            </a:r>
            <a:r>
              <a:rPr lang="en-US" altLang="zh-CN" sz="1200" dirty="0" err="1"/>
              <a:t>rt</a:t>
            </a:r>
            <a:r>
              <a:rPr lang="en-US" altLang="zh-CN" sz="1200" dirty="0"/>
              <a:t> ← </a:t>
            </a:r>
            <a:r>
              <a:rPr lang="en-US" altLang="zh-CN" sz="1200" dirty="0" err="1"/>
              <a:t>rs</a:t>
            </a:r>
            <a:r>
              <a:rPr lang="en-US" altLang="zh-CN" sz="1200" dirty="0"/>
              <a:t> + immediate</a:t>
            </a:r>
            <a:r>
              <a:rPr lang="zh-CN" altLang="en-US" sz="1200" dirty="0"/>
              <a:t>； </a:t>
            </a:r>
            <a:r>
              <a:rPr lang="en-US" altLang="zh-CN" sz="1200" dirty="0" err="1"/>
              <a:t>addi</a:t>
            </a:r>
            <a:r>
              <a:rPr lang="en-US" altLang="zh-CN" sz="1200" dirty="0"/>
              <a:t> </a:t>
            </a:r>
            <a:r>
              <a:rPr lang="en-US" altLang="zh-CN" sz="1200" dirty="0" err="1"/>
              <a:t>rt,rs</a:t>
            </a:r>
            <a:r>
              <a:rPr lang="en-US" altLang="zh-CN" sz="1200" dirty="0"/>
              <a:t>, imm16</a:t>
            </a:r>
            <a:endParaRPr lang="zh-CN" altLang="en-US" dirty="0"/>
          </a:p>
        </p:txBody>
      </p:sp>
    </p:spTree>
    <p:extLst>
      <p:ext uri="{BB962C8B-B14F-4D97-AF65-F5344CB8AC3E}">
        <p14:creationId xmlns:p14="http://schemas.microsoft.com/office/powerpoint/2010/main" val="3030783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55140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LW</a:t>
            </a:r>
            <a:r>
              <a:rPr lang="zh-CN" altLang="en-US" dirty="0"/>
              <a:t>：</a:t>
            </a:r>
            <a:r>
              <a:rPr lang="en-US" altLang="zh-CN" sz="1200" dirty="0" err="1"/>
              <a:t>rt</a:t>
            </a:r>
            <a:r>
              <a:rPr lang="en-US" altLang="zh-CN" sz="1200" dirty="0"/>
              <a:t> ← memory[</a:t>
            </a:r>
            <a:r>
              <a:rPr lang="en-US" altLang="zh-CN" sz="1200" dirty="0" err="1"/>
              <a:t>rs+offset</a:t>
            </a:r>
            <a:r>
              <a:rPr lang="en-US" altLang="zh-CN" sz="1200" dirty="0"/>
              <a:t>] offset</a:t>
            </a:r>
            <a:r>
              <a:rPr lang="zh-CN" altLang="en-US" sz="1200" dirty="0"/>
              <a:t>是一个有符号数。</a:t>
            </a:r>
            <a:endParaRPr lang="en-US" altLang="zh-CN" dirty="0"/>
          </a:p>
          <a:p>
            <a:r>
              <a:rPr lang="en-US" altLang="zh-CN" dirty="0"/>
              <a:t>SW</a:t>
            </a:r>
            <a:r>
              <a:rPr lang="zh-CN" altLang="en-US" dirty="0"/>
              <a:t>：</a:t>
            </a:r>
            <a:r>
              <a:rPr lang="en-US" altLang="zh-CN" sz="1200" dirty="0"/>
              <a:t>memory[</a:t>
            </a:r>
            <a:r>
              <a:rPr lang="en-US" altLang="zh-CN" sz="1200" dirty="0" err="1"/>
              <a:t>rs+offset</a:t>
            </a:r>
            <a:r>
              <a:rPr lang="en-US" altLang="zh-CN" sz="1200" dirty="0"/>
              <a:t>] ← </a:t>
            </a:r>
            <a:r>
              <a:rPr lang="en-US" altLang="zh-CN" sz="1200" dirty="0" err="1"/>
              <a:t>rt</a:t>
            </a:r>
            <a:endParaRPr lang="en-US" altLang="zh-CN" sz="1200" dirty="0"/>
          </a:p>
          <a:p>
            <a:r>
              <a:rPr lang="en-US" altLang="zh-CN" sz="1200" dirty="0"/>
              <a:t>J target</a:t>
            </a:r>
            <a:r>
              <a:rPr lang="zh-CN" altLang="en-US" sz="1200" dirty="0"/>
              <a:t>：</a:t>
            </a:r>
            <a:r>
              <a:rPr lang="en-US" altLang="zh-CN" sz="1200" dirty="0"/>
              <a:t>To branch within the current 256 MB aligned region</a:t>
            </a:r>
            <a:endParaRPr lang="zh-CN" altLang="en-US" dirty="0"/>
          </a:p>
        </p:txBody>
      </p:sp>
    </p:spTree>
    <p:extLst>
      <p:ext uri="{BB962C8B-B14F-4D97-AF65-F5344CB8AC3E}">
        <p14:creationId xmlns:p14="http://schemas.microsoft.com/office/powerpoint/2010/main" val="369991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91392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写寄存器地址译码器：</a:t>
            </a:r>
            <a:r>
              <a:rPr lang="en-US" altLang="zh-CN" dirty="0"/>
              <a:t>5</a:t>
            </a:r>
            <a:r>
              <a:rPr lang="zh-CN" altLang="en-US" dirty="0"/>
              <a:t>线</a:t>
            </a:r>
            <a:r>
              <a:rPr lang="en-US" altLang="zh-CN" dirty="0"/>
              <a:t>-32</a:t>
            </a:r>
            <a:r>
              <a:rPr lang="zh-CN" altLang="en-US" dirty="0"/>
              <a:t>线译码器。</a:t>
            </a:r>
            <a:endParaRPr lang="en-US" altLang="zh-CN" dirty="0"/>
          </a:p>
          <a:p>
            <a:r>
              <a:rPr lang="zh-CN" altLang="en-US" dirty="0"/>
              <a:t>状态操作：电路（寄存器）状态发生变化，需要时钟控制信号触发</a:t>
            </a:r>
          </a:p>
        </p:txBody>
      </p:sp>
    </p:spTree>
    <p:extLst>
      <p:ext uri="{BB962C8B-B14F-4D97-AF65-F5344CB8AC3E}">
        <p14:creationId xmlns:p14="http://schemas.microsoft.com/office/powerpoint/2010/main" val="2081041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1855569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r>
              <a:rPr lang="en-US" altLang="zh-CN"/>
              <a:t>INC </a:t>
            </a:r>
            <a:r>
              <a:rPr lang="zh-CN" altLang="en-US"/>
              <a:t>加</a:t>
            </a:r>
            <a:r>
              <a:rPr lang="en-US" altLang="zh-CN"/>
              <a:t>1</a:t>
            </a:r>
            <a:r>
              <a:rPr lang="zh-CN" altLang="en-US"/>
              <a:t>指令</a:t>
            </a:r>
          </a:p>
          <a:p>
            <a:r>
              <a:rPr lang="en-US" altLang="zh-CN"/>
              <a:t>BRN </a:t>
            </a:r>
            <a:r>
              <a:rPr lang="zh-CN" altLang="en-US"/>
              <a:t>空操作</a:t>
            </a:r>
          </a:p>
        </p:txBody>
      </p:sp>
    </p:spTree>
    <p:extLst>
      <p:ext uri="{BB962C8B-B14F-4D97-AF65-F5344CB8AC3E}">
        <p14:creationId xmlns:p14="http://schemas.microsoft.com/office/powerpoint/2010/main" val="1257722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r>
              <a:rPr lang="en-US" altLang="zh-CN" dirty="0"/>
              <a:t>INC </a:t>
            </a:r>
            <a:r>
              <a:rPr lang="zh-CN" altLang="en-US" dirty="0"/>
              <a:t>加</a:t>
            </a:r>
            <a:r>
              <a:rPr lang="en-US" altLang="zh-CN" dirty="0"/>
              <a:t>1</a:t>
            </a:r>
            <a:r>
              <a:rPr lang="zh-CN" altLang="en-US" dirty="0"/>
              <a:t>指令</a:t>
            </a:r>
          </a:p>
          <a:p>
            <a:r>
              <a:rPr lang="en-US" altLang="zh-CN" dirty="0"/>
              <a:t>BRN </a:t>
            </a:r>
            <a:r>
              <a:rPr lang="zh-CN" altLang="en-US" dirty="0"/>
              <a:t>空操作</a:t>
            </a:r>
          </a:p>
        </p:txBody>
      </p:sp>
    </p:spTree>
    <p:extLst>
      <p:ext uri="{BB962C8B-B14F-4D97-AF65-F5344CB8AC3E}">
        <p14:creationId xmlns:p14="http://schemas.microsoft.com/office/powerpoint/2010/main" val="1148946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11235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98046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85893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Lw</a:t>
            </a:r>
            <a:r>
              <a:rPr lang="zh-CN" altLang="en-US" dirty="0"/>
              <a:t>指令中能否使用</a:t>
            </a:r>
            <a:r>
              <a:rPr lang="en-US" altLang="zh-CN" dirty="0" err="1"/>
              <a:t>rd</a:t>
            </a:r>
            <a:r>
              <a:rPr lang="zh-CN" altLang="en-US" dirty="0"/>
              <a:t>而不是</a:t>
            </a:r>
            <a:r>
              <a:rPr lang="en-US" altLang="zh-CN" dirty="0" err="1"/>
              <a:t>rt</a:t>
            </a:r>
            <a:r>
              <a:rPr lang="zh-CN" altLang="en-US" dirty="0"/>
              <a:t>？不可以，否则无法获得</a:t>
            </a:r>
            <a:r>
              <a:rPr lang="en-US" altLang="zh-CN" dirty="0"/>
              <a:t>16</a:t>
            </a:r>
            <a:r>
              <a:rPr lang="zh-CN" altLang="en-US" dirty="0"/>
              <a:t>位立即数。如果在指令中调换</a:t>
            </a:r>
            <a:r>
              <a:rPr lang="en-US" altLang="zh-CN" dirty="0" err="1"/>
              <a:t>rd</a:t>
            </a:r>
            <a:r>
              <a:rPr lang="zh-CN" altLang="en-US" dirty="0"/>
              <a:t>和</a:t>
            </a:r>
            <a:r>
              <a:rPr lang="en-US" altLang="zh-CN" dirty="0" err="1"/>
              <a:t>rt</a:t>
            </a:r>
            <a:r>
              <a:rPr lang="zh-CN" altLang="en-US" dirty="0"/>
              <a:t>的位置，但</a:t>
            </a:r>
            <a:r>
              <a:rPr lang="en-US" altLang="zh-CN" dirty="0"/>
              <a:t>BEQ</a:t>
            </a:r>
            <a:r>
              <a:rPr lang="zh-CN" altLang="en-US" dirty="0"/>
              <a:t>指令又无法满足。</a:t>
            </a:r>
          </a:p>
        </p:txBody>
      </p:sp>
    </p:spTree>
    <p:extLst>
      <p:ext uri="{BB962C8B-B14F-4D97-AF65-F5344CB8AC3E}">
        <p14:creationId xmlns:p14="http://schemas.microsoft.com/office/powerpoint/2010/main" val="4048777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该表缺少一个</a:t>
            </a:r>
            <a:r>
              <a:rPr lang="en-US" altLang="zh-CN" dirty="0"/>
              <a:t>shift</a:t>
            </a:r>
            <a:r>
              <a:rPr lang="zh-CN" altLang="en-US" dirty="0"/>
              <a:t>部件</a:t>
            </a:r>
          </a:p>
        </p:txBody>
      </p:sp>
    </p:spTree>
    <p:extLst>
      <p:ext uri="{BB962C8B-B14F-4D97-AF65-F5344CB8AC3E}">
        <p14:creationId xmlns:p14="http://schemas.microsoft.com/office/powerpoint/2010/main" val="1970786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81382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93031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WriteReg</a:t>
            </a:r>
            <a:r>
              <a:rPr lang="en-US" altLang="zh-CN" dirty="0"/>
              <a:t>, </a:t>
            </a:r>
            <a:r>
              <a:rPr lang="en-US" altLang="zh-CN" dirty="0" err="1"/>
              <a:t>MemRead</a:t>
            </a:r>
            <a:r>
              <a:rPr lang="en-US" altLang="zh-CN" dirty="0"/>
              <a:t>, </a:t>
            </a:r>
            <a:r>
              <a:rPr lang="en-US" altLang="zh-CN" dirty="0" err="1"/>
              <a:t>MemWrite</a:t>
            </a:r>
            <a:endParaRPr lang="zh-CN" altLang="en-US" dirty="0"/>
          </a:p>
        </p:txBody>
      </p:sp>
    </p:spTree>
    <p:extLst>
      <p:ext uri="{BB962C8B-B14F-4D97-AF65-F5344CB8AC3E}">
        <p14:creationId xmlns:p14="http://schemas.microsoft.com/office/powerpoint/2010/main" val="2843519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ALUOP</a:t>
            </a:r>
            <a:r>
              <a:rPr lang="zh-CN" altLang="en-US" dirty="0"/>
              <a:t>：</a:t>
            </a:r>
            <a:r>
              <a:rPr lang="en-US" altLang="zh-CN" dirty="0"/>
              <a:t>10,00,01,</a:t>
            </a:r>
            <a:r>
              <a:rPr lang="zh-CN" altLang="en-US" dirty="0"/>
              <a:t>分</a:t>
            </a:r>
            <a:r>
              <a:rPr lang="en-US" altLang="zh-CN" dirty="0"/>
              <a:t>3</a:t>
            </a:r>
            <a:r>
              <a:rPr lang="zh-CN" altLang="en-US" dirty="0"/>
              <a:t>种情况，</a:t>
            </a:r>
            <a:r>
              <a:rPr lang="en-US" altLang="zh-CN" dirty="0"/>
              <a:t>10</a:t>
            </a:r>
            <a:r>
              <a:rPr lang="zh-CN" altLang="en-US" dirty="0"/>
              <a:t>再看</a:t>
            </a:r>
            <a:r>
              <a:rPr lang="en-US" altLang="zh-CN" dirty="0"/>
              <a:t>FUNC</a:t>
            </a:r>
            <a:r>
              <a:rPr lang="zh-CN" altLang="en-US" dirty="0"/>
              <a:t>字段，</a:t>
            </a:r>
            <a:r>
              <a:rPr lang="en-US" altLang="zh-CN" dirty="0"/>
              <a:t>00</a:t>
            </a:r>
            <a:r>
              <a:rPr lang="zh-CN" altLang="en-US" dirty="0"/>
              <a:t>做一个加法，</a:t>
            </a:r>
            <a:r>
              <a:rPr lang="en-US" altLang="zh-CN" dirty="0"/>
              <a:t>01</a:t>
            </a:r>
            <a:r>
              <a:rPr lang="zh-CN" altLang="en-US"/>
              <a:t>做一个减法</a:t>
            </a:r>
          </a:p>
        </p:txBody>
      </p:sp>
    </p:spTree>
    <p:extLst>
      <p:ext uri="{BB962C8B-B14F-4D97-AF65-F5344CB8AC3E}">
        <p14:creationId xmlns:p14="http://schemas.microsoft.com/office/powerpoint/2010/main" val="35255469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100" b="0" kern="1200" dirty="0" err="1">
                <a:solidFill>
                  <a:schemeClr val="tx1"/>
                </a:solidFill>
                <a:effectLst/>
                <a:latin typeface="Arial" panose="020B0604020202020204" pitchFamily="34" charset="0"/>
                <a:ea typeface="+mn-ea"/>
                <a:cs typeface="+mn-cs"/>
              </a:rPr>
              <a:t>Blt</a:t>
            </a:r>
            <a:r>
              <a:rPr lang="zh-CN" altLang="en-US" sz="1100" b="0" kern="1200" dirty="0">
                <a:solidFill>
                  <a:schemeClr val="tx1"/>
                </a:solidFill>
                <a:effectLst/>
                <a:latin typeface="Arial" panose="020B0604020202020204" pitchFamily="34" charset="0"/>
                <a:ea typeface="+mn-ea"/>
                <a:cs typeface="+mn-cs"/>
              </a:rPr>
              <a:t>：</a:t>
            </a:r>
            <a:r>
              <a:rPr lang="en-US" altLang="zh-CN" sz="1100" b="0" kern="1200" dirty="0">
                <a:solidFill>
                  <a:schemeClr val="tx1"/>
                </a:solidFill>
                <a:effectLst/>
                <a:latin typeface="Arial" panose="020B0604020202020204" pitchFamily="34" charset="0"/>
                <a:ea typeface="+mn-ea"/>
                <a:cs typeface="+mn-cs"/>
              </a:rPr>
              <a:t>if $t1</a:t>
            </a:r>
            <a:r>
              <a:rPr lang="en-US" altLang="zh-CN" sz="1100" b="0" kern="1200" baseline="0" dirty="0">
                <a:solidFill>
                  <a:schemeClr val="tx1"/>
                </a:solidFill>
                <a:effectLst/>
                <a:latin typeface="Arial" panose="020B0604020202020204" pitchFamily="34" charset="0"/>
                <a:ea typeface="+mn-ea"/>
                <a:cs typeface="+mn-cs"/>
              </a:rPr>
              <a:t> &lt; $t2 then j label</a:t>
            </a:r>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7110566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100" b="0" kern="1200" dirty="0">
                <a:solidFill>
                  <a:schemeClr val="tx1"/>
                </a:solidFill>
                <a:effectLst/>
                <a:latin typeface="Arial" panose="020B0604020202020204" pitchFamily="34" charset="0"/>
                <a:ea typeface="+mn-ea"/>
                <a:cs typeface="+mn-cs"/>
              </a:rPr>
              <a:t>$s0-$s7</a:t>
            </a:r>
            <a:r>
              <a:rPr lang="zh-CN" altLang="en-US" sz="1100" b="0" kern="1200" dirty="0">
                <a:solidFill>
                  <a:schemeClr val="tx1"/>
                </a:solidFill>
                <a:effectLst/>
                <a:latin typeface="Arial" panose="020B0604020202020204" pitchFamily="34" charset="0"/>
                <a:ea typeface="+mn-ea"/>
                <a:cs typeface="+mn-cs"/>
              </a:rPr>
              <a:t>保存的</a:t>
            </a:r>
            <a:r>
              <a:rPr lang="en-US" altLang="zh-CN" sz="1100" b="0" kern="1200" dirty="0">
                <a:solidFill>
                  <a:schemeClr val="tx1"/>
                </a:solidFill>
                <a:effectLst/>
                <a:latin typeface="Arial" panose="020B0604020202020204" pitchFamily="34" charset="0"/>
                <a:ea typeface="+mn-ea"/>
                <a:cs typeface="+mn-cs"/>
              </a:rPr>
              <a:t>(</a:t>
            </a:r>
            <a:r>
              <a:rPr lang="zh-CN" altLang="en-US" sz="1100" b="0" kern="1200" dirty="0">
                <a:solidFill>
                  <a:schemeClr val="tx1"/>
                </a:solidFill>
                <a:effectLst/>
                <a:latin typeface="Arial" panose="020B0604020202020204" pitchFamily="34" charset="0"/>
                <a:ea typeface="+mn-ea"/>
                <a:cs typeface="+mn-cs"/>
              </a:rPr>
              <a:t>或如果用，需要</a:t>
            </a:r>
            <a:r>
              <a:rPr lang="en-US" altLang="zh-CN" sz="1100" b="0" kern="1200" dirty="0">
                <a:solidFill>
                  <a:schemeClr val="tx1"/>
                </a:solidFill>
                <a:effectLst/>
                <a:latin typeface="Arial" panose="020B0604020202020204" pitchFamily="34" charset="0"/>
                <a:ea typeface="+mn-ea"/>
                <a:cs typeface="+mn-cs"/>
              </a:rPr>
              <a:t>SAVE/RESTORE</a:t>
            </a:r>
            <a:r>
              <a:rPr lang="zh-CN" altLang="en-US" sz="1100" b="0" kern="1200" dirty="0">
                <a:solidFill>
                  <a:schemeClr val="tx1"/>
                </a:solidFill>
                <a:effectLst/>
                <a:latin typeface="Arial" panose="020B0604020202020204" pitchFamily="34" charset="0"/>
                <a:ea typeface="+mn-ea"/>
                <a:cs typeface="+mn-cs"/>
              </a:rPr>
              <a:t>的</a:t>
            </a:r>
            <a:r>
              <a:rPr lang="en-US" altLang="zh-CN" sz="1100" b="0" kern="1200" dirty="0">
                <a:solidFill>
                  <a:schemeClr val="tx1"/>
                </a:solidFill>
                <a:effectLst/>
                <a:latin typeface="Arial" panose="020B0604020202020204" pitchFamily="34" charset="0"/>
                <a:ea typeface="+mn-ea"/>
                <a:cs typeface="+mn-cs"/>
              </a:rPr>
              <a:t>)(saved)</a:t>
            </a:r>
          </a:p>
          <a:p>
            <a:pPr latinLnBrk="1"/>
            <a:r>
              <a:rPr lang="en-US" altLang="zh-CN" sz="1100" b="0" kern="1200" dirty="0">
                <a:solidFill>
                  <a:schemeClr val="tx1"/>
                </a:solidFill>
                <a:effectLst/>
                <a:latin typeface="Arial" panose="020B0604020202020204" pitchFamily="34" charset="0"/>
                <a:ea typeface="+mn-ea"/>
                <a:cs typeface="+mn-cs"/>
              </a:rPr>
              <a:t>$t0-$t7</a:t>
            </a:r>
            <a:r>
              <a:rPr lang="zh-CN" altLang="en-US" sz="1100" b="0" kern="1200" dirty="0">
                <a:solidFill>
                  <a:schemeClr val="tx1"/>
                </a:solidFill>
                <a:effectLst/>
                <a:latin typeface="Arial" panose="020B0604020202020204" pitchFamily="34" charset="0"/>
                <a:ea typeface="+mn-ea"/>
                <a:cs typeface="+mn-cs"/>
              </a:rPr>
              <a:t>暂时的</a:t>
            </a:r>
            <a:r>
              <a:rPr lang="en-US" altLang="zh-CN" sz="1100" b="0" kern="1200" dirty="0">
                <a:solidFill>
                  <a:schemeClr val="tx1"/>
                </a:solidFill>
                <a:effectLst/>
                <a:latin typeface="Arial" panose="020B0604020202020204" pitchFamily="34" charset="0"/>
                <a:ea typeface="+mn-ea"/>
                <a:cs typeface="+mn-cs"/>
              </a:rPr>
              <a:t>(</a:t>
            </a:r>
            <a:r>
              <a:rPr lang="zh-CN" altLang="en-US" sz="1100" b="0" kern="1200" dirty="0">
                <a:solidFill>
                  <a:schemeClr val="tx1"/>
                </a:solidFill>
                <a:effectLst/>
                <a:latin typeface="Arial" panose="020B0604020202020204" pitchFamily="34" charset="0"/>
                <a:ea typeface="+mn-ea"/>
                <a:cs typeface="+mn-cs"/>
              </a:rPr>
              <a:t>或随便用的</a:t>
            </a:r>
            <a:r>
              <a:rPr lang="en-US" altLang="zh-CN" sz="1100" b="0" kern="1200" dirty="0">
                <a:solidFill>
                  <a:schemeClr val="tx1"/>
                </a:solidFill>
                <a:effectLst/>
                <a:latin typeface="Arial" panose="020B0604020202020204" pitchFamily="34" charset="0"/>
                <a:ea typeface="+mn-ea"/>
                <a:cs typeface="+mn-cs"/>
              </a:rPr>
              <a:t>)</a:t>
            </a:r>
            <a:endParaRPr lang="zh-CN" altLang="en-US"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33750189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2261375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7051" name="Rectangle 11"/>
          <p:cNvSpPr>
            <a:spLocks noChangeArrowheads="1"/>
          </p:cNvSpPr>
          <p:nvPr userDrawn="1"/>
        </p:nvSpPr>
        <p:spPr bwMode="auto">
          <a:xfrm>
            <a:off x="1" y="1"/>
            <a:ext cx="9935633" cy="549275"/>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3200">
              <a:solidFill>
                <a:schemeClr val="tx2"/>
              </a:solidFill>
            </a:endParaRPr>
          </a:p>
        </p:txBody>
      </p:sp>
      <p:grpSp>
        <p:nvGrpSpPr>
          <p:cNvPr id="87054" name="Group 14"/>
          <p:cNvGrpSpPr/>
          <p:nvPr userDrawn="1"/>
        </p:nvGrpSpPr>
        <p:grpSpPr bwMode="auto">
          <a:xfrm>
            <a:off x="10128251" y="188913"/>
            <a:ext cx="1784349" cy="2189162"/>
            <a:chOff x="4704" y="1885"/>
            <a:chExt cx="843" cy="1379"/>
          </a:xfrm>
        </p:grpSpPr>
        <p:sp>
          <p:nvSpPr>
            <p:cNvPr id="87055" name="Oval 15"/>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endParaRPr lang="zh-CN" altLang="en-US"/>
            </a:p>
          </p:txBody>
        </p:sp>
        <p:sp>
          <p:nvSpPr>
            <p:cNvPr id="87056" name="Oval 16"/>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endParaRPr lang="zh-CN" altLang="en-US"/>
            </a:p>
          </p:txBody>
        </p:sp>
        <p:sp>
          <p:nvSpPr>
            <p:cNvPr id="87057" name="Oval 17"/>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endParaRPr lang="zh-CN" altLang="en-US"/>
            </a:p>
          </p:txBody>
        </p:sp>
        <p:sp>
          <p:nvSpPr>
            <p:cNvPr id="87058" name="Oval 18"/>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endParaRPr lang="zh-CN" altLang="en-US"/>
            </a:p>
          </p:txBody>
        </p:sp>
        <p:sp>
          <p:nvSpPr>
            <p:cNvPr id="87059" name="Oval 19"/>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endParaRPr lang="zh-CN" altLang="en-US"/>
            </a:p>
          </p:txBody>
        </p:sp>
        <p:sp>
          <p:nvSpPr>
            <p:cNvPr id="87060" name="Oval 20"/>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endParaRPr lang="zh-CN" altLang="en-US"/>
            </a:p>
          </p:txBody>
        </p:sp>
        <p:sp>
          <p:nvSpPr>
            <p:cNvPr id="87061" name="Oval 21"/>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endParaRPr lang="zh-CN" altLang="en-US"/>
            </a:p>
          </p:txBody>
        </p:sp>
        <p:sp>
          <p:nvSpPr>
            <p:cNvPr id="87062" name="Oval 22"/>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endParaRPr lang="zh-CN" altLang="en-US"/>
            </a:p>
          </p:txBody>
        </p:sp>
        <p:sp>
          <p:nvSpPr>
            <p:cNvPr id="87063" name="Oval 23"/>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endParaRPr lang="zh-CN" altLang="en-US"/>
            </a:p>
          </p:txBody>
        </p:sp>
        <p:sp>
          <p:nvSpPr>
            <p:cNvPr id="87064" name="Oval 24"/>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5" name="Oval 25"/>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6" name="Oval 26"/>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endParaRPr lang="zh-CN" altLang="en-US"/>
            </a:p>
          </p:txBody>
        </p:sp>
        <p:sp>
          <p:nvSpPr>
            <p:cNvPr id="87067" name="Oval 27"/>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endParaRPr lang="zh-CN" altLang="en-US"/>
            </a:p>
          </p:txBody>
        </p:sp>
        <p:sp>
          <p:nvSpPr>
            <p:cNvPr id="87068" name="Oval 28"/>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endParaRPr lang="zh-CN" altLang="en-US"/>
            </a:p>
          </p:txBody>
        </p:sp>
        <p:sp>
          <p:nvSpPr>
            <p:cNvPr id="87069" name="Oval 29"/>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endParaRPr lang="zh-CN" altLang="en-US"/>
            </a:p>
          </p:txBody>
        </p:sp>
        <p:sp>
          <p:nvSpPr>
            <p:cNvPr id="87070" name="Oval 30"/>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endParaRPr lang="zh-CN" altLang="en-US"/>
            </a:p>
          </p:txBody>
        </p:sp>
        <p:sp>
          <p:nvSpPr>
            <p:cNvPr id="87071" name="Oval 31"/>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2" name="Oval 32"/>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3" name="Oval 33"/>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4" name="Oval 34"/>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5" name="Oval 35"/>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endParaRPr lang="zh-CN" altLang="en-US"/>
            </a:p>
          </p:txBody>
        </p:sp>
        <p:sp>
          <p:nvSpPr>
            <p:cNvPr id="87076" name="Oval 36"/>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endParaRPr lang="zh-CN" altLang="en-US"/>
            </a:p>
          </p:txBody>
        </p:sp>
        <p:sp>
          <p:nvSpPr>
            <p:cNvPr id="87077" name="Oval 37"/>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8" name="Oval 38"/>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9" name="Oval 39"/>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endParaRPr lang="zh-CN" altLang="en-US"/>
            </a:p>
          </p:txBody>
        </p:sp>
        <p:sp>
          <p:nvSpPr>
            <p:cNvPr id="87080" name="Oval 40"/>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1" name="Oval 41"/>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2" name="Oval 42"/>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3" name="Oval 43"/>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4" name="Oval 44"/>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endParaRPr lang="zh-CN" altLang="en-US"/>
            </a:p>
          </p:txBody>
        </p:sp>
        <p:sp>
          <p:nvSpPr>
            <p:cNvPr id="87085" name="Oval 45"/>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endParaRPr lang="zh-CN" altLang="en-US"/>
            </a:p>
          </p:txBody>
        </p:sp>
      </p:grpSp>
      <p:sp>
        <p:nvSpPr>
          <p:cNvPr id="87086" name="Rectangle 46"/>
          <p:cNvSpPr>
            <a:spLocks noChangeArrowheads="1"/>
          </p:cNvSpPr>
          <p:nvPr userDrawn="1"/>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87087" name="Rectangle 47"/>
          <p:cNvSpPr>
            <a:spLocks noChangeArrowheads="1"/>
          </p:cNvSpPr>
          <p:nvPr userDrawn="1"/>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87088" name="Rectangle 48"/>
          <p:cNvSpPr>
            <a:spLocks noChangeArrowheads="1"/>
          </p:cNvSpPr>
          <p:nvPr userDrawn="1"/>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pic>
        <p:nvPicPr>
          <p:cNvPr id="87089"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87090" name="Line 50"/>
          <p:cNvSpPr>
            <a:spLocks noChangeShapeType="1"/>
          </p:cNvSpPr>
          <p:nvPr userDrawn="1"/>
        </p:nvSpPr>
        <p:spPr bwMode="auto">
          <a:xfrm flipV="1">
            <a:off x="624417" y="2852738"/>
            <a:ext cx="10752667" cy="0"/>
          </a:xfrm>
          <a:prstGeom prst="line">
            <a:avLst/>
          </a:prstGeom>
          <a:noFill/>
          <a:ln w="38100">
            <a:solidFill>
              <a:schemeClr val="bg2"/>
            </a:solidFill>
            <a:round/>
          </a:ln>
          <a:effectLst/>
        </p:spPr>
        <p:txBody>
          <a:bodyPr anchor="ctr">
            <a:spAutoFit/>
          </a:bodyPr>
          <a:lstStyle/>
          <a:p>
            <a:endParaRPr lang="zh-CN" altLang="en-US"/>
          </a:p>
        </p:txBody>
      </p:sp>
      <p:sp>
        <p:nvSpPr>
          <p:cNvPr id="87091" name="Line 51"/>
          <p:cNvSpPr>
            <a:spLocks noChangeShapeType="1"/>
          </p:cNvSpPr>
          <p:nvPr userDrawn="1"/>
        </p:nvSpPr>
        <p:spPr bwMode="auto">
          <a:xfrm>
            <a:off x="9935633" y="0"/>
            <a:ext cx="0" cy="5949950"/>
          </a:xfrm>
          <a:prstGeom prst="line">
            <a:avLst/>
          </a:prstGeom>
          <a:noFill/>
          <a:ln w="38100">
            <a:solidFill>
              <a:schemeClr val="bg2"/>
            </a:solidFill>
            <a:round/>
          </a:ln>
          <a:effectLst/>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840795" y="1125538"/>
            <a:ext cx="3538405" cy="220265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36950" y="404814"/>
            <a:ext cx="2922851"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4"/>
            <a:ext cx="7010400" cy="372603"/>
          </a:xfrm>
          <a:prstGeom prst="rect">
            <a:avLst/>
          </a:prstGeom>
          <a:noFill/>
          <a:ln w="12700">
            <a:noFill/>
            <a:miter lim="800000"/>
          </a:ln>
          <a:effectLst/>
        </p:spPr>
        <p:txBody>
          <a:bodyPr vert="horz" wrap="square" lIns="63500" tIns="25400" rIns="63500" bIns="25400" numCol="1" anchor="t" anchorCtr="0" compatLnSpc="1">
            <a:spAutoFit/>
          </a:bodyPr>
          <a:lstStyle/>
          <a:p>
            <a:pPr lvl="0"/>
            <a:r>
              <a:rPr lang="zh-CN" altLang="en-US"/>
              <a:t>标题</a:t>
            </a:r>
          </a:p>
        </p:txBody>
      </p:sp>
      <p:sp>
        <p:nvSpPr>
          <p:cNvPr id="1029" name="Rectangle 5"/>
          <p:cNvSpPr>
            <a:spLocks noGrp="1" noChangeArrowheads="1"/>
          </p:cNvSpPr>
          <p:nvPr>
            <p:ph type="body" idx="1"/>
          </p:nvPr>
        </p:nvSpPr>
        <p:spPr bwMode="auto">
          <a:xfrm>
            <a:off x="914400" y="1125538"/>
            <a:ext cx="10464800" cy="2202654"/>
          </a:xfrm>
          <a:prstGeom prst="rect">
            <a:avLst/>
          </a:prstGeom>
          <a:noFill/>
          <a:ln w="12700">
            <a:noFill/>
            <a:miter lim="800000"/>
          </a:ln>
          <a:effectLst/>
        </p:spPr>
        <p:txBody>
          <a:bodyPr vert="horz" wrap="square" lIns="63500" tIns="25400" rIns="63500" bIns="25400" numCol="1" anchor="t" anchorCtr="0" compatLnSpc="1">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5" name="Rectangle 11"/>
          <p:cNvSpPr>
            <a:spLocks noChangeArrowheads="1"/>
          </p:cNvSpPr>
          <p:nvPr/>
        </p:nvSpPr>
        <p:spPr bwMode="auto">
          <a:xfrm>
            <a:off x="0" y="0"/>
            <a:ext cx="9840384" cy="260350"/>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2400" b="0">
              <a:solidFill>
                <a:schemeClr val="tx2"/>
              </a:solidFill>
              <a:latin typeface="Times New Roman" panose="02020603050405020304" pitchFamily="18" charset="0"/>
            </a:endParaRPr>
          </a:p>
        </p:txBody>
      </p:sp>
      <p:sp>
        <p:nvSpPr>
          <p:cNvPr id="1037" name="Line 13"/>
          <p:cNvSpPr>
            <a:spLocks noChangeShapeType="1"/>
          </p:cNvSpPr>
          <p:nvPr/>
        </p:nvSpPr>
        <p:spPr bwMode="auto">
          <a:xfrm flipV="1">
            <a:off x="814917" y="836613"/>
            <a:ext cx="10752667" cy="0"/>
          </a:xfrm>
          <a:prstGeom prst="line">
            <a:avLst/>
          </a:prstGeom>
          <a:noFill/>
          <a:ln w="38100">
            <a:solidFill>
              <a:schemeClr val="bg2"/>
            </a:solidFill>
            <a:round/>
          </a:ln>
          <a:effectLst/>
        </p:spPr>
        <p:txBody>
          <a:bodyPr anchor="ctr">
            <a:spAutoFit/>
          </a:bodyPr>
          <a:lstStyle/>
          <a:p>
            <a:endParaRPr lang="zh-CN" altLang="en-US"/>
          </a:p>
        </p:txBody>
      </p:sp>
      <p:sp>
        <p:nvSpPr>
          <p:cNvPr id="1038" name="Rectangle 14"/>
          <p:cNvSpPr>
            <a:spLocks noChangeArrowheads="1"/>
          </p:cNvSpPr>
          <p:nvPr/>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1039" name="Rectangle 15"/>
          <p:cNvSpPr>
            <a:spLocks noChangeArrowheads="1"/>
          </p:cNvSpPr>
          <p:nvPr/>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1040" name="Rectangle 16"/>
          <p:cNvSpPr>
            <a:spLocks noChangeArrowheads="1"/>
          </p:cNvSpPr>
          <p:nvPr/>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sp>
        <p:nvSpPr>
          <p:cNvPr id="1041" name="Text Box 17"/>
          <p:cNvSpPr txBox="1">
            <a:spLocks noChangeArrowheads="1"/>
          </p:cNvSpPr>
          <p:nvPr/>
        </p:nvSpPr>
        <p:spPr bwMode="auto">
          <a:xfrm>
            <a:off x="11377084" y="6524625"/>
            <a:ext cx="768349" cy="304800"/>
          </a:xfrm>
          <a:prstGeom prst="rect">
            <a:avLst/>
          </a:prstGeom>
          <a:noFill/>
          <a:ln w="9525">
            <a:noFill/>
            <a:miter lim="800000"/>
          </a:ln>
          <a:effectLst/>
        </p:spPr>
        <p:txBody>
          <a:bodyPr>
            <a:spAutoFit/>
          </a:bodyPr>
          <a:lstStyle/>
          <a:p>
            <a:pPr algn="ctr">
              <a:lnSpc>
                <a:spcPct val="100000"/>
              </a:lnSpc>
              <a:spcBef>
                <a:spcPct val="50000"/>
              </a:spcBef>
              <a:buClrTx/>
              <a:buSzTx/>
              <a:buFontTx/>
              <a:buNone/>
            </a:pPr>
            <a:fld id="{8E6141A4-B4DF-417A-BE19-BD33A1D78EA3}" type="slidenum">
              <a:rPr lang="zh-CN" altLang="en-US" sz="1400" b="0">
                <a:solidFill>
                  <a:srgbClr val="000099"/>
                </a:solidFill>
              </a:rPr>
              <a:t>‹#›</a:t>
            </a:fld>
            <a:endParaRPr lang="en-US" altLang="zh-CN" sz="1400" b="0">
              <a:solidFill>
                <a:srgbClr val="000099"/>
              </a:solidFill>
            </a:endParaRPr>
          </a:p>
        </p:txBody>
      </p:sp>
      <p:pic>
        <p:nvPicPr>
          <p:cNvPr id="1044" name="Picture 20" descr="buaa_1"/>
          <p:cNvPicPr>
            <a:picLocks noChangeAspect="1" noChangeArrowheads="1"/>
          </p:cNvPicPr>
          <p:nvPr/>
        </p:nvPicPr>
        <p:blipFill>
          <a:blip r:embed="rId16"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spcBef>
          <a:spcPct val="10000"/>
        </a:spcBef>
        <a:spcAft>
          <a:spcPct val="1000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spcBef>
          <a:spcPct val="10000"/>
        </a:spcBef>
        <a:spcAft>
          <a:spcPct val="10000"/>
        </a:spcAft>
        <a:buClr>
          <a:srgbClr val="001ADC"/>
        </a:buClr>
        <a:buSzPct val="100000"/>
        <a:buFont typeface="Wingdings" panose="05000000000000000000" pitchFamily="2" charset="2"/>
        <a:buChar char="Ø"/>
        <a:defRPr b="1">
          <a:solidFill>
            <a:schemeClr val="tx1"/>
          </a:solidFill>
          <a:latin typeface="+mn-lt"/>
          <a:ea typeface="+mn-ea"/>
        </a:defRPr>
      </a:lvl2pPr>
      <a:lvl3pPr marL="1050925" indent="-192405" algn="l" rtl="0" eaLnBrk="0" fontAlgn="base" hangingPunct="0">
        <a:spcBef>
          <a:spcPct val="10000"/>
        </a:spcBef>
        <a:spcAft>
          <a:spcPct val="10000"/>
        </a:spcAft>
        <a:buClr>
          <a:srgbClr val="05AD01"/>
        </a:buClr>
        <a:buSzPct val="100000"/>
        <a:buFont typeface="Wingdings" panose="05000000000000000000" pitchFamily="2" charset="2"/>
        <a:buChar char="§"/>
        <a:defRPr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a:extLst>
              <a:ext uri="{28A0092B-C50C-407E-A947-70E740481C1C}">
                <a14:useLocalDpi xmlns:a14="http://schemas.microsoft.com/office/drawing/2010/main" val="0"/>
              </a:ext>
            </a:extLst>
          </a:blip>
          <a:srcRect l="19240"/>
          <a:stretch>
            <a:fillRect/>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ln>
        </p:spPr>
        <p:txBody>
          <a:bodyPr vert="horz" wrap="square" lIns="63500" tIns="25400" rIns="63500" bIns="25400" numCol="1" anchor="t" anchorCtr="0" compatLnSpc="1">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ln>
        </p:spPr>
        <p:txBody>
          <a:bodyPr vert="horz" wrap="square" lIns="63500" tIns="25400" rIns="63500" bIns="25400" numCol="1" anchor="t" anchorCtr="0" compatLnSpc="1">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ln>
          <a:effectLst/>
        </p:spPr>
        <p:txBody>
          <a:bodyPr wrap="square">
            <a:spAutoFit/>
          </a:bodyPr>
          <a:lstStyle/>
          <a:p>
            <a:pPr algn="ctr">
              <a:lnSpc>
                <a:spcPct val="100000"/>
              </a:lnSpc>
              <a:spcBef>
                <a:spcPct val="50000"/>
              </a:spcBef>
              <a:buClrTx/>
              <a:buSzTx/>
              <a:buFontTx/>
              <a:buNone/>
            </a:pPr>
            <a:fld id="{8E6141A4-B4DF-417A-BE19-BD33A1D78EA3}" type="slidenum">
              <a:rPr lang="zh-CN" altLang="en-US" sz="1200" b="0">
                <a:solidFill>
                  <a:srgbClr val="000099"/>
                </a:solidFill>
                <a:latin typeface="Arial" panose="020B0604020202020204" pitchFamily="34" charset="0"/>
                <a:ea typeface="Yu Gothic" panose="020B0400000000000000" pitchFamily="34" charset="-128"/>
                <a:cs typeface="Arial" panose="020B0604020202020204" pitchFamily="34" charset="0"/>
              </a:rPr>
              <a:t>‹#›</a:t>
            </a:fld>
            <a:endParaRPr lang="en-US" altLang="zh-CN" sz="1200" b="0" dirty="0">
              <a:solidFill>
                <a:srgbClr val="000099"/>
              </a:solidFill>
              <a:latin typeface="Arial" panose="020B0604020202020204" pitchFamily="34" charset="0"/>
              <a:ea typeface="Yu Gothic" panose="020B0400000000000000"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lnSpc>
          <a:spcPct val="125000"/>
        </a:lnSpc>
        <a:spcBef>
          <a:spcPts val="0"/>
        </a:spcBef>
        <a:spcAft>
          <a:spcPct val="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lnSpc>
          <a:spcPct val="125000"/>
        </a:lnSpc>
        <a:spcBef>
          <a:spcPts val="0"/>
        </a:spcBef>
        <a:spcAft>
          <a:spcPct val="0"/>
        </a:spcAft>
        <a:buClr>
          <a:srgbClr val="001ADC"/>
        </a:buClr>
        <a:buSzPct val="100000"/>
        <a:buFont typeface="Wingdings" panose="05000000000000000000" pitchFamily="2" charset="2"/>
        <a:buChar char="Ø"/>
        <a:defRPr b="1">
          <a:solidFill>
            <a:schemeClr val="tx1"/>
          </a:solidFill>
          <a:latin typeface="+mn-lt"/>
        </a:defRPr>
      </a:lvl2pPr>
      <a:lvl3pPr marL="1050925" indent="-192405" algn="l" rtl="0" eaLnBrk="0" fontAlgn="base" hangingPunct="0">
        <a:lnSpc>
          <a:spcPct val="125000"/>
        </a:lnSpc>
        <a:spcBef>
          <a:spcPts val="0"/>
        </a:spcBef>
        <a:spcAft>
          <a:spcPct val="0"/>
        </a:spcAft>
        <a:buClr>
          <a:srgbClr val="05AD01"/>
        </a:buClr>
        <a:buSzPct val="100000"/>
        <a:buFont typeface="Wingdings" panose="05000000000000000000"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16.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emf"/><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计算机硬件基础</a:t>
            </a:r>
            <a:br>
              <a:rPr lang="zh-CN" altLang="en-US" dirty="0"/>
            </a:br>
            <a:r>
              <a:rPr lang="zh-CN" altLang="en-US" dirty="0"/>
              <a:t>（</a:t>
            </a:r>
            <a:r>
              <a:rPr lang="en-US" altLang="zh-CN" dirty="0"/>
              <a:t>2020</a:t>
            </a:r>
            <a:r>
              <a:rPr lang="zh-CN" altLang="en-US" dirty="0"/>
              <a:t>级）</a:t>
            </a:r>
          </a:p>
        </p:txBody>
      </p:sp>
      <p:sp>
        <p:nvSpPr>
          <p:cNvPr id="6" name="Rectangle 5"/>
          <p:cNvSpPr>
            <a:spLocks noGrp="1" noChangeArrowheads="1"/>
          </p:cNvSpPr>
          <p:nvPr>
            <p:ph type="subTitle" idx="4294967295"/>
          </p:nvPr>
        </p:nvSpPr>
        <p:spPr bwMode="auto">
          <a:xfrm>
            <a:off x="3503712" y="3849579"/>
            <a:ext cx="5400600" cy="875565"/>
          </a:xfrm>
          <a:prstGeom prst="rect">
            <a:avLst/>
          </a:prstGeom>
          <a:noFill/>
          <a:ln>
            <a:miter lim="800000"/>
          </a:ln>
        </p:spPr>
        <p:txBody>
          <a:bodyPr vert="horz" wrap="square" lIns="47625" tIns="72900" rIns="47625" bIns="72900" numCol="1" anchor="t" anchorCtr="0" compatLnSpc="1">
            <a:spAutoFit/>
          </a:bodyPr>
          <a:lstStyle/>
          <a:p>
            <a:pPr marL="0" indent="0" algn="ctr">
              <a:lnSpc>
                <a:spcPct val="150000"/>
              </a:lnSpc>
              <a:spcAft>
                <a:spcPts val="0"/>
              </a:spcAft>
              <a:buNone/>
            </a:pPr>
            <a:r>
              <a:rPr lang="zh-CN" altLang="en-US" sz="3600" baseline="3000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牛建伟  王丽华  邓莹莹  李辉勇  李莹</a:t>
            </a:r>
            <a:endParaRPr lang="en-US" altLang="zh-CN" b="0" dirty="0">
              <a:solidFill>
                <a:srgbClr val="000066"/>
              </a:solidFill>
              <a:ea typeface="华文楷体" panose="02010600040101010101" pitchFamily="2"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423556" y="1124744"/>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2167580"/>
            <a:ext cx="4481735" cy="2197525"/>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ct val="65000"/>
              </a:spcBef>
              <a:buClr>
                <a:srgbClr val="FF0000"/>
              </a:buClr>
              <a:buFont typeface="+mj-ea"/>
              <a:buAutoNum type="ea1JpnChsDbPeriod"/>
            </a:pPr>
            <a:r>
              <a:rPr lang="zh-CN" altLang="en-US" sz="2400" dirty="0"/>
              <a:t>处理器设计概述</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模型机</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单周期处理器设计</a:t>
            </a:r>
          </a:p>
          <a:p>
            <a:pPr marL="609600" indent="-609600">
              <a:lnSpc>
                <a:spcPct val="75000"/>
              </a:lnSpc>
              <a:spcBef>
                <a:spcPct val="65000"/>
              </a:spcBef>
              <a:buClr>
                <a:srgbClr val="FF0000"/>
              </a:buClr>
              <a:buFont typeface="+mj-ea"/>
              <a:buAutoNum type="ea1JpnChsDbPeriod"/>
            </a:pPr>
            <a:r>
              <a:rPr lang="zh-CN" altLang="en-US" sz="2400" dirty="0"/>
              <a:t>流水线及其冒险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2060848"/>
            <a:ext cx="4481735" cy="2708434"/>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rgbClr val="FF0000"/>
              </a:buClr>
              <a:buFont typeface="+mj-ea"/>
              <a:buAutoNum type="ea1JpnChsDbPeriod"/>
            </a:pPr>
            <a:r>
              <a:rPr lang="zh-CN" altLang="en-US" sz="2400" dirty="0">
                <a:solidFill>
                  <a:schemeClr val="tx2">
                    <a:lumMod val="75000"/>
                    <a:lumOff val="25000"/>
                  </a:schemeClr>
                </a:solidFill>
              </a:rPr>
              <a:t>处理器设计概述</a:t>
            </a:r>
            <a:endParaRPr lang="en-US" altLang="zh-CN" sz="24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处理器的功能与组成</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单周期处理器设计</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415" y="173920"/>
            <a:ext cx="7010400" cy="479747"/>
          </a:xfrm>
        </p:spPr>
        <p:txBody>
          <a:bodyPr/>
          <a:lstStyle/>
          <a:p>
            <a:r>
              <a:rPr lang="en-US" altLang="zh-CN" sz="3200" dirty="0"/>
              <a:t>ISA</a:t>
            </a:r>
            <a:r>
              <a:rPr lang="zh-CN" altLang="en-US" sz="3200" dirty="0"/>
              <a:t>架构</a:t>
            </a:r>
          </a:p>
        </p:txBody>
      </p:sp>
      <p:grpSp>
        <p:nvGrpSpPr>
          <p:cNvPr id="6" name="组合 5"/>
          <p:cNvGrpSpPr/>
          <p:nvPr/>
        </p:nvGrpSpPr>
        <p:grpSpPr>
          <a:xfrm>
            <a:off x="1798370" y="1196752"/>
            <a:ext cx="4729679" cy="4752528"/>
            <a:chOff x="449244" y="1539886"/>
            <a:chExt cx="5114645" cy="4903788"/>
          </a:xfrm>
        </p:grpSpPr>
        <p:sp>
          <p:nvSpPr>
            <p:cNvPr id="7" name="Rectangle 3"/>
            <p:cNvSpPr>
              <a:spLocks noChangeArrowheads="1"/>
            </p:cNvSpPr>
            <p:nvPr/>
          </p:nvSpPr>
          <p:spPr bwMode="auto">
            <a:xfrm>
              <a:off x="1954194" y="1539886"/>
              <a:ext cx="3200400" cy="1543050"/>
            </a:xfrm>
            <a:prstGeom prst="rect">
              <a:avLst/>
            </a:prstGeom>
            <a:solidFill>
              <a:srgbClr val="FFFFBD"/>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Applications</a:t>
              </a:r>
            </a:p>
            <a:p>
              <a:pPr algn="ctr">
                <a:buNone/>
              </a:pPr>
              <a:endParaRPr lang="en-US" altLang="zh-CN" dirty="0">
                <a:solidFill>
                  <a:schemeClr val="tx1"/>
                </a:solidFill>
                <a:latin typeface="Times New Roman" panose="02020603050405020304" pitchFamily="18" charset="0"/>
                <a:ea typeface="宋体" panose="02010600030101010101" pitchFamily="2" charset="-122"/>
              </a:endParaRPr>
            </a:p>
            <a:p>
              <a:pPr algn="ctr">
                <a:buNone/>
              </a:pPr>
              <a:endParaRPr lang="en-US" altLang="zh-CN" dirty="0">
                <a:solidFill>
                  <a:schemeClr val="tx1"/>
                </a:solidFill>
                <a:latin typeface="Times New Roman" panose="02020603050405020304" pitchFamily="18" charset="0"/>
                <a:ea typeface="宋体" panose="02010600030101010101" pitchFamily="2" charset="-122"/>
              </a:endParaRPr>
            </a:p>
            <a:p>
              <a:pPr algn="ctr">
                <a:buNone/>
              </a:pPr>
              <a:endParaRPr lang="zh-CN" altLang="en-US" dirty="0">
                <a:solidFill>
                  <a:schemeClr val="tx1"/>
                </a:solidFill>
                <a:latin typeface="Times New Roman" panose="02020603050405020304" pitchFamily="18" charset="0"/>
                <a:ea typeface="宋体" panose="02010600030101010101" pitchFamily="2" charset="-122"/>
              </a:endParaRPr>
            </a:p>
          </p:txBody>
        </p:sp>
        <p:sp>
          <p:nvSpPr>
            <p:cNvPr id="8" name="Rectangle 4"/>
            <p:cNvSpPr>
              <a:spLocks noChangeArrowheads="1"/>
            </p:cNvSpPr>
            <p:nvPr/>
          </p:nvSpPr>
          <p:spPr bwMode="auto">
            <a:xfrm>
              <a:off x="3401994" y="2168536"/>
              <a:ext cx="1752600" cy="914400"/>
            </a:xfrm>
            <a:prstGeom prst="rect">
              <a:avLst/>
            </a:prstGeom>
            <a:solidFill>
              <a:srgbClr val="FFFFBD"/>
            </a:solidFill>
            <a:ln w="9525">
              <a:solidFill>
                <a:schemeClr val="tx1"/>
              </a:solidFill>
              <a:miter lim="800000"/>
            </a:ln>
            <a:effectLst/>
          </p:spPr>
          <p:txBody>
            <a:bodyPr wrap="none" anchor="ctr"/>
            <a:lstStyle/>
            <a:p>
              <a:pPr algn="ctr">
                <a:buNone/>
              </a:pPr>
              <a:r>
                <a:rPr lang="en-US" altLang="zh-CN">
                  <a:solidFill>
                    <a:schemeClr val="tx1"/>
                  </a:solidFill>
                  <a:latin typeface="Times New Roman" panose="02020603050405020304" pitchFamily="18" charset="0"/>
                  <a:ea typeface="宋体" panose="02010600030101010101" pitchFamily="2" charset="-122"/>
                </a:rPr>
                <a:t>OS</a:t>
              </a:r>
            </a:p>
          </p:txBody>
        </p:sp>
        <p:sp>
          <p:nvSpPr>
            <p:cNvPr id="9" name="Rectangle 5"/>
            <p:cNvSpPr>
              <a:spLocks noChangeArrowheads="1"/>
            </p:cNvSpPr>
            <p:nvPr/>
          </p:nvSpPr>
          <p:spPr bwMode="auto">
            <a:xfrm>
              <a:off x="2182794" y="2625736"/>
              <a:ext cx="1828800" cy="457200"/>
            </a:xfrm>
            <a:prstGeom prst="rect">
              <a:avLst/>
            </a:prstGeom>
            <a:solidFill>
              <a:srgbClr val="FFFFBD"/>
            </a:solidFill>
            <a:ln w="9525">
              <a:solidFill>
                <a:schemeClr val="tx1"/>
              </a:solidFill>
              <a:miter lim="800000"/>
            </a:ln>
            <a:effectLst/>
          </p:spPr>
          <p:txBody>
            <a:bodyPr wrap="none" anchor="ctr"/>
            <a:lstStyle/>
            <a:p>
              <a:pPr algn="ctr">
                <a:buNone/>
              </a:pPr>
              <a:r>
                <a:rPr lang="en-US" altLang="zh-CN">
                  <a:solidFill>
                    <a:schemeClr val="tx1"/>
                  </a:solidFill>
                  <a:latin typeface="Times New Roman" panose="02020603050405020304" pitchFamily="18" charset="0"/>
                  <a:ea typeface="宋体" panose="02010600030101010101" pitchFamily="2" charset="-122"/>
                </a:rPr>
                <a:t>Compiler</a:t>
              </a:r>
            </a:p>
          </p:txBody>
        </p:sp>
        <p:sp>
          <p:nvSpPr>
            <p:cNvPr id="10" name="Rectangle 6"/>
            <p:cNvSpPr>
              <a:spLocks noChangeArrowheads="1"/>
            </p:cNvSpPr>
            <p:nvPr/>
          </p:nvSpPr>
          <p:spPr bwMode="auto">
            <a:xfrm>
              <a:off x="1358963" y="3124211"/>
              <a:ext cx="4204926" cy="546100"/>
            </a:xfrm>
            <a:prstGeom prst="rect">
              <a:avLst/>
            </a:prstGeom>
            <a:solidFill>
              <a:srgbClr val="92D050"/>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Instruction Set Architecture </a:t>
              </a: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ISA</a:t>
              </a:r>
              <a:r>
                <a:rPr lang="zh-CN" altLang="en-US" dirty="0">
                  <a:solidFill>
                    <a:schemeClr val="tx1"/>
                  </a:solidFill>
                  <a:latin typeface="Times New Roman" panose="02020603050405020304" pitchFamily="18" charset="0"/>
                  <a:ea typeface="宋体" panose="02010600030101010101" pitchFamily="2" charset="-122"/>
                </a:rPr>
                <a:t>）</a:t>
              </a:r>
            </a:p>
          </p:txBody>
        </p:sp>
        <p:sp>
          <p:nvSpPr>
            <p:cNvPr id="11" name="Rectangle 7"/>
            <p:cNvSpPr>
              <a:spLocks noChangeArrowheads="1"/>
            </p:cNvSpPr>
            <p:nvPr/>
          </p:nvSpPr>
          <p:spPr bwMode="auto">
            <a:xfrm>
              <a:off x="1928794" y="3700473"/>
              <a:ext cx="3225800"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Instruction</a:t>
              </a:r>
            </a:p>
            <a:p>
              <a:pPr algn="ctr">
                <a:buNone/>
              </a:pPr>
              <a:r>
                <a:rPr lang="en-US" altLang="zh-CN" dirty="0">
                  <a:solidFill>
                    <a:schemeClr val="tx1"/>
                  </a:solidFill>
                  <a:latin typeface="Times New Roman" panose="02020603050405020304" pitchFamily="18" charset="0"/>
                  <a:ea typeface="宋体" panose="02010600030101010101" pitchFamily="2" charset="-122"/>
                </a:rPr>
                <a:t>Processing</a:t>
              </a:r>
            </a:p>
          </p:txBody>
        </p:sp>
        <p:sp>
          <p:nvSpPr>
            <p:cNvPr id="13" name="Text Box 9"/>
            <p:cNvSpPr txBox="1">
              <a:spLocks noChangeArrowheads="1"/>
            </p:cNvSpPr>
            <p:nvPr/>
          </p:nvSpPr>
          <p:spPr bwMode="auto">
            <a:xfrm>
              <a:off x="505275" y="4001640"/>
              <a:ext cx="1429770" cy="1111503"/>
            </a:xfrm>
            <a:prstGeom prst="rect">
              <a:avLst/>
            </a:prstGeom>
            <a:noFill/>
            <a:ln w="9525">
              <a:noFill/>
              <a:miter lim="800000"/>
            </a:ln>
            <a:effectLst/>
          </p:spPr>
          <p:txBody>
            <a:bodyPr wrap="square">
              <a:spAutoFit/>
            </a:bodyPr>
            <a:lstStyle>
              <a:defPPr>
                <a:defRPr lang="en-US"/>
              </a:defPPr>
              <a:lvl1pPr>
                <a:lnSpc>
                  <a:spcPct val="100000"/>
                </a:lnSpc>
                <a:spcBef>
                  <a:spcPts val="0"/>
                </a:spcBef>
                <a:buNone/>
                <a:defRPr sz="1600">
                  <a:solidFill>
                    <a:schemeClr val="tx2">
                      <a:lumMod val="75000"/>
                      <a:lumOff val="25000"/>
                    </a:schemeClr>
                  </a:solidFill>
                  <a:latin typeface="+mn-lt"/>
                </a:defRPr>
              </a:lvl1pPr>
            </a:lstStyle>
            <a:p>
              <a:r>
                <a:rPr lang="en-US" altLang="zh-CN" dirty="0"/>
                <a:t>Hardware  layers for design abstraction</a:t>
              </a:r>
            </a:p>
          </p:txBody>
        </p:sp>
        <p:sp>
          <p:nvSpPr>
            <p:cNvPr id="14" name="Rectangle 10"/>
            <p:cNvSpPr>
              <a:spLocks noChangeArrowheads="1"/>
            </p:cNvSpPr>
            <p:nvPr/>
          </p:nvSpPr>
          <p:spPr bwMode="auto">
            <a:xfrm>
              <a:off x="1928794" y="43862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err="1">
                  <a:solidFill>
                    <a:schemeClr val="tx1"/>
                  </a:solidFill>
                  <a:latin typeface="Times New Roman" panose="02020603050405020304" pitchFamily="18" charset="0"/>
                  <a:ea typeface="宋体" panose="02010600030101010101" pitchFamily="2" charset="-122"/>
                </a:rPr>
                <a:t>Datapath</a:t>
              </a:r>
              <a:r>
                <a:rPr lang="en-US" altLang="zh-CN" dirty="0">
                  <a:solidFill>
                    <a:schemeClr val="tx1"/>
                  </a:solidFill>
                  <a:latin typeface="Times New Roman" panose="02020603050405020304" pitchFamily="18" charset="0"/>
                  <a:ea typeface="宋体" panose="02010600030101010101" pitchFamily="2" charset="-122"/>
                </a:rPr>
                <a:t> &amp; Control</a:t>
              </a:r>
            </a:p>
          </p:txBody>
        </p:sp>
        <p:sp>
          <p:nvSpPr>
            <p:cNvPr id="15" name="Rectangle 11"/>
            <p:cNvSpPr>
              <a:spLocks noChangeArrowheads="1"/>
            </p:cNvSpPr>
            <p:nvPr/>
          </p:nvSpPr>
          <p:spPr bwMode="auto">
            <a:xfrm>
              <a:off x="1928794" y="50720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Digital Design</a:t>
              </a:r>
            </a:p>
          </p:txBody>
        </p:sp>
        <p:sp>
          <p:nvSpPr>
            <p:cNvPr id="16" name="Rectangle 12"/>
            <p:cNvSpPr>
              <a:spLocks noChangeArrowheads="1"/>
            </p:cNvSpPr>
            <p:nvPr/>
          </p:nvSpPr>
          <p:spPr bwMode="auto">
            <a:xfrm>
              <a:off x="1928794" y="57578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latin typeface="Times New Roman" panose="02020603050405020304" pitchFamily="18" charset="0"/>
                  <a:ea typeface="宋体" panose="02010600030101010101" pitchFamily="2" charset="-122"/>
                </a:rPr>
                <a:t>Circuit Design</a:t>
              </a:r>
            </a:p>
          </p:txBody>
        </p:sp>
        <p:sp>
          <p:nvSpPr>
            <p:cNvPr id="17" name="Text Box 13"/>
            <p:cNvSpPr txBox="1">
              <a:spLocks noChangeArrowheads="1"/>
            </p:cNvSpPr>
            <p:nvPr/>
          </p:nvSpPr>
          <p:spPr bwMode="auto">
            <a:xfrm>
              <a:off x="449244" y="1831520"/>
              <a:ext cx="1479550" cy="857445"/>
            </a:xfrm>
            <a:prstGeom prst="rect">
              <a:avLst/>
            </a:prstGeom>
            <a:noFill/>
            <a:ln w="9525">
              <a:noFill/>
              <a:miter lim="800000"/>
            </a:ln>
            <a:effectLst/>
          </p:spPr>
          <p:txBody>
            <a:bodyPr wrap="square">
              <a:spAutoFit/>
            </a:bodyPr>
            <a:lstStyle/>
            <a:p>
              <a:pPr>
                <a:lnSpc>
                  <a:spcPct val="100000"/>
                </a:lnSpc>
                <a:spcBef>
                  <a:spcPts val="0"/>
                </a:spcBef>
                <a:buNone/>
              </a:pPr>
              <a:r>
                <a:rPr lang="en-US" altLang="zh-CN" sz="1600" dirty="0">
                  <a:solidFill>
                    <a:schemeClr val="tx2">
                      <a:lumMod val="75000"/>
                      <a:lumOff val="25000"/>
                    </a:schemeClr>
                  </a:solidFill>
                  <a:latin typeface="+mn-lt"/>
                </a:rPr>
                <a:t>Software</a:t>
              </a:r>
            </a:p>
            <a:p>
              <a:pPr>
                <a:lnSpc>
                  <a:spcPct val="100000"/>
                </a:lnSpc>
                <a:spcBef>
                  <a:spcPts val="0"/>
                </a:spcBef>
                <a:buNone/>
              </a:pPr>
              <a:r>
                <a:rPr lang="en-US" altLang="zh-CN" sz="1600" dirty="0">
                  <a:solidFill>
                    <a:schemeClr val="tx2">
                      <a:lumMod val="75000"/>
                      <a:lumOff val="25000"/>
                    </a:schemeClr>
                  </a:solidFill>
                  <a:latin typeface="+mn-lt"/>
                </a:rPr>
                <a:t>layers of</a:t>
              </a:r>
            </a:p>
            <a:p>
              <a:pPr>
                <a:lnSpc>
                  <a:spcPct val="100000"/>
                </a:lnSpc>
                <a:spcBef>
                  <a:spcPts val="0"/>
                </a:spcBef>
                <a:buNone/>
              </a:pPr>
              <a:r>
                <a:rPr lang="en-US" altLang="zh-CN" sz="1600" dirty="0">
                  <a:solidFill>
                    <a:schemeClr val="tx2">
                      <a:lumMod val="75000"/>
                      <a:lumOff val="25000"/>
                    </a:schemeClr>
                  </a:solidFill>
                  <a:latin typeface="+mn-lt"/>
                </a:rPr>
                <a:t>abstraction</a:t>
              </a:r>
            </a:p>
          </p:txBody>
        </p:sp>
      </p:grpSp>
      <p:pic>
        <p:nvPicPr>
          <p:cNvPr id="18"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0009" y="3789041"/>
            <a:ext cx="1902859" cy="120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5040" y="4998752"/>
            <a:ext cx="1661361" cy="878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矩形 19"/>
          <p:cNvSpPr/>
          <p:nvPr/>
        </p:nvSpPr>
        <p:spPr bwMode="auto">
          <a:xfrm>
            <a:off x="1798370" y="3261464"/>
            <a:ext cx="8546103" cy="2831833"/>
          </a:xfrm>
          <a:prstGeom prst="rect">
            <a:avLst/>
          </a:prstGeom>
          <a:solidFill>
            <a:srgbClr val="CCCCFF">
              <a:alpha val="41961"/>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
        <p:nvSpPr>
          <p:cNvPr id="3" name="内容占位符 2"/>
          <p:cNvSpPr>
            <a:spLocks noGrp="1"/>
          </p:cNvSpPr>
          <p:nvPr>
            <p:ph idx="1"/>
          </p:nvPr>
        </p:nvSpPr>
        <p:spPr>
          <a:xfrm>
            <a:off x="623392" y="836712"/>
            <a:ext cx="10369152" cy="5206554"/>
          </a:xfrm>
        </p:spPr>
        <p:txBody>
          <a:bodyPr/>
          <a:lstStyle/>
          <a:p>
            <a:pPr>
              <a:spcAft>
                <a:spcPts val="0"/>
              </a:spcAft>
            </a:pP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的功能：控制指令执行</a:t>
            </a:r>
            <a:endParaRPr lang="en-US" altLang="zh-CN" dirty="0">
              <a:latin typeface="黑体" panose="02010609060101010101" pitchFamily="49" charset="-122"/>
              <a:ea typeface="黑体" panose="02010609060101010101" pitchFamily="49" charset="-122"/>
            </a:endParaRPr>
          </a:p>
          <a:p>
            <a:pPr>
              <a:spcAft>
                <a:spcPts val="0"/>
              </a:spcAft>
            </a:pPr>
            <a:r>
              <a:rPr lang="zh-CN" altLang="en-US" dirty="0"/>
              <a:t>指令执行过程中的五种基本操作</a:t>
            </a:r>
            <a:endParaRPr lang="en-US" altLang="zh-CN" dirty="0"/>
          </a:p>
          <a:p>
            <a:pPr lvl="1">
              <a:spcAft>
                <a:spcPts val="0"/>
              </a:spcAft>
            </a:pPr>
            <a:r>
              <a:rPr lang="zh-CN" altLang="en-US" dirty="0"/>
              <a:t>取指：从指令存储器中读取某一指令，并传送至指令寄存器；</a:t>
            </a:r>
            <a:endParaRPr lang="en-US" altLang="zh-CN" dirty="0"/>
          </a:p>
          <a:p>
            <a:pPr lvl="1">
              <a:spcAft>
                <a:spcPts val="0"/>
              </a:spcAft>
            </a:pPr>
            <a:r>
              <a:rPr lang="zh-CN" altLang="en-US" dirty="0"/>
              <a:t>取数：读取某主存单元的数据，并传送至某个寄存器；</a:t>
            </a:r>
            <a:endParaRPr lang="en-US" altLang="zh-CN" dirty="0"/>
          </a:p>
          <a:p>
            <a:pPr lvl="1">
              <a:spcAft>
                <a:spcPts val="0"/>
              </a:spcAft>
            </a:pPr>
            <a:r>
              <a:rPr lang="zh-CN" altLang="en-US" dirty="0"/>
              <a:t>运算：进行某种算术或逻辑运算，结果保存到某个寄存器中；</a:t>
            </a:r>
            <a:endParaRPr lang="en-US" altLang="zh-CN" dirty="0"/>
          </a:p>
          <a:p>
            <a:pPr lvl="1">
              <a:spcAft>
                <a:spcPts val="0"/>
              </a:spcAft>
            </a:pPr>
            <a:r>
              <a:rPr lang="zh-CN" altLang="en-US" dirty="0"/>
              <a:t>存数：将某个寄存器中的数据存入主存某个单元之中。</a:t>
            </a:r>
            <a:endParaRPr lang="en-US" altLang="zh-CN" dirty="0"/>
          </a:p>
          <a:p>
            <a:pPr>
              <a:spcAft>
                <a:spcPts val="0"/>
              </a:spcAft>
            </a:pPr>
            <a:r>
              <a:rPr lang="zh-CN" altLang="en-US" dirty="0"/>
              <a:t>指令执行周期（一般性概念）：</a:t>
            </a:r>
            <a:r>
              <a:rPr lang="en-US" altLang="zh-CN" dirty="0"/>
              <a:t>CPU</a:t>
            </a:r>
            <a:r>
              <a:rPr lang="zh-CN" altLang="en-US" dirty="0"/>
              <a:t>从指令存储器中读出并执行指令功能的全部时间称为指令周期。包括：</a:t>
            </a:r>
            <a:endParaRPr lang="en-US" altLang="zh-CN" dirty="0"/>
          </a:p>
          <a:p>
            <a:pPr lvl="1">
              <a:spcAft>
                <a:spcPts val="0"/>
              </a:spcAft>
            </a:pPr>
            <a:r>
              <a:rPr lang="zh-CN" altLang="en-US" dirty="0"/>
              <a:t>取指周期：完成取指令操作和分析指令操作所需时间；</a:t>
            </a:r>
            <a:endParaRPr lang="en-US" altLang="zh-CN" dirty="0"/>
          </a:p>
          <a:p>
            <a:pPr lvl="1">
              <a:spcAft>
                <a:spcPts val="0"/>
              </a:spcAft>
            </a:pPr>
            <a:r>
              <a:rPr lang="zh-CN" altLang="en-US" dirty="0"/>
              <a:t>取数周期：从数据存储器读出操作数所需时间（包括计算操作数有效地址）；</a:t>
            </a:r>
            <a:endParaRPr lang="en-US" altLang="zh-CN" dirty="0"/>
          </a:p>
          <a:p>
            <a:pPr lvl="1">
              <a:spcAft>
                <a:spcPts val="0"/>
              </a:spcAft>
            </a:pPr>
            <a:r>
              <a:rPr lang="zh-CN" altLang="en-US" dirty="0"/>
              <a:t>执行周期：完成指令所规定的动作（运算）所需要时间，因指令不同而不同；</a:t>
            </a:r>
            <a:endParaRPr lang="en-US" altLang="zh-CN" dirty="0"/>
          </a:p>
          <a:p>
            <a:pPr lvl="1">
              <a:spcAft>
                <a:spcPts val="0"/>
              </a:spcAft>
            </a:pPr>
            <a:r>
              <a:rPr lang="zh-CN" altLang="en-US" dirty="0"/>
              <a:t>存数周期：把数据存储到存储器所需时间（包括计算操作数有效地址）；</a:t>
            </a:r>
            <a:endParaRPr lang="en-US" altLang="zh-CN" dirty="0"/>
          </a:p>
          <a:p>
            <a:pPr lvl="1">
              <a:spcAft>
                <a:spcPts val="0"/>
              </a:spcAft>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1" name="Rectangle 3"/>
          <p:cNvSpPr>
            <a:spLocks noGrp="1" noChangeArrowheads="1"/>
          </p:cNvSpPr>
          <p:nvPr>
            <p:ph type="body" idx="1"/>
          </p:nvPr>
        </p:nvSpPr>
        <p:spPr>
          <a:xfrm>
            <a:off x="479376" y="836712"/>
            <a:ext cx="10441160" cy="4436296"/>
          </a:xfrm>
          <a:noFill/>
        </p:spPr>
        <p:txBody>
          <a:bodyPr vert="horz" wrap="square" lIns="63500" tIns="133200" rIns="63500" bIns="133200" numCol="1" anchor="t" anchorCtr="0" compatLnSpc="1">
            <a:spAutoFit/>
          </a:bodyPr>
          <a:lstStyle/>
          <a:p>
            <a:pPr>
              <a:lnSpc>
                <a:spcPct val="110000"/>
              </a:lnSpc>
              <a:spcBef>
                <a:spcPct val="30000"/>
              </a:spcBef>
            </a:pPr>
            <a:r>
              <a:rPr lang="en-US" altLang="zh-CN" sz="2800" dirty="0">
                <a:ea typeface="宋体" panose="02010600030101010101" pitchFamily="2" charset="-122"/>
              </a:rPr>
              <a:t>CPU</a:t>
            </a:r>
            <a:r>
              <a:rPr lang="zh-CN" altLang="en-US" sz="2800" dirty="0">
                <a:ea typeface="宋体" panose="02010600030101010101" pitchFamily="2" charset="-122"/>
              </a:rPr>
              <a:t>所需的功能部件</a:t>
            </a:r>
            <a:endParaRPr lang="en-US" altLang="zh-CN" sz="2800" dirty="0">
              <a:ea typeface="宋体" panose="02010600030101010101" pitchFamily="2" charset="-122"/>
            </a:endParaRPr>
          </a:p>
          <a:p>
            <a:pPr lvl="1">
              <a:lnSpc>
                <a:spcPct val="110000"/>
              </a:lnSpc>
              <a:spcBef>
                <a:spcPct val="30000"/>
              </a:spcBef>
            </a:pPr>
            <a:r>
              <a:rPr lang="zh-CN" altLang="en-US" dirty="0">
                <a:ea typeface="宋体" panose="02010600030101010101" pitchFamily="2" charset="-122"/>
              </a:rPr>
              <a:t>取指令：从存储器中读出指令和分析指令（译码）</a:t>
            </a:r>
          </a:p>
          <a:p>
            <a:pPr lvl="2">
              <a:lnSpc>
                <a:spcPct val="110000"/>
              </a:lnSpc>
              <a:spcBef>
                <a:spcPct val="30000"/>
              </a:spcBef>
            </a:pPr>
            <a:r>
              <a:rPr lang="zh-CN" altLang="en-US" sz="2000" dirty="0">
                <a:ea typeface="宋体" panose="02010600030101010101" pitchFamily="2" charset="-122"/>
              </a:rPr>
              <a:t>指令地址部件：指明当前要读取的指令在存储器中的地址</a:t>
            </a:r>
          </a:p>
          <a:p>
            <a:pPr lvl="2">
              <a:lnSpc>
                <a:spcPct val="110000"/>
              </a:lnSpc>
              <a:spcBef>
                <a:spcPct val="30000"/>
              </a:spcBef>
            </a:pPr>
            <a:r>
              <a:rPr lang="zh-CN" altLang="en-US" sz="2000" dirty="0">
                <a:ea typeface="宋体" panose="02010600030101010101" pitchFamily="2" charset="-122"/>
              </a:rPr>
              <a:t>指令寄存部件：保存从存储器中取来的指令</a:t>
            </a:r>
          </a:p>
          <a:p>
            <a:pPr lvl="2">
              <a:lnSpc>
                <a:spcPct val="110000"/>
              </a:lnSpc>
              <a:spcBef>
                <a:spcPct val="30000"/>
              </a:spcBef>
            </a:pPr>
            <a:r>
              <a:rPr lang="zh-CN" altLang="en-US" sz="2000" dirty="0">
                <a:ea typeface="宋体" panose="02010600030101010101" pitchFamily="2" charset="-122"/>
              </a:rPr>
              <a:t>译码部件：对指令进行译码</a:t>
            </a:r>
          </a:p>
          <a:p>
            <a:pPr lvl="1">
              <a:lnSpc>
                <a:spcPct val="110000"/>
              </a:lnSpc>
              <a:spcBef>
                <a:spcPct val="30000"/>
              </a:spcBef>
            </a:pPr>
            <a:r>
              <a:rPr lang="zh-CN" altLang="en-US" dirty="0">
                <a:ea typeface="宋体" panose="02010600030101010101" pitchFamily="2" charset="-122"/>
              </a:rPr>
              <a:t>执行指令：实现指令应该具有的操作功能（包括取数和执行）。</a:t>
            </a:r>
          </a:p>
          <a:p>
            <a:pPr lvl="2">
              <a:lnSpc>
                <a:spcPct val="110000"/>
              </a:lnSpc>
              <a:spcBef>
                <a:spcPct val="30000"/>
              </a:spcBef>
            </a:pPr>
            <a:r>
              <a:rPr lang="zh-CN" altLang="en-US" sz="2000" dirty="0">
                <a:ea typeface="宋体" panose="02010600030101010101" pitchFamily="2" charset="-122"/>
              </a:rPr>
              <a:t>功能部件：</a:t>
            </a:r>
            <a:r>
              <a:rPr lang="en-US" altLang="zh-CN" sz="2000" dirty="0">
                <a:ea typeface="宋体" panose="02010600030101010101" pitchFamily="2" charset="-122"/>
              </a:rPr>
              <a:t>ALU</a:t>
            </a:r>
            <a:r>
              <a:rPr lang="zh-CN" altLang="en-US" sz="2000" dirty="0">
                <a:ea typeface="宋体" panose="02010600030101010101" pitchFamily="2" charset="-122"/>
              </a:rPr>
              <a:t>、寄存器、数据存储器、</a:t>
            </a:r>
            <a:r>
              <a:rPr lang="en-US" altLang="zh-CN" sz="2000" dirty="0">
                <a:ea typeface="宋体" panose="02010600030101010101" pitchFamily="2" charset="-122"/>
              </a:rPr>
              <a:t>MUX</a:t>
            </a:r>
            <a:r>
              <a:rPr lang="zh-CN" altLang="en-US" sz="2000" dirty="0">
                <a:ea typeface="宋体" panose="02010600030101010101" pitchFamily="2" charset="-122"/>
              </a:rPr>
              <a:t>、移位器、比较器等等</a:t>
            </a:r>
            <a:endParaRPr lang="en-US" altLang="zh-CN" sz="2000"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控制信号逻辑部件：根据指令的操作性质和操作对象的地址（译码结果），在时序信号配合下，产生一系列的控制信号，从而控制计算机的运算器、存储器或输入输出接口等部件工作，实现指令所表示的功能。</a:t>
            </a: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21" name="Text Box 9"/>
          <p:cNvSpPr txBox="1">
            <a:spLocks noChangeArrowheads="1"/>
          </p:cNvSpPr>
          <p:nvPr/>
        </p:nvSpPr>
        <p:spPr bwMode="auto">
          <a:xfrm>
            <a:off x="407368" y="965767"/>
            <a:ext cx="4680520" cy="3545586"/>
          </a:xfrm>
          <a:prstGeom prst="rect">
            <a:avLst/>
          </a:prstGeom>
          <a:noFill/>
          <a:ln w="12700">
            <a:noFill/>
            <a:miter lim="800000"/>
          </a:ln>
          <a:effectLst/>
        </p:spPr>
        <p:txBody>
          <a:bodyPr wrap="square">
            <a:spAutoFit/>
          </a:bodyPr>
          <a:lstStyle/>
          <a:p>
            <a:pPr marL="262255" indent="-262255">
              <a:spcBef>
                <a:spcPct val="50000"/>
              </a:spcBef>
              <a:buClr>
                <a:schemeClr val="accent1"/>
              </a:buClr>
            </a:pPr>
            <a:r>
              <a:rPr lang="en-US" altLang="zh-CN" sz="2400" dirty="0"/>
              <a:t>CPU</a:t>
            </a:r>
            <a:r>
              <a:rPr lang="zh-CN" altLang="en-US" sz="2400" dirty="0"/>
              <a:t>内部结构（内部单总线结构，一般性概念）</a:t>
            </a:r>
          </a:p>
          <a:p>
            <a:pPr marL="800100" lvl="1" indent="-342900">
              <a:spcBef>
                <a:spcPct val="50000"/>
              </a:spcBef>
              <a:buClr>
                <a:schemeClr val="accent1"/>
              </a:buClr>
              <a:buFont typeface="Wingdings" panose="05000000000000000000" pitchFamily="2" charset="2"/>
              <a:buChar char="p"/>
            </a:pPr>
            <a:r>
              <a:rPr lang="zh-CN" altLang="en-US" sz="2000" dirty="0"/>
              <a:t>数据通路 </a:t>
            </a:r>
            <a:r>
              <a:rPr lang="en-US" altLang="zh-CN" sz="2000" dirty="0"/>
              <a:t>(</a:t>
            </a:r>
            <a:r>
              <a:rPr lang="en-US" altLang="zh-CN" sz="2000" dirty="0" err="1"/>
              <a:t>datapath</a:t>
            </a:r>
            <a:r>
              <a:rPr lang="en-US" altLang="zh-CN" sz="2000" dirty="0"/>
              <a:t>)</a:t>
            </a:r>
          </a:p>
          <a:p>
            <a:pPr marL="1257300" lvl="2" indent="-342900">
              <a:spcBef>
                <a:spcPct val="50000"/>
              </a:spcBef>
              <a:buClr>
                <a:schemeClr val="accent1"/>
              </a:buClr>
              <a:buFont typeface="Wingdings" panose="05000000000000000000" pitchFamily="2" charset="2"/>
              <a:buChar char="u"/>
            </a:pPr>
            <a:r>
              <a:rPr lang="zh-CN" altLang="en-US" dirty="0"/>
              <a:t>运算</a:t>
            </a:r>
            <a:r>
              <a:rPr lang="zh-CN" altLang="en-US" b="1" dirty="0">
                <a:solidFill>
                  <a:schemeClr val="tx1"/>
                </a:solidFill>
              </a:rPr>
              <a:t>单元</a:t>
            </a:r>
            <a:endParaRPr lang="en-US" altLang="zh-CN" b="1" dirty="0">
              <a:solidFill>
                <a:schemeClr val="tx1"/>
              </a:solidFill>
            </a:endParaRPr>
          </a:p>
          <a:p>
            <a:pPr marL="1257300" lvl="2" indent="-342900">
              <a:spcBef>
                <a:spcPct val="50000"/>
              </a:spcBef>
              <a:buClr>
                <a:schemeClr val="accent1"/>
              </a:buClr>
              <a:buFont typeface="Wingdings" panose="05000000000000000000" pitchFamily="2" charset="2"/>
              <a:buChar char="u"/>
            </a:pPr>
            <a:r>
              <a:rPr lang="zh-CN" altLang="en-US" dirty="0"/>
              <a:t>寄存器单元</a:t>
            </a:r>
          </a:p>
          <a:p>
            <a:pPr marL="800100" lvl="1" indent="-342900">
              <a:spcBef>
                <a:spcPct val="50000"/>
              </a:spcBef>
              <a:buClr>
                <a:schemeClr val="accent1"/>
              </a:buClr>
              <a:buFont typeface="Wingdings" panose="05000000000000000000" pitchFamily="2" charset="2"/>
              <a:buChar char="p"/>
            </a:pPr>
            <a:r>
              <a:rPr lang="zh-CN" altLang="en-US" sz="2000" dirty="0"/>
              <a:t>控制器（</a:t>
            </a:r>
            <a:r>
              <a:rPr lang="en-US" altLang="zh-CN" sz="2000" dirty="0"/>
              <a:t>CU</a:t>
            </a:r>
            <a:r>
              <a:rPr lang="zh-CN" altLang="en-US" sz="2000" dirty="0"/>
              <a:t>）</a:t>
            </a:r>
            <a:endParaRPr lang="en-US" altLang="zh-CN" sz="2000" dirty="0"/>
          </a:p>
          <a:p>
            <a:pPr marL="1257300" lvl="2" indent="-342900">
              <a:spcBef>
                <a:spcPct val="50000"/>
              </a:spcBef>
              <a:buClr>
                <a:schemeClr val="accent1"/>
              </a:buClr>
              <a:buFont typeface="Wingdings" panose="05000000000000000000" pitchFamily="2" charset="2"/>
              <a:buChar char="u"/>
            </a:pPr>
            <a:r>
              <a:rPr lang="zh-CN" altLang="en-US" sz="2000" dirty="0"/>
              <a:t>指令译码器</a:t>
            </a:r>
            <a:r>
              <a:rPr lang="en-US" altLang="zh-CN" sz="2000" dirty="0"/>
              <a:t>ID</a:t>
            </a:r>
          </a:p>
          <a:p>
            <a:pPr marL="1257300" lvl="2" indent="-342900">
              <a:spcBef>
                <a:spcPct val="50000"/>
              </a:spcBef>
              <a:buClr>
                <a:schemeClr val="accent1"/>
              </a:buClr>
              <a:buFont typeface="Wingdings" panose="05000000000000000000" pitchFamily="2" charset="2"/>
              <a:buChar char="u"/>
            </a:pPr>
            <a:r>
              <a:rPr lang="zh-CN" altLang="en-US" sz="2000" dirty="0"/>
              <a:t>控制信号生成</a:t>
            </a:r>
          </a:p>
          <a:p>
            <a:pPr marL="800100" lvl="1" indent="-342900">
              <a:spcBef>
                <a:spcPct val="50000"/>
              </a:spcBef>
              <a:buClr>
                <a:schemeClr val="accent1"/>
              </a:buClr>
              <a:buFont typeface="Wingdings" panose="05000000000000000000" pitchFamily="2" charset="2"/>
              <a:buChar char="p"/>
            </a:pPr>
            <a:r>
              <a:rPr lang="zh-CN" altLang="en-US" sz="2000" dirty="0"/>
              <a:t>内部总线</a:t>
            </a:r>
          </a:p>
        </p:txBody>
      </p:sp>
      <p:graphicFrame>
        <p:nvGraphicFramePr>
          <p:cNvPr id="397322" name="Object 10"/>
          <p:cNvGraphicFramePr>
            <a:graphicFrameLocks noGrp="1" noChangeAspect="1"/>
          </p:cNvGraphicFramePr>
          <p:nvPr>
            <p:ph idx="1"/>
          </p:nvPr>
        </p:nvGraphicFramePr>
        <p:xfrm>
          <a:off x="5377586" y="1201664"/>
          <a:ext cx="4829695" cy="4384011"/>
        </p:xfrm>
        <a:graphic>
          <a:graphicData uri="http://schemas.openxmlformats.org/presentationml/2006/ole">
            <mc:AlternateContent xmlns:mc="http://schemas.openxmlformats.org/markup-compatibility/2006">
              <mc:Choice xmlns:v="urn:schemas-microsoft-com:vml" Requires="v">
                <p:oleObj spid="_x0000_s11323" name="Visio" r:id="rId4" imgW="7124700" imgH="6464300" progId="Visio.Drawing.11">
                  <p:embed/>
                </p:oleObj>
              </mc:Choice>
              <mc:Fallback>
                <p:oleObj name="Visio" r:id="rId4" imgW="7124700" imgH="6464300" progId="Visio.Drawing.11">
                  <p:embed/>
                  <p:pic>
                    <p:nvPicPr>
                      <p:cNvPr id="0" name="图片 11268"/>
                      <p:cNvPicPr>
                        <a:picLocks noChangeAspect="1" noChangeArrowheads="1"/>
                      </p:cNvPicPr>
                      <p:nvPr/>
                    </p:nvPicPr>
                    <p:blipFill>
                      <a:blip r:embed="rId5"/>
                      <a:srcRect/>
                      <a:stretch>
                        <a:fillRect/>
                      </a:stretch>
                    </p:blipFill>
                    <p:spPr bwMode="auto">
                      <a:xfrm>
                        <a:off x="5377586" y="1201664"/>
                        <a:ext cx="4829695" cy="4384011"/>
                      </a:xfrm>
                      <a:prstGeom prst="rect">
                        <a:avLst/>
                      </a:prstGeom>
                      <a:noFill/>
                    </p:spPr>
                  </p:pic>
                </p:oleObj>
              </mc:Fallback>
            </mc:AlternateContent>
          </a:graphicData>
        </a:graphic>
      </p:graphicFrame>
      <p:sp>
        <p:nvSpPr>
          <p:cNvPr id="2" name="TextBox 1"/>
          <p:cNvSpPr txBox="1"/>
          <p:nvPr/>
        </p:nvSpPr>
        <p:spPr>
          <a:xfrm>
            <a:off x="3287688" y="5085184"/>
            <a:ext cx="2089898" cy="327782"/>
          </a:xfrm>
          <a:prstGeom prst="rect">
            <a:avLst/>
          </a:prstGeom>
          <a:noFill/>
        </p:spPr>
        <p:txBody>
          <a:bodyPr wrap="square" rtlCol="0">
            <a:spAutoFit/>
          </a:bodyPr>
          <a:lstStyle/>
          <a:p>
            <a:pPr algn="r">
              <a:buNone/>
            </a:pPr>
            <a:r>
              <a:rPr lang="zh-CN" altLang="en-US" dirty="0"/>
              <a:t>外部总线</a:t>
            </a:r>
          </a:p>
        </p:txBody>
      </p:sp>
      <p:pic>
        <p:nvPicPr>
          <p:cNvPr id="3" name="图片 2"/>
          <p:cNvPicPr>
            <a:picLocks noChangeAspect="1"/>
          </p:cNvPicPr>
          <p:nvPr/>
        </p:nvPicPr>
        <p:blipFill>
          <a:blip r:embed="rId6"/>
          <a:stretch>
            <a:fillRect/>
          </a:stretch>
        </p:blipFill>
        <p:spPr>
          <a:xfrm>
            <a:off x="1703513" y="4716667"/>
            <a:ext cx="2532955" cy="2016224"/>
          </a:xfrm>
          <a:prstGeom prst="rect">
            <a:avLst/>
          </a:prstGeom>
        </p:spPr>
      </p:pic>
      <p:sp>
        <p:nvSpPr>
          <p:cNvPr id="5" name="标题 4"/>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p:cNvSpPr>
            <a:spLocks noGrp="1" noChangeArrowheads="1"/>
          </p:cNvSpPr>
          <p:nvPr>
            <p:ph type="body" idx="1"/>
          </p:nvPr>
        </p:nvSpPr>
        <p:spPr>
          <a:xfrm>
            <a:off x="479376" y="764704"/>
            <a:ext cx="10945216" cy="4959516"/>
          </a:xfrm>
          <a:noFill/>
        </p:spPr>
        <p:txBody>
          <a:bodyPr vert="horz" wrap="square" lIns="63500" tIns="133200" rIns="63500" bIns="133200" numCol="1" anchor="t" anchorCtr="0" compatLnSpc="1">
            <a:spAutoFit/>
          </a:bodyPr>
          <a:lstStyle/>
          <a:p>
            <a:pPr>
              <a:lnSpc>
                <a:spcPct val="110000"/>
              </a:lnSpc>
              <a:spcBef>
                <a:spcPct val="30000"/>
              </a:spcBef>
            </a:pPr>
            <a:r>
              <a:rPr lang="en-US" altLang="zh-CN" sz="2800" dirty="0">
                <a:ea typeface="宋体" panose="02010600030101010101" pitchFamily="2" charset="-122"/>
              </a:rPr>
              <a:t>CPU</a:t>
            </a:r>
            <a:r>
              <a:rPr lang="zh-CN" altLang="en-US" sz="2800" dirty="0">
                <a:ea typeface="宋体" panose="02010600030101010101" pitchFamily="2" charset="-122"/>
              </a:rPr>
              <a:t>的组成</a:t>
            </a:r>
          </a:p>
          <a:p>
            <a:pPr lvl="1">
              <a:lnSpc>
                <a:spcPct val="110000"/>
              </a:lnSpc>
              <a:spcBef>
                <a:spcPct val="30000"/>
              </a:spcBef>
            </a:pPr>
            <a:r>
              <a:rPr lang="zh-CN" altLang="en-US" dirty="0">
                <a:ea typeface="宋体" panose="02010600030101010101" pitchFamily="2" charset="-122"/>
              </a:rPr>
              <a:t>执行单元（数据通路，</a:t>
            </a:r>
            <a:r>
              <a:rPr lang="en-US" altLang="zh-CN" dirty="0" err="1">
                <a:ea typeface="宋体" panose="02010600030101010101" pitchFamily="2" charset="-122"/>
              </a:rPr>
              <a:t>datapath</a:t>
            </a:r>
            <a:r>
              <a:rPr lang="zh-CN" altLang="en-US" dirty="0">
                <a:ea typeface="宋体" panose="02010600030101010101" pitchFamily="2" charset="-122"/>
              </a:rPr>
              <a:t>）</a:t>
            </a:r>
            <a:endParaRPr lang="en-US" altLang="zh-CN"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运算单元：算术逻辑运算单元（</a:t>
            </a:r>
            <a:r>
              <a:rPr lang="en-US" altLang="zh-CN" sz="2000" dirty="0">
                <a:ea typeface="宋体" panose="02010600030101010101" pitchFamily="2" charset="-122"/>
              </a:rPr>
              <a:t>ALU</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寄存器：通用寄存器组（</a:t>
            </a:r>
            <a:r>
              <a:rPr lang="en-US" altLang="zh-CN" sz="2000" dirty="0">
                <a:ea typeface="宋体" panose="02010600030101010101" pitchFamily="2" charset="-122"/>
              </a:rPr>
              <a:t>GPRs</a:t>
            </a:r>
            <a:r>
              <a:rPr lang="zh-CN" altLang="en-US" sz="2000" dirty="0">
                <a:ea typeface="宋体" panose="02010600030101010101" pitchFamily="2" charset="-122"/>
              </a:rPr>
              <a:t>），标志寄存器（</a:t>
            </a:r>
            <a:r>
              <a:rPr lang="en-US" altLang="zh-CN" sz="2000" dirty="0">
                <a:ea typeface="宋体" panose="02010600030101010101" pitchFamily="2" charset="-122"/>
              </a:rPr>
              <a:t>FR</a:t>
            </a:r>
            <a:r>
              <a:rPr lang="zh-CN" altLang="en-US" sz="2000" dirty="0">
                <a:ea typeface="宋体" panose="02010600030101010101" pitchFamily="2" charset="-122"/>
              </a:rPr>
              <a:t>，又称程序状态字</a:t>
            </a:r>
            <a:r>
              <a:rPr lang="en-US" altLang="zh-CN" sz="2000" dirty="0">
                <a:ea typeface="宋体" panose="02010600030101010101" pitchFamily="2" charset="-122"/>
              </a:rPr>
              <a:t>PSW</a:t>
            </a:r>
            <a:r>
              <a:rPr lang="zh-CN" altLang="en-US" sz="2000" dirty="0">
                <a:ea typeface="宋体" panose="02010600030101010101" pitchFamily="2" charset="-122"/>
              </a:rPr>
              <a:t>），临时寄存器（</a:t>
            </a:r>
            <a:r>
              <a:rPr lang="en-US" altLang="zh-CN" sz="2000" dirty="0">
                <a:ea typeface="宋体" panose="02010600030101010101" pitchFamily="2" charset="-122"/>
              </a:rPr>
              <a:t>TR</a:t>
            </a:r>
            <a:r>
              <a:rPr lang="zh-CN" altLang="en-US" sz="2000" dirty="0">
                <a:ea typeface="宋体" panose="02010600030101010101" pitchFamily="2" charset="-122"/>
              </a:rPr>
              <a:t>，</a:t>
            </a:r>
            <a:r>
              <a:rPr lang="en-US" altLang="zh-CN" sz="2000" dirty="0">
                <a:ea typeface="宋体" panose="02010600030101010101" pitchFamily="2" charset="-122"/>
              </a:rPr>
              <a:t>Ho</a:t>
            </a:r>
            <a:r>
              <a:rPr lang="zh-CN" altLang="en-US" sz="2000" dirty="0">
                <a:ea typeface="宋体" panose="02010600030101010101" pitchFamily="2" charset="-122"/>
              </a:rPr>
              <a:t>，</a:t>
            </a:r>
            <a:r>
              <a:rPr lang="en-US" altLang="zh-CN" sz="2000" dirty="0">
                <a:ea typeface="宋体" panose="02010600030101010101" pitchFamily="2" charset="-122"/>
              </a:rPr>
              <a:t>Lo</a:t>
            </a:r>
            <a:r>
              <a:rPr lang="zh-CN" altLang="en-US" sz="2000" dirty="0">
                <a:ea typeface="宋体" panose="02010600030101010101" pitchFamily="2" charset="-122"/>
              </a:rPr>
              <a:t>等）</a:t>
            </a:r>
            <a:endParaRPr lang="en-US" altLang="zh-CN" sz="2000"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数据存储器、</a:t>
            </a:r>
            <a:r>
              <a:rPr lang="en-US" altLang="zh-CN" sz="2000" dirty="0">
                <a:ea typeface="宋体" panose="02010600030101010101" pitchFamily="2" charset="-122"/>
              </a:rPr>
              <a:t>MUX</a:t>
            </a:r>
            <a:r>
              <a:rPr lang="zh-CN" altLang="en-US" sz="2000" dirty="0">
                <a:ea typeface="宋体" panose="02010600030101010101" pitchFamily="2" charset="-122"/>
              </a:rPr>
              <a:t>、移位器、比较器等</a:t>
            </a:r>
          </a:p>
          <a:p>
            <a:pPr lvl="1">
              <a:lnSpc>
                <a:spcPct val="110000"/>
              </a:lnSpc>
              <a:spcBef>
                <a:spcPct val="30000"/>
              </a:spcBef>
            </a:pPr>
            <a:r>
              <a:rPr lang="zh-CN" altLang="en-US" dirty="0">
                <a:ea typeface="宋体" panose="02010600030101010101" pitchFamily="2" charset="-122"/>
              </a:rPr>
              <a:t>控制单元（</a:t>
            </a:r>
            <a:r>
              <a:rPr lang="en-US" altLang="zh-CN" dirty="0">
                <a:ea typeface="宋体" panose="02010600030101010101" pitchFamily="2" charset="-122"/>
              </a:rPr>
              <a:t> </a:t>
            </a:r>
            <a:r>
              <a:rPr lang="zh-CN" altLang="en-US" dirty="0">
                <a:ea typeface="宋体" panose="02010600030101010101" pitchFamily="2" charset="-122"/>
              </a:rPr>
              <a:t>控制器，</a:t>
            </a:r>
            <a:r>
              <a:rPr lang="en-US" altLang="zh-CN" dirty="0">
                <a:ea typeface="宋体" panose="02010600030101010101" pitchFamily="2" charset="-122"/>
              </a:rPr>
              <a:t>control</a:t>
            </a:r>
            <a:r>
              <a:rPr lang="zh-CN" altLang="en-US"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指令地址部件：程序计数器（</a:t>
            </a:r>
            <a:r>
              <a:rPr lang="en-US" altLang="zh-CN" sz="2000" dirty="0">
                <a:ea typeface="宋体" panose="02010600030101010101" pitchFamily="2" charset="-122"/>
              </a:rPr>
              <a:t>PC</a:t>
            </a:r>
            <a:r>
              <a:rPr lang="zh-CN" altLang="en-US" sz="2000" dirty="0">
                <a:ea typeface="宋体" panose="02010600030101010101" pitchFamily="2" charset="-122"/>
              </a:rPr>
              <a:t> － </a:t>
            </a:r>
            <a:r>
              <a:rPr lang="en-US" altLang="zh-CN" sz="2000" dirty="0">
                <a:ea typeface="宋体" panose="02010600030101010101" pitchFamily="2" charset="-122"/>
              </a:rPr>
              <a:t>Program Counter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指令寄存部件：指令寄存器（</a:t>
            </a:r>
            <a:r>
              <a:rPr lang="en-US" altLang="zh-CN" sz="2000" dirty="0">
                <a:ea typeface="宋体" panose="02010600030101010101" pitchFamily="2" charset="-122"/>
              </a:rPr>
              <a:t>IR</a:t>
            </a:r>
            <a:r>
              <a:rPr lang="zh-CN" altLang="en-US" sz="2000" dirty="0">
                <a:ea typeface="宋体" panose="02010600030101010101" pitchFamily="2" charset="-122"/>
              </a:rPr>
              <a:t> － </a:t>
            </a:r>
            <a:r>
              <a:rPr lang="en-US" altLang="zh-CN" sz="2000" dirty="0">
                <a:ea typeface="宋体" panose="02010600030101010101" pitchFamily="2" charset="-122"/>
              </a:rPr>
              <a:t>Instruction Register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译码部件：指令译码器（</a:t>
            </a:r>
            <a:r>
              <a:rPr lang="en-US" altLang="zh-CN" sz="2000" dirty="0">
                <a:ea typeface="宋体" panose="02010600030101010101" pitchFamily="2" charset="-122"/>
              </a:rPr>
              <a:t>ID</a:t>
            </a:r>
            <a:r>
              <a:rPr lang="zh-CN" altLang="en-US" sz="2000" dirty="0">
                <a:ea typeface="宋体" panose="02010600030101010101" pitchFamily="2" charset="-122"/>
              </a:rPr>
              <a:t> － </a:t>
            </a:r>
            <a:r>
              <a:rPr lang="en-US" altLang="zh-CN" sz="2000" dirty="0">
                <a:ea typeface="宋体" panose="02010600030101010101" pitchFamily="2" charset="-122"/>
              </a:rPr>
              <a:t>Instruction Decoder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时序部件：产生时钟信号</a:t>
            </a: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a:xfrm>
            <a:off x="335360" y="668387"/>
            <a:ext cx="11305256" cy="5698180"/>
          </a:xfrm>
          <a:noFill/>
        </p:spPr>
        <p:txBody>
          <a:bodyPr vert="horz" wrap="square" lIns="63500" tIns="133200" rIns="63500" bIns="133200" numCol="1" anchor="t" anchorCtr="0" compatLnSpc="1">
            <a:spAutoFit/>
          </a:bodyPr>
          <a:lstStyle/>
          <a:p>
            <a:pPr>
              <a:lnSpc>
                <a:spcPct val="120000"/>
              </a:lnSpc>
            </a:pPr>
            <a:r>
              <a:rPr lang="zh-CN" altLang="en-US" sz="2800" dirty="0">
                <a:ea typeface="宋体" panose="02010600030101010101" pitchFamily="2" charset="-122"/>
              </a:rPr>
              <a:t>数据通路</a:t>
            </a:r>
          </a:p>
          <a:p>
            <a:pPr lvl="1">
              <a:lnSpc>
                <a:spcPct val="120000"/>
              </a:lnSpc>
            </a:pPr>
            <a:r>
              <a:rPr lang="zh-CN" altLang="en-US" dirty="0">
                <a:ea typeface="宋体" panose="02010600030101010101" pitchFamily="2" charset="-122"/>
              </a:rPr>
              <a:t>指令执行过程中，指令数据流所经过的部件和路径总称，用以实现数据的传送、处理和存储等功能，是</a:t>
            </a:r>
            <a:r>
              <a:rPr lang="zh-CN" altLang="en-US" dirty="0">
                <a:solidFill>
                  <a:srgbClr val="FF0000"/>
                </a:solidFill>
                <a:ea typeface="宋体" panose="02010600030101010101" pitchFamily="2" charset="-122"/>
              </a:rPr>
              <a:t>指令的执行部件</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CPU</a:t>
            </a:r>
            <a:r>
              <a:rPr lang="zh-CN" altLang="en-US" dirty="0">
                <a:ea typeface="宋体" panose="02010600030101010101" pitchFamily="2" charset="-122"/>
              </a:rPr>
              <a:t>指令执行可类比于厨师做菜：先看客户订单（指令），然后配菜，切菜，炒菜，装盘，送菜（存结果），整个过程构成了</a:t>
            </a:r>
            <a:r>
              <a:rPr lang="zh-CN" altLang="en-US" dirty="0">
                <a:solidFill>
                  <a:srgbClr val="FF0000"/>
                </a:solidFill>
                <a:ea typeface="宋体" panose="02010600030101010101" pitchFamily="2" charset="-122"/>
              </a:rPr>
              <a:t>“</a:t>
            </a:r>
            <a:r>
              <a:rPr lang="en-US" altLang="zh-CN" dirty="0" err="1">
                <a:solidFill>
                  <a:srgbClr val="FF0000"/>
                </a:solidFill>
                <a:ea typeface="宋体" panose="02010600030101010101" pitchFamily="2" charset="-122"/>
              </a:rPr>
              <a:t>datapath</a:t>
            </a:r>
            <a:r>
              <a:rPr lang="zh-CN" altLang="en-US" dirty="0">
                <a:solidFill>
                  <a:srgbClr val="FF0000"/>
                </a:solidFill>
                <a:ea typeface="宋体" panose="02010600030101010101" pitchFamily="2" charset="-122"/>
              </a:rPr>
              <a:t>”</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20000"/>
              </a:lnSpc>
            </a:pPr>
            <a:r>
              <a:rPr lang="zh-CN" altLang="en-US" dirty="0">
                <a:ea typeface="宋体" panose="02010600030101010101" pitchFamily="2" charset="-122"/>
              </a:rPr>
              <a:t>构成</a:t>
            </a:r>
            <a:endParaRPr lang="en-US" altLang="zh-CN" dirty="0">
              <a:ea typeface="宋体" panose="02010600030101010101" pitchFamily="2" charset="-122"/>
            </a:endParaRPr>
          </a:p>
          <a:p>
            <a:pPr lvl="2">
              <a:lnSpc>
                <a:spcPct val="120000"/>
              </a:lnSpc>
            </a:pPr>
            <a:r>
              <a:rPr lang="zh-CN" altLang="en-US" sz="2000" dirty="0">
                <a:ea typeface="宋体" panose="02010600030101010101" pitchFamily="2" charset="-122"/>
              </a:rPr>
              <a:t>组合逻辑元件（操作元件）：</a:t>
            </a:r>
            <a:r>
              <a:rPr lang="en-US" altLang="zh-CN" sz="2000" dirty="0">
                <a:ea typeface="宋体" panose="02010600030101010101" pitchFamily="2" charset="-122"/>
              </a:rPr>
              <a:t>ALU</a:t>
            </a:r>
            <a:r>
              <a:rPr lang="zh-CN" altLang="en-US" sz="2000" dirty="0">
                <a:ea typeface="宋体" panose="02010600030101010101" pitchFamily="2" charset="-122"/>
              </a:rPr>
              <a:t>、译码器、移位器、扩展器、多路选择器等</a:t>
            </a:r>
            <a:endParaRPr lang="en-US" altLang="zh-CN" sz="2000" dirty="0">
              <a:ea typeface="宋体" panose="02010600030101010101" pitchFamily="2" charset="-122"/>
            </a:endParaRPr>
          </a:p>
          <a:p>
            <a:pPr lvl="2">
              <a:lnSpc>
                <a:spcPct val="120000"/>
              </a:lnSpc>
            </a:pPr>
            <a:r>
              <a:rPr lang="zh-CN" altLang="en-US" sz="2000" dirty="0">
                <a:ea typeface="宋体" panose="02010600030101010101" pitchFamily="2" charset="-122"/>
              </a:rPr>
              <a:t>存储元件（状态元件）：存储器、寄存器等</a:t>
            </a:r>
            <a:endParaRPr lang="en-US" altLang="zh-CN" sz="2000" dirty="0">
              <a:ea typeface="宋体" panose="02010600030101010101" pitchFamily="2" charset="-122"/>
            </a:endParaRPr>
          </a:p>
          <a:p>
            <a:pPr lvl="1">
              <a:lnSpc>
                <a:spcPct val="120000"/>
              </a:lnSpc>
            </a:pPr>
            <a:r>
              <a:rPr lang="zh-CN" altLang="en-US" dirty="0">
                <a:ea typeface="宋体" panose="02010600030101010101" pitchFamily="2" charset="-122"/>
              </a:rPr>
              <a:t>部件间连接方式</a:t>
            </a:r>
            <a:endParaRPr lang="en-US" altLang="zh-CN" dirty="0">
              <a:ea typeface="宋体" panose="02010600030101010101" pitchFamily="2" charset="-122"/>
            </a:endParaRPr>
          </a:p>
          <a:p>
            <a:pPr lvl="2">
              <a:lnSpc>
                <a:spcPct val="120000"/>
              </a:lnSpc>
            </a:pPr>
            <a:r>
              <a:rPr lang="zh-CN" altLang="en-US" sz="2000" dirty="0">
                <a:ea typeface="宋体" panose="02010600030101010101" pitchFamily="2" charset="-122"/>
              </a:rPr>
              <a:t>总线连接方式（</a:t>
            </a:r>
            <a:r>
              <a:rPr lang="en-US" altLang="zh-CN" sz="2000" dirty="0">
                <a:ea typeface="宋体" panose="02010600030101010101" pitchFamily="2" charset="-122"/>
              </a:rPr>
              <a:t>CPU</a:t>
            </a:r>
            <a:r>
              <a:rPr lang="zh-CN" altLang="en-US" sz="2000" dirty="0">
                <a:ea typeface="宋体" panose="02010600030101010101" pitchFamily="2" charset="-122"/>
              </a:rPr>
              <a:t>内部总线）</a:t>
            </a:r>
            <a:endParaRPr lang="en-US" altLang="zh-CN" sz="2000" dirty="0">
              <a:ea typeface="宋体" panose="02010600030101010101" pitchFamily="2" charset="-122"/>
            </a:endParaRPr>
          </a:p>
          <a:p>
            <a:pPr lvl="2">
              <a:lnSpc>
                <a:spcPct val="120000"/>
              </a:lnSpc>
            </a:pPr>
            <a:r>
              <a:rPr lang="zh-CN" altLang="en-US" sz="2000" dirty="0">
                <a:ea typeface="宋体" panose="02010600030101010101" pitchFamily="2" charset="-122"/>
              </a:rPr>
              <a:t>分散连接方式（</a:t>
            </a:r>
            <a:r>
              <a:rPr lang="en-US" altLang="zh-CN" sz="2000" dirty="0">
                <a:ea typeface="宋体" panose="02010600030101010101" pitchFamily="2" charset="-122"/>
              </a:rPr>
              <a:t>P2P</a:t>
            </a:r>
            <a:r>
              <a:rPr lang="zh-CN" altLang="en-US" sz="2000" dirty="0">
                <a:ea typeface="宋体" panose="02010600030101010101" pitchFamily="2" charset="-122"/>
              </a:rPr>
              <a:t>）</a:t>
            </a:r>
            <a:endParaRPr lang="en-US" altLang="zh-CN" sz="2000" dirty="0">
              <a:ea typeface="宋体" panose="02010600030101010101" pitchFamily="2" charset="-122"/>
            </a:endParaRPr>
          </a:p>
          <a:p>
            <a:pPr>
              <a:lnSpc>
                <a:spcPct val="120000"/>
              </a:lnSpc>
            </a:pPr>
            <a:r>
              <a:rPr lang="zh-CN" altLang="en-US" sz="2600" dirty="0">
                <a:ea typeface="宋体" panose="02010600030101010101" pitchFamily="2" charset="-122"/>
              </a:rPr>
              <a:t>控制器</a:t>
            </a:r>
            <a:endParaRPr lang="en-US" altLang="zh-CN" sz="2600" dirty="0">
              <a:ea typeface="宋体" panose="02010600030101010101" pitchFamily="2" charset="-122"/>
            </a:endParaRPr>
          </a:p>
          <a:p>
            <a:pPr lvl="1">
              <a:lnSpc>
                <a:spcPct val="120000"/>
              </a:lnSpc>
            </a:pPr>
            <a:r>
              <a:rPr lang="zh-CN" altLang="en-US" dirty="0">
                <a:ea typeface="宋体" panose="02010600030101010101" pitchFamily="2" charset="-122"/>
              </a:rPr>
              <a:t>对指令进行译码并生成指令执行所需的控制信号，以实现对数据通路中各件的功能控制，以及相应路径的开关控制等，是</a:t>
            </a:r>
            <a:r>
              <a:rPr lang="zh-CN" altLang="en-US" dirty="0">
                <a:solidFill>
                  <a:srgbClr val="FF0000"/>
                </a:solidFill>
                <a:ea typeface="宋体" panose="02010600030101010101" pitchFamily="2" charset="-122"/>
              </a:rPr>
              <a:t>指令的控制部件</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365" y="934669"/>
            <a:ext cx="3550989" cy="4744889"/>
          </a:xfrm>
        </p:spPr>
        <p:txBody>
          <a:bodyPr/>
          <a:lstStyle/>
          <a:p>
            <a:r>
              <a:rPr lang="zh-CN" altLang="en-US" dirty="0"/>
              <a:t>简单的数据通路示例</a:t>
            </a:r>
            <a:endParaRPr lang="en-US" altLang="zh-CN" dirty="0"/>
          </a:p>
          <a:p>
            <a:pPr lvl="1"/>
            <a:r>
              <a:rPr lang="zh-CN" altLang="en-US" dirty="0"/>
              <a:t>取指令路径</a:t>
            </a:r>
            <a:endParaRPr lang="en-US" altLang="zh-CN" dirty="0"/>
          </a:p>
          <a:p>
            <a:pPr lvl="2"/>
            <a:r>
              <a:rPr lang="en-US" altLang="zh-CN" dirty="0"/>
              <a:t>PC</a:t>
            </a:r>
            <a:r>
              <a:rPr lang="en-US" altLang="zh-CN" dirty="0">
                <a:sym typeface="Wingdings" panose="05000000000000000000" pitchFamily="2" charset="2"/>
              </a:rPr>
              <a:t>MAR</a:t>
            </a:r>
          </a:p>
          <a:p>
            <a:pPr lvl="2"/>
            <a:r>
              <a:rPr lang="en-US" altLang="zh-CN" dirty="0">
                <a:sym typeface="Wingdings" panose="05000000000000000000" pitchFamily="2" charset="2"/>
              </a:rPr>
              <a:t>Read </a:t>
            </a:r>
            <a:r>
              <a:rPr lang="en-US" altLang="zh-CN" dirty="0" err="1">
                <a:sym typeface="Wingdings" panose="05000000000000000000" pitchFamily="2" charset="2"/>
              </a:rPr>
              <a:t>Mem</a:t>
            </a:r>
            <a:r>
              <a:rPr lang="en-US" altLang="zh-CN" dirty="0">
                <a:sym typeface="Wingdings" panose="05000000000000000000" pitchFamily="2" charset="2"/>
              </a:rPr>
              <a:t>.</a:t>
            </a:r>
          </a:p>
          <a:p>
            <a:pPr lvl="2"/>
            <a:r>
              <a:rPr lang="en-US" altLang="zh-CN" dirty="0"/>
              <a:t>M</a:t>
            </a:r>
            <a:r>
              <a:rPr lang="en-US" altLang="zh-CN" dirty="0">
                <a:sym typeface="Wingdings" panose="05000000000000000000" pitchFamily="2" charset="2"/>
              </a:rPr>
              <a:t>MBRIBRIR</a:t>
            </a:r>
          </a:p>
          <a:p>
            <a:pPr lvl="1"/>
            <a:r>
              <a:rPr lang="zh-CN" altLang="en-US" dirty="0">
                <a:sym typeface="Wingdings" panose="05000000000000000000" pitchFamily="2" charset="2"/>
              </a:rPr>
              <a:t>取操作数的路径</a:t>
            </a:r>
            <a:endParaRPr lang="en-US" altLang="zh-CN" dirty="0">
              <a:sym typeface="Wingdings" panose="05000000000000000000" pitchFamily="2" charset="2"/>
            </a:endParaRPr>
          </a:p>
          <a:p>
            <a:pPr lvl="2"/>
            <a:r>
              <a:rPr lang="zh-CN" altLang="en-US" dirty="0">
                <a:sym typeface="Wingdings" panose="05000000000000000000" pitchFamily="2" charset="2"/>
              </a:rPr>
              <a:t>操作数地址</a:t>
            </a:r>
            <a:r>
              <a:rPr lang="en-US" altLang="zh-CN" dirty="0">
                <a:sym typeface="Wingdings" panose="05000000000000000000" pitchFamily="2" charset="2"/>
              </a:rPr>
              <a:t>MAR</a:t>
            </a:r>
          </a:p>
          <a:p>
            <a:pPr lvl="2"/>
            <a:r>
              <a:rPr lang="en-US" altLang="zh-CN" dirty="0">
                <a:sym typeface="Wingdings" panose="05000000000000000000" pitchFamily="2" charset="2"/>
              </a:rPr>
              <a:t>Read </a:t>
            </a:r>
            <a:r>
              <a:rPr lang="en-US" altLang="zh-CN" dirty="0" err="1">
                <a:sym typeface="Wingdings" panose="05000000000000000000" pitchFamily="2" charset="2"/>
              </a:rPr>
              <a:t>Mem</a:t>
            </a:r>
            <a:r>
              <a:rPr lang="en-US" altLang="zh-CN" dirty="0">
                <a:sym typeface="Wingdings" panose="05000000000000000000" pitchFamily="2" charset="2"/>
              </a:rPr>
              <a:t>.</a:t>
            </a:r>
          </a:p>
          <a:p>
            <a:pPr lvl="2"/>
            <a:r>
              <a:rPr lang="en-US" altLang="zh-CN" dirty="0"/>
              <a:t>M</a:t>
            </a:r>
            <a:r>
              <a:rPr lang="en-US" altLang="zh-CN" dirty="0">
                <a:sym typeface="Wingdings" panose="05000000000000000000" pitchFamily="2" charset="2"/>
              </a:rPr>
              <a:t>MBRALU</a:t>
            </a:r>
          </a:p>
          <a:p>
            <a:pPr lvl="1"/>
            <a:r>
              <a:rPr lang="zh-CN" altLang="en-US" dirty="0">
                <a:sym typeface="Wingdings" panose="05000000000000000000" pitchFamily="2" charset="2"/>
              </a:rPr>
              <a:t>运算结果保存路径</a:t>
            </a:r>
            <a:endParaRPr lang="en-US" altLang="zh-CN" dirty="0">
              <a:sym typeface="Wingdings" panose="05000000000000000000" pitchFamily="2" charset="2"/>
            </a:endParaRPr>
          </a:p>
          <a:p>
            <a:pPr lvl="2"/>
            <a:r>
              <a:rPr lang="en-US" altLang="zh-CN" dirty="0">
                <a:sym typeface="Wingdings" panose="05000000000000000000" pitchFamily="2" charset="2"/>
              </a:rPr>
              <a:t>ALU</a:t>
            </a:r>
            <a:r>
              <a:rPr lang="zh-CN" altLang="en-US" dirty="0">
                <a:sym typeface="Wingdings" panose="05000000000000000000" pitchFamily="2" charset="2"/>
              </a:rPr>
              <a:t>结果</a:t>
            </a:r>
            <a:r>
              <a:rPr lang="en-US" altLang="zh-CN" dirty="0">
                <a:sym typeface="Wingdings" panose="05000000000000000000" pitchFamily="2" charset="2"/>
              </a:rPr>
              <a:t>MBR</a:t>
            </a:r>
          </a:p>
          <a:p>
            <a:pPr lvl="2"/>
            <a:r>
              <a:rPr lang="zh-CN" altLang="en-US" dirty="0">
                <a:sym typeface="Wingdings" panose="05000000000000000000" pitchFamily="2" charset="2"/>
              </a:rPr>
              <a:t>结果地址</a:t>
            </a:r>
            <a:r>
              <a:rPr lang="en-US" altLang="zh-CN" dirty="0">
                <a:sym typeface="Wingdings" panose="05000000000000000000" pitchFamily="2" charset="2"/>
              </a:rPr>
              <a:t>MAR</a:t>
            </a:r>
          </a:p>
          <a:p>
            <a:pPr lvl="2"/>
            <a:r>
              <a:rPr lang="en-US" altLang="zh-CN" dirty="0">
                <a:sym typeface="Wingdings" panose="05000000000000000000" pitchFamily="2" charset="2"/>
              </a:rPr>
              <a:t>Write </a:t>
            </a:r>
            <a:r>
              <a:rPr lang="en-US" altLang="zh-CN" dirty="0" err="1">
                <a:sym typeface="Wingdings" panose="05000000000000000000" pitchFamily="2" charset="2"/>
              </a:rPr>
              <a:t>Mem</a:t>
            </a:r>
            <a:r>
              <a:rPr lang="en-US" altLang="zh-CN" dirty="0">
                <a:sym typeface="Wingdings" panose="05000000000000000000" pitchFamily="2" charset="2"/>
              </a:rPr>
              <a:t>.</a:t>
            </a:r>
            <a:endParaRPr lang="zh-CN" altLang="en-US" dirty="0"/>
          </a:p>
        </p:txBody>
      </p:sp>
      <p:pic>
        <p:nvPicPr>
          <p:cNvPr id="3" name="图片 2"/>
          <p:cNvPicPr>
            <a:picLocks noChangeAspect="1"/>
          </p:cNvPicPr>
          <p:nvPr/>
        </p:nvPicPr>
        <p:blipFill>
          <a:blip r:embed="rId3"/>
          <a:stretch>
            <a:fillRect/>
          </a:stretch>
        </p:blipFill>
        <p:spPr>
          <a:xfrm>
            <a:off x="4727848" y="1080412"/>
            <a:ext cx="5040560" cy="5276768"/>
          </a:xfrm>
          <a:prstGeom prst="rect">
            <a:avLst/>
          </a:prstGeom>
          <a:ln w="19050">
            <a:solidFill>
              <a:srgbClr val="336600"/>
            </a:solidFill>
          </a:ln>
          <a:effectLst>
            <a:glow rad="101600">
              <a:schemeClr val="accent4">
                <a:satMod val="175000"/>
                <a:alpha val="40000"/>
              </a:schemeClr>
            </a:glow>
          </a:effectLst>
        </p:spPr>
      </p:pic>
      <p:sp>
        <p:nvSpPr>
          <p:cNvPr id="4" name="矩形 3"/>
          <p:cNvSpPr/>
          <p:nvPr/>
        </p:nvSpPr>
        <p:spPr>
          <a:xfrm>
            <a:off x="5614540" y="6449626"/>
            <a:ext cx="2509020" cy="327782"/>
          </a:xfrm>
          <a:prstGeom prst="rect">
            <a:avLst/>
          </a:prstGeom>
        </p:spPr>
        <p:txBody>
          <a:bodyPr wrap="none">
            <a:spAutoFit/>
          </a:bodyPr>
          <a:lstStyle/>
          <a:p>
            <a:pPr>
              <a:buNone/>
            </a:pPr>
            <a:r>
              <a:rPr lang="zh-CN" altLang="en-US" dirty="0">
                <a:solidFill>
                  <a:srgbClr val="FF0000"/>
                </a:solidFill>
              </a:rPr>
              <a:t>早期累加器型数据通路</a:t>
            </a:r>
            <a:endParaRPr lang="en-US" altLang="zh-CN" dirty="0">
              <a:solidFill>
                <a:srgbClr val="FF0000"/>
              </a:solidFill>
            </a:endParaRPr>
          </a:p>
        </p:txBody>
      </p:sp>
      <p:sp>
        <p:nvSpPr>
          <p:cNvPr id="5" name="矩形 4"/>
          <p:cNvSpPr/>
          <p:nvPr/>
        </p:nvSpPr>
        <p:spPr>
          <a:xfrm>
            <a:off x="417934" y="5886396"/>
            <a:ext cx="3923928" cy="674031"/>
          </a:xfrm>
          <a:prstGeom prst="rect">
            <a:avLst/>
          </a:prstGeom>
        </p:spPr>
        <p:txBody>
          <a:bodyPr wrap="square">
            <a:spAutoFit/>
          </a:bodyPr>
          <a:lstStyle/>
          <a:p>
            <a:pPr>
              <a:buNone/>
            </a:pPr>
            <a:r>
              <a:rPr lang="en-US" altLang="zh-CN" i="1" dirty="0"/>
              <a:t>IBR</a:t>
            </a:r>
            <a:r>
              <a:rPr lang="en-US" altLang="zh-CN" dirty="0"/>
              <a:t> (</a:t>
            </a:r>
            <a:r>
              <a:rPr lang="en-US" altLang="zh-CN" i="1" dirty="0"/>
              <a:t>Instruction</a:t>
            </a:r>
            <a:r>
              <a:rPr lang="en-US" altLang="zh-CN" dirty="0"/>
              <a:t> buffer </a:t>
            </a:r>
            <a:r>
              <a:rPr lang="en-US" altLang="zh-CN" i="1" dirty="0"/>
              <a:t>register</a:t>
            </a:r>
            <a:r>
              <a:rPr lang="en-US" altLang="zh-CN" dirty="0"/>
              <a:t>)</a:t>
            </a:r>
          </a:p>
          <a:p>
            <a:pPr>
              <a:buNone/>
            </a:pPr>
            <a:r>
              <a:rPr lang="en-US" altLang="zh-CN" dirty="0"/>
              <a:t>Memory Buffer </a:t>
            </a:r>
            <a:r>
              <a:rPr lang="en-US" altLang="zh-CN" i="1" dirty="0"/>
              <a:t>Register</a:t>
            </a:r>
            <a:r>
              <a:rPr lang="en-US" altLang="zh-CN" dirty="0"/>
              <a:t> (</a:t>
            </a:r>
            <a:r>
              <a:rPr lang="en-US" altLang="zh-CN" i="1" dirty="0"/>
              <a:t>MBR</a:t>
            </a:r>
            <a:r>
              <a:rPr lang="en-US" altLang="zh-CN" dirty="0"/>
              <a:t>)</a:t>
            </a:r>
          </a:p>
        </p:txBody>
      </p:sp>
      <p:sp>
        <p:nvSpPr>
          <p:cNvPr id="7" name="标题 6"/>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07368" y="836712"/>
            <a:ext cx="11260504" cy="4744889"/>
          </a:xfrm>
        </p:spPr>
        <p:txBody>
          <a:bodyPr wrap="square"/>
          <a:lstStyle/>
          <a:p>
            <a:r>
              <a:rPr lang="zh-CN" altLang="en-US" dirty="0"/>
              <a:t>指令功能的形式化描述：</a:t>
            </a:r>
            <a:r>
              <a:rPr lang="en-US" altLang="zh-CN" dirty="0"/>
              <a:t>RTL</a:t>
            </a:r>
            <a:r>
              <a:rPr lang="zh-CN" altLang="en-US" dirty="0"/>
              <a:t>（</a:t>
            </a:r>
            <a:r>
              <a:rPr lang="en-US" altLang="zh-CN" dirty="0"/>
              <a:t>Register Transfer Language</a:t>
            </a:r>
            <a:r>
              <a:rPr lang="zh-CN" altLang="en-US" dirty="0"/>
              <a:t>，寄存器传送语言）</a:t>
            </a:r>
            <a:endParaRPr lang="en-US" altLang="zh-CN" dirty="0"/>
          </a:p>
          <a:p>
            <a:pPr lvl="1"/>
            <a:r>
              <a:rPr lang="en-US" altLang="zh-CN" dirty="0">
                <a:sym typeface="Wingdings" panose="05000000000000000000" pitchFamily="2" charset="2"/>
              </a:rPr>
              <a:t>    :  </a:t>
            </a:r>
            <a:r>
              <a:rPr lang="zh-CN" altLang="en-US" dirty="0">
                <a:sym typeface="Wingdings" panose="05000000000000000000" pitchFamily="2" charset="2"/>
              </a:rPr>
              <a:t>数据传送方向；</a:t>
            </a:r>
            <a:r>
              <a:rPr lang="en-US" altLang="zh-CN" dirty="0">
                <a:sym typeface="Wingdings" panose="05000000000000000000" pitchFamily="2" charset="2"/>
              </a:rPr>
              <a:t> </a:t>
            </a:r>
          </a:p>
          <a:p>
            <a:pPr lvl="1"/>
            <a:r>
              <a:rPr lang="en-US" altLang="zh-CN" dirty="0">
                <a:sym typeface="Wingdings" panose="05000000000000000000" pitchFamily="2" charset="2"/>
              </a:rPr>
              <a:t> R[a] : </a:t>
            </a:r>
            <a:r>
              <a:rPr lang="zh-CN" altLang="en-US" dirty="0">
                <a:sym typeface="Wingdings" panose="05000000000000000000" pitchFamily="2" charset="2"/>
              </a:rPr>
              <a:t>寄存器 </a:t>
            </a:r>
            <a:r>
              <a:rPr lang="en-US" altLang="zh-CN" dirty="0">
                <a:sym typeface="Wingdings" panose="05000000000000000000" pitchFamily="2" charset="2"/>
              </a:rPr>
              <a:t>a;</a:t>
            </a:r>
          </a:p>
          <a:p>
            <a:pPr lvl="1"/>
            <a:r>
              <a:rPr lang="en-US" altLang="zh-CN" dirty="0">
                <a:sym typeface="Wingdings" panose="05000000000000000000" pitchFamily="2" charset="2"/>
              </a:rPr>
              <a:t> M[a] : </a:t>
            </a:r>
            <a:r>
              <a:rPr lang="zh-CN" altLang="en-US" dirty="0">
                <a:sym typeface="Wingdings" panose="05000000000000000000" pitchFamily="2" charset="2"/>
              </a:rPr>
              <a:t>主存中地址为</a:t>
            </a:r>
            <a:r>
              <a:rPr lang="en-US" altLang="zh-CN" dirty="0">
                <a:sym typeface="Wingdings" panose="05000000000000000000" pitchFamily="2" charset="2"/>
              </a:rPr>
              <a:t>a</a:t>
            </a:r>
            <a:r>
              <a:rPr lang="zh-CN" altLang="en-US" dirty="0">
                <a:sym typeface="Wingdings" panose="05000000000000000000" pitchFamily="2" charset="2"/>
              </a:rPr>
              <a:t>的单元；</a:t>
            </a:r>
            <a:endParaRPr lang="en-US" altLang="zh-CN" dirty="0">
              <a:sym typeface="Wingdings" panose="05000000000000000000" pitchFamily="2" charset="2"/>
            </a:endParaRPr>
          </a:p>
          <a:p>
            <a:pPr lvl="1"/>
            <a:r>
              <a:rPr lang="en-US" altLang="zh-CN" dirty="0">
                <a:sym typeface="Wingdings" panose="05000000000000000000" pitchFamily="2" charset="2"/>
              </a:rPr>
              <a:t> PC  </a:t>
            </a:r>
            <a:r>
              <a:rPr lang="zh-CN" altLang="en-US" dirty="0">
                <a:sym typeface="Wingdings" panose="05000000000000000000" pitchFamily="2" charset="2"/>
              </a:rPr>
              <a:t>：程序计数器 </a:t>
            </a:r>
            <a:endParaRPr lang="en-US" altLang="zh-CN" dirty="0">
              <a:sym typeface="Wingdings" panose="05000000000000000000" pitchFamily="2" charset="2"/>
            </a:endParaRPr>
          </a:p>
          <a:p>
            <a:pPr lvl="1"/>
            <a:r>
              <a:rPr lang="en-US" altLang="zh-CN" dirty="0">
                <a:sym typeface="Wingdings" panose="05000000000000000000" pitchFamily="2" charset="2"/>
              </a:rPr>
              <a:t> f(data) : </a:t>
            </a:r>
            <a:r>
              <a:rPr lang="zh-CN" altLang="en-US" dirty="0">
                <a:sym typeface="Wingdings" panose="05000000000000000000" pitchFamily="2" charset="2"/>
              </a:rPr>
              <a:t>表示对数据</a:t>
            </a:r>
            <a:r>
              <a:rPr lang="en-US" altLang="zh-CN" dirty="0">
                <a:sym typeface="Wingdings" panose="05000000000000000000" pitchFamily="2" charset="2"/>
              </a:rPr>
              <a:t>data</a:t>
            </a:r>
            <a:r>
              <a:rPr lang="zh-CN" altLang="en-US" dirty="0">
                <a:sym typeface="Wingdings" panose="05000000000000000000" pitchFamily="2" charset="2"/>
              </a:rPr>
              <a:t>进行</a:t>
            </a:r>
            <a:r>
              <a:rPr lang="en-US" altLang="zh-CN" dirty="0">
                <a:sym typeface="Wingdings" panose="05000000000000000000" pitchFamily="2" charset="2"/>
              </a:rPr>
              <a:t>f</a:t>
            </a:r>
            <a:r>
              <a:rPr lang="zh-CN" altLang="en-US" dirty="0">
                <a:sym typeface="Wingdings" panose="05000000000000000000" pitchFamily="2" charset="2"/>
              </a:rPr>
              <a:t>操作</a:t>
            </a:r>
            <a:endParaRPr lang="en-US" altLang="zh-CN" dirty="0">
              <a:sym typeface="Wingdings" panose="05000000000000000000" pitchFamily="2" charset="2"/>
            </a:endParaRPr>
          </a:p>
          <a:p>
            <a:r>
              <a:rPr lang="zh-CN" altLang="en-US" dirty="0">
                <a:sym typeface="Wingdings" panose="05000000000000000000" pitchFamily="2" charset="2"/>
              </a:rPr>
              <a:t>示例</a:t>
            </a:r>
            <a:endParaRPr lang="en-US" altLang="zh-CN" dirty="0">
              <a:sym typeface="Wingdings" panose="05000000000000000000" pitchFamily="2" charset="2"/>
            </a:endParaRPr>
          </a:p>
          <a:p>
            <a:pPr lvl="1"/>
            <a:r>
              <a:rPr lang="en-US" altLang="zh-CN" dirty="0">
                <a:sym typeface="Wingdings" panose="05000000000000000000" pitchFamily="2" charset="2"/>
              </a:rPr>
              <a:t>R[c]  R[a] + R[b]  //  </a:t>
            </a:r>
            <a:r>
              <a:rPr lang="zh-CN" altLang="en-US" dirty="0">
                <a:sym typeface="Wingdings" panose="05000000000000000000" pitchFamily="2" charset="2"/>
              </a:rPr>
              <a:t>寄存器</a:t>
            </a:r>
            <a:r>
              <a:rPr lang="en-US" altLang="zh-CN" dirty="0">
                <a:sym typeface="Wingdings" panose="05000000000000000000" pitchFamily="2" charset="2"/>
              </a:rPr>
              <a:t>a</a:t>
            </a:r>
            <a:r>
              <a:rPr lang="zh-CN" altLang="en-US" dirty="0">
                <a:sym typeface="Wingdings" panose="05000000000000000000" pitchFamily="2" charset="2"/>
              </a:rPr>
              <a:t>加寄存器</a:t>
            </a:r>
            <a:r>
              <a:rPr lang="en-US" altLang="zh-CN" dirty="0">
                <a:sym typeface="Wingdings" panose="05000000000000000000" pitchFamily="2" charset="2"/>
              </a:rPr>
              <a:t>b</a:t>
            </a:r>
            <a:r>
              <a:rPr lang="zh-CN" altLang="en-US" dirty="0">
                <a:sym typeface="Wingdings" panose="05000000000000000000" pitchFamily="2" charset="2"/>
              </a:rPr>
              <a:t>的结果送寄存器</a:t>
            </a:r>
            <a:r>
              <a:rPr lang="en-US" altLang="zh-CN" dirty="0">
                <a:sym typeface="Wingdings" panose="05000000000000000000" pitchFamily="2" charset="2"/>
              </a:rPr>
              <a:t>c</a:t>
            </a:r>
          </a:p>
          <a:p>
            <a:pPr lvl="1"/>
            <a:r>
              <a:rPr lang="en-US" altLang="zh-CN" dirty="0">
                <a:sym typeface="Wingdings" panose="05000000000000000000" pitchFamily="2" charset="2"/>
              </a:rPr>
              <a:t>R[c]  R[a] </a:t>
            </a:r>
            <a:r>
              <a:rPr lang="en-US" altLang="zh-CN" b="0" i="1" dirty="0">
                <a:solidFill>
                  <a:srgbClr val="FF0000"/>
                </a:solidFill>
                <a:sym typeface="Wingdings" panose="05000000000000000000" pitchFamily="2" charset="2"/>
              </a:rPr>
              <a:t>op</a:t>
            </a:r>
            <a:r>
              <a:rPr lang="en-US" altLang="zh-CN" dirty="0">
                <a:sym typeface="Wingdings" panose="05000000000000000000" pitchFamily="2" charset="2"/>
              </a:rPr>
              <a:t> R[b] //  </a:t>
            </a:r>
            <a:r>
              <a:rPr lang="zh-CN" altLang="en-US" dirty="0">
                <a:sym typeface="Wingdings" panose="05000000000000000000" pitchFamily="2" charset="2"/>
              </a:rPr>
              <a:t>寄存器</a:t>
            </a:r>
            <a:r>
              <a:rPr lang="en-US" altLang="zh-CN" dirty="0">
                <a:sym typeface="Wingdings" panose="05000000000000000000" pitchFamily="2" charset="2"/>
              </a:rPr>
              <a:t>a</a:t>
            </a:r>
            <a:r>
              <a:rPr lang="zh-CN" altLang="en-US" dirty="0">
                <a:sym typeface="Wingdings" panose="05000000000000000000" pitchFamily="2" charset="2"/>
              </a:rPr>
              <a:t>与寄存器</a:t>
            </a:r>
            <a:r>
              <a:rPr lang="en-US" altLang="zh-CN" dirty="0">
                <a:sym typeface="Wingdings" panose="05000000000000000000" pitchFamily="2" charset="2"/>
              </a:rPr>
              <a:t>b</a:t>
            </a:r>
            <a:r>
              <a:rPr lang="zh-CN" altLang="en-US" dirty="0">
                <a:sym typeface="Wingdings" panose="05000000000000000000" pitchFamily="2" charset="2"/>
              </a:rPr>
              <a:t>进行</a:t>
            </a:r>
            <a:r>
              <a:rPr lang="en-US" altLang="zh-CN" i="1" dirty="0">
                <a:solidFill>
                  <a:srgbClr val="FF0000"/>
                </a:solidFill>
                <a:sym typeface="Wingdings" panose="05000000000000000000" pitchFamily="2" charset="2"/>
              </a:rPr>
              <a:t>op</a:t>
            </a:r>
            <a:r>
              <a:rPr lang="zh-CN" altLang="en-US" dirty="0">
                <a:sym typeface="Wingdings" panose="05000000000000000000" pitchFamily="2" charset="2"/>
              </a:rPr>
              <a:t>运算结果送寄存器</a:t>
            </a:r>
            <a:r>
              <a:rPr lang="en-US" altLang="zh-CN" dirty="0">
                <a:sym typeface="Wingdings" panose="05000000000000000000" pitchFamily="2" charset="2"/>
              </a:rPr>
              <a:t>c</a:t>
            </a:r>
          </a:p>
          <a:p>
            <a:pPr lvl="1"/>
            <a:r>
              <a:rPr lang="en-US" altLang="zh-CN" dirty="0" err="1">
                <a:sym typeface="Wingdings" panose="05000000000000000000" pitchFamily="2" charset="2"/>
              </a:rPr>
              <a:t>Signext</a:t>
            </a:r>
            <a:r>
              <a:rPr lang="en-US" altLang="zh-CN" dirty="0">
                <a:sym typeface="Wingdings" panose="05000000000000000000" pitchFamily="2" charset="2"/>
              </a:rPr>
              <a:t>(imm16)     </a:t>
            </a:r>
            <a:r>
              <a:rPr lang="zh-CN" altLang="en-US" dirty="0">
                <a:sym typeface="Wingdings" panose="05000000000000000000" pitchFamily="2" charset="2"/>
              </a:rPr>
              <a:t> </a:t>
            </a:r>
            <a:r>
              <a:rPr lang="en-US" altLang="zh-CN" dirty="0">
                <a:sym typeface="Wingdings" panose="05000000000000000000" pitchFamily="2" charset="2"/>
              </a:rPr>
              <a:t>//  </a:t>
            </a:r>
            <a:r>
              <a:rPr lang="zh-CN" altLang="en-US" dirty="0">
                <a:sym typeface="Wingdings" panose="05000000000000000000" pitchFamily="2" charset="2"/>
              </a:rPr>
              <a:t>对数</a:t>
            </a:r>
            <a:r>
              <a:rPr lang="en-US" altLang="zh-CN" dirty="0">
                <a:sym typeface="Wingdings" panose="05000000000000000000" pitchFamily="2" charset="2"/>
              </a:rPr>
              <a:t>imm16</a:t>
            </a:r>
            <a:r>
              <a:rPr lang="zh-CN" altLang="en-US" dirty="0">
                <a:sym typeface="Wingdings" panose="05000000000000000000" pitchFamily="2" charset="2"/>
              </a:rPr>
              <a:t>进行</a:t>
            </a:r>
            <a:r>
              <a:rPr lang="en-US" altLang="zh-CN" dirty="0" err="1">
                <a:sym typeface="Wingdings" panose="05000000000000000000" pitchFamily="2" charset="2"/>
              </a:rPr>
              <a:t>Signext</a:t>
            </a:r>
            <a:r>
              <a:rPr lang="zh-CN" altLang="en-US" dirty="0">
                <a:sym typeface="Wingdings" panose="05000000000000000000" pitchFamily="2" charset="2"/>
              </a:rPr>
              <a:t>（符号扩展至</a:t>
            </a:r>
            <a:r>
              <a:rPr lang="en-US" altLang="zh-CN" dirty="0">
                <a:sym typeface="Wingdings" panose="05000000000000000000" pitchFamily="2" charset="2"/>
              </a:rPr>
              <a:t>32</a:t>
            </a:r>
            <a:r>
              <a:rPr lang="zh-CN" altLang="en-US" dirty="0">
                <a:sym typeface="Wingdings" panose="05000000000000000000" pitchFamily="2" charset="2"/>
              </a:rPr>
              <a:t>位）运算</a:t>
            </a:r>
            <a:endParaRPr lang="en-US" altLang="zh-CN" dirty="0">
              <a:sym typeface="Wingdings" panose="05000000000000000000" pitchFamily="2" charset="2"/>
            </a:endParaRPr>
          </a:p>
          <a:p>
            <a:pPr lvl="1"/>
            <a:r>
              <a:rPr lang="en-US" altLang="zh-CN" dirty="0">
                <a:sym typeface="Wingdings" panose="05000000000000000000" pitchFamily="2" charset="2"/>
              </a:rPr>
              <a:t>R[a]  M[b]             //  </a:t>
            </a:r>
            <a:r>
              <a:rPr lang="zh-CN" altLang="en-US" dirty="0">
                <a:sym typeface="Wingdings" panose="05000000000000000000" pitchFamily="2" charset="2"/>
              </a:rPr>
              <a:t>取数操作，读取主存单元</a:t>
            </a:r>
            <a:r>
              <a:rPr lang="en-US" altLang="zh-CN" dirty="0">
                <a:sym typeface="Wingdings" panose="05000000000000000000" pitchFamily="2" charset="2"/>
              </a:rPr>
              <a:t>b</a:t>
            </a:r>
            <a:r>
              <a:rPr lang="zh-CN" altLang="en-US" dirty="0">
                <a:sym typeface="Wingdings" panose="05000000000000000000" pitchFamily="2" charset="2"/>
              </a:rPr>
              <a:t>的数据传送至寄存器</a:t>
            </a:r>
            <a:r>
              <a:rPr lang="en-US" altLang="zh-CN" dirty="0">
                <a:sym typeface="Wingdings" panose="05000000000000000000" pitchFamily="2" charset="2"/>
              </a:rPr>
              <a:t>a</a:t>
            </a:r>
          </a:p>
          <a:p>
            <a:pPr lvl="1"/>
            <a:r>
              <a:rPr lang="en-US" altLang="zh-CN" dirty="0">
                <a:sym typeface="Wingdings" panose="05000000000000000000" pitchFamily="2" charset="2"/>
              </a:rPr>
              <a:t>M[a]  R[b]             //  </a:t>
            </a:r>
            <a:r>
              <a:rPr lang="zh-CN" altLang="en-US" dirty="0">
                <a:sym typeface="Wingdings" panose="05000000000000000000" pitchFamily="2" charset="2"/>
              </a:rPr>
              <a:t>存数操作，将寄存器</a:t>
            </a:r>
            <a:r>
              <a:rPr lang="en-US" altLang="zh-CN" dirty="0">
                <a:sym typeface="Wingdings" panose="05000000000000000000" pitchFamily="2" charset="2"/>
              </a:rPr>
              <a:t>b</a:t>
            </a:r>
            <a:r>
              <a:rPr lang="zh-CN" altLang="en-US" dirty="0">
                <a:sym typeface="Wingdings" panose="05000000000000000000" pitchFamily="2" charset="2"/>
              </a:rPr>
              <a:t>中的数据写入主存单元</a:t>
            </a:r>
            <a:r>
              <a:rPr lang="en-US" altLang="zh-CN" dirty="0">
                <a:sym typeface="Wingdings" panose="05000000000000000000" pitchFamily="2" charset="2"/>
              </a:rPr>
              <a:t>a</a:t>
            </a:r>
            <a:r>
              <a:rPr lang="zh-CN" altLang="en-US" dirty="0">
                <a:sym typeface="Wingdings" panose="05000000000000000000" pitchFamily="2" charset="2"/>
              </a:rPr>
              <a:t>中</a:t>
            </a:r>
            <a:endParaRPr lang="en-US" altLang="zh-CN" dirty="0">
              <a:sym typeface="Wingdings" panose="05000000000000000000" pitchFamily="2" charset="2"/>
            </a:endParaRPr>
          </a:p>
        </p:txBody>
      </p:sp>
      <p:sp>
        <p:nvSpPr>
          <p:cNvPr id="6" name="标题 5"/>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a:xfrm>
            <a:off x="11113" y="171769"/>
            <a:ext cx="5257800" cy="478790"/>
          </a:xfrm>
        </p:spPr>
        <p:txBody>
          <a:bodyPr/>
          <a:lstStyle/>
          <a:p>
            <a:r>
              <a:rPr lang="en-US" altLang="zh-CN" sz="3200" dirty="0"/>
              <a:t>1.2 </a:t>
            </a:r>
            <a:r>
              <a:rPr lang="zh-CN" altLang="en-US" sz="3200" dirty="0"/>
              <a:t>处理器设计的一般方法</a:t>
            </a:r>
            <a:endParaRPr lang="en-US" altLang="zh-CN" sz="3200" dirty="0"/>
          </a:p>
        </p:txBody>
      </p:sp>
      <p:sp>
        <p:nvSpPr>
          <p:cNvPr id="570371" name="Rectangle 3"/>
          <p:cNvSpPr>
            <a:spLocks noGrp="1" noChangeArrowheads="1"/>
          </p:cNvSpPr>
          <p:nvPr>
            <p:ph type="body" idx="1"/>
          </p:nvPr>
        </p:nvSpPr>
        <p:spPr>
          <a:xfrm>
            <a:off x="473074" y="840740"/>
            <a:ext cx="10807501" cy="5591274"/>
          </a:xfrm>
          <a:noFill/>
        </p:spPr>
        <p:txBody>
          <a:bodyPr/>
          <a:lstStyle/>
          <a:p>
            <a:pPr marL="457200" indent="-457200">
              <a:spcAft>
                <a:spcPts val="0"/>
              </a:spcAft>
            </a:pPr>
            <a:r>
              <a:rPr lang="zh-CN" altLang="en-US" sz="2800" dirty="0">
                <a:ea typeface="宋体" panose="02010600030101010101" pitchFamily="2" charset="-122"/>
              </a:rPr>
              <a:t>设计步骤</a:t>
            </a: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分析指令系统需求：包括指令格式、指令类型、每种指令的功能、寻址方式等；</a:t>
            </a: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数据通路构建</a:t>
            </a:r>
            <a:endParaRPr lang="en-US" altLang="zh-CN"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根据指令需求选择数据通路部件，如</a:t>
            </a:r>
            <a:r>
              <a:rPr lang="en-US" altLang="zh-CN" sz="2000" dirty="0">
                <a:ea typeface="宋体" panose="02010600030101010101" pitchFamily="2" charset="-122"/>
              </a:rPr>
              <a:t>PC</a:t>
            </a:r>
            <a:r>
              <a:rPr lang="zh-CN" altLang="en-US" sz="2000" dirty="0">
                <a:ea typeface="宋体" panose="02010600030101010101" pitchFamily="2" charset="-122"/>
              </a:rPr>
              <a:t>、</a:t>
            </a:r>
            <a:r>
              <a:rPr lang="en-US" altLang="zh-CN" sz="2000" dirty="0">
                <a:ea typeface="宋体" panose="02010600030101010101" pitchFamily="2" charset="-122"/>
              </a:rPr>
              <a:t>ALU</a:t>
            </a:r>
            <a:r>
              <a:rPr lang="zh-CN" altLang="en-US" sz="2000" dirty="0">
                <a:ea typeface="宋体" panose="02010600030101010101" pitchFamily="2" charset="-122"/>
              </a:rPr>
              <a:t>、寄存器堆、指令</a:t>
            </a:r>
            <a:r>
              <a:rPr lang="en-US" altLang="zh-CN" sz="2000" dirty="0">
                <a:ea typeface="宋体" panose="02010600030101010101" pitchFamily="2" charset="-122"/>
              </a:rPr>
              <a:t>/</a:t>
            </a:r>
            <a:r>
              <a:rPr lang="zh-CN" altLang="en-US" sz="2000" dirty="0">
                <a:ea typeface="宋体" panose="02010600030101010101" pitchFamily="2" charset="-122"/>
              </a:rPr>
              <a:t>数据存储器、多路开关等等；</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根据指令执行流程构建每种类型指令的数据通路；</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对所有类型指令执行数据通路综合形成综合数据通路。</a:t>
            </a:r>
            <a:endParaRPr lang="en-US" altLang="zh-CN" sz="2000" dirty="0">
              <a:ea typeface="宋体" panose="02010600030101010101" pitchFamily="2" charset="-122"/>
            </a:endParaRP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控制器设计</a:t>
            </a:r>
            <a:endParaRPr lang="en-US" altLang="zh-CN"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确定控制器时序控制方式（单周期、或多周期或其他）</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根据每种类型指令执行流程，确定该执行执行时各个数据通路部件所需要的控制信号与相应状态、条件；</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对控制信号进行综合以得到每个控制信号的逻辑方程；</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逻辑电路实现各个控制信号。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0371">
                                            <p:txEl>
                                              <p:pRg st="0" end="0"/>
                                            </p:txEl>
                                          </p:spTgt>
                                        </p:tgtEl>
                                        <p:attrNameLst>
                                          <p:attrName>style.visibility</p:attrName>
                                        </p:attrNameLst>
                                      </p:cBhvr>
                                      <p:to>
                                        <p:strVal val="visible"/>
                                      </p:to>
                                    </p:set>
                                    <p:animEffect transition="in" filter="box(in)">
                                      <p:cBhvr>
                                        <p:cTn id="7" dur="500"/>
                                        <p:tgtEl>
                                          <p:spTgt spid="570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70371">
                                            <p:txEl>
                                              <p:pRg st="1" end="1"/>
                                            </p:txEl>
                                          </p:spTgt>
                                        </p:tgtEl>
                                        <p:attrNameLst>
                                          <p:attrName>style.visibility</p:attrName>
                                        </p:attrNameLst>
                                      </p:cBhvr>
                                      <p:to>
                                        <p:strVal val="visible"/>
                                      </p:to>
                                    </p:set>
                                    <p:animEffect transition="in" filter="box(in)">
                                      <p:cBhvr>
                                        <p:cTn id="12" dur="500"/>
                                        <p:tgtEl>
                                          <p:spTgt spid="570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70371">
                                            <p:txEl>
                                              <p:pRg st="2" end="2"/>
                                            </p:txEl>
                                          </p:spTgt>
                                        </p:tgtEl>
                                        <p:attrNameLst>
                                          <p:attrName>style.visibility</p:attrName>
                                        </p:attrNameLst>
                                      </p:cBhvr>
                                      <p:to>
                                        <p:strVal val="visible"/>
                                      </p:to>
                                    </p:set>
                                    <p:animEffect transition="in" filter="box(in)">
                                      <p:cBhvr>
                                        <p:cTn id="17" dur="500"/>
                                        <p:tgtEl>
                                          <p:spTgt spid="570371">
                                            <p:txEl>
                                              <p:pRg st="2" end="2"/>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570371">
                                            <p:txEl>
                                              <p:pRg st="3" end="3"/>
                                            </p:txEl>
                                          </p:spTgt>
                                        </p:tgtEl>
                                        <p:attrNameLst>
                                          <p:attrName>style.visibility</p:attrName>
                                        </p:attrNameLst>
                                      </p:cBhvr>
                                      <p:to>
                                        <p:strVal val="visible"/>
                                      </p:to>
                                    </p:set>
                                    <p:animEffect transition="in" filter="box(in)">
                                      <p:cBhvr>
                                        <p:cTn id="20" dur="500"/>
                                        <p:tgtEl>
                                          <p:spTgt spid="570371">
                                            <p:txEl>
                                              <p:pRg st="3" end="3"/>
                                            </p:tx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570371">
                                            <p:txEl>
                                              <p:pRg st="4" end="4"/>
                                            </p:txEl>
                                          </p:spTgt>
                                        </p:tgtEl>
                                        <p:attrNameLst>
                                          <p:attrName>style.visibility</p:attrName>
                                        </p:attrNameLst>
                                      </p:cBhvr>
                                      <p:to>
                                        <p:strVal val="visible"/>
                                      </p:to>
                                    </p:set>
                                    <p:animEffect transition="in" filter="box(in)">
                                      <p:cBhvr>
                                        <p:cTn id="23" dur="500"/>
                                        <p:tgtEl>
                                          <p:spTgt spid="570371">
                                            <p:txEl>
                                              <p:pRg st="4" end="4"/>
                                            </p:txEl>
                                          </p:spTgt>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570371">
                                            <p:txEl>
                                              <p:pRg st="5" end="5"/>
                                            </p:txEl>
                                          </p:spTgt>
                                        </p:tgtEl>
                                        <p:attrNameLst>
                                          <p:attrName>style.visibility</p:attrName>
                                        </p:attrNameLst>
                                      </p:cBhvr>
                                      <p:to>
                                        <p:strVal val="visible"/>
                                      </p:to>
                                    </p:set>
                                    <p:animEffect transition="in" filter="box(in)">
                                      <p:cBhvr>
                                        <p:cTn id="26" dur="500"/>
                                        <p:tgtEl>
                                          <p:spTgt spid="57037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570371">
                                            <p:txEl>
                                              <p:pRg st="6" end="6"/>
                                            </p:txEl>
                                          </p:spTgt>
                                        </p:tgtEl>
                                        <p:attrNameLst>
                                          <p:attrName>style.visibility</p:attrName>
                                        </p:attrNameLst>
                                      </p:cBhvr>
                                      <p:to>
                                        <p:strVal val="visible"/>
                                      </p:to>
                                    </p:set>
                                    <p:animEffect transition="in" filter="box(in)">
                                      <p:cBhvr>
                                        <p:cTn id="31" dur="500"/>
                                        <p:tgtEl>
                                          <p:spTgt spid="570371">
                                            <p:txEl>
                                              <p:pRg st="6" end="6"/>
                                            </p:txEl>
                                          </p:spTgt>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570371">
                                            <p:txEl>
                                              <p:pRg st="7" end="7"/>
                                            </p:txEl>
                                          </p:spTgt>
                                        </p:tgtEl>
                                        <p:attrNameLst>
                                          <p:attrName>style.visibility</p:attrName>
                                        </p:attrNameLst>
                                      </p:cBhvr>
                                      <p:to>
                                        <p:strVal val="visible"/>
                                      </p:to>
                                    </p:set>
                                    <p:animEffect transition="in" filter="box(in)">
                                      <p:cBhvr>
                                        <p:cTn id="34" dur="500"/>
                                        <p:tgtEl>
                                          <p:spTgt spid="570371">
                                            <p:txEl>
                                              <p:pRg st="7" end="7"/>
                                            </p:txEl>
                                          </p:spTgt>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570371">
                                            <p:txEl>
                                              <p:pRg st="8" end="8"/>
                                            </p:txEl>
                                          </p:spTgt>
                                        </p:tgtEl>
                                        <p:attrNameLst>
                                          <p:attrName>style.visibility</p:attrName>
                                        </p:attrNameLst>
                                      </p:cBhvr>
                                      <p:to>
                                        <p:strVal val="visible"/>
                                      </p:to>
                                    </p:set>
                                    <p:animEffect transition="in" filter="box(in)">
                                      <p:cBhvr>
                                        <p:cTn id="37" dur="500"/>
                                        <p:tgtEl>
                                          <p:spTgt spid="570371">
                                            <p:txEl>
                                              <p:pRg st="8" end="8"/>
                                            </p:txEl>
                                          </p:spTgt>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570371">
                                            <p:txEl>
                                              <p:pRg st="9" end="9"/>
                                            </p:txEl>
                                          </p:spTgt>
                                        </p:tgtEl>
                                        <p:attrNameLst>
                                          <p:attrName>style.visibility</p:attrName>
                                        </p:attrNameLst>
                                      </p:cBhvr>
                                      <p:to>
                                        <p:strVal val="visible"/>
                                      </p:to>
                                    </p:set>
                                    <p:animEffect transition="in" filter="box(in)">
                                      <p:cBhvr>
                                        <p:cTn id="40" dur="500"/>
                                        <p:tgtEl>
                                          <p:spTgt spid="570371">
                                            <p:txEl>
                                              <p:pRg st="9" end="9"/>
                                            </p:txEl>
                                          </p:spTgt>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570371">
                                            <p:txEl>
                                              <p:pRg st="10" end="10"/>
                                            </p:txEl>
                                          </p:spTgt>
                                        </p:tgtEl>
                                        <p:attrNameLst>
                                          <p:attrName>style.visibility</p:attrName>
                                        </p:attrNameLst>
                                      </p:cBhvr>
                                      <p:to>
                                        <p:strVal val="visible"/>
                                      </p:to>
                                    </p:set>
                                    <p:animEffect transition="in" filter="box(in)">
                                      <p:cBhvr>
                                        <p:cTn id="43" dur="500"/>
                                        <p:tgtEl>
                                          <p:spTgt spid="57037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rgbClr val="FF0000"/>
              </a:buClr>
              <a:buFont typeface="+mj-ea"/>
              <a:buAutoNum type="ea1JpnChsDbPeriod"/>
            </a:pPr>
            <a:r>
              <a:rPr lang="en-US" altLang="zh-CN" sz="2400" dirty="0">
                <a:solidFill>
                  <a:schemeClr val="tx2">
                    <a:lumMod val="75000"/>
                    <a:lumOff val="25000"/>
                  </a:schemeClr>
                </a:solidFill>
              </a:rPr>
              <a:t>MIPS</a:t>
            </a:r>
            <a:r>
              <a:rPr lang="zh-CN" altLang="en-US" sz="2400" dirty="0">
                <a:solidFill>
                  <a:schemeClr val="tx2">
                    <a:lumMod val="75000"/>
                    <a:lumOff val="25000"/>
                  </a:schemeClr>
                </a:solidFill>
              </a:rPr>
              <a:t>模型机</a:t>
            </a:r>
            <a:endParaRPr lang="en-US" altLang="zh-CN" sz="24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en-US" altLang="zh-CN" sz="2000" dirty="0">
                <a:solidFill>
                  <a:schemeClr val="tx2">
                    <a:lumMod val="75000"/>
                    <a:lumOff val="25000"/>
                  </a:schemeClr>
                </a:solidFill>
              </a:rPr>
              <a:t>MIPS</a:t>
            </a:r>
            <a:r>
              <a:rPr lang="zh-CN" altLang="en-US" sz="2000" dirty="0">
                <a:solidFill>
                  <a:schemeClr val="tx2">
                    <a:lumMod val="75000"/>
                    <a:lumOff val="25000"/>
                  </a:schemeClr>
                </a:solidFill>
              </a:rPr>
              <a:t>模型机指令集</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en-US" altLang="zh-CN" sz="2000" dirty="0">
                <a:solidFill>
                  <a:schemeClr val="tx2">
                    <a:lumMod val="75000"/>
                    <a:lumOff val="25000"/>
                  </a:schemeClr>
                </a:solidFill>
              </a:rPr>
              <a:t>MIPS</a:t>
            </a:r>
            <a:r>
              <a:rPr lang="zh-CN" altLang="en-US" sz="2000" dirty="0">
                <a:solidFill>
                  <a:schemeClr val="tx2">
                    <a:lumMod val="75000"/>
                    <a:lumOff val="25000"/>
                  </a:schemeClr>
                </a:solidFill>
              </a:rPr>
              <a:t>模型机数据通路部件</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时钟同步方法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单周期处理器设计</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
        <p:nvSpPr>
          <p:cNvPr id="218115" name="Rectangle 3"/>
          <p:cNvSpPr>
            <a:spLocks noGrp="1" noChangeArrowheads="1"/>
          </p:cNvSpPr>
          <p:nvPr>
            <p:ph type="body" idx="1"/>
          </p:nvPr>
        </p:nvSpPr>
        <p:spPr>
          <a:xfrm>
            <a:off x="1992312" y="1052513"/>
            <a:ext cx="4823768" cy="2398092"/>
          </a:xfrm>
        </p:spPr>
        <p:txBody>
          <a:bodyPr/>
          <a:lstStyle/>
          <a:p>
            <a:r>
              <a:rPr lang="en-US" altLang="zh-CN" dirty="0">
                <a:ea typeface="宋体" panose="02010600030101010101" pitchFamily="2" charset="-122"/>
              </a:rPr>
              <a:t>MIPS </a:t>
            </a:r>
            <a:r>
              <a:rPr lang="zh-CN" altLang="en-US" dirty="0">
                <a:ea typeface="宋体" panose="02010600030101010101" pitchFamily="2" charset="-122"/>
              </a:rPr>
              <a:t>寄存器结构</a:t>
            </a:r>
          </a:p>
          <a:p>
            <a:pPr marL="812800" lvl="1" indent="-338455"/>
            <a:r>
              <a:rPr lang="en-US" altLang="zh-CN" dirty="0">
                <a:ea typeface="宋体" panose="02010600030101010101" pitchFamily="2" charset="-122"/>
              </a:rPr>
              <a:t>32</a:t>
            </a:r>
            <a:r>
              <a:rPr lang="zh-CN" altLang="en-US" dirty="0">
                <a:ea typeface="宋体" panose="02010600030101010101" pitchFamily="2" charset="-122"/>
              </a:rPr>
              <a:t>位虚拟地址空间</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32</a:t>
            </a:r>
            <a:r>
              <a:rPr lang="zh-CN" altLang="en-US" dirty="0">
                <a:ea typeface="宋体" panose="02010600030101010101" pitchFamily="2" charset="-122"/>
              </a:rPr>
              <a:t>个</a:t>
            </a:r>
            <a:r>
              <a:rPr lang="en-US" altLang="zh-CN" dirty="0">
                <a:ea typeface="宋体" panose="02010600030101010101" pitchFamily="2" charset="-122"/>
              </a:rPr>
              <a:t>32</a:t>
            </a:r>
            <a:r>
              <a:rPr lang="zh-CN" altLang="en-US" dirty="0">
                <a:ea typeface="宋体" panose="02010600030101010101" pitchFamily="2" charset="-122"/>
              </a:rPr>
              <a:t>位</a:t>
            </a:r>
            <a:r>
              <a:rPr lang="en-US" altLang="zh-CN" dirty="0">
                <a:ea typeface="宋体" panose="02010600030101010101" pitchFamily="2" charset="-122"/>
              </a:rPr>
              <a:t>GPRs</a:t>
            </a:r>
            <a:r>
              <a:rPr lang="zh-CN" altLang="en-US" dirty="0">
                <a:ea typeface="宋体" panose="02010600030101010101" pitchFamily="2" charset="-122"/>
              </a:rPr>
              <a:t>（通用寄存器）</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32</a:t>
            </a:r>
            <a:r>
              <a:rPr lang="zh-CN" altLang="en-US" dirty="0">
                <a:ea typeface="宋体" panose="02010600030101010101" pitchFamily="2" charset="-122"/>
              </a:rPr>
              <a:t>个</a:t>
            </a:r>
            <a:r>
              <a:rPr lang="en-US" altLang="zh-CN" dirty="0">
                <a:ea typeface="宋体" panose="02010600030101010101" pitchFamily="2" charset="-122"/>
              </a:rPr>
              <a:t>32 </a:t>
            </a:r>
            <a:r>
              <a:rPr lang="zh-CN" altLang="en-US" dirty="0">
                <a:ea typeface="宋体" panose="02010600030101010101" pitchFamily="2" charset="-122"/>
              </a:rPr>
              <a:t>位</a:t>
            </a:r>
            <a:r>
              <a:rPr lang="en-US" altLang="zh-CN" dirty="0">
                <a:ea typeface="宋体" panose="02010600030101010101" pitchFamily="2" charset="-122"/>
              </a:rPr>
              <a:t>FPRs</a:t>
            </a:r>
            <a:r>
              <a:rPr lang="zh-CN" altLang="en-US" dirty="0">
                <a:ea typeface="宋体" panose="02010600030101010101" pitchFamily="2" charset="-122"/>
              </a:rPr>
              <a:t>（浮点数寄存器）</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HI, LO, PC</a:t>
            </a:r>
          </a:p>
          <a:p>
            <a:pPr lvl="1"/>
            <a:endParaRPr lang="zh-CN" altLang="en-US" dirty="0">
              <a:ea typeface="宋体" panose="02010600030101010101" pitchFamily="2" charset="-122"/>
            </a:endParaRPr>
          </a:p>
        </p:txBody>
      </p:sp>
      <p:pic>
        <p:nvPicPr>
          <p:cNvPr id="218116" name="Picture 4"/>
          <p:cNvPicPr>
            <a:picLocks noChangeAspect="1" noChangeArrowheads="1"/>
          </p:cNvPicPr>
          <p:nvPr/>
        </p:nvPicPr>
        <p:blipFill>
          <a:blip r:embed="rId3" cstate="print"/>
          <a:srcRect/>
          <a:stretch>
            <a:fillRect/>
          </a:stretch>
        </p:blipFill>
        <p:spPr bwMode="auto">
          <a:xfrm>
            <a:off x="6960096" y="1052737"/>
            <a:ext cx="3314290" cy="4005461"/>
          </a:xfrm>
          <a:prstGeom prst="rect">
            <a:avLst/>
          </a:prstGeom>
          <a:noFill/>
        </p:spPr>
      </p:pic>
      <p:pic>
        <p:nvPicPr>
          <p:cNvPr id="95233" name="Picture 1"/>
          <p:cNvPicPr>
            <a:picLocks noChangeAspect="1" noChangeArrowheads="1"/>
          </p:cNvPicPr>
          <p:nvPr/>
        </p:nvPicPr>
        <p:blipFill>
          <a:blip r:embed="rId4" cstate="print"/>
          <a:srcRect/>
          <a:stretch>
            <a:fillRect/>
          </a:stretch>
        </p:blipFill>
        <p:spPr bwMode="auto">
          <a:xfrm>
            <a:off x="2279576" y="3380954"/>
            <a:ext cx="4324350" cy="30003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a:xfrm>
            <a:off x="3503712" y="1052737"/>
            <a:ext cx="4823768" cy="666849"/>
          </a:xfrm>
        </p:spPr>
        <p:txBody>
          <a:bodyPr/>
          <a:lstStyle/>
          <a:p>
            <a:pPr marL="0" indent="0" algn="ctr">
              <a:buNone/>
            </a:pPr>
            <a:r>
              <a:rPr lang="en-US" altLang="zh-CN" sz="1800" dirty="0">
                <a:solidFill>
                  <a:srgbClr val="FF0000"/>
                </a:solidFill>
                <a:ea typeface="宋体" panose="02010600030101010101" pitchFamily="2" charset="-122"/>
              </a:rPr>
              <a:t>MIPS </a:t>
            </a:r>
            <a:r>
              <a:rPr lang="zh-CN" altLang="en-US" sz="1800" dirty="0">
                <a:solidFill>
                  <a:srgbClr val="FF0000"/>
                </a:solidFill>
                <a:ea typeface="宋体" panose="02010600030101010101" pitchFamily="2" charset="-122"/>
              </a:rPr>
              <a:t>模型机寄存器使用约定</a:t>
            </a:r>
          </a:p>
          <a:p>
            <a:pPr lvl="1" algn="ctr"/>
            <a:endParaRPr lang="zh-CN" altLang="en-US" sz="1400" dirty="0">
              <a:solidFill>
                <a:srgbClr val="FF0000"/>
              </a:solidFill>
              <a:ea typeface="宋体" panose="02010600030101010101" pitchFamily="2" charset="-122"/>
            </a:endParaRPr>
          </a:p>
        </p:txBody>
      </p:sp>
      <p:graphicFrame>
        <p:nvGraphicFramePr>
          <p:cNvPr id="2" name="表格 1"/>
          <p:cNvGraphicFramePr>
            <a:graphicFrameLocks noGrp="1"/>
          </p:cNvGraphicFramePr>
          <p:nvPr/>
        </p:nvGraphicFramePr>
        <p:xfrm>
          <a:off x="3071664" y="1430134"/>
          <a:ext cx="5544616" cy="4820920"/>
        </p:xfrm>
        <a:graphic>
          <a:graphicData uri="http://schemas.openxmlformats.org/drawingml/2006/table">
            <a:tbl>
              <a:tblPr firstRow="1" bandRow="1">
                <a:tableStyleId>{10A1B5D5-9B99-4C35-A422-299274C87663}</a:tableStyleId>
              </a:tblPr>
              <a:tblGrid>
                <a:gridCol w="1321248">
                  <a:extLst>
                    <a:ext uri="{9D8B030D-6E8A-4147-A177-3AD203B41FA5}">
                      <a16:colId xmlns:a16="http://schemas.microsoft.com/office/drawing/2014/main" val="20000"/>
                    </a:ext>
                  </a:extLst>
                </a:gridCol>
                <a:gridCol w="1374098">
                  <a:extLst>
                    <a:ext uri="{9D8B030D-6E8A-4147-A177-3AD203B41FA5}">
                      <a16:colId xmlns:a16="http://schemas.microsoft.com/office/drawing/2014/main" val="20001"/>
                    </a:ext>
                  </a:extLst>
                </a:gridCol>
                <a:gridCol w="2849270">
                  <a:extLst>
                    <a:ext uri="{9D8B030D-6E8A-4147-A177-3AD203B41FA5}">
                      <a16:colId xmlns:a16="http://schemas.microsoft.com/office/drawing/2014/main" val="20002"/>
                    </a:ext>
                  </a:extLst>
                </a:gridCol>
              </a:tblGrid>
              <a:tr h="370840">
                <a:tc>
                  <a:txBody>
                    <a:bodyPr/>
                    <a:lstStyle/>
                    <a:p>
                      <a:pPr algn="ctr"/>
                      <a:r>
                        <a:rPr lang="zh-CN" altLang="en-US" sz="1600" dirty="0">
                          <a:latin typeface="+mn-lt"/>
                        </a:rPr>
                        <a:t>寄存器编号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寄存器名称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用途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1600" dirty="0">
                          <a:latin typeface="+mn-lt"/>
                        </a:rPr>
                        <a:t>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$zero</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常数</a:t>
                      </a:r>
                      <a:r>
                        <a:rPr lang="en-US" altLang="zh-CN" sz="1600" dirty="0">
                          <a:latin typeface="+mn-lt"/>
                        </a:rPr>
                        <a:t>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1600" dirty="0">
                          <a:latin typeface="+mn-lt"/>
                        </a:rPr>
                        <a:t>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保留给汇编器使用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altLang="zh-CN" sz="1600" dirty="0">
                          <a:latin typeface="+mn-lt"/>
                        </a:rPr>
                        <a:t>2 ~ 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$v0</a:t>
                      </a:r>
                      <a:r>
                        <a:rPr lang="en-US" altLang="zh-CN" sz="1600" baseline="0" dirty="0">
                          <a:latin typeface="+mn-lt"/>
                        </a:rPr>
                        <a:t> ~ $v1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结果值和表达式求值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altLang="zh-CN" sz="1600" dirty="0">
                          <a:latin typeface="+mn-lt"/>
                        </a:rPr>
                        <a:t>4 ~ 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$a0</a:t>
                      </a:r>
                      <a:r>
                        <a:rPr lang="en-US" altLang="zh-CN" sz="1600" baseline="0" dirty="0">
                          <a:latin typeface="+mn-lt"/>
                        </a:rPr>
                        <a:t> ~ $a3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参数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altLang="zh-CN" sz="1600" dirty="0">
                          <a:latin typeface="+mn-lt"/>
                        </a:rPr>
                        <a:t>8 ~ 15</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$t0</a:t>
                      </a:r>
                      <a:r>
                        <a:rPr lang="en-US" altLang="zh-CN" sz="1600" baseline="0" dirty="0">
                          <a:latin typeface="+mn-lt"/>
                        </a:rPr>
                        <a:t> ~ $t7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临时变量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altLang="zh-CN" sz="1600" dirty="0">
                          <a:latin typeface="+mn-lt"/>
                        </a:rPr>
                        <a:t>16</a:t>
                      </a:r>
                      <a:r>
                        <a:rPr lang="en-US" altLang="zh-CN" sz="1600" baseline="0" dirty="0">
                          <a:latin typeface="+mn-lt"/>
                        </a:rPr>
                        <a:t> ~ 23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$s0</a:t>
                      </a:r>
                      <a:r>
                        <a:rPr lang="en-US" altLang="zh-CN" sz="1600" baseline="0" dirty="0">
                          <a:latin typeface="+mn-lt"/>
                        </a:rPr>
                        <a:t> ~ $s7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数据寄存器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altLang="zh-CN" sz="1600" dirty="0">
                          <a:latin typeface="+mn-lt"/>
                        </a:rPr>
                        <a:t>24</a:t>
                      </a:r>
                      <a:r>
                        <a:rPr lang="en-US" altLang="zh-CN" sz="1600" baseline="0" dirty="0">
                          <a:latin typeface="+mn-lt"/>
                        </a:rPr>
                        <a:t> ~ 25</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$t8 ~ $t9</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其他临时变量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altLang="zh-CN" sz="1600" dirty="0">
                          <a:latin typeface="+mn-lt"/>
                        </a:rPr>
                        <a:t>26 ~ 27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$k0 ~ $k1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保留给操作系统使用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altLang="zh-CN" sz="1600" dirty="0">
                          <a:latin typeface="+mn-lt"/>
                        </a:rPr>
                        <a:t>28</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gp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全局指针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US" altLang="zh-CN" sz="1600" dirty="0">
                          <a:latin typeface="+mn-lt"/>
                        </a:rPr>
                        <a:t>29</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sp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栈指针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algn="ctr"/>
                      <a:r>
                        <a:rPr lang="en-US" altLang="zh-CN" sz="1600" dirty="0">
                          <a:latin typeface="+mn-lt"/>
                        </a:rPr>
                        <a:t>30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fp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帧指针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70840">
                <a:tc>
                  <a:txBody>
                    <a:bodyPr/>
                    <a:lstStyle/>
                    <a:p>
                      <a:pPr algn="ctr"/>
                      <a:r>
                        <a:rPr lang="en-US" altLang="zh-CN" sz="1600" dirty="0">
                          <a:latin typeface="+mn-lt"/>
                        </a:rPr>
                        <a:t>31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ra</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返回地址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40" name="Rectangle 4"/>
          <p:cNvSpPr>
            <a:spLocks noGrp="1" noChangeArrowheads="1"/>
          </p:cNvSpPr>
          <p:nvPr>
            <p:ph type="body" sz="half" idx="1"/>
          </p:nvPr>
        </p:nvSpPr>
        <p:spPr>
          <a:xfrm>
            <a:off x="2207569" y="974156"/>
            <a:ext cx="7488237" cy="2590453"/>
          </a:xfrm>
        </p:spPr>
        <p:txBody>
          <a:bodyPr/>
          <a:lstStyle/>
          <a:p>
            <a:r>
              <a:rPr lang="en-US" altLang="zh-CN" dirty="0">
                <a:ea typeface="宋体" panose="02010600030101010101" pitchFamily="2" charset="-122"/>
              </a:rPr>
              <a:t>MIPS </a:t>
            </a:r>
            <a:r>
              <a:rPr lang="zh-CN" altLang="en-US" dirty="0">
                <a:ea typeface="宋体" panose="02010600030101010101" pitchFamily="2" charset="-122"/>
              </a:rPr>
              <a:t>指令格式</a:t>
            </a:r>
          </a:p>
          <a:p>
            <a:pPr lvl="1"/>
            <a:r>
              <a:rPr lang="en-US" altLang="zh-CN" dirty="0">
                <a:ea typeface="宋体" panose="02010600030101010101" pitchFamily="2" charset="-122"/>
              </a:rPr>
              <a:t>Op</a:t>
            </a:r>
            <a:r>
              <a:rPr lang="zh-CN" altLang="en-US" dirty="0">
                <a:ea typeface="宋体" panose="02010600030101010101" pitchFamily="2" charset="-122"/>
              </a:rPr>
              <a:t>： </a:t>
            </a:r>
            <a:r>
              <a:rPr lang="en-US" altLang="zh-CN" dirty="0">
                <a:ea typeface="宋体" panose="02010600030101010101" pitchFamily="2" charset="-122"/>
              </a:rPr>
              <a:t>6 bits, </a:t>
            </a:r>
            <a:r>
              <a:rPr lang="en-US" altLang="zh-CN" dirty="0" err="1">
                <a:ea typeface="宋体" panose="02010600030101010101" pitchFamily="2" charset="-122"/>
              </a:rPr>
              <a:t>Opcdoe</a:t>
            </a:r>
            <a:endParaRPr lang="en-US" altLang="zh-CN" dirty="0">
              <a:ea typeface="宋体" panose="02010600030101010101" pitchFamily="2" charset="-122"/>
            </a:endParaRPr>
          </a:p>
          <a:p>
            <a:pPr lvl="1"/>
            <a:r>
              <a:rPr lang="en-US" altLang="zh-CN" dirty="0">
                <a:ea typeface="宋体" panose="02010600030101010101" pitchFamily="2" charset="-122"/>
              </a:rPr>
              <a:t>Rs: 5 bits, The first register source operand</a:t>
            </a:r>
          </a:p>
          <a:p>
            <a:pPr lvl="1"/>
            <a:r>
              <a:rPr lang="en-US" altLang="zh-CN" dirty="0" err="1">
                <a:ea typeface="宋体" panose="02010600030101010101" pitchFamily="2" charset="-122"/>
              </a:rPr>
              <a:t>Rt</a:t>
            </a:r>
            <a:r>
              <a:rPr lang="en-US" altLang="zh-CN" dirty="0">
                <a:ea typeface="宋体" panose="02010600030101010101" pitchFamily="2" charset="-122"/>
              </a:rPr>
              <a:t>: 5 bits, The second register source operand</a:t>
            </a:r>
          </a:p>
          <a:p>
            <a:pPr lvl="1"/>
            <a:r>
              <a:rPr lang="en-US" altLang="zh-CN" dirty="0">
                <a:ea typeface="宋体" panose="02010600030101010101" pitchFamily="2" charset="-122"/>
              </a:rPr>
              <a:t>Rd: 5 bits, The register destination operand</a:t>
            </a:r>
          </a:p>
          <a:p>
            <a:pPr lvl="1"/>
            <a:r>
              <a:rPr lang="en-US" altLang="zh-CN" dirty="0" err="1">
                <a:ea typeface="宋体" panose="02010600030101010101" pitchFamily="2" charset="-122"/>
              </a:rPr>
              <a:t>Shamt</a:t>
            </a:r>
            <a:r>
              <a:rPr lang="en-US" altLang="zh-CN" dirty="0">
                <a:ea typeface="宋体" panose="02010600030101010101" pitchFamily="2" charset="-122"/>
              </a:rPr>
              <a:t>: 5 bits, Shift amount ( shift instruction)</a:t>
            </a:r>
          </a:p>
          <a:p>
            <a:pPr lvl="1"/>
            <a:r>
              <a:rPr lang="en-US" altLang="zh-CN" dirty="0" err="1">
                <a:ea typeface="宋体" panose="02010600030101010101" pitchFamily="2" charset="-122"/>
              </a:rPr>
              <a:t>Func</a:t>
            </a:r>
            <a:r>
              <a:rPr lang="en-US" altLang="zh-CN" dirty="0">
                <a:ea typeface="宋体" panose="02010600030101010101" pitchFamily="2" charset="-122"/>
              </a:rPr>
              <a:t>: 6 bits, function code ( another </a:t>
            </a:r>
            <a:r>
              <a:rPr lang="en-US" altLang="zh-CN" dirty="0" err="1">
                <a:ea typeface="宋体" panose="02010600030101010101" pitchFamily="2" charset="-122"/>
              </a:rPr>
              <a:t>Opcode</a:t>
            </a:r>
            <a:r>
              <a:rPr lang="en-US" altLang="zh-CN" dirty="0">
                <a:ea typeface="宋体" panose="02010600030101010101" pitchFamily="2" charset="-122"/>
              </a:rPr>
              <a:t>)</a:t>
            </a:r>
          </a:p>
        </p:txBody>
      </p:sp>
      <p:graphicFrame>
        <p:nvGraphicFramePr>
          <p:cNvPr id="219142" name="Object 6"/>
          <p:cNvGraphicFramePr>
            <a:graphicFrameLocks noGrp="1" noChangeAspect="1"/>
          </p:cNvGraphicFramePr>
          <p:nvPr>
            <p:ph sz="half" idx="2"/>
          </p:nvPr>
        </p:nvGraphicFramePr>
        <p:xfrm>
          <a:off x="3215680" y="3501009"/>
          <a:ext cx="6768802" cy="2771557"/>
        </p:xfrm>
        <a:graphic>
          <a:graphicData uri="http://schemas.openxmlformats.org/presentationml/2006/ole">
            <mc:AlternateContent xmlns:mc="http://schemas.openxmlformats.org/markup-compatibility/2006">
              <mc:Choice xmlns:v="urn:schemas-microsoft-com:vml" Requires="v">
                <p:oleObj spid="_x0000_s13371" name="Visio" r:id="rId4" imgW="7747000" imgH="3175000" progId="Visio.Drawing.11">
                  <p:embed/>
                </p:oleObj>
              </mc:Choice>
              <mc:Fallback>
                <p:oleObj name="Visio" r:id="rId4" imgW="7747000" imgH="3175000" progId="Visio.Drawing.11">
                  <p:embed/>
                  <p:pic>
                    <p:nvPicPr>
                      <p:cNvPr id="0" name="图片 133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5680" y="3501009"/>
                        <a:ext cx="6768802" cy="2771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2279576" y="4005064"/>
            <a:ext cx="1008112" cy="327782"/>
          </a:xfrm>
          <a:prstGeom prst="rect">
            <a:avLst/>
          </a:prstGeom>
          <a:noFill/>
        </p:spPr>
        <p:txBody>
          <a:bodyPr wrap="square" rtlCol="0">
            <a:spAutoFit/>
          </a:bodyPr>
          <a:lstStyle/>
          <a:p>
            <a:pPr>
              <a:buNone/>
            </a:pPr>
            <a:r>
              <a:rPr lang="en-US" altLang="zh-CN" dirty="0"/>
              <a:t>R</a:t>
            </a:r>
            <a:r>
              <a:rPr lang="zh-CN" altLang="en-US" dirty="0"/>
              <a:t>类型</a:t>
            </a:r>
          </a:p>
        </p:txBody>
      </p:sp>
      <p:sp>
        <p:nvSpPr>
          <p:cNvPr id="6" name="TextBox 5"/>
          <p:cNvSpPr txBox="1"/>
          <p:nvPr/>
        </p:nvSpPr>
        <p:spPr>
          <a:xfrm>
            <a:off x="2279576" y="4941168"/>
            <a:ext cx="1008112" cy="327782"/>
          </a:xfrm>
          <a:prstGeom prst="rect">
            <a:avLst/>
          </a:prstGeom>
          <a:noFill/>
        </p:spPr>
        <p:txBody>
          <a:bodyPr wrap="square" rtlCol="0">
            <a:spAutoFit/>
          </a:bodyPr>
          <a:lstStyle/>
          <a:p>
            <a:pPr>
              <a:buNone/>
            </a:pPr>
            <a:r>
              <a:rPr lang="en-US" altLang="zh-CN" dirty="0"/>
              <a:t>I</a:t>
            </a:r>
            <a:r>
              <a:rPr lang="zh-CN" altLang="en-US" dirty="0"/>
              <a:t>类型</a:t>
            </a:r>
          </a:p>
        </p:txBody>
      </p:sp>
      <p:sp>
        <p:nvSpPr>
          <p:cNvPr id="7" name="TextBox 6"/>
          <p:cNvSpPr txBox="1"/>
          <p:nvPr/>
        </p:nvSpPr>
        <p:spPr>
          <a:xfrm>
            <a:off x="2207568" y="5733256"/>
            <a:ext cx="1008112" cy="327782"/>
          </a:xfrm>
          <a:prstGeom prst="rect">
            <a:avLst/>
          </a:prstGeom>
          <a:noFill/>
        </p:spPr>
        <p:txBody>
          <a:bodyPr wrap="square" rtlCol="0">
            <a:spAutoFit/>
          </a:bodyPr>
          <a:lstStyle/>
          <a:p>
            <a:pPr>
              <a:buNone/>
            </a:pPr>
            <a:r>
              <a:rPr lang="en-US" altLang="zh-CN" dirty="0"/>
              <a:t>J</a:t>
            </a:r>
            <a:r>
              <a:rPr lang="zh-CN" altLang="en-US" dirty="0"/>
              <a:t>类型</a:t>
            </a:r>
          </a:p>
        </p:txBody>
      </p:sp>
      <p:sp>
        <p:nvSpPr>
          <p:cNvPr id="4"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7" name="Rectangle 3"/>
          <p:cNvSpPr>
            <a:spLocks noGrp="1" noChangeArrowheads="1"/>
          </p:cNvSpPr>
          <p:nvPr>
            <p:ph type="body" sz="half" idx="1"/>
          </p:nvPr>
        </p:nvSpPr>
        <p:spPr>
          <a:xfrm>
            <a:off x="2199324" y="755364"/>
            <a:ext cx="7488237" cy="512961"/>
          </a:xfrm>
        </p:spPr>
        <p:txBody>
          <a:bodyPr/>
          <a:lstStyle/>
          <a:p>
            <a:r>
              <a:rPr lang="en-US" altLang="zh-CN">
                <a:ea typeface="宋体" panose="02010600030101010101" pitchFamily="2" charset="-122"/>
              </a:rPr>
              <a:t>MIPS </a:t>
            </a:r>
            <a:r>
              <a:rPr lang="zh-CN" altLang="en-US">
                <a:ea typeface="宋体" panose="02010600030101010101" pitchFamily="2" charset="-122"/>
              </a:rPr>
              <a:t>寻址方式</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3974" y="1268762"/>
            <a:ext cx="5978079" cy="432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672" y="5631066"/>
            <a:ext cx="5976664" cy="966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a:spLocks noGrp="1" noChangeArrowheads="1"/>
          </p:cNvSpPr>
          <p:nvPr>
            <p:ph type="title"/>
          </p:nvPr>
        </p:nvSpPr>
        <p:spPr>
          <a:xfrm>
            <a:off x="-7330" y="177970"/>
            <a:ext cx="7086600" cy="478790"/>
          </a:xfrm>
        </p:spPr>
        <p:txBody>
          <a:bodyPr/>
          <a:lstStyle/>
          <a:p>
            <a:r>
              <a:rPr lang="en-US" altLang="zh-CN" sz="3200" dirty="0">
                <a:latin typeface="Arial Unicode MS" panose="020B0604020202020204" pitchFamily="34" charset="-122"/>
              </a:rPr>
              <a:t>2.1 MIPS</a:t>
            </a:r>
            <a:r>
              <a:rPr lang="zh-CN" altLang="en-US" sz="3200" dirty="0">
                <a:latin typeface="Arial Unicode MS" panose="020B0604020202020204" pitchFamily="34" charset="-122"/>
              </a:rPr>
              <a:t>模型机指令集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83832" y="1032861"/>
            <a:ext cx="3456384" cy="327782"/>
          </a:xfrm>
          <a:prstGeom prst="rect">
            <a:avLst/>
          </a:prstGeom>
          <a:noFill/>
        </p:spPr>
        <p:txBody>
          <a:bodyPr wrap="square" rtlCol="0">
            <a:spAutoFit/>
          </a:bodyPr>
          <a:lstStyle/>
          <a:p>
            <a:pPr>
              <a:buNone/>
            </a:pPr>
            <a:r>
              <a:rPr lang="zh-CN" altLang="en-US" b="0" dirty="0">
                <a:solidFill>
                  <a:schemeClr val="tx2">
                    <a:lumMod val="75000"/>
                    <a:lumOff val="25000"/>
                  </a:schemeClr>
                </a:solidFill>
              </a:rPr>
              <a:t>模型机指令集（</a:t>
            </a:r>
            <a:r>
              <a:rPr lang="en-US" altLang="zh-CN" b="0" dirty="0">
                <a:solidFill>
                  <a:schemeClr val="tx2">
                    <a:lumMod val="75000"/>
                    <a:lumOff val="25000"/>
                  </a:schemeClr>
                </a:solidFill>
              </a:rPr>
              <a:t>8</a:t>
            </a:r>
            <a:r>
              <a:rPr lang="zh-CN" altLang="en-US" b="0" dirty="0">
                <a:solidFill>
                  <a:schemeClr val="tx2">
                    <a:lumMod val="75000"/>
                    <a:lumOff val="25000"/>
                  </a:schemeClr>
                </a:solidFill>
              </a:rPr>
              <a:t>条指令）</a:t>
            </a:r>
          </a:p>
        </p:txBody>
      </p:sp>
      <p:pic>
        <p:nvPicPr>
          <p:cNvPr id="5" name="图片 4"/>
          <p:cNvPicPr>
            <a:picLocks noChangeAspect="1"/>
          </p:cNvPicPr>
          <p:nvPr/>
        </p:nvPicPr>
        <p:blipFill>
          <a:blip r:embed="rId2"/>
          <a:stretch>
            <a:fillRect/>
          </a:stretch>
        </p:blipFill>
        <p:spPr>
          <a:xfrm>
            <a:off x="1811026" y="1360643"/>
            <a:ext cx="8540664" cy="5092693"/>
          </a:xfrm>
          <a:prstGeom prst="rect">
            <a:avLst/>
          </a:prstGeom>
        </p:spPr>
      </p:pic>
      <p:sp>
        <p:nvSpPr>
          <p:cNvPr id="7"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208213" y="948471"/>
            <a:ext cx="7943850" cy="4886325"/>
          </a:xfrm>
          <a:prstGeom prst="rect">
            <a:avLst/>
          </a:prstGeom>
          <a:ln>
            <a:solidFill>
              <a:srgbClr val="C00000"/>
            </a:solidFill>
          </a:ln>
        </p:spPr>
      </p:pic>
      <p:sp>
        <p:nvSpPr>
          <p:cNvPr id="5" name="文本框 4"/>
          <p:cNvSpPr txBox="1"/>
          <p:nvPr/>
        </p:nvSpPr>
        <p:spPr>
          <a:xfrm>
            <a:off x="5159896" y="940978"/>
            <a:ext cx="3456384" cy="327782"/>
          </a:xfrm>
          <a:prstGeom prst="rect">
            <a:avLst/>
          </a:prstGeom>
          <a:noFill/>
        </p:spPr>
        <p:txBody>
          <a:bodyPr wrap="square" rtlCol="0">
            <a:spAutoFit/>
          </a:bodyPr>
          <a:lstStyle/>
          <a:p>
            <a:pPr>
              <a:buNone/>
            </a:pPr>
            <a:r>
              <a:rPr lang="zh-CN" altLang="en-US" b="0" dirty="0">
                <a:solidFill>
                  <a:schemeClr val="tx2">
                    <a:lumMod val="75000"/>
                    <a:lumOff val="25000"/>
                  </a:schemeClr>
                </a:solidFill>
              </a:rPr>
              <a:t>模型机指令编码</a:t>
            </a:r>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672" y="5866965"/>
            <a:ext cx="5976664" cy="966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
        <p:nvSpPr>
          <p:cNvPr id="3" name="内容占位符 2"/>
          <p:cNvSpPr>
            <a:spLocks noGrp="1"/>
          </p:cNvSpPr>
          <p:nvPr>
            <p:ph idx="1"/>
          </p:nvPr>
        </p:nvSpPr>
        <p:spPr>
          <a:xfrm>
            <a:off x="2135560" y="855390"/>
            <a:ext cx="7920880" cy="919226"/>
          </a:xfrm>
        </p:spPr>
        <p:txBody>
          <a:bodyPr/>
          <a:lstStyle/>
          <a:p>
            <a:pPr>
              <a:lnSpc>
                <a:spcPct val="120000"/>
              </a:lnSpc>
              <a:spcAft>
                <a:spcPts val="0"/>
              </a:spcAft>
            </a:pPr>
            <a:r>
              <a:rPr lang="zh-CN" altLang="en-US" dirty="0"/>
              <a:t>组合部件：</a:t>
            </a:r>
            <a:endParaRPr lang="en-US" altLang="zh-CN" dirty="0"/>
          </a:p>
          <a:p>
            <a:pPr lvl="1">
              <a:lnSpc>
                <a:spcPct val="150000"/>
              </a:lnSpc>
              <a:spcAft>
                <a:spcPts val="0"/>
              </a:spcAft>
            </a:pPr>
            <a:r>
              <a:rPr lang="zh-CN" altLang="en-US" dirty="0"/>
              <a:t>加法器（</a:t>
            </a:r>
            <a:r>
              <a:rPr lang="en-US" altLang="zh-CN" dirty="0"/>
              <a:t>Adder</a:t>
            </a:r>
            <a:r>
              <a:rPr lang="zh-CN" altLang="en-US" dirty="0"/>
              <a:t>）</a:t>
            </a:r>
            <a:r>
              <a:rPr lang="en-US" altLang="zh-CN" dirty="0"/>
              <a:t> </a:t>
            </a:r>
            <a:r>
              <a:rPr lang="zh-CN" altLang="en-US" dirty="0"/>
              <a:t>、算术逻辑运算单元（</a:t>
            </a:r>
            <a:r>
              <a:rPr lang="en-US" altLang="zh-CN" dirty="0"/>
              <a:t>ALU</a:t>
            </a:r>
            <a:r>
              <a:rPr lang="zh-CN" altLang="en-US" dirty="0"/>
              <a:t>）</a:t>
            </a:r>
            <a:endParaRPr lang="en-US" altLang="zh-CN" dirty="0"/>
          </a:p>
        </p:txBody>
      </p:sp>
      <p:graphicFrame>
        <p:nvGraphicFramePr>
          <p:cNvPr id="5" name="表格 4"/>
          <p:cNvGraphicFramePr>
            <a:graphicFrameLocks noGrp="1"/>
          </p:cNvGraphicFramePr>
          <p:nvPr/>
        </p:nvGraphicFramePr>
        <p:xfrm>
          <a:off x="5479872" y="2284798"/>
          <a:ext cx="4320480" cy="731520"/>
        </p:xfrm>
        <a:graphic>
          <a:graphicData uri="http://schemas.openxmlformats.org/drawingml/2006/table">
            <a:tbl>
              <a:tblPr firstRow="1" bandRow="1">
                <a:tableStyleId>{93296810-A885-4BE3-A3E7-6D5BEEA58F35}</a:tableStyleId>
              </a:tblPr>
              <a:tblGrid>
                <a:gridCol w="1210332">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741996">
                  <a:extLst>
                    <a:ext uri="{9D8B030D-6E8A-4147-A177-3AD203B41FA5}">
                      <a16:colId xmlns:a16="http://schemas.microsoft.com/office/drawing/2014/main" val="20002"/>
                    </a:ext>
                  </a:extLst>
                </a:gridCol>
              </a:tblGrid>
              <a:tr h="240371">
                <a:tc gridSpan="2">
                  <a:txBody>
                    <a:bodyPr/>
                    <a:lstStyle/>
                    <a:p>
                      <a:pPr algn="ctr"/>
                      <a:r>
                        <a:rPr lang="zh-CN" altLang="en-US" dirty="0"/>
                        <a:t>输入（</a:t>
                      </a:r>
                      <a:r>
                        <a:rPr lang="en-US" altLang="zh-CN" dirty="0"/>
                        <a:t>32</a:t>
                      </a:r>
                      <a:r>
                        <a:rPr lang="zh-CN" altLang="en-US" dirty="0"/>
                        <a:t>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dirty="0"/>
                        <a:t>输出（</a:t>
                      </a:r>
                      <a:r>
                        <a:rPr lang="en-US" altLang="zh-CN" dirty="0"/>
                        <a:t>32</a:t>
                      </a:r>
                      <a:r>
                        <a:rPr lang="zh-CN" altLang="en-US" dirty="0"/>
                        <a:t>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Sum=A+B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nvGraphicFramePr>
        <p:xfrm>
          <a:off x="5407864" y="3696912"/>
          <a:ext cx="4576568" cy="2743200"/>
        </p:xfrm>
        <a:graphic>
          <a:graphicData uri="http://schemas.openxmlformats.org/drawingml/2006/table">
            <a:tbl>
              <a:tblPr firstRow="1" bandRow="1">
                <a:tableStyleId>{93296810-A885-4BE3-A3E7-6D5BEEA58F35}</a:tableStyleId>
              </a:tblPr>
              <a:tblGrid>
                <a:gridCol w="748369">
                  <a:extLst>
                    <a:ext uri="{9D8B030D-6E8A-4147-A177-3AD203B41FA5}">
                      <a16:colId xmlns:a16="http://schemas.microsoft.com/office/drawing/2014/main" val="20000"/>
                    </a:ext>
                  </a:extLst>
                </a:gridCol>
                <a:gridCol w="708926">
                  <a:extLst>
                    <a:ext uri="{9D8B030D-6E8A-4147-A177-3AD203B41FA5}">
                      <a16:colId xmlns:a16="http://schemas.microsoft.com/office/drawing/2014/main" val="20001"/>
                    </a:ext>
                  </a:extLst>
                </a:gridCol>
                <a:gridCol w="1463089">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tblGrid>
              <a:tr h="240371">
                <a:tc gridSpan="2">
                  <a:txBody>
                    <a:bodyPr/>
                    <a:lstStyle/>
                    <a:p>
                      <a:pPr algn="ctr"/>
                      <a:r>
                        <a:rPr lang="zh-CN" altLang="en-US" dirty="0"/>
                        <a:t>数据输入</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a:t>控制输入</a:t>
                      </a:r>
                      <a:r>
                        <a:rPr lang="en-US" altLang="zh-CN"/>
                        <a:t>OP</a:t>
                      </a:r>
                    </a:p>
                    <a:p>
                      <a:pPr algn="ctr"/>
                      <a:r>
                        <a:rPr lang="zh-CN" altLang="en-US"/>
                        <a:t>（</a:t>
                      </a:r>
                      <a:r>
                        <a:rPr lang="en-US" altLang="zh-CN" dirty="0"/>
                        <a:t>4</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a:t>输出</a:t>
                      </a:r>
                      <a:endParaRPr lang="en-US" alt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0000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A&amp;B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0001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0010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0110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40371">
                <a:tc>
                  <a:txBody>
                    <a:bodyPr/>
                    <a:lstStyle/>
                    <a:p>
                      <a:pPr algn="ctr"/>
                      <a:r>
                        <a:rPr lang="en-US" altLang="zh-CN" dirty="0"/>
                        <a:t>A</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0111</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If A=B then</a:t>
                      </a:r>
                      <a:r>
                        <a:rPr lang="en-US" altLang="zh-CN" baseline="0" dirty="0"/>
                        <a:t> Zero=1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8" name="图片 7"/>
          <p:cNvPicPr>
            <a:picLocks noChangeAspect="1"/>
          </p:cNvPicPr>
          <p:nvPr/>
        </p:nvPicPr>
        <p:blipFill>
          <a:blip r:embed="rId2"/>
          <a:stretch>
            <a:fillRect/>
          </a:stretch>
        </p:blipFill>
        <p:spPr>
          <a:xfrm>
            <a:off x="2423593" y="4030579"/>
            <a:ext cx="2553818" cy="2460813"/>
          </a:xfrm>
          <a:prstGeom prst="rect">
            <a:avLst/>
          </a:prstGeom>
        </p:spPr>
      </p:pic>
      <p:pic>
        <p:nvPicPr>
          <p:cNvPr id="9" name="图片 8"/>
          <p:cNvPicPr>
            <a:picLocks noChangeAspect="1"/>
          </p:cNvPicPr>
          <p:nvPr/>
        </p:nvPicPr>
        <p:blipFill>
          <a:blip r:embed="rId3"/>
          <a:stretch>
            <a:fillRect/>
          </a:stretch>
        </p:blipFill>
        <p:spPr>
          <a:xfrm>
            <a:off x="2639616" y="1936895"/>
            <a:ext cx="2337794" cy="2015535"/>
          </a:xfrm>
          <a:prstGeom prst="rect">
            <a:avLst/>
          </a:prstGeom>
        </p:spPr>
      </p:pic>
      <p:sp>
        <p:nvSpPr>
          <p:cNvPr id="4" name="TextBox 3"/>
          <p:cNvSpPr txBox="1"/>
          <p:nvPr/>
        </p:nvSpPr>
        <p:spPr>
          <a:xfrm>
            <a:off x="10056440" y="5988014"/>
            <a:ext cx="792088" cy="249299"/>
          </a:xfrm>
          <a:prstGeom prst="rect">
            <a:avLst/>
          </a:prstGeom>
          <a:noFill/>
        </p:spPr>
        <p:txBody>
          <a:bodyPr wrap="square" rtlCol="0">
            <a:spAutoFit/>
          </a:bodyPr>
          <a:lstStyle/>
          <a:p>
            <a:pPr>
              <a:buNone/>
            </a:pPr>
            <a:r>
              <a:rPr lang="en-US" altLang="zh-CN" sz="1200" dirty="0"/>
              <a:t>BEQ</a:t>
            </a:r>
            <a:endParaRPr lang="zh-CN" alt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360" y="845320"/>
            <a:ext cx="7920880" cy="1417824"/>
          </a:xfrm>
          <a:noFill/>
          <a:ln w="12700">
            <a:noFill/>
            <a:miter lim="800000"/>
          </a:ln>
          <a:effectLst/>
        </p:spPr>
        <p:txBody>
          <a:bodyPr vert="horz" wrap="square" lIns="63500" tIns="25400" rIns="63500" bIns="25400" numCol="1" anchor="t" anchorCtr="0" compatLnSpc="1">
            <a:spAutoFit/>
          </a:bodyPr>
          <a:lstStyle/>
          <a:p>
            <a:pPr>
              <a:lnSpc>
                <a:spcPct val="120000"/>
              </a:lnSpc>
              <a:spcAft>
                <a:spcPts val="0"/>
              </a:spcAft>
            </a:pPr>
            <a:r>
              <a:rPr lang="zh-CN" altLang="en-US" dirty="0"/>
              <a:t>组合部件</a:t>
            </a:r>
            <a:endParaRPr lang="en-US" altLang="zh-CN" dirty="0"/>
          </a:p>
          <a:p>
            <a:pPr lvl="1">
              <a:lnSpc>
                <a:spcPct val="150000"/>
              </a:lnSpc>
              <a:spcAft>
                <a:spcPts val="0"/>
              </a:spcAft>
            </a:pPr>
            <a:r>
              <a:rPr lang="zh-CN" altLang="en-US" dirty="0"/>
              <a:t>多路选择器（</a:t>
            </a:r>
            <a:r>
              <a:rPr lang="en-US" altLang="zh-CN" dirty="0"/>
              <a:t>Mux</a:t>
            </a:r>
            <a:r>
              <a:rPr lang="zh-CN" altLang="en-US" dirty="0"/>
              <a:t>）、符号扩展器（</a:t>
            </a:r>
            <a:r>
              <a:rPr lang="en-US" altLang="zh-CN" dirty="0" err="1"/>
              <a:t>Signext</a:t>
            </a:r>
            <a:r>
              <a:rPr lang="zh-CN" altLang="en-US" dirty="0"/>
              <a:t>）</a:t>
            </a:r>
            <a:endParaRPr lang="en-US" altLang="zh-CN" dirty="0"/>
          </a:p>
          <a:p>
            <a:pPr lvl="1">
              <a:lnSpc>
                <a:spcPct val="150000"/>
              </a:lnSpc>
              <a:spcAft>
                <a:spcPts val="0"/>
              </a:spcAft>
            </a:pPr>
            <a:r>
              <a:rPr lang="zh-CN" altLang="en-US" dirty="0"/>
              <a:t>多路选择器有二选一，三选一，四选一等。</a:t>
            </a:r>
            <a:endParaRPr lang="en-US" altLang="zh-CN" dirty="0"/>
          </a:p>
        </p:txBody>
      </p:sp>
      <p:pic>
        <p:nvPicPr>
          <p:cNvPr id="280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844" y="4781898"/>
            <a:ext cx="2383325" cy="131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0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2543548"/>
            <a:ext cx="2417326" cy="1677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表格 7"/>
          <p:cNvGraphicFramePr>
            <a:graphicFrameLocks noGrp="1"/>
          </p:cNvGraphicFramePr>
          <p:nvPr/>
        </p:nvGraphicFramePr>
        <p:xfrm>
          <a:off x="5519936" y="2417440"/>
          <a:ext cx="4432552" cy="1371600"/>
        </p:xfrm>
        <a:graphic>
          <a:graphicData uri="http://schemas.openxmlformats.org/drawingml/2006/table">
            <a:tbl>
              <a:tblPr firstRow="1" bandRow="1">
                <a:tableStyleId>{93296810-A885-4BE3-A3E7-6D5BEEA58F35}</a:tableStyleId>
              </a:tblPr>
              <a:tblGrid>
                <a:gridCol w="76014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tblGrid>
              <a:tr h="240371">
                <a:tc gridSpan="2">
                  <a:txBody>
                    <a:bodyPr/>
                    <a:lstStyle/>
                    <a:p>
                      <a:pPr algn="ctr"/>
                      <a:r>
                        <a:rPr lang="zh-CN" altLang="en-US" dirty="0"/>
                        <a:t>输入</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dirty="0"/>
                        <a:t>Select</a:t>
                      </a:r>
                      <a:r>
                        <a:rPr lang="zh-CN" altLang="en-US" dirty="0"/>
                        <a:t>输入</a:t>
                      </a:r>
                      <a:endParaRPr lang="en-US" altLang="zh-C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dirty="0"/>
                        <a:t>输出</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a:t>无效（低电平）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Y=A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a:t>有效（高电平）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Y=B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 name="文本框 4"/>
          <p:cNvSpPr txBox="1"/>
          <p:nvPr/>
        </p:nvSpPr>
        <p:spPr>
          <a:xfrm>
            <a:off x="5591944" y="4929002"/>
            <a:ext cx="4464496" cy="1020279"/>
          </a:xfrm>
          <a:prstGeom prst="rect">
            <a:avLst/>
          </a:prstGeom>
          <a:noFill/>
        </p:spPr>
        <p:txBody>
          <a:bodyPr wrap="square" rtlCol="0">
            <a:spAutoFit/>
          </a:bodyPr>
          <a:lstStyle/>
          <a:p>
            <a:pPr>
              <a:buNone/>
            </a:pPr>
            <a:r>
              <a:rPr lang="en-US" altLang="zh-CN" dirty="0"/>
              <a:t>16</a:t>
            </a:r>
            <a:r>
              <a:rPr lang="zh-CN" altLang="en-US" dirty="0"/>
              <a:t>位二进制数按符号位扩展至</a:t>
            </a:r>
            <a:r>
              <a:rPr lang="en-US" altLang="zh-CN" dirty="0"/>
              <a:t>32</a:t>
            </a:r>
            <a:r>
              <a:rPr lang="zh-CN" altLang="en-US" dirty="0"/>
              <a:t>位</a:t>
            </a:r>
            <a:endParaRPr lang="en-US" altLang="zh-CN" dirty="0"/>
          </a:p>
          <a:p>
            <a:pPr>
              <a:buNone/>
            </a:pPr>
            <a:r>
              <a:rPr lang="zh-CN" altLang="en-US" dirty="0"/>
              <a:t>如： </a:t>
            </a:r>
            <a:r>
              <a:rPr lang="en-US" altLang="zh-CN" dirty="0" err="1"/>
              <a:t>Signext</a:t>
            </a:r>
            <a:r>
              <a:rPr lang="en-US" altLang="zh-CN" dirty="0"/>
              <a:t>(8000H) = FFFF8000H</a:t>
            </a:r>
          </a:p>
          <a:p>
            <a:pPr>
              <a:buNone/>
            </a:pPr>
            <a:r>
              <a:rPr lang="en-US" altLang="zh-CN" dirty="0"/>
              <a:t>         </a:t>
            </a:r>
            <a:r>
              <a:rPr lang="en-US" altLang="zh-CN" dirty="0" err="1"/>
              <a:t>Signext</a:t>
            </a:r>
            <a:r>
              <a:rPr lang="en-US" altLang="zh-CN" dirty="0"/>
              <a:t>(7800H) = 00007800H</a:t>
            </a:r>
            <a:endParaRPr lang="zh-CN" altLang="en-US" dirty="0"/>
          </a:p>
        </p:txBody>
      </p:sp>
      <p:sp>
        <p:nvSpPr>
          <p:cNvPr id="9" name="标题 8"/>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2671026"/>
            <a:ext cx="289560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350640" y="867983"/>
            <a:ext cx="4896544" cy="1602490"/>
          </a:xfrm>
        </p:spPr>
        <p:txBody>
          <a:bodyPr/>
          <a:lstStyle/>
          <a:p>
            <a:pPr>
              <a:lnSpc>
                <a:spcPct val="120000"/>
              </a:lnSpc>
              <a:spcAft>
                <a:spcPts val="0"/>
              </a:spcAft>
            </a:pPr>
            <a:r>
              <a:rPr lang="zh-CN" altLang="en-US" dirty="0"/>
              <a:t>寄存器堆（</a:t>
            </a:r>
            <a:r>
              <a:rPr lang="en-US" altLang="zh-CN" dirty="0"/>
              <a:t>32</a:t>
            </a:r>
            <a:r>
              <a:rPr lang="zh-CN" altLang="en-US" dirty="0"/>
              <a:t>个寄存器）</a:t>
            </a:r>
            <a:endParaRPr lang="zh-CN" altLang="en-US" sz="2000" dirty="0"/>
          </a:p>
          <a:p>
            <a:pPr lvl="1">
              <a:lnSpc>
                <a:spcPct val="120000"/>
              </a:lnSpc>
              <a:spcAft>
                <a:spcPts val="0"/>
              </a:spcAft>
            </a:pPr>
            <a:r>
              <a:rPr lang="zh-CN" altLang="en-US" dirty="0"/>
              <a:t>两个</a:t>
            </a:r>
            <a:r>
              <a:rPr lang="en-US" altLang="zh-CN" dirty="0"/>
              <a:t>32</a:t>
            </a:r>
            <a:r>
              <a:rPr lang="zh-CN" altLang="en-US" dirty="0"/>
              <a:t>位数据输出端口</a:t>
            </a:r>
          </a:p>
          <a:p>
            <a:pPr lvl="1">
              <a:lnSpc>
                <a:spcPct val="120000"/>
              </a:lnSpc>
              <a:spcAft>
                <a:spcPts val="0"/>
              </a:spcAft>
            </a:pPr>
            <a:r>
              <a:rPr lang="zh-CN" altLang="en-US" dirty="0"/>
              <a:t>一个</a:t>
            </a:r>
            <a:r>
              <a:rPr lang="en-US" altLang="zh-CN" dirty="0"/>
              <a:t>32</a:t>
            </a:r>
            <a:r>
              <a:rPr lang="zh-CN" altLang="en-US" dirty="0"/>
              <a:t>位数据输入端口</a:t>
            </a:r>
            <a:endParaRPr lang="en-US" altLang="zh-CN" dirty="0"/>
          </a:p>
          <a:p>
            <a:pPr lvl="1">
              <a:lnSpc>
                <a:spcPct val="120000"/>
              </a:lnSpc>
              <a:spcAft>
                <a:spcPts val="0"/>
              </a:spcAft>
            </a:pPr>
            <a:r>
              <a:rPr lang="zh-CN" altLang="en-US" dirty="0"/>
              <a:t>三个</a:t>
            </a:r>
            <a:r>
              <a:rPr lang="en-US" altLang="zh-CN" dirty="0"/>
              <a:t>5</a:t>
            </a:r>
            <a:r>
              <a:rPr lang="zh-CN" altLang="en-US" dirty="0"/>
              <a:t>位寄存器地址输入端口</a:t>
            </a:r>
          </a:p>
        </p:txBody>
      </p:sp>
      <p:graphicFrame>
        <p:nvGraphicFramePr>
          <p:cNvPr id="7" name="表格 6"/>
          <p:cNvGraphicFramePr>
            <a:graphicFrameLocks noGrp="1"/>
          </p:cNvGraphicFramePr>
          <p:nvPr/>
        </p:nvGraphicFramePr>
        <p:xfrm>
          <a:off x="5712092" y="3047261"/>
          <a:ext cx="4704388" cy="853440"/>
        </p:xfrm>
        <a:graphic>
          <a:graphicData uri="http://schemas.openxmlformats.org/drawingml/2006/table">
            <a:tbl>
              <a:tblPr firstRow="1" bandRow="1">
                <a:tableStyleId>{93296810-A885-4BE3-A3E7-6D5BEEA58F35}</a:tableStyleId>
              </a:tblPr>
              <a:tblGrid>
                <a:gridCol w="959972">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240371">
                <a:tc gridSpan="2">
                  <a:txBody>
                    <a:bodyPr/>
                    <a:lstStyle/>
                    <a:p>
                      <a:pPr algn="ctr"/>
                      <a:r>
                        <a:rPr lang="zh-CN" altLang="en-US" sz="1600" dirty="0"/>
                        <a:t>地址输入（</a:t>
                      </a:r>
                      <a:r>
                        <a:rPr lang="en-US" altLang="zh-CN" sz="1600" dirty="0"/>
                        <a:t>5</a:t>
                      </a:r>
                      <a:r>
                        <a:rPr lang="zh-CN" altLang="en-US" sz="1600"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sz="1600" dirty="0"/>
                        <a:t>数据输出</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sz="1400" dirty="0"/>
                        <a:t>Read</a:t>
                      </a:r>
                      <a:r>
                        <a:rPr lang="en-US" altLang="zh-CN" sz="1400" baseline="0" dirty="0"/>
                        <a:t> register</a:t>
                      </a:r>
                      <a:r>
                        <a:rPr lang="en-US" altLang="zh-CN" sz="1400" dirty="0"/>
                        <a:t>1</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Read</a:t>
                      </a:r>
                    </a:p>
                    <a:p>
                      <a:pPr algn="ctr"/>
                      <a:r>
                        <a:rPr lang="en-US" altLang="zh-CN" sz="1400" dirty="0"/>
                        <a:t>register2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Read data1=R[Read</a:t>
                      </a:r>
                      <a:r>
                        <a:rPr lang="en-US" altLang="zh-CN" sz="1400" baseline="0" dirty="0"/>
                        <a:t>register1</a:t>
                      </a:r>
                      <a:r>
                        <a:rPr lang="en-US" altLang="zh-CN" sz="1400" dirty="0"/>
                        <a:t>]</a:t>
                      </a:r>
                    </a:p>
                    <a:p>
                      <a:pPr algn="ctr"/>
                      <a:r>
                        <a:rPr lang="en-US" altLang="zh-CN" sz="1400" dirty="0"/>
                        <a:t>Read data2=R[Read</a:t>
                      </a:r>
                      <a:r>
                        <a:rPr lang="en-US" altLang="zh-CN" sz="1400" baseline="0" dirty="0"/>
                        <a:t>register</a:t>
                      </a:r>
                      <a:r>
                        <a:rPr lang="en-US" altLang="zh-CN" sz="1400" dirty="0"/>
                        <a:t>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 name="文本框 5"/>
          <p:cNvSpPr txBox="1"/>
          <p:nvPr/>
        </p:nvSpPr>
        <p:spPr>
          <a:xfrm>
            <a:off x="6504180" y="2660772"/>
            <a:ext cx="2808312" cy="327782"/>
          </a:xfrm>
          <a:prstGeom prst="rect">
            <a:avLst/>
          </a:prstGeom>
          <a:noFill/>
        </p:spPr>
        <p:txBody>
          <a:bodyPr wrap="square" rtlCol="0">
            <a:spAutoFit/>
          </a:bodyPr>
          <a:lstStyle/>
          <a:p>
            <a:pPr>
              <a:buNone/>
            </a:pPr>
            <a:r>
              <a:rPr lang="zh-CN" altLang="en-US" b="0" dirty="0">
                <a:solidFill>
                  <a:srgbClr val="FF0000"/>
                </a:solidFill>
              </a:rPr>
              <a:t>寄存器堆读操作（输出）</a:t>
            </a:r>
          </a:p>
        </p:txBody>
      </p:sp>
      <p:graphicFrame>
        <p:nvGraphicFramePr>
          <p:cNvPr id="9" name="表格 8"/>
          <p:cNvGraphicFramePr>
            <a:graphicFrameLocks noGrp="1"/>
          </p:cNvGraphicFramePr>
          <p:nvPr/>
        </p:nvGraphicFramePr>
        <p:xfrm>
          <a:off x="5015880" y="4765888"/>
          <a:ext cx="5376732" cy="1615440"/>
        </p:xfrm>
        <a:graphic>
          <a:graphicData uri="http://schemas.openxmlformats.org/drawingml/2006/table">
            <a:tbl>
              <a:tblPr firstRow="1" bandRow="1">
                <a:tableStyleId>{93296810-A885-4BE3-A3E7-6D5BEEA58F35}</a:tableStyleId>
              </a:tblPr>
              <a:tblGrid>
                <a:gridCol w="1203745">
                  <a:extLst>
                    <a:ext uri="{9D8B030D-6E8A-4147-A177-3AD203B41FA5}">
                      <a16:colId xmlns:a16="http://schemas.microsoft.com/office/drawing/2014/main" val="20000"/>
                    </a:ext>
                  </a:extLst>
                </a:gridCol>
                <a:gridCol w="1123495">
                  <a:extLst>
                    <a:ext uri="{9D8B030D-6E8A-4147-A177-3AD203B41FA5}">
                      <a16:colId xmlns:a16="http://schemas.microsoft.com/office/drawing/2014/main" val="20001"/>
                    </a:ext>
                  </a:extLst>
                </a:gridCol>
                <a:gridCol w="1561192">
                  <a:extLst>
                    <a:ext uri="{9D8B030D-6E8A-4147-A177-3AD203B41FA5}">
                      <a16:colId xmlns:a16="http://schemas.microsoft.com/office/drawing/2014/main" val="20002"/>
                    </a:ext>
                  </a:extLst>
                </a:gridCol>
                <a:gridCol w="1488300">
                  <a:extLst>
                    <a:ext uri="{9D8B030D-6E8A-4147-A177-3AD203B41FA5}">
                      <a16:colId xmlns:a16="http://schemas.microsoft.com/office/drawing/2014/main" val="20003"/>
                    </a:ext>
                  </a:extLst>
                </a:gridCol>
              </a:tblGrid>
              <a:tr h="240371">
                <a:tc>
                  <a:txBody>
                    <a:bodyPr/>
                    <a:lstStyle/>
                    <a:p>
                      <a:pPr algn="ctr"/>
                      <a:r>
                        <a:rPr lang="zh-CN" altLang="en-US" sz="1600" dirty="0"/>
                        <a:t>地址输入</a:t>
                      </a:r>
                      <a:endParaRPr lang="en-US" altLang="zh-CN" sz="1600" dirty="0"/>
                    </a:p>
                    <a:p>
                      <a:pPr algn="ctr"/>
                      <a:r>
                        <a:rPr lang="zh-CN" altLang="en-US" sz="1600" dirty="0"/>
                        <a:t>（</a:t>
                      </a:r>
                      <a:r>
                        <a:rPr lang="en-US" altLang="zh-CN" sz="1600" dirty="0"/>
                        <a:t>5</a:t>
                      </a:r>
                      <a:r>
                        <a:rPr lang="zh-CN" altLang="en-US" sz="1600"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600" dirty="0"/>
                        <a:t>数据</a:t>
                      </a:r>
                      <a:r>
                        <a:rPr lang="zh-CN" altLang="en-US" sz="1600" baseline="0" dirty="0"/>
                        <a:t>输入</a:t>
                      </a:r>
                      <a:endParaRPr lang="en-US" altLang="zh-CN" sz="1600" baseline="0" dirty="0"/>
                    </a:p>
                    <a:p>
                      <a:pPr algn="ctr"/>
                      <a:r>
                        <a:rPr lang="zh-CN" altLang="en-US" sz="1600" baseline="0" dirty="0"/>
                        <a:t>（</a:t>
                      </a:r>
                      <a:r>
                        <a:rPr lang="en-US" altLang="zh-CN" sz="1600" baseline="0" dirty="0"/>
                        <a:t>32</a:t>
                      </a:r>
                      <a:r>
                        <a:rPr lang="zh-CN" altLang="en-US" sz="1600" baseline="0" dirty="0"/>
                        <a:t>位）</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600" baseline="0" dirty="0"/>
                        <a:t>  </a:t>
                      </a:r>
                      <a:r>
                        <a:rPr lang="zh-CN" altLang="en-US" sz="1600" baseline="0" dirty="0"/>
                        <a:t>控制输入</a:t>
                      </a:r>
                      <a:endParaRPr lang="en-US" altLang="zh-CN" sz="1600" baseline="0" dirty="0"/>
                    </a:p>
                    <a:p>
                      <a:pPr algn="ctr"/>
                      <a:r>
                        <a:rPr lang="en-US" altLang="zh-CN" sz="1600" baseline="0" dirty="0" err="1"/>
                        <a:t>RegWrite</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600" dirty="0"/>
                        <a:t>操作</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sz="1400" dirty="0"/>
                        <a:t>Write</a:t>
                      </a:r>
                      <a:r>
                        <a:rPr lang="en-US" altLang="zh-CN" sz="1400" baseline="0" dirty="0"/>
                        <a:t> register</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Write 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无效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sz="1400" dirty="0"/>
                        <a:t>Write</a:t>
                      </a:r>
                      <a:r>
                        <a:rPr lang="en-US" altLang="zh-CN" sz="1400" baseline="0" dirty="0"/>
                        <a:t> register</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Write</a:t>
                      </a:r>
                      <a:r>
                        <a:rPr lang="en-US" altLang="zh-CN" sz="1400" baseline="0" dirty="0"/>
                        <a:t> </a:t>
                      </a:r>
                      <a:r>
                        <a:rPr lang="en-US" altLang="zh-CN" sz="1400" dirty="0"/>
                        <a:t>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有效</a:t>
                      </a:r>
                      <a:endParaRPr lang="en-US" altLang="zh-CN" sz="1400" dirty="0"/>
                    </a:p>
                    <a:p>
                      <a:pPr algn="ctr"/>
                      <a:r>
                        <a:rPr lang="zh-CN" altLang="en-US" sz="1400" dirty="0"/>
                        <a:t>（</a:t>
                      </a:r>
                      <a:r>
                        <a:rPr lang="en-US" altLang="zh-CN" sz="1400" dirty="0" err="1">
                          <a:solidFill>
                            <a:srgbClr val="FF0000"/>
                          </a:solidFill>
                        </a:rPr>
                        <a:t>Clk</a:t>
                      </a:r>
                      <a:r>
                        <a:rPr lang="zh-CN" altLang="en-US" sz="1400" dirty="0">
                          <a:solidFill>
                            <a:srgbClr val="FF0000"/>
                          </a:solidFill>
                        </a:rPr>
                        <a:t>时钟下跳沿</a:t>
                      </a:r>
                      <a:r>
                        <a:rPr lang="zh-CN" alt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a:t>
                      </a:r>
                      <a:r>
                        <a:rPr lang="en-US" altLang="zh-CN" sz="1400" dirty="0" err="1"/>
                        <a:t>Writeregister</a:t>
                      </a:r>
                      <a:r>
                        <a:rPr lang="en-US" altLang="zh-CN" sz="1400" dirty="0"/>
                        <a:t>]</a:t>
                      </a:r>
                    </a:p>
                    <a:p>
                      <a:pPr algn="ctr"/>
                      <a:r>
                        <a:rPr lang="en-US" altLang="zh-CN" sz="1400" dirty="0">
                          <a:sym typeface="Wingdings" panose="05000000000000000000" pitchFamily="2" charset="2"/>
                        </a:rPr>
                        <a:t> Write 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0" name="文本框 9"/>
          <p:cNvSpPr txBox="1"/>
          <p:nvPr/>
        </p:nvSpPr>
        <p:spPr>
          <a:xfrm>
            <a:off x="6432172" y="4405848"/>
            <a:ext cx="2808312" cy="327782"/>
          </a:xfrm>
          <a:prstGeom prst="rect">
            <a:avLst/>
          </a:prstGeom>
          <a:noFill/>
        </p:spPr>
        <p:txBody>
          <a:bodyPr wrap="square" rtlCol="0">
            <a:spAutoFit/>
          </a:bodyPr>
          <a:lstStyle/>
          <a:p>
            <a:pPr>
              <a:buNone/>
            </a:pPr>
            <a:r>
              <a:rPr lang="zh-CN" altLang="en-US" b="0" dirty="0">
                <a:solidFill>
                  <a:srgbClr val="FF0000"/>
                </a:solidFill>
              </a:rPr>
              <a:t>寄存器堆写操作（输入）</a:t>
            </a:r>
          </a:p>
        </p:txBody>
      </p:sp>
      <p:sp>
        <p:nvSpPr>
          <p:cNvPr id="4" name="TextBox 3"/>
          <p:cNvSpPr txBox="1"/>
          <p:nvPr/>
        </p:nvSpPr>
        <p:spPr>
          <a:xfrm>
            <a:off x="5735960" y="1588523"/>
            <a:ext cx="4932040" cy="353943"/>
          </a:xfrm>
          <a:prstGeom prst="rect">
            <a:avLst/>
          </a:prstGeom>
          <a:noFill/>
        </p:spPr>
        <p:txBody>
          <a:bodyPr wrap="square" rtlCol="0">
            <a:spAutoFit/>
          </a:bodyPr>
          <a:lstStyle/>
          <a:p>
            <a:pPr>
              <a:buNone/>
            </a:pPr>
            <a:r>
              <a:rPr lang="zh-CN" altLang="en-US" sz="2000" dirty="0"/>
              <a:t>读操作不需读信号，但写操作需要写信号</a:t>
            </a:r>
          </a:p>
        </p:txBody>
      </p:sp>
      <p:sp>
        <p:nvSpPr>
          <p:cNvPr id="12" name="标题 11"/>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63352" y="738732"/>
            <a:ext cx="7848600" cy="474489"/>
          </a:xfrm>
        </p:spPr>
        <p:txBody>
          <a:bodyPr/>
          <a:lstStyle/>
          <a:p>
            <a:r>
              <a:rPr lang="zh-CN" altLang="en-US" dirty="0"/>
              <a:t>寄存器堆内部结构</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1268760"/>
            <a:ext cx="6762389" cy="54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接连接符 5"/>
          <p:cNvCxnSpPr/>
          <p:nvPr/>
        </p:nvCxnSpPr>
        <p:spPr bwMode="auto">
          <a:xfrm>
            <a:off x="5087888" y="3861048"/>
            <a:ext cx="576064" cy="0"/>
          </a:xfrm>
          <a:prstGeom prst="line">
            <a:avLst/>
          </a:prstGeom>
          <a:noFill/>
          <a:ln w="6350" cap="flat" cmpd="sng" algn="ctr">
            <a:solidFill>
              <a:schemeClr val="tx1"/>
            </a:solidFill>
            <a:prstDash val="solid"/>
            <a:round/>
            <a:headEnd type="none" w="med" len="med"/>
            <a:tailEnd type="none" w="med" len="med"/>
          </a:ln>
          <a:effectLst/>
        </p:spPr>
      </p:cxnSp>
      <p:sp>
        <p:nvSpPr>
          <p:cNvPr id="7" name="椭圆 6"/>
          <p:cNvSpPr/>
          <p:nvPr/>
        </p:nvSpPr>
        <p:spPr bwMode="auto">
          <a:xfrm>
            <a:off x="5015880" y="3789048"/>
            <a:ext cx="108000" cy="108000"/>
          </a:xfrm>
          <a:prstGeom prst="ellipse">
            <a:avLst/>
          </a:prstGeom>
          <a:solidFill>
            <a:schemeClr val="tx1"/>
          </a:solidFill>
          <a:ln w="12700">
            <a:solidFill>
              <a:srgbClr val="FF9900"/>
            </a:solidFill>
            <a:round/>
          </a:ln>
          <a:effectLst/>
        </p:spPr>
        <p:txBody>
          <a:bodyPr wrap="square" lIns="63500" tIns="97200" rIns="63500" bIns="61200" rtlCol="0" anchor="ctr">
            <a:spAutoFit/>
          </a:bodyPr>
          <a:lstStyle/>
          <a:p>
            <a:pPr algn="ctr"/>
            <a:endParaRPr lang="zh-CN" altLang="en-US"/>
          </a:p>
        </p:txBody>
      </p:sp>
      <p:sp>
        <p:nvSpPr>
          <p:cNvPr id="10" name="标题 9"/>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2965" y="907415"/>
            <a:ext cx="6061075" cy="5368290"/>
          </a:xfrm>
        </p:spPr>
        <p:txBody>
          <a:bodyPr wrap="square"/>
          <a:lstStyle/>
          <a:p>
            <a:pPr>
              <a:lnSpc>
                <a:spcPct val="120000"/>
              </a:lnSpc>
              <a:spcAft>
                <a:spcPts val="0"/>
              </a:spcAft>
            </a:pPr>
            <a:r>
              <a:rPr lang="zh-CN" altLang="en-US" dirty="0"/>
              <a:t>数据存储器</a:t>
            </a:r>
            <a:r>
              <a:rPr lang="en-US" altLang="zh-CN" dirty="0"/>
              <a:t>DM</a:t>
            </a:r>
            <a:r>
              <a:rPr lang="zh-CN" altLang="en-US" dirty="0"/>
              <a:t>（理想存储器）</a:t>
            </a:r>
            <a:endParaRPr lang="en-US" altLang="zh-CN" dirty="0"/>
          </a:p>
          <a:p>
            <a:pPr lvl="1">
              <a:lnSpc>
                <a:spcPct val="120000"/>
              </a:lnSpc>
              <a:spcAft>
                <a:spcPts val="0"/>
              </a:spcAft>
            </a:pPr>
            <a:r>
              <a:rPr lang="zh-CN" altLang="en-US" dirty="0"/>
              <a:t>单数据输入总线：</a:t>
            </a:r>
            <a:r>
              <a:rPr lang="en-US" altLang="zh-CN" dirty="0"/>
              <a:t>Write data</a:t>
            </a:r>
          </a:p>
          <a:p>
            <a:pPr lvl="1">
              <a:lnSpc>
                <a:spcPct val="120000"/>
              </a:lnSpc>
              <a:spcAft>
                <a:spcPts val="0"/>
              </a:spcAft>
            </a:pPr>
            <a:r>
              <a:rPr lang="zh-CN" altLang="en-US" dirty="0"/>
              <a:t>单数据输出总线：</a:t>
            </a:r>
            <a:r>
              <a:rPr lang="en-US" altLang="zh-CN" dirty="0"/>
              <a:t>Read data</a:t>
            </a:r>
          </a:p>
          <a:p>
            <a:pPr lvl="1">
              <a:lnSpc>
                <a:spcPct val="120000"/>
              </a:lnSpc>
              <a:spcAft>
                <a:spcPts val="0"/>
              </a:spcAft>
            </a:pPr>
            <a:r>
              <a:rPr lang="zh-CN" altLang="en-US" dirty="0"/>
              <a:t>读：</a:t>
            </a:r>
            <a:r>
              <a:rPr lang="en-US" altLang="zh-CN" dirty="0"/>
              <a:t> </a:t>
            </a:r>
            <a:r>
              <a:rPr lang="en-US" altLang="zh-CN" dirty="0" err="1">
                <a:solidFill>
                  <a:srgbClr val="FF0000"/>
                </a:solidFill>
              </a:rPr>
              <a:t>MemRead</a:t>
            </a:r>
            <a:r>
              <a:rPr lang="zh-CN" altLang="en-US" dirty="0"/>
              <a:t>控制信号有效时，地址线</a:t>
            </a:r>
            <a:r>
              <a:rPr lang="en-US" altLang="zh-CN" dirty="0"/>
              <a:t>(Address)</a:t>
            </a:r>
            <a:r>
              <a:rPr lang="zh-CN" altLang="en-US" dirty="0"/>
              <a:t>选择的存储字被放在</a:t>
            </a:r>
            <a:r>
              <a:rPr lang="en-US" altLang="zh-CN" dirty="0"/>
              <a:t>Read data</a:t>
            </a:r>
            <a:r>
              <a:rPr lang="zh-CN" altLang="en-US" dirty="0"/>
              <a:t>输出总线上（</a:t>
            </a:r>
            <a:r>
              <a:rPr lang="zh-CN" altLang="en-US" dirty="0">
                <a:solidFill>
                  <a:srgbClr val="FF0000"/>
                </a:solidFill>
              </a:rPr>
              <a:t>组合元件操作</a:t>
            </a:r>
            <a:r>
              <a:rPr lang="zh-CN" altLang="en-US" dirty="0"/>
              <a:t>）</a:t>
            </a:r>
          </a:p>
          <a:p>
            <a:pPr lvl="1">
              <a:lnSpc>
                <a:spcPct val="120000"/>
              </a:lnSpc>
              <a:spcAft>
                <a:spcPts val="0"/>
              </a:spcAft>
            </a:pPr>
            <a:r>
              <a:rPr lang="zh-CN" altLang="en-US" dirty="0"/>
              <a:t>写：</a:t>
            </a:r>
            <a:r>
              <a:rPr lang="en-US" altLang="zh-CN" dirty="0" err="1">
                <a:solidFill>
                  <a:srgbClr val="FF0000"/>
                </a:solidFill>
              </a:rPr>
              <a:t>MemWrite</a:t>
            </a:r>
            <a:r>
              <a:rPr lang="zh-CN" altLang="en-US" dirty="0"/>
              <a:t>控制信号有效且时钟信号</a:t>
            </a:r>
            <a:r>
              <a:rPr lang="en-US" altLang="zh-CN" dirty="0" err="1"/>
              <a:t>Clk</a:t>
            </a:r>
            <a:r>
              <a:rPr lang="zh-CN" altLang="en-US" dirty="0"/>
              <a:t>下跳沿时，</a:t>
            </a:r>
            <a:r>
              <a:rPr lang="en-US" altLang="zh-CN" dirty="0"/>
              <a:t>Write data</a:t>
            </a:r>
            <a:r>
              <a:rPr lang="zh-CN" altLang="en-US" dirty="0"/>
              <a:t>总线上的数据被写入地址选择的存储单元中（</a:t>
            </a:r>
            <a:r>
              <a:rPr lang="zh-CN" altLang="en-US" dirty="0">
                <a:solidFill>
                  <a:srgbClr val="FF0000"/>
                </a:solidFill>
              </a:rPr>
              <a:t>状态元件操作</a:t>
            </a:r>
            <a:r>
              <a:rPr lang="zh-CN" altLang="en-US" dirty="0"/>
              <a:t>）</a:t>
            </a:r>
            <a:endParaRPr lang="en-US" altLang="zh-CN" dirty="0"/>
          </a:p>
          <a:p>
            <a:pPr lvl="1">
              <a:lnSpc>
                <a:spcPct val="120000"/>
              </a:lnSpc>
              <a:spcAft>
                <a:spcPts val="0"/>
              </a:spcAft>
            </a:pPr>
            <a:endParaRPr lang="en-US" altLang="zh-CN" dirty="0"/>
          </a:p>
          <a:p>
            <a:pPr>
              <a:lnSpc>
                <a:spcPct val="120000"/>
              </a:lnSpc>
              <a:spcAft>
                <a:spcPts val="0"/>
              </a:spcAft>
            </a:pPr>
            <a:r>
              <a:rPr lang="zh-CN" altLang="en-US" sz="2600" dirty="0"/>
              <a:t>指令存储器</a:t>
            </a:r>
            <a:r>
              <a:rPr lang="en-US" altLang="zh-CN" sz="2600" dirty="0"/>
              <a:t>IM</a:t>
            </a:r>
          </a:p>
          <a:p>
            <a:pPr lvl="1">
              <a:lnSpc>
                <a:spcPct val="120000"/>
              </a:lnSpc>
              <a:spcAft>
                <a:spcPts val="0"/>
              </a:spcAft>
            </a:pPr>
            <a:r>
              <a:rPr lang="zh-CN" altLang="en-US" dirty="0"/>
              <a:t>指令地址</a:t>
            </a:r>
            <a:r>
              <a:rPr lang="en-US" altLang="zh-CN" dirty="0"/>
              <a:t>(Read address)</a:t>
            </a:r>
            <a:r>
              <a:rPr lang="zh-CN" altLang="en-US" dirty="0"/>
              <a:t>选择的指令被放在</a:t>
            </a:r>
            <a:r>
              <a:rPr lang="en-US" altLang="zh-CN" dirty="0"/>
              <a:t>Instruction</a:t>
            </a:r>
            <a:r>
              <a:rPr lang="zh-CN" altLang="en-US" dirty="0"/>
              <a:t>输出线上（</a:t>
            </a:r>
            <a:r>
              <a:rPr lang="zh-CN" altLang="en-US" dirty="0">
                <a:solidFill>
                  <a:srgbClr val="FF0000"/>
                </a:solidFill>
              </a:rPr>
              <a:t>组合元件操作，</a:t>
            </a:r>
            <a:r>
              <a:rPr lang="zh-CN" altLang="en-US" dirty="0"/>
              <a:t>不需要</a:t>
            </a:r>
            <a:r>
              <a:rPr lang="en-US" altLang="zh-CN" dirty="0" err="1">
                <a:solidFill>
                  <a:srgbClr val="FF0000"/>
                </a:solidFill>
              </a:rPr>
              <a:t>MemRead</a:t>
            </a:r>
            <a:r>
              <a:rPr lang="zh-CN" altLang="en-US" dirty="0"/>
              <a:t>控制信号）</a:t>
            </a:r>
            <a:endParaRPr lang="en-US" altLang="zh-CN" dirty="0"/>
          </a:p>
        </p:txBody>
      </p:sp>
      <p:pic>
        <p:nvPicPr>
          <p:cNvPr id="2836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129" y="4306211"/>
            <a:ext cx="2862833" cy="214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96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129" y="1124744"/>
            <a:ext cx="2790825"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标题 6"/>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83652"/>
                                        </p:tgtEl>
                                        <p:attrNameLst>
                                          <p:attrName>style.visibility</p:attrName>
                                        </p:attrNameLst>
                                      </p:cBhvr>
                                      <p:to>
                                        <p:strVal val="visible"/>
                                      </p:to>
                                    </p:set>
                                    <p:animEffect transition="in" filter="fade">
                                      <p:cBhvr>
                                        <p:cTn id="44" dur="1000"/>
                                        <p:tgtEl>
                                          <p:spTgt spid="283652"/>
                                        </p:tgtEl>
                                      </p:cBhvr>
                                    </p:animEffect>
                                    <p:anim calcmode="lin" valueType="num">
                                      <p:cBhvr>
                                        <p:cTn id="45" dur="1000" fill="hold"/>
                                        <p:tgtEl>
                                          <p:spTgt spid="283652"/>
                                        </p:tgtEl>
                                        <p:attrNameLst>
                                          <p:attrName>ppt_x</p:attrName>
                                        </p:attrNameLst>
                                      </p:cBhvr>
                                      <p:tavLst>
                                        <p:tav tm="0">
                                          <p:val>
                                            <p:strVal val="#ppt_x"/>
                                          </p:val>
                                        </p:tav>
                                        <p:tav tm="100000">
                                          <p:val>
                                            <p:strVal val="#ppt_x"/>
                                          </p:val>
                                        </p:tav>
                                      </p:tavLst>
                                    </p:anim>
                                    <p:anim calcmode="lin" valueType="num">
                                      <p:cBhvr>
                                        <p:cTn id="46" dur="1000" fill="hold"/>
                                        <p:tgtEl>
                                          <p:spTgt spid="2836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14" y="161336"/>
            <a:ext cx="7010400" cy="478790"/>
          </a:xfrm>
        </p:spPr>
        <p:txBody>
          <a:bodyPr/>
          <a:lstStyle/>
          <a:p>
            <a:r>
              <a:rPr lang="en-US" altLang="zh-CN" sz="3200" dirty="0"/>
              <a:t>2.3 </a:t>
            </a:r>
            <a:r>
              <a:rPr lang="zh-CN" altLang="en-US" sz="3200" dirty="0"/>
              <a:t>时钟同步方法</a:t>
            </a:r>
          </a:p>
        </p:txBody>
      </p:sp>
      <p:sp>
        <p:nvSpPr>
          <p:cNvPr id="3" name="内容占位符 2"/>
          <p:cNvSpPr>
            <a:spLocks noGrp="1"/>
          </p:cNvSpPr>
          <p:nvPr>
            <p:ph idx="1"/>
          </p:nvPr>
        </p:nvSpPr>
        <p:spPr>
          <a:xfrm>
            <a:off x="1889760" y="998220"/>
            <a:ext cx="8612505" cy="1628140"/>
          </a:xfrm>
        </p:spPr>
        <p:txBody>
          <a:bodyPr wrap="square"/>
          <a:lstStyle/>
          <a:p>
            <a:r>
              <a:rPr lang="zh-CN" altLang="en-US" dirty="0"/>
              <a:t>时钟同步方法</a:t>
            </a:r>
            <a:endParaRPr lang="en-US" altLang="zh-CN" dirty="0"/>
          </a:p>
          <a:p>
            <a:pPr lvl="1"/>
            <a:r>
              <a:rPr lang="zh-CN" altLang="en-US" dirty="0"/>
              <a:t>以时钟周期信号为基准，确定数据读出和写入的时刻。</a:t>
            </a:r>
            <a:endParaRPr lang="en-US" altLang="zh-CN" dirty="0"/>
          </a:p>
          <a:p>
            <a:pPr lvl="1"/>
            <a:r>
              <a:rPr lang="zh-CN" altLang="en-US" dirty="0"/>
              <a:t>采用边沿触发的时钟同步方法，如上跳沿触发，意味着所有状态元件（寄存器、存储器）的数据写入都发生在时钟周期的上跳沿时刻。</a:t>
            </a:r>
          </a:p>
        </p:txBody>
      </p:sp>
      <p:sp>
        <p:nvSpPr>
          <p:cNvPr id="26" name="TextBox 25"/>
          <p:cNvSpPr txBox="1"/>
          <p:nvPr/>
        </p:nvSpPr>
        <p:spPr>
          <a:xfrm>
            <a:off x="6815824" y="4757643"/>
            <a:ext cx="3096343" cy="1708160"/>
          </a:xfrm>
          <a:prstGeom prst="rect">
            <a:avLst/>
          </a:prstGeom>
          <a:noFill/>
        </p:spPr>
        <p:txBody>
          <a:bodyPr wrap="square" rtlCol="0">
            <a:spAutoFit/>
          </a:bodyPr>
          <a:lstStyle/>
          <a:p>
            <a:pPr marL="176530" indent="-176530">
              <a:lnSpc>
                <a:spcPct val="150000"/>
              </a:lnSpc>
              <a:spcBef>
                <a:spcPts val="0"/>
              </a:spcBef>
            </a:pPr>
            <a:r>
              <a:rPr lang="zh-CN" altLang="en-US" sz="1400" b="0" dirty="0">
                <a:solidFill>
                  <a:schemeClr val="tx2">
                    <a:lumMod val="75000"/>
                    <a:lumOff val="25000"/>
                  </a:schemeClr>
                </a:solidFill>
              </a:rPr>
              <a:t>多周期指令</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组合逻辑操作时钟周期内完成；</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所有信号在时钟周期内从状态单元</a:t>
            </a:r>
            <a:r>
              <a:rPr lang="en-US" altLang="zh-CN" sz="1400" b="0" dirty="0">
                <a:solidFill>
                  <a:schemeClr val="tx2">
                    <a:lumMod val="75000"/>
                    <a:lumOff val="25000"/>
                  </a:schemeClr>
                </a:solidFill>
              </a:rPr>
              <a:t>1</a:t>
            </a:r>
            <a:r>
              <a:rPr lang="zh-CN" altLang="en-US" sz="1400" b="0" dirty="0">
                <a:solidFill>
                  <a:schemeClr val="tx2">
                    <a:lumMod val="75000"/>
                    <a:lumOff val="25000"/>
                  </a:schemeClr>
                </a:solidFill>
              </a:rPr>
              <a:t>经组合逻辑传送到状态单元</a:t>
            </a:r>
            <a:r>
              <a:rPr lang="en-US" altLang="zh-CN" sz="1400" b="0" dirty="0">
                <a:solidFill>
                  <a:schemeClr val="tx2">
                    <a:lumMod val="75000"/>
                    <a:lumOff val="25000"/>
                  </a:schemeClr>
                </a:solidFill>
              </a:rPr>
              <a:t>2</a:t>
            </a:r>
            <a:r>
              <a:rPr lang="zh-CN" altLang="en-US" sz="1400" b="0" dirty="0">
                <a:solidFill>
                  <a:schemeClr val="tx2">
                    <a:lumMod val="75000"/>
                    <a:lumOff val="25000"/>
                  </a:schemeClr>
                </a:solidFill>
              </a:rPr>
              <a:t>。</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时钟信号上跳沿同步</a:t>
            </a:r>
            <a:r>
              <a:rPr lang="en-US" altLang="zh-CN" sz="1400" b="0" dirty="0">
                <a:solidFill>
                  <a:schemeClr val="tx2">
                    <a:lumMod val="75000"/>
                    <a:lumOff val="25000"/>
                  </a:schemeClr>
                </a:solidFill>
              </a:rPr>
              <a:t> </a:t>
            </a:r>
            <a:endParaRPr lang="zh-CN" altLang="en-US" sz="1400" b="0" dirty="0">
              <a:solidFill>
                <a:schemeClr val="tx2">
                  <a:lumMod val="75000"/>
                  <a:lumOff val="25000"/>
                </a:schemeClr>
              </a:solidFill>
            </a:endParaRPr>
          </a:p>
        </p:txBody>
      </p:sp>
      <p:grpSp>
        <p:nvGrpSpPr>
          <p:cNvPr id="28" name="组合 27"/>
          <p:cNvGrpSpPr/>
          <p:nvPr/>
        </p:nvGrpSpPr>
        <p:grpSpPr>
          <a:xfrm>
            <a:off x="2576336" y="2626807"/>
            <a:ext cx="7336089" cy="2031325"/>
            <a:chOff x="1552213" y="4682477"/>
            <a:chExt cx="7336089" cy="2031325"/>
          </a:xfrm>
        </p:grpSpPr>
        <p:pic>
          <p:nvPicPr>
            <p:cNvPr id="2406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213" y="4844110"/>
              <a:ext cx="3724275" cy="134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TextBox 30"/>
            <p:cNvSpPr txBox="1"/>
            <p:nvPr/>
          </p:nvSpPr>
          <p:spPr>
            <a:xfrm>
              <a:off x="5791959" y="4682477"/>
              <a:ext cx="3096343" cy="2031325"/>
            </a:xfrm>
            <a:prstGeom prst="rect">
              <a:avLst/>
            </a:prstGeom>
            <a:noFill/>
          </p:spPr>
          <p:txBody>
            <a:bodyPr wrap="square" rtlCol="0">
              <a:spAutoFit/>
            </a:bodyPr>
            <a:lstStyle/>
            <a:p>
              <a:pPr marL="176530" indent="-176530">
                <a:lnSpc>
                  <a:spcPct val="150000"/>
                </a:lnSpc>
                <a:spcBef>
                  <a:spcPts val="0"/>
                </a:spcBef>
              </a:pPr>
              <a:r>
                <a:rPr lang="zh-CN" altLang="en-US" sz="1400" b="0" dirty="0">
                  <a:solidFill>
                    <a:schemeClr val="tx2">
                      <a:lumMod val="75000"/>
                      <a:lumOff val="25000"/>
                    </a:schemeClr>
                  </a:solidFill>
                </a:rPr>
                <a:t>单周期指令</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组合逻辑操作时钟周期内完成；</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所有信号在时钟周期内从状态单元输出经组合逻辑处理在回到状态单元输入。</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时钟信号上跳沿同步</a:t>
              </a:r>
              <a:r>
                <a:rPr lang="en-US" altLang="zh-CN" sz="1400" b="0" dirty="0">
                  <a:solidFill>
                    <a:schemeClr val="tx2">
                      <a:lumMod val="75000"/>
                      <a:lumOff val="25000"/>
                    </a:schemeClr>
                  </a:solidFill>
                </a:rPr>
                <a:t> </a:t>
              </a:r>
              <a:endParaRPr lang="zh-CN" altLang="en-US" sz="1400" b="0" dirty="0">
                <a:solidFill>
                  <a:schemeClr val="tx2">
                    <a:lumMod val="75000"/>
                    <a:lumOff val="25000"/>
                  </a:schemeClr>
                </a:solidFill>
              </a:endParaRPr>
            </a:p>
          </p:txBody>
        </p:sp>
      </p:grpSp>
      <p:pic>
        <p:nvPicPr>
          <p:cNvPr id="2375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564" y="4926807"/>
            <a:ext cx="5444259" cy="1538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单周期数据通路设计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单周期控制器设计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7090" y="212260"/>
            <a:ext cx="5867400" cy="478790"/>
          </a:xfrm>
          <a:noFill/>
        </p:spPr>
        <p:txBody>
          <a:bodyPr/>
          <a:lstStyle/>
          <a:p>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
        <p:nvSpPr>
          <p:cNvPr id="132099" name="Rectangle 3"/>
          <p:cNvSpPr>
            <a:spLocks noGrp="1" noChangeArrowheads="1"/>
          </p:cNvSpPr>
          <p:nvPr>
            <p:ph type="body" idx="1"/>
          </p:nvPr>
        </p:nvSpPr>
        <p:spPr>
          <a:xfrm>
            <a:off x="479376" y="836712"/>
            <a:ext cx="10873208" cy="5223711"/>
          </a:xfrm>
          <a:noFill/>
        </p:spPr>
        <p:txBody>
          <a:bodyPr/>
          <a:lstStyle/>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单周期</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所有指令执行周期固定为单一时钟周期，</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CPI=1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通路设计考虑</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solidFill>
                  <a:srgbClr val="FF0000"/>
                </a:solidFill>
              </a:rPr>
              <a:t>哈佛体系结构</a:t>
            </a:r>
            <a:r>
              <a:rPr lang="zh-CN" altLang="en-US"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使用指令存储区（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IM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）和数据存储区（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DM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）分别保存指令和数据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先为每类指令设计独立的数据通路，然后再考虑数据通路合并。</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指令执行的共性</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根据</a:t>
            </a:r>
            <a:r>
              <a:rPr lang="en-US" altLang="zh-CN"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从指令存储器读取指令，取指令后，</a:t>
            </a:r>
            <a:r>
              <a:rPr lang="en-US" altLang="zh-CN"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a:t>
            </a:r>
            <a:r>
              <a:rPr lang="en-US" altLang="zh-CN"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dirty="0">
                <a:latin typeface="Times New Roman" panose="02020603050405020304" pitchFamily="18" charset="0"/>
                <a:ea typeface="宋体" panose="02010600030101010101" pitchFamily="2" charset="-122"/>
                <a:cs typeface="Times New Roman" panose="02020603050405020304" pitchFamily="18" charset="0"/>
              </a:rPr>
              <a:t>条指令在读取寄存器后，都要使用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dirty="0">
                <a:latin typeface="Times New Roman" panose="02020603050405020304" pitchFamily="18" charset="0"/>
                <a:ea typeface="宋体" panose="02010600030101010101" pitchFamily="2" charset="-122"/>
                <a:cs typeface="Times New Roman" panose="02020603050405020304" pitchFamily="18" charset="0"/>
              </a:rPr>
              <a:t>（存储访问）指令用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计算数据地址</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ADD/SUB/AND/OR(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算术逻辑</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完成算术逻辑运算</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BEQ</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（分支）指令用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进行比较（减法运算）</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custDataLst>
      <p:tags r:id="rId1"/>
    </p:custDataLst>
  </p:cSld>
  <p:clrMapOvr>
    <a:masterClrMapping/>
  </p:clrMapOvr>
  <p:transition advTm="299279"/>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9" name="Rectangle 3"/>
          <p:cNvSpPr>
            <a:spLocks noGrp="1" noChangeArrowheads="1"/>
          </p:cNvSpPr>
          <p:nvPr>
            <p:ph type="body" idx="1"/>
          </p:nvPr>
        </p:nvSpPr>
        <p:spPr>
          <a:xfrm>
            <a:off x="551384" y="976638"/>
            <a:ext cx="9793088" cy="5612819"/>
          </a:xfrm>
          <a:noFill/>
        </p:spPr>
        <p:txBody>
          <a:bodyPr/>
          <a:lstStyle/>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单周期</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所有指令执行周期固定为单一时钟周期，</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CPI=1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通路设计考虑</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solidFill>
                  <a:srgbClr val="FF0000"/>
                </a:solidFill>
              </a:rPr>
              <a:t>哈佛体系结构</a:t>
            </a:r>
            <a:r>
              <a:rPr lang="zh-CN" altLang="en-US"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使用指令存储区（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IM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）和数据存储区（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DM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）分别保存指令和数据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先为每类指令设计独立的数据通路，然后再考虑数据通路合并。</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模型机指令执行过程一般会分为如下几个步骤：</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取指令：根据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访问指令存储器获得指令，然后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读寄存器（含译码）：根据指令格式读取相应寄存器操作数</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运算：在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完成相应的算术逻辑运算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内存读取：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指令的数据存储器访问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写寄存器：运算类指令和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指令要把数据写入寄存器</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根据每条指令，确定数据通路所需的部件和部件之间的连接关系</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Rectangle 2"/>
          <p:cNvSpPr>
            <a:spLocks noGrp="1" noChangeArrowheads="1"/>
          </p:cNvSpPr>
          <p:nvPr/>
        </p:nvSpPr>
        <p:spPr>
          <a:xfrm>
            <a:off x="-17090" y="212260"/>
            <a:ext cx="58674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advTm="299279"/>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9" name="Rectangle 3"/>
          <p:cNvSpPr>
            <a:spLocks noGrp="1" noChangeArrowheads="1"/>
          </p:cNvSpPr>
          <p:nvPr>
            <p:ph type="body" idx="1"/>
          </p:nvPr>
        </p:nvSpPr>
        <p:spPr>
          <a:xfrm>
            <a:off x="551384" y="908722"/>
            <a:ext cx="9865096" cy="4972643"/>
          </a:xfrm>
          <a:noFill/>
        </p:spPr>
        <p:txBody>
          <a:bodyPr/>
          <a:lstStyle/>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分析指令执行步骤，确定数据通路所需部件和部件间连接</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模型机指令执行过程一般会分为如下几个步骤：</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取指令：根据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访问指令存储器获得指令，然后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读寄存器：根据指令格式读取相应寄存器操作数</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运算：在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完成相应的算术逻辑运算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内存读取：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指令的数据存储器访问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写寄存器：运算类指令和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指令要把数据写入寄存器</a:t>
            </a:r>
          </a:p>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使用数据通路设计表格</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表格记录数据通路部件</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输入端的输入来源</a:t>
            </a:r>
            <a:endPar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暂不考虑控制信号</a:t>
            </a:r>
          </a:p>
          <a:p>
            <a:pPr lvl="1">
              <a:lnSpc>
                <a:spcPct val="130000"/>
              </a:lnSpc>
              <a:spcAft>
                <a:spcPts val="0"/>
              </a:spcAft>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a:graphicFrameLocks noGrp="1"/>
          </p:cNvGraphicFramePr>
          <p:nvPr/>
        </p:nvGraphicFramePr>
        <p:xfrm>
          <a:off x="2135560" y="5085186"/>
          <a:ext cx="7704858" cy="1617899"/>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429746">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2"/>
          <p:cNvSpPr>
            <a:spLocks noGrp="1" noChangeArrowheads="1"/>
          </p:cNvSpPr>
          <p:nvPr/>
        </p:nvSpPr>
        <p:spPr>
          <a:xfrm>
            <a:off x="-17090" y="212260"/>
            <a:ext cx="58674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advTm="299279"/>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27965"/>
            <a:ext cx="8629650" cy="478790"/>
          </a:xfrm>
        </p:spPr>
        <p:txBody>
          <a:bodyPr wrap="square"/>
          <a:lstStyle/>
          <a:p>
            <a:r>
              <a:rPr lang="en-US" altLang="zh-CN" sz="3200" dirty="0"/>
              <a:t>3.1  </a:t>
            </a:r>
            <a:r>
              <a:rPr lang="zh-CN" altLang="en-US" sz="3200" dirty="0"/>
              <a:t>单周期数据通路设计</a:t>
            </a:r>
            <a:r>
              <a:rPr lang="en-US" altLang="zh-CN" sz="3200" dirty="0"/>
              <a:t>——</a:t>
            </a:r>
            <a:r>
              <a:rPr lang="zh-CN" altLang="en-US" sz="3200" dirty="0"/>
              <a:t>取指与</a:t>
            </a:r>
            <a:r>
              <a:rPr lang="en-US" altLang="zh-CN" sz="3200" dirty="0"/>
              <a:t>PC</a:t>
            </a:r>
            <a:r>
              <a:rPr lang="zh-CN" altLang="en-US" sz="3200" dirty="0"/>
              <a:t>自增</a:t>
            </a:r>
          </a:p>
        </p:txBody>
      </p:sp>
      <p:sp>
        <p:nvSpPr>
          <p:cNvPr id="300035" name="Rectangle 3"/>
          <p:cNvSpPr>
            <a:spLocks noGrp="1" noChangeArrowheads="1"/>
          </p:cNvSpPr>
          <p:nvPr>
            <p:ph type="body" idx="1"/>
          </p:nvPr>
        </p:nvSpPr>
        <p:spPr>
          <a:xfrm>
            <a:off x="2208212" y="908720"/>
            <a:ext cx="9216380" cy="2013372"/>
          </a:xfrm>
        </p:spPr>
        <p:txBody>
          <a:bodyPr/>
          <a:lstStyle/>
          <a:p>
            <a:pPr marL="514350" indent="-514350">
              <a:buFont typeface="+mj-lt"/>
              <a:buAutoNum type="arabicPeriod"/>
            </a:pPr>
            <a:r>
              <a:rPr lang="zh-CN" altLang="en-US" dirty="0">
                <a:ea typeface="宋体" panose="02010600030101010101" pitchFamily="2" charset="-122"/>
              </a:rPr>
              <a:t>取指和</a:t>
            </a:r>
            <a:r>
              <a:rPr lang="en-US" altLang="zh-CN" dirty="0">
                <a:ea typeface="宋体" panose="02010600030101010101" pitchFamily="2" charset="-122"/>
              </a:rPr>
              <a:t>PC</a:t>
            </a:r>
            <a:r>
              <a:rPr lang="zh-CN" altLang="en-US" dirty="0">
                <a:ea typeface="宋体" panose="02010600030101010101" pitchFamily="2" charset="-122"/>
              </a:rPr>
              <a:t>自增数据通路（所有指令）</a:t>
            </a:r>
            <a:endParaRPr lang="en-US" altLang="zh-CN" dirty="0">
              <a:ea typeface="宋体" panose="02010600030101010101" pitchFamily="2" charset="-122"/>
            </a:endParaRPr>
          </a:p>
          <a:p>
            <a:pPr lvl="1"/>
            <a:r>
              <a:rPr lang="zh-CN" altLang="en-US" dirty="0">
                <a:ea typeface="宋体" panose="02010600030101010101" pitchFamily="2" charset="-122"/>
              </a:rPr>
              <a:t>功能描述</a:t>
            </a:r>
            <a:endParaRPr lang="en-US" altLang="zh-CN" dirty="0">
              <a:ea typeface="宋体" panose="02010600030101010101" pitchFamily="2" charset="-122"/>
            </a:endParaRPr>
          </a:p>
          <a:p>
            <a:pPr lvl="2"/>
            <a:r>
              <a:rPr lang="zh-CN" altLang="en-US" sz="2000" dirty="0">
                <a:ea typeface="宋体" panose="02010600030101010101" pitchFamily="2" charset="-122"/>
              </a:rPr>
              <a:t>取指：</a:t>
            </a:r>
            <a:r>
              <a:rPr lang="en-US" altLang="zh-CN" sz="2000" dirty="0">
                <a:ea typeface="宋体" panose="02010600030101010101" pitchFamily="2" charset="-122"/>
              </a:rPr>
              <a:t>IM Address </a:t>
            </a:r>
            <a:r>
              <a:rPr lang="en-US" altLang="zh-CN" sz="2000" dirty="0">
                <a:ea typeface="宋体" panose="02010600030101010101" pitchFamily="2" charset="-122"/>
                <a:sym typeface="Wingdings" panose="05000000000000000000" pitchFamily="2" charset="2"/>
              </a:rPr>
              <a:t>PC, Instruction = </a:t>
            </a:r>
            <a:r>
              <a:rPr lang="en-US" altLang="zh-CN" sz="2000" dirty="0">
                <a:ea typeface="宋体" panose="02010600030101010101" pitchFamily="2" charset="-122"/>
              </a:rPr>
              <a:t>IM[PC]</a:t>
            </a:r>
          </a:p>
          <a:p>
            <a:pPr lvl="2"/>
            <a:r>
              <a:rPr lang="en-US" altLang="zh-CN" sz="2000" dirty="0">
                <a:ea typeface="宋体" panose="02010600030101010101" pitchFamily="2" charset="-122"/>
              </a:rPr>
              <a:t>PC</a:t>
            </a:r>
            <a:r>
              <a:rPr lang="zh-CN" altLang="en-US" sz="2000" dirty="0">
                <a:ea typeface="宋体" panose="02010600030101010101" pitchFamily="2" charset="-122"/>
              </a:rPr>
              <a:t>自增：</a:t>
            </a:r>
            <a:r>
              <a:rPr lang="en-US" altLang="zh-CN" sz="2000" dirty="0">
                <a:ea typeface="宋体" panose="02010600030101010101" pitchFamily="2" charset="-122"/>
              </a:rPr>
              <a:t>PC</a:t>
            </a:r>
            <a:r>
              <a:rPr lang="en-US" altLang="zh-CN" sz="2000" dirty="0">
                <a:ea typeface="宋体" panose="02010600030101010101" pitchFamily="2" charset="-122"/>
                <a:sym typeface="Wingdings" panose="05000000000000000000" pitchFamily="2" charset="2"/>
              </a:rPr>
              <a:t> PC + 4</a:t>
            </a:r>
          </a:p>
          <a:p>
            <a:pPr lvl="1"/>
            <a:r>
              <a:rPr lang="zh-CN" altLang="en-US" dirty="0">
                <a:ea typeface="宋体" panose="02010600030101010101" pitchFamily="2" charset="-122"/>
                <a:sym typeface="Wingdings" panose="05000000000000000000" pitchFamily="2" charset="2"/>
              </a:rPr>
              <a:t>所需部件：</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（实现</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加</a:t>
            </a:r>
            <a:r>
              <a:rPr lang="en-US" altLang="zh-CN" dirty="0">
                <a:ea typeface="宋体" panose="02010600030101010101" pitchFamily="2" charset="-122"/>
                <a:sym typeface="Wingdings" panose="05000000000000000000" pitchFamily="2" charset="2"/>
              </a:rPr>
              <a:t>4</a:t>
            </a:r>
            <a:r>
              <a:rPr lang="zh-CN" altLang="en-US" dirty="0">
                <a:ea typeface="宋体" panose="02010600030101010101" pitchFamily="2" charset="-122"/>
                <a:sym typeface="Wingdings" panose="05000000000000000000" pitchFamily="2" charset="2"/>
              </a:rPr>
              <a:t>），指令存储器</a:t>
            </a:r>
            <a:r>
              <a:rPr lang="en-US" altLang="zh-CN" dirty="0">
                <a:ea typeface="宋体" panose="02010600030101010101" pitchFamily="2" charset="-122"/>
                <a:sym typeface="Wingdings" panose="05000000000000000000" pitchFamily="2" charset="2"/>
              </a:rPr>
              <a:t>IM</a:t>
            </a:r>
            <a:endParaRPr lang="zh-CN" altLang="en-US" dirty="0">
              <a:ea typeface="宋体" panose="02010600030101010101" pitchFamily="2" charset="-122"/>
            </a:endParaRPr>
          </a:p>
        </p:txBody>
      </p:sp>
      <p:graphicFrame>
        <p:nvGraphicFramePr>
          <p:cNvPr id="5" name="表格 4"/>
          <p:cNvGraphicFramePr>
            <a:graphicFrameLocks noGrp="1"/>
          </p:cNvGraphicFramePr>
          <p:nvPr/>
        </p:nvGraphicFramePr>
        <p:xfrm>
          <a:off x="2318344" y="3068960"/>
          <a:ext cx="7704858" cy="3087136"/>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609745">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746">
                <a:tc>
                  <a:txBody>
                    <a:bodyPr/>
                    <a:lstStyle/>
                    <a:p>
                      <a:pPr algn="ctr">
                        <a:spcAft>
                          <a:spcPts val="0"/>
                        </a:spcAft>
                      </a:pP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文本框 2"/>
          <p:cNvSpPr txBox="1"/>
          <p:nvPr/>
        </p:nvSpPr>
        <p:spPr>
          <a:xfrm>
            <a:off x="2855640" y="4509121"/>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1" name="文本框 10"/>
          <p:cNvSpPr txBox="1"/>
          <p:nvPr/>
        </p:nvSpPr>
        <p:spPr>
          <a:xfrm>
            <a:off x="2855640" y="4005065"/>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2" name="文本框 11"/>
          <p:cNvSpPr txBox="1"/>
          <p:nvPr/>
        </p:nvSpPr>
        <p:spPr>
          <a:xfrm>
            <a:off x="2871664" y="4941169"/>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3" name="文本框 12"/>
          <p:cNvSpPr txBox="1"/>
          <p:nvPr/>
        </p:nvSpPr>
        <p:spPr>
          <a:xfrm>
            <a:off x="2855640" y="5366422"/>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502650" cy="478790"/>
          </a:xfrm>
        </p:spPr>
        <p:txBody>
          <a:bodyPr wrap="square"/>
          <a:lstStyle/>
          <a:p>
            <a:r>
              <a:rPr lang="en-US" altLang="zh-CN" sz="3200" dirty="0"/>
              <a:t>3.1  </a:t>
            </a:r>
            <a:r>
              <a:rPr lang="zh-CN" altLang="en-US" sz="3200" dirty="0"/>
              <a:t>单周期数据通路设计</a:t>
            </a:r>
            <a:r>
              <a:rPr lang="en-US" altLang="zh-CN" sz="3200" dirty="0"/>
              <a:t>——</a:t>
            </a:r>
            <a:r>
              <a:rPr lang="zh-CN" altLang="en-US" sz="3200" dirty="0"/>
              <a:t>取指与</a:t>
            </a:r>
            <a:r>
              <a:rPr lang="en-US" altLang="zh-CN" sz="3200" dirty="0"/>
              <a:t>PC</a:t>
            </a:r>
            <a:r>
              <a:rPr lang="zh-CN" altLang="en-US" sz="3200" dirty="0"/>
              <a:t>自增</a:t>
            </a:r>
          </a:p>
        </p:txBody>
      </p:sp>
      <p:sp>
        <p:nvSpPr>
          <p:cNvPr id="300035" name="Rectangle 3"/>
          <p:cNvSpPr>
            <a:spLocks noGrp="1" noChangeArrowheads="1"/>
          </p:cNvSpPr>
          <p:nvPr>
            <p:ph type="body" idx="1"/>
          </p:nvPr>
        </p:nvSpPr>
        <p:spPr>
          <a:xfrm>
            <a:off x="2207568" y="980728"/>
            <a:ext cx="7848600" cy="2359620"/>
          </a:xfrm>
        </p:spPr>
        <p:txBody>
          <a:bodyPr/>
          <a:lstStyle/>
          <a:p>
            <a:pPr marL="514350" indent="-514350">
              <a:buFont typeface="+mj-lt"/>
              <a:buAutoNum type="arabicPeriod"/>
            </a:pPr>
            <a:r>
              <a:rPr lang="zh-CN" altLang="en-US" dirty="0">
                <a:ea typeface="宋体" panose="02010600030101010101" pitchFamily="2" charset="-122"/>
              </a:rPr>
              <a:t>取指和</a:t>
            </a:r>
            <a:r>
              <a:rPr lang="en-US" altLang="zh-CN" dirty="0">
                <a:ea typeface="宋体" panose="02010600030101010101" pitchFamily="2" charset="-122"/>
              </a:rPr>
              <a:t>PC</a:t>
            </a:r>
            <a:r>
              <a:rPr lang="zh-CN" altLang="en-US" dirty="0">
                <a:ea typeface="宋体" panose="02010600030101010101" pitchFamily="2" charset="-122"/>
              </a:rPr>
              <a:t>自增数据通路图</a:t>
            </a:r>
            <a:endParaRPr lang="en-US" altLang="zh-CN" dirty="0">
              <a:ea typeface="宋体" panose="02010600030101010101" pitchFamily="2" charset="-122"/>
            </a:endParaRPr>
          </a:p>
          <a:p>
            <a:pPr lvl="1"/>
            <a:r>
              <a:rPr lang="zh-CN" altLang="en-US" dirty="0">
                <a:ea typeface="宋体" panose="02010600030101010101" pitchFamily="2" charset="-122"/>
              </a:rPr>
              <a:t>功能描述</a:t>
            </a:r>
            <a:endParaRPr lang="en-US" altLang="zh-CN" dirty="0">
              <a:ea typeface="宋体" panose="02010600030101010101" pitchFamily="2" charset="-122"/>
            </a:endParaRPr>
          </a:p>
          <a:p>
            <a:pPr lvl="2"/>
            <a:r>
              <a:rPr lang="zh-CN" altLang="en-US" dirty="0">
                <a:ea typeface="宋体" panose="02010600030101010101" pitchFamily="2" charset="-122"/>
              </a:rPr>
              <a:t>取指：</a:t>
            </a:r>
            <a:r>
              <a:rPr lang="en-US" altLang="zh-CN" dirty="0">
                <a:ea typeface="宋体" panose="02010600030101010101" pitchFamily="2" charset="-122"/>
                <a:sym typeface="Wingdings" panose="05000000000000000000" pitchFamily="2" charset="2"/>
              </a:rPr>
              <a:t>Instruction = </a:t>
            </a:r>
            <a:r>
              <a:rPr lang="en-US" altLang="zh-CN" dirty="0">
                <a:ea typeface="宋体" panose="02010600030101010101" pitchFamily="2" charset="-122"/>
              </a:rPr>
              <a:t>IM[PC]</a:t>
            </a:r>
          </a:p>
          <a:p>
            <a:pPr lvl="2"/>
            <a:r>
              <a:rPr lang="en-US" altLang="zh-CN" dirty="0">
                <a:ea typeface="宋体" panose="02010600030101010101" pitchFamily="2" charset="-122"/>
              </a:rPr>
              <a:t>PC</a:t>
            </a:r>
            <a:r>
              <a:rPr lang="zh-CN" altLang="en-US" dirty="0">
                <a:ea typeface="宋体" panose="02010600030101010101" pitchFamily="2" charset="-122"/>
              </a:rPr>
              <a:t>自增：</a:t>
            </a:r>
            <a:r>
              <a:rPr lang="en-US" altLang="zh-CN" dirty="0">
                <a:ea typeface="宋体" panose="02010600030101010101" pitchFamily="2" charset="-122"/>
              </a:rPr>
              <a:t>PC</a:t>
            </a:r>
            <a:r>
              <a:rPr lang="en-US" altLang="zh-CN" dirty="0">
                <a:ea typeface="宋体" panose="02010600030101010101" pitchFamily="2" charset="-122"/>
                <a:sym typeface="Wingdings" panose="05000000000000000000" pitchFamily="2" charset="2"/>
              </a:rPr>
              <a:t> PC + 4</a:t>
            </a:r>
          </a:p>
          <a:p>
            <a:pPr lvl="1"/>
            <a:r>
              <a:rPr lang="zh-CN" altLang="en-US" dirty="0">
                <a:ea typeface="宋体" panose="02010600030101010101" pitchFamily="2" charset="-122"/>
                <a:sym typeface="Wingdings" panose="05000000000000000000" pitchFamily="2" charset="2"/>
              </a:rPr>
              <a:t>所需部件：</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（实现</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加</a:t>
            </a:r>
            <a:r>
              <a:rPr lang="en-US" altLang="zh-CN" dirty="0">
                <a:ea typeface="宋体" panose="02010600030101010101" pitchFamily="2" charset="-122"/>
                <a:sym typeface="Wingdings" panose="05000000000000000000" pitchFamily="2" charset="2"/>
              </a:rPr>
              <a:t>4</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IM</a:t>
            </a:r>
            <a:endParaRPr lang="zh-CN" altLang="en-US" dirty="0">
              <a:ea typeface="宋体" panose="02010600030101010101" pitchFamily="2" charset="-122"/>
            </a:endParaRPr>
          </a:p>
          <a:p>
            <a:pPr marL="514350" indent="-514350">
              <a:buFont typeface="+mj-lt"/>
              <a:buAutoNum type="arabicPeriod"/>
            </a:pPr>
            <a:endParaRPr lang="en-US" altLang="zh-CN" dirty="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215680" y="2996953"/>
            <a:ext cx="4680520" cy="3484139"/>
          </a:xfrm>
          <a:prstGeom prst="rect">
            <a:avLst/>
          </a:prstGeom>
        </p:spPr>
      </p:pic>
      <p:sp>
        <p:nvSpPr>
          <p:cNvPr id="4" name="文本框 3"/>
          <p:cNvSpPr txBox="1"/>
          <p:nvPr/>
        </p:nvSpPr>
        <p:spPr>
          <a:xfrm>
            <a:off x="7175984" y="5259406"/>
            <a:ext cx="1800200" cy="409023"/>
          </a:xfrm>
          <a:prstGeom prst="rect">
            <a:avLst/>
          </a:prstGeom>
          <a:noFill/>
        </p:spPr>
        <p:txBody>
          <a:bodyPr wrap="square" rtlCol="0">
            <a:spAutoFit/>
          </a:bodyPr>
          <a:lstStyle/>
          <a:p>
            <a:pPr>
              <a:buNone/>
            </a:pPr>
            <a:r>
              <a:rPr lang="en-US" altLang="zh-CN" sz="2400" dirty="0">
                <a:latin typeface="Calibri" panose="020F0502020204030204" pitchFamily="34" charset="0"/>
              </a:rPr>
              <a:t>instruction</a:t>
            </a:r>
            <a:endParaRPr lang="zh-CN" altLang="en-US" sz="24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nvGraphicFramePr>
        <p:xfrm>
          <a:off x="2423592" y="3212976"/>
          <a:ext cx="7704858" cy="2657390"/>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609745">
                <a:tc>
                  <a:txBody>
                    <a:bodyPr/>
                    <a:lstStyle/>
                    <a:p>
                      <a:pPr algn="ctr">
                        <a:spcAft>
                          <a:spcPts val="0"/>
                        </a:spcAft>
                      </a:pPr>
                      <a:r>
                        <a:rPr lang="en-US" altLang="zh-CN" sz="1600" b="1" kern="10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5" name="组合 14"/>
          <p:cNvGrpSpPr/>
          <p:nvPr/>
        </p:nvGrpSpPr>
        <p:grpSpPr>
          <a:xfrm>
            <a:off x="5015880" y="1928630"/>
            <a:ext cx="3456384" cy="2220450"/>
            <a:chOff x="7524328" y="2348278"/>
            <a:chExt cx="3456384" cy="2220450"/>
          </a:xfrm>
        </p:grpSpPr>
        <p:sp>
          <p:nvSpPr>
            <p:cNvPr id="16" name="椭圆 15"/>
            <p:cNvSpPr/>
            <p:nvPr/>
          </p:nvSpPr>
          <p:spPr bwMode="auto">
            <a:xfrm>
              <a:off x="7524328" y="2348278"/>
              <a:ext cx="648072" cy="576064"/>
            </a:xfrm>
            <a:prstGeom prst="ellipse">
              <a:avLst/>
            </a:prstGeom>
            <a:solidFill>
              <a:schemeClr val="accent2">
                <a:lumMod val="20000"/>
                <a:lumOff val="80000"/>
              </a:scheme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7" name="直接箭头连接符 16"/>
            <p:cNvCxnSpPr/>
            <p:nvPr/>
          </p:nvCxnSpPr>
          <p:spPr bwMode="auto">
            <a:xfrm>
              <a:off x="8172400" y="2780928"/>
              <a:ext cx="2808312" cy="1787800"/>
            </a:xfrm>
            <a:prstGeom prst="straightConnector1">
              <a:avLst/>
            </a:prstGeom>
            <a:noFill/>
            <a:ln w="28575" cap="flat" cmpd="sng" algn="ctr">
              <a:solidFill>
                <a:schemeClr val="accent1"/>
              </a:solidFill>
              <a:prstDash val="solid"/>
              <a:round/>
              <a:headEnd type="none" w="med" len="med"/>
              <a:tailEnd type="triangle" w="med" len="med"/>
            </a:ln>
            <a:effectLst/>
          </p:spPr>
        </p:cxnSp>
      </p:grpSp>
      <p:grpSp>
        <p:nvGrpSpPr>
          <p:cNvPr id="11" name="组合 10"/>
          <p:cNvGrpSpPr/>
          <p:nvPr/>
        </p:nvGrpSpPr>
        <p:grpSpPr>
          <a:xfrm>
            <a:off x="4151784" y="1975770"/>
            <a:ext cx="3672408" cy="2173310"/>
            <a:chOff x="7524328" y="2348278"/>
            <a:chExt cx="3672408" cy="2173310"/>
          </a:xfrm>
        </p:grpSpPr>
        <p:sp>
          <p:nvSpPr>
            <p:cNvPr id="5" name="椭圆 4"/>
            <p:cNvSpPr/>
            <p:nvPr/>
          </p:nvSpPr>
          <p:spPr bwMode="auto">
            <a:xfrm>
              <a:off x="7524328" y="2348278"/>
              <a:ext cx="648072" cy="576064"/>
            </a:xfrm>
            <a:prstGeom prst="ellipse">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7" name="直接箭头连接符 6"/>
            <p:cNvCxnSpPr/>
            <p:nvPr/>
          </p:nvCxnSpPr>
          <p:spPr bwMode="auto">
            <a:xfrm>
              <a:off x="8172400" y="2780928"/>
              <a:ext cx="3024336" cy="1740660"/>
            </a:xfrm>
            <a:prstGeom prst="straightConnector1">
              <a:avLst/>
            </a:prstGeom>
            <a:noFill/>
            <a:ln w="28575" cap="flat" cmpd="sng" algn="ctr">
              <a:solidFill>
                <a:schemeClr val="accent1"/>
              </a:solidFill>
              <a:prstDash val="solid"/>
              <a:round/>
              <a:headEnd type="none" w="med" len="med"/>
              <a:tailEnd type="triangle" w="med" len="med"/>
            </a:ln>
            <a:effectLst/>
          </p:spPr>
        </p:cxnSp>
      </p:grpSp>
      <p:sp>
        <p:nvSpPr>
          <p:cNvPr id="300034" name="Rectangle 2"/>
          <p:cNvSpPr>
            <a:spLocks noGrp="1" noChangeArrowheads="1"/>
          </p:cNvSpPr>
          <p:nvPr>
            <p:ph type="title"/>
          </p:nvPr>
        </p:nvSpPr>
        <p:spPr>
          <a:xfrm>
            <a:off x="0" y="227965"/>
            <a:ext cx="9015095"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型指令数据通路</a:t>
            </a:r>
          </a:p>
        </p:txBody>
      </p:sp>
      <p:sp>
        <p:nvSpPr>
          <p:cNvPr id="300035" name="Rectangle 3"/>
          <p:cNvSpPr>
            <a:spLocks noGrp="1" noChangeArrowheads="1"/>
          </p:cNvSpPr>
          <p:nvPr>
            <p:ph type="body" idx="1"/>
          </p:nvPr>
        </p:nvSpPr>
        <p:spPr>
          <a:xfrm>
            <a:off x="2063552" y="880586"/>
            <a:ext cx="8208912" cy="1971822"/>
          </a:xfrm>
        </p:spPr>
        <p:txBody>
          <a:bodyPr/>
          <a:lstStyle/>
          <a:p>
            <a:pPr marL="514350" indent="-514350">
              <a:lnSpc>
                <a:spcPct val="120000"/>
              </a:lnSpc>
              <a:spcAft>
                <a:spcPts val="0"/>
              </a:spcAft>
              <a:buFont typeface="+mj-lt"/>
              <a:buAutoNum type="arabicPeriod" startAt="2"/>
            </a:pPr>
            <a:r>
              <a:rPr lang="en-US" altLang="zh-CN" dirty="0">
                <a:ea typeface="宋体" panose="02010600030101010101" pitchFamily="2" charset="-122"/>
              </a:rPr>
              <a:t>R</a:t>
            </a:r>
            <a:r>
              <a:rPr lang="zh-CN" altLang="en-US" dirty="0">
                <a:ea typeface="宋体" panose="02010600030101010101" pitchFamily="2" charset="-122"/>
              </a:rPr>
              <a:t>型指令数据通路（</a:t>
            </a:r>
            <a:r>
              <a:rPr lang="en-US" altLang="zh-CN" dirty="0" err="1">
                <a:ea typeface="宋体" panose="02010600030101010101" pitchFamily="2" charset="-122"/>
              </a:rPr>
              <a:t>add,sub,and,or</a:t>
            </a:r>
            <a:r>
              <a:rPr lang="zh-CN" altLang="en-US" dirty="0">
                <a:ea typeface="宋体" panose="02010600030101010101" pitchFamily="2" charset="-122"/>
              </a:rPr>
              <a:t>指令，以</a:t>
            </a:r>
            <a:r>
              <a:rPr lang="en-US" altLang="zh-CN" dirty="0">
                <a:ea typeface="宋体" panose="02010600030101010101" pitchFamily="2" charset="-122"/>
              </a:rPr>
              <a:t>add</a:t>
            </a:r>
            <a:r>
              <a:rPr lang="zh-CN" altLang="en-US" dirty="0">
                <a:ea typeface="宋体" panose="02010600030101010101" pitchFamily="2" charset="-122"/>
              </a:rPr>
              <a:t>为例）</a:t>
            </a:r>
            <a:endParaRPr lang="en-US" altLang="zh-CN" dirty="0">
              <a:ea typeface="宋体" panose="02010600030101010101" pitchFamily="2" charset="-122"/>
            </a:endParaRPr>
          </a:p>
          <a:p>
            <a:pPr lvl="1">
              <a:lnSpc>
                <a:spcPct val="120000"/>
              </a:lnSpc>
              <a:spcAft>
                <a:spcPts val="0"/>
              </a:spcAft>
            </a:pPr>
            <a:r>
              <a:rPr lang="en-US" altLang="zh-CN" dirty="0">
                <a:ea typeface="宋体" panose="02010600030101010101" pitchFamily="2" charset="-122"/>
              </a:rPr>
              <a:t>add rd, rs, </a:t>
            </a:r>
            <a:r>
              <a:rPr lang="en-US" altLang="zh-CN" dirty="0" err="1">
                <a:ea typeface="宋体" panose="02010600030101010101" pitchFamily="2" charset="-122"/>
              </a:rPr>
              <a:t>rt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sym typeface="Wingdings" panose="05000000000000000000" pitchFamily="2" charset="2"/>
              </a:rPr>
              <a:t>功能描述</a:t>
            </a:r>
            <a:endParaRPr lang="en-US" altLang="zh-CN" dirty="0">
              <a:ea typeface="宋体" panose="02010600030101010101" pitchFamily="2" charset="-122"/>
              <a:sym typeface="Wingdings" panose="05000000000000000000" pitchFamily="2" charset="2"/>
            </a:endParaRPr>
          </a:p>
          <a:p>
            <a:pPr lvl="2">
              <a:lnSpc>
                <a:spcPct val="120000"/>
              </a:lnSpc>
              <a:spcAft>
                <a:spcPts val="0"/>
              </a:spcAft>
            </a:pPr>
            <a:r>
              <a:rPr lang="en-US" altLang="zh-CN" sz="2000" dirty="0">
                <a:ea typeface="宋体" panose="02010600030101010101" pitchFamily="2" charset="-122"/>
                <a:sym typeface="Wingdings" panose="05000000000000000000" pitchFamily="2" charset="2"/>
              </a:rPr>
              <a:t>R[</a:t>
            </a:r>
            <a:r>
              <a:rPr lang="en-US" altLang="zh-CN" sz="2000" dirty="0" err="1">
                <a:ea typeface="宋体" panose="02010600030101010101" pitchFamily="2" charset="-122"/>
                <a:sym typeface="Wingdings" panose="05000000000000000000" pitchFamily="2" charset="2"/>
              </a:rPr>
              <a:t>rd</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rs</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rt</a:t>
            </a:r>
            <a:r>
              <a:rPr lang="en-US" altLang="zh-CN" sz="2000" dirty="0">
                <a:ea typeface="宋体" panose="02010600030101010101" pitchFamily="2" charset="-122"/>
                <a:sym typeface="Wingdings" panose="05000000000000000000" pitchFamily="2" charset="2"/>
              </a:rPr>
              <a:t>]</a:t>
            </a:r>
          </a:p>
          <a:p>
            <a:pPr lvl="1">
              <a:lnSpc>
                <a:spcPct val="120000"/>
              </a:lnSpc>
              <a:spcAft>
                <a:spcPts val="0"/>
              </a:spcAft>
            </a:pPr>
            <a:r>
              <a:rPr lang="zh-CN" altLang="en-US" dirty="0">
                <a:ea typeface="宋体" panose="02010600030101010101" pitchFamily="2" charset="-122"/>
                <a:sym typeface="Wingdings" panose="05000000000000000000" pitchFamily="2" charset="2"/>
              </a:rPr>
              <a:t>通路部件：寄存器堆、</a:t>
            </a:r>
            <a:r>
              <a:rPr lang="en-US" altLang="zh-CN" dirty="0">
                <a:ea typeface="宋体" panose="02010600030101010101" pitchFamily="2" charset="-122"/>
                <a:sym typeface="Wingdings" panose="05000000000000000000" pitchFamily="2" charset="2"/>
              </a:rPr>
              <a:t>ALU</a:t>
            </a:r>
            <a:endParaRPr lang="zh-CN" altLang="en-US" dirty="0">
              <a:ea typeface="宋体" panose="02010600030101010101" pitchFamily="2" charset="-122"/>
            </a:endParaRPr>
          </a:p>
        </p:txBody>
      </p:sp>
      <p:pic>
        <p:nvPicPr>
          <p:cNvPr id="270337" name="Picture 1"/>
          <p:cNvPicPr>
            <a:picLocks noChangeAspect="1" noChangeArrowheads="1"/>
          </p:cNvPicPr>
          <p:nvPr/>
        </p:nvPicPr>
        <p:blipFill>
          <a:blip r:embed="rId2" cstate="print"/>
          <a:srcRect/>
          <a:stretch>
            <a:fillRect/>
          </a:stretch>
        </p:blipFill>
        <p:spPr bwMode="auto">
          <a:xfrm>
            <a:off x="5044019" y="1412776"/>
            <a:ext cx="4796397" cy="504056"/>
          </a:xfrm>
          <a:prstGeom prst="rect">
            <a:avLst/>
          </a:prstGeom>
          <a:noFill/>
          <a:ln w="9525">
            <a:noFill/>
            <a:miter lim="800000"/>
            <a:headEnd/>
            <a:tailEnd/>
          </a:ln>
        </p:spPr>
      </p:pic>
      <p:sp>
        <p:nvSpPr>
          <p:cNvPr id="2" name="矩形 1"/>
          <p:cNvSpPr/>
          <p:nvPr/>
        </p:nvSpPr>
        <p:spPr>
          <a:xfrm>
            <a:off x="5087888" y="4149081"/>
            <a:ext cx="399468"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4" name="矩形 13"/>
          <p:cNvSpPr/>
          <p:nvPr/>
        </p:nvSpPr>
        <p:spPr>
          <a:xfrm>
            <a:off x="5775389" y="4149081"/>
            <a:ext cx="362599"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8" name="矩形 17"/>
          <p:cNvSpPr/>
          <p:nvPr/>
        </p:nvSpPr>
        <p:spPr>
          <a:xfrm>
            <a:off x="6334986" y="4149081"/>
            <a:ext cx="409086"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
            </a:r>
          </a:p>
        </p:txBody>
      </p:sp>
      <p:sp>
        <p:nvSpPr>
          <p:cNvPr id="19" name="矩形 18"/>
          <p:cNvSpPr/>
          <p:nvPr/>
        </p:nvSpPr>
        <p:spPr>
          <a:xfrm>
            <a:off x="7536160" y="4135492"/>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p:txBody>
      </p:sp>
      <p:sp>
        <p:nvSpPr>
          <p:cNvPr id="20" name="矩形 19"/>
          <p:cNvSpPr/>
          <p:nvPr/>
        </p:nvSpPr>
        <p:spPr>
          <a:xfrm>
            <a:off x="8160198" y="4149081"/>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p:txBody>
      </p:sp>
      <p:sp>
        <p:nvSpPr>
          <p:cNvPr id="21" name="矩形 20"/>
          <p:cNvSpPr/>
          <p:nvPr/>
        </p:nvSpPr>
        <p:spPr>
          <a:xfrm>
            <a:off x="6941072" y="4153697"/>
            <a:ext cx="530915"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par>
                                <p:cTn id="17" presetID="22" presetClass="entr" presetSubtype="1"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par>
                                <p:cTn id="30" presetID="22" presetClass="entr" presetSubtype="1"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8" grpId="0"/>
      <p:bldP spid="19" grpId="0"/>
      <p:bldP spid="20"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99795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型指令数据通路</a:t>
            </a:r>
          </a:p>
        </p:txBody>
      </p:sp>
      <p:sp>
        <p:nvSpPr>
          <p:cNvPr id="300035" name="Rectangle 3"/>
          <p:cNvSpPr>
            <a:spLocks noGrp="1" noChangeArrowheads="1"/>
          </p:cNvSpPr>
          <p:nvPr>
            <p:ph type="body" idx="1"/>
          </p:nvPr>
        </p:nvSpPr>
        <p:spPr>
          <a:xfrm>
            <a:off x="2135560" y="842110"/>
            <a:ext cx="8208912" cy="1971822"/>
          </a:xfrm>
        </p:spPr>
        <p:txBody>
          <a:bodyPr/>
          <a:lstStyle/>
          <a:p>
            <a:pPr marL="514350" indent="-514350">
              <a:lnSpc>
                <a:spcPct val="120000"/>
              </a:lnSpc>
              <a:spcAft>
                <a:spcPts val="0"/>
              </a:spcAft>
              <a:buFont typeface="+mj-lt"/>
              <a:buAutoNum type="arabicPeriod" startAt="2"/>
            </a:pPr>
            <a:r>
              <a:rPr lang="en-US" altLang="zh-CN" dirty="0">
                <a:ea typeface="宋体" panose="02010600030101010101" pitchFamily="2" charset="-122"/>
              </a:rPr>
              <a:t>R</a:t>
            </a:r>
            <a:r>
              <a:rPr lang="zh-CN" altLang="en-US" dirty="0">
                <a:ea typeface="宋体" panose="02010600030101010101" pitchFamily="2" charset="-122"/>
              </a:rPr>
              <a:t>型指令数据通路（</a:t>
            </a:r>
            <a:r>
              <a:rPr lang="en-US" altLang="zh-CN" dirty="0" err="1">
                <a:ea typeface="宋体" panose="02010600030101010101" pitchFamily="2" charset="-122"/>
              </a:rPr>
              <a:t>add,sub,and,or</a:t>
            </a:r>
            <a:r>
              <a:rPr lang="zh-CN" altLang="en-US" dirty="0">
                <a:ea typeface="宋体" panose="02010600030101010101" pitchFamily="2" charset="-122"/>
              </a:rPr>
              <a:t>指令，以</a:t>
            </a:r>
            <a:r>
              <a:rPr lang="en-US" altLang="zh-CN" dirty="0">
                <a:ea typeface="宋体" panose="02010600030101010101" pitchFamily="2" charset="-122"/>
              </a:rPr>
              <a:t>add</a:t>
            </a:r>
            <a:r>
              <a:rPr lang="zh-CN" altLang="en-US" dirty="0">
                <a:ea typeface="宋体" panose="02010600030101010101" pitchFamily="2" charset="-122"/>
              </a:rPr>
              <a:t>为例）</a:t>
            </a:r>
            <a:endParaRPr lang="en-US" altLang="zh-CN" dirty="0">
              <a:ea typeface="宋体" panose="02010600030101010101" pitchFamily="2" charset="-122"/>
            </a:endParaRPr>
          </a:p>
          <a:p>
            <a:pPr lvl="1">
              <a:lnSpc>
                <a:spcPct val="120000"/>
              </a:lnSpc>
              <a:spcAft>
                <a:spcPts val="0"/>
              </a:spcAft>
            </a:pPr>
            <a:r>
              <a:rPr lang="en-US" altLang="zh-CN" dirty="0">
                <a:ea typeface="宋体" panose="02010600030101010101" pitchFamily="2" charset="-122"/>
              </a:rPr>
              <a:t>add rd, rs, </a:t>
            </a:r>
            <a:r>
              <a:rPr lang="en-US" altLang="zh-CN" dirty="0" err="1">
                <a:ea typeface="宋体" panose="02010600030101010101" pitchFamily="2" charset="-122"/>
              </a:rPr>
              <a:t>rt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sym typeface="Wingdings" panose="05000000000000000000" pitchFamily="2" charset="2"/>
              </a:rPr>
              <a:t>功能描述</a:t>
            </a:r>
            <a:endParaRPr lang="en-US" altLang="zh-CN" dirty="0">
              <a:ea typeface="宋体" panose="02010600030101010101" pitchFamily="2" charset="-122"/>
              <a:sym typeface="Wingdings" panose="05000000000000000000" pitchFamily="2" charset="2"/>
            </a:endParaRPr>
          </a:p>
          <a:p>
            <a:pPr lvl="2">
              <a:lnSpc>
                <a:spcPct val="120000"/>
              </a:lnSpc>
              <a:spcAft>
                <a:spcPts val="0"/>
              </a:spcAft>
            </a:pPr>
            <a:r>
              <a:rPr lang="en-US" altLang="zh-CN" sz="2000" dirty="0">
                <a:ea typeface="宋体" panose="02010600030101010101" pitchFamily="2" charset="-122"/>
                <a:sym typeface="Wingdings" panose="05000000000000000000" pitchFamily="2" charset="2"/>
              </a:rPr>
              <a:t>R[</a:t>
            </a:r>
            <a:r>
              <a:rPr lang="en-US" altLang="zh-CN" sz="2000" dirty="0" err="1">
                <a:ea typeface="宋体" panose="02010600030101010101" pitchFamily="2" charset="-122"/>
                <a:sym typeface="Wingdings" panose="05000000000000000000" pitchFamily="2" charset="2"/>
              </a:rPr>
              <a:t>rd</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rs</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rt</a:t>
            </a:r>
            <a:r>
              <a:rPr lang="en-US" altLang="zh-CN" sz="2000" dirty="0">
                <a:ea typeface="宋体" panose="02010600030101010101" pitchFamily="2" charset="-122"/>
                <a:sym typeface="Wingdings" panose="05000000000000000000" pitchFamily="2" charset="2"/>
              </a:rPr>
              <a:t>]</a:t>
            </a:r>
          </a:p>
          <a:p>
            <a:pPr lvl="1">
              <a:lnSpc>
                <a:spcPct val="120000"/>
              </a:lnSpc>
              <a:spcAft>
                <a:spcPts val="0"/>
              </a:spcAft>
            </a:pPr>
            <a:r>
              <a:rPr lang="zh-CN" altLang="en-US" dirty="0">
                <a:ea typeface="宋体" panose="02010600030101010101" pitchFamily="2" charset="-122"/>
                <a:sym typeface="Wingdings" panose="05000000000000000000" pitchFamily="2" charset="2"/>
              </a:rPr>
              <a:t>通路部件：寄存器堆、</a:t>
            </a:r>
            <a:r>
              <a:rPr lang="en-US" altLang="zh-CN" dirty="0">
                <a:ea typeface="宋体" panose="02010600030101010101" pitchFamily="2" charset="-122"/>
                <a:sym typeface="Wingdings" panose="05000000000000000000" pitchFamily="2" charset="2"/>
              </a:rPr>
              <a:t>ALU</a:t>
            </a:r>
            <a:endParaRPr lang="zh-CN" altLang="en-US" dirty="0">
              <a:ea typeface="宋体" panose="02010600030101010101" pitchFamily="2" charset="-122"/>
            </a:endParaRPr>
          </a:p>
        </p:txBody>
      </p:sp>
      <p:pic>
        <p:nvPicPr>
          <p:cNvPr id="270337" name="Picture 1"/>
          <p:cNvPicPr>
            <a:picLocks noChangeAspect="1" noChangeArrowheads="1"/>
          </p:cNvPicPr>
          <p:nvPr/>
        </p:nvPicPr>
        <p:blipFill>
          <a:blip r:embed="rId2" cstate="print"/>
          <a:srcRect/>
          <a:stretch>
            <a:fillRect/>
          </a:stretch>
        </p:blipFill>
        <p:spPr bwMode="auto">
          <a:xfrm>
            <a:off x="5044019" y="1412776"/>
            <a:ext cx="4796397" cy="504056"/>
          </a:xfrm>
          <a:prstGeom prst="rect">
            <a:avLst/>
          </a:prstGeom>
          <a:noFill/>
          <a:ln w="9525">
            <a:noFill/>
            <a:miter lim="800000"/>
            <a:headEnd/>
            <a:tailEnd/>
          </a:ln>
        </p:spPr>
      </p:pic>
      <p:graphicFrame>
        <p:nvGraphicFramePr>
          <p:cNvPr id="9" name="表格 8"/>
          <p:cNvGraphicFramePr>
            <a:graphicFrameLocks noGrp="1"/>
          </p:cNvGraphicFramePr>
          <p:nvPr/>
        </p:nvGraphicFramePr>
        <p:xfrm>
          <a:off x="1847528" y="4869160"/>
          <a:ext cx="2526130" cy="1737360"/>
        </p:xfrm>
        <a:graphic>
          <a:graphicData uri="http://schemas.openxmlformats.org/drawingml/2006/table">
            <a:tbl>
              <a:tblPr firstRow="1" bandRow="1">
                <a:tableStyleId>{93296810-A885-4BE3-A3E7-6D5BEEA58F35}</a:tableStyleId>
              </a:tblPr>
              <a:tblGrid>
                <a:gridCol w="360471">
                  <a:extLst>
                    <a:ext uri="{9D8B030D-6E8A-4147-A177-3AD203B41FA5}">
                      <a16:colId xmlns:a16="http://schemas.microsoft.com/office/drawing/2014/main" val="20000"/>
                    </a:ext>
                  </a:extLst>
                </a:gridCol>
                <a:gridCol w="360471">
                  <a:extLst>
                    <a:ext uri="{9D8B030D-6E8A-4147-A177-3AD203B41FA5}">
                      <a16:colId xmlns:a16="http://schemas.microsoft.com/office/drawing/2014/main" val="20001"/>
                    </a:ext>
                  </a:extLst>
                </a:gridCol>
                <a:gridCol w="1013101">
                  <a:extLst>
                    <a:ext uri="{9D8B030D-6E8A-4147-A177-3AD203B41FA5}">
                      <a16:colId xmlns:a16="http://schemas.microsoft.com/office/drawing/2014/main" val="20002"/>
                    </a:ext>
                  </a:extLst>
                </a:gridCol>
                <a:gridCol w="792087">
                  <a:extLst>
                    <a:ext uri="{9D8B030D-6E8A-4147-A177-3AD203B41FA5}">
                      <a16:colId xmlns:a16="http://schemas.microsoft.com/office/drawing/2014/main" val="20003"/>
                    </a:ext>
                  </a:extLst>
                </a:gridCol>
              </a:tblGrid>
              <a:tr h="518160">
                <a:tc gridSpan="2">
                  <a:txBody>
                    <a:bodyPr/>
                    <a:lstStyle/>
                    <a:p>
                      <a:pPr algn="ctr"/>
                      <a:r>
                        <a:rPr lang="zh-CN" altLang="en-US" sz="1400" dirty="0"/>
                        <a:t>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sz="1400" dirty="0"/>
                        <a:t>ALU</a:t>
                      </a:r>
                      <a:r>
                        <a:rPr lang="en-US" altLang="zh-CN" sz="1400" baseline="0" dirty="0"/>
                        <a:t> </a:t>
                      </a:r>
                      <a:endParaRPr lang="en-US" altLang="zh-CN" sz="1400" dirty="0"/>
                    </a:p>
                    <a:p>
                      <a:pPr algn="ctr"/>
                      <a:r>
                        <a:rPr lang="en-US" altLang="zh-CN" sz="1400" dirty="0"/>
                        <a:t>operation</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输出</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145472">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&amp;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0001</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0110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2" name="图片 1"/>
          <p:cNvPicPr>
            <a:picLocks noChangeAspect="1"/>
          </p:cNvPicPr>
          <p:nvPr/>
        </p:nvPicPr>
        <p:blipFill>
          <a:blip r:embed="rId3"/>
          <a:stretch>
            <a:fillRect/>
          </a:stretch>
        </p:blipFill>
        <p:spPr>
          <a:xfrm>
            <a:off x="4439816" y="2961791"/>
            <a:ext cx="6408712" cy="3153074"/>
          </a:xfrm>
          <a:prstGeom prst="rect">
            <a:avLst/>
          </a:prstGeom>
        </p:spPr>
      </p:pic>
      <p:pic>
        <p:nvPicPr>
          <p:cNvPr id="7" name="图片 6"/>
          <p:cNvPicPr>
            <a:picLocks noChangeAspect="1"/>
          </p:cNvPicPr>
          <p:nvPr/>
        </p:nvPicPr>
        <p:blipFill>
          <a:blip r:embed="rId4"/>
          <a:stretch>
            <a:fillRect/>
          </a:stretch>
        </p:blipFill>
        <p:spPr>
          <a:xfrm>
            <a:off x="2351584" y="2813873"/>
            <a:ext cx="2664296" cy="19832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640445" cy="478790"/>
          </a:xfrm>
        </p:spPr>
        <p:txBody>
          <a:bodyPr wrap="square"/>
          <a:lstStyle/>
          <a:p>
            <a:r>
              <a:rPr lang="en-US" altLang="zh-CN" sz="3200" dirty="0"/>
              <a:t>3.1  </a:t>
            </a:r>
            <a:r>
              <a:rPr lang="zh-CN" altLang="en-US" sz="3200" dirty="0"/>
              <a:t>单周期数据通路设计</a:t>
            </a:r>
            <a:r>
              <a:rPr lang="en-US" altLang="zh-CN" sz="3200" dirty="0"/>
              <a:t>——LW</a:t>
            </a:r>
            <a:r>
              <a:rPr lang="zh-CN" altLang="en-US" sz="3200" dirty="0"/>
              <a:t>指令数据通路</a:t>
            </a:r>
          </a:p>
        </p:txBody>
      </p:sp>
      <p:sp>
        <p:nvSpPr>
          <p:cNvPr id="300035" name="Rectangle 3"/>
          <p:cNvSpPr>
            <a:spLocks noGrp="1" noChangeArrowheads="1"/>
          </p:cNvSpPr>
          <p:nvPr>
            <p:ph type="body" idx="1"/>
          </p:nvPr>
        </p:nvSpPr>
        <p:spPr>
          <a:xfrm>
            <a:off x="2197078" y="836713"/>
            <a:ext cx="7848600" cy="2451953"/>
          </a:xfrm>
        </p:spPr>
        <p:txBody>
          <a:bodyPr/>
          <a:lstStyle/>
          <a:p>
            <a:pPr marL="457200" indent="-457200">
              <a:lnSpc>
                <a:spcPct val="130000"/>
              </a:lnSpc>
              <a:spcAft>
                <a:spcPts val="0"/>
              </a:spcAft>
              <a:buFont typeface="+mj-lt"/>
              <a:buAutoNum type="arabicPeriod" startAt="3"/>
            </a:pPr>
            <a:r>
              <a:rPr lang="zh-CN" altLang="en-US" dirty="0">
                <a:ea typeface="宋体" panose="02010600030101010101" pitchFamily="2" charset="-122"/>
              </a:rPr>
              <a:t>取数指令（</a:t>
            </a:r>
            <a:r>
              <a:rPr lang="en-US" altLang="zh-CN" dirty="0" err="1">
                <a:ea typeface="宋体" panose="02010600030101010101" pitchFamily="2" charset="-122"/>
              </a:rPr>
              <a:t>lw</a:t>
            </a:r>
            <a:r>
              <a:rPr lang="zh-CN" altLang="en-US" dirty="0">
                <a:ea typeface="宋体" panose="02010600030101010101" pitchFamily="2" charset="-122"/>
              </a:rPr>
              <a:t>）数据通路</a:t>
            </a:r>
          </a:p>
          <a:p>
            <a:pPr lvl="1">
              <a:lnSpc>
                <a:spcPct val="130000"/>
              </a:lnSpc>
              <a:spcAft>
                <a:spcPts val="0"/>
              </a:spcAft>
            </a:pPr>
            <a:r>
              <a:rPr lang="en-US" altLang="zh-CN" dirty="0" err="1">
                <a:ea typeface="宋体" panose="02010600030101010101" pitchFamily="2" charset="-122"/>
              </a:rPr>
              <a:t>lw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rPr>
              <a:t>R[</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a:ea typeface="宋体" panose="02010600030101010101" pitchFamily="2" charset="-122"/>
                <a:sym typeface="Wingdings" panose="05000000000000000000" pitchFamily="2" charset="2"/>
              </a:rPr>
              <a:t> 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2" cstate="print"/>
          <a:srcRect/>
          <a:stretch>
            <a:fillRect/>
          </a:stretch>
        </p:blipFill>
        <p:spPr bwMode="auto">
          <a:xfrm>
            <a:off x="5207007" y="1384706"/>
            <a:ext cx="5088451" cy="532126"/>
          </a:xfrm>
          <a:prstGeom prst="rect">
            <a:avLst/>
          </a:prstGeom>
          <a:noFill/>
          <a:ln w="9525">
            <a:noFill/>
            <a:miter lim="800000"/>
            <a:headEnd/>
            <a:tailEnd/>
          </a:ln>
        </p:spPr>
      </p:pic>
      <p:graphicFrame>
        <p:nvGraphicFramePr>
          <p:cNvPr id="6" name="表格 5"/>
          <p:cNvGraphicFramePr>
            <a:graphicFrameLocks noGrp="1"/>
          </p:cNvGraphicFramePr>
          <p:nvPr/>
        </p:nvGraphicFramePr>
        <p:xfrm>
          <a:off x="2086547" y="3212976"/>
          <a:ext cx="8208911" cy="2585382"/>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8" name="组合 7"/>
          <p:cNvGrpSpPr/>
          <p:nvPr/>
        </p:nvGrpSpPr>
        <p:grpSpPr>
          <a:xfrm>
            <a:off x="5735960" y="1988840"/>
            <a:ext cx="2808312" cy="2592288"/>
            <a:chOff x="4211960" y="1988840"/>
            <a:chExt cx="2808312" cy="2592288"/>
          </a:xfrm>
        </p:grpSpPr>
        <p:sp>
          <p:nvSpPr>
            <p:cNvPr id="2" name="椭圆 1"/>
            <p:cNvSpPr/>
            <p:nvPr/>
          </p:nvSpPr>
          <p:spPr bwMode="auto">
            <a:xfrm>
              <a:off x="4211960" y="1988840"/>
              <a:ext cx="1800200" cy="576064"/>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4" name="直接箭头连接符 3"/>
            <p:cNvCxnSpPr>
              <a:stCxn id="2" idx="5"/>
            </p:cNvCxnSpPr>
            <p:nvPr/>
          </p:nvCxnSpPr>
          <p:spPr bwMode="auto">
            <a:xfrm>
              <a:off x="5748527" y="2480541"/>
              <a:ext cx="1271745" cy="2100587"/>
            </a:xfrm>
            <a:prstGeom prst="straightConnector1">
              <a:avLst/>
            </a:prstGeom>
            <a:noFill/>
            <a:ln w="19050" cap="flat" cmpd="sng" algn="ctr">
              <a:solidFill>
                <a:schemeClr val="accent1"/>
              </a:solidFill>
              <a:prstDash val="solid"/>
              <a:round/>
              <a:headEnd type="none" w="med" len="med"/>
              <a:tailEnd type="triangle"/>
            </a:ln>
            <a:effectLst/>
          </p:spPr>
        </p:cxnSp>
      </p:grpSp>
      <p:sp>
        <p:nvSpPr>
          <p:cNvPr id="10" name="矩形 9"/>
          <p:cNvSpPr/>
          <p:nvPr/>
        </p:nvSpPr>
        <p:spPr>
          <a:xfrm>
            <a:off x="4727848" y="4581129"/>
            <a:ext cx="399468"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4" name="矩形 13"/>
          <p:cNvSpPr/>
          <p:nvPr/>
        </p:nvSpPr>
        <p:spPr>
          <a:xfrm>
            <a:off x="7080078" y="4581129"/>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p:txBody>
      </p:sp>
      <p:sp>
        <p:nvSpPr>
          <p:cNvPr id="11" name="矩形 10"/>
          <p:cNvSpPr/>
          <p:nvPr/>
        </p:nvSpPr>
        <p:spPr>
          <a:xfrm>
            <a:off x="9624393" y="4573870"/>
            <a:ext cx="715259"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p:txBody>
      </p:sp>
      <p:sp>
        <p:nvSpPr>
          <p:cNvPr id="16" name="矩形 15"/>
          <p:cNvSpPr/>
          <p:nvPr/>
        </p:nvSpPr>
        <p:spPr>
          <a:xfrm>
            <a:off x="7752185" y="4509121"/>
            <a:ext cx="604653" cy="451855"/>
          </a:xfrm>
          <a:prstGeom prst="rect">
            <a:avLst/>
          </a:prstGeom>
        </p:spPr>
        <p:txBody>
          <a:bodyPr wrap="none">
            <a:spAutoFit/>
          </a:bodyPr>
          <a:lstStyle/>
          <a:p>
            <a:pPr algn="ctr">
              <a:lnSpc>
                <a:spcPts val="1400"/>
              </a:lnSpc>
              <a:spcBef>
                <a:spcPts val="0"/>
              </a:spcBef>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Sign-</a:t>
            </a:r>
          </a:p>
          <a:p>
            <a:pPr algn="ctr">
              <a:lnSpc>
                <a:spcPts val="1400"/>
              </a:lnSpc>
              <a:spcBef>
                <a:spcPts val="0"/>
              </a:spcBef>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7" name="矩形 16"/>
          <p:cNvSpPr/>
          <p:nvPr/>
        </p:nvSpPr>
        <p:spPr>
          <a:xfrm>
            <a:off x="6021432" y="4581129"/>
            <a:ext cx="362600"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2" name="矩形 11"/>
          <p:cNvSpPr/>
          <p:nvPr/>
        </p:nvSpPr>
        <p:spPr>
          <a:xfrm>
            <a:off x="8445406" y="4586628"/>
            <a:ext cx="530915" cy="301621"/>
          </a:xfrm>
          <a:prstGeom prst="rect">
            <a:avLst/>
          </a:prstGeom>
        </p:spPr>
        <p:txBody>
          <a:bodyPr wrap="none">
            <a:spAutoFit/>
          </a:bodyPr>
          <a:lstStyle/>
          <a:p>
            <a:pPr>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ALU</a:t>
            </a:r>
            <a:endParaRPr lang="zh-CN" altLang="en-US" sz="1600" dirty="0"/>
          </a:p>
        </p:txBody>
      </p:sp>
      <p:sp>
        <p:nvSpPr>
          <p:cNvPr id="19" name="矩形 18"/>
          <p:cNvSpPr/>
          <p:nvPr/>
        </p:nvSpPr>
        <p:spPr>
          <a:xfrm>
            <a:off x="6600056" y="4581129"/>
            <a:ext cx="445956" cy="301621"/>
          </a:xfrm>
          <a:prstGeom prst="rect">
            <a:avLst/>
          </a:prstGeom>
        </p:spPr>
        <p:txBody>
          <a:bodyPr wrap="none">
            <a:spAutoFit/>
          </a:bodyPr>
          <a:lstStyle/>
          <a:p>
            <a:pPr>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DM</a:t>
            </a:r>
            <a:endParaRPr lang="zh-CN" altLang="en-US" sz="1600" dirty="0"/>
          </a:p>
        </p:txBody>
      </p:sp>
      <p:sp>
        <p:nvSpPr>
          <p:cNvPr id="3" name="文本框 2"/>
          <p:cNvSpPr txBox="1"/>
          <p:nvPr/>
        </p:nvSpPr>
        <p:spPr>
          <a:xfrm>
            <a:off x="3291112" y="5981496"/>
            <a:ext cx="3672408" cy="327782"/>
          </a:xfrm>
          <a:prstGeom prst="rect">
            <a:avLst/>
          </a:prstGeom>
          <a:noFill/>
        </p:spPr>
        <p:txBody>
          <a:bodyPr wrap="square" rtlCol="0">
            <a:spAutoFit/>
          </a:bodyPr>
          <a:lstStyle/>
          <a:p>
            <a:pPr algn="r">
              <a:buNone/>
            </a:pPr>
            <a:r>
              <a:rPr lang="en-US" altLang="zh-CN" dirty="0" err="1">
                <a:solidFill>
                  <a:srgbClr val="FF0000"/>
                </a:solidFill>
              </a:rPr>
              <a:t>MemRead</a:t>
            </a:r>
            <a:r>
              <a:rPr lang="zh-CN" altLang="en-US" dirty="0">
                <a:solidFill>
                  <a:srgbClr val="FF0000"/>
                </a:solidFill>
              </a:rPr>
              <a:t> ↑     </a:t>
            </a:r>
            <a:r>
              <a:rPr lang="en-US" altLang="zh-CN" dirty="0" err="1">
                <a:solidFill>
                  <a:srgbClr val="FF0000"/>
                </a:solidFill>
              </a:rPr>
              <a:t>RegWrite</a:t>
            </a:r>
            <a:r>
              <a:rPr lang="en-US" altLang="zh-CN" dirty="0">
                <a:solidFill>
                  <a:srgbClr val="FF0000"/>
                </a:solidFill>
              </a:rPr>
              <a:t> </a:t>
            </a:r>
            <a:r>
              <a:rPr lang="zh-CN" altLang="en-US"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1" grpId="0"/>
      <p:bldP spid="16" grpId="0"/>
      <p:bldP spid="17" grpId="0"/>
      <p:bldP spid="12" grpId="0"/>
      <p:bldP spid="19"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594090" cy="478790"/>
          </a:xfrm>
        </p:spPr>
        <p:txBody>
          <a:bodyPr wrap="square"/>
          <a:lstStyle/>
          <a:p>
            <a:r>
              <a:rPr lang="en-US" altLang="zh-CN" sz="3200" dirty="0"/>
              <a:t>3.1  </a:t>
            </a:r>
            <a:r>
              <a:rPr lang="zh-CN" altLang="en-US" sz="3200" dirty="0"/>
              <a:t>单周期数据通路设计</a:t>
            </a:r>
            <a:r>
              <a:rPr lang="en-US" altLang="zh-CN" sz="3200" dirty="0"/>
              <a:t>——LW</a:t>
            </a:r>
            <a:r>
              <a:rPr lang="zh-CN" altLang="en-US" sz="3200" dirty="0"/>
              <a:t>指令数据通路</a:t>
            </a:r>
          </a:p>
        </p:txBody>
      </p:sp>
      <p:sp>
        <p:nvSpPr>
          <p:cNvPr id="300035" name="Rectangle 3"/>
          <p:cNvSpPr>
            <a:spLocks noGrp="1" noChangeArrowheads="1"/>
          </p:cNvSpPr>
          <p:nvPr>
            <p:ph type="body" idx="1"/>
          </p:nvPr>
        </p:nvSpPr>
        <p:spPr>
          <a:xfrm>
            <a:off x="2217420" y="853440"/>
            <a:ext cx="9114790" cy="1896745"/>
          </a:xfrm>
        </p:spPr>
        <p:txBody>
          <a:bodyPr wrap="square"/>
          <a:lstStyle/>
          <a:p>
            <a:pPr marL="457200" indent="-457200">
              <a:lnSpc>
                <a:spcPct val="120000"/>
              </a:lnSpc>
              <a:spcAft>
                <a:spcPts val="0"/>
              </a:spcAft>
              <a:buFont typeface="+mj-lt"/>
              <a:buAutoNum type="arabicPeriod" startAt="3"/>
            </a:pPr>
            <a:r>
              <a:rPr lang="zh-CN" altLang="en-US" dirty="0">
                <a:ea typeface="宋体" panose="02010600030101010101" pitchFamily="2" charset="-122"/>
              </a:rPr>
              <a:t>取数指令（</a:t>
            </a:r>
            <a:r>
              <a:rPr lang="en-US" altLang="zh-CN" dirty="0" err="1">
                <a:ea typeface="宋体" panose="02010600030101010101" pitchFamily="2" charset="-122"/>
              </a:rPr>
              <a:t>lw</a:t>
            </a:r>
            <a:r>
              <a:rPr lang="zh-CN" altLang="en-US" dirty="0">
                <a:ea typeface="宋体" panose="02010600030101010101" pitchFamily="2" charset="-122"/>
              </a:rPr>
              <a:t>）数据通路</a:t>
            </a:r>
          </a:p>
          <a:p>
            <a:pPr lvl="1">
              <a:lnSpc>
                <a:spcPct val="120000"/>
              </a:lnSpc>
              <a:spcAft>
                <a:spcPts val="0"/>
              </a:spcAft>
            </a:pPr>
            <a:r>
              <a:rPr lang="en-US" altLang="zh-CN" dirty="0" err="1">
                <a:ea typeface="宋体" panose="02010600030101010101" pitchFamily="2" charset="-122"/>
              </a:rPr>
              <a:t>lw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a:p>
            <a:pPr lvl="1">
              <a:lnSpc>
                <a:spcPct val="12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20000"/>
              </a:lnSpc>
              <a:spcAft>
                <a:spcPts val="0"/>
              </a:spcAft>
            </a:pPr>
            <a:r>
              <a:rPr lang="en-US" altLang="zh-CN" dirty="0">
                <a:ea typeface="宋体" panose="02010600030101010101" pitchFamily="2" charset="-122"/>
              </a:rPr>
              <a:t>R[</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a:ea typeface="宋体" panose="02010600030101010101" pitchFamily="2" charset="-122"/>
                <a:sym typeface="Wingdings" panose="05000000000000000000" pitchFamily="2" charset="2"/>
              </a:rPr>
              <a:t> 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2" cstate="print"/>
          <a:srcRect/>
          <a:stretch>
            <a:fillRect/>
          </a:stretch>
        </p:blipFill>
        <p:spPr bwMode="auto">
          <a:xfrm>
            <a:off x="5303913" y="1307969"/>
            <a:ext cx="4944435" cy="532126"/>
          </a:xfrm>
          <a:prstGeom prst="rect">
            <a:avLst/>
          </a:prstGeom>
          <a:noFill/>
          <a:ln w="9525">
            <a:noFill/>
            <a:miter lim="800000"/>
            <a:headEnd/>
            <a:tailEnd/>
          </a:ln>
        </p:spPr>
      </p:pic>
      <p:grpSp>
        <p:nvGrpSpPr>
          <p:cNvPr id="15" name="组合 14"/>
          <p:cNvGrpSpPr/>
          <p:nvPr/>
        </p:nvGrpSpPr>
        <p:grpSpPr>
          <a:xfrm>
            <a:off x="1703512" y="3945890"/>
            <a:ext cx="1800200" cy="1931383"/>
            <a:chOff x="179512" y="3933056"/>
            <a:chExt cx="1800200" cy="1931383"/>
          </a:xfrm>
        </p:grpSpPr>
        <p:grpSp>
          <p:nvGrpSpPr>
            <p:cNvPr id="12" name="组合 11"/>
            <p:cNvGrpSpPr/>
            <p:nvPr/>
          </p:nvGrpSpPr>
          <p:grpSpPr>
            <a:xfrm>
              <a:off x="756220" y="3933056"/>
              <a:ext cx="1223492" cy="1224136"/>
              <a:chOff x="684212" y="3933056"/>
              <a:chExt cx="1223492" cy="1224136"/>
            </a:xfrm>
          </p:grpSpPr>
          <p:sp>
            <p:nvSpPr>
              <p:cNvPr id="8" name="椭圆 7"/>
              <p:cNvSpPr/>
              <p:nvPr/>
            </p:nvSpPr>
            <p:spPr bwMode="auto">
              <a:xfrm>
                <a:off x="1403648" y="3933056"/>
                <a:ext cx="504056" cy="432048"/>
              </a:xfrm>
              <a:prstGeom prst="ellipse">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0" name="直接箭头连接符 9"/>
              <p:cNvCxnSpPr>
                <a:endCxn id="8" idx="3"/>
              </p:cNvCxnSpPr>
              <p:nvPr/>
            </p:nvCxnSpPr>
            <p:spPr bwMode="auto">
              <a:xfrm flipV="1">
                <a:off x="684212" y="4301832"/>
                <a:ext cx="793253" cy="855360"/>
              </a:xfrm>
              <a:prstGeom prst="straightConnector1">
                <a:avLst/>
              </a:prstGeom>
              <a:noFill/>
              <a:ln w="28575" cap="flat" cmpd="sng" algn="ctr">
                <a:solidFill>
                  <a:schemeClr val="accent1"/>
                </a:solidFill>
                <a:prstDash val="solid"/>
                <a:round/>
                <a:headEnd type="none" w="med" len="med"/>
                <a:tailEnd type="triangle" w="med" len="med"/>
              </a:ln>
              <a:effectLst/>
            </p:spPr>
          </p:cxnSp>
        </p:grpSp>
        <p:sp>
          <p:nvSpPr>
            <p:cNvPr id="13" name="文本框 12"/>
            <p:cNvSpPr txBox="1"/>
            <p:nvPr/>
          </p:nvSpPr>
          <p:spPr>
            <a:xfrm>
              <a:off x="179512" y="5301208"/>
              <a:ext cx="1152128" cy="563231"/>
            </a:xfrm>
            <a:prstGeom prst="rect">
              <a:avLst/>
            </a:prstGeom>
            <a:noFill/>
          </p:spPr>
          <p:txBody>
            <a:bodyPr wrap="square" rtlCol="0">
              <a:spAutoFit/>
            </a:bodyPr>
            <a:lstStyle/>
            <a:p>
              <a:pPr>
                <a:buNone/>
              </a:pPr>
              <a:r>
                <a:rPr lang="en-US" altLang="zh-CN" dirty="0" err="1"/>
                <a:t>Rt</a:t>
              </a:r>
              <a:r>
                <a:rPr lang="zh-CN" altLang="en-US" dirty="0"/>
                <a:t>是写寄存器编号</a:t>
              </a:r>
            </a:p>
          </p:txBody>
        </p:sp>
      </p:grpSp>
      <p:pic>
        <p:nvPicPr>
          <p:cNvPr id="16" name="图片 15"/>
          <p:cNvPicPr>
            <a:picLocks noChangeAspect="1"/>
          </p:cNvPicPr>
          <p:nvPr/>
        </p:nvPicPr>
        <p:blipFill>
          <a:blip r:embed="rId3"/>
          <a:stretch>
            <a:fillRect/>
          </a:stretch>
        </p:blipFill>
        <p:spPr>
          <a:xfrm>
            <a:off x="2135561" y="2708920"/>
            <a:ext cx="8012281" cy="4032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21615"/>
            <a:ext cx="8710930" cy="478790"/>
          </a:xfrm>
        </p:spPr>
        <p:txBody>
          <a:bodyPr wrap="square"/>
          <a:lstStyle/>
          <a:p>
            <a:r>
              <a:rPr lang="en-US" altLang="zh-CN" sz="3200" dirty="0"/>
              <a:t>3.1  </a:t>
            </a:r>
            <a:r>
              <a:rPr lang="zh-CN" altLang="en-US" sz="3200" dirty="0"/>
              <a:t>单周期数据通路设计</a:t>
            </a:r>
            <a:r>
              <a:rPr lang="en-US" altLang="zh-CN" sz="3200" dirty="0"/>
              <a:t>——SW</a:t>
            </a:r>
            <a:r>
              <a:rPr lang="zh-CN" altLang="en-US" sz="3200" dirty="0"/>
              <a:t>指令数据通路</a:t>
            </a:r>
          </a:p>
        </p:txBody>
      </p:sp>
      <p:sp>
        <p:nvSpPr>
          <p:cNvPr id="300035" name="Rectangle 3"/>
          <p:cNvSpPr>
            <a:spLocks noGrp="1" noChangeArrowheads="1"/>
          </p:cNvSpPr>
          <p:nvPr>
            <p:ph type="body" idx="1"/>
          </p:nvPr>
        </p:nvSpPr>
        <p:spPr>
          <a:xfrm>
            <a:off x="2207895" y="836930"/>
            <a:ext cx="9224010" cy="2050415"/>
          </a:xfrm>
        </p:spPr>
        <p:txBody>
          <a:bodyPr wrap="square"/>
          <a:lstStyle/>
          <a:p>
            <a:pPr marL="457200" indent="-457200">
              <a:lnSpc>
                <a:spcPct val="130000"/>
              </a:lnSpc>
              <a:spcAft>
                <a:spcPts val="0"/>
              </a:spcAft>
              <a:buFont typeface="+mj-lt"/>
              <a:buAutoNum type="arabicPeriod" startAt="4"/>
            </a:pPr>
            <a:r>
              <a:rPr lang="zh-CN" altLang="en-US" dirty="0">
                <a:ea typeface="宋体" panose="02010600030101010101" pitchFamily="2" charset="-122"/>
              </a:rPr>
              <a:t>存数指令（</a:t>
            </a:r>
            <a:r>
              <a:rPr lang="en-US" altLang="zh-CN" dirty="0" err="1">
                <a:ea typeface="宋体" panose="02010600030101010101" pitchFamily="2" charset="-122"/>
              </a:rPr>
              <a:t>sw</a:t>
            </a:r>
            <a:r>
              <a:rPr lang="zh-CN" altLang="en-US" dirty="0">
                <a:ea typeface="宋体" panose="02010600030101010101" pitchFamily="2" charset="-122"/>
              </a:rPr>
              <a:t>）数据通路</a:t>
            </a:r>
          </a:p>
          <a:p>
            <a:pPr lvl="1">
              <a:lnSpc>
                <a:spcPct val="130000"/>
              </a:lnSpc>
              <a:spcAft>
                <a:spcPts val="0"/>
              </a:spcAft>
            </a:pP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rs, imm16 </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sym typeface="Wingdings" panose="05000000000000000000" pitchFamily="2" charset="2"/>
              </a:rPr>
              <a:t>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  R[</a:t>
            </a:r>
            <a:r>
              <a:rPr lang="en-US" altLang="zh-CN" dirty="0" err="1">
                <a:ea typeface="宋体" panose="02010600030101010101" pitchFamily="2" charset="-122"/>
                <a:sym typeface="Wingdings" panose="05000000000000000000" pitchFamily="2" charset="2"/>
              </a:rPr>
              <a:t>rt</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3" cstate="print"/>
          <a:srcRect/>
          <a:stretch>
            <a:fillRect/>
          </a:stretch>
        </p:blipFill>
        <p:spPr bwMode="auto">
          <a:xfrm>
            <a:off x="6185210" y="1286793"/>
            <a:ext cx="4936159" cy="516200"/>
          </a:xfrm>
          <a:prstGeom prst="rect">
            <a:avLst/>
          </a:prstGeom>
          <a:noFill/>
          <a:ln w="9525">
            <a:noFill/>
            <a:miter lim="800000"/>
            <a:headEnd/>
            <a:tailEnd/>
          </a:ln>
        </p:spPr>
      </p:pic>
      <p:graphicFrame>
        <p:nvGraphicFramePr>
          <p:cNvPr id="6" name="表格 5"/>
          <p:cNvGraphicFramePr>
            <a:graphicFrameLocks noGrp="1"/>
          </p:cNvGraphicFramePr>
          <p:nvPr>
            <p:custDataLst>
              <p:tags r:id="rId1"/>
            </p:custDataLst>
          </p:nvPr>
        </p:nvGraphicFramePr>
        <p:xfrm>
          <a:off x="2086547" y="3212976"/>
          <a:ext cx="8208911" cy="2643316"/>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Signext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Sign-</a:t>
                      </a:r>
                    </a:p>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文本框 6"/>
          <p:cNvSpPr txBox="1"/>
          <p:nvPr/>
        </p:nvSpPr>
        <p:spPr>
          <a:xfrm>
            <a:off x="3291112" y="5981496"/>
            <a:ext cx="3672408" cy="327782"/>
          </a:xfrm>
          <a:prstGeom prst="rect">
            <a:avLst/>
          </a:prstGeom>
          <a:noFill/>
        </p:spPr>
        <p:txBody>
          <a:bodyPr wrap="square" rtlCol="0">
            <a:spAutoFit/>
          </a:bodyPr>
          <a:lstStyle/>
          <a:p>
            <a:pPr algn="r">
              <a:buNone/>
            </a:pPr>
            <a:r>
              <a:rPr lang="en-US" altLang="zh-CN" dirty="0" err="1">
                <a:solidFill>
                  <a:srgbClr val="FF0000"/>
                </a:solidFill>
              </a:rPr>
              <a:t>MemWrite</a:t>
            </a:r>
            <a:r>
              <a:rPr lang="zh-CN" altLang="en-US" dirty="0">
                <a:solidFill>
                  <a:srgbClr val="FF0000"/>
                </a:solidFill>
              </a:rPr>
              <a:t>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12725"/>
            <a:ext cx="8609330" cy="478790"/>
          </a:xfrm>
        </p:spPr>
        <p:txBody>
          <a:bodyPr wrap="square"/>
          <a:lstStyle/>
          <a:p>
            <a:r>
              <a:rPr lang="en-US" altLang="zh-CN" sz="3200" dirty="0"/>
              <a:t>3.1  </a:t>
            </a:r>
            <a:r>
              <a:rPr lang="zh-CN" altLang="en-US" sz="3200" dirty="0"/>
              <a:t>单周期数据通路设计</a:t>
            </a:r>
            <a:r>
              <a:rPr lang="en-US" altLang="zh-CN" sz="3200" dirty="0"/>
              <a:t>——SW</a:t>
            </a:r>
            <a:r>
              <a:rPr lang="zh-CN" altLang="en-US" sz="3200" dirty="0"/>
              <a:t>指令数据通路</a:t>
            </a:r>
          </a:p>
        </p:txBody>
      </p:sp>
      <p:sp>
        <p:nvSpPr>
          <p:cNvPr id="300035" name="Rectangle 3"/>
          <p:cNvSpPr>
            <a:spLocks noGrp="1" noChangeArrowheads="1"/>
          </p:cNvSpPr>
          <p:nvPr>
            <p:ph type="body" idx="1"/>
          </p:nvPr>
        </p:nvSpPr>
        <p:spPr>
          <a:xfrm>
            <a:off x="2207895" y="836930"/>
            <a:ext cx="8922385" cy="1803400"/>
          </a:xfrm>
        </p:spPr>
        <p:txBody>
          <a:bodyPr wrap="square"/>
          <a:lstStyle/>
          <a:p>
            <a:pPr marL="457200" indent="-457200">
              <a:lnSpc>
                <a:spcPct val="114000"/>
              </a:lnSpc>
              <a:spcAft>
                <a:spcPts val="0"/>
              </a:spcAft>
              <a:buFont typeface="+mj-lt"/>
              <a:buAutoNum type="arabicPeriod" startAt="4"/>
            </a:pPr>
            <a:r>
              <a:rPr lang="zh-CN" altLang="en-US" dirty="0">
                <a:ea typeface="宋体" panose="02010600030101010101" pitchFamily="2" charset="-122"/>
              </a:rPr>
              <a:t>存数指令（</a:t>
            </a:r>
            <a:r>
              <a:rPr lang="en-US" altLang="zh-CN" dirty="0" err="1">
                <a:ea typeface="宋体" panose="02010600030101010101" pitchFamily="2" charset="-122"/>
              </a:rPr>
              <a:t>sw</a:t>
            </a:r>
            <a:r>
              <a:rPr lang="zh-CN" altLang="en-US" dirty="0">
                <a:ea typeface="宋体" panose="02010600030101010101" pitchFamily="2" charset="-122"/>
              </a:rPr>
              <a:t>）数据通路</a:t>
            </a:r>
          </a:p>
          <a:p>
            <a:pPr lvl="1">
              <a:lnSpc>
                <a:spcPct val="114000"/>
              </a:lnSpc>
              <a:spcAft>
                <a:spcPts val="0"/>
              </a:spcAft>
            </a:pP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rs, imm16 </a:t>
            </a:r>
          </a:p>
          <a:p>
            <a:pPr lvl="1">
              <a:lnSpc>
                <a:spcPct val="114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14000"/>
              </a:lnSpc>
              <a:spcAft>
                <a:spcPts val="0"/>
              </a:spcAft>
            </a:pPr>
            <a:r>
              <a:rPr lang="en-US" altLang="zh-CN" dirty="0">
                <a:ea typeface="宋体" panose="02010600030101010101" pitchFamily="2" charset="-122"/>
                <a:sym typeface="Wingdings" panose="05000000000000000000" pitchFamily="2" charset="2"/>
              </a:rPr>
              <a:t>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  R[</a:t>
            </a:r>
            <a:r>
              <a:rPr lang="en-US" altLang="zh-CN" dirty="0" err="1">
                <a:ea typeface="宋体" panose="02010600030101010101" pitchFamily="2" charset="-122"/>
                <a:sym typeface="Wingdings" panose="05000000000000000000" pitchFamily="2" charset="2"/>
              </a:rPr>
              <a:t>rt</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14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3" cstate="print"/>
          <a:srcRect/>
          <a:stretch>
            <a:fillRect/>
          </a:stretch>
        </p:blipFill>
        <p:spPr bwMode="auto">
          <a:xfrm>
            <a:off x="5971556" y="1232437"/>
            <a:ext cx="4936159" cy="516200"/>
          </a:xfrm>
          <a:prstGeom prst="rect">
            <a:avLst/>
          </a:prstGeom>
          <a:noFill/>
          <a:ln w="9525">
            <a:noFill/>
            <a:miter lim="800000"/>
            <a:headEnd/>
            <a:tailEnd/>
          </a:ln>
        </p:spPr>
      </p:pic>
      <p:pic>
        <p:nvPicPr>
          <p:cNvPr id="3" name="图片 2"/>
          <p:cNvPicPr>
            <a:picLocks noChangeAspect="1"/>
          </p:cNvPicPr>
          <p:nvPr/>
        </p:nvPicPr>
        <p:blipFill>
          <a:blip r:embed="rId4"/>
          <a:stretch>
            <a:fillRect/>
          </a:stretch>
        </p:blipFill>
        <p:spPr>
          <a:xfrm>
            <a:off x="2151082" y="2817886"/>
            <a:ext cx="7905731" cy="37794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96215"/>
            <a:ext cx="1086866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型指令与访存指令通路合并</a:t>
            </a:r>
          </a:p>
        </p:txBody>
      </p:sp>
      <p:sp>
        <p:nvSpPr>
          <p:cNvPr id="300035" name="Rectangle 3"/>
          <p:cNvSpPr>
            <a:spLocks noGrp="1" noChangeArrowheads="1"/>
          </p:cNvSpPr>
          <p:nvPr>
            <p:ph type="body" idx="1"/>
          </p:nvPr>
        </p:nvSpPr>
        <p:spPr>
          <a:xfrm>
            <a:off x="2207568" y="858586"/>
            <a:ext cx="7848600" cy="474489"/>
          </a:xfrm>
        </p:spPr>
        <p:txBody>
          <a:bodyPr/>
          <a:lstStyle/>
          <a:p>
            <a:pPr marL="457200" indent="-457200">
              <a:spcAft>
                <a:spcPts val="0"/>
              </a:spcAft>
              <a:buFont typeface="+mj-lt"/>
              <a:buAutoNum type="arabicPeriod" startAt="5"/>
            </a:pPr>
            <a:r>
              <a:rPr lang="en-US" altLang="zh-CN" dirty="0">
                <a:ea typeface="宋体" panose="02010600030101010101" pitchFamily="2" charset="-122"/>
              </a:rPr>
              <a:t>R</a:t>
            </a:r>
            <a:r>
              <a:rPr lang="zh-CN" altLang="en-US" dirty="0">
                <a:ea typeface="宋体" panose="02010600030101010101" pitchFamily="2" charset="-122"/>
              </a:rPr>
              <a:t>型指令与访存指令数据通路合并：增加多路选择</a:t>
            </a:r>
            <a:r>
              <a:rPr lang="en-US" altLang="zh-CN" dirty="0">
                <a:ea typeface="宋体" panose="02010600030101010101" pitchFamily="2" charset="-122"/>
              </a:rPr>
              <a:t>Mux</a:t>
            </a:r>
            <a:endParaRPr lang="zh-CN" altLang="en-US" dirty="0">
              <a:ea typeface="宋体" panose="02010600030101010101" pitchFamily="2" charset="-122"/>
            </a:endParaRPr>
          </a:p>
        </p:txBody>
      </p:sp>
      <p:pic>
        <p:nvPicPr>
          <p:cNvPr id="6" name="Picture 1"/>
          <p:cNvPicPr>
            <a:picLocks noChangeAspect="1" noChangeArrowheads="1"/>
          </p:cNvPicPr>
          <p:nvPr/>
        </p:nvPicPr>
        <p:blipFill>
          <a:blip r:embed="rId3" cstate="print"/>
          <a:srcRect/>
          <a:stretch>
            <a:fillRect/>
          </a:stretch>
        </p:blipFill>
        <p:spPr bwMode="auto">
          <a:xfrm>
            <a:off x="2567608" y="1333413"/>
            <a:ext cx="5328592" cy="559984"/>
          </a:xfrm>
          <a:prstGeom prst="rect">
            <a:avLst/>
          </a:prstGeom>
          <a:noFill/>
          <a:ln w="9525">
            <a:noFill/>
            <a:miter lim="800000"/>
            <a:headEnd/>
            <a:tailEnd/>
          </a:ln>
        </p:spPr>
      </p:pic>
      <p:pic>
        <p:nvPicPr>
          <p:cNvPr id="7" name="Picture 1"/>
          <p:cNvPicPr>
            <a:picLocks noChangeAspect="1" noChangeArrowheads="1"/>
          </p:cNvPicPr>
          <p:nvPr/>
        </p:nvPicPr>
        <p:blipFill>
          <a:blip r:embed="rId4" cstate="print"/>
          <a:srcRect/>
          <a:stretch>
            <a:fillRect/>
          </a:stretch>
        </p:blipFill>
        <p:spPr bwMode="auto">
          <a:xfrm>
            <a:off x="2567608" y="1863650"/>
            <a:ext cx="5328592" cy="557238"/>
          </a:xfrm>
          <a:prstGeom prst="rect">
            <a:avLst/>
          </a:prstGeom>
          <a:noFill/>
          <a:ln w="9525">
            <a:noFill/>
            <a:miter lim="800000"/>
            <a:headEnd/>
            <a:tailEnd/>
          </a:ln>
        </p:spPr>
      </p:pic>
      <p:graphicFrame>
        <p:nvGraphicFramePr>
          <p:cNvPr id="8" name="表格 7"/>
          <p:cNvGraphicFramePr>
            <a:graphicFrameLocks noGrp="1"/>
          </p:cNvGraphicFramePr>
          <p:nvPr/>
        </p:nvGraphicFramePr>
        <p:xfrm>
          <a:off x="2207569" y="2708920"/>
          <a:ext cx="8208911" cy="3096344"/>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Signext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Sign-</a:t>
                      </a:r>
                    </a:p>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82774">
                <a:tc>
                  <a:txBody>
                    <a:bodyPr/>
                    <a:lstStyle/>
                    <a:p>
                      <a:pPr algn="ctr">
                        <a:spcAft>
                          <a:spcPts val="0"/>
                        </a:spcAft>
                      </a:pPr>
                      <a:r>
                        <a:rPr lang="zh-CN" alt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合并</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5"/>
                  </a:ext>
                </a:extLst>
              </a:tr>
            </a:tbl>
          </a:graphicData>
        </a:graphic>
      </p:graphicFrame>
      <p:sp>
        <p:nvSpPr>
          <p:cNvPr id="3" name="文本框 2"/>
          <p:cNvSpPr txBox="1"/>
          <p:nvPr/>
        </p:nvSpPr>
        <p:spPr>
          <a:xfrm>
            <a:off x="7896200" y="1301018"/>
            <a:ext cx="1800200" cy="327782"/>
          </a:xfrm>
          <a:prstGeom prst="rect">
            <a:avLst/>
          </a:prstGeom>
          <a:noFill/>
        </p:spPr>
        <p:txBody>
          <a:bodyPr wrap="square" rtlCol="0">
            <a:spAutoFit/>
          </a:bodyPr>
          <a:lstStyle/>
          <a:p>
            <a:pPr>
              <a:buNone/>
            </a:pPr>
            <a:r>
              <a:rPr lang="en-US" altLang="zh-CN" b="0" dirty="0">
                <a:solidFill>
                  <a:srgbClr val="0000CC"/>
                </a:solidFill>
              </a:rPr>
              <a:t>R</a:t>
            </a:r>
            <a:r>
              <a:rPr lang="zh-CN" altLang="en-US" b="0" dirty="0">
                <a:solidFill>
                  <a:srgbClr val="0000CC"/>
                </a:solidFill>
              </a:rPr>
              <a:t>型指令格式</a:t>
            </a:r>
          </a:p>
        </p:txBody>
      </p:sp>
      <p:sp>
        <p:nvSpPr>
          <p:cNvPr id="9" name="文本框 8"/>
          <p:cNvSpPr txBox="1"/>
          <p:nvPr/>
        </p:nvSpPr>
        <p:spPr>
          <a:xfrm>
            <a:off x="7929148" y="1978378"/>
            <a:ext cx="1983276" cy="327782"/>
          </a:xfrm>
          <a:prstGeom prst="rect">
            <a:avLst/>
          </a:prstGeom>
          <a:noFill/>
        </p:spPr>
        <p:txBody>
          <a:bodyPr wrap="square" rtlCol="0">
            <a:spAutoFit/>
          </a:bodyPr>
          <a:lstStyle/>
          <a:p>
            <a:pPr>
              <a:buNone/>
            </a:pPr>
            <a:r>
              <a:rPr lang="en-US" altLang="zh-CN" b="0" dirty="0">
                <a:solidFill>
                  <a:srgbClr val="0000CC"/>
                </a:solidFill>
              </a:rPr>
              <a:t>LW/SW</a:t>
            </a:r>
            <a:r>
              <a:rPr lang="zh-CN" altLang="en-US" b="0" dirty="0">
                <a:solidFill>
                  <a:srgbClr val="0000CC"/>
                </a:solidFill>
              </a:rPr>
              <a:t>指令格式</a:t>
            </a:r>
          </a:p>
        </p:txBody>
      </p:sp>
      <p:grpSp>
        <p:nvGrpSpPr>
          <p:cNvPr id="15" name="组合 14"/>
          <p:cNvGrpSpPr/>
          <p:nvPr/>
        </p:nvGrpSpPr>
        <p:grpSpPr>
          <a:xfrm>
            <a:off x="2855642" y="4876843"/>
            <a:ext cx="5760639" cy="1665111"/>
            <a:chOff x="1331641" y="4876842"/>
            <a:chExt cx="5760639" cy="1665111"/>
          </a:xfrm>
        </p:grpSpPr>
        <p:sp>
          <p:nvSpPr>
            <p:cNvPr id="4" name="椭圆 3"/>
            <p:cNvSpPr/>
            <p:nvPr/>
          </p:nvSpPr>
          <p:spPr bwMode="auto">
            <a:xfrm>
              <a:off x="4427984" y="5013176"/>
              <a:ext cx="1296144" cy="648072"/>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5" name="椭圆 4"/>
            <p:cNvSpPr/>
            <p:nvPr/>
          </p:nvSpPr>
          <p:spPr bwMode="auto">
            <a:xfrm>
              <a:off x="6228184" y="4876842"/>
              <a:ext cx="864096" cy="928421"/>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1" name="直接箭头连接符 10"/>
            <p:cNvCxnSpPr>
              <a:stCxn id="4" idx="4"/>
            </p:cNvCxnSpPr>
            <p:nvPr/>
          </p:nvCxnSpPr>
          <p:spPr bwMode="auto">
            <a:xfrm flipH="1">
              <a:off x="4572000" y="5661248"/>
              <a:ext cx="504056" cy="432048"/>
            </a:xfrm>
            <a:prstGeom prst="straightConnector1">
              <a:avLst/>
            </a:prstGeom>
            <a:noFill/>
            <a:ln w="28575" cap="flat" cmpd="sng" algn="ctr">
              <a:solidFill>
                <a:schemeClr val="accent1"/>
              </a:solidFill>
              <a:prstDash val="solid"/>
              <a:round/>
              <a:headEnd type="none" w="med" len="med"/>
              <a:tailEnd type="triangle"/>
            </a:ln>
            <a:effectLst/>
          </p:spPr>
        </p:cxnSp>
        <p:cxnSp>
          <p:nvCxnSpPr>
            <p:cNvPr id="14" name="直接箭头连接符 13"/>
            <p:cNvCxnSpPr>
              <a:endCxn id="13" idx="3"/>
            </p:cNvCxnSpPr>
            <p:nvPr/>
          </p:nvCxnSpPr>
          <p:spPr bwMode="auto">
            <a:xfrm flipH="1">
              <a:off x="4572001" y="5661248"/>
              <a:ext cx="1800202" cy="599090"/>
            </a:xfrm>
            <a:prstGeom prst="straightConnector1">
              <a:avLst/>
            </a:prstGeom>
            <a:noFill/>
            <a:ln w="28575" cap="flat" cmpd="sng" algn="ctr">
              <a:solidFill>
                <a:schemeClr val="accent1"/>
              </a:solidFill>
              <a:prstDash val="solid"/>
              <a:round/>
              <a:headEnd type="none" w="med" len="med"/>
              <a:tailEnd type="triangle"/>
            </a:ln>
            <a:effectLst/>
          </p:spPr>
        </p:cxnSp>
        <p:sp>
          <p:nvSpPr>
            <p:cNvPr id="13" name="文本框 12"/>
            <p:cNvSpPr txBox="1"/>
            <p:nvPr/>
          </p:nvSpPr>
          <p:spPr>
            <a:xfrm>
              <a:off x="1331641" y="5978722"/>
              <a:ext cx="3240360" cy="563231"/>
            </a:xfrm>
            <a:prstGeom prst="rect">
              <a:avLst/>
            </a:prstGeom>
            <a:solidFill>
              <a:srgbClr val="FFFF99"/>
            </a:solidFill>
            <a:ln>
              <a:solidFill>
                <a:srgbClr val="C00000"/>
              </a:solidFill>
            </a:ln>
          </p:spPr>
          <p:txBody>
            <a:bodyPr wrap="square" rtlCol="0">
              <a:spAutoFit/>
            </a:bodyPr>
            <a:lstStyle/>
            <a:p>
              <a:pPr>
                <a:buNone/>
              </a:pPr>
              <a:r>
                <a:rPr lang="zh-CN" altLang="en-US" dirty="0"/>
                <a:t>输入端数据源出现多个选择，需要加入多路选择器</a:t>
              </a:r>
              <a:r>
                <a:rPr lang="en-US" altLang="zh-CN" dirty="0"/>
                <a:t>MUX</a:t>
              </a:r>
              <a:endParaRPr lang="zh-CN" altLang="en-US" dirty="0"/>
            </a:p>
          </p:txBody>
        </p:sp>
      </p:grpSp>
      <p:sp>
        <p:nvSpPr>
          <p:cNvPr id="2" name="TextBox 1"/>
          <p:cNvSpPr txBox="1"/>
          <p:nvPr/>
        </p:nvSpPr>
        <p:spPr>
          <a:xfrm>
            <a:off x="7896200" y="2276872"/>
            <a:ext cx="2664296" cy="327782"/>
          </a:xfrm>
          <a:prstGeom prst="rect">
            <a:avLst/>
          </a:prstGeom>
          <a:noFill/>
        </p:spPr>
        <p:txBody>
          <a:bodyPr wrap="square" rtlCol="0">
            <a:spAutoFit/>
          </a:bodyPr>
          <a:lstStyle/>
          <a:p>
            <a:pPr marL="0" lvl="1">
              <a:buNone/>
            </a:pP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p:txBody>
      </p:sp>
      <p:sp>
        <p:nvSpPr>
          <p:cNvPr id="10" name="矩形 9"/>
          <p:cNvSpPr/>
          <p:nvPr/>
        </p:nvSpPr>
        <p:spPr>
          <a:xfrm>
            <a:off x="7929148" y="1546464"/>
            <a:ext cx="2487332" cy="461665"/>
          </a:xfrm>
          <a:prstGeom prst="rect">
            <a:avLst/>
          </a:prstGeom>
        </p:spPr>
        <p:txBody>
          <a:bodyPr wrap="square">
            <a:spAutoFit/>
          </a:bodyPr>
          <a:lstStyle/>
          <a:p>
            <a:pPr lvl="1" indent="-457200">
              <a:lnSpc>
                <a:spcPct val="120000"/>
              </a:lnSpc>
              <a:spcBef>
                <a:spcPts val="0"/>
              </a:spcBef>
              <a:spcAft>
                <a:spcPts val="0"/>
              </a:spcAft>
              <a:buNone/>
            </a:pPr>
            <a:r>
              <a:rPr lang="en-US" altLang="zh-CN" sz="2000" dirty="0"/>
              <a:t>add </a:t>
            </a:r>
            <a:r>
              <a:rPr lang="en-US" altLang="zh-CN" sz="2000" dirty="0" err="1"/>
              <a:t>rd</a:t>
            </a:r>
            <a:r>
              <a:rPr lang="en-US" altLang="zh-CN" sz="2000" dirty="0"/>
              <a:t>, </a:t>
            </a:r>
            <a:r>
              <a:rPr lang="en-US" altLang="zh-CN" sz="2000" dirty="0" err="1"/>
              <a:t>rs</a:t>
            </a:r>
            <a:r>
              <a:rPr lang="en-US" altLang="zh-CN" sz="2000" dirty="0"/>
              <a:t>, </a:t>
            </a:r>
            <a:r>
              <a:rPr lang="en-US" altLang="zh-CN" sz="2000" dirty="0" err="1"/>
              <a:t>rt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58586"/>
            <a:ext cx="7848600" cy="1824089"/>
          </a:xfrm>
        </p:spPr>
        <p:txBody>
          <a:bodyPr/>
          <a:lstStyle/>
          <a:p>
            <a:pPr marL="457200" indent="-457200">
              <a:lnSpc>
                <a:spcPct val="120000"/>
              </a:lnSpc>
              <a:spcAft>
                <a:spcPts val="0"/>
              </a:spcAft>
              <a:buFont typeface="+mj-lt"/>
              <a:buAutoNum type="arabicPeriod" startAt="5"/>
            </a:pPr>
            <a:r>
              <a:rPr lang="en-US" altLang="zh-CN" dirty="0">
                <a:ea typeface="宋体" panose="02010600030101010101" pitchFamily="2" charset="-122"/>
              </a:rPr>
              <a:t>R</a:t>
            </a:r>
            <a:r>
              <a:rPr lang="zh-CN" altLang="en-US" dirty="0">
                <a:ea typeface="宋体" panose="02010600030101010101" pitchFamily="2" charset="-122"/>
              </a:rPr>
              <a:t>型指令与访存指令数据通路合并</a:t>
            </a:r>
            <a:endParaRPr lang="en-US" altLang="zh-CN" dirty="0">
              <a:ea typeface="宋体" panose="02010600030101010101" pitchFamily="2" charset="-122"/>
            </a:endParaRPr>
          </a:p>
          <a:p>
            <a:pPr marL="841375" lvl="1" indent="-457200">
              <a:lnSpc>
                <a:spcPct val="120000"/>
              </a:lnSpc>
              <a:spcAft>
                <a:spcPts val="0"/>
              </a:spcAft>
            </a:pPr>
            <a:r>
              <a:rPr lang="zh-CN" altLang="en-US" dirty="0">
                <a:ea typeface="宋体" panose="02010600030101010101" pitchFamily="2" charset="-122"/>
              </a:rPr>
              <a:t>增加</a:t>
            </a:r>
            <a:r>
              <a:rPr lang="en-US" altLang="zh-CN" dirty="0">
                <a:ea typeface="宋体" panose="02010600030101010101" pitchFamily="2" charset="-122"/>
              </a:rPr>
              <a:t>3</a:t>
            </a:r>
            <a:r>
              <a:rPr lang="zh-CN" altLang="en-US" dirty="0">
                <a:ea typeface="宋体" panose="02010600030101010101" pitchFamily="2" charset="-122"/>
              </a:rPr>
              <a:t>个二选一多路选择器</a:t>
            </a:r>
            <a:r>
              <a:rPr lang="en-US" altLang="zh-CN" dirty="0">
                <a:ea typeface="宋体" panose="02010600030101010101" pitchFamily="2" charset="-122"/>
              </a:rPr>
              <a:t>MUX</a:t>
            </a:r>
          </a:p>
          <a:p>
            <a:pPr marL="1223645" lvl="2" indent="-457200">
              <a:lnSpc>
                <a:spcPct val="120000"/>
              </a:lnSpc>
              <a:spcAft>
                <a:spcPts val="0"/>
              </a:spcAft>
            </a:pPr>
            <a:r>
              <a:rPr lang="zh-CN" altLang="en-US" dirty="0">
                <a:ea typeface="宋体" panose="02010600030101010101" pitchFamily="2" charset="-122"/>
              </a:rPr>
              <a:t>寄存器堆写入端地址选择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rgbClr val="FF0000"/>
                </a:solidFill>
                <a:ea typeface="宋体" panose="02010600030101010101" pitchFamily="2" charset="-122"/>
              </a:rPr>
              <a:t>RegDst</a:t>
            </a:r>
            <a:endParaRPr lang="en-US" altLang="zh-CN" dirty="0">
              <a:solidFill>
                <a:srgbClr val="FF0000"/>
              </a:solidFill>
              <a:ea typeface="宋体" panose="02010600030101010101" pitchFamily="2" charset="-122"/>
            </a:endParaRPr>
          </a:p>
          <a:p>
            <a:pPr marL="1223645" lvl="2" indent="-457200">
              <a:lnSpc>
                <a:spcPct val="12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输入端</a:t>
            </a:r>
            <a:r>
              <a:rPr lang="en-US" altLang="zh-CN" dirty="0">
                <a:ea typeface="宋体" panose="02010600030101010101" pitchFamily="2" charset="-122"/>
              </a:rPr>
              <a:t>B</a:t>
            </a:r>
            <a:r>
              <a:rPr lang="zh-CN" altLang="en-US" dirty="0">
                <a:ea typeface="宋体" panose="02010600030101010101" pitchFamily="2" charset="-122"/>
              </a:rPr>
              <a:t>数据源选择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chemeClr val="accent1"/>
                </a:solidFill>
                <a:ea typeface="宋体" panose="02010600030101010101" pitchFamily="2" charset="-122"/>
              </a:rPr>
              <a:t>ALUSrc</a:t>
            </a:r>
            <a:endParaRPr lang="en-US" altLang="zh-CN" dirty="0">
              <a:solidFill>
                <a:schemeClr val="accent1"/>
              </a:solidFill>
              <a:ea typeface="宋体" panose="02010600030101010101" pitchFamily="2" charset="-122"/>
            </a:endParaRPr>
          </a:p>
          <a:p>
            <a:pPr marL="1223645" lvl="2" indent="-457200">
              <a:lnSpc>
                <a:spcPct val="120000"/>
              </a:lnSpc>
              <a:spcAft>
                <a:spcPts val="0"/>
              </a:spcAft>
            </a:pPr>
            <a:r>
              <a:rPr lang="zh-CN" altLang="en-US" dirty="0">
                <a:ea typeface="宋体" panose="02010600030101010101" pitchFamily="2" charset="-122"/>
              </a:rPr>
              <a:t>寄存器堆写入端数据源选择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chemeClr val="accent1"/>
                </a:solidFill>
                <a:ea typeface="宋体" panose="02010600030101010101" pitchFamily="2" charset="-122"/>
              </a:rPr>
              <a:t>MemtoReg</a:t>
            </a:r>
            <a:endParaRPr lang="zh-CN" altLang="en-US" dirty="0">
              <a:solidFill>
                <a:schemeClr val="accent1"/>
              </a:solidFill>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1703512" y="2806740"/>
            <a:ext cx="8688134" cy="3862620"/>
          </a:xfrm>
          <a:prstGeom prst="rect">
            <a:avLst/>
          </a:prstGeom>
        </p:spPr>
      </p:pic>
      <p:sp>
        <p:nvSpPr>
          <p:cNvPr id="3" name="Rectangle 2"/>
          <p:cNvSpPr>
            <a:spLocks noGrp="1" noChangeArrowheads="1"/>
          </p:cNvSpPr>
          <p:nvPr>
            <p:ph type="title"/>
          </p:nvPr>
        </p:nvSpPr>
        <p:spPr>
          <a:xfrm>
            <a:off x="0" y="196215"/>
            <a:ext cx="1086866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型指令与访存指令通路合并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33148"/>
            <a:ext cx="8136904" cy="2710486"/>
          </a:xfrm>
        </p:spPr>
        <p:txBody>
          <a:bodyPr/>
          <a:lstStyle/>
          <a:p>
            <a:pPr marL="457200" indent="-457200">
              <a:lnSpc>
                <a:spcPct val="120000"/>
              </a:lnSpc>
              <a:spcAft>
                <a:spcPts val="0"/>
              </a:spcAft>
              <a:buFont typeface="+mj-lt"/>
              <a:buAutoNum type="arabicPeriod" startAt="6"/>
            </a:pPr>
            <a:r>
              <a:rPr lang="zh-CN" altLang="en-US" dirty="0">
                <a:ea typeface="宋体" panose="02010600030101010101" pitchFamily="2" charset="-122"/>
              </a:rPr>
              <a:t>分支指令数据通路</a:t>
            </a:r>
          </a:p>
          <a:p>
            <a:pPr lvl="1">
              <a:lnSpc>
                <a:spcPct val="12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beq</a:t>
            </a:r>
            <a:r>
              <a:rPr lang="en-US" altLang="zh-CN" dirty="0">
                <a:latin typeface="Times New Roman" panose="02020603050405020304" pitchFamily="18" charset="0"/>
                <a:ea typeface="宋体" panose="02010600030101010101" pitchFamily="2" charset="-122"/>
                <a:cs typeface="Times New Roman" panose="02020603050405020304" pitchFamily="18" charset="0"/>
              </a:rPr>
              <a:t>  rs,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imm16</a:t>
            </a:r>
            <a:endParaRPr lang="en-US" altLang="zh-CN" dirty="0">
              <a:ea typeface="宋体" panose="02010600030101010101" pitchFamily="2" charset="-122"/>
            </a:endParaRPr>
          </a:p>
          <a:p>
            <a:pPr lvl="1">
              <a:lnSpc>
                <a:spcPct val="12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功能描述：</a:t>
            </a:r>
            <a:endPar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endParaRPr>
          </a:p>
          <a:p>
            <a:pPr lvl="2">
              <a:lnSpc>
                <a:spcPct val="120000"/>
              </a:lnSpc>
              <a:spcAft>
                <a:spcPts val="0"/>
              </a:spcAft>
            </a:pPr>
            <a:r>
              <a:rPr lang="en-US" altLang="zh-CN" sz="2000" dirty="0">
                <a:latin typeface="Times New Roman" panose="02020603050405020304" pitchFamily="18" charset="0"/>
                <a:cs typeface="Times New Roman" panose="02020603050405020304" pitchFamily="18" charset="0"/>
              </a:rPr>
              <a:t>If </a:t>
            </a:r>
            <a:r>
              <a:rPr lang="en-US" altLang="zh-CN" sz="2000" dirty="0">
                <a:solidFill>
                  <a:schemeClr val="accent2"/>
                </a:solidFill>
                <a:latin typeface="Times New Roman" panose="02020603050405020304" pitchFamily="18" charset="0"/>
                <a:cs typeface="Times New Roman" panose="02020603050405020304" pitchFamily="18" charset="0"/>
              </a:rPr>
              <a:t>( R[</a:t>
            </a:r>
            <a:r>
              <a:rPr lang="en-US" altLang="zh-CN" sz="2000" dirty="0" err="1">
                <a:solidFill>
                  <a:schemeClr val="accent2"/>
                </a:solidFill>
                <a:latin typeface="Times New Roman" panose="02020603050405020304" pitchFamily="18" charset="0"/>
                <a:cs typeface="Times New Roman" panose="02020603050405020304" pitchFamily="18" charset="0"/>
              </a:rPr>
              <a:t>rs</a:t>
            </a:r>
            <a:r>
              <a:rPr lang="en-US" altLang="zh-CN" sz="2000" dirty="0">
                <a:solidFill>
                  <a:schemeClr val="accent2"/>
                </a:solidFill>
                <a:latin typeface="Times New Roman" panose="02020603050405020304" pitchFamily="18" charset="0"/>
                <a:cs typeface="Times New Roman" panose="02020603050405020304" pitchFamily="18" charset="0"/>
              </a:rPr>
              <a:t>] – R[</a:t>
            </a:r>
            <a:r>
              <a:rPr lang="en-US" altLang="zh-CN" sz="2000" dirty="0" err="1">
                <a:solidFill>
                  <a:schemeClr val="accent2"/>
                </a:solidFill>
                <a:latin typeface="Times New Roman" panose="02020603050405020304" pitchFamily="18" charset="0"/>
                <a:cs typeface="Times New Roman" panose="02020603050405020304" pitchFamily="18" charset="0"/>
              </a:rPr>
              <a:t>rt</a:t>
            </a:r>
            <a:r>
              <a:rPr lang="en-US" altLang="zh-CN" sz="2000" dirty="0">
                <a:solidFill>
                  <a:schemeClr val="accent2"/>
                </a:solidFill>
                <a:latin typeface="Times New Roman" panose="02020603050405020304" pitchFamily="18" charset="0"/>
                <a:cs typeface="Times New Roman" panose="02020603050405020304" pitchFamily="18" charset="0"/>
              </a:rPr>
              <a:t>] =0</a:t>
            </a:r>
            <a:r>
              <a:rPr lang="en-US" altLang="zh-CN" sz="2000" dirty="0">
                <a:latin typeface="Times New Roman" panose="02020603050405020304" pitchFamily="18" charset="0"/>
                <a:cs typeface="Times New Roman" panose="02020603050405020304" pitchFamily="18" charset="0"/>
              </a:rPr>
              <a:t>) then </a:t>
            </a:r>
            <a:r>
              <a:rPr lang="en-US" altLang="zh-CN" sz="2000" dirty="0">
                <a:solidFill>
                  <a:schemeClr val="accent2"/>
                </a:solidFill>
                <a:latin typeface="Times New Roman" panose="02020603050405020304" pitchFamily="18" charset="0"/>
                <a:cs typeface="Times New Roman" panose="02020603050405020304" pitchFamily="18" charset="0"/>
              </a:rPr>
              <a:t>PC </a:t>
            </a:r>
            <a:r>
              <a:rPr lang="en-US" altLang="zh-CN" sz="2000" dirty="0">
                <a:solidFill>
                  <a:schemeClr val="accent2"/>
                </a:solidFill>
                <a:latin typeface="Times New Roman" panose="02020603050405020304" pitchFamily="18" charset="0"/>
                <a:cs typeface="Times New Roman" panose="02020603050405020304" pitchFamily="18" charset="0"/>
                <a:sym typeface="Wingdings" panose="05000000000000000000"/>
              </a:rPr>
              <a:t></a:t>
            </a:r>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rPr>
              <a:t>(PC + 4)</a:t>
            </a:r>
            <a:r>
              <a:rPr lang="en-US" altLang="zh-CN" sz="2000" dirty="0">
                <a:latin typeface="Times New Roman" panose="02020603050405020304" pitchFamily="18" charset="0"/>
                <a:cs typeface="Times New Roman" panose="02020603050405020304" pitchFamily="18" charset="0"/>
              </a:rPr>
              <a:t> </a:t>
            </a:r>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err="1">
                <a:solidFill>
                  <a:schemeClr val="accent2"/>
                </a:solidFill>
                <a:latin typeface="Times New Roman" panose="02020603050405020304" pitchFamily="18" charset="0"/>
                <a:cs typeface="Times New Roman" panose="02020603050405020304" pitchFamily="18" charset="0"/>
              </a:rPr>
              <a:t>Signext</a:t>
            </a:r>
            <a:r>
              <a:rPr lang="en-US" altLang="zh-CN" sz="2000" dirty="0">
                <a:solidFill>
                  <a:schemeClr val="accent2"/>
                </a:solidFill>
                <a:latin typeface="Times New Roman" panose="02020603050405020304" pitchFamily="18" charset="0"/>
                <a:cs typeface="Times New Roman" panose="02020603050405020304" pitchFamily="18" charset="0"/>
              </a:rPr>
              <a:t>(imm16)&lt;&lt;2</a:t>
            </a:r>
          </a:p>
          <a:p>
            <a:pPr marL="858520" lvl="2" indent="0">
              <a:lnSpc>
                <a:spcPct val="120000"/>
              </a:lnSpc>
              <a:spcAft>
                <a:spcPts val="0"/>
              </a:spcAft>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else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PC + 4</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通路部件：寄存器堆，</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增加一加法器</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Nadd</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，符号扩展</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Signext</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，移位器</a:t>
            </a:r>
          </a:p>
        </p:txBody>
      </p:sp>
      <p:pic>
        <p:nvPicPr>
          <p:cNvPr id="5" name="Picture 1"/>
          <p:cNvPicPr>
            <a:picLocks noChangeAspect="1" noChangeArrowheads="1"/>
          </p:cNvPicPr>
          <p:nvPr/>
        </p:nvPicPr>
        <p:blipFill>
          <a:blip r:embed="rId3" cstate="print"/>
          <a:srcRect/>
          <a:stretch>
            <a:fillRect/>
          </a:stretch>
        </p:blipFill>
        <p:spPr bwMode="auto">
          <a:xfrm>
            <a:off x="5267400" y="1338998"/>
            <a:ext cx="5077072" cy="577835"/>
          </a:xfrm>
          <a:prstGeom prst="rect">
            <a:avLst/>
          </a:prstGeom>
          <a:noFill/>
          <a:ln w="9525">
            <a:noFill/>
            <a:miter lim="800000"/>
            <a:headEnd/>
            <a:tailEnd/>
          </a:ln>
        </p:spPr>
      </p:pic>
      <p:graphicFrame>
        <p:nvGraphicFramePr>
          <p:cNvPr id="6" name="表格 5"/>
          <p:cNvGraphicFramePr>
            <a:graphicFrameLocks noGrp="1"/>
          </p:cNvGraphicFramePr>
          <p:nvPr/>
        </p:nvGraphicFramePr>
        <p:xfrm>
          <a:off x="1559497" y="3645026"/>
          <a:ext cx="9108503" cy="2533991"/>
        </p:xfrm>
        <a:graphic>
          <a:graphicData uri="http://schemas.openxmlformats.org/drawingml/2006/table">
            <a:tbl>
              <a:tblPr/>
              <a:tblGrid>
                <a:gridCol w="609187">
                  <a:extLst>
                    <a:ext uri="{9D8B030D-6E8A-4147-A177-3AD203B41FA5}">
                      <a16:colId xmlns:a16="http://schemas.microsoft.com/office/drawing/2014/main" val="20000"/>
                    </a:ext>
                  </a:extLst>
                </a:gridCol>
                <a:gridCol w="430371">
                  <a:extLst>
                    <a:ext uri="{9D8B030D-6E8A-4147-A177-3AD203B41FA5}">
                      <a16:colId xmlns:a16="http://schemas.microsoft.com/office/drawing/2014/main" val="20001"/>
                    </a:ext>
                  </a:extLst>
                </a:gridCol>
                <a:gridCol w="358642">
                  <a:extLst>
                    <a:ext uri="{9D8B030D-6E8A-4147-A177-3AD203B41FA5}">
                      <a16:colId xmlns:a16="http://schemas.microsoft.com/office/drawing/2014/main" val="20002"/>
                    </a:ext>
                  </a:extLst>
                </a:gridCol>
                <a:gridCol w="634091">
                  <a:extLst>
                    <a:ext uri="{9D8B030D-6E8A-4147-A177-3AD203B41FA5}">
                      <a16:colId xmlns:a16="http://schemas.microsoft.com/office/drawing/2014/main" val="20003"/>
                    </a:ext>
                  </a:extLst>
                </a:gridCol>
                <a:gridCol w="441836">
                  <a:extLst>
                    <a:ext uri="{9D8B030D-6E8A-4147-A177-3AD203B41FA5}">
                      <a16:colId xmlns:a16="http://schemas.microsoft.com/office/drawing/2014/main" val="20004"/>
                    </a:ext>
                  </a:extLst>
                </a:gridCol>
                <a:gridCol w="573827">
                  <a:extLst>
                    <a:ext uri="{9D8B030D-6E8A-4147-A177-3AD203B41FA5}">
                      <a16:colId xmlns:a16="http://schemas.microsoft.com/office/drawing/2014/main" val="20005"/>
                    </a:ext>
                  </a:extLst>
                </a:gridCol>
                <a:gridCol w="502099">
                  <a:extLst>
                    <a:ext uri="{9D8B030D-6E8A-4147-A177-3AD203B41FA5}">
                      <a16:colId xmlns:a16="http://schemas.microsoft.com/office/drawing/2014/main" val="20006"/>
                    </a:ext>
                  </a:extLst>
                </a:gridCol>
                <a:gridCol w="645556">
                  <a:extLst>
                    <a:ext uri="{9D8B030D-6E8A-4147-A177-3AD203B41FA5}">
                      <a16:colId xmlns:a16="http://schemas.microsoft.com/office/drawing/2014/main" val="20007"/>
                    </a:ext>
                  </a:extLst>
                </a:gridCol>
                <a:gridCol w="645556">
                  <a:extLst>
                    <a:ext uri="{9D8B030D-6E8A-4147-A177-3AD203B41FA5}">
                      <a16:colId xmlns:a16="http://schemas.microsoft.com/office/drawing/2014/main" val="20008"/>
                    </a:ext>
                  </a:extLst>
                </a:gridCol>
                <a:gridCol w="717284">
                  <a:extLst>
                    <a:ext uri="{9D8B030D-6E8A-4147-A177-3AD203B41FA5}">
                      <a16:colId xmlns:a16="http://schemas.microsoft.com/office/drawing/2014/main" val="20009"/>
                    </a:ext>
                  </a:extLst>
                </a:gridCol>
                <a:gridCol w="645556">
                  <a:extLst>
                    <a:ext uri="{9D8B030D-6E8A-4147-A177-3AD203B41FA5}">
                      <a16:colId xmlns:a16="http://schemas.microsoft.com/office/drawing/2014/main" val="20010"/>
                    </a:ext>
                  </a:extLst>
                </a:gridCol>
                <a:gridCol w="420731">
                  <a:extLst>
                    <a:ext uri="{9D8B030D-6E8A-4147-A177-3AD203B41FA5}">
                      <a16:colId xmlns:a16="http://schemas.microsoft.com/office/drawing/2014/main" val="20011"/>
                    </a:ext>
                  </a:extLst>
                </a:gridCol>
                <a:gridCol w="432048">
                  <a:extLst>
                    <a:ext uri="{9D8B030D-6E8A-4147-A177-3AD203B41FA5}">
                      <a16:colId xmlns:a16="http://schemas.microsoft.com/office/drawing/2014/main" val="20012"/>
                    </a:ext>
                  </a:extLst>
                </a:gridCol>
                <a:gridCol w="648072">
                  <a:extLst>
                    <a:ext uri="{9D8B030D-6E8A-4147-A177-3AD203B41FA5}">
                      <a16:colId xmlns:a16="http://schemas.microsoft.com/office/drawing/2014/main" val="20013"/>
                    </a:ext>
                  </a:extLst>
                </a:gridCol>
                <a:gridCol w="504056">
                  <a:extLst>
                    <a:ext uri="{9D8B030D-6E8A-4147-A177-3AD203B41FA5}">
                      <a16:colId xmlns:a16="http://schemas.microsoft.com/office/drawing/2014/main" val="20014"/>
                    </a:ext>
                  </a:extLst>
                </a:gridCol>
                <a:gridCol w="379813">
                  <a:extLst>
                    <a:ext uri="{9D8B030D-6E8A-4147-A177-3AD203B41FA5}">
                      <a16:colId xmlns:a16="http://schemas.microsoft.com/office/drawing/2014/main" val="20015"/>
                    </a:ext>
                  </a:extLst>
                </a:gridCol>
                <a:gridCol w="519778">
                  <a:extLst>
                    <a:ext uri="{9D8B030D-6E8A-4147-A177-3AD203B41FA5}">
                      <a16:colId xmlns:a16="http://schemas.microsoft.com/office/drawing/2014/main" val="20016"/>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shift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en-US" altLang="zh-CN" sz="1600" b="1" kern="100" dirty="0">
                          <a:solidFill>
                            <a:schemeClr val="tx1"/>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chemeClr val="tx1"/>
                          </a:solidFill>
                          <a:latin typeface="Arial Narrow" panose="020B0606020202030204" pitchFamily="34" charset="0"/>
                          <a:ea typeface="宋体" panose="02010600030101010101" pitchFamily="2" charset="-122"/>
                          <a:cs typeface="Times New Roman" panose="02020603050405020304"/>
                        </a:rPr>
                        <a:t>型与</a:t>
                      </a:r>
                      <a:endParaRPr lang="en-US" altLang="zh-CN" sz="1600" b="1" kern="100" dirty="0">
                        <a:solidFill>
                          <a:schemeClr val="tx1"/>
                        </a:solidFill>
                        <a:latin typeface="Arial Narrow" panose="020B0606020202030204" pitchFamily="34" charset="0"/>
                        <a:ea typeface="宋体" panose="02010600030101010101" pitchFamily="2" charset="-122"/>
                        <a:cs typeface="Times New Roman" panose="02020603050405020304"/>
                      </a:endParaRPr>
                    </a:p>
                    <a:p>
                      <a:pPr algn="ctr">
                        <a:spcAft>
                          <a:spcPts val="0"/>
                        </a:spcAft>
                      </a:pPr>
                      <a:r>
                        <a:rPr lang="zh-CN" altLang="en-US" sz="1600" b="1" kern="100" dirty="0">
                          <a:solidFill>
                            <a:schemeClr val="tx1"/>
                          </a:solidFill>
                          <a:latin typeface="Arial Narrow" panose="020B0606020202030204" pitchFamily="34" charset="0"/>
                          <a:ea typeface="宋体" panose="02010600030101010101" pitchFamily="2" charset="-122"/>
                          <a:cs typeface="Times New Roman" panose="02020603050405020304"/>
                        </a:rPr>
                        <a:t>访存</a:t>
                      </a:r>
                      <a:endParaRPr lang="en-US" sz="1600" b="1"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chemeClr val="tx1"/>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b="1"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200" b="1"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4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endParaRPr lang="en-US" sz="14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200" b="1" kern="100" dirty="0" err="1">
                          <a:solidFill>
                            <a:srgbClr val="0000CC"/>
                          </a:solidFill>
                          <a:latin typeface="Arial Narrow" panose="020B0606020202030204" pitchFamily="34" charset="0"/>
                          <a:ea typeface="宋体" panose="02010600030101010101" pitchFamily="2" charset="-122"/>
                          <a:cs typeface="Times New Roman" panose="02020603050405020304"/>
                        </a:rPr>
                        <a:t>signext</a:t>
                      </a:r>
                      <a:endParaRPr lang="en-US" sz="12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478">
                <a:tc>
                  <a:txBody>
                    <a:bodyPr/>
                    <a:lstStyle/>
                    <a:p>
                      <a:pPr algn="ctr">
                        <a:spcAft>
                          <a:spcPts val="0"/>
                        </a:spcAft>
                      </a:pP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9" name="组合 8"/>
          <p:cNvGrpSpPr/>
          <p:nvPr/>
        </p:nvGrpSpPr>
        <p:grpSpPr>
          <a:xfrm>
            <a:off x="2855641" y="5157192"/>
            <a:ext cx="8568952" cy="1584176"/>
            <a:chOff x="1331640" y="5157191"/>
            <a:chExt cx="8568952" cy="1584176"/>
          </a:xfrm>
        </p:grpSpPr>
        <p:sp>
          <p:nvSpPr>
            <p:cNvPr id="2" name="椭圆 1"/>
            <p:cNvSpPr/>
            <p:nvPr/>
          </p:nvSpPr>
          <p:spPr bwMode="auto">
            <a:xfrm>
              <a:off x="1331640" y="5157191"/>
              <a:ext cx="792088" cy="720080"/>
            </a:xfrm>
            <a:prstGeom prst="ellipse">
              <a:avLst/>
            </a:prstGeom>
            <a:solidFill>
              <a:srgbClr val="FFFF99">
                <a:alpha val="32000"/>
              </a:srgbClr>
            </a:solidFill>
            <a:ln w="28575" cap="flat" cmpd="sng" algn="ctr">
              <a:solidFill>
                <a:srgbClr val="FF0000"/>
              </a:solidFill>
              <a:prstDash val="solid"/>
              <a:round/>
              <a:headEnd type="none" w="med" len="med"/>
              <a:tailEnd type="none" w="med" len="med"/>
            </a:ln>
            <a:effectLst/>
          </p:spPr>
          <p:txBody>
            <a:bodyPr rot="0" spcFirstLastPara="0" vertOverflow="overflow" horzOverflow="overflow" vert="horz" wrap="square" lIns="63500" tIns="25400" rIns="63500" bIns="25400" numCol="1" spcCol="0" rtlCol="0" fromWordArt="0" anchor="t" anchorCtr="0" forceAA="0" compatLnSpc="1">
              <a:noAutofit/>
            </a:bodyPr>
            <a:lstStyle/>
            <a:p>
              <a:pPr marL="668655" indent="-193675"/>
              <a:endParaRPr lang="zh-CN" altLang="en-US"/>
            </a:p>
          </p:txBody>
        </p:sp>
        <p:cxnSp>
          <p:nvCxnSpPr>
            <p:cNvPr id="4" name="直接箭头连接符 3"/>
            <p:cNvCxnSpPr/>
            <p:nvPr/>
          </p:nvCxnSpPr>
          <p:spPr bwMode="auto">
            <a:xfrm>
              <a:off x="2051719" y="5661247"/>
              <a:ext cx="1368152" cy="720080"/>
            </a:xfrm>
            <a:prstGeom prst="straightConnector1">
              <a:avLst/>
            </a:prstGeom>
            <a:noFill/>
            <a:ln w="19050" cap="flat" cmpd="sng" algn="ctr">
              <a:solidFill>
                <a:srgbClr val="FF0000"/>
              </a:solidFill>
              <a:prstDash val="solid"/>
              <a:round/>
              <a:headEnd type="none" w="med" len="med"/>
              <a:tailEnd type="triangle"/>
            </a:ln>
            <a:effectLst/>
          </p:spPr>
        </p:cxnSp>
        <p:sp>
          <p:nvSpPr>
            <p:cNvPr id="7" name="文本框 6"/>
            <p:cNvSpPr txBox="1"/>
            <p:nvPr/>
          </p:nvSpPr>
          <p:spPr>
            <a:xfrm>
              <a:off x="2411760" y="6413585"/>
              <a:ext cx="7488832" cy="327782"/>
            </a:xfrm>
            <a:prstGeom prst="rect">
              <a:avLst/>
            </a:prstGeom>
            <a:noFill/>
          </p:spPr>
          <p:txBody>
            <a:bodyPr wrap="square" rtlCol="0">
              <a:spAutoFit/>
            </a:bodyPr>
            <a:lstStyle/>
            <a:p>
              <a:pPr>
                <a:buNone/>
              </a:pPr>
              <a:r>
                <a:rPr lang="zh-CN" altLang="en-US" dirty="0"/>
                <a:t>需要一个</a:t>
              </a:r>
              <a:r>
                <a:rPr lang="en-US" altLang="zh-CN" dirty="0"/>
                <a:t>MUX</a:t>
              </a:r>
              <a:r>
                <a:rPr lang="zh-CN" altLang="en-US" dirty="0"/>
                <a:t>，</a:t>
              </a:r>
              <a:r>
                <a:rPr lang="en-US" altLang="zh-CN" dirty="0"/>
                <a:t>ALU</a:t>
              </a:r>
              <a:r>
                <a:rPr lang="zh-CN" altLang="en-US" dirty="0"/>
                <a:t>的判零输出端</a:t>
              </a:r>
              <a:r>
                <a:rPr lang="en-US" altLang="zh-CN" dirty="0"/>
                <a:t>Zero</a:t>
              </a:r>
              <a:r>
                <a:rPr lang="zh-CN" altLang="en-US" dirty="0"/>
                <a:t>可直接作为该</a:t>
              </a:r>
              <a:r>
                <a:rPr lang="en-US" altLang="zh-CN" dirty="0"/>
                <a:t>MUX</a:t>
              </a:r>
              <a:r>
                <a:rPr lang="zh-CN" altLang="en-US" dirty="0"/>
                <a:t>的选择控制</a:t>
              </a:r>
            </a:p>
          </p:txBody>
        </p:sp>
      </p:grpSp>
      <p:sp>
        <p:nvSpPr>
          <p:cNvPr id="12" name="Rectangle 2"/>
          <p:cNvSpPr>
            <a:spLocks noGrp="1" noChangeArrowheads="1"/>
          </p:cNvSpPr>
          <p:nvPr>
            <p:ph type="title"/>
          </p:nvPr>
        </p:nvSpPr>
        <p:spPr>
          <a:xfrm>
            <a:off x="0" y="186690"/>
            <a:ext cx="8829040" cy="478790"/>
          </a:xfrm>
        </p:spPr>
        <p:txBody>
          <a:bodyPr wrap="square"/>
          <a:lstStyle/>
          <a:p>
            <a:r>
              <a:rPr lang="en-US" altLang="zh-CN" sz="3200" dirty="0"/>
              <a:t>3.1  MIPS</a:t>
            </a:r>
            <a:r>
              <a:rPr lang="zh-CN" altLang="en-US" sz="3200" dirty="0"/>
              <a:t>的数据通路设计</a:t>
            </a:r>
            <a:r>
              <a:rPr lang="en-US" altLang="zh-CN" sz="3200" dirty="0"/>
              <a:t>——</a:t>
            </a:r>
            <a:r>
              <a:rPr lang="en-US" altLang="zh-CN" sz="3200" dirty="0" err="1"/>
              <a:t>Beq</a:t>
            </a:r>
            <a:r>
              <a:rPr lang="zh-CN" altLang="en-US" sz="3200" dirty="0"/>
              <a:t>指令数据通路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86690"/>
            <a:ext cx="8829040" cy="478790"/>
          </a:xfrm>
        </p:spPr>
        <p:txBody>
          <a:bodyPr wrap="square"/>
          <a:lstStyle/>
          <a:p>
            <a:r>
              <a:rPr lang="en-US" altLang="zh-CN" sz="3200" dirty="0"/>
              <a:t>3.1  MIPS</a:t>
            </a:r>
            <a:r>
              <a:rPr lang="zh-CN" altLang="en-US" sz="3200" dirty="0"/>
              <a:t>的数据通路设计</a:t>
            </a:r>
            <a:r>
              <a:rPr lang="en-US" altLang="zh-CN" sz="3200" dirty="0"/>
              <a:t>——</a:t>
            </a:r>
            <a:r>
              <a:rPr lang="en-US" altLang="zh-CN" sz="3200" dirty="0" err="1"/>
              <a:t>Beq</a:t>
            </a:r>
            <a:r>
              <a:rPr lang="zh-CN" altLang="en-US" sz="3200" dirty="0"/>
              <a:t>指令数据通路</a:t>
            </a:r>
          </a:p>
        </p:txBody>
      </p:sp>
      <p:sp>
        <p:nvSpPr>
          <p:cNvPr id="300035" name="Rectangle 3"/>
          <p:cNvSpPr>
            <a:spLocks noGrp="1" noChangeArrowheads="1"/>
          </p:cNvSpPr>
          <p:nvPr>
            <p:ph type="body" idx="1"/>
          </p:nvPr>
        </p:nvSpPr>
        <p:spPr>
          <a:xfrm>
            <a:off x="2207568" y="833148"/>
            <a:ext cx="8136904" cy="1473224"/>
          </a:xfrm>
        </p:spPr>
        <p:txBody>
          <a:bodyPr/>
          <a:lstStyle/>
          <a:p>
            <a:pPr marL="457200" indent="-457200">
              <a:lnSpc>
                <a:spcPct val="110000"/>
              </a:lnSpc>
              <a:spcAft>
                <a:spcPts val="0"/>
              </a:spcAft>
              <a:buFont typeface="+mj-lt"/>
              <a:buAutoNum type="arabicPeriod" startAt="6"/>
            </a:pPr>
            <a:r>
              <a:rPr lang="zh-CN" altLang="en-US" dirty="0">
                <a:ea typeface="宋体" panose="02010600030101010101" pitchFamily="2" charset="-122"/>
              </a:rPr>
              <a:t>分支指令数据通路</a:t>
            </a:r>
          </a:p>
          <a:p>
            <a:pPr lvl="1">
              <a:lnSpc>
                <a:spcPct val="11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beq</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imm16</a:t>
            </a:r>
            <a:endParaRPr lang="en-US" altLang="zh-CN" dirty="0">
              <a:ea typeface="宋体" panose="02010600030101010101" pitchFamily="2" charset="-122"/>
            </a:endParaRPr>
          </a:p>
          <a:p>
            <a:pPr lvl="1">
              <a:lnSpc>
                <a:spcPct val="11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通路部件：寄存器堆，</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Adder</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，符号扩展</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Signext</a:t>
            </a:r>
            <a:r>
              <a:rPr lang="zh-CN" altLang="en-US">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，增加一移位器</a:t>
            </a:r>
            <a:endPar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2999656" y="2306372"/>
            <a:ext cx="6408713" cy="45542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211" y="170226"/>
            <a:ext cx="7010400" cy="478790"/>
          </a:xfrm>
        </p:spPr>
        <p:txBody>
          <a:bodyPr/>
          <a:lstStyle/>
          <a:p>
            <a:r>
              <a:rPr lang="en-US" altLang="zh-CN" sz="3200" dirty="0"/>
              <a:t>3.1  </a:t>
            </a:r>
            <a:r>
              <a:rPr lang="zh-CN" altLang="en-US" sz="3200" dirty="0"/>
              <a:t>单周期数据通路设计</a:t>
            </a:r>
          </a:p>
        </p:txBody>
      </p:sp>
      <p:sp>
        <p:nvSpPr>
          <p:cNvPr id="300035" name="Rectangle 3"/>
          <p:cNvSpPr>
            <a:spLocks noGrp="1" noChangeArrowheads="1"/>
          </p:cNvSpPr>
          <p:nvPr>
            <p:ph type="body" idx="1"/>
          </p:nvPr>
        </p:nvSpPr>
        <p:spPr>
          <a:xfrm>
            <a:off x="2207568" y="858586"/>
            <a:ext cx="7848600" cy="805349"/>
          </a:xfrm>
        </p:spPr>
        <p:txBody>
          <a:bodyPr/>
          <a:lstStyle/>
          <a:p>
            <a:pPr marL="457200" indent="-457200">
              <a:lnSpc>
                <a:spcPct val="120000"/>
              </a:lnSpc>
              <a:spcAft>
                <a:spcPts val="0"/>
              </a:spcAft>
              <a:buFont typeface="+mj-lt"/>
              <a:buAutoNum type="arabicPeriod" startAt="7"/>
            </a:pPr>
            <a:r>
              <a:rPr lang="en-US" altLang="zh-CN" sz="2000" dirty="0">
                <a:ea typeface="宋体" panose="02010600030101010101" pitchFamily="2" charset="-122"/>
              </a:rPr>
              <a:t>MIPS</a:t>
            </a:r>
            <a:r>
              <a:rPr lang="zh-CN" altLang="en-US" sz="2000" dirty="0">
                <a:ea typeface="宋体" panose="02010600030101010101" pitchFamily="2" charset="-122"/>
              </a:rPr>
              <a:t>数据通路再合并</a:t>
            </a:r>
            <a:endParaRPr lang="en-US" altLang="zh-CN" sz="2000" dirty="0">
              <a:ea typeface="宋体" panose="02010600030101010101" pitchFamily="2" charset="-122"/>
            </a:endParaRPr>
          </a:p>
          <a:p>
            <a:pPr lvl="1">
              <a:spcAft>
                <a:spcPts val="0"/>
              </a:spcAft>
            </a:pPr>
            <a:r>
              <a:rPr lang="zh-CN" altLang="en-US" dirty="0">
                <a:ea typeface="宋体" panose="02010600030101010101" pitchFamily="2" charset="-122"/>
              </a:rPr>
              <a:t>支持：</a:t>
            </a:r>
            <a:r>
              <a:rPr lang="en-US" altLang="zh-CN" dirty="0">
                <a:ea typeface="宋体" panose="02010600030101010101" pitchFamily="2" charset="-122"/>
              </a:rPr>
              <a:t>R</a:t>
            </a:r>
            <a:r>
              <a:rPr lang="zh-CN" altLang="en-US" dirty="0">
                <a:ea typeface="宋体" panose="02010600030101010101" pitchFamily="2" charset="-122"/>
              </a:rPr>
              <a:t>类型指令、内存访问指令（</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a:t>
            </a:r>
          </a:p>
        </p:txBody>
      </p:sp>
      <p:graphicFrame>
        <p:nvGraphicFramePr>
          <p:cNvPr id="5" name="表格 4"/>
          <p:cNvGraphicFramePr>
            <a:graphicFrameLocks noGrp="1"/>
          </p:cNvGraphicFramePr>
          <p:nvPr/>
        </p:nvGraphicFramePr>
        <p:xfrm>
          <a:off x="1608711" y="1931659"/>
          <a:ext cx="9036497" cy="2736304"/>
        </p:xfrm>
        <a:graphic>
          <a:graphicData uri="http://schemas.openxmlformats.org/drawingml/2006/table">
            <a:tbl>
              <a:tblPr/>
              <a:tblGrid>
                <a:gridCol w="604371">
                  <a:extLst>
                    <a:ext uri="{9D8B030D-6E8A-4147-A177-3AD203B41FA5}">
                      <a16:colId xmlns:a16="http://schemas.microsoft.com/office/drawing/2014/main" val="20000"/>
                    </a:ext>
                  </a:extLst>
                </a:gridCol>
                <a:gridCol w="426969">
                  <a:extLst>
                    <a:ext uri="{9D8B030D-6E8A-4147-A177-3AD203B41FA5}">
                      <a16:colId xmlns:a16="http://schemas.microsoft.com/office/drawing/2014/main" val="20001"/>
                    </a:ext>
                  </a:extLst>
                </a:gridCol>
                <a:gridCol w="355807">
                  <a:extLst>
                    <a:ext uri="{9D8B030D-6E8A-4147-A177-3AD203B41FA5}">
                      <a16:colId xmlns:a16="http://schemas.microsoft.com/office/drawing/2014/main" val="20002"/>
                    </a:ext>
                  </a:extLst>
                </a:gridCol>
                <a:gridCol w="629078">
                  <a:extLst>
                    <a:ext uri="{9D8B030D-6E8A-4147-A177-3AD203B41FA5}">
                      <a16:colId xmlns:a16="http://schemas.microsoft.com/office/drawing/2014/main" val="20003"/>
                    </a:ext>
                  </a:extLst>
                </a:gridCol>
                <a:gridCol w="438343">
                  <a:extLst>
                    <a:ext uri="{9D8B030D-6E8A-4147-A177-3AD203B41FA5}">
                      <a16:colId xmlns:a16="http://schemas.microsoft.com/office/drawing/2014/main" val="20004"/>
                    </a:ext>
                  </a:extLst>
                </a:gridCol>
                <a:gridCol w="569291">
                  <a:extLst>
                    <a:ext uri="{9D8B030D-6E8A-4147-A177-3AD203B41FA5}">
                      <a16:colId xmlns:a16="http://schemas.microsoft.com/office/drawing/2014/main" val="20005"/>
                    </a:ext>
                  </a:extLst>
                </a:gridCol>
                <a:gridCol w="498130">
                  <a:extLst>
                    <a:ext uri="{9D8B030D-6E8A-4147-A177-3AD203B41FA5}">
                      <a16:colId xmlns:a16="http://schemas.microsoft.com/office/drawing/2014/main" val="20006"/>
                    </a:ext>
                  </a:extLst>
                </a:gridCol>
                <a:gridCol w="640453">
                  <a:extLst>
                    <a:ext uri="{9D8B030D-6E8A-4147-A177-3AD203B41FA5}">
                      <a16:colId xmlns:a16="http://schemas.microsoft.com/office/drawing/2014/main" val="20007"/>
                    </a:ext>
                  </a:extLst>
                </a:gridCol>
                <a:gridCol w="640453">
                  <a:extLst>
                    <a:ext uri="{9D8B030D-6E8A-4147-A177-3AD203B41FA5}">
                      <a16:colId xmlns:a16="http://schemas.microsoft.com/office/drawing/2014/main" val="20008"/>
                    </a:ext>
                  </a:extLst>
                </a:gridCol>
                <a:gridCol w="711614">
                  <a:extLst>
                    <a:ext uri="{9D8B030D-6E8A-4147-A177-3AD203B41FA5}">
                      <a16:colId xmlns:a16="http://schemas.microsoft.com/office/drawing/2014/main" val="20009"/>
                    </a:ext>
                  </a:extLst>
                </a:gridCol>
                <a:gridCol w="640453">
                  <a:extLst>
                    <a:ext uri="{9D8B030D-6E8A-4147-A177-3AD203B41FA5}">
                      <a16:colId xmlns:a16="http://schemas.microsoft.com/office/drawing/2014/main" val="20010"/>
                    </a:ext>
                  </a:extLst>
                </a:gridCol>
                <a:gridCol w="569291">
                  <a:extLst>
                    <a:ext uri="{9D8B030D-6E8A-4147-A177-3AD203B41FA5}">
                      <a16:colId xmlns:a16="http://schemas.microsoft.com/office/drawing/2014/main" val="20011"/>
                    </a:ext>
                  </a:extLst>
                </a:gridCol>
                <a:gridCol w="640453">
                  <a:extLst>
                    <a:ext uri="{9D8B030D-6E8A-4147-A177-3AD203B41FA5}">
                      <a16:colId xmlns:a16="http://schemas.microsoft.com/office/drawing/2014/main" val="20012"/>
                    </a:ext>
                  </a:extLst>
                </a:gridCol>
                <a:gridCol w="640453">
                  <a:extLst>
                    <a:ext uri="{9D8B030D-6E8A-4147-A177-3AD203B41FA5}">
                      <a16:colId xmlns:a16="http://schemas.microsoft.com/office/drawing/2014/main" val="20013"/>
                    </a:ext>
                  </a:extLst>
                </a:gridCol>
                <a:gridCol w="515669">
                  <a:extLst>
                    <a:ext uri="{9D8B030D-6E8A-4147-A177-3AD203B41FA5}">
                      <a16:colId xmlns:a16="http://schemas.microsoft.com/office/drawing/2014/main" val="20014"/>
                    </a:ext>
                  </a:extLst>
                </a:gridCol>
                <a:gridCol w="515669">
                  <a:extLst>
                    <a:ext uri="{9D8B030D-6E8A-4147-A177-3AD203B41FA5}">
                      <a16:colId xmlns:a16="http://schemas.microsoft.com/office/drawing/2014/main" val="20015"/>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型与</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访存</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chemeClr val="tx1"/>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 </a:t>
                      </a: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5641">
                <a:tc>
                  <a:txBody>
                    <a:bodyPr/>
                    <a:lstStyle/>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合并</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1"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4"/>
                  </a:ext>
                </a:extLst>
              </a:tr>
            </a:tbl>
          </a:graphicData>
        </a:graphic>
      </p:graphicFrame>
      <p:sp>
        <p:nvSpPr>
          <p:cNvPr id="3" name="矩形 2"/>
          <p:cNvSpPr/>
          <p:nvPr/>
        </p:nvSpPr>
        <p:spPr>
          <a:xfrm>
            <a:off x="2240759" y="4869160"/>
            <a:ext cx="7488832" cy="1791260"/>
          </a:xfrm>
          <a:prstGeom prst="rect">
            <a:avLst/>
          </a:prstGeom>
        </p:spPr>
        <p:txBody>
          <a:bodyPr wrap="square">
            <a:spAutoFit/>
          </a:bodyPr>
          <a:lstStyle/>
          <a:p>
            <a:pPr marL="384175" lvl="1" indent="-95250">
              <a:lnSpc>
                <a:spcPct val="120000"/>
              </a:lnSpc>
              <a:spcBef>
                <a:spcPts val="0"/>
              </a:spcBef>
              <a:spcAft>
                <a:spcPts val="0"/>
              </a:spcAft>
              <a:buNone/>
            </a:pPr>
            <a:r>
              <a:rPr lang="zh-CN" altLang="en-US" sz="2000" dirty="0">
                <a:ea typeface="宋体" panose="02010600030101010101" pitchFamily="2" charset="-122"/>
              </a:rPr>
              <a:t>需要</a:t>
            </a:r>
            <a:r>
              <a:rPr lang="en-US" altLang="zh-CN" sz="2000" dirty="0">
                <a:ea typeface="宋体" panose="02010600030101010101" pitchFamily="2" charset="-122"/>
              </a:rPr>
              <a:t>4</a:t>
            </a:r>
            <a:r>
              <a:rPr lang="zh-CN" altLang="en-US" sz="2000" dirty="0">
                <a:ea typeface="宋体" panose="02010600030101010101" pitchFamily="2" charset="-122"/>
              </a:rPr>
              <a:t>个二选一多路选择器</a:t>
            </a:r>
            <a:r>
              <a:rPr lang="en-US" altLang="zh-CN" sz="2000" dirty="0">
                <a:ea typeface="宋体" panose="02010600030101010101" pitchFamily="2" charset="-122"/>
              </a:rPr>
              <a:t>MUX</a:t>
            </a:r>
          </a:p>
          <a:p>
            <a:pPr marL="766445" lvl="1" indent="-457200">
              <a:lnSpc>
                <a:spcPct val="120000"/>
              </a:lnSpc>
              <a:spcBef>
                <a:spcPts val="0"/>
              </a:spcBef>
              <a:spcAft>
                <a:spcPts val="0"/>
              </a:spcAft>
              <a:buFont typeface="Arial" panose="020B0604020202020204" pitchFamily="34" charset="0"/>
              <a:buChar char="―"/>
            </a:pPr>
            <a:r>
              <a:rPr lang="en-US" altLang="zh-CN" b="0" dirty="0">
                <a:ea typeface="宋体" panose="02010600030101010101" pitchFamily="2" charset="-122"/>
              </a:rPr>
              <a:t>PC</a:t>
            </a:r>
            <a:r>
              <a:rPr lang="zh-CN" altLang="en-US" b="0" dirty="0">
                <a:ea typeface="宋体" panose="02010600030101010101" pitchFamily="2" charset="-122"/>
              </a:rPr>
              <a:t>输入端数据源选择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rgbClr val="FF0000"/>
                </a:solidFill>
                <a:ea typeface="宋体" panose="02010600030101010101" pitchFamily="2" charset="-122"/>
              </a:rPr>
              <a:t>PCSrc</a:t>
            </a:r>
            <a:endParaRPr lang="en-US" altLang="zh-CN" b="0" dirty="0">
              <a:solidFill>
                <a:srgbClr val="FF0000"/>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zh-CN" altLang="en-US" b="0" dirty="0">
                <a:ea typeface="宋体" panose="02010600030101010101" pitchFamily="2" charset="-122"/>
              </a:rPr>
              <a:t>寄存器堆写入端地址选择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rgbClr val="FF0000"/>
                </a:solidFill>
                <a:ea typeface="宋体" panose="02010600030101010101" pitchFamily="2" charset="-122"/>
              </a:rPr>
              <a:t>RegDst</a:t>
            </a:r>
            <a:endParaRPr lang="en-US" altLang="zh-CN" b="0" dirty="0">
              <a:solidFill>
                <a:srgbClr val="FF0000"/>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en-US" altLang="zh-CN" b="0" dirty="0">
                <a:ea typeface="宋体" panose="02010600030101010101" pitchFamily="2" charset="-122"/>
              </a:rPr>
              <a:t>ALU</a:t>
            </a:r>
            <a:r>
              <a:rPr lang="zh-CN" altLang="en-US" b="0" dirty="0">
                <a:ea typeface="宋体" panose="02010600030101010101" pitchFamily="2" charset="-122"/>
              </a:rPr>
              <a:t>输入端</a:t>
            </a:r>
            <a:r>
              <a:rPr lang="en-US" altLang="zh-CN" b="0" dirty="0">
                <a:ea typeface="宋体" panose="02010600030101010101" pitchFamily="2" charset="-122"/>
              </a:rPr>
              <a:t>B</a:t>
            </a:r>
            <a:r>
              <a:rPr lang="zh-CN" altLang="en-US" b="0" dirty="0">
                <a:ea typeface="宋体" panose="02010600030101010101" pitchFamily="2" charset="-122"/>
              </a:rPr>
              <a:t>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chemeClr val="accent1"/>
                </a:solidFill>
                <a:ea typeface="宋体" panose="02010600030101010101" pitchFamily="2" charset="-122"/>
              </a:rPr>
              <a:t>ALUSrc</a:t>
            </a:r>
            <a:endParaRPr lang="en-US" altLang="zh-CN" b="0" dirty="0">
              <a:solidFill>
                <a:schemeClr val="accent1"/>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zh-CN" altLang="en-US" b="0" dirty="0">
                <a:ea typeface="宋体" panose="02010600030101010101" pitchFamily="2" charset="-122"/>
              </a:rPr>
              <a:t>寄存器堆写入端数据源选择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chemeClr val="accent1"/>
                </a:solidFill>
                <a:ea typeface="宋体" panose="02010600030101010101" pitchFamily="2" charset="-122"/>
              </a:rPr>
              <a:t>MemtoReg</a:t>
            </a:r>
            <a:endParaRPr lang="zh-CN" altLang="en-US" b="0" dirty="0">
              <a:solidFill>
                <a:schemeClr val="accent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58586"/>
            <a:ext cx="7848600" cy="805349"/>
          </a:xfrm>
        </p:spPr>
        <p:txBody>
          <a:bodyPr/>
          <a:lstStyle/>
          <a:p>
            <a:pPr marL="457200" indent="-457200">
              <a:lnSpc>
                <a:spcPct val="120000"/>
              </a:lnSpc>
              <a:spcAft>
                <a:spcPts val="0"/>
              </a:spcAft>
              <a:buFont typeface="+mj-lt"/>
              <a:buAutoNum type="arabicPeriod" startAt="7"/>
            </a:pPr>
            <a:r>
              <a:rPr lang="en-US" altLang="zh-CN" sz="2000" dirty="0">
                <a:ea typeface="宋体" panose="02010600030101010101" pitchFamily="2" charset="-122"/>
              </a:rPr>
              <a:t>MIPS</a:t>
            </a:r>
            <a:r>
              <a:rPr lang="zh-CN" altLang="en-US" sz="2000" dirty="0">
                <a:ea typeface="宋体" panose="02010600030101010101" pitchFamily="2" charset="-122"/>
              </a:rPr>
              <a:t>数据通路合并</a:t>
            </a:r>
            <a:endParaRPr lang="en-US" altLang="zh-CN" sz="2000" dirty="0">
              <a:ea typeface="宋体" panose="02010600030101010101" pitchFamily="2" charset="-122"/>
            </a:endParaRPr>
          </a:p>
          <a:p>
            <a:pPr lvl="1">
              <a:spcAft>
                <a:spcPts val="0"/>
              </a:spcAft>
            </a:pPr>
            <a:r>
              <a:rPr lang="zh-CN" altLang="en-US" dirty="0">
                <a:ea typeface="宋体" panose="02010600030101010101" pitchFamily="2" charset="-122"/>
              </a:rPr>
              <a:t>支持：</a:t>
            </a:r>
            <a:r>
              <a:rPr lang="en-US" altLang="zh-CN" dirty="0">
                <a:ea typeface="宋体" panose="02010600030101010101" pitchFamily="2" charset="-122"/>
              </a:rPr>
              <a:t>R</a:t>
            </a:r>
            <a:r>
              <a:rPr lang="zh-CN" altLang="en-US" dirty="0">
                <a:ea typeface="宋体" panose="02010600030101010101" pitchFamily="2" charset="-122"/>
              </a:rPr>
              <a:t>类型指令、内存访问指令（</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a:t>
            </a:r>
          </a:p>
        </p:txBody>
      </p:sp>
      <p:pic>
        <p:nvPicPr>
          <p:cNvPr id="4" name="图片 3"/>
          <p:cNvPicPr>
            <a:picLocks noChangeAspect="1"/>
          </p:cNvPicPr>
          <p:nvPr/>
        </p:nvPicPr>
        <p:blipFill>
          <a:blip r:embed="rId2"/>
          <a:stretch>
            <a:fillRect/>
          </a:stretch>
        </p:blipFill>
        <p:spPr>
          <a:xfrm>
            <a:off x="1631504" y="1772816"/>
            <a:ext cx="8873900" cy="4688300"/>
          </a:xfrm>
          <a:prstGeom prst="rect">
            <a:avLst/>
          </a:prstGeom>
        </p:spPr>
      </p:pic>
      <p:sp>
        <p:nvSpPr>
          <p:cNvPr id="3" name="Rectangle 2"/>
          <p:cNvSpPr>
            <a:spLocks noGrp="1" noChangeArrowheads="1"/>
          </p:cNvSpPr>
          <p:nvPr>
            <p:ph type="title"/>
          </p:nvPr>
        </p:nvSpPr>
        <p:spPr>
          <a:xfrm>
            <a:off x="-211" y="170226"/>
            <a:ext cx="7010400" cy="478790"/>
          </a:xfrm>
        </p:spPr>
        <p:txBody>
          <a:bodyPr/>
          <a:lstStyle/>
          <a:p>
            <a:r>
              <a:rPr lang="en-US" altLang="zh-CN" sz="3200" dirty="0"/>
              <a:t>3.1  </a:t>
            </a:r>
            <a:r>
              <a:rPr lang="zh-CN" altLang="en-US" sz="3200" dirty="0"/>
              <a:t>单周期数据通路设计</a:t>
            </a:r>
          </a:p>
        </p:txBody>
      </p:sp>
      <p:cxnSp>
        <p:nvCxnSpPr>
          <p:cNvPr id="5" name="直接连接符 4"/>
          <p:cNvCxnSpPr/>
          <p:nvPr/>
        </p:nvCxnSpPr>
        <p:spPr bwMode="auto">
          <a:xfrm flipV="1">
            <a:off x="7010189" y="5301208"/>
            <a:ext cx="309947" cy="72008"/>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单周期数据通路设计</a:t>
            </a:r>
            <a:endParaRPr lang="en-US" altLang="zh-CN" sz="2000" dirty="0">
              <a:solidFill>
                <a:schemeClr val="bg1">
                  <a:lumMod val="6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单周期控制器设计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
        <p:nvSpPr>
          <p:cNvPr id="4" name="Rectangle 3"/>
          <p:cNvSpPr>
            <a:spLocks noGrp="1" noChangeArrowheads="1"/>
          </p:cNvSpPr>
          <p:nvPr>
            <p:ph idx="1"/>
          </p:nvPr>
        </p:nvSpPr>
        <p:spPr>
          <a:xfrm>
            <a:off x="1216462" y="1162490"/>
            <a:ext cx="5285878" cy="1291636"/>
          </a:xfrm>
        </p:spPr>
        <p:txBody>
          <a:bodyPr/>
          <a:lstStyle/>
          <a:p>
            <a:pPr>
              <a:lnSpc>
                <a:spcPct val="130000"/>
              </a:lnSpc>
              <a:spcAft>
                <a:spcPts val="0"/>
              </a:spcAft>
            </a:pPr>
            <a:r>
              <a:rPr lang="zh-CN" altLang="en-US" dirty="0">
                <a:ea typeface="宋体" panose="02010600030101010101" pitchFamily="2" charset="-122"/>
              </a:rPr>
              <a:t>单周期通路所需控制信号</a:t>
            </a:r>
            <a:endParaRPr lang="en-US" altLang="zh-CN" dirty="0">
              <a:ea typeface="宋体" panose="02010600030101010101" pitchFamily="2" charset="-122"/>
            </a:endParaRPr>
          </a:p>
          <a:p>
            <a:pPr lvl="1">
              <a:lnSpc>
                <a:spcPct val="13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控制（</a:t>
            </a:r>
            <a:r>
              <a:rPr lang="en-US" altLang="zh-CN" dirty="0">
                <a:solidFill>
                  <a:srgbClr val="FF0000"/>
                </a:solidFill>
                <a:ea typeface="宋体" panose="02010600030101010101" pitchFamily="2" charset="-122"/>
              </a:rPr>
              <a:t>ALU Operation</a:t>
            </a: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位</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其他控制信号：</a:t>
            </a:r>
            <a:r>
              <a:rPr lang="en-US" altLang="zh-CN" dirty="0">
                <a:ea typeface="宋体" panose="02010600030101010101" pitchFamily="2" charset="-122"/>
              </a:rPr>
              <a:t>7</a:t>
            </a:r>
            <a:r>
              <a:rPr lang="zh-CN" altLang="en-US" dirty="0">
                <a:ea typeface="宋体" panose="02010600030101010101" pitchFamily="2" charset="-122"/>
              </a:rPr>
              <a:t>个</a:t>
            </a:r>
            <a:endParaRPr lang="en-US" altLang="zh-CN" dirty="0">
              <a:ea typeface="宋体" panose="02010600030101010101" pitchFamily="2" charset="-122"/>
            </a:endParaRPr>
          </a:p>
        </p:txBody>
      </p:sp>
      <p:graphicFrame>
        <p:nvGraphicFramePr>
          <p:cNvPr id="6" name="表格 5"/>
          <p:cNvGraphicFramePr>
            <a:graphicFrameLocks noGrp="1"/>
          </p:cNvGraphicFramePr>
          <p:nvPr/>
        </p:nvGraphicFramePr>
        <p:xfrm>
          <a:off x="6681589" y="1220065"/>
          <a:ext cx="3312368" cy="1737360"/>
        </p:xfrm>
        <a:graphic>
          <a:graphicData uri="http://schemas.openxmlformats.org/drawingml/2006/table">
            <a:tbl>
              <a:tblPr firstRow="1" bandRow="1">
                <a:tableStyleId>{93296810-A885-4BE3-A3E7-6D5BEEA58F35}</a:tableStyleId>
              </a:tblPr>
              <a:tblGrid>
                <a:gridCol w="472665">
                  <a:extLst>
                    <a:ext uri="{9D8B030D-6E8A-4147-A177-3AD203B41FA5}">
                      <a16:colId xmlns:a16="http://schemas.microsoft.com/office/drawing/2014/main" val="20000"/>
                    </a:ext>
                  </a:extLst>
                </a:gridCol>
                <a:gridCol w="472665">
                  <a:extLst>
                    <a:ext uri="{9D8B030D-6E8A-4147-A177-3AD203B41FA5}">
                      <a16:colId xmlns:a16="http://schemas.microsoft.com/office/drawing/2014/main" val="20001"/>
                    </a:ext>
                  </a:extLst>
                </a:gridCol>
                <a:gridCol w="1328420">
                  <a:extLst>
                    <a:ext uri="{9D8B030D-6E8A-4147-A177-3AD203B41FA5}">
                      <a16:colId xmlns:a16="http://schemas.microsoft.com/office/drawing/2014/main" val="20002"/>
                    </a:ext>
                  </a:extLst>
                </a:gridCol>
                <a:gridCol w="1038618">
                  <a:extLst>
                    <a:ext uri="{9D8B030D-6E8A-4147-A177-3AD203B41FA5}">
                      <a16:colId xmlns:a16="http://schemas.microsoft.com/office/drawing/2014/main" val="20003"/>
                    </a:ext>
                  </a:extLst>
                </a:gridCol>
              </a:tblGrid>
              <a:tr h="518160">
                <a:tc gridSpan="2">
                  <a:txBody>
                    <a:bodyPr/>
                    <a:lstStyle/>
                    <a:p>
                      <a:pPr algn="ctr"/>
                      <a:r>
                        <a:rPr lang="zh-CN" altLang="en-US" sz="1400" dirty="0"/>
                        <a:t>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sz="1400" dirty="0"/>
                        <a:t>ALU</a:t>
                      </a:r>
                      <a:r>
                        <a:rPr lang="en-US" altLang="zh-CN" sz="1400" baseline="0" dirty="0"/>
                        <a:t> </a:t>
                      </a:r>
                      <a:endParaRPr lang="en-US" altLang="zh-CN" sz="1400" dirty="0"/>
                    </a:p>
                    <a:p>
                      <a:pPr algn="ctr"/>
                      <a:r>
                        <a:rPr lang="en-US" altLang="zh-CN" sz="1400" dirty="0"/>
                        <a:t>operation</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a:t>
                      </a:r>
                      <a:r>
                        <a:rPr lang="zh-CN" altLang="en-US" sz="1400" dirty="0"/>
                        <a:t>运算</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145472">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&amp;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0001</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0110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矩形 2"/>
          <p:cNvSpPr/>
          <p:nvPr/>
        </p:nvSpPr>
        <p:spPr>
          <a:xfrm>
            <a:off x="6681589" y="815881"/>
            <a:ext cx="3312368" cy="452432"/>
          </a:xfrm>
          <a:prstGeom prst="rect">
            <a:avLst/>
          </a:prstGeom>
        </p:spPr>
        <p:txBody>
          <a:bodyPr wrap="square">
            <a:spAutoFit/>
          </a:bodyPr>
          <a:lstStyle/>
          <a:p>
            <a:pPr lvl="1" indent="-457200" algn="ctr">
              <a:lnSpc>
                <a:spcPct val="130000"/>
              </a:lnSpc>
              <a:spcBef>
                <a:spcPts val="0"/>
              </a:spcBef>
              <a:spcAft>
                <a:spcPts val="0"/>
              </a:spcAft>
              <a:buNone/>
            </a:pPr>
            <a:r>
              <a:rPr lang="en-US" altLang="zh-CN" b="0" dirty="0">
                <a:solidFill>
                  <a:srgbClr val="FF0000"/>
                </a:solidFill>
                <a:ea typeface="宋体" panose="02010600030101010101" pitchFamily="2" charset="-122"/>
              </a:rPr>
              <a:t>ALU </a:t>
            </a:r>
            <a:r>
              <a:rPr lang="zh-CN" altLang="en-US" b="0" dirty="0">
                <a:solidFill>
                  <a:srgbClr val="FF0000"/>
                </a:solidFill>
                <a:ea typeface="宋体" panose="02010600030101010101" pitchFamily="2" charset="-122"/>
              </a:rPr>
              <a:t>控制</a:t>
            </a:r>
            <a:endParaRPr lang="en-US" altLang="zh-CN" b="0" dirty="0">
              <a:solidFill>
                <a:srgbClr val="FF0000"/>
              </a:solidFill>
              <a:ea typeface="宋体" panose="02010600030101010101" pitchFamily="2" charset="-122"/>
            </a:endParaRPr>
          </a:p>
        </p:txBody>
      </p:sp>
      <p:graphicFrame>
        <p:nvGraphicFramePr>
          <p:cNvPr id="8" name="表格 7"/>
          <p:cNvGraphicFramePr>
            <a:graphicFrameLocks noGrp="1"/>
          </p:cNvGraphicFramePr>
          <p:nvPr/>
        </p:nvGraphicFramePr>
        <p:xfrm>
          <a:off x="2208213" y="3501009"/>
          <a:ext cx="7992242" cy="3180964"/>
        </p:xfrm>
        <a:graphic>
          <a:graphicData uri="http://schemas.openxmlformats.org/drawingml/2006/table">
            <a:tbl>
              <a:tblPr firstRow="1" bandRow="1">
                <a:tableStyleId>{93296810-A885-4BE3-A3E7-6D5BEEA58F35}</a:tableStyleId>
              </a:tblPr>
              <a:tblGrid>
                <a:gridCol w="1172864">
                  <a:extLst>
                    <a:ext uri="{9D8B030D-6E8A-4147-A177-3AD203B41FA5}">
                      <a16:colId xmlns:a16="http://schemas.microsoft.com/office/drawing/2014/main" val="20000"/>
                    </a:ext>
                  </a:extLst>
                </a:gridCol>
                <a:gridCol w="3409689">
                  <a:extLst>
                    <a:ext uri="{9D8B030D-6E8A-4147-A177-3AD203B41FA5}">
                      <a16:colId xmlns:a16="http://schemas.microsoft.com/office/drawing/2014/main" val="20001"/>
                    </a:ext>
                  </a:extLst>
                </a:gridCol>
                <a:gridCol w="3409689">
                  <a:extLst>
                    <a:ext uri="{9D8B030D-6E8A-4147-A177-3AD203B41FA5}">
                      <a16:colId xmlns:a16="http://schemas.microsoft.com/office/drawing/2014/main" val="20002"/>
                    </a:ext>
                  </a:extLst>
                </a:gridCol>
              </a:tblGrid>
              <a:tr h="401404">
                <a:tc>
                  <a:txBody>
                    <a:bodyPr/>
                    <a:lstStyle/>
                    <a:p>
                      <a:pPr algn="ctr"/>
                      <a:r>
                        <a:rPr lang="zh-CN" altLang="en-US" sz="1400" dirty="0"/>
                        <a:t>控制信号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失效时作用（</a:t>
                      </a:r>
                      <a:r>
                        <a:rPr lang="en-US" altLang="zh-CN" sz="1400" dirty="0"/>
                        <a:t>=0</a:t>
                      </a:r>
                      <a:r>
                        <a:rPr lang="zh-CN" alt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有效时作用</a:t>
                      </a:r>
                      <a:r>
                        <a:rPr lang="en-US" altLang="zh-C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97080">
                <a:tc>
                  <a:txBody>
                    <a:bodyPr/>
                    <a:lstStyle/>
                    <a:p>
                      <a:pPr algn="ctr"/>
                      <a:r>
                        <a:rPr lang="en-US" altLang="zh-CN" sz="1400" dirty="0" err="1">
                          <a:solidFill>
                            <a:srgbClr val="FF0000"/>
                          </a:solidFill>
                        </a:rPr>
                        <a:t>RegDst</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寄存器堆写入端地址来选择</a:t>
                      </a:r>
                      <a:r>
                        <a:rPr lang="en-US" altLang="zh-CN" sz="1600" dirty="0" err="1">
                          <a:solidFill>
                            <a:schemeClr val="tx1"/>
                          </a:solidFill>
                          <a:latin typeface="+mn-lt"/>
                        </a:rPr>
                        <a:t>Rt</a:t>
                      </a:r>
                      <a:r>
                        <a:rPr lang="zh-CN" altLang="en-US" sz="1600" dirty="0">
                          <a:solidFill>
                            <a:schemeClr val="tx1"/>
                          </a:solidFill>
                          <a:latin typeface="+mn-lt"/>
                        </a:rPr>
                        <a:t>字段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寄存器堆写入端地址选择 </a:t>
                      </a:r>
                      <a:r>
                        <a:rPr lang="en-US" altLang="zh-CN" sz="1600" dirty="0">
                          <a:solidFill>
                            <a:schemeClr val="tx1"/>
                          </a:solidFill>
                          <a:latin typeface="+mn-lt"/>
                        </a:rPr>
                        <a:t>Rd</a:t>
                      </a:r>
                      <a:r>
                        <a:rPr lang="zh-CN" altLang="en-US" sz="1600" dirty="0">
                          <a:solidFill>
                            <a:schemeClr val="tx1"/>
                          </a:solidFill>
                          <a:latin typeface="+mn-lt"/>
                        </a:rPr>
                        <a:t>字段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7080">
                <a:tc>
                  <a:txBody>
                    <a:bodyPr/>
                    <a:lstStyle/>
                    <a:p>
                      <a:pPr algn="ctr"/>
                      <a:r>
                        <a:rPr lang="en-US" altLang="zh-CN" sz="1400" dirty="0" err="1">
                          <a:solidFill>
                            <a:srgbClr val="FF0000"/>
                          </a:solidFill>
                        </a:rPr>
                        <a:t>RegWrite</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把数据写入寄存器堆中对应寄存器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7080">
                <a:tc>
                  <a:txBody>
                    <a:bodyPr/>
                    <a:lstStyle/>
                    <a:p>
                      <a:pPr algn="ctr"/>
                      <a:r>
                        <a:rPr lang="en-US" altLang="zh-CN" sz="1400" dirty="0" err="1">
                          <a:solidFill>
                            <a:srgbClr val="FF0000"/>
                          </a:solidFill>
                        </a:rPr>
                        <a:t>ALUSrc</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ALU</a:t>
                      </a:r>
                      <a:r>
                        <a:rPr lang="zh-CN" altLang="en-US" sz="1600" dirty="0">
                          <a:solidFill>
                            <a:schemeClr val="tx1"/>
                          </a:solidFill>
                          <a:latin typeface="+mn-lt"/>
                        </a:rPr>
                        <a:t>输入端</a:t>
                      </a:r>
                      <a:r>
                        <a:rPr lang="en-US" altLang="zh-CN" sz="1600" dirty="0">
                          <a:solidFill>
                            <a:schemeClr val="tx1"/>
                          </a:solidFill>
                          <a:latin typeface="+mn-lt"/>
                        </a:rPr>
                        <a:t>B</a:t>
                      </a:r>
                      <a:r>
                        <a:rPr lang="zh-CN" altLang="en-US" sz="1600" dirty="0">
                          <a:solidFill>
                            <a:schemeClr val="tx1"/>
                          </a:solidFill>
                          <a:latin typeface="+mn-lt"/>
                        </a:rPr>
                        <a:t>选择寄存器堆输出</a:t>
                      </a:r>
                      <a:r>
                        <a:rPr lang="en-US" altLang="zh-CN" sz="1600" dirty="0">
                          <a:solidFill>
                            <a:schemeClr val="tx1"/>
                          </a:solidFill>
                          <a:latin typeface="+mn-lt"/>
                        </a:rPr>
                        <a:t>R[</a:t>
                      </a:r>
                      <a:r>
                        <a:rPr lang="en-US" altLang="zh-CN" sz="1600" dirty="0" err="1">
                          <a:solidFill>
                            <a:schemeClr val="tx1"/>
                          </a:solidFill>
                          <a:latin typeface="+mn-lt"/>
                        </a:rPr>
                        <a:t>rt</a:t>
                      </a:r>
                      <a:r>
                        <a:rPr lang="en-US" altLang="zh-CN" sz="1600" dirty="0">
                          <a:solidFill>
                            <a:schemeClr val="tx1"/>
                          </a:solidFill>
                          <a:latin typeface="+mn-lt"/>
                        </a:rPr>
                        <a:t>]</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ALU</a:t>
                      </a:r>
                      <a:r>
                        <a:rPr lang="zh-CN" altLang="en-US" sz="1600" dirty="0">
                          <a:solidFill>
                            <a:schemeClr val="tx1"/>
                          </a:solidFill>
                          <a:latin typeface="+mn-lt"/>
                        </a:rPr>
                        <a:t>输入端</a:t>
                      </a:r>
                      <a:r>
                        <a:rPr lang="en-US" altLang="zh-CN" sz="1600" dirty="0">
                          <a:solidFill>
                            <a:schemeClr val="tx1"/>
                          </a:solidFill>
                          <a:latin typeface="+mn-lt"/>
                        </a:rPr>
                        <a:t>B</a:t>
                      </a:r>
                      <a:r>
                        <a:rPr lang="zh-CN" altLang="en-US" sz="1600" dirty="0">
                          <a:solidFill>
                            <a:schemeClr val="tx1"/>
                          </a:solidFill>
                          <a:latin typeface="+mn-lt"/>
                        </a:rPr>
                        <a:t>选择</a:t>
                      </a:r>
                      <a:r>
                        <a:rPr lang="en-US" altLang="zh-CN" sz="1600" dirty="0" err="1">
                          <a:solidFill>
                            <a:schemeClr val="tx1"/>
                          </a:solidFill>
                          <a:latin typeface="+mn-lt"/>
                        </a:rPr>
                        <a:t>Signext</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7080">
                <a:tc>
                  <a:txBody>
                    <a:bodyPr/>
                    <a:lstStyle/>
                    <a:p>
                      <a:pPr algn="ctr"/>
                      <a:r>
                        <a:rPr lang="en-US" altLang="zh-CN" sz="1400" dirty="0" err="1">
                          <a:solidFill>
                            <a:srgbClr val="FF0000"/>
                          </a:solidFill>
                        </a:rPr>
                        <a:t>PCSrc</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PC</a:t>
                      </a:r>
                      <a:r>
                        <a:rPr lang="zh-CN" altLang="en-US" sz="1600" dirty="0">
                          <a:solidFill>
                            <a:schemeClr val="tx1"/>
                          </a:solidFill>
                          <a:latin typeface="+mn-lt"/>
                        </a:rPr>
                        <a:t>输入源选择 </a:t>
                      </a:r>
                      <a:r>
                        <a:rPr lang="en-US" altLang="zh-CN" sz="1600" dirty="0">
                          <a:solidFill>
                            <a:schemeClr val="tx1"/>
                          </a:solidFill>
                          <a:latin typeface="+mn-lt"/>
                        </a:rPr>
                        <a:t>PC+4</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PC</a:t>
                      </a:r>
                      <a:r>
                        <a:rPr lang="zh-CN" altLang="en-US" sz="1600" dirty="0">
                          <a:solidFill>
                            <a:schemeClr val="tx1"/>
                          </a:solidFill>
                          <a:latin typeface="+mn-lt"/>
                        </a:rPr>
                        <a:t>输入选择</a:t>
                      </a:r>
                      <a:r>
                        <a:rPr lang="en-US" altLang="zh-CN" sz="1600" dirty="0" err="1">
                          <a:solidFill>
                            <a:schemeClr val="tx1"/>
                          </a:solidFill>
                          <a:latin typeface="+mn-lt"/>
                        </a:rPr>
                        <a:t>beq</a:t>
                      </a:r>
                      <a:r>
                        <a:rPr lang="zh-CN" altLang="en-US" sz="1600" dirty="0">
                          <a:solidFill>
                            <a:schemeClr val="tx1"/>
                          </a:solidFill>
                          <a:latin typeface="+mn-lt"/>
                        </a:rPr>
                        <a:t>指令的目的地址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7080">
                <a:tc>
                  <a:txBody>
                    <a:bodyPr/>
                    <a:lstStyle/>
                    <a:p>
                      <a:pPr algn="ctr"/>
                      <a:r>
                        <a:rPr lang="en-US" altLang="zh-CN" sz="1400" dirty="0" err="1">
                          <a:solidFill>
                            <a:srgbClr val="FF0000"/>
                          </a:solidFill>
                        </a:rPr>
                        <a:t>MemRead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数据存储器</a:t>
                      </a:r>
                      <a:r>
                        <a:rPr lang="en-US" altLang="zh-CN" sz="1600" dirty="0">
                          <a:solidFill>
                            <a:schemeClr val="tx1"/>
                          </a:solidFill>
                          <a:latin typeface="+mn-lt"/>
                        </a:rPr>
                        <a:t>DM</a:t>
                      </a:r>
                      <a:r>
                        <a:rPr lang="zh-CN" altLang="en-US" sz="1600" dirty="0">
                          <a:solidFill>
                            <a:schemeClr val="tx1"/>
                          </a:solidFill>
                          <a:latin typeface="+mn-lt"/>
                        </a:rPr>
                        <a:t>读数据（输出）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97080">
                <a:tc>
                  <a:txBody>
                    <a:bodyPr/>
                    <a:lstStyle/>
                    <a:p>
                      <a:pPr algn="ctr"/>
                      <a:r>
                        <a:rPr lang="en-US" altLang="zh-CN" sz="1400" dirty="0" err="1">
                          <a:solidFill>
                            <a:srgbClr val="FF0000"/>
                          </a:solidFill>
                        </a:rPr>
                        <a:t>MemWrite</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数据存储器</a:t>
                      </a:r>
                      <a:r>
                        <a:rPr lang="en-US" altLang="zh-CN" sz="1600" dirty="0">
                          <a:solidFill>
                            <a:schemeClr val="tx1"/>
                          </a:solidFill>
                          <a:latin typeface="+mn-lt"/>
                        </a:rPr>
                        <a:t>DM</a:t>
                      </a:r>
                      <a:r>
                        <a:rPr lang="zh-CN" altLang="en-US" sz="1600" dirty="0">
                          <a:solidFill>
                            <a:schemeClr val="tx1"/>
                          </a:solidFill>
                          <a:latin typeface="+mn-lt"/>
                        </a:rPr>
                        <a:t>写数据（输入）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97080">
                <a:tc>
                  <a:txBody>
                    <a:bodyPr/>
                    <a:lstStyle/>
                    <a:p>
                      <a:pPr algn="ctr"/>
                      <a:r>
                        <a:rPr lang="en-US" altLang="zh-CN" sz="1400" dirty="0" err="1">
                          <a:solidFill>
                            <a:srgbClr val="FF0000"/>
                          </a:solidFill>
                        </a:rPr>
                        <a:t>MemtoReg</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寄存器堆写入端数据来自</a:t>
                      </a:r>
                      <a:r>
                        <a:rPr lang="en-US" altLang="zh-CN" sz="1600" dirty="0">
                          <a:solidFill>
                            <a:schemeClr val="tx1"/>
                          </a:solidFill>
                          <a:latin typeface="+mn-lt"/>
                        </a:rPr>
                        <a:t>ALU</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寄存器堆写入端数据来自</a:t>
                      </a:r>
                      <a:r>
                        <a:rPr lang="en-US" altLang="zh-CN" sz="1600" dirty="0">
                          <a:solidFill>
                            <a:schemeClr val="tx1"/>
                          </a:solidFill>
                          <a:latin typeface="+mn-lt"/>
                        </a:rPr>
                        <a:t>DM</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9" name="矩形 8"/>
          <p:cNvSpPr/>
          <p:nvPr/>
        </p:nvSpPr>
        <p:spPr>
          <a:xfrm>
            <a:off x="3647728" y="3068960"/>
            <a:ext cx="3312368" cy="452432"/>
          </a:xfrm>
          <a:prstGeom prst="rect">
            <a:avLst/>
          </a:prstGeom>
        </p:spPr>
        <p:txBody>
          <a:bodyPr wrap="square">
            <a:spAutoFit/>
          </a:bodyPr>
          <a:lstStyle/>
          <a:p>
            <a:pPr lvl="1" indent="-457200" algn="ctr">
              <a:lnSpc>
                <a:spcPct val="130000"/>
              </a:lnSpc>
              <a:spcBef>
                <a:spcPts val="0"/>
              </a:spcBef>
              <a:spcAft>
                <a:spcPts val="0"/>
              </a:spcAft>
              <a:buNone/>
            </a:pPr>
            <a:r>
              <a:rPr lang="en-US" altLang="zh-CN" b="0" dirty="0">
                <a:solidFill>
                  <a:srgbClr val="FF0000"/>
                </a:solidFill>
                <a:ea typeface="宋体" panose="02010600030101010101" pitchFamily="2" charset="-122"/>
              </a:rPr>
              <a:t>7</a:t>
            </a:r>
            <a:r>
              <a:rPr lang="zh-CN" altLang="en-US" b="0" dirty="0">
                <a:solidFill>
                  <a:srgbClr val="FF0000"/>
                </a:solidFill>
                <a:ea typeface="宋体" panose="02010600030101010101" pitchFamily="2" charset="-122"/>
              </a:rPr>
              <a:t>个控制信号</a:t>
            </a:r>
            <a:endParaRPr lang="en-US" altLang="zh-CN" b="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5560" y="980729"/>
            <a:ext cx="7848600" cy="4483279"/>
          </a:xfrm>
        </p:spPr>
        <p:txBody>
          <a:bodyPr/>
          <a:lstStyle/>
          <a:p>
            <a:pPr>
              <a:lnSpc>
                <a:spcPct val="120000"/>
              </a:lnSpc>
              <a:spcAft>
                <a:spcPts val="0"/>
              </a:spcAft>
            </a:pPr>
            <a:r>
              <a:rPr lang="zh-CN" altLang="en-US" dirty="0"/>
              <a:t>控制器分成两部分：主控单元和</a:t>
            </a:r>
            <a:r>
              <a:rPr lang="en-US" altLang="zh-CN" dirty="0"/>
              <a:t>ALU</a:t>
            </a:r>
            <a:r>
              <a:rPr lang="zh-CN" altLang="en-US" dirty="0"/>
              <a:t>控制单元</a:t>
            </a:r>
            <a:endParaRPr lang="en-US" altLang="zh-CN" dirty="0"/>
          </a:p>
          <a:p>
            <a:pPr lvl="1">
              <a:lnSpc>
                <a:spcPct val="120000"/>
              </a:lnSpc>
              <a:spcAft>
                <a:spcPts val="0"/>
              </a:spcAft>
            </a:pPr>
            <a:r>
              <a:rPr lang="zh-CN" altLang="en-US" sz="2400" dirty="0"/>
              <a:t>主控单元</a:t>
            </a:r>
            <a:endParaRPr lang="en-US" altLang="zh-CN" sz="2400" dirty="0"/>
          </a:p>
          <a:p>
            <a:pPr lvl="2">
              <a:lnSpc>
                <a:spcPct val="120000"/>
              </a:lnSpc>
              <a:spcAft>
                <a:spcPts val="0"/>
              </a:spcAft>
            </a:pPr>
            <a:r>
              <a:rPr lang="zh-CN" altLang="en-US" sz="2000" dirty="0"/>
              <a:t>输入：指令操作码字段 </a:t>
            </a:r>
            <a:r>
              <a:rPr lang="en-US" altLang="zh-CN" sz="2000" dirty="0"/>
              <a:t>Op</a:t>
            </a:r>
            <a:r>
              <a:rPr lang="zh-CN" altLang="en-US" sz="2000" dirty="0"/>
              <a:t>（指令</a:t>
            </a:r>
            <a:r>
              <a:rPr lang="en-US" altLang="zh-CN" sz="2000" dirty="0"/>
              <a:t>31:26</a:t>
            </a:r>
            <a:r>
              <a:rPr lang="zh-CN" altLang="en-US" sz="2000" dirty="0"/>
              <a:t>位）</a:t>
            </a:r>
            <a:endParaRPr lang="en-US" altLang="zh-CN" sz="2000" dirty="0"/>
          </a:p>
          <a:p>
            <a:pPr lvl="2">
              <a:lnSpc>
                <a:spcPct val="120000"/>
              </a:lnSpc>
              <a:spcAft>
                <a:spcPts val="0"/>
              </a:spcAft>
            </a:pPr>
            <a:r>
              <a:rPr lang="zh-CN" altLang="en-US" sz="2000" dirty="0"/>
              <a:t>输出：</a:t>
            </a:r>
            <a:endParaRPr lang="en-US" altLang="zh-CN" sz="2000" dirty="0"/>
          </a:p>
          <a:p>
            <a:pPr marL="1656080" lvl="3" indent="-393700">
              <a:lnSpc>
                <a:spcPct val="120000"/>
              </a:lnSpc>
              <a:spcAft>
                <a:spcPts val="0"/>
              </a:spcAft>
            </a:pPr>
            <a:r>
              <a:rPr lang="en-US" altLang="zh-CN" dirty="0"/>
              <a:t>7</a:t>
            </a:r>
            <a:r>
              <a:rPr lang="zh-CN" altLang="en-US" dirty="0"/>
              <a:t>个控制信号</a:t>
            </a:r>
            <a:endParaRPr lang="en-US" altLang="zh-CN" dirty="0"/>
          </a:p>
          <a:p>
            <a:pPr marL="1656080" lvl="3" indent="-393700">
              <a:lnSpc>
                <a:spcPct val="120000"/>
              </a:lnSpc>
              <a:spcAft>
                <a:spcPts val="0"/>
              </a:spcAft>
            </a:pPr>
            <a:r>
              <a:rPr lang="en-US" altLang="zh-CN" dirty="0"/>
              <a:t>ALU</a:t>
            </a:r>
            <a:r>
              <a:rPr lang="zh-CN" altLang="en-US" dirty="0"/>
              <a:t>控制单元所需的</a:t>
            </a:r>
            <a:r>
              <a:rPr lang="en-US" altLang="zh-CN" dirty="0"/>
              <a:t>2</a:t>
            </a:r>
            <a:r>
              <a:rPr lang="zh-CN" altLang="en-US" dirty="0"/>
              <a:t>位输入</a:t>
            </a:r>
            <a:r>
              <a:rPr lang="en-US" altLang="zh-CN" dirty="0" err="1">
                <a:solidFill>
                  <a:srgbClr val="FF0000"/>
                </a:solidFill>
              </a:rPr>
              <a:t>ALUop</a:t>
            </a:r>
            <a:endParaRPr lang="en-US" altLang="zh-CN" dirty="0">
              <a:solidFill>
                <a:srgbClr val="FF0000"/>
              </a:solidFill>
            </a:endParaRPr>
          </a:p>
          <a:p>
            <a:pPr lvl="1">
              <a:lnSpc>
                <a:spcPct val="120000"/>
              </a:lnSpc>
              <a:spcAft>
                <a:spcPts val="0"/>
              </a:spcAft>
            </a:pPr>
            <a:r>
              <a:rPr lang="en-US" altLang="zh-CN" sz="2400" dirty="0"/>
              <a:t>ALU</a:t>
            </a:r>
            <a:r>
              <a:rPr lang="zh-CN" altLang="en-US" sz="2400" dirty="0"/>
              <a:t>控制单元</a:t>
            </a:r>
            <a:endParaRPr lang="en-US" altLang="zh-CN" sz="2400" dirty="0"/>
          </a:p>
          <a:p>
            <a:pPr lvl="2">
              <a:lnSpc>
                <a:spcPct val="120000"/>
              </a:lnSpc>
              <a:spcAft>
                <a:spcPts val="0"/>
              </a:spcAft>
            </a:pPr>
            <a:r>
              <a:rPr lang="zh-CN" altLang="en-US" sz="2000" dirty="0"/>
              <a:t>输入：</a:t>
            </a:r>
            <a:endParaRPr lang="en-US" altLang="zh-CN" sz="2000" dirty="0"/>
          </a:p>
          <a:p>
            <a:pPr marL="1597025" lvl="3" indent="-335280">
              <a:lnSpc>
                <a:spcPct val="120000"/>
              </a:lnSpc>
              <a:spcAft>
                <a:spcPts val="0"/>
              </a:spcAft>
            </a:pPr>
            <a:r>
              <a:rPr lang="zh-CN" altLang="en-US" dirty="0"/>
              <a:t>主控单元生成的</a:t>
            </a:r>
            <a:r>
              <a:rPr lang="en-US" altLang="zh-CN" dirty="0"/>
              <a:t>2</a:t>
            </a:r>
            <a:r>
              <a:rPr lang="zh-CN" altLang="en-US" dirty="0"/>
              <a:t>位</a:t>
            </a:r>
            <a:r>
              <a:rPr lang="en-US" altLang="zh-CN" dirty="0" err="1">
                <a:solidFill>
                  <a:srgbClr val="FF0000"/>
                </a:solidFill>
              </a:rPr>
              <a:t>ALUop</a:t>
            </a:r>
            <a:endParaRPr lang="en-US" altLang="zh-CN" dirty="0">
              <a:solidFill>
                <a:srgbClr val="FF0000"/>
              </a:solidFill>
            </a:endParaRPr>
          </a:p>
          <a:p>
            <a:pPr marL="1597025" lvl="3" indent="-335280">
              <a:lnSpc>
                <a:spcPct val="120000"/>
              </a:lnSpc>
              <a:spcAft>
                <a:spcPts val="0"/>
              </a:spcAft>
            </a:pPr>
            <a:r>
              <a:rPr lang="zh-CN" altLang="en-US" dirty="0"/>
              <a:t>功能码字段</a:t>
            </a:r>
            <a:r>
              <a:rPr lang="en-US" altLang="zh-CN" dirty="0" err="1"/>
              <a:t>Func</a:t>
            </a:r>
            <a:r>
              <a:rPr lang="zh-CN" altLang="en-US" dirty="0"/>
              <a:t>（指令</a:t>
            </a:r>
            <a:r>
              <a:rPr lang="en-US" altLang="zh-CN" dirty="0"/>
              <a:t>5:0</a:t>
            </a:r>
            <a:r>
              <a:rPr lang="zh-CN" altLang="en-US" dirty="0"/>
              <a:t>位）</a:t>
            </a:r>
            <a:endParaRPr lang="en-US" altLang="zh-CN" dirty="0"/>
          </a:p>
          <a:p>
            <a:pPr lvl="2">
              <a:lnSpc>
                <a:spcPct val="120000"/>
              </a:lnSpc>
              <a:spcAft>
                <a:spcPts val="0"/>
              </a:spcAft>
            </a:pPr>
            <a:r>
              <a:rPr lang="zh-CN" altLang="en-US" sz="2000" dirty="0"/>
              <a:t>输出：</a:t>
            </a:r>
            <a:r>
              <a:rPr lang="en-US" altLang="zh-CN" sz="2000" dirty="0"/>
              <a:t>ALU</a:t>
            </a:r>
            <a:r>
              <a:rPr lang="zh-CN" altLang="en-US" sz="2000" dirty="0"/>
              <a:t>运算控制信号 </a:t>
            </a:r>
            <a:r>
              <a:rPr lang="en-US" altLang="zh-CN" sz="2000" dirty="0">
                <a:solidFill>
                  <a:srgbClr val="FF0000"/>
                </a:solidFill>
              </a:rPr>
              <a:t>ALU operation</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位）</a:t>
            </a:r>
            <a:endParaRPr lang="en-US" altLang="zh-CN" dirty="0">
              <a:solidFill>
                <a:srgbClr val="FF0000"/>
              </a:solidFill>
            </a:endParaRPr>
          </a:p>
          <a:p>
            <a:pPr marL="1597025" lvl="3" indent="-335280">
              <a:lnSpc>
                <a:spcPct val="120000"/>
              </a:lnSpc>
              <a:spcAft>
                <a:spcPts val="0"/>
              </a:spcAft>
            </a:pPr>
            <a:endParaRPr lang="en-US" altLang="zh-CN" b="1" dirty="0">
              <a:latin typeface="+mn-lt"/>
            </a:endParaRPr>
          </a:p>
        </p:txBody>
      </p:sp>
      <p:pic>
        <p:nvPicPr>
          <p:cNvPr id="5" name="Picture 1"/>
          <p:cNvPicPr>
            <a:picLocks noChangeAspect="1" noChangeArrowheads="1"/>
          </p:cNvPicPr>
          <p:nvPr/>
        </p:nvPicPr>
        <p:blipFill>
          <a:blip r:embed="rId2" cstate="print"/>
          <a:srcRect/>
          <a:stretch>
            <a:fillRect/>
          </a:stretch>
        </p:blipFill>
        <p:spPr bwMode="auto">
          <a:xfrm>
            <a:off x="2927648" y="5546142"/>
            <a:ext cx="6576902" cy="691170"/>
          </a:xfrm>
          <a:prstGeom prst="rect">
            <a:avLst/>
          </a:prstGeom>
          <a:noFill/>
          <a:ln w="9525">
            <a:noFill/>
            <a:miter lim="800000"/>
            <a:headEnd/>
            <a:tailEnd/>
          </a:ln>
        </p:spPr>
      </p:pic>
      <p:sp>
        <p:nvSpPr>
          <p:cNvPr id="4" name="矩形 3"/>
          <p:cNvSpPr/>
          <p:nvPr/>
        </p:nvSpPr>
        <p:spPr>
          <a:xfrm>
            <a:off x="7785338" y="3518024"/>
            <a:ext cx="2852494" cy="1175706"/>
          </a:xfrm>
          <a:prstGeom prst="rect">
            <a:avLst/>
          </a:prstGeom>
          <a:ln>
            <a:solidFill>
              <a:srgbClr val="C00000"/>
            </a:solidFill>
          </a:ln>
        </p:spPr>
        <p:txBody>
          <a:bodyPr wrap="square">
            <a:spAutoFit/>
          </a:bodyPr>
          <a:lstStyle/>
          <a:p>
            <a:pPr marL="116205" lvl="1">
              <a:lnSpc>
                <a:spcPct val="110000"/>
              </a:lnSpc>
              <a:spcBef>
                <a:spcPts val="0"/>
              </a:spcBef>
              <a:spcAft>
                <a:spcPts val="0"/>
              </a:spcAft>
              <a:buNone/>
            </a:pPr>
            <a:r>
              <a:rPr lang="en-US" altLang="zh-CN" sz="1600" b="0" dirty="0" err="1">
                <a:solidFill>
                  <a:srgbClr val="0000CC"/>
                </a:solidFill>
                <a:ea typeface="宋体" panose="02010600030101010101" pitchFamily="2" charset="-122"/>
              </a:rPr>
              <a:t>ALUOp</a:t>
            </a:r>
            <a:r>
              <a:rPr lang="zh-CN" altLang="en-US" sz="1600" b="0" dirty="0">
                <a:solidFill>
                  <a:srgbClr val="0000CC"/>
                </a:solidFill>
                <a:ea typeface="宋体" panose="02010600030101010101" pitchFamily="2" charset="-122"/>
              </a:rPr>
              <a:t>指明</a:t>
            </a:r>
            <a:r>
              <a:rPr lang="en-US" altLang="zh-CN" sz="1600" b="0" dirty="0">
                <a:solidFill>
                  <a:srgbClr val="0000CC"/>
                </a:solidFill>
                <a:ea typeface="宋体" panose="02010600030101010101" pitchFamily="2" charset="-122"/>
              </a:rPr>
              <a:t>ALU</a:t>
            </a:r>
            <a:r>
              <a:rPr lang="zh-CN" altLang="en-US" sz="1600" b="0" dirty="0">
                <a:solidFill>
                  <a:srgbClr val="0000CC"/>
                </a:solidFill>
                <a:ea typeface="宋体" panose="02010600030101010101" pitchFamily="2" charset="-122"/>
              </a:rPr>
              <a:t>的运算类型</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00</a:t>
            </a:r>
            <a:r>
              <a:rPr lang="zh-CN" altLang="en-US" sz="1600" b="0" dirty="0">
                <a:solidFill>
                  <a:srgbClr val="0000CC"/>
                </a:solidFill>
                <a:ea typeface="宋体" panose="02010600030101010101" pitchFamily="2" charset="-122"/>
              </a:rPr>
              <a:t>：访存指令所需加法</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01</a:t>
            </a:r>
            <a:r>
              <a:rPr lang="zh-CN" altLang="en-US" sz="1600" b="0" dirty="0">
                <a:solidFill>
                  <a:srgbClr val="0000CC"/>
                </a:solidFill>
                <a:ea typeface="宋体" panose="02010600030101010101" pitchFamily="2" charset="-122"/>
              </a:rPr>
              <a:t>：</a:t>
            </a:r>
            <a:r>
              <a:rPr lang="en-US" altLang="zh-CN" sz="1600" b="0" dirty="0" err="1">
                <a:solidFill>
                  <a:srgbClr val="0000CC"/>
                </a:solidFill>
                <a:ea typeface="宋体" panose="02010600030101010101" pitchFamily="2" charset="-122"/>
              </a:rPr>
              <a:t>beq</a:t>
            </a:r>
            <a:r>
              <a:rPr lang="zh-CN" altLang="en-US" sz="1600" b="0" dirty="0">
                <a:solidFill>
                  <a:srgbClr val="0000CC"/>
                </a:solidFill>
                <a:ea typeface="宋体" panose="02010600030101010101" pitchFamily="2" charset="-122"/>
              </a:rPr>
              <a:t>指令所需减法</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10</a:t>
            </a:r>
            <a:r>
              <a:rPr lang="zh-CN" altLang="en-US" sz="1600" b="0" dirty="0">
                <a:solidFill>
                  <a:srgbClr val="0000CC"/>
                </a:solidFill>
                <a:ea typeface="宋体" panose="02010600030101010101" pitchFamily="2" charset="-122"/>
              </a:rPr>
              <a:t>：</a:t>
            </a:r>
            <a:r>
              <a:rPr lang="en-US" altLang="zh-CN" sz="1600" b="0" dirty="0">
                <a:solidFill>
                  <a:srgbClr val="0000CC"/>
                </a:solidFill>
                <a:ea typeface="宋体" panose="02010600030101010101" pitchFamily="2" charset="-122"/>
              </a:rPr>
              <a:t>R</a:t>
            </a:r>
            <a:r>
              <a:rPr lang="zh-CN" altLang="en-US" sz="1600" b="0" dirty="0">
                <a:solidFill>
                  <a:srgbClr val="0000CC"/>
                </a:solidFill>
                <a:ea typeface="宋体" panose="02010600030101010101" pitchFamily="2" charset="-122"/>
              </a:rPr>
              <a:t>型指令功能码决定</a:t>
            </a:r>
            <a:endParaRPr lang="en-US" altLang="zh-CN" sz="1600" b="0" dirty="0">
              <a:solidFill>
                <a:srgbClr val="0000CC"/>
              </a:solidFill>
              <a:ea typeface="宋体" panose="02010600030101010101" pitchFamily="2" charset="-122"/>
            </a:endParaRPr>
          </a:p>
        </p:txBody>
      </p:sp>
      <p:sp>
        <p:nvSpPr>
          <p:cNvPr id="6" name="矩形标注 5"/>
          <p:cNvSpPr/>
          <p:nvPr/>
        </p:nvSpPr>
        <p:spPr bwMode="auto">
          <a:xfrm>
            <a:off x="959485" y="4497814"/>
            <a:ext cx="1259632" cy="866294"/>
          </a:xfrm>
          <a:prstGeom prst="wedgeRectCallout">
            <a:avLst>
              <a:gd name="adj1" fmla="val 133123"/>
              <a:gd name="adj2" fmla="val -46511"/>
            </a:avLst>
          </a:prstGeom>
          <a:blipFill dpi="0" rotWithShape="1">
            <a:blip r:embed="rId3" cstate="print"/>
            <a:srcRect/>
            <a:tile tx="0" ty="0" sx="100000" sy="100000" flip="none" algn="tl"/>
          </a:blipFill>
          <a:ln w="12700">
            <a:solidFill>
              <a:srgbClr val="FF9900"/>
            </a:solidFill>
            <a:round/>
          </a:ln>
          <a:effectLst/>
        </p:spPr>
        <p:txBody>
          <a:bodyPr lIns="63500" tIns="97200" rIns="63500" bIns="61200" rtlCol="0" anchor="ctr">
            <a:spAutoFit/>
          </a:bodyPr>
          <a:lstStyle/>
          <a:p>
            <a:pPr>
              <a:buNone/>
            </a:pPr>
            <a:r>
              <a:rPr lang="zh-CN" altLang="en-US" dirty="0"/>
              <a:t>仅用于</a:t>
            </a:r>
            <a:r>
              <a:rPr lang="en-US" altLang="zh-CN" dirty="0"/>
              <a:t>R</a:t>
            </a:r>
            <a:r>
              <a:rPr lang="zh-CN" altLang="en-US" dirty="0"/>
              <a:t>型指令的</a:t>
            </a:r>
            <a:r>
              <a:rPr lang="en-US" altLang="zh-CN" dirty="0"/>
              <a:t>8</a:t>
            </a:r>
            <a:r>
              <a:rPr lang="zh-CN" altLang="en-US" dirty="0"/>
              <a:t>种算逻指令</a:t>
            </a:r>
          </a:p>
        </p:txBody>
      </p:sp>
      <p:sp>
        <p:nvSpPr>
          <p:cNvPr id="8" name="标题 1"/>
          <p:cNvSpPr>
            <a:spLocks noGrp="1"/>
          </p:cNvSpPr>
          <p:nvPr/>
        </p:nvSpPr>
        <p:spPr>
          <a:xfrm>
            <a:off x="-16192" y="189549"/>
            <a:ext cx="52578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1991545" y="1078955"/>
            <a:ext cx="8479831" cy="5726726"/>
          </a:xfrm>
          <a:prstGeom prst="rect">
            <a:avLst/>
          </a:prstGeom>
        </p:spPr>
      </p:pic>
      <p:sp>
        <p:nvSpPr>
          <p:cNvPr id="300034" name="Rectangle 2"/>
          <p:cNvSpPr>
            <a:spLocks noGrp="1" noChangeArrowheads="1"/>
          </p:cNvSpPr>
          <p:nvPr>
            <p:ph type="title"/>
          </p:nvPr>
        </p:nvSpPr>
        <p:spPr>
          <a:xfrm>
            <a:off x="0" y="205105"/>
            <a:ext cx="11167110" cy="478790"/>
          </a:xfrm>
        </p:spPr>
        <p:txBody>
          <a:bodyPr wrap="square"/>
          <a:lstStyle/>
          <a:p>
            <a:r>
              <a:rPr lang="en-US" altLang="zh-CN" sz="3200" dirty="0">
                <a:sym typeface="+mn-ea"/>
              </a:rPr>
              <a:t>3.2  </a:t>
            </a:r>
            <a:r>
              <a:rPr lang="zh-CN" altLang="en-US" sz="3200" dirty="0"/>
              <a:t>单周期控制器设计</a:t>
            </a:r>
            <a:r>
              <a:rPr lang="en-US" altLang="zh-CN" sz="3200" dirty="0"/>
              <a:t>——</a:t>
            </a:r>
            <a:r>
              <a:rPr lang="zh-CN" altLang="en-US" sz="3200" dirty="0"/>
              <a:t>模型机数据通路（带控制单元）</a:t>
            </a:r>
          </a:p>
        </p:txBody>
      </p:sp>
      <p:grpSp>
        <p:nvGrpSpPr>
          <p:cNvPr id="9" name="组合 8"/>
          <p:cNvGrpSpPr/>
          <p:nvPr/>
        </p:nvGrpSpPr>
        <p:grpSpPr>
          <a:xfrm>
            <a:off x="1847528" y="2060849"/>
            <a:ext cx="7200800" cy="4556249"/>
            <a:chOff x="251520" y="2060848"/>
            <a:chExt cx="7200800" cy="4556249"/>
          </a:xfrm>
        </p:grpSpPr>
        <p:sp>
          <p:nvSpPr>
            <p:cNvPr id="3" name="椭圆 2"/>
            <p:cNvSpPr/>
            <p:nvPr/>
          </p:nvSpPr>
          <p:spPr bwMode="auto">
            <a:xfrm>
              <a:off x="6660232" y="2060848"/>
              <a:ext cx="792088" cy="648072"/>
            </a:xfrm>
            <a:prstGeom prst="ellipse">
              <a:avLst/>
            </a:prstGeom>
            <a:solidFill>
              <a:schemeClr val="bg1">
                <a:lumMod val="50000"/>
                <a:alpha val="37000"/>
              </a:schemeClr>
            </a:solidFill>
            <a:ln w="12700" cap="flat" cmpd="sng" algn="ctr">
              <a:solidFill>
                <a:srgbClr val="0000CC"/>
              </a:solidFill>
              <a:prstDash val="sysDash"/>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7" name="直接箭头连接符 6"/>
            <p:cNvCxnSpPr>
              <a:stCxn id="3" idx="3"/>
            </p:cNvCxnSpPr>
            <p:nvPr/>
          </p:nvCxnSpPr>
          <p:spPr bwMode="auto">
            <a:xfrm flipH="1">
              <a:off x="2123728" y="2614012"/>
              <a:ext cx="4652503" cy="3335268"/>
            </a:xfrm>
            <a:prstGeom prst="straightConnector1">
              <a:avLst/>
            </a:prstGeom>
            <a:noFill/>
            <a:ln w="19050" cap="flat" cmpd="sng" algn="ctr">
              <a:solidFill>
                <a:srgbClr val="0000CC"/>
              </a:solidFill>
              <a:prstDash val="sysDash"/>
              <a:round/>
              <a:headEnd type="none" w="med" len="med"/>
              <a:tailEnd type="triangle"/>
            </a:ln>
            <a:effectLst/>
          </p:spPr>
        </p:cxnSp>
        <p:sp>
          <p:nvSpPr>
            <p:cNvPr id="8" name="文本框 7"/>
            <p:cNvSpPr txBox="1"/>
            <p:nvPr/>
          </p:nvSpPr>
          <p:spPr>
            <a:xfrm>
              <a:off x="251520" y="6007699"/>
              <a:ext cx="3024336" cy="609398"/>
            </a:xfrm>
            <a:prstGeom prst="rect">
              <a:avLst/>
            </a:prstGeom>
            <a:noFill/>
          </p:spPr>
          <p:txBody>
            <a:bodyPr wrap="square" rtlCol="0">
              <a:spAutoFit/>
            </a:bodyPr>
            <a:lstStyle/>
            <a:p>
              <a:pPr>
                <a:buNone/>
              </a:pPr>
              <a:r>
                <a:rPr lang="en-US" altLang="zh-CN" sz="1600" b="0" dirty="0" err="1"/>
                <a:t>PCSrc</a:t>
              </a:r>
              <a:r>
                <a:rPr lang="en-US" altLang="zh-CN" sz="1600" b="0" dirty="0"/>
                <a:t>=Branch &amp; Zero</a:t>
              </a:r>
            </a:p>
            <a:p>
              <a:pPr>
                <a:buNone/>
              </a:pPr>
              <a:r>
                <a:rPr lang="en-US" altLang="zh-CN" sz="1600" b="0" dirty="0" err="1"/>
                <a:t>Beq</a:t>
              </a:r>
              <a:r>
                <a:rPr lang="zh-CN" altLang="en-US" sz="1600" b="0" dirty="0"/>
                <a:t>指令：</a:t>
              </a:r>
              <a:r>
                <a:rPr lang="en-US" altLang="zh-CN" sz="1600" b="0" dirty="0"/>
                <a:t>Branch=1</a:t>
              </a:r>
              <a:r>
                <a:rPr lang="zh-CN" altLang="en-US" sz="1600" b="0" dirty="0"/>
                <a:t>（有效）</a:t>
              </a:r>
              <a:endParaRPr lang="en-US" altLang="zh-CN" sz="1600" b="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3520" y="836930"/>
            <a:ext cx="10049510" cy="5898515"/>
          </a:xfrm>
        </p:spPr>
        <p:txBody>
          <a:bodyPr wrap="square"/>
          <a:lstStyle/>
          <a:p>
            <a:r>
              <a:rPr lang="zh-CN" altLang="en-US" sz="1600" dirty="0"/>
              <a:t>主控单元控制信号分析</a:t>
            </a:r>
            <a:endParaRPr lang="en-US" altLang="zh-CN" sz="1600" dirty="0"/>
          </a:p>
          <a:p>
            <a:pPr lvl="1"/>
            <a:r>
              <a:rPr lang="en-US" altLang="zh-CN" sz="1600" dirty="0" err="1"/>
              <a:t>RegDst</a:t>
            </a:r>
            <a:endParaRPr lang="en-US" altLang="zh-CN" sz="1600" dirty="0"/>
          </a:p>
          <a:p>
            <a:pPr lvl="2"/>
            <a:r>
              <a:rPr lang="en-US" altLang="zh-CN" sz="1600" dirty="0"/>
              <a:t>R</a:t>
            </a:r>
            <a:r>
              <a:rPr lang="zh-CN" altLang="en-US" sz="1600" dirty="0"/>
              <a:t>型指令：</a:t>
            </a:r>
            <a:r>
              <a:rPr lang="en-US" altLang="zh-CN" sz="1600" dirty="0" err="1">
                <a:solidFill>
                  <a:srgbClr val="FF0000"/>
                </a:solidFill>
              </a:rPr>
              <a:t>RegDst</a:t>
            </a:r>
            <a:r>
              <a:rPr lang="en-US" altLang="zh-CN" sz="1600" dirty="0">
                <a:solidFill>
                  <a:srgbClr val="FF0000"/>
                </a:solidFill>
              </a:rPr>
              <a:t>=1</a:t>
            </a:r>
            <a:r>
              <a:rPr lang="zh-CN" altLang="en-US" sz="1600" dirty="0"/>
              <a:t>，选择</a:t>
            </a:r>
            <a:r>
              <a:rPr lang="en-US" altLang="zh-CN" sz="1600" dirty="0"/>
              <a:t>Rd</a:t>
            </a:r>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RegDst</a:t>
            </a:r>
            <a:r>
              <a:rPr lang="en-US" altLang="zh-CN" sz="1600" dirty="0">
                <a:solidFill>
                  <a:srgbClr val="FF0000"/>
                </a:solidFill>
              </a:rPr>
              <a:t>=0</a:t>
            </a:r>
            <a:r>
              <a:rPr lang="zh-CN" altLang="en-US" sz="1600" dirty="0"/>
              <a:t>，选择</a:t>
            </a:r>
            <a:r>
              <a:rPr lang="en-US" altLang="zh-CN" sz="1600" dirty="0" err="1"/>
              <a:t>Rt</a:t>
            </a:r>
            <a:endParaRPr lang="en-US" altLang="zh-CN" sz="1600" dirty="0"/>
          </a:p>
          <a:p>
            <a:pPr lvl="2"/>
            <a:r>
              <a:rPr lang="zh-CN" altLang="en-US" sz="1600" dirty="0"/>
              <a:t>其他指令：不关心</a:t>
            </a:r>
            <a:endParaRPr lang="en-US" altLang="zh-CN" sz="1600" dirty="0"/>
          </a:p>
          <a:p>
            <a:pPr lvl="1"/>
            <a:r>
              <a:rPr lang="en-US" altLang="zh-CN" sz="1600" dirty="0" err="1"/>
              <a:t>ALUScr</a:t>
            </a:r>
            <a:endParaRPr lang="en-US" altLang="zh-CN" sz="1600" dirty="0"/>
          </a:p>
          <a:p>
            <a:pPr lvl="2"/>
            <a:r>
              <a:rPr lang="en-US" altLang="zh-CN" sz="1600" dirty="0"/>
              <a:t>R</a:t>
            </a:r>
            <a:r>
              <a:rPr lang="zh-CN" altLang="en-US" sz="1600" dirty="0"/>
              <a:t>型指令：</a:t>
            </a:r>
            <a:r>
              <a:rPr lang="en-US" altLang="zh-CN" sz="1600" dirty="0" err="1">
                <a:solidFill>
                  <a:srgbClr val="FF0000"/>
                </a:solidFill>
              </a:rPr>
              <a:t>ALUSrc</a:t>
            </a:r>
            <a:r>
              <a:rPr lang="en-US" altLang="zh-CN" sz="1600" dirty="0">
                <a:solidFill>
                  <a:srgbClr val="FF0000"/>
                </a:solidFill>
              </a:rPr>
              <a:t>=0</a:t>
            </a:r>
            <a:r>
              <a:rPr lang="zh-CN" altLang="en-US" sz="1600" dirty="0"/>
              <a:t>，选择寄存器堆的 </a:t>
            </a:r>
            <a:r>
              <a:rPr lang="en-US" altLang="zh-CN" sz="1600" dirty="0"/>
              <a:t>Read data2 </a:t>
            </a:r>
            <a:r>
              <a:rPr lang="zh-CN" altLang="en-US" sz="1600" dirty="0"/>
              <a:t>输出</a:t>
            </a:r>
            <a:endParaRPr lang="en-US" altLang="zh-CN" sz="1600" dirty="0"/>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ALUSrc</a:t>
            </a:r>
            <a:r>
              <a:rPr lang="en-US" altLang="zh-CN" sz="1600" dirty="0">
                <a:solidFill>
                  <a:srgbClr val="FF0000"/>
                </a:solidFill>
              </a:rPr>
              <a:t>=1</a:t>
            </a:r>
            <a:r>
              <a:rPr lang="zh-CN" altLang="en-US" sz="1600" dirty="0"/>
              <a:t>，选择</a:t>
            </a:r>
            <a:r>
              <a:rPr lang="en-US" altLang="zh-CN" sz="1600" dirty="0" err="1"/>
              <a:t>Signext</a:t>
            </a:r>
            <a:r>
              <a:rPr lang="zh-CN" altLang="en-US" sz="1600" dirty="0"/>
              <a:t>的输出</a:t>
            </a:r>
            <a:endParaRPr lang="en-US" altLang="zh-CN" sz="1600" dirty="0"/>
          </a:p>
          <a:p>
            <a:pPr lvl="2"/>
            <a:r>
              <a:rPr lang="en-US" altLang="zh-CN" sz="1600" dirty="0" err="1"/>
              <a:t>Sw</a:t>
            </a:r>
            <a:r>
              <a:rPr lang="zh-CN" altLang="en-US" sz="1600" dirty="0"/>
              <a:t>指令：</a:t>
            </a:r>
            <a:r>
              <a:rPr lang="en-US" altLang="zh-CN" sz="1600" dirty="0" err="1">
                <a:solidFill>
                  <a:srgbClr val="FF0000"/>
                </a:solidFill>
              </a:rPr>
              <a:t>ALUSrc</a:t>
            </a:r>
            <a:r>
              <a:rPr lang="en-US" altLang="zh-CN" sz="1600" dirty="0">
                <a:solidFill>
                  <a:srgbClr val="FF0000"/>
                </a:solidFill>
              </a:rPr>
              <a:t>=1</a:t>
            </a:r>
            <a:r>
              <a:rPr lang="zh-CN" altLang="en-US" sz="1600" dirty="0"/>
              <a:t>，选择</a:t>
            </a:r>
            <a:r>
              <a:rPr lang="en-US" altLang="zh-CN" sz="1600" dirty="0" err="1"/>
              <a:t>Signext</a:t>
            </a:r>
            <a:r>
              <a:rPr lang="zh-CN" altLang="en-US" sz="1600" dirty="0"/>
              <a:t>的输出</a:t>
            </a:r>
            <a:endParaRPr lang="en-US" altLang="zh-CN" sz="1600" dirty="0"/>
          </a:p>
          <a:p>
            <a:pPr lvl="2"/>
            <a:r>
              <a:rPr lang="en-US" altLang="zh-CN" sz="1600" dirty="0" err="1"/>
              <a:t>Beq</a:t>
            </a:r>
            <a:r>
              <a:rPr lang="zh-CN" altLang="en-US" sz="1600" dirty="0"/>
              <a:t>指令（减法运算）：</a:t>
            </a:r>
            <a:r>
              <a:rPr lang="en-US" altLang="zh-CN" sz="1600" dirty="0">
                <a:solidFill>
                  <a:srgbClr val="FF0000"/>
                </a:solidFill>
              </a:rPr>
              <a:t> </a:t>
            </a:r>
            <a:r>
              <a:rPr lang="en-US" altLang="zh-CN" sz="1600" dirty="0" err="1">
                <a:solidFill>
                  <a:srgbClr val="FF0000"/>
                </a:solidFill>
              </a:rPr>
              <a:t>ALUSrc</a:t>
            </a:r>
            <a:r>
              <a:rPr lang="en-US" altLang="zh-CN" sz="1600" dirty="0">
                <a:solidFill>
                  <a:srgbClr val="FF0000"/>
                </a:solidFill>
              </a:rPr>
              <a:t>=0</a:t>
            </a:r>
            <a:r>
              <a:rPr lang="zh-CN" altLang="en-US" sz="1600" dirty="0"/>
              <a:t>，选择 </a:t>
            </a:r>
            <a:r>
              <a:rPr lang="en-US" altLang="zh-CN" sz="1600" dirty="0"/>
              <a:t>Read data2 </a:t>
            </a:r>
            <a:r>
              <a:rPr lang="zh-CN" altLang="en-US" sz="1600" dirty="0"/>
              <a:t>输出</a:t>
            </a:r>
            <a:endParaRPr lang="en-US" altLang="zh-CN" sz="1600" dirty="0"/>
          </a:p>
          <a:p>
            <a:pPr lvl="1"/>
            <a:r>
              <a:rPr lang="en-US" altLang="zh-CN" sz="1600" dirty="0" err="1"/>
              <a:t>MemtoReg</a:t>
            </a:r>
            <a:endParaRPr lang="en-US" altLang="zh-CN" sz="1600" dirty="0"/>
          </a:p>
          <a:p>
            <a:pPr lvl="2"/>
            <a:r>
              <a:rPr lang="en-US" altLang="zh-CN" sz="1600" dirty="0"/>
              <a:t>R</a:t>
            </a:r>
            <a:r>
              <a:rPr lang="zh-CN" altLang="en-US" sz="1600" dirty="0"/>
              <a:t>型指令：</a:t>
            </a:r>
            <a:r>
              <a:rPr lang="en-US" altLang="zh-CN" sz="1600" dirty="0" err="1">
                <a:solidFill>
                  <a:srgbClr val="FF0000"/>
                </a:solidFill>
              </a:rPr>
              <a:t>MemtoReg</a:t>
            </a:r>
            <a:r>
              <a:rPr lang="en-US" altLang="zh-CN" sz="1600" dirty="0">
                <a:solidFill>
                  <a:srgbClr val="FF0000"/>
                </a:solidFill>
              </a:rPr>
              <a:t>=0</a:t>
            </a:r>
            <a:r>
              <a:rPr lang="zh-CN" altLang="en-US" sz="1600" dirty="0"/>
              <a:t>，选择 </a:t>
            </a:r>
            <a:r>
              <a:rPr lang="en-US" altLang="zh-CN" sz="1600" dirty="0"/>
              <a:t>ALU </a:t>
            </a:r>
            <a:r>
              <a:rPr lang="zh-CN" altLang="en-US" sz="1600" dirty="0"/>
              <a:t>输出</a:t>
            </a:r>
            <a:endParaRPr lang="en-US" altLang="zh-CN" sz="1600" dirty="0"/>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MemtoReg</a:t>
            </a:r>
            <a:r>
              <a:rPr lang="en-US" altLang="zh-CN" sz="1600" dirty="0">
                <a:solidFill>
                  <a:srgbClr val="FF0000"/>
                </a:solidFill>
              </a:rPr>
              <a:t>=1</a:t>
            </a:r>
            <a:r>
              <a:rPr lang="zh-CN" altLang="en-US" sz="1600" dirty="0"/>
              <a:t>，选择数据存储器</a:t>
            </a:r>
            <a:r>
              <a:rPr lang="en-US" altLang="zh-CN" sz="1600" dirty="0"/>
              <a:t>DM</a:t>
            </a:r>
            <a:r>
              <a:rPr lang="zh-CN" altLang="en-US" sz="1600" dirty="0"/>
              <a:t>输出</a:t>
            </a:r>
            <a:endParaRPr lang="en-US" altLang="zh-CN" sz="1600" dirty="0"/>
          </a:p>
          <a:p>
            <a:pPr lvl="2"/>
            <a:r>
              <a:rPr lang="zh-CN" altLang="en-US" sz="1600" dirty="0"/>
              <a:t>其他指令：</a:t>
            </a:r>
            <a:r>
              <a:rPr lang="en-US" altLang="zh-CN" sz="1600" dirty="0">
                <a:solidFill>
                  <a:srgbClr val="FF0000"/>
                </a:solidFill>
              </a:rPr>
              <a:t> </a:t>
            </a:r>
            <a:r>
              <a:rPr lang="zh-CN" altLang="en-US" sz="1600" dirty="0"/>
              <a:t>不关心</a:t>
            </a:r>
            <a:endParaRPr lang="en-US" altLang="zh-CN" sz="1600" dirty="0"/>
          </a:p>
          <a:p>
            <a:pPr lvl="1"/>
            <a:r>
              <a:rPr lang="en-US" altLang="zh-CN" sz="1600" dirty="0"/>
              <a:t>Branch</a:t>
            </a:r>
          </a:p>
          <a:p>
            <a:pPr lvl="2"/>
            <a:r>
              <a:rPr lang="en-US" altLang="zh-CN" sz="1600" dirty="0" err="1"/>
              <a:t>Beq</a:t>
            </a:r>
            <a:r>
              <a:rPr lang="zh-CN" altLang="en-US" sz="1600" dirty="0"/>
              <a:t>指令：</a:t>
            </a:r>
            <a:r>
              <a:rPr lang="en-US" altLang="zh-CN" sz="1600" dirty="0">
                <a:solidFill>
                  <a:srgbClr val="FF0000"/>
                </a:solidFill>
              </a:rPr>
              <a:t>Branch=1</a:t>
            </a:r>
            <a:r>
              <a:rPr lang="zh-CN" altLang="en-US" sz="1600" dirty="0"/>
              <a:t>，此时若</a:t>
            </a:r>
            <a:r>
              <a:rPr lang="en-US" altLang="zh-CN" sz="1600" dirty="0"/>
              <a:t>Zero=1</a:t>
            </a:r>
            <a:r>
              <a:rPr lang="zh-CN" altLang="en-US" sz="1600" dirty="0"/>
              <a:t>，</a:t>
            </a:r>
            <a:r>
              <a:rPr lang="en-US" altLang="zh-CN" sz="1600" dirty="0"/>
              <a:t>PC</a:t>
            </a:r>
            <a:r>
              <a:rPr lang="zh-CN" altLang="en-US" sz="1600" dirty="0"/>
              <a:t>输入选择加法器</a:t>
            </a:r>
            <a:r>
              <a:rPr lang="en-US" altLang="zh-CN" sz="1600" dirty="0" err="1"/>
              <a:t>Nadd</a:t>
            </a:r>
            <a:r>
              <a:rPr lang="zh-CN" altLang="en-US" sz="1600" dirty="0"/>
              <a:t>输出（分支指令目的地址），否则选择加法器</a:t>
            </a:r>
            <a:r>
              <a:rPr lang="en-US" altLang="zh-CN" sz="1600" dirty="0"/>
              <a:t>Add</a:t>
            </a:r>
            <a:r>
              <a:rPr lang="zh-CN" altLang="en-US" sz="1600" dirty="0"/>
              <a:t>输出（</a:t>
            </a:r>
            <a:r>
              <a:rPr lang="en-US" altLang="zh-CN" sz="1600" dirty="0"/>
              <a:t>PC+4</a:t>
            </a:r>
            <a:r>
              <a:rPr lang="zh-CN" altLang="en-US" sz="1600" dirty="0"/>
              <a:t>）</a:t>
            </a:r>
            <a:endParaRPr lang="en-US" altLang="zh-CN" sz="1600" dirty="0"/>
          </a:p>
          <a:p>
            <a:pPr lvl="2"/>
            <a:r>
              <a:rPr lang="zh-CN" altLang="en-US" sz="1600" dirty="0"/>
              <a:t>其他指令：</a:t>
            </a:r>
            <a:r>
              <a:rPr lang="en-US" altLang="zh-CN" sz="1600" dirty="0">
                <a:solidFill>
                  <a:srgbClr val="FF0000"/>
                </a:solidFill>
              </a:rPr>
              <a:t>Branch=0</a:t>
            </a:r>
            <a:r>
              <a:rPr lang="zh-CN" altLang="en-US" sz="1600" dirty="0"/>
              <a:t>，</a:t>
            </a:r>
            <a:r>
              <a:rPr lang="en-US" altLang="zh-CN" sz="1600" dirty="0"/>
              <a:t>PC</a:t>
            </a:r>
            <a:r>
              <a:rPr lang="zh-CN" altLang="en-US" sz="1600" dirty="0"/>
              <a:t>输入选择加法器</a:t>
            </a:r>
            <a:r>
              <a:rPr lang="en-US" altLang="zh-CN" sz="1600" dirty="0"/>
              <a:t>Add</a:t>
            </a:r>
            <a:r>
              <a:rPr lang="zh-CN" altLang="en-US" sz="1600" dirty="0"/>
              <a:t>输出（</a:t>
            </a:r>
            <a:r>
              <a:rPr lang="en-US" altLang="zh-CN" sz="1600" dirty="0"/>
              <a:t>PC+4</a:t>
            </a:r>
            <a:r>
              <a:rPr lang="zh-CN" altLang="en-US" sz="1600" dirty="0"/>
              <a:t>）</a:t>
            </a:r>
            <a:endParaRPr lang="en-US" altLang="zh-CN" sz="1600" dirty="0"/>
          </a:p>
          <a:p>
            <a:pPr lvl="2"/>
            <a:endParaRPr lang="en-US" altLang="zh-CN" sz="1600" dirty="0"/>
          </a:p>
        </p:txBody>
      </p:sp>
      <p:sp>
        <p:nvSpPr>
          <p:cNvPr id="5" name="文本框 4"/>
          <p:cNvSpPr txBox="1"/>
          <p:nvPr/>
        </p:nvSpPr>
        <p:spPr>
          <a:xfrm>
            <a:off x="7392144" y="980728"/>
            <a:ext cx="3888432" cy="1366528"/>
          </a:xfrm>
          <a:prstGeom prst="rect">
            <a:avLst/>
          </a:prstGeom>
          <a:noFill/>
        </p:spPr>
        <p:txBody>
          <a:bodyPr wrap="square" rtlCol="0">
            <a:spAutoFit/>
          </a:bodyPr>
          <a:lstStyle/>
          <a:p>
            <a:pPr>
              <a:buNone/>
            </a:pPr>
            <a:r>
              <a:rPr lang="zh-CN" altLang="en-US" dirty="0">
                <a:solidFill>
                  <a:srgbClr val="FF0000"/>
                </a:solidFill>
              </a:rPr>
              <a:t>读写控制信号：</a:t>
            </a:r>
            <a:endParaRPr lang="en-US" altLang="zh-CN" dirty="0">
              <a:solidFill>
                <a:srgbClr val="FF0000"/>
              </a:solidFill>
            </a:endParaRPr>
          </a:p>
          <a:p>
            <a:pPr>
              <a:buNone/>
            </a:pPr>
            <a:r>
              <a:rPr lang="en-US" altLang="zh-CN" dirty="0" err="1">
                <a:solidFill>
                  <a:srgbClr val="FF0000"/>
                </a:solidFill>
              </a:rPr>
              <a:t>WriteReg</a:t>
            </a:r>
            <a:r>
              <a:rPr lang="en-US" altLang="zh-CN" dirty="0">
                <a:solidFill>
                  <a:srgbClr val="FF0000"/>
                </a:solidFill>
              </a:rPr>
              <a:t>, </a:t>
            </a:r>
          </a:p>
          <a:p>
            <a:pPr>
              <a:buNone/>
            </a:pPr>
            <a:r>
              <a:rPr lang="en-US" altLang="zh-CN" dirty="0" err="1">
                <a:solidFill>
                  <a:srgbClr val="FF0000"/>
                </a:solidFill>
              </a:rPr>
              <a:t>MemRead</a:t>
            </a:r>
            <a:r>
              <a:rPr lang="en-US" altLang="zh-CN" dirty="0">
                <a:solidFill>
                  <a:srgbClr val="FF0000"/>
                </a:solidFill>
              </a:rPr>
              <a:t>, </a:t>
            </a:r>
          </a:p>
          <a:p>
            <a:pPr>
              <a:buNone/>
            </a:pPr>
            <a:r>
              <a:rPr lang="en-US" altLang="zh-CN" dirty="0" err="1">
                <a:solidFill>
                  <a:srgbClr val="FF0000"/>
                </a:solidFill>
              </a:rPr>
              <a:t>MemWrite</a:t>
            </a:r>
            <a:endParaRPr lang="zh-CN" altLang="en-US" dirty="0">
              <a:solidFill>
                <a:srgbClr val="FF0000"/>
              </a:solidFill>
            </a:endParaRPr>
          </a:p>
        </p:txBody>
      </p: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arn(inVertical)">
                                      <p:cBhvr>
                                        <p:cTn id="29" dur="500"/>
                                        <p:tgtEl>
                                          <p:spTgt spid="3">
                                            <p:txEl>
                                              <p:pRg st="6" end="6"/>
                                            </p:txEl>
                                          </p:spTgt>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arn(inVertical)">
                                      <p:cBhvr>
                                        <p:cTn id="32" dur="500"/>
                                        <p:tgtEl>
                                          <p:spTgt spid="3">
                                            <p:txEl>
                                              <p:pRg st="7" end="7"/>
                                            </p:txEl>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arn(inVertical)">
                                      <p:cBhvr>
                                        <p:cTn id="35" dur="500"/>
                                        <p:tgtEl>
                                          <p:spTgt spid="3">
                                            <p:txEl>
                                              <p:pRg st="8" end="8"/>
                                            </p:txEl>
                                          </p:spTgt>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arn(inVertical)">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barn(inVertical)">
                                      <p:cBhvr>
                                        <p:cTn id="43" dur="500"/>
                                        <p:tgtEl>
                                          <p:spTgt spid="3">
                                            <p:txEl>
                                              <p:pRg st="10" end="10"/>
                                            </p:txEl>
                                          </p:spTgt>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barn(inVertical)">
                                      <p:cBhvr>
                                        <p:cTn id="46" dur="500"/>
                                        <p:tgtEl>
                                          <p:spTgt spid="3">
                                            <p:txEl>
                                              <p:pRg st="11" end="11"/>
                                            </p:txEl>
                                          </p:spTgt>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barn(inVertical)">
                                      <p:cBhvr>
                                        <p:cTn id="49" dur="500"/>
                                        <p:tgtEl>
                                          <p:spTgt spid="3">
                                            <p:txEl>
                                              <p:pRg st="12" end="12"/>
                                            </p:txEl>
                                          </p:spTgt>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barn(inVertical)">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barn(inVertical)">
                                      <p:cBhvr>
                                        <p:cTn id="57" dur="500"/>
                                        <p:tgtEl>
                                          <p:spTgt spid="3">
                                            <p:txEl>
                                              <p:pRg st="14" end="14"/>
                                            </p:txEl>
                                          </p:spTgt>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3">
                                            <p:txEl>
                                              <p:pRg st="15" end="15"/>
                                            </p:txEl>
                                          </p:spTgt>
                                        </p:tgtEl>
                                        <p:attrNameLst>
                                          <p:attrName>style.visibility</p:attrName>
                                        </p:attrNameLst>
                                      </p:cBhvr>
                                      <p:to>
                                        <p:strVal val="visible"/>
                                      </p:to>
                                    </p:set>
                                    <p:animEffect transition="in" filter="barn(inVertical)">
                                      <p:cBhvr>
                                        <p:cTn id="60" dur="500"/>
                                        <p:tgtEl>
                                          <p:spTgt spid="3">
                                            <p:txEl>
                                              <p:pRg st="15" end="15"/>
                                            </p:txEl>
                                          </p:spTgt>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Effect transition="in" filter="barn(inVertical)">
                                      <p:cBhvr>
                                        <p:cTn id="63"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08212" y="953691"/>
            <a:ext cx="7848600" cy="397545"/>
          </a:xfrm>
        </p:spPr>
        <p:txBody>
          <a:bodyPr/>
          <a:lstStyle/>
          <a:p>
            <a:pPr marL="0" indent="0" algn="ctr">
              <a:buNone/>
            </a:pPr>
            <a:r>
              <a:rPr lang="zh-CN" altLang="en-US" sz="1800" b="0" dirty="0">
                <a:solidFill>
                  <a:srgbClr val="0000CC"/>
                </a:solidFill>
              </a:rPr>
              <a:t>主控单元真值表</a:t>
            </a:r>
          </a:p>
        </p:txBody>
      </p:sp>
      <p:pic>
        <p:nvPicPr>
          <p:cNvPr id="281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277408"/>
            <a:ext cx="7776592" cy="5031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组合 9"/>
          <p:cNvGrpSpPr/>
          <p:nvPr/>
        </p:nvGrpSpPr>
        <p:grpSpPr>
          <a:xfrm>
            <a:off x="3864024" y="5569366"/>
            <a:ext cx="6336432" cy="1244011"/>
            <a:chOff x="2340024" y="5508584"/>
            <a:chExt cx="6336432" cy="1244011"/>
          </a:xfrm>
        </p:grpSpPr>
        <p:sp>
          <p:nvSpPr>
            <p:cNvPr id="5" name="圆角矩形 4"/>
            <p:cNvSpPr/>
            <p:nvPr/>
          </p:nvSpPr>
          <p:spPr bwMode="auto">
            <a:xfrm>
              <a:off x="2340024" y="5508584"/>
              <a:ext cx="6336432" cy="648072"/>
            </a:xfrm>
            <a:prstGeom prst="roundRect">
              <a:avLst/>
            </a:prstGeom>
            <a:solidFill>
              <a:srgbClr val="FFFF99">
                <a:alpha val="45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6" name="文本框 5"/>
            <p:cNvSpPr txBox="1"/>
            <p:nvPr/>
          </p:nvSpPr>
          <p:spPr>
            <a:xfrm>
              <a:off x="3923928" y="6424813"/>
              <a:ext cx="2736303" cy="327782"/>
            </a:xfrm>
            <a:prstGeom prst="rect">
              <a:avLst/>
            </a:prstGeom>
            <a:noFill/>
          </p:spPr>
          <p:txBody>
            <a:bodyPr wrap="square" rtlCol="0">
              <a:spAutoFit/>
            </a:bodyPr>
            <a:lstStyle/>
            <a:p>
              <a:pPr algn="ctr">
                <a:buNone/>
              </a:pPr>
              <a:r>
                <a:rPr lang="zh-CN" altLang="en-US" b="0" dirty="0">
                  <a:solidFill>
                    <a:srgbClr val="0000CC"/>
                  </a:solidFill>
                </a:rPr>
                <a:t>提供给</a:t>
              </a:r>
              <a:r>
                <a:rPr lang="en-US" altLang="zh-CN" b="0" dirty="0">
                  <a:solidFill>
                    <a:srgbClr val="0000CC"/>
                  </a:solidFill>
                </a:rPr>
                <a:t>ALU</a:t>
              </a:r>
              <a:r>
                <a:rPr lang="zh-CN" altLang="en-US" b="0" dirty="0">
                  <a:solidFill>
                    <a:srgbClr val="0000CC"/>
                  </a:solidFill>
                </a:rPr>
                <a:t>控制单元</a:t>
              </a:r>
            </a:p>
          </p:txBody>
        </p:sp>
        <p:sp>
          <p:nvSpPr>
            <p:cNvPr id="9" name="下箭头 8"/>
            <p:cNvSpPr/>
            <p:nvPr/>
          </p:nvSpPr>
          <p:spPr bwMode="auto">
            <a:xfrm>
              <a:off x="5148064" y="6156656"/>
              <a:ext cx="360176" cy="268157"/>
            </a:xfrm>
            <a:prstGeom prst="downArrow">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grpSp>
      <p:sp>
        <p:nvSpPr>
          <p:cNvPr id="7" name="标题 5"/>
          <p:cNvSpPr>
            <a:spLocks noGrp="1"/>
          </p:cNvSpPr>
          <p:nvPr/>
        </p:nvSpPr>
        <p:spPr>
          <a:xfrm>
            <a:off x="-16192" y="189549"/>
            <a:ext cx="52578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91544" y="3325771"/>
            <a:ext cx="1080120" cy="743793"/>
          </a:xfrm>
        </p:spPr>
        <p:txBody>
          <a:bodyPr/>
          <a:lstStyle/>
          <a:p>
            <a:pPr marL="0" indent="0">
              <a:buNone/>
            </a:pPr>
            <a:r>
              <a:rPr lang="zh-CN" altLang="en-US" sz="1800" dirty="0">
                <a:solidFill>
                  <a:srgbClr val="FF0000"/>
                </a:solidFill>
              </a:rPr>
              <a:t>主控单元逻辑实现</a:t>
            </a:r>
          </a:p>
        </p:txBody>
      </p:sp>
      <p:pic>
        <p:nvPicPr>
          <p:cNvPr id="281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1035702"/>
            <a:ext cx="6264696" cy="563365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2208213" y="892580"/>
            <a:ext cx="5412370" cy="2858218"/>
          </a:xfrm>
        </p:spPr>
        <p:txBody>
          <a:bodyPr/>
          <a:lstStyle/>
          <a:p>
            <a:pPr>
              <a:lnSpc>
                <a:spcPct val="12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控制单元</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rPr>
              <a:t>输入：</a:t>
            </a:r>
            <a:endParaRPr lang="en-US" altLang="zh-CN" dirty="0">
              <a:ea typeface="宋体" panose="02010600030101010101" pitchFamily="2" charset="-122"/>
            </a:endParaRPr>
          </a:p>
          <a:p>
            <a:pPr lvl="2">
              <a:lnSpc>
                <a:spcPct val="120000"/>
              </a:lnSpc>
              <a:spcAft>
                <a:spcPts val="0"/>
              </a:spcAft>
            </a:pPr>
            <a:r>
              <a:rPr lang="zh-CN" altLang="en-US" dirty="0">
                <a:ea typeface="宋体" panose="02010600030101010101" pitchFamily="2" charset="-122"/>
              </a:rPr>
              <a:t>指令的</a:t>
            </a:r>
            <a:r>
              <a:rPr lang="en-US" altLang="zh-CN" dirty="0" err="1">
                <a:ea typeface="宋体" panose="02010600030101010101" pitchFamily="2" charset="-122"/>
              </a:rPr>
              <a:t>Func</a:t>
            </a:r>
            <a:r>
              <a:rPr lang="zh-CN" altLang="en-US" dirty="0">
                <a:ea typeface="宋体" panose="02010600030101010101" pitchFamily="2" charset="-122"/>
              </a:rPr>
              <a:t>字段（指令</a:t>
            </a:r>
            <a:r>
              <a:rPr lang="en-US" altLang="zh-CN" dirty="0">
                <a:ea typeface="宋体" panose="02010600030101010101" pitchFamily="2" charset="-122"/>
              </a:rPr>
              <a:t>5:0</a:t>
            </a:r>
            <a:r>
              <a:rPr lang="zh-CN" altLang="en-US" dirty="0">
                <a:ea typeface="宋体" panose="02010600030101010101" pitchFamily="2" charset="-122"/>
              </a:rPr>
              <a:t>位）</a:t>
            </a:r>
            <a:endParaRPr lang="en-US" altLang="zh-CN" dirty="0">
              <a:ea typeface="宋体" panose="02010600030101010101" pitchFamily="2" charset="-122"/>
            </a:endParaRPr>
          </a:p>
          <a:p>
            <a:pPr lvl="2">
              <a:lnSpc>
                <a:spcPct val="120000"/>
              </a:lnSpc>
              <a:spcAft>
                <a:spcPts val="0"/>
              </a:spcAft>
            </a:pPr>
            <a:r>
              <a:rPr lang="zh-CN" altLang="en-US" dirty="0">
                <a:ea typeface="宋体" panose="02010600030101010101" pitchFamily="2" charset="-122"/>
              </a:rPr>
              <a:t>由主控单元生成的 </a:t>
            </a:r>
            <a:r>
              <a:rPr lang="en-US" altLang="zh-CN" dirty="0" err="1">
                <a:solidFill>
                  <a:srgbClr val="FF0000"/>
                </a:solidFill>
                <a:ea typeface="宋体" panose="02010600030101010101" pitchFamily="2" charset="-122"/>
              </a:rPr>
              <a:t>ALUOp</a:t>
            </a:r>
            <a:endParaRPr lang="zh-CN" altLang="en-US" dirty="0">
              <a:solidFill>
                <a:srgbClr val="FF0000"/>
              </a:solidFill>
              <a:ea typeface="宋体" panose="02010600030101010101" pitchFamily="2" charset="-122"/>
            </a:endParaRPr>
          </a:p>
          <a:p>
            <a:pPr lvl="1">
              <a:lnSpc>
                <a:spcPct val="120000"/>
              </a:lnSpc>
              <a:spcAft>
                <a:spcPts val="0"/>
              </a:spcAft>
            </a:pPr>
            <a:r>
              <a:rPr lang="en-US" altLang="zh-CN" dirty="0" err="1">
                <a:solidFill>
                  <a:srgbClr val="FF0000"/>
                </a:solidFill>
                <a:ea typeface="宋体" panose="02010600030101010101" pitchFamily="2" charset="-122"/>
              </a:rPr>
              <a:t>ALUOp</a:t>
            </a:r>
            <a:r>
              <a:rPr lang="zh-CN" altLang="en-US" dirty="0">
                <a:ea typeface="宋体" panose="02010600030101010101" pitchFamily="2" charset="-122"/>
              </a:rPr>
              <a:t>指明</a:t>
            </a:r>
            <a:r>
              <a:rPr lang="en-US" altLang="zh-CN" dirty="0">
                <a:ea typeface="宋体" panose="02010600030101010101" pitchFamily="2" charset="-122"/>
              </a:rPr>
              <a:t>ALU</a:t>
            </a:r>
            <a:r>
              <a:rPr lang="zh-CN" altLang="en-US" dirty="0">
                <a:ea typeface="宋体" panose="02010600030101010101" pitchFamily="2" charset="-122"/>
              </a:rPr>
              <a:t>的运算类型</a:t>
            </a:r>
          </a:p>
          <a:p>
            <a:pPr lvl="2">
              <a:lnSpc>
                <a:spcPct val="120000"/>
              </a:lnSpc>
              <a:spcAft>
                <a:spcPts val="0"/>
              </a:spcAft>
            </a:pPr>
            <a:r>
              <a:rPr lang="en-US" altLang="zh-CN" dirty="0">
                <a:ea typeface="宋体" panose="02010600030101010101" pitchFamily="2" charset="-122"/>
              </a:rPr>
              <a:t>00</a:t>
            </a:r>
            <a:r>
              <a:rPr lang="zh-CN" altLang="en-US" dirty="0">
                <a:ea typeface="宋体" panose="02010600030101010101" pitchFamily="2" charset="-122"/>
              </a:rPr>
              <a:t>：访存指令所需的加法</a:t>
            </a:r>
          </a:p>
          <a:p>
            <a:pPr lvl="2">
              <a:lnSpc>
                <a:spcPct val="120000"/>
              </a:lnSpc>
              <a:spcAft>
                <a:spcPts val="0"/>
              </a:spcAft>
            </a:pPr>
            <a:r>
              <a:rPr lang="en-US" altLang="zh-CN" dirty="0">
                <a:ea typeface="宋体" panose="02010600030101010101" pitchFamily="2" charset="-122"/>
              </a:rPr>
              <a:t>01</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指令所需的减法</a:t>
            </a:r>
          </a:p>
          <a:p>
            <a:pPr lvl="2">
              <a:lnSpc>
                <a:spcPct val="120000"/>
              </a:lnSpc>
              <a:spcAft>
                <a:spcPts val="0"/>
              </a:spcAft>
            </a:pPr>
            <a:r>
              <a:rPr lang="en-US" altLang="zh-CN" dirty="0">
                <a:ea typeface="宋体" panose="02010600030101010101" pitchFamily="2" charset="-122"/>
              </a:rPr>
              <a:t>10</a:t>
            </a:r>
            <a:r>
              <a:rPr lang="zh-CN" altLang="en-US" dirty="0">
                <a:ea typeface="宋体" panose="02010600030101010101" pitchFamily="2" charset="-122"/>
              </a:rPr>
              <a:t>：</a:t>
            </a:r>
            <a:r>
              <a:rPr lang="en-US" altLang="zh-CN" dirty="0">
                <a:ea typeface="宋体" panose="02010600030101010101" pitchFamily="2" charset="-122"/>
              </a:rPr>
              <a:t>R</a:t>
            </a:r>
            <a:r>
              <a:rPr lang="zh-CN" altLang="en-US" dirty="0">
                <a:ea typeface="宋体" panose="02010600030101010101" pitchFamily="2" charset="-122"/>
              </a:rPr>
              <a:t>型指令功能码字段决定</a:t>
            </a:r>
            <a:endParaRPr lang="en-US" altLang="zh-CN" dirty="0">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6991376" y="908721"/>
            <a:ext cx="2921049" cy="2716255"/>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40640397"/>
              </p:ext>
            </p:extLst>
          </p:nvPr>
        </p:nvGraphicFramePr>
        <p:xfrm>
          <a:off x="275767" y="3766109"/>
          <a:ext cx="7344816" cy="2865120"/>
        </p:xfrm>
        <a:graphic>
          <a:graphicData uri="http://schemas.openxmlformats.org/drawingml/2006/table">
            <a:tbl>
              <a:tblPr firstRow="1" bandRow="1">
                <a:tableStyleId>{93296810-A885-4BE3-A3E7-6D5BEEA58F35}</a:tableStyleId>
              </a:tblPr>
              <a:tblGrid>
                <a:gridCol w="1077854">
                  <a:extLst>
                    <a:ext uri="{9D8B030D-6E8A-4147-A177-3AD203B41FA5}">
                      <a16:colId xmlns:a16="http://schemas.microsoft.com/office/drawing/2014/main" val="20000"/>
                    </a:ext>
                  </a:extLst>
                </a:gridCol>
                <a:gridCol w="1566741">
                  <a:extLst>
                    <a:ext uri="{9D8B030D-6E8A-4147-A177-3AD203B41FA5}">
                      <a16:colId xmlns:a16="http://schemas.microsoft.com/office/drawing/2014/main" val="20001"/>
                    </a:ext>
                  </a:extLst>
                </a:gridCol>
                <a:gridCol w="1566741">
                  <a:extLst>
                    <a:ext uri="{9D8B030D-6E8A-4147-A177-3AD203B41FA5}">
                      <a16:colId xmlns:a16="http://schemas.microsoft.com/office/drawing/2014/main" val="20002"/>
                    </a:ext>
                  </a:extLst>
                </a:gridCol>
                <a:gridCol w="1648480">
                  <a:extLst>
                    <a:ext uri="{9D8B030D-6E8A-4147-A177-3AD203B41FA5}">
                      <a16:colId xmlns:a16="http://schemas.microsoft.com/office/drawing/2014/main" val="20003"/>
                    </a:ext>
                  </a:extLst>
                </a:gridCol>
                <a:gridCol w="1485000">
                  <a:extLst>
                    <a:ext uri="{9D8B030D-6E8A-4147-A177-3AD203B41FA5}">
                      <a16:colId xmlns:a16="http://schemas.microsoft.com/office/drawing/2014/main" val="20004"/>
                    </a:ext>
                  </a:extLst>
                </a:gridCol>
              </a:tblGrid>
              <a:tr h="319678">
                <a:tc>
                  <a:txBody>
                    <a:bodyPr/>
                    <a:lstStyle/>
                    <a:p>
                      <a:pPr algn="ctr"/>
                      <a:r>
                        <a:rPr lang="zh-CN" altLang="en-US" sz="1400" dirty="0"/>
                        <a:t>指令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err="1"/>
                        <a:t>Func</a:t>
                      </a:r>
                      <a:r>
                        <a:rPr lang="zh-CN" altLang="en-US" sz="1400" dirty="0"/>
                        <a:t>字段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err="1"/>
                        <a:t>ALUop</a:t>
                      </a:r>
                      <a:endParaRPr lang="en-US" altLang="zh-CN" sz="1400" dirty="0"/>
                    </a:p>
                    <a:p>
                      <a:pPr algn="ctr"/>
                      <a:r>
                        <a:rPr lang="en-US" altLang="zh-CN" sz="1400" dirty="0"/>
                        <a:t>A1 A2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a:t>
                      </a:r>
                      <a:r>
                        <a:rPr lang="zh-CN" altLang="en-US" sz="1400" baseline="0" dirty="0"/>
                        <a:t>运算类型</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 operation</a:t>
                      </a:r>
                    </a:p>
                    <a:p>
                      <a:pPr algn="ctr"/>
                      <a:r>
                        <a:rPr lang="en-US" altLang="zh-CN" sz="1400" dirty="0"/>
                        <a:t>I1 I2 I3 I4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7295">
                <a:tc>
                  <a:txBody>
                    <a:bodyPr/>
                    <a:lstStyle/>
                    <a:p>
                      <a:pPr algn="ctr"/>
                      <a:r>
                        <a:rPr lang="en-US" altLang="zh-CN" sz="1400" dirty="0" err="1">
                          <a:solidFill>
                            <a:srgbClr val="FF0000"/>
                          </a:solidFill>
                        </a:rPr>
                        <a:t>Lw</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295">
                <a:tc>
                  <a:txBody>
                    <a:bodyPr/>
                    <a:lstStyle/>
                    <a:p>
                      <a:pPr algn="ctr"/>
                      <a:r>
                        <a:rPr lang="en-US" altLang="zh-CN" sz="1400" dirty="0" err="1">
                          <a:solidFill>
                            <a:srgbClr val="FF0000"/>
                          </a:solidFill>
                        </a:rPr>
                        <a:t>Sw</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295">
                <a:tc>
                  <a:txBody>
                    <a:bodyPr/>
                    <a:lstStyle/>
                    <a:p>
                      <a:pPr algn="ctr"/>
                      <a:r>
                        <a:rPr lang="en-US" altLang="zh-CN" sz="1400" dirty="0" err="1">
                          <a:solidFill>
                            <a:srgbClr val="FF0000"/>
                          </a:solidFill>
                        </a:rPr>
                        <a:t>Beq</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0 1 1 0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295">
                <a:tc>
                  <a:txBody>
                    <a:bodyPr/>
                    <a:lstStyle/>
                    <a:p>
                      <a:pPr algn="ctr"/>
                      <a:r>
                        <a:rPr lang="en-US" altLang="zh-CN" sz="1400" dirty="0">
                          <a:solidFill>
                            <a:srgbClr val="FF0000"/>
                          </a:solidFill>
                        </a:rPr>
                        <a:t>Add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100 000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295">
                <a:tc>
                  <a:txBody>
                    <a:bodyPr/>
                    <a:lstStyle/>
                    <a:p>
                      <a:pPr algn="ctr"/>
                      <a:r>
                        <a:rPr lang="en-US" altLang="zh-CN" sz="1400" dirty="0">
                          <a:solidFill>
                            <a:srgbClr val="FF0000"/>
                          </a:solidFill>
                        </a:rPr>
                        <a:t>Sub</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100 010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0 1 1 0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17295">
                <a:tc>
                  <a:txBody>
                    <a:bodyPr/>
                    <a:lstStyle/>
                    <a:p>
                      <a:pPr algn="ctr"/>
                      <a:r>
                        <a:rPr lang="en-US" altLang="zh-CN" sz="1400" dirty="0">
                          <a:solidFill>
                            <a:srgbClr val="FF0000"/>
                          </a:solidFill>
                        </a:rPr>
                        <a:t>And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100 100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17295">
                <a:tc>
                  <a:txBody>
                    <a:bodyPr/>
                    <a:lstStyle/>
                    <a:p>
                      <a:pPr algn="ctr"/>
                      <a:r>
                        <a:rPr lang="en-US" altLang="zh-CN" sz="1400" dirty="0">
                          <a:solidFill>
                            <a:srgbClr val="FF0000"/>
                          </a:solidFill>
                        </a:rPr>
                        <a:t>Or</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100 101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0 0 0 1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6" name="矩形 5"/>
          <p:cNvSpPr/>
          <p:nvPr/>
        </p:nvSpPr>
        <p:spPr>
          <a:xfrm>
            <a:off x="407368" y="2924944"/>
            <a:ext cx="2052165" cy="358431"/>
          </a:xfrm>
          <a:prstGeom prst="rect">
            <a:avLst/>
          </a:prstGeom>
        </p:spPr>
        <p:txBody>
          <a:bodyPr wrap="none">
            <a:spAutoFit/>
          </a:bodyPr>
          <a:lstStyle/>
          <a:p>
            <a:pPr>
              <a:lnSpc>
                <a:spcPct val="120000"/>
              </a:lnSpc>
              <a:spcBef>
                <a:spcPts val="0"/>
              </a:spcBef>
              <a:spcAft>
                <a:spcPts val="0"/>
              </a:spcAft>
              <a:buNone/>
            </a:pPr>
            <a:r>
              <a:rPr lang="en-US" altLang="zh-CN" sz="1600" dirty="0">
                <a:solidFill>
                  <a:srgbClr val="0000CC"/>
                </a:solidFill>
                <a:ea typeface="宋体" panose="02010600030101010101" pitchFamily="2" charset="-122"/>
              </a:rPr>
              <a:t>ALU</a:t>
            </a:r>
            <a:r>
              <a:rPr lang="zh-CN" altLang="en-US" sz="1600" dirty="0">
                <a:solidFill>
                  <a:srgbClr val="0000CC"/>
                </a:solidFill>
                <a:ea typeface="宋体" panose="02010600030101010101" pitchFamily="2" charset="-122"/>
              </a:rPr>
              <a:t>控制单元真值表</a:t>
            </a:r>
            <a:endParaRPr lang="en-US" altLang="zh-CN" sz="1600" dirty="0">
              <a:solidFill>
                <a:srgbClr val="0000CC"/>
              </a:solidFill>
              <a:ea typeface="宋体" panose="02010600030101010101" pitchFamily="2" charset="-122"/>
            </a:endParaRPr>
          </a:p>
        </p:txBody>
      </p:sp>
      <p:sp>
        <p:nvSpPr>
          <p:cNvPr id="7" name="标题 6"/>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
        <p:nvSpPr>
          <p:cNvPr id="2" name="文本框 1"/>
          <p:cNvSpPr txBox="1"/>
          <p:nvPr/>
        </p:nvSpPr>
        <p:spPr>
          <a:xfrm>
            <a:off x="8256240" y="4005064"/>
            <a:ext cx="3816424" cy="2097497"/>
          </a:xfrm>
          <a:prstGeom prst="rect">
            <a:avLst/>
          </a:prstGeom>
          <a:noFill/>
        </p:spPr>
        <p:txBody>
          <a:bodyPr wrap="square" rtlCol="0">
            <a:spAutoFit/>
          </a:bodyPr>
          <a:lstStyle/>
          <a:p>
            <a:pPr>
              <a:buNone/>
            </a:pPr>
            <a:r>
              <a:rPr lang="en-US" altLang="zh-CN" dirty="0">
                <a:latin typeface="Calibri" panose="020F0502020204030204" pitchFamily="34" charset="0"/>
              </a:rPr>
              <a:t>I</a:t>
            </a:r>
            <a:r>
              <a:rPr lang="en-US" altLang="zh-CN" baseline="-25000" dirty="0">
                <a:latin typeface="Calibri" panose="020F0502020204030204" pitchFamily="34" charset="0"/>
              </a:rPr>
              <a:t>1</a:t>
            </a:r>
            <a:r>
              <a:rPr lang="en-US" altLang="zh-CN" dirty="0">
                <a:latin typeface="Calibri" panose="020F0502020204030204" pitchFamily="34" charset="0"/>
              </a:rPr>
              <a:t>=0</a:t>
            </a:r>
          </a:p>
          <a:p>
            <a:pPr>
              <a:buNone/>
            </a:pPr>
            <a:r>
              <a:rPr lang="en-US" altLang="zh-CN" dirty="0">
                <a:latin typeface="Calibri" panose="020F0502020204030204" pitchFamily="34" charset="0"/>
              </a:rPr>
              <a:t>I</a:t>
            </a:r>
            <a:r>
              <a:rPr lang="en-US" altLang="zh-CN" baseline="-25000" dirty="0">
                <a:latin typeface="Calibri" panose="020F0502020204030204" pitchFamily="34" charset="0"/>
              </a:rPr>
              <a:t>2</a:t>
            </a:r>
            <a:r>
              <a:rPr lang="en-US" altLang="zh-CN" dirty="0">
                <a:latin typeface="Calibri" panose="020F0502020204030204" pitchFamily="34" charset="0"/>
              </a:rPr>
              <a:t>=A</a:t>
            </a:r>
            <a:r>
              <a:rPr lang="en-US" altLang="zh-CN" baseline="-25000" dirty="0">
                <a:latin typeface="Calibri" panose="020F0502020204030204" pitchFamily="34" charset="0"/>
              </a:rPr>
              <a:t>1</a:t>
            </a:r>
            <a:r>
              <a:rPr lang="en-US" altLang="zh-CN" dirty="0">
                <a:latin typeface="Calibri" panose="020F0502020204030204" pitchFamily="34" charset="0"/>
              </a:rPr>
              <a:t>A</a:t>
            </a:r>
            <a:r>
              <a:rPr lang="en-US" altLang="zh-CN" baseline="-25000" dirty="0">
                <a:latin typeface="Calibri" panose="020F0502020204030204" pitchFamily="34" charset="0"/>
              </a:rPr>
              <a:t>2 </a:t>
            </a:r>
            <a:r>
              <a:rPr lang="en-US" altLang="zh-CN" dirty="0">
                <a:latin typeface="Calibri" panose="020F0502020204030204" pitchFamily="34" charset="0"/>
              </a:rPr>
              <a:t>+ A</a:t>
            </a:r>
            <a:r>
              <a:rPr lang="en-US" altLang="zh-CN" baseline="-25000" dirty="0">
                <a:latin typeface="Calibri" panose="020F0502020204030204" pitchFamily="34" charset="0"/>
              </a:rPr>
              <a:t>1</a:t>
            </a:r>
            <a:r>
              <a:rPr lang="en-US" altLang="zh-CN" dirty="0">
                <a:latin typeface="Calibri" panose="020F0502020204030204" pitchFamily="34" charset="0"/>
              </a:rPr>
              <a:t>A</a:t>
            </a:r>
            <a:r>
              <a:rPr lang="en-US" altLang="zh-CN" baseline="-25000" dirty="0">
                <a:latin typeface="Calibri" panose="020F0502020204030204" pitchFamily="34" charset="0"/>
              </a:rPr>
              <a:t>2</a:t>
            </a:r>
          </a:p>
          <a:p>
            <a:pPr>
              <a:buNone/>
            </a:pPr>
            <a:r>
              <a:rPr lang="en-US" altLang="zh-CN" baseline="-25000" dirty="0">
                <a:latin typeface="Calibri" panose="020F0502020204030204" pitchFamily="34" charset="0"/>
              </a:rPr>
              <a:t>     </a:t>
            </a:r>
            <a:r>
              <a:rPr lang="en-US" altLang="zh-CN" dirty="0">
                <a:latin typeface="Calibri" panose="020F0502020204030204" pitchFamily="34" charset="0"/>
              </a:rPr>
              <a:t>=A</a:t>
            </a:r>
            <a:r>
              <a:rPr lang="en-US" altLang="zh-CN" baseline="-25000" dirty="0">
                <a:latin typeface="Calibri" panose="020F0502020204030204" pitchFamily="34" charset="0"/>
              </a:rPr>
              <a:t>1</a:t>
            </a:r>
            <a:r>
              <a:rPr lang="zh-CN" altLang="en-US" b="0" dirty="0"/>
              <a:t>⊕</a:t>
            </a:r>
            <a:r>
              <a:rPr lang="en-US" altLang="zh-CN" b="0" dirty="0"/>
              <a:t>A</a:t>
            </a:r>
            <a:r>
              <a:rPr lang="en-US" altLang="zh-CN" b="0" baseline="-25000" dirty="0"/>
              <a:t>2</a:t>
            </a:r>
          </a:p>
          <a:p>
            <a:pPr>
              <a:buNone/>
            </a:pPr>
            <a:r>
              <a:rPr lang="en-US" altLang="zh-CN" sz="2800" b="0">
                <a:latin typeface="Calibri" panose="020F0502020204030204" pitchFamily="34" charset="0"/>
              </a:rPr>
              <a:t>……</a:t>
            </a:r>
          </a:p>
          <a:p>
            <a:pPr>
              <a:buNone/>
            </a:pPr>
            <a:endParaRPr lang="zh-CN" altLang="en-US" sz="28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2"/>
          <a:stretch>
            <a:fillRect/>
          </a:stretch>
        </p:blipFill>
        <p:spPr>
          <a:xfrm>
            <a:off x="1887140" y="1172946"/>
            <a:ext cx="8458674" cy="5568422"/>
          </a:xfrm>
          <a:prstGeom prst="rect">
            <a:avLst/>
          </a:prstGeom>
        </p:spPr>
      </p:pic>
      <p:sp>
        <p:nvSpPr>
          <p:cNvPr id="300035" name="Rectangle 3"/>
          <p:cNvSpPr>
            <a:spLocks noGrp="1" noChangeArrowheads="1"/>
          </p:cNvSpPr>
          <p:nvPr>
            <p:ph type="body" idx="1"/>
          </p:nvPr>
        </p:nvSpPr>
        <p:spPr>
          <a:xfrm>
            <a:off x="2207568" y="836713"/>
            <a:ext cx="7848600" cy="436017"/>
          </a:xfrm>
        </p:spPr>
        <p:txBody>
          <a:bodyPr/>
          <a:lstStyle/>
          <a:p>
            <a:pPr>
              <a:spcAft>
                <a:spcPts val="0"/>
              </a:spcAft>
            </a:pPr>
            <a:r>
              <a:rPr lang="en-US" altLang="zh-CN" sz="2000" dirty="0">
                <a:ea typeface="宋体" panose="02010600030101010101" pitchFamily="2" charset="-122"/>
              </a:rPr>
              <a:t>R</a:t>
            </a:r>
            <a:r>
              <a:rPr lang="zh-CN" altLang="en-US" sz="2000" dirty="0">
                <a:ea typeface="宋体" panose="02010600030101010101" pitchFamily="2" charset="-122"/>
              </a:rPr>
              <a:t>型指令执行数据流示意</a:t>
            </a:r>
          </a:p>
        </p:txBody>
      </p:sp>
      <p:cxnSp>
        <p:nvCxnSpPr>
          <p:cNvPr id="14" name="直接连接符 13"/>
          <p:cNvCxnSpPr/>
          <p:nvPr/>
        </p:nvCxnSpPr>
        <p:spPr bwMode="auto">
          <a:xfrm flipV="1">
            <a:off x="1887140" y="1196752"/>
            <a:ext cx="32396" cy="2880320"/>
          </a:xfrm>
          <a:prstGeom prst="line">
            <a:avLst/>
          </a:prstGeom>
          <a:noFill/>
          <a:ln w="28575" cap="flat" cmpd="sng" algn="ctr">
            <a:solidFill>
              <a:srgbClr val="FF0000"/>
            </a:solidFill>
            <a:prstDash val="sysDash"/>
            <a:round/>
            <a:headEnd type="none" w="med" len="med"/>
            <a:tailEnd type="none" w="med" len="med"/>
          </a:ln>
          <a:effectLst/>
        </p:spPr>
      </p:cxnSp>
      <p:cxnSp>
        <p:nvCxnSpPr>
          <p:cNvPr id="17" name="直接连接符 16"/>
          <p:cNvCxnSpPr/>
          <p:nvPr/>
        </p:nvCxnSpPr>
        <p:spPr bwMode="auto">
          <a:xfrm>
            <a:off x="2495600" y="1484784"/>
            <a:ext cx="1080120" cy="0"/>
          </a:xfrm>
          <a:prstGeom prst="line">
            <a:avLst/>
          </a:prstGeom>
          <a:noFill/>
          <a:ln w="28575" cap="flat" cmpd="sng" algn="ctr">
            <a:solidFill>
              <a:srgbClr val="FF0000"/>
            </a:solidFill>
            <a:prstDash val="sysDash"/>
            <a:round/>
            <a:headEnd type="none" w="med" len="med"/>
            <a:tailEnd type="none" w="med" len="med"/>
          </a:ln>
          <a:effectLst/>
        </p:spPr>
      </p:cxnSp>
      <p:cxnSp>
        <p:nvCxnSpPr>
          <p:cNvPr id="19" name="直接连接符 18"/>
          <p:cNvCxnSpPr/>
          <p:nvPr/>
        </p:nvCxnSpPr>
        <p:spPr bwMode="auto">
          <a:xfrm>
            <a:off x="3575720" y="1484784"/>
            <a:ext cx="648072"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1" name="直接连接符 20"/>
          <p:cNvCxnSpPr/>
          <p:nvPr/>
        </p:nvCxnSpPr>
        <p:spPr bwMode="auto">
          <a:xfrm>
            <a:off x="4223792" y="1772816"/>
            <a:ext cx="2016224" cy="0"/>
          </a:xfrm>
          <a:prstGeom prst="line">
            <a:avLst/>
          </a:prstGeom>
          <a:noFill/>
          <a:ln w="28575" cap="flat" cmpd="sng" algn="ctr">
            <a:solidFill>
              <a:srgbClr val="FF0000"/>
            </a:solidFill>
            <a:prstDash val="sysDash"/>
            <a:round/>
            <a:headEnd type="none" w="med" len="med"/>
            <a:tailEnd type="none" w="med" len="med"/>
          </a:ln>
          <a:effectLst/>
        </p:spPr>
      </p:cxnSp>
      <p:cxnSp>
        <p:nvCxnSpPr>
          <p:cNvPr id="23" name="直接连接符 22"/>
          <p:cNvCxnSpPr/>
          <p:nvPr/>
        </p:nvCxnSpPr>
        <p:spPr bwMode="auto">
          <a:xfrm flipV="1">
            <a:off x="6240016" y="1484784"/>
            <a:ext cx="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5" name="直接连接符 24"/>
          <p:cNvCxnSpPr/>
          <p:nvPr/>
        </p:nvCxnSpPr>
        <p:spPr bwMode="auto">
          <a:xfrm>
            <a:off x="6240016" y="1484784"/>
            <a:ext cx="2160240" cy="0"/>
          </a:xfrm>
          <a:prstGeom prst="line">
            <a:avLst/>
          </a:prstGeom>
          <a:noFill/>
          <a:ln w="28575" cap="flat" cmpd="sng" algn="ctr">
            <a:solidFill>
              <a:srgbClr val="FF0000"/>
            </a:solidFill>
            <a:prstDash val="sysDash"/>
            <a:round/>
            <a:headEnd type="none" w="med" len="med"/>
            <a:tailEnd type="none" w="med" len="med"/>
          </a:ln>
          <a:effectLst/>
        </p:spPr>
      </p:cxnSp>
      <p:cxnSp>
        <p:nvCxnSpPr>
          <p:cNvPr id="39" name="直接连接符 38"/>
          <p:cNvCxnSpPr/>
          <p:nvPr/>
        </p:nvCxnSpPr>
        <p:spPr bwMode="auto">
          <a:xfrm>
            <a:off x="8400256" y="1481252"/>
            <a:ext cx="504056" cy="291565"/>
          </a:xfrm>
          <a:prstGeom prst="line">
            <a:avLst/>
          </a:prstGeom>
          <a:noFill/>
          <a:ln w="28575" cap="flat" cmpd="sng" algn="ctr">
            <a:solidFill>
              <a:srgbClr val="FF0000"/>
            </a:solidFill>
            <a:prstDash val="sysDash"/>
            <a:round/>
            <a:headEnd type="none" w="med" len="med"/>
            <a:tailEnd type="none" w="med" len="med"/>
          </a:ln>
          <a:effectLst/>
        </p:spPr>
      </p:cxnSp>
      <p:cxnSp>
        <p:nvCxnSpPr>
          <p:cNvPr id="41" name="直接连接符 40"/>
          <p:cNvCxnSpPr/>
          <p:nvPr/>
        </p:nvCxnSpPr>
        <p:spPr bwMode="auto">
          <a:xfrm>
            <a:off x="1919536" y="1196752"/>
            <a:ext cx="6984776" cy="0"/>
          </a:xfrm>
          <a:prstGeom prst="line">
            <a:avLst/>
          </a:prstGeom>
          <a:noFill/>
          <a:ln w="28575"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flipV="1">
            <a:off x="2495600" y="1481252"/>
            <a:ext cx="0" cy="2595820"/>
          </a:xfrm>
          <a:prstGeom prst="line">
            <a:avLst/>
          </a:prstGeom>
          <a:noFill/>
          <a:ln w="28575" cap="flat" cmpd="sng" algn="ctr">
            <a:solidFill>
              <a:srgbClr val="FF0000"/>
            </a:solidFill>
            <a:prstDash val="sysDash"/>
            <a:round/>
            <a:headEnd type="none" w="med" len="med"/>
            <a:tailEnd type="none" w="med" len="med"/>
          </a:ln>
          <a:effectLst/>
        </p:spPr>
      </p:cxnSp>
      <p:cxnSp>
        <p:nvCxnSpPr>
          <p:cNvPr id="281610" name="直接连接符 281609"/>
          <p:cNvCxnSpPr/>
          <p:nvPr/>
        </p:nvCxnSpPr>
        <p:spPr bwMode="auto">
          <a:xfrm>
            <a:off x="8904312" y="1196752"/>
            <a:ext cx="0" cy="576064"/>
          </a:xfrm>
          <a:prstGeom prst="line">
            <a:avLst/>
          </a:prstGeom>
          <a:noFill/>
          <a:ln w="28575" cap="flat" cmpd="sng" algn="ctr">
            <a:solidFill>
              <a:srgbClr val="FF0000"/>
            </a:solidFill>
            <a:prstDash val="sysDash"/>
            <a:round/>
            <a:headEnd type="none" w="med" len="med"/>
            <a:tailEnd type="none" w="med" len="med"/>
          </a:ln>
          <a:effectLst/>
        </p:spPr>
      </p:cxnSp>
      <p:cxnSp>
        <p:nvCxnSpPr>
          <p:cNvPr id="50" name="直接连接符 49"/>
          <p:cNvCxnSpPr/>
          <p:nvPr/>
        </p:nvCxnSpPr>
        <p:spPr bwMode="auto">
          <a:xfrm>
            <a:off x="1911986" y="4077072"/>
            <a:ext cx="223574" cy="0"/>
          </a:xfrm>
          <a:prstGeom prst="line">
            <a:avLst/>
          </a:prstGeom>
          <a:noFill/>
          <a:ln w="28575" cap="flat" cmpd="sng" algn="ctr">
            <a:solidFill>
              <a:srgbClr val="FF0000"/>
            </a:solidFill>
            <a:prstDash val="sysDash"/>
            <a:round/>
            <a:headEnd type="none" w="med" len="med"/>
            <a:tailEnd type="triangle" w="med" len="med"/>
          </a:ln>
          <a:effectLst/>
        </p:spPr>
      </p:cxnSp>
      <p:cxnSp>
        <p:nvCxnSpPr>
          <p:cNvPr id="61" name="直接连接符 60"/>
          <p:cNvCxnSpPr/>
          <p:nvPr/>
        </p:nvCxnSpPr>
        <p:spPr bwMode="auto">
          <a:xfrm flipV="1">
            <a:off x="8112224" y="4941168"/>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63" name="直接连接符 62"/>
          <p:cNvCxnSpPr/>
          <p:nvPr/>
        </p:nvCxnSpPr>
        <p:spPr bwMode="auto">
          <a:xfrm>
            <a:off x="8112224" y="6269136"/>
            <a:ext cx="1512168" cy="0"/>
          </a:xfrm>
          <a:prstGeom prst="line">
            <a:avLst/>
          </a:prstGeom>
          <a:noFill/>
          <a:ln w="28575" cap="flat" cmpd="sng" algn="ctr">
            <a:solidFill>
              <a:srgbClr val="FF0000"/>
            </a:solidFill>
            <a:prstDash val="sysDash"/>
            <a:round/>
            <a:headEnd type="none" w="med" len="med"/>
            <a:tailEnd type="none" w="med" len="med"/>
          </a:ln>
          <a:effectLst/>
        </p:spPr>
      </p:cxnSp>
      <p:cxnSp>
        <p:nvCxnSpPr>
          <p:cNvPr id="65" name="直接连接符 64"/>
          <p:cNvCxnSpPr/>
          <p:nvPr/>
        </p:nvCxnSpPr>
        <p:spPr bwMode="auto">
          <a:xfrm flipV="1">
            <a:off x="9624392" y="5301208"/>
            <a:ext cx="0" cy="967928"/>
          </a:xfrm>
          <a:prstGeom prst="line">
            <a:avLst/>
          </a:prstGeom>
          <a:noFill/>
          <a:ln w="28575" cap="flat" cmpd="sng" algn="ctr">
            <a:solidFill>
              <a:srgbClr val="FF0000"/>
            </a:solidFill>
            <a:prstDash val="sysDash"/>
            <a:round/>
            <a:headEnd type="none" w="med" len="med"/>
            <a:tailEnd type="none" w="med" len="med"/>
          </a:ln>
          <a:effectLst/>
        </p:spPr>
      </p:cxnSp>
      <p:cxnSp>
        <p:nvCxnSpPr>
          <p:cNvPr id="67" name="直接连接符 66"/>
          <p:cNvCxnSpPr/>
          <p:nvPr/>
        </p:nvCxnSpPr>
        <p:spPr bwMode="auto">
          <a:xfrm flipV="1">
            <a:off x="9653024" y="5013176"/>
            <a:ext cx="61944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69" name="直接连接符 68"/>
          <p:cNvCxnSpPr/>
          <p:nvPr/>
        </p:nvCxnSpPr>
        <p:spPr bwMode="auto">
          <a:xfrm flipV="1">
            <a:off x="10272464" y="5013178"/>
            <a:ext cx="0" cy="1584175"/>
          </a:xfrm>
          <a:prstGeom prst="line">
            <a:avLst/>
          </a:prstGeom>
          <a:noFill/>
          <a:ln w="28575" cap="flat" cmpd="sng" algn="ctr">
            <a:solidFill>
              <a:srgbClr val="FF0000"/>
            </a:solidFill>
            <a:prstDash val="sysDash"/>
            <a:round/>
            <a:headEnd type="none" w="med" len="med"/>
            <a:tailEnd type="none" w="med" len="med"/>
          </a:ln>
          <a:effectLst/>
        </p:spPr>
      </p:cxnSp>
      <p:cxnSp>
        <p:nvCxnSpPr>
          <p:cNvPr id="72" name="直接连接符 71"/>
          <p:cNvCxnSpPr/>
          <p:nvPr/>
        </p:nvCxnSpPr>
        <p:spPr bwMode="auto">
          <a:xfrm>
            <a:off x="4727848" y="6669360"/>
            <a:ext cx="5544616" cy="0"/>
          </a:xfrm>
          <a:prstGeom prst="line">
            <a:avLst/>
          </a:prstGeom>
          <a:noFill/>
          <a:ln w="28575" cap="flat" cmpd="sng" algn="ctr">
            <a:solidFill>
              <a:srgbClr val="FF0000"/>
            </a:solidFill>
            <a:prstDash val="sysDash"/>
            <a:round/>
            <a:headEnd type="none" w="med" len="med"/>
            <a:tailEnd type="none" w="med" len="med"/>
          </a:ln>
          <a:effectLst/>
        </p:spPr>
      </p:cxnSp>
      <p:cxnSp>
        <p:nvCxnSpPr>
          <p:cNvPr id="76" name="直接连接符 75"/>
          <p:cNvCxnSpPr/>
          <p:nvPr/>
        </p:nvCxnSpPr>
        <p:spPr bwMode="auto">
          <a:xfrm flipV="1">
            <a:off x="4727848" y="5341392"/>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78" name="直接连接符 77"/>
          <p:cNvCxnSpPr/>
          <p:nvPr/>
        </p:nvCxnSpPr>
        <p:spPr bwMode="auto">
          <a:xfrm flipV="1">
            <a:off x="4727848" y="5229200"/>
            <a:ext cx="144016" cy="109176"/>
          </a:xfrm>
          <a:prstGeom prst="line">
            <a:avLst/>
          </a:prstGeom>
          <a:noFill/>
          <a:ln w="28575" cap="flat" cmpd="sng" algn="ctr">
            <a:solidFill>
              <a:srgbClr val="FF0000"/>
            </a:solidFill>
            <a:prstDash val="sysDash"/>
            <a:round/>
            <a:headEnd type="none" w="med" len="med"/>
            <a:tailEnd type="triangle" w="med" len="med"/>
          </a:ln>
          <a:effectLst/>
        </p:spPr>
      </p:cxnSp>
      <p:cxnSp>
        <p:nvCxnSpPr>
          <p:cNvPr id="36" name="直接连接符 35"/>
          <p:cNvCxnSpPr/>
          <p:nvPr/>
        </p:nvCxnSpPr>
        <p:spPr bwMode="auto">
          <a:xfrm>
            <a:off x="2423592" y="4077072"/>
            <a:ext cx="288032" cy="0"/>
          </a:xfrm>
          <a:prstGeom prst="line">
            <a:avLst/>
          </a:prstGeom>
          <a:noFill/>
          <a:ln w="28575" cap="flat" cmpd="sng" algn="ctr">
            <a:solidFill>
              <a:srgbClr val="FF0000"/>
            </a:solidFill>
            <a:prstDash val="sysDash"/>
            <a:round/>
            <a:headEnd type="none" w="med" len="med"/>
            <a:tailEnd type="none" w="med" len="med"/>
          </a:ln>
          <a:effectLst/>
        </p:spPr>
      </p:cxnSp>
      <p:cxnSp>
        <p:nvCxnSpPr>
          <p:cNvPr id="38" name="直接连接符 37"/>
          <p:cNvCxnSpPr/>
          <p:nvPr/>
        </p:nvCxnSpPr>
        <p:spPr bwMode="auto">
          <a:xfrm>
            <a:off x="2711624" y="4076104"/>
            <a:ext cx="1296144" cy="577032"/>
          </a:xfrm>
          <a:prstGeom prst="line">
            <a:avLst/>
          </a:prstGeom>
          <a:noFill/>
          <a:ln w="28575" cap="flat" cmpd="sng" algn="ctr">
            <a:solidFill>
              <a:srgbClr val="FF0000"/>
            </a:solidFill>
            <a:prstDash val="sysDash"/>
            <a:round/>
            <a:headEnd type="none" w="med" len="med"/>
            <a:tailEnd type="none" w="med" len="med"/>
          </a:ln>
          <a:effectLst/>
        </p:spPr>
      </p:cxnSp>
      <p:cxnSp>
        <p:nvCxnSpPr>
          <p:cNvPr id="47" name="直接连接符 46"/>
          <p:cNvCxnSpPr/>
          <p:nvPr/>
        </p:nvCxnSpPr>
        <p:spPr bwMode="auto">
          <a:xfrm flipH="1" flipV="1">
            <a:off x="4007768" y="3993172"/>
            <a:ext cx="7550" cy="659965"/>
          </a:xfrm>
          <a:prstGeom prst="line">
            <a:avLst/>
          </a:prstGeom>
          <a:noFill/>
          <a:ln w="28575" cap="flat" cmpd="sng" algn="ctr">
            <a:solidFill>
              <a:srgbClr val="FF0000"/>
            </a:solidFill>
            <a:prstDash val="sysDash"/>
            <a:round/>
            <a:headEnd type="none" w="med" len="med"/>
            <a:tailEnd type="none" w="med" len="med"/>
          </a:ln>
          <a:effectLst/>
        </p:spPr>
      </p:cxnSp>
      <p:grpSp>
        <p:nvGrpSpPr>
          <p:cNvPr id="44" name="组合 43"/>
          <p:cNvGrpSpPr/>
          <p:nvPr/>
        </p:nvGrpSpPr>
        <p:grpSpPr>
          <a:xfrm>
            <a:off x="4015319" y="3993171"/>
            <a:ext cx="867317" cy="346900"/>
            <a:chOff x="2491318" y="3993171"/>
            <a:chExt cx="867317" cy="346900"/>
          </a:xfrm>
        </p:grpSpPr>
        <p:cxnSp>
          <p:nvCxnSpPr>
            <p:cNvPr id="40" name="直接连接符 39"/>
            <p:cNvCxnSpPr/>
            <p:nvPr/>
          </p:nvCxnSpPr>
          <p:spPr bwMode="auto">
            <a:xfrm>
              <a:off x="2491318" y="3993171"/>
              <a:ext cx="856546" cy="1"/>
            </a:xfrm>
            <a:prstGeom prst="line">
              <a:avLst/>
            </a:prstGeom>
            <a:noFill/>
            <a:ln w="28575" cap="flat" cmpd="sng" algn="ctr">
              <a:solidFill>
                <a:srgbClr val="FF0000"/>
              </a:solidFill>
              <a:prstDash val="sysDash"/>
              <a:round/>
              <a:headEnd type="none" w="med" len="med"/>
              <a:tailEnd type="none" w="med" len="med"/>
            </a:ln>
            <a:effectLst/>
          </p:spPr>
        </p:cxnSp>
        <p:cxnSp>
          <p:nvCxnSpPr>
            <p:cNvPr id="49" name="直接连接符 48"/>
            <p:cNvCxnSpPr/>
            <p:nvPr/>
          </p:nvCxnSpPr>
          <p:spPr bwMode="auto">
            <a:xfrm>
              <a:off x="2502089" y="4340070"/>
              <a:ext cx="856546" cy="1"/>
            </a:xfrm>
            <a:prstGeom prst="line">
              <a:avLst/>
            </a:prstGeom>
            <a:noFill/>
            <a:ln w="28575" cap="flat" cmpd="sng" algn="ctr">
              <a:solidFill>
                <a:srgbClr val="FF0000"/>
              </a:solidFill>
              <a:prstDash val="sysDash"/>
              <a:round/>
              <a:headEnd type="none" w="med" len="med"/>
              <a:tailEnd type="none" w="med" len="med"/>
            </a:ln>
            <a:effectLst/>
          </p:spPr>
        </p:cxnSp>
      </p:grpSp>
      <p:grpSp>
        <p:nvGrpSpPr>
          <p:cNvPr id="45" name="组合 44"/>
          <p:cNvGrpSpPr/>
          <p:nvPr/>
        </p:nvGrpSpPr>
        <p:grpSpPr>
          <a:xfrm>
            <a:off x="4922984" y="3993172"/>
            <a:ext cx="1207094" cy="947997"/>
            <a:chOff x="3398984" y="3993171"/>
            <a:chExt cx="1207094" cy="947997"/>
          </a:xfrm>
        </p:grpSpPr>
        <p:cxnSp>
          <p:nvCxnSpPr>
            <p:cNvPr id="51" name="直接连接符 50"/>
            <p:cNvCxnSpPr/>
            <p:nvPr/>
          </p:nvCxnSpPr>
          <p:spPr bwMode="auto">
            <a:xfrm>
              <a:off x="3415319" y="3993171"/>
              <a:ext cx="1164230" cy="346899"/>
            </a:xfrm>
            <a:prstGeom prst="line">
              <a:avLst/>
            </a:prstGeom>
            <a:noFill/>
            <a:ln w="28575" cap="flat" cmpd="sng" algn="ctr">
              <a:solidFill>
                <a:srgbClr val="FF0000"/>
              </a:solidFill>
              <a:prstDash val="sysDash"/>
              <a:round/>
              <a:headEnd type="none" w="med" len="med"/>
              <a:tailEnd type="none" w="med" len="med"/>
            </a:ln>
            <a:effectLst/>
          </p:spPr>
        </p:cxnSp>
        <p:cxnSp>
          <p:nvCxnSpPr>
            <p:cNvPr id="52" name="直接连接符 51"/>
            <p:cNvCxnSpPr/>
            <p:nvPr/>
          </p:nvCxnSpPr>
          <p:spPr bwMode="auto">
            <a:xfrm>
              <a:off x="3398984" y="4380264"/>
              <a:ext cx="1207094" cy="560904"/>
            </a:xfrm>
            <a:prstGeom prst="line">
              <a:avLst/>
            </a:prstGeom>
            <a:noFill/>
            <a:ln w="28575" cap="flat" cmpd="sng" algn="ctr">
              <a:solidFill>
                <a:srgbClr val="FF0000"/>
              </a:solidFill>
              <a:prstDash val="sysDash"/>
              <a:round/>
              <a:headEnd type="none" w="med" len="med"/>
              <a:tailEnd type="none" w="med" len="med"/>
            </a:ln>
            <a:effectLst/>
          </p:spPr>
        </p:cxnSp>
      </p:grpSp>
      <p:grpSp>
        <p:nvGrpSpPr>
          <p:cNvPr id="48" name="组合 47"/>
          <p:cNvGrpSpPr/>
          <p:nvPr/>
        </p:nvGrpSpPr>
        <p:grpSpPr>
          <a:xfrm>
            <a:off x="6168008" y="4293096"/>
            <a:ext cx="1944216" cy="792088"/>
            <a:chOff x="4644008" y="4293096"/>
            <a:chExt cx="1944216" cy="792088"/>
          </a:xfrm>
        </p:grpSpPr>
        <p:cxnSp>
          <p:nvCxnSpPr>
            <p:cNvPr id="281616" name="直接连接符 281615"/>
            <p:cNvCxnSpPr/>
            <p:nvPr/>
          </p:nvCxnSpPr>
          <p:spPr bwMode="auto">
            <a:xfrm>
              <a:off x="4644008" y="4293096"/>
              <a:ext cx="936104" cy="0"/>
            </a:xfrm>
            <a:prstGeom prst="line">
              <a:avLst/>
            </a:prstGeom>
            <a:noFill/>
            <a:ln w="28575" cap="flat" cmpd="sng" algn="ctr">
              <a:solidFill>
                <a:srgbClr val="FF0000"/>
              </a:solidFill>
              <a:prstDash val="sysDash"/>
              <a:round/>
              <a:headEnd type="none" w="med" len="med"/>
              <a:tailEnd type="none" w="med" len="med"/>
            </a:ln>
            <a:effectLst/>
          </p:spPr>
        </p:cxnSp>
        <p:cxnSp>
          <p:nvCxnSpPr>
            <p:cNvPr id="281620" name="直接连接符 281619"/>
            <p:cNvCxnSpPr/>
            <p:nvPr/>
          </p:nvCxnSpPr>
          <p:spPr bwMode="auto">
            <a:xfrm>
              <a:off x="4644008" y="4941168"/>
              <a:ext cx="576064" cy="0"/>
            </a:xfrm>
            <a:prstGeom prst="line">
              <a:avLst/>
            </a:prstGeom>
            <a:noFill/>
            <a:ln w="28575" cap="flat" cmpd="sng" algn="ctr">
              <a:solidFill>
                <a:srgbClr val="FF0000"/>
              </a:solidFill>
              <a:prstDash val="sysDash"/>
              <a:round/>
              <a:headEnd type="none" w="med" len="med"/>
              <a:tailEnd type="none" w="med" len="med"/>
            </a:ln>
            <a:effectLst/>
          </p:spPr>
        </p:cxnSp>
        <p:cxnSp>
          <p:nvCxnSpPr>
            <p:cNvPr id="59" name="直接连接符 58"/>
            <p:cNvCxnSpPr/>
            <p:nvPr/>
          </p:nvCxnSpPr>
          <p:spPr bwMode="auto">
            <a:xfrm>
              <a:off x="5220072" y="4941168"/>
              <a:ext cx="432048" cy="144016"/>
            </a:xfrm>
            <a:prstGeom prst="line">
              <a:avLst/>
            </a:prstGeom>
            <a:noFill/>
            <a:ln w="28575" cap="flat" cmpd="sng" algn="ctr">
              <a:solidFill>
                <a:srgbClr val="FF0000"/>
              </a:solidFill>
              <a:prstDash val="sysDash"/>
              <a:round/>
              <a:headEnd type="none" w="med" len="med"/>
              <a:tailEnd type="none" w="med" len="med"/>
            </a:ln>
            <a:effectLst/>
          </p:spPr>
        </p:cxnSp>
        <p:cxnSp>
          <p:nvCxnSpPr>
            <p:cNvPr id="54" name="直接连接符 53"/>
            <p:cNvCxnSpPr/>
            <p:nvPr/>
          </p:nvCxnSpPr>
          <p:spPr bwMode="auto">
            <a:xfrm>
              <a:off x="5652120" y="4323153"/>
              <a:ext cx="936104" cy="618015"/>
            </a:xfrm>
            <a:prstGeom prst="line">
              <a:avLst/>
            </a:prstGeom>
            <a:noFill/>
            <a:ln w="28575" cap="flat" cmpd="sng" algn="ctr">
              <a:solidFill>
                <a:srgbClr val="FF0000"/>
              </a:solidFill>
              <a:prstDash val="sysDash"/>
              <a:round/>
              <a:headEnd type="none" w="med" len="med"/>
              <a:tailEnd type="none" w="med" len="med"/>
            </a:ln>
            <a:effectLst/>
          </p:spPr>
        </p:cxnSp>
        <p:cxnSp>
          <p:nvCxnSpPr>
            <p:cNvPr id="56" name="直接连接符 55"/>
            <p:cNvCxnSpPr/>
            <p:nvPr/>
          </p:nvCxnSpPr>
          <p:spPr bwMode="auto">
            <a:xfrm flipV="1">
              <a:off x="5680751" y="5013176"/>
              <a:ext cx="907473" cy="72008"/>
            </a:xfrm>
            <a:prstGeom prst="line">
              <a:avLst/>
            </a:prstGeom>
            <a:noFill/>
            <a:ln w="28575" cap="flat" cmpd="sng" algn="ctr">
              <a:solidFill>
                <a:srgbClr val="FF0000"/>
              </a:solidFill>
              <a:prstDash val="sysDash"/>
              <a:round/>
              <a:headEnd type="none" w="med" len="med"/>
              <a:tailEnd type="none" w="med" len="med"/>
            </a:ln>
            <a:effectLst/>
          </p:spPr>
        </p:cxnSp>
      </p:grpSp>
      <p:cxnSp>
        <p:nvCxnSpPr>
          <p:cNvPr id="3" name="直接箭头连接符 2"/>
          <p:cNvCxnSpPr/>
          <p:nvPr/>
        </p:nvCxnSpPr>
        <p:spPr bwMode="auto">
          <a:xfrm>
            <a:off x="4026090" y="4941168"/>
            <a:ext cx="413727" cy="0"/>
          </a:xfrm>
          <a:prstGeom prst="straightConnector1">
            <a:avLst/>
          </a:prstGeom>
          <a:noFill/>
          <a:ln w="28575" cap="flat" cmpd="sng" algn="ctr">
            <a:solidFill>
              <a:schemeClr val="accent1"/>
            </a:solidFill>
            <a:prstDash val="sysDash"/>
            <a:round/>
            <a:headEnd type="none" w="med" len="med"/>
            <a:tailEnd type="triangle"/>
          </a:ln>
          <a:effectLst/>
        </p:spPr>
      </p:cxn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281610"/>
                                        </p:tgtEl>
                                        <p:attrNameLst>
                                          <p:attrName>style.visibility</p:attrName>
                                        </p:attrNameLst>
                                      </p:cBhvr>
                                      <p:to>
                                        <p:strVal val="visible"/>
                                      </p:to>
                                    </p:set>
                                    <p:animEffect transition="in" filter="wipe(down)">
                                      <p:cBhvr>
                                        <p:cTn id="35" dur="500"/>
                                        <p:tgtEl>
                                          <p:spTgt spid="281610"/>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down)">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left)">
                                      <p:cBhvr>
                                        <p:cTn id="56" dur="500"/>
                                        <p:tgtEl>
                                          <p:spTgt spid="38"/>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wipe(down)">
                                      <p:cBhvr>
                                        <p:cTn id="60" dur="500"/>
                                        <p:tgtEl>
                                          <p:spTgt spid="47"/>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par>
                          <p:cTn id="65" fill="hold">
                            <p:stCondLst>
                              <p:cond delay="2000"/>
                            </p:stCondLst>
                            <p:childTnLst>
                              <p:par>
                                <p:cTn id="66" presetID="22" presetClass="entr" presetSubtype="8" fill="hold" nodeType="after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left)">
                                      <p:cBhvr>
                                        <p:cTn id="68" dur="500"/>
                                        <p:tgtEl>
                                          <p:spTgt spid="45"/>
                                        </p:tgtEl>
                                      </p:cBhvr>
                                    </p:animEffect>
                                  </p:childTnLst>
                                </p:cTn>
                              </p:par>
                            </p:childTnLst>
                          </p:cTn>
                        </p:par>
                        <p:par>
                          <p:cTn id="69" fill="hold">
                            <p:stCondLst>
                              <p:cond delay="2500"/>
                            </p:stCondLst>
                            <p:childTnLst>
                              <p:par>
                                <p:cTn id="70" presetID="22" presetClass="entr" presetSubtype="8" fill="hold" nodeType="after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wipe(left)">
                                      <p:cBhvr>
                                        <p:cTn id="72" dur="500"/>
                                        <p:tgtEl>
                                          <p:spTgt spid="48"/>
                                        </p:tgtEl>
                                      </p:cBhvr>
                                    </p:animEffect>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wipe(up)">
                                      <p:cBhvr>
                                        <p:cTn id="76" dur="500"/>
                                        <p:tgtEl>
                                          <p:spTgt spid="61"/>
                                        </p:tgtEl>
                                      </p:cBhvr>
                                    </p:animEffect>
                                  </p:childTnLst>
                                </p:cTn>
                              </p:par>
                            </p:childTnLst>
                          </p:cTn>
                        </p:par>
                        <p:par>
                          <p:cTn id="77" fill="hold">
                            <p:stCondLst>
                              <p:cond delay="3500"/>
                            </p:stCondLst>
                            <p:childTnLst>
                              <p:par>
                                <p:cTn id="78" presetID="22" presetClass="entr" presetSubtype="8" fill="hold" nodeType="after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left)">
                                      <p:cBhvr>
                                        <p:cTn id="80" dur="500"/>
                                        <p:tgtEl>
                                          <p:spTgt spid="63"/>
                                        </p:tgtEl>
                                      </p:cBhvr>
                                    </p:animEffect>
                                  </p:childTnLst>
                                </p:cTn>
                              </p:par>
                            </p:childTnLst>
                          </p:cTn>
                        </p:par>
                        <p:par>
                          <p:cTn id="81" fill="hold">
                            <p:stCondLst>
                              <p:cond delay="4000"/>
                            </p:stCondLst>
                            <p:childTnLst>
                              <p:par>
                                <p:cTn id="82" presetID="22" presetClass="entr" presetSubtype="4" fill="hold" nodeType="afterEffect">
                                  <p:stCondLst>
                                    <p:cond delay="0"/>
                                  </p:stCondLst>
                                  <p:childTnLst>
                                    <p:set>
                                      <p:cBhvr>
                                        <p:cTn id="83" dur="1" fill="hold">
                                          <p:stCondLst>
                                            <p:cond delay="0"/>
                                          </p:stCondLst>
                                        </p:cTn>
                                        <p:tgtEl>
                                          <p:spTgt spid="65"/>
                                        </p:tgtEl>
                                        <p:attrNameLst>
                                          <p:attrName>style.visibility</p:attrName>
                                        </p:attrNameLst>
                                      </p:cBhvr>
                                      <p:to>
                                        <p:strVal val="visible"/>
                                      </p:to>
                                    </p:set>
                                    <p:animEffect transition="in" filter="wipe(down)">
                                      <p:cBhvr>
                                        <p:cTn id="84" dur="500"/>
                                        <p:tgtEl>
                                          <p:spTgt spid="65"/>
                                        </p:tgtEl>
                                      </p:cBhvr>
                                    </p:animEffect>
                                  </p:childTnLst>
                                </p:cTn>
                              </p:par>
                            </p:childTnLst>
                          </p:cTn>
                        </p:par>
                        <p:par>
                          <p:cTn id="85" fill="hold">
                            <p:stCondLst>
                              <p:cond delay="4500"/>
                            </p:stCondLst>
                            <p:childTnLst>
                              <p:par>
                                <p:cTn id="86" presetID="22" presetClass="entr" presetSubtype="8" fill="hold" nodeType="after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ipe(left)">
                                      <p:cBhvr>
                                        <p:cTn id="88" dur="500"/>
                                        <p:tgtEl>
                                          <p:spTgt spid="67"/>
                                        </p:tgtEl>
                                      </p:cBhvr>
                                    </p:animEffect>
                                  </p:childTnLst>
                                </p:cTn>
                              </p:par>
                            </p:childTnLst>
                          </p:cTn>
                        </p:par>
                        <p:par>
                          <p:cTn id="89" fill="hold">
                            <p:stCondLst>
                              <p:cond delay="5000"/>
                            </p:stCondLst>
                            <p:childTnLst>
                              <p:par>
                                <p:cTn id="90" presetID="22" presetClass="entr" presetSubtype="1" fill="hold" nodeType="afterEffect">
                                  <p:stCondLst>
                                    <p:cond delay="0"/>
                                  </p:stCondLst>
                                  <p:childTnLst>
                                    <p:set>
                                      <p:cBhvr>
                                        <p:cTn id="91" dur="1" fill="hold">
                                          <p:stCondLst>
                                            <p:cond delay="0"/>
                                          </p:stCondLst>
                                        </p:cTn>
                                        <p:tgtEl>
                                          <p:spTgt spid="69"/>
                                        </p:tgtEl>
                                        <p:attrNameLst>
                                          <p:attrName>style.visibility</p:attrName>
                                        </p:attrNameLst>
                                      </p:cBhvr>
                                      <p:to>
                                        <p:strVal val="visible"/>
                                      </p:to>
                                    </p:set>
                                    <p:animEffect transition="in" filter="wipe(up)">
                                      <p:cBhvr>
                                        <p:cTn id="92" dur="500"/>
                                        <p:tgtEl>
                                          <p:spTgt spid="69"/>
                                        </p:tgtEl>
                                      </p:cBhvr>
                                    </p:animEffect>
                                  </p:childTnLst>
                                </p:cTn>
                              </p:par>
                            </p:childTnLst>
                          </p:cTn>
                        </p:par>
                        <p:par>
                          <p:cTn id="93" fill="hold">
                            <p:stCondLst>
                              <p:cond delay="5500"/>
                            </p:stCondLst>
                            <p:childTnLst>
                              <p:par>
                                <p:cTn id="94" presetID="22" presetClass="entr" presetSubtype="2" fill="hold" nodeType="afterEffect">
                                  <p:stCondLst>
                                    <p:cond delay="0"/>
                                  </p:stCondLst>
                                  <p:childTnLst>
                                    <p:set>
                                      <p:cBhvr>
                                        <p:cTn id="95" dur="1" fill="hold">
                                          <p:stCondLst>
                                            <p:cond delay="0"/>
                                          </p:stCondLst>
                                        </p:cTn>
                                        <p:tgtEl>
                                          <p:spTgt spid="72"/>
                                        </p:tgtEl>
                                        <p:attrNameLst>
                                          <p:attrName>style.visibility</p:attrName>
                                        </p:attrNameLst>
                                      </p:cBhvr>
                                      <p:to>
                                        <p:strVal val="visible"/>
                                      </p:to>
                                    </p:set>
                                    <p:animEffect transition="in" filter="wipe(right)">
                                      <p:cBhvr>
                                        <p:cTn id="96" dur="500"/>
                                        <p:tgtEl>
                                          <p:spTgt spid="72"/>
                                        </p:tgtEl>
                                      </p:cBhvr>
                                    </p:animEffect>
                                  </p:childTnLst>
                                </p:cTn>
                              </p:par>
                            </p:childTnLst>
                          </p:cTn>
                        </p:par>
                        <p:par>
                          <p:cTn id="97" fill="hold">
                            <p:stCondLst>
                              <p:cond delay="6000"/>
                            </p:stCondLst>
                            <p:childTnLst>
                              <p:par>
                                <p:cTn id="98" presetID="22" presetClass="entr" presetSubtype="4" fill="hold" nodeType="afterEffect">
                                  <p:stCondLst>
                                    <p:cond delay="0"/>
                                  </p:stCondLst>
                                  <p:childTnLst>
                                    <p:set>
                                      <p:cBhvr>
                                        <p:cTn id="99" dur="1" fill="hold">
                                          <p:stCondLst>
                                            <p:cond delay="0"/>
                                          </p:stCondLst>
                                        </p:cTn>
                                        <p:tgtEl>
                                          <p:spTgt spid="76"/>
                                        </p:tgtEl>
                                        <p:attrNameLst>
                                          <p:attrName>style.visibility</p:attrName>
                                        </p:attrNameLst>
                                      </p:cBhvr>
                                      <p:to>
                                        <p:strVal val="visible"/>
                                      </p:to>
                                    </p:set>
                                    <p:animEffect transition="in" filter="wipe(down)">
                                      <p:cBhvr>
                                        <p:cTn id="100" dur="500"/>
                                        <p:tgtEl>
                                          <p:spTgt spid="76"/>
                                        </p:tgtEl>
                                      </p:cBhvr>
                                    </p:animEffect>
                                  </p:childTnLst>
                                </p:cTn>
                              </p:par>
                            </p:childTnLst>
                          </p:cTn>
                        </p:par>
                        <p:par>
                          <p:cTn id="101" fill="hold">
                            <p:stCondLst>
                              <p:cond delay="6500"/>
                            </p:stCondLst>
                            <p:childTnLst>
                              <p:par>
                                <p:cTn id="102" presetID="22" presetClass="entr" presetSubtype="8" fill="hold" nodeType="afterEffect">
                                  <p:stCondLst>
                                    <p:cond delay="0"/>
                                  </p:stCondLst>
                                  <p:childTnLst>
                                    <p:set>
                                      <p:cBhvr>
                                        <p:cTn id="103" dur="1" fill="hold">
                                          <p:stCondLst>
                                            <p:cond delay="0"/>
                                          </p:stCondLst>
                                        </p:cTn>
                                        <p:tgtEl>
                                          <p:spTgt spid="78"/>
                                        </p:tgtEl>
                                        <p:attrNameLst>
                                          <p:attrName>style.visibility</p:attrName>
                                        </p:attrNameLst>
                                      </p:cBhvr>
                                      <p:to>
                                        <p:strVal val="visible"/>
                                      </p:to>
                                    </p:set>
                                    <p:animEffect transition="in" filter="wipe(left)">
                                      <p:cBhvr>
                                        <p:cTn id="104" dur="500"/>
                                        <p:tgtEl>
                                          <p:spTgt spid="78"/>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2"/>
          <a:stretch>
            <a:fillRect/>
          </a:stretch>
        </p:blipFill>
        <p:spPr>
          <a:xfrm>
            <a:off x="1887140" y="1172946"/>
            <a:ext cx="8458674" cy="5568422"/>
          </a:xfrm>
          <a:prstGeom prst="rect">
            <a:avLst/>
          </a:prstGeom>
        </p:spPr>
      </p:pic>
      <p:sp>
        <p:nvSpPr>
          <p:cNvPr id="300035" name="Rectangle 3"/>
          <p:cNvSpPr>
            <a:spLocks noGrp="1" noChangeArrowheads="1"/>
          </p:cNvSpPr>
          <p:nvPr>
            <p:ph type="body" idx="1"/>
          </p:nvPr>
        </p:nvSpPr>
        <p:spPr>
          <a:xfrm>
            <a:off x="2192963" y="760513"/>
            <a:ext cx="7848600" cy="436017"/>
          </a:xfrm>
        </p:spPr>
        <p:txBody>
          <a:bodyPr/>
          <a:lstStyle/>
          <a:p>
            <a:pPr>
              <a:spcAft>
                <a:spcPts val="0"/>
              </a:spcAft>
            </a:pPr>
            <a:r>
              <a:rPr lang="en-US" altLang="zh-CN" sz="2000" dirty="0">
                <a:ea typeface="宋体" panose="02010600030101010101" pitchFamily="2" charset="-122"/>
              </a:rPr>
              <a:t>LW</a:t>
            </a:r>
            <a:r>
              <a:rPr lang="zh-CN" altLang="en-US" sz="2000" dirty="0">
                <a:ea typeface="宋体" panose="02010600030101010101" pitchFamily="2" charset="-122"/>
              </a:rPr>
              <a:t>指令执行数据流示意</a:t>
            </a:r>
          </a:p>
        </p:txBody>
      </p:sp>
      <p:cxnSp>
        <p:nvCxnSpPr>
          <p:cNvPr id="14" name="直接连接符 13"/>
          <p:cNvCxnSpPr/>
          <p:nvPr/>
        </p:nvCxnSpPr>
        <p:spPr bwMode="auto">
          <a:xfrm flipV="1">
            <a:off x="1919536" y="1196752"/>
            <a:ext cx="0" cy="2952352"/>
          </a:xfrm>
          <a:prstGeom prst="line">
            <a:avLst/>
          </a:prstGeom>
          <a:noFill/>
          <a:ln w="28575" cap="flat" cmpd="sng" algn="ctr">
            <a:solidFill>
              <a:srgbClr val="FF0000"/>
            </a:solidFill>
            <a:prstDash val="sysDash"/>
            <a:round/>
            <a:headEnd type="none" w="med" len="med"/>
            <a:tailEnd type="none" w="med" len="med"/>
          </a:ln>
          <a:effectLst/>
        </p:spPr>
      </p:cxnSp>
      <p:cxnSp>
        <p:nvCxnSpPr>
          <p:cNvPr id="17" name="直接连接符 16"/>
          <p:cNvCxnSpPr/>
          <p:nvPr/>
        </p:nvCxnSpPr>
        <p:spPr bwMode="auto">
          <a:xfrm>
            <a:off x="2495600" y="1484784"/>
            <a:ext cx="1080120" cy="0"/>
          </a:xfrm>
          <a:prstGeom prst="line">
            <a:avLst/>
          </a:prstGeom>
          <a:noFill/>
          <a:ln w="28575" cap="flat" cmpd="sng" algn="ctr">
            <a:solidFill>
              <a:srgbClr val="FF0000"/>
            </a:solidFill>
            <a:prstDash val="sysDash"/>
            <a:round/>
            <a:headEnd type="none" w="med" len="med"/>
            <a:tailEnd type="none" w="med" len="med"/>
          </a:ln>
          <a:effectLst/>
        </p:spPr>
      </p:cxnSp>
      <p:cxnSp>
        <p:nvCxnSpPr>
          <p:cNvPr id="19" name="直接连接符 18"/>
          <p:cNvCxnSpPr/>
          <p:nvPr/>
        </p:nvCxnSpPr>
        <p:spPr bwMode="auto">
          <a:xfrm>
            <a:off x="3575720" y="1484784"/>
            <a:ext cx="648072"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1" name="直接连接符 20"/>
          <p:cNvCxnSpPr/>
          <p:nvPr/>
        </p:nvCxnSpPr>
        <p:spPr bwMode="auto">
          <a:xfrm>
            <a:off x="4223792" y="1772816"/>
            <a:ext cx="2016224" cy="0"/>
          </a:xfrm>
          <a:prstGeom prst="line">
            <a:avLst/>
          </a:prstGeom>
          <a:noFill/>
          <a:ln w="28575" cap="flat" cmpd="sng" algn="ctr">
            <a:solidFill>
              <a:srgbClr val="FF0000"/>
            </a:solidFill>
            <a:prstDash val="sysDash"/>
            <a:round/>
            <a:headEnd type="none" w="med" len="med"/>
            <a:tailEnd type="none" w="med" len="med"/>
          </a:ln>
          <a:effectLst/>
        </p:spPr>
      </p:cxnSp>
      <p:cxnSp>
        <p:nvCxnSpPr>
          <p:cNvPr id="23" name="直接连接符 22"/>
          <p:cNvCxnSpPr/>
          <p:nvPr/>
        </p:nvCxnSpPr>
        <p:spPr bwMode="auto">
          <a:xfrm flipV="1">
            <a:off x="6240016" y="1484784"/>
            <a:ext cx="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5" name="直接连接符 24"/>
          <p:cNvCxnSpPr/>
          <p:nvPr/>
        </p:nvCxnSpPr>
        <p:spPr bwMode="auto">
          <a:xfrm>
            <a:off x="6240016" y="1484784"/>
            <a:ext cx="2160240" cy="0"/>
          </a:xfrm>
          <a:prstGeom prst="line">
            <a:avLst/>
          </a:prstGeom>
          <a:noFill/>
          <a:ln w="28575" cap="flat" cmpd="sng" algn="ctr">
            <a:solidFill>
              <a:srgbClr val="FF0000"/>
            </a:solidFill>
            <a:prstDash val="sysDash"/>
            <a:round/>
            <a:headEnd type="none" w="med" len="med"/>
            <a:tailEnd type="none" w="med" len="med"/>
          </a:ln>
          <a:effectLst/>
        </p:spPr>
      </p:cxnSp>
      <p:cxnSp>
        <p:nvCxnSpPr>
          <p:cNvPr id="39" name="直接连接符 38"/>
          <p:cNvCxnSpPr/>
          <p:nvPr/>
        </p:nvCxnSpPr>
        <p:spPr bwMode="auto">
          <a:xfrm>
            <a:off x="8400256" y="1481252"/>
            <a:ext cx="504056" cy="291565"/>
          </a:xfrm>
          <a:prstGeom prst="line">
            <a:avLst/>
          </a:prstGeom>
          <a:noFill/>
          <a:ln w="28575" cap="flat" cmpd="sng" algn="ctr">
            <a:solidFill>
              <a:srgbClr val="FF0000"/>
            </a:solidFill>
            <a:prstDash val="sysDash"/>
            <a:round/>
            <a:headEnd type="none" w="med" len="med"/>
            <a:tailEnd type="none" w="med" len="med"/>
          </a:ln>
          <a:effectLst/>
        </p:spPr>
      </p:cxnSp>
      <p:cxnSp>
        <p:nvCxnSpPr>
          <p:cNvPr id="41" name="直接连接符 40"/>
          <p:cNvCxnSpPr/>
          <p:nvPr/>
        </p:nvCxnSpPr>
        <p:spPr bwMode="auto">
          <a:xfrm>
            <a:off x="1919536" y="1196752"/>
            <a:ext cx="6984776" cy="0"/>
          </a:xfrm>
          <a:prstGeom prst="line">
            <a:avLst/>
          </a:prstGeom>
          <a:noFill/>
          <a:ln w="28575"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flipV="1">
            <a:off x="2495600" y="1481251"/>
            <a:ext cx="0" cy="2511920"/>
          </a:xfrm>
          <a:prstGeom prst="line">
            <a:avLst/>
          </a:prstGeom>
          <a:noFill/>
          <a:ln w="28575" cap="flat" cmpd="sng" algn="ctr">
            <a:solidFill>
              <a:srgbClr val="FF0000"/>
            </a:solidFill>
            <a:prstDash val="sysDash"/>
            <a:round/>
            <a:headEnd type="none" w="med" len="med"/>
            <a:tailEnd type="none" w="med" len="med"/>
          </a:ln>
          <a:effectLst/>
        </p:spPr>
      </p:cxnSp>
      <p:cxnSp>
        <p:nvCxnSpPr>
          <p:cNvPr id="281610" name="直接连接符 281609"/>
          <p:cNvCxnSpPr/>
          <p:nvPr/>
        </p:nvCxnSpPr>
        <p:spPr bwMode="auto">
          <a:xfrm>
            <a:off x="8904312" y="1196752"/>
            <a:ext cx="0" cy="576064"/>
          </a:xfrm>
          <a:prstGeom prst="line">
            <a:avLst/>
          </a:prstGeom>
          <a:noFill/>
          <a:ln w="28575" cap="flat" cmpd="sng" algn="ctr">
            <a:solidFill>
              <a:srgbClr val="FF0000"/>
            </a:solidFill>
            <a:prstDash val="sysDash"/>
            <a:round/>
            <a:headEnd type="none" w="med" len="med"/>
            <a:tailEnd type="none" w="med" len="med"/>
          </a:ln>
          <a:effectLst/>
        </p:spPr>
      </p:cxnSp>
      <p:cxnSp>
        <p:nvCxnSpPr>
          <p:cNvPr id="50" name="直接连接符 49"/>
          <p:cNvCxnSpPr/>
          <p:nvPr/>
        </p:nvCxnSpPr>
        <p:spPr bwMode="auto">
          <a:xfrm>
            <a:off x="1911986" y="4149104"/>
            <a:ext cx="223574" cy="0"/>
          </a:xfrm>
          <a:prstGeom prst="line">
            <a:avLst/>
          </a:prstGeom>
          <a:noFill/>
          <a:ln w="28575" cap="flat" cmpd="sng" algn="ctr">
            <a:solidFill>
              <a:srgbClr val="FF0000"/>
            </a:solidFill>
            <a:prstDash val="sysDash"/>
            <a:round/>
            <a:headEnd type="none" w="med" len="med"/>
            <a:tailEnd type="triangle" w="med" len="med"/>
          </a:ln>
          <a:effectLst/>
        </p:spPr>
      </p:cxnSp>
      <p:cxnSp>
        <p:nvCxnSpPr>
          <p:cNvPr id="69" name="直接连接符 68"/>
          <p:cNvCxnSpPr/>
          <p:nvPr/>
        </p:nvCxnSpPr>
        <p:spPr bwMode="auto">
          <a:xfrm flipV="1">
            <a:off x="10272464" y="5157193"/>
            <a:ext cx="0" cy="1440160"/>
          </a:xfrm>
          <a:prstGeom prst="line">
            <a:avLst/>
          </a:prstGeom>
          <a:noFill/>
          <a:ln w="28575" cap="flat" cmpd="sng" algn="ctr">
            <a:solidFill>
              <a:srgbClr val="FF0000"/>
            </a:solidFill>
            <a:prstDash val="sysDash"/>
            <a:round/>
            <a:headEnd type="none" w="med" len="med"/>
            <a:tailEnd type="none" w="med" len="med"/>
          </a:ln>
          <a:effectLst/>
        </p:spPr>
      </p:cxnSp>
      <p:cxnSp>
        <p:nvCxnSpPr>
          <p:cNvPr id="72" name="直接连接符 71"/>
          <p:cNvCxnSpPr/>
          <p:nvPr/>
        </p:nvCxnSpPr>
        <p:spPr bwMode="auto">
          <a:xfrm>
            <a:off x="4655840" y="6669360"/>
            <a:ext cx="5616624" cy="0"/>
          </a:xfrm>
          <a:prstGeom prst="line">
            <a:avLst/>
          </a:prstGeom>
          <a:noFill/>
          <a:ln w="28575" cap="flat" cmpd="sng" algn="ctr">
            <a:solidFill>
              <a:srgbClr val="FF0000"/>
            </a:solidFill>
            <a:prstDash val="sysDash"/>
            <a:round/>
            <a:headEnd type="none" w="med" len="med"/>
            <a:tailEnd type="none" w="med" len="med"/>
          </a:ln>
          <a:effectLst/>
        </p:spPr>
      </p:cxnSp>
      <p:cxnSp>
        <p:nvCxnSpPr>
          <p:cNvPr id="76" name="直接连接符 75"/>
          <p:cNvCxnSpPr/>
          <p:nvPr/>
        </p:nvCxnSpPr>
        <p:spPr bwMode="auto">
          <a:xfrm flipV="1">
            <a:off x="4655840" y="5341392"/>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78" name="直接连接符 77"/>
          <p:cNvCxnSpPr/>
          <p:nvPr/>
        </p:nvCxnSpPr>
        <p:spPr bwMode="auto">
          <a:xfrm flipV="1">
            <a:off x="4655840" y="5157192"/>
            <a:ext cx="216024" cy="216024"/>
          </a:xfrm>
          <a:prstGeom prst="line">
            <a:avLst/>
          </a:prstGeom>
          <a:noFill/>
          <a:ln w="28575" cap="flat" cmpd="sng" algn="ctr">
            <a:solidFill>
              <a:srgbClr val="FF0000"/>
            </a:solidFill>
            <a:prstDash val="sysDash"/>
            <a:round/>
            <a:headEnd type="none" w="med" len="med"/>
            <a:tailEnd type="triangle" w="med" len="med"/>
          </a:ln>
          <a:effectLst/>
        </p:spPr>
      </p:cxnSp>
      <p:grpSp>
        <p:nvGrpSpPr>
          <p:cNvPr id="15" name="组合 14"/>
          <p:cNvGrpSpPr/>
          <p:nvPr/>
        </p:nvGrpSpPr>
        <p:grpSpPr>
          <a:xfrm>
            <a:off x="2423592" y="4076104"/>
            <a:ext cx="1584176" cy="577032"/>
            <a:chOff x="899592" y="4076104"/>
            <a:chExt cx="1584176" cy="577032"/>
          </a:xfrm>
        </p:grpSpPr>
        <p:cxnSp>
          <p:nvCxnSpPr>
            <p:cNvPr id="29" name="直接连接符 28"/>
            <p:cNvCxnSpPr/>
            <p:nvPr/>
          </p:nvCxnSpPr>
          <p:spPr bwMode="auto">
            <a:xfrm>
              <a:off x="899592" y="4077072"/>
              <a:ext cx="288032" cy="0"/>
            </a:xfrm>
            <a:prstGeom prst="line">
              <a:avLst/>
            </a:prstGeom>
            <a:noFill/>
            <a:ln w="28575" cap="flat" cmpd="sng" algn="ctr">
              <a:solidFill>
                <a:srgbClr val="FF0000"/>
              </a:solidFill>
              <a:prstDash val="sysDash"/>
              <a:round/>
              <a:headEnd type="none" w="med" len="med"/>
              <a:tailEnd type="none" w="med" len="med"/>
            </a:ln>
            <a:effectLst/>
          </p:spPr>
        </p:cxnSp>
        <p:cxnSp>
          <p:nvCxnSpPr>
            <p:cNvPr id="30" name="直接连接符 29"/>
            <p:cNvCxnSpPr/>
            <p:nvPr/>
          </p:nvCxnSpPr>
          <p:spPr bwMode="auto">
            <a:xfrm>
              <a:off x="1187624" y="4076104"/>
              <a:ext cx="1296144" cy="577032"/>
            </a:xfrm>
            <a:prstGeom prst="line">
              <a:avLst/>
            </a:prstGeom>
            <a:noFill/>
            <a:ln w="28575" cap="flat" cmpd="sng" algn="ctr">
              <a:solidFill>
                <a:srgbClr val="FF0000"/>
              </a:solidFill>
              <a:prstDash val="sysDash"/>
              <a:round/>
              <a:headEnd type="none" w="med" len="med"/>
              <a:tailEnd type="none" w="med" len="med"/>
            </a:ln>
            <a:effectLst/>
          </p:spPr>
        </p:cxnSp>
      </p:grpSp>
      <p:grpSp>
        <p:nvGrpSpPr>
          <p:cNvPr id="16" name="组合 15"/>
          <p:cNvGrpSpPr/>
          <p:nvPr/>
        </p:nvGrpSpPr>
        <p:grpSpPr>
          <a:xfrm>
            <a:off x="4007768" y="3968280"/>
            <a:ext cx="3168352" cy="1909531"/>
            <a:chOff x="2483768" y="3968279"/>
            <a:chExt cx="3168352" cy="1909531"/>
          </a:xfrm>
        </p:grpSpPr>
        <p:cxnSp>
          <p:nvCxnSpPr>
            <p:cNvPr id="281616" name="直接连接符 281615"/>
            <p:cNvCxnSpPr/>
            <p:nvPr/>
          </p:nvCxnSpPr>
          <p:spPr bwMode="auto">
            <a:xfrm>
              <a:off x="4644008" y="4293096"/>
              <a:ext cx="1008112" cy="0"/>
            </a:xfrm>
            <a:prstGeom prst="line">
              <a:avLst/>
            </a:prstGeom>
            <a:noFill/>
            <a:ln w="28575" cap="flat" cmpd="sng" algn="ctr">
              <a:solidFill>
                <a:srgbClr val="FF0000"/>
              </a:solidFill>
              <a:prstDash val="sysDash"/>
              <a:round/>
              <a:headEnd type="none" w="med" len="med"/>
              <a:tailEnd type="none" w="med" len="med"/>
            </a:ln>
            <a:effectLst/>
          </p:spPr>
        </p:cxnSp>
        <p:cxnSp>
          <p:nvCxnSpPr>
            <p:cNvPr id="59" name="直接连接符 58"/>
            <p:cNvCxnSpPr/>
            <p:nvPr/>
          </p:nvCxnSpPr>
          <p:spPr bwMode="auto">
            <a:xfrm>
              <a:off x="2483768" y="4653136"/>
              <a:ext cx="0" cy="1224674"/>
            </a:xfrm>
            <a:prstGeom prst="line">
              <a:avLst/>
            </a:prstGeom>
            <a:noFill/>
            <a:ln w="28575" cap="flat" cmpd="sng" algn="ctr">
              <a:solidFill>
                <a:srgbClr val="FF0000"/>
              </a:solidFill>
              <a:prstDash val="sysDash"/>
              <a:round/>
              <a:headEnd type="none" w="med" len="med"/>
              <a:tailEnd type="none" w="med" len="med"/>
            </a:ln>
            <a:effectLst/>
          </p:spPr>
        </p:cxnSp>
        <p:cxnSp>
          <p:nvCxnSpPr>
            <p:cNvPr id="61" name="直接连接符 60"/>
            <p:cNvCxnSpPr/>
            <p:nvPr/>
          </p:nvCxnSpPr>
          <p:spPr bwMode="auto">
            <a:xfrm flipH="1">
              <a:off x="2483768" y="5877810"/>
              <a:ext cx="2533688" cy="0"/>
            </a:xfrm>
            <a:prstGeom prst="line">
              <a:avLst/>
            </a:prstGeom>
            <a:noFill/>
            <a:ln w="28575" cap="flat" cmpd="sng" algn="ctr">
              <a:solidFill>
                <a:srgbClr val="FF0000"/>
              </a:solidFill>
              <a:prstDash val="sysDash"/>
              <a:round/>
              <a:headEnd type="none" w="med" len="med"/>
              <a:tailEnd type="none" w="med" len="med"/>
            </a:ln>
            <a:effectLst/>
          </p:spPr>
        </p:cxnSp>
        <p:cxnSp>
          <p:nvCxnSpPr>
            <p:cNvPr id="63" name="直接连接符 62"/>
            <p:cNvCxnSpPr/>
            <p:nvPr/>
          </p:nvCxnSpPr>
          <p:spPr bwMode="auto">
            <a:xfrm flipV="1">
              <a:off x="5017455" y="5301208"/>
              <a:ext cx="0" cy="576602"/>
            </a:xfrm>
            <a:prstGeom prst="line">
              <a:avLst/>
            </a:prstGeom>
            <a:noFill/>
            <a:ln w="28575" cap="flat" cmpd="sng" algn="ctr">
              <a:solidFill>
                <a:srgbClr val="FF0000"/>
              </a:solidFill>
              <a:prstDash val="sysDash"/>
              <a:round/>
              <a:headEnd type="none" w="med" len="med"/>
              <a:tailEnd type="none" w="med" len="med"/>
            </a:ln>
            <a:effectLst/>
          </p:spPr>
        </p:cxnSp>
        <p:cxnSp>
          <p:nvCxnSpPr>
            <p:cNvPr id="65" name="直接连接符 64"/>
            <p:cNvCxnSpPr/>
            <p:nvPr/>
          </p:nvCxnSpPr>
          <p:spPr bwMode="auto">
            <a:xfrm flipV="1">
              <a:off x="5004048" y="5157192"/>
              <a:ext cx="648072" cy="144016"/>
            </a:xfrm>
            <a:prstGeom prst="line">
              <a:avLst/>
            </a:prstGeom>
            <a:noFill/>
            <a:ln w="28575" cap="flat" cmpd="sng" algn="ctr">
              <a:solidFill>
                <a:srgbClr val="FF0000"/>
              </a:solidFill>
              <a:prstDash val="sysDash"/>
              <a:round/>
              <a:headEnd type="none" w="med" len="med"/>
              <a:tailEnd type="none" w="med" len="med"/>
            </a:ln>
            <a:effectLst/>
          </p:spPr>
        </p:cxnSp>
        <p:cxnSp>
          <p:nvCxnSpPr>
            <p:cNvPr id="33" name="直接连接符 32"/>
            <p:cNvCxnSpPr/>
            <p:nvPr/>
          </p:nvCxnSpPr>
          <p:spPr bwMode="auto">
            <a:xfrm>
              <a:off x="2483768" y="3993171"/>
              <a:ext cx="0" cy="659965"/>
            </a:xfrm>
            <a:prstGeom prst="line">
              <a:avLst/>
            </a:prstGeom>
            <a:noFill/>
            <a:ln w="28575" cap="flat" cmpd="sng" algn="ctr">
              <a:solidFill>
                <a:srgbClr val="FF0000"/>
              </a:solidFill>
              <a:prstDash val="sysDash"/>
              <a:round/>
              <a:headEnd type="none" w="med" len="med"/>
              <a:tailEnd type="none" w="med" len="med"/>
            </a:ln>
            <a:effectLst/>
          </p:spPr>
        </p:cxnSp>
        <p:cxnSp>
          <p:nvCxnSpPr>
            <p:cNvPr id="35" name="直接连接符 34"/>
            <p:cNvCxnSpPr/>
            <p:nvPr/>
          </p:nvCxnSpPr>
          <p:spPr bwMode="auto">
            <a:xfrm>
              <a:off x="2483768" y="3968279"/>
              <a:ext cx="864096" cy="0"/>
            </a:xfrm>
            <a:prstGeom prst="line">
              <a:avLst/>
            </a:prstGeom>
            <a:noFill/>
            <a:ln w="28575" cap="flat" cmpd="sng" algn="ctr">
              <a:solidFill>
                <a:srgbClr val="FF0000"/>
              </a:solidFill>
              <a:prstDash val="sysDash"/>
              <a:round/>
              <a:headEnd type="none" w="med" len="med"/>
              <a:tailEnd type="none" w="med" len="med"/>
            </a:ln>
            <a:effectLst/>
          </p:spPr>
        </p:cxnSp>
        <p:cxnSp>
          <p:nvCxnSpPr>
            <p:cNvPr id="36" name="直接连接符 35"/>
            <p:cNvCxnSpPr/>
            <p:nvPr/>
          </p:nvCxnSpPr>
          <p:spPr bwMode="auto">
            <a:xfrm>
              <a:off x="3347864" y="3968279"/>
              <a:ext cx="1224136" cy="324817"/>
            </a:xfrm>
            <a:prstGeom prst="line">
              <a:avLst/>
            </a:prstGeom>
            <a:noFill/>
            <a:ln w="28575" cap="flat" cmpd="sng" algn="ctr">
              <a:solidFill>
                <a:srgbClr val="FF0000"/>
              </a:solidFill>
              <a:prstDash val="sysDash"/>
              <a:round/>
              <a:headEnd type="none" w="med" len="med"/>
              <a:tailEnd type="none" w="med" len="med"/>
            </a:ln>
            <a:effectLst/>
          </p:spPr>
        </p:cxnSp>
      </p:grpSp>
      <p:grpSp>
        <p:nvGrpSpPr>
          <p:cNvPr id="24" name="组合 23"/>
          <p:cNvGrpSpPr/>
          <p:nvPr/>
        </p:nvGrpSpPr>
        <p:grpSpPr>
          <a:xfrm>
            <a:off x="7176120" y="4279670"/>
            <a:ext cx="3096344" cy="877523"/>
            <a:chOff x="5652120" y="4279669"/>
            <a:chExt cx="3096344" cy="877523"/>
          </a:xfrm>
        </p:grpSpPr>
        <p:cxnSp>
          <p:nvCxnSpPr>
            <p:cNvPr id="67" name="直接连接符 66"/>
            <p:cNvCxnSpPr/>
            <p:nvPr/>
          </p:nvCxnSpPr>
          <p:spPr bwMode="auto">
            <a:xfrm>
              <a:off x="7956376" y="4941168"/>
              <a:ext cx="792088" cy="216024"/>
            </a:xfrm>
            <a:prstGeom prst="line">
              <a:avLst/>
            </a:prstGeom>
            <a:noFill/>
            <a:ln w="28575" cap="flat" cmpd="sng" algn="ctr">
              <a:solidFill>
                <a:srgbClr val="FF0000"/>
              </a:solidFill>
              <a:prstDash val="sysDash"/>
              <a:round/>
              <a:headEnd type="none" w="med" len="med"/>
              <a:tailEnd type="none" w="med" len="med"/>
            </a:ln>
            <a:effectLst/>
          </p:spPr>
        </p:cxnSp>
        <p:cxnSp>
          <p:nvCxnSpPr>
            <p:cNvPr id="40" name="直接连接符 39"/>
            <p:cNvCxnSpPr/>
            <p:nvPr/>
          </p:nvCxnSpPr>
          <p:spPr bwMode="auto">
            <a:xfrm>
              <a:off x="6408204" y="4869160"/>
              <a:ext cx="468052" cy="0"/>
            </a:xfrm>
            <a:prstGeom prst="line">
              <a:avLst/>
            </a:prstGeom>
            <a:noFill/>
            <a:ln w="28575" cap="flat" cmpd="sng" algn="ctr">
              <a:solidFill>
                <a:srgbClr val="FF0000"/>
              </a:solidFill>
              <a:prstDash val="sysDash"/>
              <a:round/>
              <a:headEnd type="none" w="med" len="med"/>
              <a:tailEnd type="none" w="med" len="med"/>
            </a:ln>
            <a:effectLst/>
          </p:spPr>
        </p:cxnSp>
        <p:cxnSp>
          <p:nvCxnSpPr>
            <p:cNvPr id="44" name="直接连接符 43"/>
            <p:cNvCxnSpPr/>
            <p:nvPr/>
          </p:nvCxnSpPr>
          <p:spPr bwMode="auto">
            <a:xfrm>
              <a:off x="6912260" y="4869160"/>
              <a:ext cx="1044116" cy="72008"/>
            </a:xfrm>
            <a:prstGeom prst="line">
              <a:avLst/>
            </a:prstGeom>
            <a:noFill/>
            <a:ln w="28575" cap="flat" cmpd="sng" algn="ctr">
              <a:solidFill>
                <a:srgbClr val="FF0000"/>
              </a:solidFill>
              <a:prstDash val="sysDash"/>
              <a:round/>
              <a:headEnd type="none" w="med" len="med"/>
              <a:tailEnd type="none" w="med" len="med"/>
            </a:ln>
            <a:effectLst/>
          </p:spPr>
        </p:cxnSp>
        <p:cxnSp>
          <p:nvCxnSpPr>
            <p:cNvPr id="49" name="直接连接符 48"/>
            <p:cNvCxnSpPr/>
            <p:nvPr/>
          </p:nvCxnSpPr>
          <p:spPr bwMode="auto">
            <a:xfrm>
              <a:off x="5652120" y="4279669"/>
              <a:ext cx="756084" cy="589491"/>
            </a:xfrm>
            <a:prstGeom prst="line">
              <a:avLst/>
            </a:prstGeom>
            <a:noFill/>
            <a:ln w="28575" cap="flat" cmpd="sng" algn="ctr">
              <a:solidFill>
                <a:srgbClr val="FF0000"/>
              </a:solidFill>
              <a:prstDash val="sysDash"/>
              <a:round/>
              <a:headEnd type="none" w="med" len="med"/>
              <a:tailEnd type="none" w="med" len="med"/>
            </a:ln>
            <a:effectLst/>
          </p:spPr>
        </p:cxnSp>
        <p:cxnSp>
          <p:nvCxnSpPr>
            <p:cNvPr id="51" name="直接连接符 50"/>
            <p:cNvCxnSpPr/>
            <p:nvPr/>
          </p:nvCxnSpPr>
          <p:spPr bwMode="auto">
            <a:xfrm flipV="1">
              <a:off x="5652120" y="4941168"/>
              <a:ext cx="756084" cy="216024"/>
            </a:xfrm>
            <a:prstGeom prst="line">
              <a:avLst/>
            </a:prstGeom>
            <a:noFill/>
            <a:ln w="28575" cap="flat" cmpd="sng" algn="ctr">
              <a:solidFill>
                <a:srgbClr val="FF0000"/>
              </a:solidFill>
              <a:prstDash val="sysDash"/>
              <a:round/>
              <a:headEnd type="none" w="med" len="med"/>
              <a:tailEnd type="none" w="med" len="med"/>
            </a:ln>
            <a:effectLst/>
          </p:spPr>
        </p:cxnSp>
      </p:grpSp>
      <p:cxnSp>
        <p:nvCxnSpPr>
          <p:cNvPr id="38" name="直接箭头连接符 37"/>
          <p:cNvCxnSpPr/>
          <p:nvPr/>
        </p:nvCxnSpPr>
        <p:spPr bwMode="auto">
          <a:xfrm>
            <a:off x="4026090" y="4941168"/>
            <a:ext cx="413727" cy="0"/>
          </a:xfrm>
          <a:prstGeom prst="straightConnector1">
            <a:avLst/>
          </a:prstGeom>
          <a:noFill/>
          <a:ln w="28575" cap="flat" cmpd="sng" algn="ctr">
            <a:solidFill>
              <a:schemeClr val="accent1"/>
            </a:solidFill>
            <a:prstDash val="sysDash"/>
            <a:round/>
            <a:headEnd type="none" w="med" len="med"/>
            <a:tailEnd type="triangle"/>
          </a:ln>
          <a:effectLst/>
        </p:spPr>
      </p:cxn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281610"/>
                                        </p:tgtEl>
                                        <p:attrNameLst>
                                          <p:attrName>style.visibility</p:attrName>
                                        </p:attrNameLst>
                                      </p:cBhvr>
                                      <p:to>
                                        <p:strVal val="visible"/>
                                      </p:to>
                                    </p:set>
                                    <p:animEffect transition="in" filter="wipe(down)">
                                      <p:cBhvr>
                                        <p:cTn id="35" dur="500"/>
                                        <p:tgtEl>
                                          <p:spTgt spid="281610"/>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down)">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2000"/>
                                        <p:tgtEl>
                                          <p:spTgt spid="16"/>
                                        </p:tgtEl>
                                      </p:cBhvr>
                                    </p:animEffect>
                                  </p:childTnLst>
                                </p:cTn>
                              </p:par>
                            </p:childTnLst>
                          </p:cTn>
                        </p:par>
                        <p:par>
                          <p:cTn id="57" fill="hold">
                            <p:stCondLst>
                              <p:cond delay="2500"/>
                            </p:stCondLst>
                            <p:childTnLst>
                              <p:par>
                                <p:cTn id="58" presetID="22" presetClass="entr" presetSubtype="8"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left)">
                                      <p:cBhvr>
                                        <p:cTn id="60" dur="1500"/>
                                        <p:tgtEl>
                                          <p:spTgt spid="24"/>
                                        </p:tgtEl>
                                      </p:cBhvr>
                                    </p:animEffect>
                                  </p:childTnLst>
                                </p:cTn>
                              </p:par>
                            </p:childTnLst>
                          </p:cTn>
                        </p:par>
                        <p:par>
                          <p:cTn id="61" fill="hold">
                            <p:stCondLst>
                              <p:cond delay="4000"/>
                            </p:stCondLst>
                            <p:childTnLst>
                              <p:par>
                                <p:cTn id="62" presetID="22" presetClass="entr" presetSubtype="1" fill="hold" nodeType="after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wipe(up)">
                                      <p:cBhvr>
                                        <p:cTn id="64" dur="500"/>
                                        <p:tgtEl>
                                          <p:spTgt spid="69"/>
                                        </p:tgtEl>
                                      </p:cBhvr>
                                    </p:animEffect>
                                  </p:childTnLst>
                                </p:cTn>
                              </p:par>
                            </p:childTnLst>
                          </p:cTn>
                        </p:par>
                        <p:par>
                          <p:cTn id="65" fill="hold">
                            <p:stCondLst>
                              <p:cond delay="4500"/>
                            </p:stCondLst>
                            <p:childTnLst>
                              <p:par>
                                <p:cTn id="66" presetID="22" presetClass="entr" presetSubtype="2" fill="hold" nodeType="afterEffect">
                                  <p:stCondLst>
                                    <p:cond delay="0"/>
                                  </p:stCondLst>
                                  <p:childTnLst>
                                    <p:set>
                                      <p:cBhvr>
                                        <p:cTn id="67" dur="1" fill="hold">
                                          <p:stCondLst>
                                            <p:cond delay="0"/>
                                          </p:stCondLst>
                                        </p:cTn>
                                        <p:tgtEl>
                                          <p:spTgt spid="72"/>
                                        </p:tgtEl>
                                        <p:attrNameLst>
                                          <p:attrName>style.visibility</p:attrName>
                                        </p:attrNameLst>
                                      </p:cBhvr>
                                      <p:to>
                                        <p:strVal val="visible"/>
                                      </p:to>
                                    </p:set>
                                    <p:animEffect transition="in" filter="wipe(right)">
                                      <p:cBhvr>
                                        <p:cTn id="68" dur="500"/>
                                        <p:tgtEl>
                                          <p:spTgt spid="72"/>
                                        </p:tgtEl>
                                      </p:cBhvr>
                                    </p:animEffect>
                                  </p:childTnLst>
                                </p:cTn>
                              </p:par>
                            </p:childTnLst>
                          </p:cTn>
                        </p:par>
                        <p:par>
                          <p:cTn id="69" fill="hold">
                            <p:stCondLst>
                              <p:cond delay="5000"/>
                            </p:stCondLst>
                            <p:childTnLst>
                              <p:par>
                                <p:cTn id="70" presetID="22" presetClass="entr" presetSubtype="4" fill="hold" nodeType="afterEffect">
                                  <p:stCondLst>
                                    <p:cond delay="0"/>
                                  </p:stCondLst>
                                  <p:childTnLst>
                                    <p:set>
                                      <p:cBhvr>
                                        <p:cTn id="71" dur="1" fill="hold">
                                          <p:stCondLst>
                                            <p:cond delay="0"/>
                                          </p:stCondLst>
                                        </p:cTn>
                                        <p:tgtEl>
                                          <p:spTgt spid="76"/>
                                        </p:tgtEl>
                                        <p:attrNameLst>
                                          <p:attrName>style.visibility</p:attrName>
                                        </p:attrNameLst>
                                      </p:cBhvr>
                                      <p:to>
                                        <p:strVal val="visible"/>
                                      </p:to>
                                    </p:set>
                                    <p:animEffect transition="in" filter="wipe(down)">
                                      <p:cBhvr>
                                        <p:cTn id="72" dur="500"/>
                                        <p:tgtEl>
                                          <p:spTgt spid="76"/>
                                        </p:tgtEl>
                                      </p:cBhvr>
                                    </p:animEffect>
                                  </p:childTnLst>
                                </p:cTn>
                              </p:par>
                            </p:childTnLst>
                          </p:cTn>
                        </p:par>
                        <p:par>
                          <p:cTn id="73" fill="hold">
                            <p:stCondLst>
                              <p:cond delay="5500"/>
                            </p:stCondLst>
                            <p:childTnLst>
                              <p:par>
                                <p:cTn id="74" presetID="22" presetClass="entr" presetSubtype="4" fill="hold" nodeType="afterEffect">
                                  <p:stCondLst>
                                    <p:cond delay="0"/>
                                  </p:stCondLst>
                                  <p:childTnLst>
                                    <p:set>
                                      <p:cBhvr>
                                        <p:cTn id="75" dur="1" fill="hold">
                                          <p:stCondLst>
                                            <p:cond delay="0"/>
                                          </p:stCondLst>
                                        </p:cTn>
                                        <p:tgtEl>
                                          <p:spTgt spid="78"/>
                                        </p:tgtEl>
                                        <p:attrNameLst>
                                          <p:attrName>style.visibility</p:attrName>
                                        </p:attrNameLst>
                                      </p:cBhvr>
                                      <p:to>
                                        <p:strVal val="visible"/>
                                      </p:to>
                                    </p:set>
                                    <p:animEffect transition="in" filter="wipe(down)">
                                      <p:cBhvr>
                                        <p:cTn id="76" dur="500"/>
                                        <p:tgtEl>
                                          <p:spTgt spid="7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36712"/>
            <a:ext cx="7848600" cy="2051844"/>
          </a:xfrm>
        </p:spPr>
        <p:txBody>
          <a:bodyPr/>
          <a:lstStyle/>
          <a:p>
            <a:pPr>
              <a:lnSpc>
                <a:spcPct val="130000"/>
              </a:lnSpc>
              <a:spcAft>
                <a:spcPts val="0"/>
              </a:spcAft>
            </a:pPr>
            <a:r>
              <a:rPr lang="en-US" altLang="zh-CN" dirty="0">
                <a:ea typeface="宋体" panose="02010600030101010101" pitchFamily="2" charset="-122"/>
              </a:rPr>
              <a:t>MIPS</a:t>
            </a:r>
            <a:r>
              <a:rPr lang="zh-CN" altLang="en-US" dirty="0">
                <a:ea typeface="宋体" panose="02010600030101010101" pitchFamily="2" charset="-122"/>
              </a:rPr>
              <a:t>数据通路（扩展实现跳转指令 </a:t>
            </a:r>
            <a:r>
              <a:rPr lang="en-US" altLang="zh-CN" dirty="0">
                <a:ea typeface="宋体" panose="02010600030101010101" pitchFamily="2" charset="-122"/>
              </a:rPr>
              <a:t>j </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30000"/>
              </a:lnSpc>
              <a:spcAft>
                <a:spcPts val="0"/>
              </a:spcAft>
            </a:pPr>
            <a:r>
              <a:rPr lang="en-US" altLang="zh-CN" dirty="0">
                <a:ea typeface="宋体" panose="02010600030101010101" pitchFamily="2" charset="-122"/>
              </a:rPr>
              <a:t>j add26   </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rPr>
              <a:t> PC</a:t>
            </a:r>
            <a:r>
              <a:rPr lang="en-US" altLang="zh-CN" dirty="0">
                <a:ea typeface="宋体" panose="02010600030101010101" pitchFamily="2" charset="-122"/>
                <a:sym typeface="Wingdings" panose="05000000000000000000" pitchFamily="2" charset="2"/>
              </a:rPr>
              <a:t>  PC+4 [31:28] </a:t>
            </a:r>
            <a:r>
              <a:rPr lang="en-US" altLang="zh-CN" dirty="0">
                <a:solidFill>
                  <a:srgbClr val="FF0000"/>
                </a:solidFill>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 add26&lt;&lt;2</a:t>
            </a:r>
          </a:p>
          <a:p>
            <a:pPr lvl="1">
              <a:lnSpc>
                <a:spcPct val="130000"/>
              </a:lnSpc>
              <a:spcAft>
                <a:spcPts val="0"/>
              </a:spcAft>
            </a:pPr>
            <a:r>
              <a:rPr lang="zh-CN" altLang="en-US" dirty="0">
                <a:ea typeface="宋体" panose="02010600030101010101" pitchFamily="2" charset="-122"/>
                <a:sym typeface="Wingdings" panose="05000000000000000000" pitchFamily="2" charset="2"/>
              </a:rPr>
              <a:t>功能部件：</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，移位器</a:t>
            </a:r>
            <a:endParaRPr lang="zh-CN" altLang="en-US" dirty="0">
              <a:ea typeface="宋体" panose="02010600030101010101" pitchFamily="2" charset="-122"/>
            </a:endParaRPr>
          </a:p>
        </p:txBody>
      </p:sp>
      <p:pic>
        <p:nvPicPr>
          <p:cNvPr id="282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816" y="1352701"/>
            <a:ext cx="5184576" cy="579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 name="表格 5"/>
          <p:cNvGraphicFramePr>
            <a:graphicFrameLocks noGrp="1"/>
          </p:cNvGraphicFramePr>
          <p:nvPr/>
        </p:nvGraphicFramePr>
        <p:xfrm>
          <a:off x="1596008" y="3158238"/>
          <a:ext cx="9036497" cy="2719035"/>
        </p:xfrm>
        <a:graphic>
          <a:graphicData uri="http://schemas.openxmlformats.org/drawingml/2006/table">
            <a:tbl>
              <a:tblPr/>
              <a:tblGrid>
                <a:gridCol w="604371">
                  <a:extLst>
                    <a:ext uri="{9D8B030D-6E8A-4147-A177-3AD203B41FA5}">
                      <a16:colId xmlns:a16="http://schemas.microsoft.com/office/drawing/2014/main" val="20000"/>
                    </a:ext>
                  </a:extLst>
                </a:gridCol>
                <a:gridCol w="426969">
                  <a:extLst>
                    <a:ext uri="{9D8B030D-6E8A-4147-A177-3AD203B41FA5}">
                      <a16:colId xmlns:a16="http://schemas.microsoft.com/office/drawing/2014/main" val="20001"/>
                    </a:ext>
                  </a:extLst>
                </a:gridCol>
                <a:gridCol w="300301">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402847">
                  <a:extLst>
                    <a:ext uri="{9D8B030D-6E8A-4147-A177-3AD203B41FA5}">
                      <a16:colId xmlns:a16="http://schemas.microsoft.com/office/drawing/2014/main" val="20004"/>
                    </a:ext>
                  </a:extLst>
                </a:gridCol>
                <a:gridCol w="569291">
                  <a:extLst>
                    <a:ext uri="{9D8B030D-6E8A-4147-A177-3AD203B41FA5}">
                      <a16:colId xmlns:a16="http://schemas.microsoft.com/office/drawing/2014/main" val="20005"/>
                    </a:ext>
                  </a:extLst>
                </a:gridCol>
                <a:gridCol w="498130">
                  <a:extLst>
                    <a:ext uri="{9D8B030D-6E8A-4147-A177-3AD203B41FA5}">
                      <a16:colId xmlns:a16="http://schemas.microsoft.com/office/drawing/2014/main" val="20006"/>
                    </a:ext>
                  </a:extLst>
                </a:gridCol>
                <a:gridCol w="640453">
                  <a:extLst>
                    <a:ext uri="{9D8B030D-6E8A-4147-A177-3AD203B41FA5}">
                      <a16:colId xmlns:a16="http://schemas.microsoft.com/office/drawing/2014/main" val="20007"/>
                    </a:ext>
                  </a:extLst>
                </a:gridCol>
                <a:gridCol w="640453">
                  <a:extLst>
                    <a:ext uri="{9D8B030D-6E8A-4147-A177-3AD203B41FA5}">
                      <a16:colId xmlns:a16="http://schemas.microsoft.com/office/drawing/2014/main" val="20008"/>
                    </a:ext>
                  </a:extLst>
                </a:gridCol>
                <a:gridCol w="711614">
                  <a:extLst>
                    <a:ext uri="{9D8B030D-6E8A-4147-A177-3AD203B41FA5}">
                      <a16:colId xmlns:a16="http://schemas.microsoft.com/office/drawing/2014/main" val="20009"/>
                    </a:ext>
                  </a:extLst>
                </a:gridCol>
                <a:gridCol w="640453">
                  <a:extLst>
                    <a:ext uri="{9D8B030D-6E8A-4147-A177-3AD203B41FA5}">
                      <a16:colId xmlns:a16="http://schemas.microsoft.com/office/drawing/2014/main" val="20010"/>
                    </a:ext>
                  </a:extLst>
                </a:gridCol>
                <a:gridCol w="569291">
                  <a:extLst>
                    <a:ext uri="{9D8B030D-6E8A-4147-A177-3AD203B41FA5}">
                      <a16:colId xmlns:a16="http://schemas.microsoft.com/office/drawing/2014/main" val="20011"/>
                    </a:ext>
                  </a:extLst>
                </a:gridCol>
                <a:gridCol w="640453">
                  <a:extLst>
                    <a:ext uri="{9D8B030D-6E8A-4147-A177-3AD203B41FA5}">
                      <a16:colId xmlns:a16="http://schemas.microsoft.com/office/drawing/2014/main" val="20012"/>
                    </a:ext>
                  </a:extLst>
                </a:gridCol>
                <a:gridCol w="640453">
                  <a:extLst>
                    <a:ext uri="{9D8B030D-6E8A-4147-A177-3AD203B41FA5}">
                      <a16:colId xmlns:a16="http://schemas.microsoft.com/office/drawing/2014/main" val="20013"/>
                    </a:ext>
                  </a:extLst>
                </a:gridCol>
                <a:gridCol w="515669">
                  <a:extLst>
                    <a:ext uri="{9D8B030D-6E8A-4147-A177-3AD203B41FA5}">
                      <a16:colId xmlns:a16="http://schemas.microsoft.com/office/drawing/2014/main" val="20014"/>
                    </a:ext>
                  </a:extLst>
                </a:gridCol>
                <a:gridCol w="515669">
                  <a:extLst>
                    <a:ext uri="{9D8B030D-6E8A-4147-A177-3AD203B41FA5}">
                      <a16:colId xmlns:a16="http://schemas.microsoft.com/office/drawing/2014/main" val="20015"/>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合并</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1"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J</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5641">
                <a:tc>
                  <a:txBody>
                    <a:bodyPr/>
                    <a:lstStyle/>
                    <a:p>
                      <a:pPr algn="ctr">
                        <a:spcAft>
                          <a:spcPts val="0"/>
                        </a:spcAft>
                      </a:pP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8" name="组合 7"/>
          <p:cNvGrpSpPr/>
          <p:nvPr/>
        </p:nvGrpSpPr>
        <p:grpSpPr>
          <a:xfrm>
            <a:off x="2855640" y="3861048"/>
            <a:ext cx="5320802" cy="2736304"/>
            <a:chOff x="1331640" y="3933056"/>
            <a:chExt cx="5320802" cy="2736304"/>
          </a:xfrm>
        </p:grpSpPr>
        <p:sp>
          <p:nvSpPr>
            <p:cNvPr id="2" name="椭圆 1"/>
            <p:cNvSpPr/>
            <p:nvPr/>
          </p:nvSpPr>
          <p:spPr bwMode="auto">
            <a:xfrm>
              <a:off x="1331640" y="3933056"/>
              <a:ext cx="864096" cy="1296144"/>
            </a:xfrm>
            <a:prstGeom prst="ellipse">
              <a:avLst/>
            </a:prstGeom>
            <a:solidFill>
              <a:srgbClr val="FFFF99">
                <a:alpha val="4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4" name="直接箭头连接符 3"/>
            <p:cNvCxnSpPr/>
            <p:nvPr/>
          </p:nvCxnSpPr>
          <p:spPr bwMode="auto">
            <a:xfrm>
              <a:off x="2051720" y="5085184"/>
              <a:ext cx="1080120" cy="1080120"/>
            </a:xfrm>
            <a:prstGeom prst="straightConnector1">
              <a:avLst/>
            </a:prstGeom>
            <a:noFill/>
            <a:ln w="19050" cap="flat" cmpd="sng" algn="ctr">
              <a:solidFill>
                <a:srgbClr val="FF0000"/>
              </a:solidFill>
              <a:prstDash val="solid"/>
              <a:round/>
              <a:headEnd type="none" w="med" len="med"/>
              <a:tailEnd type="triangle"/>
            </a:ln>
            <a:effectLst/>
          </p:spPr>
        </p:cxnSp>
        <p:sp>
          <p:nvSpPr>
            <p:cNvPr id="7" name="文本框 6"/>
            <p:cNvSpPr txBox="1"/>
            <p:nvPr/>
          </p:nvSpPr>
          <p:spPr>
            <a:xfrm>
              <a:off x="3124050" y="6106129"/>
              <a:ext cx="3528392" cy="563231"/>
            </a:xfrm>
            <a:prstGeom prst="rect">
              <a:avLst/>
            </a:prstGeom>
            <a:noFill/>
          </p:spPr>
          <p:txBody>
            <a:bodyPr wrap="square" rtlCol="0">
              <a:spAutoFit/>
            </a:bodyPr>
            <a:lstStyle/>
            <a:p>
              <a:pPr>
                <a:buNone/>
              </a:pPr>
              <a:r>
                <a:rPr lang="en-US" altLang="zh-CN" b="0" dirty="0">
                  <a:solidFill>
                    <a:srgbClr val="0000CC"/>
                  </a:solidFill>
                </a:rPr>
                <a:t>PC</a:t>
              </a:r>
              <a:r>
                <a:rPr lang="zh-CN" altLang="en-US" b="0" dirty="0">
                  <a:solidFill>
                    <a:srgbClr val="0000CC"/>
                  </a:solidFill>
                </a:rPr>
                <a:t>输入数据源又多了一个选择，增加一个二选一</a:t>
              </a:r>
              <a:r>
                <a:rPr lang="en-US" altLang="zh-CN" b="0" dirty="0">
                  <a:solidFill>
                    <a:srgbClr val="0000CC"/>
                  </a:solidFill>
                </a:rPr>
                <a:t>MUX</a:t>
              </a:r>
              <a:endParaRPr lang="zh-CN" altLang="en-US" b="0" dirty="0">
                <a:solidFill>
                  <a:srgbClr val="0000CC"/>
                </a:solidFill>
              </a:endParaRPr>
            </a:p>
          </p:txBody>
        </p:sp>
      </p:grpSp>
      <p:sp>
        <p:nvSpPr>
          <p:cNvPr id="9" name="文本框 8"/>
          <p:cNvSpPr txBox="1"/>
          <p:nvPr/>
        </p:nvSpPr>
        <p:spPr>
          <a:xfrm>
            <a:off x="2207568" y="4711556"/>
            <a:ext cx="1584176" cy="301621"/>
          </a:xfrm>
          <a:prstGeom prst="rect">
            <a:avLst/>
          </a:prstGeom>
          <a:noFill/>
        </p:spPr>
        <p:txBody>
          <a:bodyPr wrap="square" rtlCol="0">
            <a:spAutoFit/>
          </a:bodyPr>
          <a:lstStyle/>
          <a:p>
            <a:pPr>
              <a:buNone/>
            </a:pPr>
            <a:r>
              <a:rPr lang="en-US" altLang="zh-CN" sz="1600" b="0" dirty="0">
                <a:solidFill>
                  <a:srgbClr val="FF0000"/>
                </a:solidFill>
                <a:latin typeface="Arial Narrow" panose="020B0606020202030204" pitchFamily="34" charset="0"/>
              </a:rPr>
              <a:t>PC     4   </a:t>
            </a:r>
            <a:r>
              <a:rPr lang="en-US" altLang="zh-CN" sz="1600" b="0" dirty="0" err="1">
                <a:solidFill>
                  <a:srgbClr val="FF0000"/>
                </a:solidFill>
                <a:latin typeface="Arial Narrow" panose="020B0606020202030204" pitchFamily="34" charset="0"/>
              </a:rPr>
              <a:t>jumpadd</a:t>
            </a:r>
            <a:endParaRPr lang="zh-CN" altLang="en-US" sz="1600" b="0" dirty="0">
              <a:solidFill>
                <a:srgbClr val="FF0000"/>
              </a:solidFill>
              <a:latin typeface="Arial Narrow" panose="020B0606020202030204" pitchFamily="34" charset="0"/>
            </a:endParaRPr>
          </a:p>
        </p:txBody>
      </p:sp>
      <p:sp>
        <p:nvSpPr>
          <p:cNvPr id="5" name="标题 4"/>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86690"/>
            <a:ext cx="10523220" cy="478790"/>
          </a:xfrm>
        </p:spPr>
        <p:txBody>
          <a:bodyPr wrap="square"/>
          <a:lstStyle/>
          <a:p>
            <a:r>
              <a:rPr lang="en-US" altLang="zh-CN" sz="3200" dirty="0"/>
              <a:t>3.2  </a:t>
            </a:r>
            <a:r>
              <a:rPr lang="zh-CN" altLang="en-US" sz="3200" dirty="0"/>
              <a:t>单周期控制器设计（包含跳转指令的数据通路）</a:t>
            </a:r>
          </a:p>
        </p:txBody>
      </p:sp>
      <p:pic>
        <p:nvPicPr>
          <p:cNvPr id="2" name="图片 1"/>
          <p:cNvPicPr>
            <a:picLocks noChangeAspect="1"/>
          </p:cNvPicPr>
          <p:nvPr/>
        </p:nvPicPr>
        <p:blipFill>
          <a:blip r:embed="rId2"/>
          <a:stretch>
            <a:fillRect/>
          </a:stretch>
        </p:blipFill>
        <p:spPr>
          <a:xfrm>
            <a:off x="2063552" y="980728"/>
            <a:ext cx="8238672" cy="57606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1" y="179751"/>
            <a:ext cx="7010400" cy="478790"/>
          </a:xfrm>
        </p:spPr>
        <p:txBody>
          <a:bodyPr/>
          <a:lstStyle/>
          <a:p>
            <a:r>
              <a:rPr lang="zh-CN" altLang="en-US" sz="3200" dirty="0"/>
              <a:t>小结：数据通路设计的一般性方法</a:t>
            </a:r>
          </a:p>
        </p:txBody>
      </p:sp>
      <p:sp>
        <p:nvSpPr>
          <p:cNvPr id="4" name="TextBox 4"/>
          <p:cNvSpPr txBox="1"/>
          <p:nvPr/>
        </p:nvSpPr>
        <p:spPr>
          <a:xfrm>
            <a:off x="3575720" y="948651"/>
            <a:ext cx="6768752" cy="283462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nSpc>
                <a:spcPct val="110000"/>
              </a:lnSpc>
              <a:spcBef>
                <a:spcPts val="0"/>
              </a:spcBef>
            </a:pPr>
            <a:r>
              <a:rPr lang="en-US" altLang="zh-CN" dirty="0">
                <a:latin typeface="Courier New" panose="02070309020205020404" pitchFamily="49" charset="0"/>
                <a:cs typeface="Courier New" panose="02070309020205020404" pitchFamily="49" charset="0"/>
              </a:rPr>
              <a:t>for each </a:t>
            </a:r>
            <a:r>
              <a:rPr lang="zh-CN" altLang="en-US" dirty="0">
                <a:latin typeface="Courier New" panose="02070309020205020404" pitchFamily="49" charset="0"/>
                <a:cs typeface="Courier New" panose="02070309020205020404" pitchFamily="49" charset="0"/>
              </a:rPr>
              <a:t>指令</a:t>
            </a:r>
            <a:endParaRPr lang="en-US" altLang="zh-CN" dirty="0">
              <a:latin typeface="Courier New" panose="02070309020205020404" pitchFamily="49" charset="0"/>
              <a:cs typeface="Courier New" panose="02070309020205020404" pitchFamily="49" charset="0"/>
            </a:endParaRPr>
          </a:p>
          <a:p>
            <a:pPr lvl="1">
              <a:lnSpc>
                <a:spcPct val="110000"/>
              </a:lnSpc>
              <a:spcBef>
                <a:spcPts val="0"/>
              </a:spcBef>
            </a:pPr>
            <a:r>
              <a:rPr lang="en-US" altLang="zh-CN" dirty="0">
                <a:latin typeface="Courier New" panose="02070309020205020404" pitchFamily="49" charset="0"/>
                <a:cs typeface="Courier New" panose="02070309020205020404" pitchFamily="49" charset="0"/>
              </a:rPr>
              <a:t>for each</a:t>
            </a:r>
            <a:r>
              <a:rPr lang="zh-CN" altLang="en-US" dirty="0">
                <a:latin typeface="Courier New" panose="02070309020205020404" pitchFamily="49" charset="0"/>
                <a:cs typeface="Courier New" panose="02070309020205020404" pitchFamily="49" charset="0"/>
              </a:rPr>
              <a:t> 新增需求</a:t>
            </a:r>
            <a:endParaRPr lang="en-US" altLang="zh-CN" dirty="0">
              <a:latin typeface="Courier New" panose="02070309020205020404" pitchFamily="49" charset="0"/>
              <a:cs typeface="Courier New" panose="02070309020205020404" pitchFamily="49" charset="0"/>
            </a:endParaRPr>
          </a:p>
          <a:p>
            <a:pPr lvl="2">
              <a:lnSpc>
                <a:spcPct val="110000"/>
              </a:lnSpc>
              <a:spcBef>
                <a:spcPts val="0"/>
              </a:spcBef>
            </a:pPr>
            <a:r>
              <a:rPr lang="en-US" altLang="zh-CN" dirty="0">
                <a:latin typeface="Courier New" panose="02070309020205020404" pitchFamily="49" charset="0"/>
                <a:cs typeface="Courier New" panose="02070309020205020404" pitchFamily="49" charset="0"/>
              </a:rPr>
              <a:t>case </a:t>
            </a:r>
            <a:r>
              <a:rPr lang="zh-CN" altLang="en-US" dirty="0">
                <a:latin typeface="Courier New" panose="02070309020205020404" pitchFamily="49" charset="0"/>
                <a:cs typeface="Courier New" panose="02070309020205020404" pitchFamily="49" charset="0"/>
              </a:rPr>
              <a:t>可以合并至已有部件：</a:t>
            </a:r>
            <a:endParaRPr lang="en-US" altLang="zh-CN" dirty="0">
              <a:latin typeface="Courier New" panose="02070309020205020404" pitchFamily="49" charset="0"/>
              <a:cs typeface="Courier New" panose="02070309020205020404" pitchFamily="49" charset="0"/>
            </a:endParaRPr>
          </a:p>
          <a:p>
            <a:pPr lvl="3">
              <a:lnSpc>
                <a:spcPct val="110000"/>
              </a:lnSpc>
              <a:spcBef>
                <a:spcPts val="0"/>
              </a:spcBef>
            </a:pPr>
            <a:r>
              <a:rPr lang="zh-CN" altLang="en-US" dirty="0">
                <a:latin typeface="Courier New" panose="02070309020205020404" pitchFamily="49" charset="0"/>
                <a:cs typeface="Courier New" panose="02070309020205020404" pitchFamily="49" charset="0"/>
              </a:rPr>
              <a:t>修改部件设计描述、</a:t>
            </a:r>
            <a:r>
              <a:rPr lang="en-US" altLang="zh-CN" dirty="0">
                <a:latin typeface="Courier New" panose="02070309020205020404" pitchFamily="49" charset="0"/>
                <a:cs typeface="Courier New" panose="02070309020205020404" pitchFamily="49" charset="0"/>
              </a:rPr>
              <a:t>HDL</a:t>
            </a:r>
            <a:r>
              <a:rPr lang="zh-CN" altLang="en-US" dirty="0">
                <a:latin typeface="Courier New" panose="02070309020205020404" pitchFamily="49" charset="0"/>
                <a:cs typeface="Courier New" panose="02070309020205020404" pitchFamily="49" charset="0"/>
              </a:rPr>
              <a:t>建模：</a:t>
            </a:r>
            <a:r>
              <a:rPr lang="en-US" altLang="zh-CN" dirty="0">
                <a:latin typeface="Courier New" panose="02070309020205020404" pitchFamily="49" charset="0"/>
                <a:cs typeface="Courier New" panose="02070309020205020404" pitchFamily="49" charset="0"/>
              </a:rPr>
              <a:t>{F’</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O’}</a:t>
            </a:r>
          </a:p>
          <a:p>
            <a:pPr lvl="2">
              <a:lnSpc>
                <a:spcPct val="110000"/>
              </a:lnSpc>
              <a:spcBef>
                <a:spcPts val="0"/>
              </a:spcBef>
            </a:pPr>
            <a:r>
              <a:rPr lang="en-US" altLang="zh-CN" dirty="0">
                <a:latin typeface="Courier New" panose="02070309020205020404" pitchFamily="49" charset="0"/>
                <a:cs typeface="Courier New" panose="02070309020205020404" pitchFamily="49" charset="0"/>
              </a:rPr>
              <a:t>case </a:t>
            </a:r>
            <a:r>
              <a:rPr lang="zh-CN" altLang="en-US" dirty="0">
                <a:latin typeface="Courier New" panose="02070309020205020404" pitchFamily="49" charset="0"/>
                <a:cs typeface="Courier New" panose="02070309020205020404" pitchFamily="49" charset="0"/>
              </a:rPr>
              <a:t>需要新增部件：</a:t>
            </a:r>
            <a:endParaRPr lang="en-US" altLang="zh-CN" dirty="0">
              <a:latin typeface="Courier New" panose="02070309020205020404" pitchFamily="49" charset="0"/>
              <a:cs typeface="Courier New" panose="02070309020205020404" pitchFamily="49" charset="0"/>
            </a:endParaRPr>
          </a:p>
          <a:p>
            <a:pPr lvl="3">
              <a:lnSpc>
                <a:spcPct val="110000"/>
              </a:lnSpc>
              <a:spcBef>
                <a:spcPts val="0"/>
              </a:spcBef>
            </a:pPr>
            <a:r>
              <a:rPr lang="zh-CN" altLang="en-US" dirty="0">
                <a:latin typeface="Courier New" panose="02070309020205020404" pitchFamily="49" charset="0"/>
                <a:cs typeface="Courier New" panose="02070309020205020404" pitchFamily="49" charset="0"/>
              </a:rPr>
              <a:t>建立新部件设计描述、</a:t>
            </a:r>
            <a:r>
              <a:rPr lang="en-US" altLang="zh-CN" dirty="0">
                <a:latin typeface="Courier New" panose="02070309020205020404" pitchFamily="49" charset="0"/>
                <a:cs typeface="Courier New" panose="02070309020205020404" pitchFamily="49" charset="0"/>
              </a:rPr>
              <a:t>HDL</a:t>
            </a:r>
            <a:r>
              <a:rPr lang="zh-CN" altLang="en-US" dirty="0">
                <a:latin typeface="Courier New" panose="02070309020205020404" pitchFamily="49" charset="0"/>
                <a:cs typeface="Courier New" panose="02070309020205020404" pitchFamily="49" charset="0"/>
              </a:rPr>
              <a:t>建模：</a:t>
            </a:r>
            <a:r>
              <a:rPr lang="en-US" altLang="zh-CN" dirty="0">
                <a:latin typeface="Courier New" panose="02070309020205020404" pitchFamily="49" charset="0"/>
                <a:cs typeface="Courier New" panose="02070309020205020404" pitchFamily="49" charset="0"/>
              </a:rPr>
              <a:t>{F</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O}</a:t>
            </a:r>
          </a:p>
          <a:p>
            <a:pPr lvl="3">
              <a:lnSpc>
                <a:spcPct val="110000"/>
              </a:lnSpc>
              <a:spcBef>
                <a:spcPts val="0"/>
              </a:spcBef>
            </a:pPr>
            <a:r>
              <a:rPr lang="zh-CN" altLang="en-US" dirty="0">
                <a:latin typeface="Courier New" panose="02070309020205020404" pitchFamily="49" charset="0"/>
                <a:cs typeface="Courier New" panose="02070309020205020404" pitchFamily="49" charset="0"/>
              </a:rPr>
              <a:t>增加新部件</a:t>
            </a:r>
            <a:endParaRPr lang="en-US" altLang="zh-CN" dirty="0">
              <a:latin typeface="Courier New" panose="02070309020205020404" pitchFamily="49" charset="0"/>
              <a:cs typeface="Courier New" panose="02070309020205020404" pitchFamily="49" charset="0"/>
            </a:endParaRPr>
          </a:p>
          <a:p>
            <a:pPr lvl="1">
              <a:lnSpc>
                <a:spcPct val="110000"/>
              </a:lnSpc>
              <a:spcBef>
                <a:spcPts val="0"/>
              </a:spcBef>
            </a:pPr>
            <a:r>
              <a:rPr lang="en-US" altLang="zh-CN" dirty="0">
                <a:latin typeface="Courier New" panose="02070309020205020404" pitchFamily="49" charset="0"/>
                <a:cs typeface="Courier New" panose="02070309020205020404" pitchFamily="49" charset="0"/>
              </a:rPr>
              <a:t>for each </a:t>
            </a:r>
            <a:r>
              <a:rPr lang="zh-CN" altLang="en-US" dirty="0">
                <a:latin typeface="Courier New" panose="02070309020205020404" pitchFamily="49" charset="0"/>
                <a:cs typeface="Courier New" panose="02070309020205020404" pitchFamily="49" charset="0"/>
              </a:rPr>
              <a:t>部件</a:t>
            </a:r>
            <a:endParaRPr lang="en-US" altLang="zh-CN" dirty="0">
              <a:latin typeface="Courier New" panose="02070309020205020404" pitchFamily="49" charset="0"/>
              <a:cs typeface="Courier New" panose="02070309020205020404" pitchFamily="49" charset="0"/>
            </a:endParaRPr>
          </a:p>
          <a:p>
            <a:pPr lvl="2">
              <a:lnSpc>
                <a:spcPct val="110000"/>
              </a:lnSpc>
              <a:spcBef>
                <a:spcPts val="0"/>
              </a:spcBef>
            </a:pPr>
            <a:r>
              <a:rPr lang="zh-CN" altLang="en-US" dirty="0">
                <a:latin typeface="Courier New" panose="02070309020205020404" pitchFamily="49" charset="0"/>
                <a:cs typeface="Courier New" panose="02070309020205020404" pitchFamily="49" charset="0"/>
              </a:rPr>
              <a:t>设置输入来源</a:t>
            </a:r>
            <a:endParaRPr lang="en-US" altLang="zh-CN" dirty="0">
              <a:latin typeface="Courier New" panose="02070309020205020404" pitchFamily="49" charset="0"/>
              <a:cs typeface="Courier New" panose="02070309020205020404" pitchFamily="49" charset="0"/>
            </a:endParaRPr>
          </a:p>
        </p:txBody>
      </p:sp>
      <p:sp>
        <p:nvSpPr>
          <p:cNvPr id="5" name="TextBox 7"/>
          <p:cNvSpPr txBox="1"/>
          <p:nvPr/>
        </p:nvSpPr>
        <p:spPr>
          <a:xfrm>
            <a:off x="3575720" y="4293096"/>
            <a:ext cx="6768752" cy="1311128"/>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n-US"/>
            </a:defPPr>
            <a:lvl1pPr>
              <a:lnSpc>
                <a:spcPct val="110000"/>
              </a:lnSpc>
              <a:spcBef>
                <a:spcPts val="0"/>
              </a:spcBef>
              <a:defRPr>
                <a:latin typeface="Courier New" panose="02070309020205020404" pitchFamily="49" charset="0"/>
                <a:cs typeface="Courier New" panose="02070309020205020404" pitchFamily="49" charset="0"/>
              </a:defRPr>
            </a:lvl1pPr>
            <a:lvl2pPr lvl="1">
              <a:lnSpc>
                <a:spcPct val="110000"/>
              </a:lnSpc>
              <a:spcBef>
                <a:spcPts val="0"/>
              </a:spcBef>
              <a:defRPr>
                <a:latin typeface="Courier New" panose="02070309020205020404" pitchFamily="49" charset="0"/>
                <a:cs typeface="Courier New" panose="02070309020205020404" pitchFamily="49" charset="0"/>
              </a:defRPr>
            </a:lvl2pPr>
            <a:lvl3pPr lvl="2">
              <a:lnSpc>
                <a:spcPct val="110000"/>
              </a:lnSpc>
              <a:spcBef>
                <a:spcPts val="0"/>
              </a:spcBef>
              <a:defRPr>
                <a:latin typeface="Courier New" panose="02070309020205020404" pitchFamily="49" charset="0"/>
                <a:cs typeface="Courier New" panose="02070309020205020404" pitchFamily="49" charset="0"/>
              </a:defRPr>
            </a:lvl3pPr>
            <a:lvl4pPr lvl="3">
              <a:lnSpc>
                <a:spcPct val="110000"/>
              </a:lnSpc>
              <a:spcBef>
                <a:spcPts val="0"/>
              </a:spcBef>
              <a:defRPr>
                <a:latin typeface="Courier New" panose="02070309020205020404" pitchFamily="49" charset="0"/>
                <a:cs typeface="Courier New" panose="02070309020205020404" pitchFamily="49" charset="0"/>
              </a:defRPr>
            </a:lvl4pPr>
          </a:lstStyle>
          <a:p>
            <a:r>
              <a:rPr lang="zh-CN" altLang="en-US" dirty="0"/>
              <a:t>按垂直方向合并数据通路，并去除相同项</a:t>
            </a:r>
            <a:endParaRPr lang="en-US" altLang="zh-CN" dirty="0"/>
          </a:p>
          <a:p>
            <a:r>
              <a:rPr lang="en-US" altLang="zh-CN" dirty="0"/>
              <a:t>for each </a:t>
            </a:r>
            <a:r>
              <a:rPr lang="zh-CN" altLang="en-US" dirty="0"/>
              <a:t>输入来源多余</a:t>
            </a:r>
            <a:r>
              <a:rPr lang="en-US" altLang="zh-CN" dirty="0"/>
              <a:t>1</a:t>
            </a:r>
            <a:r>
              <a:rPr lang="zh-CN" altLang="en-US" dirty="0"/>
              <a:t>个的输入端</a:t>
            </a:r>
            <a:endParaRPr lang="en-US" altLang="zh-CN" dirty="0"/>
          </a:p>
          <a:p>
            <a:pPr lvl="1"/>
            <a:r>
              <a:rPr lang="zh-CN" altLang="en-US" dirty="0"/>
              <a:t>部署</a:t>
            </a:r>
            <a:r>
              <a:rPr lang="en-US" altLang="zh-CN" dirty="0"/>
              <a:t>1</a:t>
            </a:r>
            <a:r>
              <a:rPr lang="zh-CN" altLang="en-US" dirty="0"/>
              <a:t>个</a:t>
            </a:r>
            <a:r>
              <a:rPr lang="en-US" altLang="zh-CN" dirty="0"/>
              <a:t>MUX(MUX</a:t>
            </a:r>
            <a:r>
              <a:rPr lang="zh-CN" altLang="en-US" dirty="0"/>
              <a:t>的输入规模为输入来源数</a:t>
            </a:r>
            <a:r>
              <a:rPr lang="en-US" altLang="zh-CN" dirty="0"/>
              <a:t>)</a:t>
            </a:r>
          </a:p>
          <a:p>
            <a:pPr lvl="1"/>
            <a:r>
              <a:rPr lang="en-US" altLang="zh-CN" dirty="0"/>
              <a:t>MUX</a:t>
            </a:r>
            <a:r>
              <a:rPr lang="zh-CN" altLang="en-US" dirty="0"/>
              <a:t>设计定义、</a:t>
            </a:r>
            <a:r>
              <a:rPr lang="en-US" altLang="zh-CN" dirty="0"/>
              <a:t>HDL</a:t>
            </a:r>
            <a:r>
              <a:rPr lang="zh-CN" altLang="en-US" dirty="0"/>
              <a:t>建模</a:t>
            </a:r>
          </a:p>
        </p:txBody>
      </p:sp>
      <p:sp>
        <p:nvSpPr>
          <p:cNvPr id="6" name="TextBox 8"/>
          <p:cNvSpPr txBox="1"/>
          <p:nvPr/>
        </p:nvSpPr>
        <p:spPr>
          <a:xfrm>
            <a:off x="1884040" y="1929379"/>
            <a:ext cx="1331640" cy="1440160"/>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p>
            <a:pPr algn="ctr">
              <a:lnSpc>
                <a:spcPct val="100000"/>
              </a:lnSpc>
              <a:spcBef>
                <a:spcPts val="0"/>
              </a:spcBef>
              <a:buNone/>
            </a:pPr>
            <a:r>
              <a:rPr lang="zh-CN" altLang="en-US" sz="2400" dirty="0">
                <a:solidFill>
                  <a:schemeClr val="tx1"/>
                </a:solidFill>
              </a:rPr>
              <a:t>单指令</a:t>
            </a:r>
            <a:endParaRPr lang="en-US" altLang="zh-CN" sz="2400" dirty="0">
              <a:solidFill>
                <a:schemeClr val="tx1"/>
              </a:solidFill>
            </a:endParaRPr>
          </a:p>
          <a:p>
            <a:pPr algn="ctr">
              <a:lnSpc>
                <a:spcPct val="100000"/>
              </a:lnSpc>
              <a:spcBef>
                <a:spcPts val="0"/>
              </a:spcBef>
              <a:buNone/>
            </a:pPr>
            <a:r>
              <a:rPr lang="zh-CN" altLang="en-US" sz="2400" dirty="0">
                <a:solidFill>
                  <a:schemeClr val="tx1"/>
                </a:solidFill>
              </a:rPr>
              <a:t>数据通路构造</a:t>
            </a:r>
          </a:p>
        </p:txBody>
      </p:sp>
      <p:sp>
        <p:nvSpPr>
          <p:cNvPr id="7" name="TextBox 10"/>
          <p:cNvSpPr txBox="1"/>
          <p:nvPr/>
        </p:nvSpPr>
        <p:spPr>
          <a:xfrm>
            <a:off x="3575720" y="6138956"/>
            <a:ext cx="6768752" cy="3970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n-US"/>
            </a:defPPr>
            <a:lvl1pPr>
              <a:lnSpc>
                <a:spcPct val="110000"/>
              </a:lnSpc>
              <a:spcBef>
                <a:spcPts val="0"/>
              </a:spcBef>
              <a:defRPr>
                <a:latin typeface="Courier New" panose="02070309020205020404" pitchFamily="49" charset="0"/>
                <a:cs typeface="Courier New" panose="02070309020205020404" pitchFamily="49" charset="0"/>
              </a:defRPr>
            </a:lvl1pPr>
            <a:lvl2pPr lvl="1">
              <a:lnSpc>
                <a:spcPct val="110000"/>
              </a:lnSpc>
              <a:spcBef>
                <a:spcPts val="0"/>
              </a:spcBef>
              <a:defRPr>
                <a:latin typeface="Courier New" panose="02070309020205020404" pitchFamily="49" charset="0"/>
                <a:cs typeface="Courier New" panose="02070309020205020404" pitchFamily="49" charset="0"/>
              </a:defRPr>
            </a:lvl2pPr>
            <a:lvl3pPr lvl="2">
              <a:lnSpc>
                <a:spcPct val="110000"/>
              </a:lnSpc>
              <a:spcBef>
                <a:spcPts val="0"/>
              </a:spcBef>
              <a:defRPr>
                <a:latin typeface="Courier New" panose="02070309020205020404" pitchFamily="49" charset="0"/>
                <a:cs typeface="Courier New" panose="02070309020205020404" pitchFamily="49" charset="0"/>
              </a:defRPr>
            </a:lvl3pPr>
            <a:lvl4pPr lvl="3">
              <a:lnSpc>
                <a:spcPct val="110000"/>
              </a:lnSpc>
              <a:spcBef>
                <a:spcPts val="0"/>
              </a:spcBef>
              <a:defRPr>
                <a:latin typeface="Courier New" panose="02070309020205020404" pitchFamily="49" charset="0"/>
                <a:cs typeface="Courier New" panose="02070309020205020404" pitchFamily="49" charset="0"/>
              </a:defRPr>
            </a:lvl4pPr>
          </a:lstStyle>
          <a:p>
            <a:r>
              <a:rPr lang="en-US" altLang="zh-CN" dirty="0"/>
              <a:t>HDL</a:t>
            </a:r>
            <a:r>
              <a:rPr lang="zh-CN" altLang="en-US" dirty="0"/>
              <a:t>建模：连接所有的部件及所有的</a:t>
            </a:r>
            <a:r>
              <a:rPr lang="en-US" altLang="zh-CN" dirty="0"/>
              <a:t>MUX</a:t>
            </a:r>
            <a:endParaRPr lang="zh-CN" altLang="en-US" dirty="0"/>
          </a:p>
        </p:txBody>
      </p:sp>
      <p:sp>
        <p:nvSpPr>
          <p:cNvPr id="8" name="TextBox 11"/>
          <p:cNvSpPr txBox="1"/>
          <p:nvPr/>
        </p:nvSpPr>
        <p:spPr>
          <a:xfrm>
            <a:off x="1884040" y="4437112"/>
            <a:ext cx="1547664" cy="1008112"/>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defPPr>
              <a:defRPr lang="en-US"/>
            </a:defPPr>
            <a:lvl1pPr algn="ctr">
              <a:lnSpc>
                <a:spcPct val="100000"/>
              </a:lnSpc>
              <a:spcBef>
                <a:spcPts val="0"/>
              </a:spcBef>
              <a:buNone/>
              <a:defRPr sz="2400">
                <a:solidFill>
                  <a:schemeClr val="tx1"/>
                </a:solidFill>
              </a:defRPr>
            </a:lvl1pPr>
          </a:lstStyle>
          <a:p>
            <a:r>
              <a:rPr lang="zh-CN" altLang="en-US" dirty="0"/>
              <a:t>多数据通路综合</a:t>
            </a:r>
          </a:p>
        </p:txBody>
      </p:sp>
      <p:sp>
        <p:nvSpPr>
          <p:cNvPr id="9" name="TextBox 12"/>
          <p:cNvSpPr txBox="1"/>
          <p:nvPr/>
        </p:nvSpPr>
        <p:spPr>
          <a:xfrm>
            <a:off x="1884040" y="6021289"/>
            <a:ext cx="1547664" cy="507681"/>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defPPr>
              <a:defRPr lang="en-US"/>
            </a:defPPr>
            <a:lvl1pPr algn="ctr">
              <a:lnSpc>
                <a:spcPct val="100000"/>
              </a:lnSpc>
              <a:spcBef>
                <a:spcPts val="0"/>
              </a:spcBef>
              <a:buNone/>
              <a:defRPr sz="2400">
                <a:solidFill>
                  <a:schemeClr val="tx1"/>
                </a:solidFill>
              </a:defRPr>
            </a:lvl1pPr>
          </a:lstStyle>
          <a:p>
            <a:r>
              <a:rPr lang="zh-CN" altLang="en-US" dirty="0"/>
              <a:t>系统实现</a:t>
            </a:r>
          </a:p>
        </p:txBody>
      </p:sp>
      <p:sp>
        <p:nvSpPr>
          <p:cNvPr id="10" name="下箭头 9"/>
          <p:cNvSpPr/>
          <p:nvPr/>
        </p:nvSpPr>
        <p:spPr bwMode="auto">
          <a:xfrm>
            <a:off x="9624392" y="3783273"/>
            <a:ext cx="504056" cy="509824"/>
          </a:xfrm>
          <a:prstGeom prst="downArrow">
            <a:avLst/>
          </a:prstGeom>
          <a:solidFill>
            <a:srgbClr val="FFFF00"/>
          </a:solidFill>
          <a:ln>
            <a:headEnd type="none" w="med" len="med"/>
            <a:tailEnd type="triangle" w="lg" len="lg"/>
          </a:ln>
        </p:spPr>
        <p:style>
          <a:lnRef idx="1">
            <a:schemeClr val="accent5"/>
          </a:lnRef>
          <a:fillRef idx="3">
            <a:schemeClr val="accent5"/>
          </a:fillRef>
          <a:effectRef idx="2">
            <a:schemeClr val="accent5"/>
          </a:effectRef>
          <a:fontRef idx="minor">
            <a:schemeClr val="lt1"/>
          </a:fontRef>
        </p:style>
        <p:txBody>
          <a:bodyPr vert="horz" wrap="none" lIns="91440" tIns="45720" rIns="91440" bIns="45720" numCol="1" rtlCol="0" anchor="ctr" anchorCtr="0" compatLnSpc="1"/>
          <a:lstStyle/>
          <a:p>
            <a:pPr marL="342900" indent="-342900" algn="ctr" eaLnBrk="1" hangingPunct="1">
              <a:lnSpc>
                <a:spcPct val="100000"/>
              </a:lnSpc>
              <a:spcBef>
                <a:spcPct val="20000"/>
              </a:spcBef>
              <a:buClr>
                <a:srgbClr val="FF9900"/>
              </a:buClr>
              <a:buSzTx/>
              <a:buNone/>
            </a:pPr>
            <a:endParaRPr lang="zh-CN" altLang="en-US" sz="2800" b="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12" name="下箭头 11"/>
          <p:cNvSpPr/>
          <p:nvPr/>
        </p:nvSpPr>
        <p:spPr bwMode="auto">
          <a:xfrm>
            <a:off x="9614229" y="5604224"/>
            <a:ext cx="504056" cy="509824"/>
          </a:xfrm>
          <a:prstGeom prst="downArrow">
            <a:avLst/>
          </a:prstGeom>
          <a:solidFill>
            <a:srgbClr val="FFFF00"/>
          </a:solidFill>
          <a:ln>
            <a:headEnd type="none" w="med" len="med"/>
            <a:tailEnd type="triangle" w="lg" len="lg"/>
          </a:ln>
        </p:spPr>
        <p:style>
          <a:lnRef idx="1">
            <a:schemeClr val="accent5"/>
          </a:lnRef>
          <a:fillRef idx="3">
            <a:schemeClr val="accent5"/>
          </a:fillRef>
          <a:effectRef idx="2">
            <a:schemeClr val="accent5"/>
          </a:effectRef>
          <a:fontRef idx="minor">
            <a:schemeClr val="lt1"/>
          </a:fontRef>
        </p:style>
        <p:txBody>
          <a:bodyPr vert="horz" wrap="none" lIns="91440" tIns="45720" rIns="91440" bIns="45720" numCol="1" rtlCol="0" anchor="ctr" anchorCtr="0" compatLnSpc="1"/>
          <a:lstStyle/>
          <a:p>
            <a:pPr marL="342900" indent="-342900" algn="ctr" eaLnBrk="1" hangingPunct="1">
              <a:lnSpc>
                <a:spcPct val="100000"/>
              </a:lnSpc>
              <a:spcBef>
                <a:spcPct val="20000"/>
              </a:spcBef>
              <a:buClr>
                <a:srgbClr val="FF9900"/>
              </a:buClr>
              <a:buSzTx/>
              <a:buNone/>
            </a:pPr>
            <a:endParaRPr lang="zh-CN" altLang="en-US" sz="2800" b="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单周期数据通路设计</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单周期控制器设计</a:t>
            </a:r>
            <a:endParaRPr lang="en-US" altLang="zh-CN" sz="2000" dirty="0">
              <a:solidFill>
                <a:schemeClr val="bg1">
                  <a:lumMod val="6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
        <p:nvSpPr>
          <p:cNvPr id="3" name="内容占位符 2"/>
          <p:cNvSpPr>
            <a:spLocks noGrp="1"/>
          </p:cNvSpPr>
          <p:nvPr>
            <p:ph idx="1"/>
          </p:nvPr>
        </p:nvSpPr>
        <p:spPr>
          <a:xfrm>
            <a:off x="2135560" y="908720"/>
            <a:ext cx="7848600" cy="420628"/>
          </a:xfrm>
        </p:spPr>
        <p:txBody>
          <a:bodyPr/>
          <a:lstStyle/>
          <a:p>
            <a:pPr>
              <a:lnSpc>
                <a:spcPct val="120000"/>
              </a:lnSpc>
              <a:spcAft>
                <a:spcPts val="0"/>
              </a:spcAft>
            </a:pPr>
            <a:r>
              <a:rPr lang="en-US" altLang="zh-CN" sz="2000" dirty="0"/>
              <a:t>R</a:t>
            </a:r>
            <a:r>
              <a:rPr lang="zh-CN" altLang="en-US" sz="2000" dirty="0"/>
              <a:t>型指令的指令周期</a:t>
            </a:r>
          </a:p>
        </p:txBody>
      </p:sp>
      <p:grpSp>
        <p:nvGrpSpPr>
          <p:cNvPr id="8" name="组合 7"/>
          <p:cNvGrpSpPr/>
          <p:nvPr/>
        </p:nvGrpSpPr>
        <p:grpSpPr>
          <a:xfrm>
            <a:off x="1847528" y="1340768"/>
            <a:ext cx="8424936" cy="5328592"/>
            <a:chOff x="395536" y="1412776"/>
            <a:chExt cx="8424936" cy="5328592"/>
          </a:xfrm>
        </p:grpSpPr>
        <p:sp>
          <p:nvSpPr>
            <p:cNvPr id="7" name="矩形 6"/>
            <p:cNvSpPr/>
            <p:nvPr/>
          </p:nvSpPr>
          <p:spPr bwMode="auto">
            <a:xfrm>
              <a:off x="395536" y="1412776"/>
              <a:ext cx="8424936" cy="5328592"/>
            </a:xfrm>
            <a:prstGeom prst="rect">
              <a:avLst/>
            </a:prstGeom>
            <a:solidFill>
              <a:srgbClr val="FFFFCC"/>
            </a:solidFill>
            <a:ln w="6350" cap="flat" cmpd="sng" algn="ctr">
              <a:solidFill>
                <a:schemeClr val="accent4">
                  <a:lumMod val="50000"/>
                  <a:lumOff val="50000"/>
                </a:schemeClr>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pic>
          <p:nvPicPr>
            <p:cNvPr id="6" name="图片 5"/>
            <p:cNvPicPr>
              <a:picLocks noChangeAspect="1"/>
            </p:cNvPicPr>
            <p:nvPr/>
          </p:nvPicPr>
          <p:blipFill>
            <a:blip r:embed="rId2"/>
            <a:stretch>
              <a:fillRect/>
            </a:stretch>
          </p:blipFill>
          <p:spPr>
            <a:xfrm>
              <a:off x="440185" y="1605055"/>
              <a:ext cx="8191349" cy="5064305"/>
            </a:xfrm>
            <a:prstGeom prst="rect">
              <a:avLst/>
            </a:prstGeom>
            <a:ln>
              <a:noFill/>
            </a:ln>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5560" y="836712"/>
            <a:ext cx="7848600" cy="420628"/>
          </a:xfrm>
        </p:spPr>
        <p:txBody>
          <a:bodyPr/>
          <a:lstStyle/>
          <a:p>
            <a:pPr>
              <a:lnSpc>
                <a:spcPct val="120000"/>
              </a:lnSpc>
              <a:spcAft>
                <a:spcPts val="0"/>
              </a:spcAft>
            </a:pPr>
            <a:r>
              <a:rPr lang="en-US" altLang="zh-CN" sz="2000" dirty="0"/>
              <a:t>LW</a:t>
            </a:r>
            <a:r>
              <a:rPr lang="zh-CN" altLang="en-US" sz="2000" dirty="0"/>
              <a:t>指令的指令周期</a:t>
            </a:r>
          </a:p>
        </p:txBody>
      </p:sp>
      <p:grpSp>
        <p:nvGrpSpPr>
          <p:cNvPr id="14" name="组合 13"/>
          <p:cNvGrpSpPr/>
          <p:nvPr/>
        </p:nvGrpSpPr>
        <p:grpSpPr>
          <a:xfrm>
            <a:off x="1775520" y="1257340"/>
            <a:ext cx="8568952" cy="5421608"/>
            <a:chOff x="251520" y="1257340"/>
            <a:chExt cx="8568952" cy="5421608"/>
          </a:xfrm>
        </p:grpSpPr>
        <p:sp>
          <p:nvSpPr>
            <p:cNvPr id="13" name="矩形 12"/>
            <p:cNvSpPr/>
            <p:nvPr/>
          </p:nvSpPr>
          <p:spPr bwMode="auto">
            <a:xfrm>
              <a:off x="251520" y="1257340"/>
              <a:ext cx="8568952" cy="5421608"/>
            </a:xfrm>
            <a:prstGeom prst="rect">
              <a:avLst/>
            </a:prstGeom>
            <a:solidFill>
              <a:srgbClr val="FFFFCC"/>
            </a:solid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pic>
          <p:nvPicPr>
            <p:cNvPr id="4" name="图片 3"/>
            <p:cNvPicPr>
              <a:picLocks noChangeAspect="1"/>
            </p:cNvPicPr>
            <p:nvPr/>
          </p:nvPicPr>
          <p:blipFill>
            <a:blip r:embed="rId2"/>
            <a:stretch>
              <a:fillRect/>
            </a:stretch>
          </p:blipFill>
          <p:spPr>
            <a:xfrm>
              <a:off x="576395" y="1336026"/>
              <a:ext cx="8030738" cy="5342922"/>
            </a:xfrm>
            <a:prstGeom prst="rect">
              <a:avLst/>
            </a:prstGeom>
          </p:spPr>
        </p:pic>
      </p:grpSp>
      <p:sp>
        <p:nvSpPr>
          <p:cNvPr id="7" name="标题 6"/>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5560" y="908720"/>
            <a:ext cx="7848600" cy="4889544"/>
          </a:xfrm>
        </p:spPr>
        <p:txBody>
          <a:bodyPr/>
          <a:lstStyle/>
          <a:p>
            <a:pPr>
              <a:lnSpc>
                <a:spcPct val="120000"/>
              </a:lnSpc>
              <a:spcAft>
                <a:spcPts val="0"/>
              </a:spcAft>
            </a:pPr>
            <a:r>
              <a:rPr lang="zh-CN" altLang="en-US" dirty="0"/>
              <a:t>指令周期（指令执行时间）</a:t>
            </a:r>
            <a:endParaRPr lang="en-US" altLang="zh-CN" dirty="0"/>
          </a:p>
          <a:p>
            <a:pPr lvl="1">
              <a:lnSpc>
                <a:spcPct val="120000"/>
              </a:lnSpc>
              <a:spcAft>
                <a:spcPts val="0"/>
              </a:spcAft>
            </a:pPr>
            <a:r>
              <a:rPr lang="en-US" altLang="zh-CN" dirty="0"/>
              <a:t>R</a:t>
            </a:r>
            <a:r>
              <a:rPr lang="zh-CN" altLang="en-US" dirty="0"/>
              <a:t>指令周期</a:t>
            </a:r>
            <a:endParaRPr lang="en-US" altLang="zh-CN" dirty="0"/>
          </a:p>
          <a:p>
            <a:pPr lvl="2">
              <a:lnSpc>
                <a:spcPct val="120000"/>
              </a:lnSpc>
              <a:spcAft>
                <a:spcPts val="0"/>
              </a:spcAft>
            </a:pPr>
            <a:r>
              <a:rPr lang="zh-CN" altLang="en-US" sz="2000" dirty="0"/>
              <a:t>取指令（</a:t>
            </a:r>
            <a:r>
              <a:rPr lang="en-US" altLang="zh-CN" sz="2000" dirty="0"/>
              <a:t>IM Access Time</a:t>
            </a:r>
            <a:r>
              <a:rPr lang="zh-CN" altLang="en-US" sz="2000" dirty="0"/>
              <a:t>）</a:t>
            </a:r>
            <a:endParaRPr lang="en-US" altLang="zh-CN" sz="2000" dirty="0"/>
          </a:p>
          <a:p>
            <a:pPr lvl="2">
              <a:lnSpc>
                <a:spcPct val="120000"/>
              </a:lnSpc>
              <a:spcAft>
                <a:spcPts val="0"/>
              </a:spcAft>
            </a:pPr>
            <a:r>
              <a:rPr lang="zh-CN" altLang="en-US" sz="2000" dirty="0"/>
              <a:t>读寄存器（</a:t>
            </a:r>
            <a:r>
              <a:rPr lang="en-US" altLang="zh-CN" sz="2000" dirty="0"/>
              <a:t>Register File Access Time</a:t>
            </a:r>
            <a:r>
              <a:rPr lang="zh-CN" altLang="en-US" sz="2000" dirty="0"/>
              <a:t>）</a:t>
            </a:r>
            <a:endParaRPr lang="en-US" altLang="zh-CN" sz="2000" dirty="0"/>
          </a:p>
          <a:p>
            <a:pPr lvl="2">
              <a:lnSpc>
                <a:spcPct val="120000"/>
              </a:lnSpc>
              <a:spcAft>
                <a:spcPts val="0"/>
              </a:spcAft>
            </a:pPr>
            <a:r>
              <a:rPr lang="en-US" altLang="zh-CN" sz="2000" dirty="0"/>
              <a:t>ALU</a:t>
            </a:r>
            <a:r>
              <a:rPr lang="zh-CN" altLang="en-US" sz="2000" dirty="0"/>
              <a:t>运算（</a:t>
            </a:r>
            <a:r>
              <a:rPr lang="en-US" altLang="zh-CN" sz="2000" dirty="0"/>
              <a:t>ALU Operation</a:t>
            </a:r>
            <a:r>
              <a:rPr lang="zh-CN" altLang="en-US" sz="2000" dirty="0"/>
              <a:t>）</a:t>
            </a:r>
            <a:endParaRPr lang="en-US" altLang="zh-CN" sz="2000" dirty="0"/>
          </a:p>
          <a:p>
            <a:pPr lvl="2">
              <a:lnSpc>
                <a:spcPct val="120000"/>
              </a:lnSpc>
              <a:spcAft>
                <a:spcPts val="0"/>
              </a:spcAft>
            </a:pPr>
            <a:r>
              <a:rPr lang="zh-CN" altLang="en-US" sz="2000" dirty="0"/>
              <a:t>写寄存器（</a:t>
            </a:r>
            <a:r>
              <a:rPr lang="en-US" altLang="zh-CN" sz="2000" dirty="0"/>
              <a:t>Register File Access Time)</a:t>
            </a:r>
          </a:p>
          <a:p>
            <a:pPr lvl="1">
              <a:lnSpc>
                <a:spcPct val="120000"/>
              </a:lnSpc>
              <a:spcAft>
                <a:spcPts val="0"/>
              </a:spcAft>
            </a:pPr>
            <a:r>
              <a:rPr lang="en-US" altLang="zh-CN" dirty="0"/>
              <a:t>LW</a:t>
            </a:r>
            <a:r>
              <a:rPr lang="zh-CN" altLang="en-US" dirty="0"/>
              <a:t>指令周期</a:t>
            </a:r>
            <a:endParaRPr lang="en-US" altLang="zh-CN" dirty="0"/>
          </a:p>
          <a:p>
            <a:pPr lvl="2">
              <a:lnSpc>
                <a:spcPct val="120000"/>
              </a:lnSpc>
              <a:spcAft>
                <a:spcPts val="0"/>
              </a:spcAft>
            </a:pPr>
            <a:r>
              <a:rPr lang="zh-CN" altLang="en-US" sz="2000" dirty="0"/>
              <a:t>取指令（</a:t>
            </a:r>
            <a:r>
              <a:rPr lang="en-US" altLang="zh-CN" sz="2000" dirty="0"/>
              <a:t>IM Access Time</a:t>
            </a:r>
            <a:r>
              <a:rPr lang="zh-CN" altLang="en-US" sz="2000" dirty="0"/>
              <a:t>）</a:t>
            </a:r>
            <a:endParaRPr lang="en-US" altLang="zh-CN" sz="2000" dirty="0"/>
          </a:p>
          <a:p>
            <a:pPr lvl="2">
              <a:lnSpc>
                <a:spcPct val="120000"/>
              </a:lnSpc>
              <a:spcAft>
                <a:spcPts val="0"/>
              </a:spcAft>
            </a:pPr>
            <a:r>
              <a:rPr lang="zh-CN" altLang="en-US" sz="2000" dirty="0"/>
              <a:t>读寄存器（</a:t>
            </a:r>
            <a:r>
              <a:rPr lang="en-US" altLang="zh-CN" sz="2000" dirty="0"/>
              <a:t>Register Access Time</a:t>
            </a:r>
            <a:r>
              <a:rPr lang="zh-CN" altLang="en-US" sz="2000" dirty="0"/>
              <a:t>）</a:t>
            </a:r>
            <a:endParaRPr lang="en-US" altLang="zh-CN" sz="2000" dirty="0"/>
          </a:p>
          <a:p>
            <a:pPr lvl="2">
              <a:lnSpc>
                <a:spcPct val="120000"/>
              </a:lnSpc>
              <a:spcAft>
                <a:spcPts val="0"/>
              </a:spcAft>
            </a:pPr>
            <a:r>
              <a:rPr lang="en-US" altLang="zh-CN" sz="2000" dirty="0"/>
              <a:t>ALU</a:t>
            </a:r>
            <a:r>
              <a:rPr lang="zh-CN" altLang="en-US" sz="2000" dirty="0"/>
              <a:t>运算（</a:t>
            </a:r>
            <a:r>
              <a:rPr lang="en-US" altLang="zh-CN" sz="2000" dirty="0"/>
              <a:t>ALU Operation</a:t>
            </a:r>
            <a:r>
              <a:rPr lang="zh-CN" altLang="en-US" sz="2000" dirty="0"/>
              <a:t>）</a:t>
            </a:r>
            <a:endParaRPr lang="en-US" altLang="zh-CN" sz="2000" dirty="0"/>
          </a:p>
          <a:p>
            <a:pPr lvl="2">
              <a:lnSpc>
                <a:spcPct val="120000"/>
              </a:lnSpc>
              <a:spcAft>
                <a:spcPts val="0"/>
              </a:spcAft>
            </a:pPr>
            <a:r>
              <a:rPr lang="zh-CN" altLang="en-US" sz="2000" dirty="0"/>
              <a:t>读数据（</a:t>
            </a:r>
            <a:r>
              <a:rPr lang="en-US" altLang="zh-CN" sz="2000" dirty="0"/>
              <a:t>DM Access Time)</a:t>
            </a:r>
          </a:p>
          <a:p>
            <a:pPr lvl="2">
              <a:lnSpc>
                <a:spcPct val="120000"/>
              </a:lnSpc>
              <a:spcAft>
                <a:spcPts val="0"/>
              </a:spcAft>
            </a:pPr>
            <a:r>
              <a:rPr lang="zh-CN" altLang="en-US" sz="2000" dirty="0"/>
              <a:t>写寄存器（</a:t>
            </a:r>
            <a:r>
              <a:rPr lang="en-US" altLang="zh-CN" sz="2000" dirty="0"/>
              <a:t>Register File Access Time)</a:t>
            </a:r>
          </a:p>
          <a:p>
            <a:pPr lvl="1">
              <a:lnSpc>
                <a:spcPct val="120000"/>
              </a:lnSpc>
              <a:spcAft>
                <a:spcPts val="0"/>
              </a:spcAft>
            </a:pPr>
            <a:endParaRPr lang="zh-CN" altLang="en-US" dirty="0"/>
          </a:p>
        </p:txBody>
      </p:sp>
      <p:grpSp>
        <p:nvGrpSpPr>
          <p:cNvPr id="9" name="组合 8"/>
          <p:cNvGrpSpPr/>
          <p:nvPr/>
        </p:nvGrpSpPr>
        <p:grpSpPr>
          <a:xfrm>
            <a:off x="2352094" y="5661248"/>
            <a:ext cx="7632067" cy="648072"/>
            <a:chOff x="684213" y="5877272"/>
            <a:chExt cx="7632067" cy="648072"/>
          </a:xfrm>
        </p:grpSpPr>
        <p:sp>
          <p:nvSpPr>
            <p:cNvPr id="10" name="圆角矩形 9"/>
            <p:cNvSpPr/>
            <p:nvPr/>
          </p:nvSpPr>
          <p:spPr bwMode="auto">
            <a:xfrm>
              <a:off x="684213" y="5877272"/>
              <a:ext cx="7632067" cy="648072"/>
            </a:xfrm>
            <a:prstGeom prst="roundRect">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11" name="矩形 10"/>
            <p:cNvSpPr/>
            <p:nvPr/>
          </p:nvSpPr>
          <p:spPr>
            <a:xfrm>
              <a:off x="755440" y="5942132"/>
              <a:ext cx="7560840" cy="498598"/>
            </a:xfrm>
            <a:prstGeom prst="rect">
              <a:avLst/>
            </a:prstGeom>
          </p:spPr>
          <p:txBody>
            <a:bodyPr wrap="square">
              <a:spAutoFit/>
            </a:bodyPr>
            <a:lstStyle/>
            <a:p>
              <a:pPr>
                <a:lnSpc>
                  <a:spcPct val="110000"/>
                </a:lnSpc>
                <a:spcBef>
                  <a:spcPts val="0"/>
                </a:spcBef>
                <a:spcAft>
                  <a:spcPts val="0"/>
                </a:spcAft>
                <a:buNone/>
              </a:pPr>
              <a:r>
                <a:rPr lang="zh-CN" altLang="en-US" sz="2400" dirty="0"/>
                <a:t>实际上，不同类型的指令可能具有不同的指令周期</a:t>
              </a:r>
              <a:endParaRPr lang="en-US" altLang="zh-CN" sz="2400" dirty="0"/>
            </a:p>
          </p:txBody>
        </p:sp>
      </p:grpSp>
      <p:sp>
        <p:nvSpPr>
          <p:cNvPr id="5" name="标题 4"/>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51784" y="1060331"/>
            <a:ext cx="4320480" cy="420628"/>
          </a:xfrm>
        </p:spPr>
        <p:txBody>
          <a:bodyPr/>
          <a:lstStyle/>
          <a:p>
            <a:pPr marL="0" indent="0">
              <a:lnSpc>
                <a:spcPct val="120000"/>
              </a:lnSpc>
              <a:spcAft>
                <a:spcPts val="0"/>
              </a:spcAft>
              <a:buNone/>
            </a:pPr>
            <a:r>
              <a:rPr lang="en-US" altLang="zh-CN" sz="2000" dirty="0">
                <a:solidFill>
                  <a:srgbClr val="0000CC"/>
                </a:solidFill>
              </a:rPr>
              <a:t>MIPS</a:t>
            </a:r>
            <a:r>
              <a:rPr lang="zh-CN" altLang="en-US" sz="2000" dirty="0">
                <a:solidFill>
                  <a:srgbClr val="0000CC"/>
                </a:solidFill>
              </a:rPr>
              <a:t>不同类型指令的指令周期</a:t>
            </a:r>
            <a:endParaRPr lang="en-US" altLang="zh-CN" sz="2000" dirty="0">
              <a:solidFill>
                <a:srgbClr val="0000CC"/>
              </a:solidFill>
            </a:endParaRPr>
          </a:p>
        </p:txBody>
      </p:sp>
      <p:pic>
        <p:nvPicPr>
          <p:cNvPr id="4" name="图片 3"/>
          <p:cNvPicPr>
            <a:picLocks noChangeAspect="1"/>
          </p:cNvPicPr>
          <p:nvPr/>
        </p:nvPicPr>
        <p:blipFill>
          <a:blip r:embed="rId2"/>
          <a:stretch>
            <a:fillRect/>
          </a:stretch>
        </p:blipFill>
        <p:spPr>
          <a:xfrm>
            <a:off x="1932571" y="1484785"/>
            <a:ext cx="8323831" cy="2237365"/>
          </a:xfrm>
          <a:prstGeom prst="rect">
            <a:avLst/>
          </a:prstGeom>
        </p:spPr>
      </p:pic>
      <p:grpSp>
        <p:nvGrpSpPr>
          <p:cNvPr id="18" name="组合 17"/>
          <p:cNvGrpSpPr/>
          <p:nvPr/>
        </p:nvGrpSpPr>
        <p:grpSpPr>
          <a:xfrm>
            <a:off x="2117725" y="3933057"/>
            <a:ext cx="8138677" cy="2677603"/>
            <a:chOff x="606109" y="3199669"/>
            <a:chExt cx="8138677" cy="2677603"/>
          </a:xfrm>
        </p:grpSpPr>
        <p:pic>
          <p:nvPicPr>
            <p:cNvPr id="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09" y="3573016"/>
              <a:ext cx="8138677"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19"/>
            <p:cNvSpPr/>
            <p:nvPr/>
          </p:nvSpPr>
          <p:spPr>
            <a:xfrm>
              <a:off x="2050864" y="3199669"/>
              <a:ext cx="5630753" cy="461665"/>
            </a:xfrm>
            <a:prstGeom prst="rect">
              <a:avLst/>
            </a:prstGeom>
          </p:spPr>
          <p:txBody>
            <a:bodyPr wrap="square">
              <a:spAutoFit/>
            </a:bodyPr>
            <a:lstStyle/>
            <a:p>
              <a:pPr algn="ctr">
                <a:lnSpc>
                  <a:spcPct val="120000"/>
                </a:lnSpc>
                <a:spcBef>
                  <a:spcPts val="0"/>
                </a:spcBef>
                <a:spcAft>
                  <a:spcPts val="0"/>
                </a:spcAft>
                <a:buNone/>
              </a:pPr>
              <a:r>
                <a:rPr lang="zh-CN" altLang="en-US" sz="2000" dirty="0">
                  <a:solidFill>
                    <a:srgbClr val="0000CC"/>
                  </a:solidFill>
                </a:rPr>
                <a:t>数据通路各部分以及各类指令的执行时间</a:t>
              </a:r>
            </a:p>
          </p:txBody>
        </p:sp>
      </p:grpSp>
      <p:sp>
        <p:nvSpPr>
          <p:cNvPr id="6" name="标题 5"/>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836713"/>
            <a:ext cx="11233248" cy="5000343"/>
          </a:xfrm>
        </p:spPr>
        <p:txBody>
          <a:bodyPr/>
          <a:lstStyle/>
          <a:p>
            <a:pPr>
              <a:lnSpc>
                <a:spcPct val="120000"/>
              </a:lnSpc>
              <a:spcAft>
                <a:spcPts val="0"/>
              </a:spcAft>
            </a:pPr>
            <a:r>
              <a:rPr lang="zh-CN" altLang="en-US" dirty="0"/>
              <a:t>指令执行时间计算</a:t>
            </a:r>
            <a:endParaRPr lang="en-US" altLang="zh-CN" dirty="0"/>
          </a:p>
          <a:p>
            <a:pPr marL="817880" lvl="1" indent="-342900">
              <a:lnSpc>
                <a:spcPct val="120000"/>
              </a:lnSpc>
              <a:spcAft>
                <a:spcPts val="0"/>
              </a:spcAft>
              <a:buFont typeface="+mj-lt"/>
              <a:buAutoNum type="arabicPeriod"/>
            </a:pPr>
            <a:r>
              <a:rPr lang="zh-CN" altLang="en-US" dirty="0"/>
              <a:t>方式一：采用单周期，即所有指令周期固定为单一时钟周期</a:t>
            </a:r>
            <a:endParaRPr lang="en-US" altLang="zh-CN" dirty="0"/>
          </a:p>
          <a:p>
            <a:pPr marL="1200150" lvl="2" indent="-342900">
              <a:lnSpc>
                <a:spcPct val="120000"/>
              </a:lnSpc>
              <a:spcAft>
                <a:spcPts val="0"/>
              </a:spcAft>
              <a:buFont typeface="Wingdings" panose="05000000000000000000" pitchFamily="2" charset="2"/>
              <a:buChar char="n"/>
            </a:pPr>
            <a:r>
              <a:rPr lang="zh-CN" altLang="en-US" sz="2000" dirty="0"/>
              <a:t>时钟周期有最长的指令决定（</a:t>
            </a:r>
            <a:r>
              <a:rPr lang="en-US" altLang="zh-CN" sz="2000" dirty="0"/>
              <a:t>LW</a:t>
            </a:r>
            <a:r>
              <a:rPr lang="zh-CN" altLang="en-US" sz="2000" dirty="0"/>
              <a:t>指令），为 </a:t>
            </a:r>
            <a:r>
              <a:rPr lang="en-US" altLang="zh-CN" sz="2000" dirty="0">
                <a:solidFill>
                  <a:srgbClr val="FF0000"/>
                </a:solidFill>
              </a:rPr>
              <a:t>600ps</a:t>
            </a:r>
          </a:p>
          <a:p>
            <a:pPr marL="1200150" lvl="2" indent="-342900">
              <a:lnSpc>
                <a:spcPct val="120000"/>
              </a:lnSpc>
              <a:spcAft>
                <a:spcPts val="0"/>
              </a:spcAft>
              <a:buFont typeface="Wingdings" panose="05000000000000000000" pitchFamily="2" charset="2"/>
              <a:buChar char="n"/>
            </a:pPr>
            <a:r>
              <a:rPr lang="zh-CN" altLang="en-US" sz="2000" dirty="0"/>
              <a:t>指令平均周期 </a:t>
            </a:r>
            <a:r>
              <a:rPr lang="en-US" altLang="zh-CN" sz="2000" dirty="0"/>
              <a:t>= </a:t>
            </a:r>
            <a:r>
              <a:rPr lang="en-US" altLang="zh-CN" sz="2000" dirty="0">
                <a:solidFill>
                  <a:srgbClr val="FF0000"/>
                </a:solidFill>
              </a:rPr>
              <a:t>600ps</a:t>
            </a:r>
            <a:r>
              <a:rPr lang="zh-CN" altLang="en-US" dirty="0"/>
              <a:t> </a:t>
            </a:r>
            <a:endParaRPr lang="en-US" altLang="zh-CN" dirty="0"/>
          </a:p>
          <a:p>
            <a:pPr marL="932180" lvl="1" indent="-457200">
              <a:lnSpc>
                <a:spcPct val="120000"/>
              </a:lnSpc>
              <a:spcAft>
                <a:spcPts val="0"/>
              </a:spcAft>
              <a:buFont typeface="+mj-lt"/>
              <a:buAutoNum type="arabicPeriod" startAt="2"/>
            </a:pPr>
            <a:r>
              <a:rPr lang="zh-CN" altLang="en-US" dirty="0"/>
              <a:t>方式二：不同类型指令采用不同指令周期（可变时钟周期）</a:t>
            </a:r>
            <a:endParaRPr lang="en-US" altLang="zh-CN" dirty="0"/>
          </a:p>
          <a:p>
            <a:pPr marL="1203325" lvl="2" indent="-346075">
              <a:lnSpc>
                <a:spcPct val="120000"/>
              </a:lnSpc>
              <a:spcAft>
                <a:spcPts val="0"/>
              </a:spcAft>
              <a:buFont typeface="Wingdings" panose="05000000000000000000" pitchFamily="2" charset="2"/>
              <a:buChar char="n"/>
            </a:pPr>
            <a:r>
              <a:rPr lang="zh-CN" altLang="en-US" sz="2000" dirty="0"/>
              <a:t>假设指令在程序中出现的频率</a:t>
            </a:r>
          </a:p>
          <a:p>
            <a:pPr marL="1481455" lvl="3" indent="-278130">
              <a:lnSpc>
                <a:spcPct val="120000"/>
              </a:lnSpc>
              <a:spcAft>
                <a:spcPts val="0"/>
              </a:spcAft>
            </a:pPr>
            <a:r>
              <a:rPr lang="en-US" altLang="zh-CN" b="1" dirty="0"/>
              <a:t> </a:t>
            </a:r>
            <a:r>
              <a:rPr lang="en-US" altLang="zh-CN" b="1" dirty="0" err="1"/>
              <a:t>lw</a:t>
            </a:r>
            <a:r>
              <a:rPr lang="zh-CN" altLang="en-US" b="1" dirty="0"/>
              <a:t>指令       ：</a:t>
            </a:r>
            <a:r>
              <a:rPr lang="en-US" altLang="zh-CN" b="1" dirty="0"/>
              <a:t>25%</a:t>
            </a:r>
          </a:p>
          <a:p>
            <a:pPr marL="1481455" lvl="3" indent="-278130">
              <a:lnSpc>
                <a:spcPct val="120000"/>
              </a:lnSpc>
              <a:spcAft>
                <a:spcPts val="0"/>
              </a:spcAft>
            </a:pPr>
            <a:r>
              <a:rPr lang="en-US" altLang="zh-CN" b="1" dirty="0"/>
              <a:t> </a:t>
            </a:r>
            <a:r>
              <a:rPr lang="en-US" altLang="zh-CN" b="1" dirty="0" err="1"/>
              <a:t>sw</a:t>
            </a:r>
            <a:r>
              <a:rPr lang="zh-CN" altLang="en-US" b="1" dirty="0"/>
              <a:t>指令      ：</a:t>
            </a:r>
            <a:r>
              <a:rPr lang="en-US" altLang="zh-CN" b="1" dirty="0"/>
              <a:t>10%</a:t>
            </a:r>
          </a:p>
          <a:p>
            <a:pPr marL="1481455" lvl="3" indent="-278130">
              <a:lnSpc>
                <a:spcPct val="120000"/>
              </a:lnSpc>
              <a:spcAft>
                <a:spcPts val="0"/>
              </a:spcAft>
            </a:pPr>
            <a:r>
              <a:rPr lang="en-US" altLang="zh-CN" b="1" dirty="0"/>
              <a:t> R</a:t>
            </a:r>
            <a:r>
              <a:rPr lang="zh-CN" altLang="en-US" b="1" dirty="0"/>
              <a:t>类型指令 ：</a:t>
            </a:r>
            <a:r>
              <a:rPr lang="en-US" altLang="zh-CN" b="1" dirty="0"/>
              <a:t>45%</a:t>
            </a:r>
          </a:p>
          <a:p>
            <a:pPr marL="1481455" lvl="3" indent="-278130">
              <a:lnSpc>
                <a:spcPct val="120000"/>
              </a:lnSpc>
              <a:spcAft>
                <a:spcPts val="0"/>
              </a:spcAft>
            </a:pPr>
            <a:r>
              <a:rPr lang="en-US" altLang="zh-CN" b="1" dirty="0"/>
              <a:t> </a:t>
            </a:r>
            <a:r>
              <a:rPr lang="en-US" altLang="zh-CN" b="1" dirty="0" err="1"/>
              <a:t>beq</a:t>
            </a:r>
            <a:r>
              <a:rPr lang="zh-CN" altLang="en-US" b="1" dirty="0"/>
              <a:t>指令     ：</a:t>
            </a:r>
            <a:r>
              <a:rPr lang="en-US" altLang="zh-CN" b="1" dirty="0"/>
              <a:t>15%</a:t>
            </a:r>
          </a:p>
          <a:p>
            <a:pPr marL="1481455" lvl="3" indent="-278130">
              <a:lnSpc>
                <a:spcPct val="120000"/>
              </a:lnSpc>
              <a:spcAft>
                <a:spcPts val="0"/>
              </a:spcAft>
            </a:pPr>
            <a:r>
              <a:rPr lang="en-US" altLang="zh-CN" b="1" dirty="0"/>
              <a:t> j</a:t>
            </a:r>
            <a:r>
              <a:rPr lang="zh-CN" altLang="en-US" b="1" dirty="0"/>
              <a:t>指令           ：</a:t>
            </a:r>
            <a:r>
              <a:rPr lang="en-US" altLang="zh-CN" b="1" dirty="0"/>
              <a:t>5%</a:t>
            </a:r>
          </a:p>
          <a:p>
            <a:pPr lvl="2">
              <a:lnSpc>
                <a:spcPct val="120000"/>
              </a:lnSpc>
              <a:spcAft>
                <a:spcPts val="0"/>
              </a:spcAft>
              <a:buFont typeface="Wingdings" panose="05000000000000000000" pitchFamily="2" charset="2"/>
              <a:buChar char="n"/>
            </a:pPr>
            <a:r>
              <a:rPr lang="zh-CN" altLang="en-US" dirty="0"/>
              <a:t> </a:t>
            </a:r>
            <a:r>
              <a:rPr lang="zh-CN" altLang="en-US" sz="2000" dirty="0"/>
              <a:t>平均指令执行时间</a:t>
            </a:r>
            <a:endParaRPr lang="en-US" altLang="zh-CN" sz="2000" dirty="0"/>
          </a:p>
          <a:p>
            <a:pPr marL="858520" lvl="2" indent="0">
              <a:lnSpc>
                <a:spcPct val="120000"/>
              </a:lnSpc>
              <a:spcAft>
                <a:spcPts val="0"/>
              </a:spcAft>
              <a:buNone/>
            </a:pPr>
            <a:r>
              <a:rPr lang="en-US" altLang="zh-CN" dirty="0"/>
              <a:t>     600*25%+550*10%+400*45%+350*15%+200*5% = </a:t>
            </a:r>
            <a:r>
              <a:rPr lang="en-US" altLang="zh-CN" dirty="0">
                <a:solidFill>
                  <a:srgbClr val="FF0000"/>
                </a:solidFill>
              </a:rPr>
              <a:t>447.5ps</a:t>
            </a:r>
            <a:endParaRPr lang="zh-CN" altLang="en-US" dirty="0">
              <a:solidFill>
                <a:srgbClr val="FF0000"/>
              </a:solidFill>
            </a:endParaRPr>
          </a:p>
        </p:txBody>
      </p:sp>
      <p:sp>
        <p:nvSpPr>
          <p:cNvPr id="5" name="圆角矩形 4"/>
          <p:cNvSpPr/>
          <p:nvPr/>
        </p:nvSpPr>
        <p:spPr bwMode="auto">
          <a:xfrm>
            <a:off x="2167834" y="5541590"/>
            <a:ext cx="7920880" cy="1199778"/>
          </a:xfrm>
          <a:prstGeom prst="roundRect">
            <a:avLst/>
          </a:prstGeom>
          <a:solidFill>
            <a:srgbClr val="CCFFFF"/>
          </a:solidFill>
          <a:ln w="12700" cap="flat" cmpd="sng" algn="ctr">
            <a:solidFill>
              <a:schemeClr val="tx1"/>
            </a:solidFill>
            <a:prstDash val="solid"/>
            <a:round/>
            <a:headEnd type="none" w="med" len="med"/>
            <a:tailEnd type="none" w="med" len="med"/>
          </a:ln>
          <a:effectLst/>
        </p:spPr>
        <p:txBody>
          <a:bodyPr vert="horz" wrap="square" lIns="63500" tIns="25400" rIns="63500" bIns="25400" numCol="1" rtlCol="0" anchor="ctr" anchorCtr="0" compatLnSpc="1">
            <a:noAutofit/>
          </a:bodyPr>
          <a:lstStyle/>
          <a:p>
            <a:pPr marL="285750" indent="-285750">
              <a:buFont typeface="Arial" panose="020B0604020202020204" pitchFamily="34" charset="0"/>
              <a:buChar char="―"/>
            </a:pPr>
            <a:r>
              <a:rPr lang="zh-CN" altLang="en-US" sz="2000" dirty="0">
                <a:solidFill>
                  <a:srgbClr val="FF0000"/>
                </a:solidFill>
              </a:rPr>
              <a:t>若采用可变时钟周期，时间性能比单周期更高；</a:t>
            </a:r>
            <a:endParaRPr lang="en-US" altLang="zh-CN" sz="2000" dirty="0">
              <a:solidFill>
                <a:srgbClr val="FF0000"/>
              </a:solidFill>
            </a:endParaRPr>
          </a:p>
          <a:p>
            <a:pPr marL="285750" indent="-285750">
              <a:buFont typeface="Arial" panose="020B0604020202020204" pitchFamily="34" charset="0"/>
              <a:buChar char="―"/>
            </a:pPr>
            <a:r>
              <a:rPr lang="zh-CN" altLang="en-US" sz="2000" dirty="0">
                <a:solidFill>
                  <a:srgbClr val="FF0000"/>
                </a:solidFill>
              </a:rPr>
              <a:t>但控制比单周期要复杂、困难，得不偿失。</a:t>
            </a:r>
            <a:endParaRPr lang="en-US" altLang="zh-CN" sz="2000" dirty="0">
              <a:solidFill>
                <a:srgbClr val="FF0000"/>
              </a:solidFill>
            </a:endParaRPr>
          </a:p>
          <a:p>
            <a:pPr marL="285750" indent="-285750">
              <a:buFont typeface="Arial" panose="020B0604020202020204" pitchFamily="34" charset="0"/>
              <a:buChar char="―"/>
            </a:pPr>
            <a:r>
              <a:rPr lang="zh-CN" altLang="en-US" sz="2000" dirty="0">
                <a:solidFill>
                  <a:srgbClr val="FF0000"/>
                </a:solidFill>
              </a:rPr>
              <a:t>改进方法：改变每种指令类型所用的时钟数，即采用多周期</a:t>
            </a:r>
            <a:r>
              <a:rPr lang="zh-CN" altLang="en-US" dirty="0">
                <a:solidFill>
                  <a:srgbClr val="FF0000"/>
                </a:solidFill>
              </a:rPr>
              <a:t>实现</a:t>
            </a:r>
            <a:endParaRPr lang="zh-CN" altLang="en-US" sz="2000" dirty="0">
              <a:solidFill>
                <a:srgbClr val="FF0000"/>
              </a:solidFill>
            </a:endParaRPr>
          </a:p>
        </p:txBody>
      </p:sp>
      <p:sp>
        <p:nvSpPr>
          <p:cNvPr id="6" name="标题 5"/>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left)">
                                      <p:cBhvr>
                                        <p:cTn id="25" dur="500"/>
                                        <p:tgtEl>
                                          <p:spTgt spid="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left)">
                                      <p:cBhvr>
                                        <p:cTn id="28" dur="500"/>
                                        <p:tgtEl>
                                          <p:spTgt spid="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left)">
                                      <p:cBhvr>
                                        <p:cTn id="34" dur="500"/>
                                        <p:tgtEl>
                                          <p:spTgt spid="3">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left)">
                                      <p:cBhvr>
                                        <p:cTn id="37" dur="500"/>
                                        <p:tgtEl>
                                          <p:spTgt spid="3">
                                            <p:txEl>
                                              <p:pRg st="10" end="1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left)">
                                      <p:cBhvr>
                                        <p:cTn id="40" dur="500"/>
                                        <p:tgtEl>
                                          <p:spTgt spid="3">
                                            <p:txEl>
                                              <p:pRg st="11" end="11"/>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left)">
                                      <p:cBhvr>
                                        <p:cTn id="43" dur="500"/>
                                        <p:tgtEl>
                                          <p:spTgt spid="3">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arn(inVertical)">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344" y="836713"/>
            <a:ext cx="12000656" cy="5295809"/>
          </a:xfrm>
        </p:spPr>
        <p:txBody>
          <a:bodyPr/>
          <a:lstStyle/>
          <a:p>
            <a:pPr>
              <a:lnSpc>
                <a:spcPct val="120000"/>
              </a:lnSpc>
              <a:spcAft>
                <a:spcPts val="0"/>
              </a:spcAft>
              <a:buFont typeface="Wingdings" panose="05000000000000000000" pitchFamily="2" charset="2"/>
              <a:buChar char="p"/>
            </a:pPr>
            <a:r>
              <a:rPr lang="zh-CN" altLang="en-US" sz="2400" dirty="0"/>
              <a:t>基本指令 </a:t>
            </a:r>
            <a:r>
              <a:rPr lang="en-US" altLang="zh-CN" sz="2400" dirty="0"/>
              <a:t>vs </a:t>
            </a:r>
            <a:r>
              <a:rPr lang="zh-CN" altLang="en-US" sz="2400" dirty="0"/>
              <a:t>伪（扩展）指令 </a:t>
            </a:r>
            <a:endParaRPr lang="en-US" altLang="zh-CN" sz="2400" dirty="0"/>
          </a:p>
          <a:p>
            <a:pPr marL="817880" lvl="1" indent="-342900">
              <a:lnSpc>
                <a:spcPct val="120000"/>
              </a:lnSpc>
              <a:spcAft>
                <a:spcPts val="0"/>
              </a:spcAft>
              <a:buFont typeface="Wingdings" panose="05000000000000000000" pitchFamily="2" charset="2"/>
              <a:buChar char="n"/>
            </a:pPr>
            <a:r>
              <a:rPr lang="zh-CN" altLang="en-US" sz="2400" dirty="0"/>
              <a:t>基本指令：</a:t>
            </a:r>
            <a:r>
              <a:rPr lang="en-US" altLang="zh-CN" sz="2400" dirty="0"/>
              <a:t>MIPS CPU</a:t>
            </a:r>
            <a:r>
              <a:rPr lang="zh-CN" altLang="en-US" sz="2400" dirty="0"/>
              <a:t>可以直接执行的指令</a:t>
            </a:r>
            <a:endParaRPr lang="en-US" altLang="zh-CN" sz="2400" dirty="0"/>
          </a:p>
          <a:p>
            <a:pPr marL="817880" lvl="1" indent="-342900">
              <a:lnSpc>
                <a:spcPct val="120000"/>
              </a:lnSpc>
              <a:spcAft>
                <a:spcPts val="0"/>
              </a:spcAft>
              <a:buFont typeface="Wingdings" panose="05000000000000000000" pitchFamily="2" charset="2"/>
              <a:buChar char="n"/>
            </a:pPr>
            <a:r>
              <a:rPr lang="zh-CN" altLang="en-US" sz="2400" dirty="0"/>
              <a:t>伪指令：在编译时需要编译成基本指令才能够被</a:t>
            </a:r>
            <a:r>
              <a:rPr lang="en-US" altLang="zh-CN" sz="2400" dirty="0"/>
              <a:t>CPU</a:t>
            </a:r>
            <a:r>
              <a:rPr lang="zh-CN" altLang="en-US" sz="2400" dirty="0"/>
              <a:t>执行，是为了方便编程和阅读</a:t>
            </a:r>
            <a:endParaRPr lang="en-US" altLang="zh-CN" sz="2400" dirty="0"/>
          </a:p>
          <a:p>
            <a:pPr marL="1200150" lvl="2" indent="-342900">
              <a:lnSpc>
                <a:spcPct val="120000"/>
              </a:lnSpc>
              <a:spcAft>
                <a:spcPts val="0"/>
              </a:spcAft>
              <a:buFont typeface="Wingdings" panose="05000000000000000000" pitchFamily="2" charset="2"/>
              <a:buChar char="n"/>
            </a:pPr>
            <a:r>
              <a:rPr lang="en-US" altLang="zh-CN" sz="2400" dirty="0"/>
              <a:t>move $t1, $t2:   	add $t1, $t2, $zero</a:t>
            </a:r>
          </a:p>
          <a:p>
            <a:pPr marL="1200150" lvl="2" indent="-342900">
              <a:lnSpc>
                <a:spcPct val="120000"/>
              </a:lnSpc>
              <a:spcAft>
                <a:spcPts val="0"/>
              </a:spcAft>
              <a:buFont typeface="Wingdings" panose="05000000000000000000" pitchFamily="2" charset="2"/>
              <a:buChar char="n"/>
            </a:pPr>
            <a:r>
              <a:rPr lang="en-US" altLang="zh-CN" sz="2400" dirty="0"/>
              <a:t>li $t1, imm32:   	</a:t>
            </a:r>
            <a:r>
              <a:rPr lang="en-US" altLang="zh-CN" sz="2400" dirty="0" err="1"/>
              <a:t>lui</a:t>
            </a:r>
            <a:r>
              <a:rPr lang="en-US" altLang="zh-CN" sz="2400" dirty="0"/>
              <a:t> $1, 0x1234       	</a:t>
            </a:r>
            <a:r>
              <a:rPr lang="en-US" altLang="zh-CN" sz="2400" dirty="0" err="1"/>
              <a:t>ori</a:t>
            </a:r>
            <a:r>
              <a:rPr lang="en-US" altLang="zh-CN" sz="2400" dirty="0"/>
              <a:t> $t1, $1, 0x5678 </a:t>
            </a:r>
          </a:p>
          <a:p>
            <a:pPr marL="1200150" lvl="2" indent="-342900">
              <a:lnSpc>
                <a:spcPct val="120000"/>
              </a:lnSpc>
              <a:spcAft>
                <a:spcPts val="0"/>
              </a:spcAft>
              <a:buFont typeface="Wingdings" panose="05000000000000000000" pitchFamily="2" charset="2"/>
              <a:buChar char="n"/>
            </a:pPr>
            <a:r>
              <a:rPr lang="en-US" altLang="zh-CN" sz="2400" dirty="0"/>
              <a:t>rem $t1, $t2, $t3: 	div $t2, $t3		</a:t>
            </a:r>
            <a:r>
              <a:rPr lang="en-US" altLang="zh-CN" sz="2400" dirty="0" err="1"/>
              <a:t>mfhi</a:t>
            </a:r>
            <a:r>
              <a:rPr lang="en-US" altLang="zh-CN" sz="2400" dirty="0"/>
              <a:t> $t1</a:t>
            </a:r>
          </a:p>
          <a:p>
            <a:pPr marL="1200150" lvl="2" indent="-342900">
              <a:lnSpc>
                <a:spcPct val="120000"/>
              </a:lnSpc>
              <a:spcAft>
                <a:spcPts val="0"/>
              </a:spcAft>
              <a:buFont typeface="Wingdings" panose="05000000000000000000" pitchFamily="2" charset="2"/>
              <a:buChar char="n"/>
            </a:pPr>
            <a:r>
              <a:rPr lang="en-US" altLang="zh-CN" sz="2400" dirty="0" err="1"/>
              <a:t>blt</a:t>
            </a:r>
            <a:r>
              <a:rPr lang="en-US" altLang="zh-CN" sz="2400" dirty="0"/>
              <a:t> $t1, $t2, label:	</a:t>
            </a:r>
            <a:r>
              <a:rPr lang="en-US" altLang="zh-CN" sz="2400" dirty="0" err="1"/>
              <a:t>slt</a:t>
            </a:r>
            <a:r>
              <a:rPr lang="en-US" altLang="zh-CN" sz="2400" dirty="0"/>
              <a:t> $1, $t1, $t2  	</a:t>
            </a:r>
            <a:r>
              <a:rPr lang="en-US" altLang="zh-CN" sz="2400" dirty="0" err="1"/>
              <a:t>bne</a:t>
            </a:r>
            <a:r>
              <a:rPr lang="en-US" altLang="zh-CN" sz="2400" dirty="0"/>
              <a:t> $1, $0, </a:t>
            </a:r>
            <a:r>
              <a:rPr lang="en-US" altLang="zh-CN" sz="2400" dirty="0">
                <a:solidFill>
                  <a:schemeClr val="accent1"/>
                </a:solidFill>
              </a:rPr>
              <a:t>0x???</a:t>
            </a:r>
            <a:r>
              <a:rPr lang="en-US" altLang="zh-CN" sz="2400" dirty="0"/>
              <a:t>	 </a:t>
            </a:r>
          </a:p>
          <a:p>
            <a:pPr marL="1200150" lvl="2" indent="-342900">
              <a:lnSpc>
                <a:spcPct val="120000"/>
              </a:lnSpc>
              <a:spcAft>
                <a:spcPts val="0"/>
              </a:spcAft>
              <a:buFont typeface="Wingdings" panose="05000000000000000000" pitchFamily="2" charset="2"/>
              <a:buChar char="n"/>
            </a:pPr>
            <a:r>
              <a:rPr lang="en-US" altLang="zh-CN" sz="2400" dirty="0"/>
              <a:t>la $t1, label: 	</a:t>
            </a:r>
            <a:r>
              <a:rPr lang="en-US" altLang="zh-CN" sz="2400" dirty="0" err="1"/>
              <a:t>addi</a:t>
            </a:r>
            <a:r>
              <a:rPr lang="en-US" altLang="zh-CN" sz="2400" dirty="0"/>
              <a:t> $t1, $0, </a:t>
            </a:r>
            <a:r>
              <a:rPr lang="en-US" altLang="zh-CN" sz="2400" dirty="0">
                <a:solidFill>
                  <a:schemeClr val="accent1"/>
                </a:solidFill>
              </a:rPr>
              <a:t>0x??? (</a:t>
            </a:r>
            <a:r>
              <a:rPr lang="zh-CN" altLang="en-US" sz="2400" dirty="0">
                <a:solidFill>
                  <a:schemeClr val="accent1"/>
                </a:solidFill>
              </a:rPr>
              <a:t>该地址编译是确定</a:t>
            </a:r>
            <a:r>
              <a:rPr lang="en-US" altLang="zh-CN" sz="2400" dirty="0">
                <a:solidFill>
                  <a:schemeClr val="accent1"/>
                </a:solidFill>
              </a:rPr>
              <a:t>)</a:t>
            </a:r>
          </a:p>
          <a:p>
            <a:pPr marL="1200150" lvl="2" indent="-342900">
              <a:lnSpc>
                <a:spcPct val="120000"/>
              </a:lnSpc>
              <a:spcAft>
                <a:spcPts val="0"/>
              </a:spcAft>
              <a:buFont typeface="Wingdings" panose="05000000000000000000" pitchFamily="2" charset="2"/>
              <a:buChar char="n"/>
            </a:pPr>
            <a:r>
              <a:rPr lang="en-US" altLang="zh-CN" sz="2400" dirty="0"/>
              <a:t>MARS Help</a:t>
            </a:r>
            <a:r>
              <a:rPr lang="zh-CN" altLang="en-US" sz="2400" dirty="0"/>
              <a:t>中有详细的说明</a:t>
            </a:r>
            <a:endParaRPr lang="en-US" altLang="zh-CN" sz="2400" dirty="0"/>
          </a:p>
          <a:p>
            <a:pPr marL="433705" indent="-342900">
              <a:lnSpc>
                <a:spcPct val="120000"/>
              </a:lnSpc>
              <a:spcAft>
                <a:spcPts val="0"/>
              </a:spcAft>
              <a:buFont typeface="Wingdings" panose="05000000000000000000" pitchFamily="2" charset="2"/>
              <a:buChar char="p"/>
            </a:pPr>
            <a:r>
              <a:rPr lang="zh-CN" altLang="en-US" sz="2400" dirty="0"/>
              <a:t>寄存器的特殊用途：</a:t>
            </a:r>
            <a:endParaRPr lang="en-US" altLang="zh-CN" sz="2400" dirty="0"/>
          </a:p>
          <a:p>
            <a:pPr marL="817880" lvl="1" indent="-342900">
              <a:lnSpc>
                <a:spcPct val="120000"/>
              </a:lnSpc>
              <a:spcAft>
                <a:spcPts val="0"/>
              </a:spcAft>
              <a:buFont typeface="Wingdings" panose="05000000000000000000" pitchFamily="2" charset="2"/>
              <a:buChar char="n"/>
            </a:pPr>
            <a:r>
              <a:rPr lang="en-US" altLang="zh-CN" sz="2400" dirty="0"/>
              <a:t>$</a:t>
            </a:r>
            <a:r>
              <a:rPr lang="en-US" altLang="zh-CN" sz="2400" dirty="0" err="1"/>
              <a:t>ra</a:t>
            </a:r>
            <a:r>
              <a:rPr lang="en-US" altLang="zh-CN" sz="2400" dirty="0"/>
              <a:t>, $a0, $v0, $</a:t>
            </a:r>
            <a:r>
              <a:rPr lang="en-US" altLang="zh-CN" sz="2400" dirty="0" err="1"/>
              <a:t>sp</a:t>
            </a:r>
            <a:r>
              <a:rPr lang="en-US" altLang="zh-CN" sz="2400" dirty="0"/>
              <a:t>, $s1, $t1, $at, $</a:t>
            </a:r>
            <a:r>
              <a:rPr lang="en-US" altLang="zh-CN" sz="2400" dirty="0" err="1"/>
              <a:t>fp</a:t>
            </a:r>
            <a:r>
              <a:rPr lang="en-US" altLang="zh-CN" sz="2400" dirty="0"/>
              <a:t>, $</a:t>
            </a:r>
            <a:r>
              <a:rPr lang="en-US" altLang="zh-CN" sz="2400" dirty="0" err="1"/>
              <a:t>gp</a:t>
            </a:r>
            <a:r>
              <a:rPr lang="en-US" altLang="zh-CN" sz="2400" dirty="0"/>
              <a:t>, </a:t>
            </a:r>
          </a:p>
          <a:p>
            <a:pPr marL="474980" lvl="1" indent="0">
              <a:lnSpc>
                <a:spcPct val="120000"/>
              </a:lnSpc>
              <a:spcAft>
                <a:spcPts val="0"/>
              </a:spcAft>
              <a:buNone/>
            </a:pPr>
            <a:endParaRPr lang="en-US" altLang="zh-CN" dirty="0"/>
          </a:p>
        </p:txBody>
      </p:sp>
      <p:sp>
        <p:nvSpPr>
          <p:cNvPr id="6" name="标题 5"/>
          <p:cNvSpPr>
            <a:spLocks noGrp="1"/>
          </p:cNvSpPr>
          <p:nvPr>
            <p:ph type="title"/>
          </p:nvPr>
        </p:nvSpPr>
        <p:spPr>
          <a:xfrm>
            <a:off x="0" y="240030"/>
            <a:ext cx="5804535" cy="478790"/>
          </a:xfrm>
        </p:spPr>
        <p:txBody>
          <a:bodyPr wrap="square"/>
          <a:lstStyle/>
          <a:p>
            <a:r>
              <a:rPr lang="zh-CN" altLang="en-US" sz="3200" dirty="0"/>
              <a:t>指令小结（</a:t>
            </a:r>
            <a:r>
              <a:rPr lang="en-US" altLang="zh-CN" sz="3200" dirty="0"/>
              <a:t>1</a:t>
            </a:r>
            <a:r>
              <a:rPr lang="zh-CN" altLang="en-US" sz="3200" dirty="0"/>
              <a:t>）</a:t>
            </a:r>
          </a:p>
        </p:txBody>
      </p:sp>
    </p:spTree>
    <p:extLst>
      <p:ext uri="{BB962C8B-B14F-4D97-AF65-F5344CB8AC3E}">
        <p14:creationId xmlns:p14="http://schemas.microsoft.com/office/powerpoint/2010/main" val="238934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left)">
                                      <p:cBhvr>
                                        <p:cTn id="25" dur="500"/>
                                        <p:tgtEl>
                                          <p:spTgt spid="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left)">
                                      <p:cBhvr>
                                        <p:cTn id="28" dur="500"/>
                                        <p:tgtEl>
                                          <p:spTgt spid="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left)">
                                      <p:cBhvr>
                                        <p:cTn id="36" dur="500"/>
                                        <p:tgtEl>
                                          <p:spTgt spid="3">
                                            <p:txEl>
                                              <p:pRg st="9" end="9"/>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wipe(left)">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836713"/>
            <a:ext cx="11377264" cy="4557145"/>
          </a:xfrm>
        </p:spPr>
        <p:txBody>
          <a:bodyPr/>
          <a:lstStyle/>
          <a:p>
            <a:pPr marL="90805" indent="0">
              <a:lnSpc>
                <a:spcPct val="120000"/>
              </a:lnSpc>
              <a:spcAft>
                <a:spcPts val="0"/>
              </a:spcAft>
              <a:buNone/>
            </a:pPr>
            <a:r>
              <a:rPr lang="fr-FR" altLang="zh-CN" dirty="0"/>
              <a:t>.text</a:t>
            </a:r>
          </a:p>
          <a:p>
            <a:pPr marL="90805" indent="0">
              <a:lnSpc>
                <a:spcPct val="120000"/>
              </a:lnSpc>
              <a:spcAft>
                <a:spcPts val="0"/>
              </a:spcAft>
              <a:buNone/>
            </a:pPr>
            <a:r>
              <a:rPr lang="fr-FR" altLang="zh-CN" dirty="0"/>
              <a:t>la $t0, array</a:t>
            </a:r>
          </a:p>
          <a:p>
            <a:pPr marL="90805" indent="0">
              <a:lnSpc>
                <a:spcPct val="120000"/>
              </a:lnSpc>
              <a:spcAft>
                <a:spcPts val="0"/>
              </a:spcAft>
              <a:buNone/>
            </a:pPr>
            <a:r>
              <a:rPr lang="fr-FR" altLang="zh-CN" dirty="0"/>
              <a:t>li $t1, 0x88442211</a:t>
            </a:r>
          </a:p>
          <a:p>
            <a:pPr marL="90805" indent="0">
              <a:lnSpc>
                <a:spcPct val="120000"/>
              </a:lnSpc>
              <a:spcAft>
                <a:spcPts val="0"/>
              </a:spcAft>
              <a:buNone/>
            </a:pPr>
            <a:r>
              <a:rPr lang="fr-FR" altLang="zh-CN" dirty="0"/>
              <a:t>sw $t1, 0($t0)</a:t>
            </a:r>
          </a:p>
          <a:p>
            <a:pPr marL="90805" indent="0">
              <a:lnSpc>
                <a:spcPct val="120000"/>
              </a:lnSpc>
              <a:spcAft>
                <a:spcPts val="0"/>
              </a:spcAft>
              <a:buNone/>
            </a:pPr>
            <a:r>
              <a:rPr lang="fr-FR" altLang="zh-CN" dirty="0"/>
              <a:t>lb $t2,3($t0)</a:t>
            </a:r>
          </a:p>
          <a:p>
            <a:pPr marL="90805" indent="0">
              <a:lnSpc>
                <a:spcPct val="120000"/>
              </a:lnSpc>
              <a:spcAft>
                <a:spcPts val="0"/>
              </a:spcAft>
              <a:buNone/>
            </a:pPr>
            <a:r>
              <a:rPr lang="fr-FR" altLang="zh-CN" dirty="0"/>
              <a:t>sh $t2, 0($t0)</a:t>
            </a:r>
          </a:p>
          <a:p>
            <a:pPr marL="90805" indent="0">
              <a:lnSpc>
                <a:spcPct val="120000"/>
              </a:lnSpc>
              <a:spcAft>
                <a:spcPts val="0"/>
              </a:spcAft>
              <a:buNone/>
            </a:pPr>
            <a:r>
              <a:rPr lang="fr-FR" altLang="zh-CN" dirty="0"/>
              <a:t>lw $t3, 0($t0)                          </a:t>
            </a:r>
            <a:r>
              <a:rPr lang="fr-FR" altLang="zh-CN" sz="2400" dirty="0">
                <a:solidFill>
                  <a:schemeClr val="accent1"/>
                </a:solidFill>
              </a:rPr>
              <a:t>$t3</a:t>
            </a:r>
            <a:r>
              <a:rPr lang="zh-CN" altLang="en-US" sz="2400" dirty="0">
                <a:solidFill>
                  <a:schemeClr val="accent1"/>
                </a:solidFill>
              </a:rPr>
              <a:t>寄存器中的值是多少？</a:t>
            </a:r>
            <a:endParaRPr lang="fr-FR" altLang="zh-CN" dirty="0">
              <a:solidFill>
                <a:schemeClr val="accent1"/>
              </a:solidFill>
            </a:endParaRPr>
          </a:p>
          <a:p>
            <a:pPr marL="90805" indent="0">
              <a:lnSpc>
                <a:spcPct val="120000"/>
              </a:lnSpc>
              <a:spcAft>
                <a:spcPts val="0"/>
              </a:spcAft>
              <a:buNone/>
            </a:pPr>
            <a:endParaRPr lang="fr-FR" altLang="zh-CN" dirty="0"/>
          </a:p>
          <a:p>
            <a:pPr marL="90805" indent="0">
              <a:lnSpc>
                <a:spcPct val="120000"/>
              </a:lnSpc>
              <a:spcAft>
                <a:spcPts val="0"/>
              </a:spcAft>
              <a:buNone/>
            </a:pPr>
            <a:r>
              <a:rPr lang="fr-FR" altLang="zh-CN" dirty="0"/>
              <a:t>.data </a:t>
            </a:r>
          </a:p>
          <a:p>
            <a:pPr marL="90805" indent="0">
              <a:lnSpc>
                <a:spcPct val="120000"/>
              </a:lnSpc>
              <a:spcAft>
                <a:spcPts val="0"/>
              </a:spcAft>
              <a:buNone/>
            </a:pPr>
            <a:r>
              <a:rPr lang="fr-FR" altLang="zh-CN" dirty="0"/>
              <a:t>.align 2 </a:t>
            </a:r>
          </a:p>
          <a:p>
            <a:pPr marL="90805" indent="0">
              <a:lnSpc>
                <a:spcPct val="120000"/>
              </a:lnSpc>
              <a:spcAft>
                <a:spcPts val="0"/>
              </a:spcAft>
              <a:buNone/>
            </a:pPr>
            <a:r>
              <a:rPr lang="fr-FR" altLang="zh-CN" dirty="0"/>
              <a:t>array: .word 0x1234 0x2345 0x3456</a:t>
            </a:r>
            <a:endParaRPr lang="en-US" altLang="zh-CN" dirty="0"/>
          </a:p>
        </p:txBody>
      </p:sp>
      <p:sp>
        <p:nvSpPr>
          <p:cNvPr id="6" name="标题 5"/>
          <p:cNvSpPr>
            <a:spLocks noGrp="1"/>
          </p:cNvSpPr>
          <p:nvPr>
            <p:ph type="title"/>
          </p:nvPr>
        </p:nvSpPr>
        <p:spPr>
          <a:xfrm>
            <a:off x="0" y="240030"/>
            <a:ext cx="5804535" cy="478790"/>
          </a:xfrm>
        </p:spPr>
        <p:txBody>
          <a:bodyPr wrap="square"/>
          <a:lstStyle/>
          <a:p>
            <a:r>
              <a:rPr lang="zh-CN" altLang="en-US" sz="3200" dirty="0"/>
              <a:t>指令小结（</a:t>
            </a:r>
            <a:r>
              <a:rPr lang="en-US" altLang="zh-CN" sz="3200" dirty="0"/>
              <a:t>2</a:t>
            </a:r>
            <a:r>
              <a:rPr lang="zh-CN" altLang="en-US" sz="3200" dirty="0"/>
              <a:t>）</a:t>
            </a:r>
          </a:p>
        </p:txBody>
      </p:sp>
      <p:sp>
        <p:nvSpPr>
          <p:cNvPr id="2" name="文本框 1"/>
          <p:cNvSpPr txBox="1"/>
          <p:nvPr/>
        </p:nvSpPr>
        <p:spPr>
          <a:xfrm>
            <a:off x="8268090" y="3284984"/>
            <a:ext cx="3888432" cy="510909"/>
          </a:xfrm>
          <a:prstGeom prst="rect">
            <a:avLst/>
          </a:prstGeom>
          <a:noFill/>
        </p:spPr>
        <p:txBody>
          <a:bodyPr wrap="square" rtlCol="0">
            <a:spAutoFit/>
          </a:bodyPr>
          <a:lstStyle/>
          <a:p>
            <a:pPr>
              <a:buNone/>
            </a:pPr>
            <a:r>
              <a:rPr lang="en-US" altLang="zh-CN" sz="3200" dirty="0">
                <a:latin typeface="Calibri" panose="020F0502020204030204" pitchFamily="34" charset="0"/>
              </a:rPr>
              <a:t>$t3=0x8844ff88</a:t>
            </a:r>
            <a:endParaRPr lang="zh-CN" altLang="en-US" dirty="0">
              <a:latin typeface="Calibri" panose="020F0502020204030204" pitchFamily="34" charset="0"/>
            </a:endParaRPr>
          </a:p>
        </p:txBody>
      </p:sp>
      <p:sp>
        <p:nvSpPr>
          <p:cNvPr id="5" name="文本框 4"/>
          <p:cNvSpPr txBox="1"/>
          <p:nvPr/>
        </p:nvSpPr>
        <p:spPr>
          <a:xfrm>
            <a:off x="6168008" y="5681931"/>
            <a:ext cx="5112568" cy="510909"/>
          </a:xfrm>
          <a:prstGeom prst="rect">
            <a:avLst/>
          </a:prstGeom>
          <a:noFill/>
        </p:spPr>
        <p:txBody>
          <a:bodyPr wrap="square" rtlCol="0">
            <a:spAutoFit/>
          </a:bodyPr>
          <a:lstStyle/>
          <a:p>
            <a:pPr>
              <a:buNone/>
            </a:pPr>
            <a:r>
              <a:rPr lang="zh-CN" altLang="en-US" sz="3200" dirty="0">
                <a:latin typeface="Calibri" panose="020F0502020204030204" pitchFamily="34" charset="0"/>
              </a:rPr>
              <a:t>如果</a:t>
            </a:r>
            <a:r>
              <a:rPr lang="en-US" altLang="zh-CN" sz="3200" dirty="0">
                <a:latin typeface="Calibri" panose="020F0502020204030204" pitchFamily="34" charset="0"/>
              </a:rPr>
              <a:t>$t1=0x12345678</a:t>
            </a:r>
            <a:r>
              <a:rPr lang="zh-CN" altLang="en-US" sz="3200" dirty="0">
                <a:latin typeface="Calibri" panose="020F0502020204030204" pitchFamily="34" charset="0"/>
              </a:rPr>
              <a:t>呢？</a:t>
            </a:r>
            <a:endParaRPr lang="zh-CN" altLang="en-US" dirty="0">
              <a:latin typeface="Calibri" panose="020F0502020204030204" pitchFamily="34" charset="0"/>
            </a:endParaRPr>
          </a:p>
        </p:txBody>
      </p:sp>
    </p:spTree>
    <p:extLst>
      <p:ext uri="{BB962C8B-B14F-4D97-AF65-F5344CB8AC3E}">
        <p14:creationId xmlns:p14="http://schemas.microsoft.com/office/powerpoint/2010/main" val="387324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9336" y="836713"/>
            <a:ext cx="5904656" cy="5328895"/>
          </a:xfrm>
        </p:spPr>
        <p:txBody>
          <a:bodyPr/>
          <a:lstStyle/>
          <a:p>
            <a:pPr marL="90805" indent="0">
              <a:lnSpc>
                <a:spcPct val="120000"/>
              </a:lnSpc>
              <a:spcAft>
                <a:spcPts val="0"/>
              </a:spcAft>
              <a:buNone/>
            </a:pPr>
            <a:r>
              <a:rPr lang="en-US" altLang="zh-CN" sz="2400" kern="1200" dirty="0">
                <a:latin typeface="Arial" panose="020B0604020202020204" pitchFamily="34" charset="0"/>
                <a:ea typeface="宋体" panose="02010600030101010101" pitchFamily="2" charset="-122"/>
              </a:rPr>
              <a:t>void </a:t>
            </a:r>
            <a:r>
              <a:rPr lang="en-US" altLang="zh-CN" sz="2400" kern="1200" dirty="0" err="1">
                <a:latin typeface="Arial" panose="020B0604020202020204" pitchFamily="34" charset="0"/>
                <a:ea typeface="宋体" panose="02010600030101010101" pitchFamily="2" charset="-122"/>
              </a:rPr>
              <a:t>double_loop</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j, temp;</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for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 0;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&lt;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- 1;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for (j = 0; j &lt;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- 1 -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j++</a:t>
            </a:r>
            <a:r>
              <a:rPr lang="en-US" altLang="zh-CN" sz="2400" kern="1200" dirty="0">
                <a:latin typeface="Arial" panose="020B0604020202020204" pitchFamily="34" charset="0"/>
                <a:ea typeface="宋体" panose="02010600030101010101" pitchFamily="2" charset="-122"/>
              </a:rPr>
              <a:t>)</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if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&gt;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temp =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 = temp;</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a:t>
            </a:r>
          </a:p>
        </p:txBody>
      </p:sp>
      <p:sp>
        <p:nvSpPr>
          <p:cNvPr id="6" name="标题 5"/>
          <p:cNvSpPr>
            <a:spLocks noGrp="1"/>
          </p:cNvSpPr>
          <p:nvPr>
            <p:ph type="title"/>
          </p:nvPr>
        </p:nvSpPr>
        <p:spPr>
          <a:xfrm>
            <a:off x="0" y="240030"/>
            <a:ext cx="5804535" cy="478790"/>
          </a:xfrm>
        </p:spPr>
        <p:txBody>
          <a:bodyPr wrap="square"/>
          <a:lstStyle/>
          <a:p>
            <a:r>
              <a:rPr lang="zh-CN" altLang="en-US" sz="3200" dirty="0"/>
              <a:t>指令小结（循环）</a:t>
            </a:r>
          </a:p>
        </p:txBody>
      </p:sp>
      <p:sp>
        <p:nvSpPr>
          <p:cNvPr id="4" name="文本框 3"/>
          <p:cNvSpPr txBox="1"/>
          <p:nvPr/>
        </p:nvSpPr>
        <p:spPr>
          <a:xfrm>
            <a:off x="6600056" y="21465"/>
            <a:ext cx="5688632" cy="6685163"/>
          </a:xfrm>
          <a:prstGeom prst="rect">
            <a:avLst/>
          </a:prstGeom>
          <a:solidFill>
            <a:schemeClr val="bg1"/>
          </a:solidFill>
        </p:spPr>
        <p:txBody>
          <a:bodyPr wrap="square" rtlCol="0">
            <a:spAutoFit/>
          </a:bodyPr>
          <a:lstStyle/>
          <a:p>
            <a:pPr>
              <a:lnSpc>
                <a:spcPct val="65000"/>
              </a:lnSpc>
              <a:buNone/>
            </a:pPr>
            <a:r>
              <a:rPr lang="en-US" altLang="zh-CN" dirty="0"/>
              <a:t>   li $t0, 0 #$t0=</a:t>
            </a:r>
            <a:r>
              <a:rPr lang="en-US" altLang="zh-CN" dirty="0" err="1"/>
              <a:t>i</a:t>
            </a:r>
            <a:r>
              <a:rPr lang="en-US" altLang="zh-CN" dirty="0"/>
              <a:t>, </a:t>
            </a:r>
            <a:r>
              <a:rPr lang="en-US" altLang="zh-CN" dirty="0" err="1"/>
              <a:t>i</a:t>
            </a:r>
            <a:r>
              <a:rPr lang="en-US" altLang="zh-CN" dirty="0"/>
              <a:t>=0</a:t>
            </a:r>
            <a:endParaRPr lang="zh-CN" altLang="zh-CN" dirty="0"/>
          </a:p>
          <a:p>
            <a:pPr>
              <a:lnSpc>
                <a:spcPct val="65000"/>
              </a:lnSpc>
              <a:buNone/>
            </a:pPr>
            <a:r>
              <a:rPr lang="en-US" altLang="zh-CN" dirty="0"/>
              <a:t>   li $s0, (len-1)</a:t>
            </a:r>
            <a:r>
              <a:rPr lang="en-US" altLang="zh-CN" dirty="0">
                <a:solidFill>
                  <a:srgbClr val="FF0000"/>
                </a:solidFill>
              </a:rPr>
              <a:t> </a:t>
            </a:r>
            <a:r>
              <a:rPr lang="en-US" altLang="zh-CN" dirty="0"/>
              <a:t># s0=</a:t>
            </a:r>
            <a:r>
              <a:rPr lang="zh-CN" altLang="zh-CN" dirty="0"/>
              <a:t>数组的元素个数</a:t>
            </a:r>
            <a:r>
              <a:rPr lang="en-US" altLang="zh-CN" dirty="0"/>
              <a:t>-1</a:t>
            </a:r>
            <a:endParaRPr lang="zh-CN" altLang="zh-CN" dirty="0"/>
          </a:p>
          <a:p>
            <a:pPr>
              <a:lnSpc>
                <a:spcPct val="65000"/>
              </a:lnSpc>
              <a:buNone/>
            </a:pPr>
            <a:r>
              <a:rPr lang="en-US" altLang="zh-CN" dirty="0" err="1"/>
              <a:t>for_i</a:t>
            </a:r>
            <a:r>
              <a:rPr lang="en-US" altLang="zh-CN" dirty="0"/>
              <a:t>:</a:t>
            </a:r>
            <a:endParaRPr lang="zh-CN" altLang="zh-CN" dirty="0"/>
          </a:p>
          <a:p>
            <a:pPr>
              <a:lnSpc>
                <a:spcPct val="65000"/>
              </a:lnSpc>
              <a:buNone/>
            </a:pPr>
            <a:r>
              <a:rPr lang="en-US" altLang="zh-CN" dirty="0"/>
              <a:t>   </a:t>
            </a:r>
            <a:r>
              <a:rPr lang="en-US" altLang="zh-CN" dirty="0" err="1"/>
              <a:t>beq</a:t>
            </a:r>
            <a:r>
              <a:rPr lang="en-US" altLang="zh-CN" dirty="0"/>
              <a:t> $t0, $s0,end_for_i #</a:t>
            </a:r>
            <a:r>
              <a:rPr lang="en-US" altLang="zh-CN" dirty="0" err="1"/>
              <a:t>bge</a:t>
            </a:r>
            <a:r>
              <a:rPr lang="en-US" altLang="zh-CN" dirty="0"/>
              <a:t>  is ok as well.</a:t>
            </a:r>
            <a:endParaRPr lang="zh-CN" altLang="zh-CN" dirty="0"/>
          </a:p>
          <a:p>
            <a:pPr>
              <a:lnSpc>
                <a:spcPct val="65000"/>
              </a:lnSpc>
              <a:buNone/>
            </a:pPr>
            <a:r>
              <a:rPr lang="en-US" altLang="zh-CN" dirty="0"/>
              <a:t>   li $t1, 0    #j=0</a:t>
            </a:r>
            <a:endParaRPr lang="zh-CN" altLang="zh-CN" dirty="0"/>
          </a:p>
          <a:p>
            <a:pPr>
              <a:lnSpc>
                <a:spcPct val="65000"/>
              </a:lnSpc>
              <a:buNone/>
            </a:pPr>
            <a:r>
              <a:rPr lang="en-US" altLang="zh-CN" dirty="0"/>
              <a:t>   sub $s1, $s0, $t0 #$s1=</a:t>
            </a:r>
            <a:r>
              <a:rPr lang="en-US" altLang="zh-CN" dirty="0" err="1"/>
              <a:t>len</a:t>
            </a:r>
            <a:r>
              <a:rPr lang="en-US" altLang="zh-CN" dirty="0"/>
              <a:t> – </a:t>
            </a:r>
            <a:r>
              <a:rPr lang="en-US" altLang="zh-CN" dirty="0" err="1"/>
              <a:t>i</a:t>
            </a:r>
            <a:r>
              <a:rPr lang="en-US" altLang="zh-CN" dirty="0"/>
              <a:t> - 1</a:t>
            </a:r>
          </a:p>
          <a:p>
            <a:pPr>
              <a:lnSpc>
                <a:spcPct val="65000"/>
              </a:lnSpc>
              <a:buNone/>
            </a:pPr>
            <a:r>
              <a:rPr lang="en-US" altLang="zh-CN" dirty="0" err="1"/>
              <a:t>for_j</a:t>
            </a:r>
            <a:r>
              <a:rPr lang="en-US" altLang="zh-CN" dirty="0"/>
              <a:t>:</a:t>
            </a:r>
            <a:endParaRPr lang="zh-CN" altLang="zh-CN" dirty="0"/>
          </a:p>
          <a:p>
            <a:pPr>
              <a:lnSpc>
                <a:spcPct val="65000"/>
              </a:lnSpc>
              <a:buNone/>
            </a:pPr>
            <a:r>
              <a:rPr lang="en-US" altLang="zh-CN" dirty="0"/>
              <a:t>   </a:t>
            </a:r>
            <a:r>
              <a:rPr lang="en-US" altLang="zh-CN" dirty="0" err="1"/>
              <a:t>beq</a:t>
            </a:r>
            <a:r>
              <a:rPr lang="en-US" altLang="zh-CN" dirty="0"/>
              <a:t> $t1, $s1, </a:t>
            </a:r>
            <a:r>
              <a:rPr lang="en-US" altLang="zh-CN" dirty="0" err="1"/>
              <a:t>end_for_j</a:t>
            </a:r>
            <a:r>
              <a:rPr lang="en-US" altLang="zh-CN" dirty="0"/>
              <a:t>  #</a:t>
            </a:r>
            <a:r>
              <a:rPr lang="en-US" altLang="zh-CN" dirty="0" err="1"/>
              <a:t>bge</a:t>
            </a:r>
            <a:r>
              <a:rPr lang="en-US" altLang="zh-CN" dirty="0"/>
              <a:t>  is ok as well.</a:t>
            </a:r>
            <a:endParaRPr lang="zh-CN" altLang="zh-CN" dirty="0"/>
          </a:p>
          <a:p>
            <a:pPr>
              <a:lnSpc>
                <a:spcPct val="65000"/>
              </a:lnSpc>
              <a:buNone/>
            </a:pPr>
            <a:r>
              <a:rPr lang="en-US" altLang="zh-CN" dirty="0"/>
              <a:t>   </a:t>
            </a:r>
            <a:r>
              <a:rPr lang="en-US" altLang="zh-CN" dirty="0" err="1"/>
              <a:t>addi</a:t>
            </a:r>
            <a:r>
              <a:rPr lang="en-US" altLang="zh-CN" dirty="0"/>
              <a:t> $t2, $t1, 1 #$t2=j+1</a:t>
            </a:r>
            <a:endParaRPr lang="zh-CN" altLang="zh-CN" dirty="0"/>
          </a:p>
          <a:p>
            <a:pPr>
              <a:lnSpc>
                <a:spcPct val="65000"/>
              </a:lnSpc>
              <a:buNone/>
            </a:pPr>
            <a:r>
              <a:rPr lang="en-US" altLang="zh-CN" dirty="0"/>
              <a:t>   </a:t>
            </a:r>
            <a:r>
              <a:rPr lang="en-US" altLang="zh-CN" dirty="0" err="1"/>
              <a:t>sll</a:t>
            </a:r>
            <a:r>
              <a:rPr lang="en-US" altLang="zh-CN" dirty="0"/>
              <a:t> $t3, $t1, 2 #$t3</a:t>
            </a:r>
            <a:r>
              <a:rPr lang="zh-CN" altLang="en-US" dirty="0"/>
              <a:t>为</a:t>
            </a:r>
            <a:r>
              <a:rPr lang="en-US" altLang="zh-CN" dirty="0" err="1"/>
              <a:t>arr</a:t>
            </a:r>
            <a:r>
              <a:rPr lang="en-US" altLang="zh-CN" dirty="0"/>
              <a:t>[j]</a:t>
            </a:r>
            <a:r>
              <a:rPr lang="zh-CN" altLang="en-US" dirty="0"/>
              <a:t>的地址</a:t>
            </a:r>
            <a:endParaRPr lang="zh-CN" altLang="zh-CN" dirty="0"/>
          </a:p>
          <a:p>
            <a:pPr>
              <a:lnSpc>
                <a:spcPct val="65000"/>
              </a:lnSpc>
              <a:buNone/>
            </a:pPr>
            <a:r>
              <a:rPr lang="en-US" altLang="zh-CN" dirty="0"/>
              <a:t>   </a:t>
            </a:r>
            <a:r>
              <a:rPr lang="en-US" altLang="zh-CN" dirty="0" err="1"/>
              <a:t>sll</a:t>
            </a:r>
            <a:r>
              <a:rPr lang="en-US" altLang="zh-CN" dirty="0"/>
              <a:t> $t4, $t2, 2 #$t4</a:t>
            </a:r>
            <a:r>
              <a:rPr lang="zh-CN" altLang="en-US" dirty="0"/>
              <a:t>为</a:t>
            </a:r>
            <a:r>
              <a:rPr lang="en-US" altLang="zh-CN" dirty="0" err="1"/>
              <a:t>arr</a:t>
            </a:r>
            <a:r>
              <a:rPr lang="en-US" altLang="zh-CN" dirty="0"/>
              <a:t>[j+1]</a:t>
            </a:r>
            <a:r>
              <a:rPr lang="zh-CN" altLang="en-US" dirty="0"/>
              <a:t>的地址</a:t>
            </a:r>
            <a:endParaRPr lang="zh-CN" altLang="zh-CN" dirty="0"/>
          </a:p>
          <a:p>
            <a:pPr>
              <a:lnSpc>
                <a:spcPct val="65000"/>
              </a:lnSpc>
              <a:buNone/>
            </a:pPr>
            <a:r>
              <a:rPr lang="en-US" altLang="zh-CN" dirty="0">
                <a:solidFill>
                  <a:schemeClr val="accent1"/>
                </a:solidFill>
              </a:rPr>
              <a:t>   </a:t>
            </a:r>
            <a:r>
              <a:rPr lang="en-US" altLang="zh-CN" dirty="0" err="1">
                <a:solidFill>
                  <a:schemeClr val="accent1"/>
                </a:solidFill>
              </a:rPr>
              <a:t>lw</a:t>
            </a:r>
            <a:r>
              <a:rPr lang="en-US" altLang="zh-CN" dirty="0">
                <a:solidFill>
                  <a:schemeClr val="accent1"/>
                </a:solidFill>
              </a:rPr>
              <a:t> $t5, </a:t>
            </a:r>
            <a:r>
              <a:rPr lang="en-US" altLang="zh-CN" dirty="0" err="1">
                <a:solidFill>
                  <a:schemeClr val="accent1"/>
                </a:solidFill>
              </a:rPr>
              <a:t>arr</a:t>
            </a:r>
            <a:r>
              <a:rPr lang="en-US" altLang="zh-CN" dirty="0">
                <a:solidFill>
                  <a:schemeClr val="accent1"/>
                </a:solidFill>
              </a:rPr>
              <a:t>($t3) #$t5=</a:t>
            </a:r>
            <a:r>
              <a:rPr lang="en-US" altLang="zh-CN" dirty="0" err="1">
                <a:solidFill>
                  <a:schemeClr val="accent1"/>
                </a:solidFill>
              </a:rPr>
              <a:t>arr</a:t>
            </a:r>
            <a:r>
              <a:rPr lang="en-US" altLang="zh-CN" dirty="0">
                <a:solidFill>
                  <a:schemeClr val="accent1"/>
                </a:solidFill>
              </a:rPr>
              <a:t>[j]</a:t>
            </a:r>
            <a:endParaRPr lang="zh-CN" altLang="zh-CN" dirty="0">
              <a:solidFill>
                <a:schemeClr val="accent1"/>
              </a:solidFill>
            </a:endParaRPr>
          </a:p>
          <a:p>
            <a:pPr>
              <a:lnSpc>
                <a:spcPct val="65000"/>
              </a:lnSpc>
              <a:buNone/>
            </a:pPr>
            <a:r>
              <a:rPr lang="en-US" altLang="zh-CN" dirty="0">
                <a:solidFill>
                  <a:schemeClr val="accent1"/>
                </a:solidFill>
              </a:rPr>
              <a:t>   </a:t>
            </a:r>
            <a:r>
              <a:rPr lang="en-US" altLang="zh-CN" dirty="0" err="1">
                <a:solidFill>
                  <a:schemeClr val="accent1"/>
                </a:solidFill>
              </a:rPr>
              <a:t>lw</a:t>
            </a:r>
            <a:r>
              <a:rPr lang="en-US" altLang="zh-CN" dirty="0">
                <a:solidFill>
                  <a:schemeClr val="accent1"/>
                </a:solidFill>
              </a:rPr>
              <a:t> $t6, </a:t>
            </a:r>
            <a:r>
              <a:rPr lang="en-US" altLang="zh-CN" dirty="0" err="1">
                <a:solidFill>
                  <a:schemeClr val="accent1"/>
                </a:solidFill>
              </a:rPr>
              <a:t>arr</a:t>
            </a:r>
            <a:r>
              <a:rPr lang="en-US" altLang="zh-CN" dirty="0">
                <a:solidFill>
                  <a:schemeClr val="accent1"/>
                </a:solidFill>
              </a:rPr>
              <a:t>($t4) #$t6=</a:t>
            </a:r>
            <a:r>
              <a:rPr lang="en-US" altLang="zh-CN" dirty="0" err="1">
                <a:solidFill>
                  <a:schemeClr val="accent1"/>
                </a:solidFill>
              </a:rPr>
              <a:t>arr</a:t>
            </a:r>
            <a:r>
              <a:rPr lang="en-US" altLang="zh-CN" dirty="0">
                <a:solidFill>
                  <a:schemeClr val="accent1"/>
                </a:solidFill>
              </a:rPr>
              <a:t>[j+1]</a:t>
            </a:r>
            <a:endParaRPr lang="zh-CN" altLang="zh-CN" dirty="0">
              <a:solidFill>
                <a:schemeClr val="accent1"/>
              </a:solidFill>
            </a:endParaRPr>
          </a:p>
          <a:p>
            <a:pPr>
              <a:lnSpc>
                <a:spcPct val="65000"/>
              </a:lnSpc>
              <a:buNone/>
            </a:pPr>
            <a:r>
              <a:rPr lang="en-US" altLang="zh-CN" dirty="0"/>
              <a:t>   </a:t>
            </a:r>
            <a:r>
              <a:rPr lang="en-US" altLang="zh-CN" dirty="0" err="1"/>
              <a:t>ble</a:t>
            </a:r>
            <a:r>
              <a:rPr lang="en-US" altLang="zh-CN" dirty="0"/>
              <a:t> $t5, $t6, </a:t>
            </a:r>
            <a:r>
              <a:rPr lang="en-US" altLang="zh-CN" dirty="0" err="1"/>
              <a:t>end_j</a:t>
            </a:r>
            <a:r>
              <a:rPr lang="en-US" altLang="zh-CN" dirty="0"/>
              <a:t>  #if </a:t>
            </a:r>
            <a:r>
              <a:rPr lang="en-US" altLang="zh-CN" dirty="0" err="1"/>
              <a:t>arr</a:t>
            </a:r>
            <a:r>
              <a:rPr lang="en-US" altLang="zh-CN" dirty="0"/>
              <a:t>[j] &lt;= </a:t>
            </a:r>
            <a:r>
              <a:rPr lang="en-US" altLang="zh-CN" dirty="0" err="1"/>
              <a:t>arr</a:t>
            </a:r>
            <a:r>
              <a:rPr lang="en-US" altLang="zh-CN" dirty="0"/>
              <a:t>[j+1], </a:t>
            </a:r>
            <a:r>
              <a:rPr lang="zh-CN" altLang="en-US" dirty="0"/>
              <a:t>跳过</a:t>
            </a:r>
            <a:r>
              <a:rPr lang="en-US" altLang="zh-CN" dirty="0"/>
              <a:t>swap</a:t>
            </a:r>
            <a:endParaRPr lang="zh-CN" altLang="zh-CN" dirty="0"/>
          </a:p>
          <a:p>
            <a:pPr>
              <a:lnSpc>
                <a:spcPct val="65000"/>
              </a:lnSpc>
              <a:buNone/>
            </a:pPr>
            <a:r>
              <a:rPr lang="en-US" altLang="zh-CN" dirty="0">
                <a:solidFill>
                  <a:schemeClr val="accent2"/>
                </a:solidFill>
              </a:rPr>
              <a:t>   </a:t>
            </a:r>
            <a:r>
              <a:rPr lang="en-US" altLang="zh-CN" dirty="0" err="1">
                <a:solidFill>
                  <a:schemeClr val="accent2"/>
                </a:solidFill>
              </a:rPr>
              <a:t>sw</a:t>
            </a:r>
            <a:r>
              <a:rPr lang="en-US" altLang="zh-CN" dirty="0">
                <a:solidFill>
                  <a:schemeClr val="accent2"/>
                </a:solidFill>
              </a:rPr>
              <a:t> $t5, </a:t>
            </a:r>
            <a:r>
              <a:rPr lang="en-US" altLang="zh-CN" dirty="0" err="1">
                <a:solidFill>
                  <a:schemeClr val="accent2"/>
                </a:solidFill>
              </a:rPr>
              <a:t>arr</a:t>
            </a:r>
            <a:r>
              <a:rPr lang="en-US" altLang="zh-CN" dirty="0">
                <a:solidFill>
                  <a:schemeClr val="accent2"/>
                </a:solidFill>
              </a:rPr>
              <a:t>($t4) #swap $t5 and $t6</a:t>
            </a:r>
            <a:endParaRPr lang="zh-CN" altLang="zh-CN" dirty="0">
              <a:solidFill>
                <a:schemeClr val="accent2"/>
              </a:solidFill>
            </a:endParaRPr>
          </a:p>
          <a:p>
            <a:pPr>
              <a:lnSpc>
                <a:spcPct val="65000"/>
              </a:lnSpc>
              <a:buNone/>
            </a:pPr>
            <a:r>
              <a:rPr lang="en-US" altLang="zh-CN" dirty="0">
                <a:solidFill>
                  <a:schemeClr val="accent2"/>
                </a:solidFill>
              </a:rPr>
              <a:t>   </a:t>
            </a:r>
            <a:r>
              <a:rPr lang="en-US" altLang="zh-CN" dirty="0" err="1">
                <a:solidFill>
                  <a:schemeClr val="accent2"/>
                </a:solidFill>
              </a:rPr>
              <a:t>sw</a:t>
            </a:r>
            <a:r>
              <a:rPr lang="en-US" altLang="zh-CN" dirty="0">
                <a:solidFill>
                  <a:schemeClr val="accent2"/>
                </a:solidFill>
              </a:rPr>
              <a:t> $t6, </a:t>
            </a:r>
            <a:r>
              <a:rPr lang="en-US" altLang="zh-CN" dirty="0" err="1">
                <a:solidFill>
                  <a:schemeClr val="accent2"/>
                </a:solidFill>
              </a:rPr>
              <a:t>arr</a:t>
            </a:r>
            <a:r>
              <a:rPr lang="en-US" altLang="zh-CN" dirty="0">
                <a:solidFill>
                  <a:schemeClr val="accent2"/>
                </a:solidFill>
              </a:rPr>
              <a:t>($t3)</a:t>
            </a:r>
            <a:endParaRPr lang="zh-CN" altLang="zh-CN" dirty="0">
              <a:solidFill>
                <a:schemeClr val="accent2"/>
              </a:solidFill>
            </a:endParaRPr>
          </a:p>
          <a:p>
            <a:pPr>
              <a:lnSpc>
                <a:spcPct val="65000"/>
              </a:lnSpc>
              <a:buNone/>
            </a:pPr>
            <a:r>
              <a:rPr lang="en-US" altLang="zh-CN" dirty="0" err="1"/>
              <a:t>end_j</a:t>
            </a:r>
            <a:r>
              <a:rPr lang="en-US" altLang="zh-CN" dirty="0"/>
              <a:t>:</a:t>
            </a:r>
            <a:endParaRPr lang="zh-CN" altLang="zh-CN" dirty="0"/>
          </a:p>
          <a:p>
            <a:pPr>
              <a:lnSpc>
                <a:spcPct val="65000"/>
              </a:lnSpc>
              <a:buNone/>
            </a:pPr>
            <a:r>
              <a:rPr lang="en-US" altLang="zh-CN" dirty="0"/>
              <a:t>   </a:t>
            </a:r>
            <a:r>
              <a:rPr lang="en-US" altLang="zh-CN" dirty="0" err="1"/>
              <a:t>addi</a:t>
            </a:r>
            <a:r>
              <a:rPr lang="en-US" altLang="zh-CN" dirty="0"/>
              <a:t> $t1, $t1, 1 #</a:t>
            </a:r>
            <a:r>
              <a:rPr lang="en-US" altLang="zh-CN" dirty="0" err="1"/>
              <a:t>j++</a:t>
            </a:r>
            <a:endParaRPr lang="zh-CN" altLang="zh-CN" dirty="0"/>
          </a:p>
          <a:p>
            <a:pPr>
              <a:lnSpc>
                <a:spcPct val="65000"/>
              </a:lnSpc>
              <a:buNone/>
            </a:pPr>
            <a:r>
              <a:rPr lang="en-US" altLang="zh-CN" dirty="0"/>
              <a:t>   j </a:t>
            </a:r>
            <a:r>
              <a:rPr lang="en-US" altLang="zh-CN" dirty="0" err="1"/>
              <a:t>for_j</a:t>
            </a:r>
            <a:endParaRPr lang="zh-CN" altLang="zh-CN" dirty="0"/>
          </a:p>
          <a:p>
            <a:pPr>
              <a:lnSpc>
                <a:spcPct val="65000"/>
              </a:lnSpc>
              <a:buNone/>
            </a:pPr>
            <a:r>
              <a:rPr lang="en-US" altLang="zh-CN" dirty="0" err="1"/>
              <a:t>end_for_j</a:t>
            </a:r>
            <a:r>
              <a:rPr lang="en-US" altLang="zh-CN" dirty="0"/>
              <a:t>:</a:t>
            </a:r>
            <a:endParaRPr lang="zh-CN" altLang="zh-CN" dirty="0"/>
          </a:p>
          <a:p>
            <a:pPr>
              <a:lnSpc>
                <a:spcPct val="65000"/>
              </a:lnSpc>
              <a:buNone/>
            </a:pPr>
            <a:r>
              <a:rPr lang="en-US" altLang="zh-CN" dirty="0"/>
              <a:t>   </a:t>
            </a:r>
            <a:r>
              <a:rPr lang="en-US" altLang="zh-CN" dirty="0" err="1"/>
              <a:t>addi</a:t>
            </a:r>
            <a:r>
              <a:rPr lang="en-US" altLang="zh-CN" dirty="0"/>
              <a:t> $t0, $t0, 1 #</a:t>
            </a:r>
            <a:r>
              <a:rPr lang="en-US" altLang="zh-CN" dirty="0" err="1"/>
              <a:t>i</a:t>
            </a:r>
            <a:r>
              <a:rPr lang="en-US" altLang="zh-CN" dirty="0"/>
              <a:t>++</a:t>
            </a:r>
            <a:endParaRPr lang="zh-CN" altLang="zh-CN" dirty="0"/>
          </a:p>
          <a:p>
            <a:pPr>
              <a:lnSpc>
                <a:spcPct val="65000"/>
              </a:lnSpc>
              <a:buNone/>
            </a:pPr>
            <a:r>
              <a:rPr lang="en-US" altLang="zh-CN" dirty="0"/>
              <a:t>   j </a:t>
            </a:r>
            <a:r>
              <a:rPr lang="en-US" altLang="zh-CN" dirty="0" err="1"/>
              <a:t>for_i</a:t>
            </a:r>
            <a:endParaRPr lang="zh-CN" altLang="zh-CN" dirty="0"/>
          </a:p>
          <a:p>
            <a:pPr>
              <a:lnSpc>
                <a:spcPct val="65000"/>
              </a:lnSpc>
              <a:buNone/>
              <a:tabLst>
                <a:tab pos="4483100" algn="l"/>
              </a:tabLst>
            </a:pPr>
            <a:r>
              <a:rPr lang="en-US" altLang="zh-CN" dirty="0" err="1"/>
              <a:t>end_for_i</a:t>
            </a:r>
            <a:r>
              <a:rPr lang="en-US" altLang="zh-CN" dirty="0"/>
              <a:t>:   li $v0, 4</a:t>
            </a:r>
            <a:endParaRPr lang="zh-CN" altLang="en-US" dirty="0">
              <a:latin typeface="Calibri" panose="020F0502020204030204" pitchFamily="34" charset="0"/>
            </a:endParaRPr>
          </a:p>
        </p:txBody>
      </p:sp>
    </p:spTree>
    <p:extLst>
      <p:ext uri="{BB962C8B-B14F-4D97-AF65-F5344CB8AC3E}">
        <p14:creationId xmlns:p14="http://schemas.microsoft.com/office/powerpoint/2010/main" val="39869725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3|0.8|103.9|115.3"/>
</p:tagLst>
</file>

<file path=ppt/tags/tag2.xml><?xml version="1.0" encoding="utf-8"?>
<p:tagLst xmlns:a="http://schemas.openxmlformats.org/drawingml/2006/main" xmlns:r="http://schemas.openxmlformats.org/officeDocument/2006/relationships" xmlns:p="http://schemas.openxmlformats.org/presentationml/2006/main">
  <p:tag name="TIMING" val="|0.3|0.8|103.9|115.3"/>
</p:tagLst>
</file>

<file path=ppt/tags/tag3.xml><?xml version="1.0" encoding="utf-8"?>
<p:tagLst xmlns:a="http://schemas.openxmlformats.org/drawingml/2006/main" xmlns:r="http://schemas.openxmlformats.org/officeDocument/2006/relationships" xmlns:p="http://schemas.openxmlformats.org/presentationml/2006/main">
  <p:tag name="TIMING" val="|0.3|0.8|103.9|115.3"/>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8c81c9e0-dd2e-4afa-b9ee-63d5e8f65ca4}"/>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6F5BD"/>
        </a:solidFill>
        <a:ln w="12700">
          <a:solidFill>
            <a:schemeClr val="tx1"/>
          </a:solidFill>
          <a:miter lim="800000"/>
        </a:ln>
      </a:spPr>
      <a:bodyPr lIns="90487" tIns="44450" rIns="90487" bIns="44450">
        <a:spAutoFit/>
      </a:bodyPr>
      <a:lstStyle>
        <a:defPPr>
          <a:lnSpc>
            <a:spcPct val="100000"/>
          </a:lnSpc>
          <a:buNone/>
          <a:tabLst>
            <a:tab pos="292100" algn="l"/>
          </a:tabLst>
          <a:defRPr dirty="0">
            <a:latin typeface="Courier New" panose="02070309020205020404" pitchFamily="49"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accent1"/>
            </a:solidFill>
            <a:effectLst/>
            <a:latin typeface="Arial" panose="020B0604020202020204" pitchFamily="34" charset="0"/>
          </a:defRPr>
        </a:defPPr>
      </a:lstStyle>
    </a:lnDef>
    <a:txDef>
      <a:spPr>
        <a:noFill/>
      </a:spPr>
      <a:bodyPr wrap="square" rtlCol="0">
        <a:spAutoFit/>
      </a:bodyPr>
      <a:lstStyle>
        <a:defPPr>
          <a:buNone/>
          <a:defRPr dirty="0">
            <a:latin typeface="Calibri" panose="020F0502020204030204" pitchFamily="34" charset="0"/>
          </a:defRPr>
        </a:defPPr>
      </a:lstStyle>
    </a:tx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5758</TotalTime>
  <Pages>47</Pages>
  <Words>6310</Words>
  <Application>Microsoft Macintosh PowerPoint</Application>
  <PresentationFormat>宽屏</PresentationFormat>
  <Paragraphs>1202</Paragraphs>
  <Slides>65</Slides>
  <Notes>29</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65</vt:i4>
      </vt:variant>
    </vt:vector>
  </HeadingPairs>
  <TitlesOfParts>
    <vt:vector size="79" baseType="lpstr">
      <vt:lpstr>黑体</vt:lpstr>
      <vt:lpstr>华文楷体</vt:lpstr>
      <vt:lpstr>楷体_GB2312</vt:lpstr>
      <vt:lpstr>微软雅黑</vt:lpstr>
      <vt:lpstr>Arial Unicode MS</vt:lpstr>
      <vt:lpstr>Arial</vt:lpstr>
      <vt:lpstr>Arial Narrow</vt:lpstr>
      <vt:lpstr>Calibri</vt:lpstr>
      <vt:lpstr>Courier New</vt:lpstr>
      <vt:lpstr>Times New Roman</vt:lpstr>
      <vt:lpstr>Wingdings</vt:lpstr>
      <vt:lpstr>CS152-SP98</vt:lpstr>
      <vt:lpstr>1_CS152-SP98</vt:lpstr>
      <vt:lpstr>Visio</vt:lpstr>
      <vt:lpstr>计算机硬件基础 （2020级）</vt:lpstr>
      <vt:lpstr>PowerPoint 演示文稿</vt:lpstr>
      <vt:lpstr>PowerPoint 演示文稿</vt:lpstr>
      <vt:lpstr>ISA架构</vt:lpstr>
      <vt:lpstr>1.1  CPU的功能与组成</vt:lpstr>
      <vt:lpstr>1.1  CPU的功能与组成</vt:lpstr>
      <vt:lpstr>1.1  CPU的功能与组成</vt:lpstr>
      <vt:lpstr>1.1  CPU的功能与组成</vt:lpstr>
      <vt:lpstr>1.1  CPU的功能与组成</vt:lpstr>
      <vt:lpstr>1.1  CPU的功能与组成</vt:lpstr>
      <vt:lpstr>1.1  CPU的功能与组成</vt:lpstr>
      <vt:lpstr>1.2 处理器设计的一般方法</vt:lpstr>
      <vt:lpstr>PowerPoint 演示文稿</vt:lpstr>
      <vt:lpstr>2.1 MIPS模型机指令集</vt:lpstr>
      <vt:lpstr>2.1 MIPS模型机指令集</vt:lpstr>
      <vt:lpstr>2.1 MIPS模型机指令集</vt:lpstr>
      <vt:lpstr>2.1 MIPS模型机指令集</vt:lpstr>
      <vt:lpstr>2.1 MIPS模型机指令集</vt:lpstr>
      <vt:lpstr>2.1 MIPS模型机指令集</vt:lpstr>
      <vt:lpstr>2.2 数据通路部件</vt:lpstr>
      <vt:lpstr>2.2 数据通路部件</vt:lpstr>
      <vt:lpstr>2.2 数据通路部件</vt:lpstr>
      <vt:lpstr>2.2 数据通路部件</vt:lpstr>
      <vt:lpstr>2.2 数据通路部件</vt:lpstr>
      <vt:lpstr>2.3 时钟同步方法</vt:lpstr>
      <vt:lpstr>PowerPoint 演示文稿</vt:lpstr>
      <vt:lpstr>3.1 单周期数据通路设计</vt:lpstr>
      <vt:lpstr>PowerPoint 演示文稿</vt:lpstr>
      <vt:lpstr>PowerPoint 演示文稿</vt:lpstr>
      <vt:lpstr>3.1  单周期数据通路设计——取指与PC自增</vt:lpstr>
      <vt:lpstr>3.1  单周期数据通路设计——取指与PC自增</vt:lpstr>
      <vt:lpstr>3.1  单周期数据通路设计——R型指令数据通路</vt:lpstr>
      <vt:lpstr>3.1  单周期数据通路设计——R型指令数据通路</vt:lpstr>
      <vt:lpstr>3.1  单周期数据通路设计——LW指令数据通路</vt:lpstr>
      <vt:lpstr>3.1  单周期数据通路设计——LW指令数据通路</vt:lpstr>
      <vt:lpstr>3.1  单周期数据通路设计——SW指令数据通路</vt:lpstr>
      <vt:lpstr>3.1  单周期数据通路设计——SW指令数据通路</vt:lpstr>
      <vt:lpstr>3.1  单周期数据通路设计——R型指令与访存指令通路合并</vt:lpstr>
      <vt:lpstr>3.1  单周期数据通路设计——R型指令与访存指令通路合并</vt:lpstr>
      <vt:lpstr>3.1  MIPS的数据通路设计——Beq指令数据通路</vt:lpstr>
      <vt:lpstr>3.1  MIPS的数据通路设计——Beq指令数据通路</vt:lpstr>
      <vt:lpstr>3.1  单周期数据通路设计</vt:lpstr>
      <vt:lpstr>3.1  单周期数据通路设计</vt:lpstr>
      <vt:lpstr>PowerPoint 演示文稿</vt:lpstr>
      <vt:lpstr>3.2  单周期控制器设计</vt:lpstr>
      <vt:lpstr>PowerPoint 演示文稿</vt:lpstr>
      <vt:lpstr>3.2  单周期控制器设计——模型机数据通路（带控制单元）</vt:lpstr>
      <vt:lpstr>3.2  单周期控制器设计</vt:lpstr>
      <vt:lpstr>PowerPoint 演示文稿</vt:lpstr>
      <vt:lpstr>3.2  单周期控制器设计</vt:lpstr>
      <vt:lpstr>3.2  单周期控制器设计</vt:lpstr>
      <vt:lpstr>3.2  单周期控制器设计</vt:lpstr>
      <vt:lpstr>3.2  单周期控制器设计</vt:lpstr>
      <vt:lpstr>3.2  单周期控制器设计</vt:lpstr>
      <vt:lpstr>3.2  单周期控制器设计（包含跳转指令的数据通路）</vt:lpstr>
      <vt:lpstr>小结：数据通路设计的一般性方法</vt:lpstr>
      <vt:lpstr>PowerPoint 演示文稿</vt:lpstr>
      <vt:lpstr>3.3  单周期数据通路性能分析</vt:lpstr>
      <vt:lpstr>3.3  单周期数据通路性能分析</vt:lpstr>
      <vt:lpstr>3.3  单周期数据通路性能分析</vt:lpstr>
      <vt:lpstr>3.3  单周期数据通路性能分析</vt:lpstr>
      <vt:lpstr>3.3  单周期数据通路性能分析</vt:lpstr>
      <vt:lpstr>指令小结（1）</vt:lpstr>
      <vt:lpstr>指令小结（2）</vt:lpstr>
      <vt:lpstr>指令小结（循环）</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王 新元</cp:lastModifiedBy>
  <cp:revision>436</cp:revision>
  <cp:lastPrinted>2015-10-29T05:44:00Z</cp:lastPrinted>
  <dcterms:created xsi:type="dcterms:W3CDTF">1997-08-19T16:58:00Z</dcterms:created>
  <dcterms:modified xsi:type="dcterms:W3CDTF">2022-01-03T09:10:53Z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2052-11.1.0.9995</vt:lpwstr>
  </property>
</Properties>
</file>