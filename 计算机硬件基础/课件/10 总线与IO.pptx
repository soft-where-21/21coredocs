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38"/>
  </p:notesMasterIdLst>
  <p:handoutMasterIdLst>
    <p:handoutMasterId r:id="rId39"/>
  </p:handoutMasterIdLst>
  <p:sldIdLst>
    <p:sldId id="724" r:id="rId3"/>
    <p:sldId id="658" r:id="rId4"/>
    <p:sldId id="754" r:id="rId5"/>
    <p:sldId id="683" r:id="rId6"/>
    <p:sldId id="646" r:id="rId7"/>
    <p:sldId id="648" r:id="rId8"/>
    <p:sldId id="647" r:id="rId9"/>
    <p:sldId id="725" r:id="rId10"/>
    <p:sldId id="726" r:id="rId11"/>
    <p:sldId id="727" r:id="rId12"/>
    <p:sldId id="728" r:id="rId13"/>
    <p:sldId id="729" r:id="rId14"/>
    <p:sldId id="730" r:id="rId15"/>
    <p:sldId id="731" r:id="rId16"/>
    <p:sldId id="732" r:id="rId17"/>
    <p:sldId id="733" r:id="rId18"/>
    <p:sldId id="734" r:id="rId19"/>
    <p:sldId id="735" r:id="rId20"/>
    <p:sldId id="736" r:id="rId21"/>
    <p:sldId id="737" r:id="rId22"/>
    <p:sldId id="738" r:id="rId23"/>
    <p:sldId id="739" r:id="rId24"/>
    <p:sldId id="740" r:id="rId25"/>
    <p:sldId id="741" r:id="rId26"/>
    <p:sldId id="743" r:id="rId27"/>
    <p:sldId id="744" r:id="rId28"/>
    <p:sldId id="745" r:id="rId29"/>
    <p:sldId id="746" r:id="rId30"/>
    <p:sldId id="747" r:id="rId31"/>
    <p:sldId id="748" r:id="rId32"/>
    <p:sldId id="749" r:id="rId33"/>
    <p:sldId id="750" r:id="rId34"/>
    <p:sldId id="751" r:id="rId35"/>
    <p:sldId id="752" r:id="rId36"/>
    <p:sldId id="753" r:id="rId37"/>
  </p:sldIdLst>
  <p:sldSz cx="12192000" cy="6858000"/>
  <p:notesSz cx="6991350" cy="92821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accent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CA1"/>
    <a:srgbClr val="05AD01"/>
    <a:srgbClr val="07FB01"/>
    <a:srgbClr val="B2B2B2"/>
    <a:srgbClr val="AAA600"/>
    <a:srgbClr val="D5AD03"/>
    <a:srgbClr val="0408B2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080" autoAdjust="0"/>
  </p:normalViewPr>
  <p:slideViewPr>
    <p:cSldViewPr>
      <p:cViewPr varScale="1">
        <p:scale>
          <a:sx n="64" d="100"/>
          <a:sy n="64" d="100"/>
        </p:scale>
        <p:origin x="784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230" y="-96"/>
      </p:cViewPr>
      <p:guideLst>
        <p:guide orient="horz" pos="2923"/>
        <p:guide pos="220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678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0688" y="596900"/>
            <a:ext cx="6162675" cy="346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25463" y="4408488"/>
            <a:ext cx="6026150" cy="417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017" tIns="45201" rIns="92017" bIns="452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36441138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I/O%E6%8E%A5%E5%8F%A3&amp;tn=44039180_cpr&amp;fenlei=mv6quAkxTZn0IZRqIHckPjm4nH00T1YknHPWP1uBmWPbm1KBuHPW0ZwV5Hcvrjm3rH6sPfKWUMw85HfYnjn4nH6sgvPsT6KdThsqpZwYTjCEQLGCpyw9Uz4Bmy-bIi4WUvYETgN-TLwGUv3EPHmzrjfsPjc1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aidu.com/s?wd=%E5%93%8D%E5%BA%94%E6%97%B6%E9%97%B4&amp;tn=44039180_cpr&amp;fenlei=mv6quAkxTZn0IZRqIHckPjm4nH00T1YknHPWP1uBmWPbm1KBuHPW0ZwV5Hcvrjm3rH6sPfKWUMw85HfYnjn4nH6sgvPsT6KdThsqpZwYTjCEQLGCpyw9Uz4Bmy-bIi4WUvYETgN-TLwGUv3EPHmzrjfsPjc1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79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zh-CN" altLang="en-US" dirty="0" smtClean="0"/>
              <a:t>链式查询方式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链式查询方式的主要特点：总线授权信号</a:t>
            </a:r>
            <a:r>
              <a:rPr lang="en-US" altLang="zh-CN" dirty="0" smtClean="0"/>
              <a:t>BG</a:t>
            </a:r>
            <a:r>
              <a:rPr lang="zh-CN" altLang="en-US" dirty="0" smtClean="0"/>
              <a:t>串行地从一个</a:t>
            </a:r>
            <a:r>
              <a:rPr lang="en-US" altLang="zh-CN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I/O</a:t>
            </a:r>
            <a:r>
              <a:rPr lang="zh-CN" altLang="en-US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接口</a:t>
            </a:r>
            <a:r>
              <a:rPr lang="zh-CN" altLang="en-US" dirty="0" smtClean="0"/>
              <a:t>传送到下一个</a:t>
            </a:r>
            <a:r>
              <a:rPr lang="en-US" altLang="zh-CN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I/O</a:t>
            </a:r>
            <a:r>
              <a:rPr lang="zh-CN" altLang="en-US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接口</a:t>
            </a:r>
            <a:r>
              <a:rPr lang="zh-CN" altLang="en-US" dirty="0" smtClean="0"/>
              <a:t>。假如</a:t>
            </a:r>
            <a:r>
              <a:rPr lang="en-US" altLang="zh-CN" dirty="0" smtClean="0"/>
              <a:t>BG</a:t>
            </a:r>
            <a:r>
              <a:rPr lang="zh-CN" altLang="en-US" dirty="0" smtClean="0"/>
              <a:t>到达的接口无总线请求，则继续往下查询；假如</a:t>
            </a:r>
            <a:r>
              <a:rPr lang="en-US" altLang="zh-CN" dirty="0" smtClean="0"/>
              <a:t>BG</a:t>
            </a:r>
            <a:r>
              <a:rPr lang="zh-CN" altLang="en-US" dirty="0" smtClean="0"/>
              <a:t>到达的接口有总线请求，</a:t>
            </a:r>
            <a:r>
              <a:rPr lang="en-US" altLang="zh-CN" dirty="0" smtClean="0"/>
              <a:t>BG</a:t>
            </a:r>
            <a:r>
              <a:rPr lang="zh-CN" altLang="en-US" dirty="0" smtClean="0"/>
              <a:t>信号便不再往下查询，该</a:t>
            </a:r>
            <a:r>
              <a:rPr lang="en-US" altLang="zh-CN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I/O</a:t>
            </a:r>
            <a:r>
              <a:rPr lang="zh-CN" altLang="en-US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接口</a:t>
            </a:r>
            <a:r>
              <a:rPr lang="zh-CN" altLang="en-US" dirty="0" smtClean="0"/>
              <a:t>获得了总线控制权。离中央仲裁器最近的设备具有最高优先级，通过接口的优先级排队电路来实现。</a:t>
            </a:r>
            <a:br>
              <a:rPr lang="zh-CN" altLang="en-US" dirty="0" smtClean="0"/>
            </a:br>
            <a:r>
              <a:rPr lang="zh-CN" altLang="en-US" dirty="0" smtClean="0"/>
              <a:t>链式查询方式的优点</a:t>
            </a:r>
            <a:r>
              <a:rPr lang="en-US" altLang="zh-CN" dirty="0" smtClean="0"/>
              <a:t>: </a:t>
            </a:r>
            <a:r>
              <a:rPr lang="zh-CN" altLang="en-US" dirty="0" smtClean="0"/>
              <a:t>只用很少几根线就能按一定优先次序实现总线仲裁，很容易扩充设备。</a:t>
            </a:r>
            <a:br>
              <a:rPr lang="zh-CN" altLang="en-US" dirty="0" smtClean="0"/>
            </a:br>
            <a:r>
              <a:rPr lang="zh-CN" altLang="en-US" dirty="0" smtClean="0"/>
              <a:t>链式查询方式的缺点</a:t>
            </a:r>
            <a:r>
              <a:rPr lang="en-US" altLang="zh-CN" dirty="0" smtClean="0"/>
              <a:t>: </a:t>
            </a:r>
            <a:r>
              <a:rPr lang="zh-CN" altLang="en-US" dirty="0" smtClean="0"/>
              <a:t>对询问链的电路故障很敏感，如果第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个设备的接口中有关链的电路有故障，那么第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个以后的设备都不能进行工作。查询链的优先级是固定的，如果优先级高的设备出现频繁的请求时，优先级较低的设备可能长期不能使用总线。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smtClean="0"/>
              <a:t>(2)</a:t>
            </a:r>
            <a:r>
              <a:rPr lang="zh-CN" altLang="en-US" dirty="0" smtClean="0"/>
              <a:t>计数器定时查询方式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>总线上的任一设备要求使用总线时，通过</a:t>
            </a:r>
            <a:r>
              <a:rPr lang="en-US" altLang="zh-CN" dirty="0" smtClean="0"/>
              <a:t>BR</a:t>
            </a:r>
            <a:r>
              <a:rPr lang="zh-CN" altLang="en-US" dirty="0" smtClean="0"/>
              <a:t>线发出总线请求。中央仲裁器接到请求信号以后，在</a:t>
            </a:r>
            <a:r>
              <a:rPr lang="en-US" altLang="zh-CN" dirty="0" smtClean="0"/>
              <a:t>BS</a:t>
            </a:r>
            <a:r>
              <a:rPr lang="zh-CN" altLang="en-US" dirty="0" smtClean="0"/>
              <a:t>线为“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的情况下让计数器开始计数，计数值通过一组地址线发向各设备。每个设备接口都有一个设备地址判别电路，当地址线上的计数值与请求总线的设备地址相一致时，该设备 置“</a:t>
            </a:r>
            <a:r>
              <a:rPr lang="en-US" altLang="zh-CN" dirty="0" smtClean="0"/>
              <a:t>1”BS</a:t>
            </a:r>
            <a:r>
              <a:rPr lang="zh-CN" altLang="en-US" dirty="0" smtClean="0"/>
              <a:t>线，获得了总线使用权，此时中止计数查询。每次计数可以从“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开始，也可以从中止点开始。如果从“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开始，各设备的优先次序与链式查询法相同，优先级的顺序是固定的。如果从中止点开始，则每个设备使用总线的优先级相等。计数器的初值也可用程序来设置，这可以方便地改变优先次序，但这种灵活性是以增加线数为代价的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smtClean="0"/>
              <a:t>(3)</a:t>
            </a:r>
            <a:r>
              <a:rPr lang="zh-CN" altLang="en-US" dirty="0" smtClean="0"/>
              <a:t>独立请求方式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>每一个共享总线的设备均有一对总线请求线</a:t>
            </a:r>
            <a:r>
              <a:rPr lang="en-US" altLang="zh-CN" dirty="0" err="1" smtClean="0"/>
              <a:t>BRi</a:t>
            </a:r>
            <a:r>
              <a:rPr lang="zh-CN" altLang="en-US" dirty="0" smtClean="0"/>
              <a:t>和总线授权线</a:t>
            </a:r>
            <a:r>
              <a:rPr lang="en-US" altLang="zh-CN" dirty="0" err="1" smtClean="0"/>
              <a:t>BGi</a:t>
            </a:r>
            <a:r>
              <a:rPr lang="zh-CN" altLang="en-US" dirty="0" smtClean="0"/>
              <a:t>。当设备要求使用总线时，便发出该设备的请求信号。中央仲裁器中的排队电路决定首先响应哪个设备的请求，给设备以授权信号</a:t>
            </a:r>
            <a:r>
              <a:rPr lang="en-US" altLang="zh-CN" dirty="0" err="1" smtClean="0"/>
              <a:t>BGi</a:t>
            </a:r>
            <a:r>
              <a:rPr lang="zh-CN" altLang="en-US" dirty="0" smtClean="0"/>
              <a:t>。独立请求方式的优点：</a:t>
            </a:r>
            <a:r>
              <a:rPr lang="zh-CN" altLang="en-US" sz="11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4"/>
              </a:rPr>
              <a:t>响应时间</a:t>
            </a:r>
            <a:r>
              <a:rPr lang="zh-CN" altLang="en-US" dirty="0" smtClean="0"/>
              <a:t>快，确定优先响应的设备所花费的时间少，用不着一个设备接一个设备地查询。其次，对优先次序的控制相当灵活，可以预先固定也可以通过程序来改变优先次序；还可以用屏蔽</a:t>
            </a:r>
            <a:r>
              <a:rPr lang="en-US" altLang="zh-CN" dirty="0" smtClean="0"/>
              <a:t>(</a:t>
            </a:r>
            <a:r>
              <a:rPr lang="zh-CN" altLang="en-US" dirty="0" smtClean="0"/>
              <a:t>禁止</a:t>
            </a:r>
            <a:r>
              <a:rPr lang="en-US" altLang="zh-CN" dirty="0" smtClean="0"/>
              <a:t>)</a:t>
            </a:r>
            <a:r>
              <a:rPr lang="zh-CN" altLang="en-US" dirty="0" smtClean="0"/>
              <a:t>某个请求的办法，不响应来自无效设备的请求。</a:t>
            </a:r>
            <a:br>
              <a:rPr lang="zh-CN" altLang="en-US" dirty="0" smtClean="0"/>
            </a:br>
            <a:r>
              <a:rPr lang="en-US" altLang="zh-CN" dirty="0" smtClean="0"/>
              <a:t>2.</a:t>
            </a:r>
            <a:r>
              <a:rPr lang="zh-CN" altLang="en-US" dirty="0" smtClean="0"/>
              <a:t>分布式仲裁不需要中央仲裁器，每个潜在的主方功能模块都有自己的仲裁号和仲裁器。当它们有总线请求时，把它们唯一的仲裁号发送到共享的仲裁总线上，每个仲裁器将仲裁总线上得到的号与自己的号进行比较。如果仲裁总线上的号大，则它的总线请求不予响应，并撤消它的仲裁号。最后，获胜者的仲裁号保留在仲裁总线上。显然，分布式仲裁是以优先级仲裁策略为基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487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bus request</a:t>
            </a:r>
          </a:p>
          <a:p>
            <a:r>
              <a:rPr lang="en-US" altLang="zh-CN" dirty="0" smtClean="0"/>
              <a:t>BG: bus grant</a:t>
            </a:r>
          </a:p>
          <a:p>
            <a:r>
              <a:rPr lang="zh-CN" altLang="en-US" dirty="0" smtClean="0"/>
              <a:t>链式查询方式连线简单，易于扩充，对电路故障最敏感；计数器定时查询方式优 先级设置较灵活，对故障不敏感，连线及控制过程较复杂；独立请求方式速度最快，但硬件 器件用量大，连线多，成本较高。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89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链式查询方式连线简单，易于扩充，对电路故障最敏感；计数器定时查询方式优 先级设置较灵活，对故障不敏感，连线及控制过程较复杂；独立请求方式速度最快，但硬件 器件用量大，连线多，成本较高。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619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链式查询方式连线简单，易于扩充，对电路故障最敏感；计数器定时查询方式优 先级设置较灵活，对故障不敏感，连线及控制过程较复杂；独立请求方式速度最快，但硬件 器件用量大，连线多，成本较高。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1753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086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502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IOR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IO Request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839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84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 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软中断的处理非常像硬中断。然而，它们仅仅是由当前正在运行的进程所产生的。</a:t>
            </a:r>
          </a:p>
          <a:p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2. 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通常，软中断是一些对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的请求。这些请求会调用内核中可以调度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发生的程序。对于某些设备，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请求需要被立即处理，而磁盘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请求通常可以排队并且可以稍后处理。根据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模型的不同，进程或许会被挂起直到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完成，此时内核调度器就会选择另一个进程去运行。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可以在进程之间产生并且调度过程通常和磁盘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的方式是相同。</a:t>
            </a:r>
          </a:p>
          <a:p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3. 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软中断仅与内核相联系。而内核主要负责对需要运行的任何其他的进程进行调度。一些内核允许设备驱动的一些部分存在于用户空间，并且当需要的时候内核也会调度这个进程去运行。</a:t>
            </a:r>
          </a:p>
          <a:p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4. 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软中断并不会直接中断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CPU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。也只有当前正在运行的代码（或进程）才会产生软中断。这种中断是一种需要内核为正在运行的进程去做一些事情（通常为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I/O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）的请求。有一个特殊的软中断是</a:t>
            </a:r>
            <a:r>
              <a:rPr lang="en-US" altLang="zh-CN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Yield</a:t>
            </a:r>
            <a:r>
              <a:rPr lang="zh-CN" altLang="en-US" sz="11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调用，它的作用是请求内核调度器去查看是否有一些其他的进程可以运行。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4495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周期挪用是指利用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不访问存储器的那些周期来实现</a:t>
            </a:r>
            <a:r>
              <a:rPr lang="en-US" altLang="zh-CN" dirty="0" smtClean="0"/>
              <a:t>DMA</a:t>
            </a:r>
            <a:r>
              <a:rPr lang="zh-CN" altLang="en-US" dirty="0" smtClean="0"/>
              <a:t>操作，此时</a:t>
            </a:r>
            <a:r>
              <a:rPr lang="en-US" altLang="zh-CN" dirty="0" smtClean="0"/>
              <a:t>DMA</a:t>
            </a:r>
            <a:r>
              <a:rPr lang="zh-CN" altLang="en-US" dirty="0" smtClean="0"/>
              <a:t>可以使用总线而不用通知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也不会妨碍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的工作。周期挪用并不减慢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的操作，但可能需要复杂的时序电路，而且数据传送过程是不连续的和不规则的。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0179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9809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9" name="Rectangle 9"/>
          <p:cNvSpPr>
            <a:spLocks noChangeArrowheads="1"/>
          </p:cNvSpPr>
          <p:nvPr userDrawn="1"/>
        </p:nvSpPr>
        <p:spPr bwMode="auto">
          <a:xfrm>
            <a:off x="1" y="1"/>
            <a:ext cx="9935633" cy="549275"/>
          </a:xfrm>
          <a:prstGeom prst="rect">
            <a:avLst/>
          </a:prstGeom>
          <a:solidFill>
            <a:srgbClr val="C302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/>
            <a:endParaRPr lang="zh-CN" altLang="en-US" sz="3200" b="1">
              <a:solidFill>
                <a:schemeClr val="tx2"/>
              </a:solidFill>
              <a:ea typeface="宋体" pitchFamily="2" charset="-122"/>
            </a:endParaRPr>
          </a:p>
        </p:txBody>
      </p:sp>
      <p:sp>
        <p:nvSpPr>
          <p:cNvPr id="87050" name="Line 10"/>
          <p:cNvSpPr>
            <a:spLocks noChangeShapeType="1"/>
          </p:cNvSpPr>
          <p:nvPr userDrawn="1"/>
        </p:nvSpPr>
        <p:spPr bwMode="auto">
          <a:xfrm flipV="1">
            <a:off x="624417" y="2852738"/>
            <a:ext cx="10752667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 sz="2000"/>
          </a:p>
        </p:txBody>
      </p:sp>
      <p:sp>
        <p:nvSpPr>
          <p:cNvPr id="87051" name="Line 11"/>
          <p:cNvSpPr>
            <a:spLocks noChangeShapeType="1"/>
          </p:cNvSpPr>
          <p:nvPr userDrawn="1"/>
        </p:nvSpPr>
        <p:spPr bwMode="auto">
          <a:xfrm>
            <a:off x="9935633" y="0"/>
            <a:ext cx="0" cy="59499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 sz="2000"/>
          </a:p>
        </p:txBody>
      </p:sp>
      <p:grpSp>
        <p:nvGrpSpPr>
          <p:cNvPr id="87052" name="Group 12"/>
          <p:cNvGrpSpPr>
            <a:grpSpLocks/>
          </p:cNvGrpSpPr>
          <p:nvPr userDrawn="1"/>
        </p:nvGrpSpPr>
        <p:grpSpPr bwMode="auto">
          <a:xfrm>
            <a:off x="10128251" y="188913"/>
            <a:ext cx="1784349" cy="2189162"/>
            <a:chOff x="4704" y="1885"/>
            <a:chExt cx="843" cy="1379"/>
          </a:xfrm>
        </p:grpSpPr>
        <p:sp>
          <p:nvSpPr>
            <p:cNvPr id="87053" name="Oval 13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54" name="Oval 14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55" name="Oval 15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56" name="Oval 16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57" name="Oval 17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58" name="Oval 18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59" name="Oval 19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0" name="Oval 20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1" name="Oval 21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2" name="Oval 22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3" name="Oval 23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4" name="Oval 24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5" name="Oval 25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6" name="Oval 26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7" name="Oval 27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8" name="Oval 28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69" name="Oval 29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0" name="Oval 30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1" name="Oval 31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2" name="Oval 32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3" name="Oval 33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4" name="Oval 34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5" name="Oval 35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6" name="Oval 36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7" name="Oval 37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8" name="Oval 38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79" name="Oval 39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80" name="Oval 40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81" name="Oval 41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82" name="Oval 42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083" name="Oval 43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87084" name="Rectangle 44"/>
          <p:cNvSpPr>
            <a:spLocks noChangeArrowheads="1"/>
          </p:cNvSpPr>
          <p:nvPr userDrawn="1"/>
        </p:nvSpPr>
        <p:spPr bwMode="auto">
          <a:xfrm>
            <a:off x="6351" y="6742114"/>
            <a:ext cx="11465983" cy="71437"/>
          </a:xfrm>
          <a:prstGeom prst="rect">
            <a:avLst/>
          </a:prstGeom>
          <a:solidFill>
            <a:srgbClr val="E8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7085" name="Rectangle 45"/>
          <p:cNvSpPr>
            <a:spLocks noChangeArrowheads="1"/>
          </p:cNvSpPr>
          <p:nvPr userDrawn="1"/>
        </p:nvSpPr>
        <p:spPr bwMode="auto">
          <a:xfrm>
            <a:off x="14818" y="6811964"/>
            <a:ext cx="12187767" cy="73025"/>
          </a:xfrm>
          <a:prstGeom prst="rect">
            <a:avLst/>
          </a:prstGeom>
          <a:solidFill>
            <a:srgbClr val="C9561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7086" name="Rectangle 46"/>
          <p:cNvSpPr>
            <a:spLocks noChangeArrowheads="1"/>
          </p:cNvSpPr>
          <p:nvPr userDrawn="1"/>
        </p:nvSpPr>
        <p:spPr bwMode="auto">
          <a:xfrm>
            <a:off x="2117" y="6577013"/>
            <a:ext cx="11463867" cy="165100"/>
          </a:xfrm>
          <a:prstGeom prst="rect">
            <a:avLst/>
          </a:prstGeom>
          <a:solidFill>
            <a:srgbClr val="FCC24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pic>
        <p:nvPicPr>
          <p:cNvPr id="87087" name="Picture 47" descr="buaa_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6597650"/>
            <a:ext cx="1775884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125538"/>
            <a:ext cx="10464800" cy="17594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586827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4124771"/>
            <a:ext cx="10363200" cy="28212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125538"/>
            <a:ext cx="5130800" cy="18856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8856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37260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46580"/>
            <a:ext cx="5386917" cy="3282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16501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846580"/>
            <a:ext cx="5389033" cy="3282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16501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1116038"/>
            <a:ext cx="4011084" cy="3190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159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2128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5048276"/>
            <a:ext cx="7315200" cy="3190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20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2128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34695" y="1125538"/>
            <a:ext cx="3344505" cy="223035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608348" y="376238"/>
            <a:ext cx="770852" cy="29273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30849" y="376238"/>
            <a:ext cx="2728952" cy="29273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4" y="376238"/>
            <a:ext cx="7010400" cy="37260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7594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7594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0" y="3627545"/>
            <a:ext cx="12192000" cy="122564"/>
          </a:xfrm>
          <a:prstGeom prst="rect">
            <a:avLst/>
          </a:prstGeom>
          <a:solidFill>
            <a:srgbClr val="196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endParaRPr lang="zh-CN" altLang="en-US" sz="760">
              <a:solidFill>
                <a:srgbClr val="FFFFFF"/>
              </a:solidFill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0" y="1963271"/>
            <a:ext cx="12192000" cy="1532812"/>
          </a:xfrm>
          <a:prstGeom prst="rect">
            <a:avLst/>
          </a:prstGeom>
          <a:gradFill>
            <a:gsLst>
              <a:gs pos="0">
                <a:srgbClr val="2085E1"/>
              </a:gs>
              <a:gs pos="100000">
                <a:srgbClr val="1967A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endParaRPr lang="zh-CN" altLang="en-US" sz="760">
              <a:solidFill>
                <a:srgbClr val="FFFFFF"/>
              </a:solidFill>
            </a:endParaRPr>
          </a:p>
        </p:txBody>
      </p:sp>
      <p:sp>
        <p:nvSpPr>
          <p:cNvPr id="44" name="Subtitle 2"/>
          <p:cNvSpPr>
            <a:spLocks noGrp="1"/>
          </p:cNvSpPr>
          <p:nvPr>
            <p:ph type="subTitle" idx="1"/>
          </p:nvPr>
        </p:nvSpPr>
        <p:spPr>
          <a:xfrm>
            <a:off x="1524000" y="3750114"/>
            <a:ext cx="9144000" cy="100440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US" sz="2025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6" name="Title 1"/>
          <p:cNvSpPr>
            <a:spLocks noGrp="1"/>
          </p:cNvSpPr>
          <p:nvPr>
            <p:ph type="ctrTitle"/>
          </p:nvPr>
        </p:nvSpPr>
        <p:spPr>
          <a:xfrm>
            <a:off x="914400" y="1963271"/>
            <a:ext cx="10363200" cy="150194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ctr" defTabSz="5143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1" i="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3" y="564342"/>
            <a:ext cx="5567281" cy="632410"/>
          </a:xfrm>
          <a:prstGeom prst="rect">
            <a:avLst/>
          </a:prstGeom>
        </p:spPr>
      </p:pic>
      <p:pic>
        <p:nvPicPr>
          <p:cNvPr id="9" name="Picture 2" descr="E:\Work buaa\Other\北航\软件学院图标.jp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492335"/>
            <a:ext cx="3312368" cy="67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735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4" y="188645"/>
            <a:ext cx="7010400" cy="232051"/>
          </a:xfrm>
        </p:spPr>
        <p:txBody>
          <a:bodyPr/>
          <a:lstStyle>
            <a:lvl1pPr>
              <a:defRPr i="0" baseline="0">
                <a:latin typeface="Arial Unicode MS" panose="020B0604020202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764709"/>
            <a:ext cx="10464800" cy="1241815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123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spcBef>
                <a:spcPts val="0"/>
              </a:spcBef>
              <a:defRPr sz="1125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spcBef>
                <a:spcPts val="0"/>
              </a:spcBef>
              <a:defRPr sz="1013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spcBef>
                <a:spcPts val="0"/>
              </a:spcBef>
              <a:defRPr sz="1013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3241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125538"/>
            <a:ext cx="5130800" cy="1204432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204432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74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42"/>
            <a:ext cx="10972800" cy="232051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63894"/>
            <a:ext cx="5386917" cy="31098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05464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863894"/>
            <a:ext cx="5389033" cy="31098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6"/>
            <a:ext cx="5389033" cy="105464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258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543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584" y="260652"/>
            <a:ext cx="7010400" cy="23205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4189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4189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106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60652"/>
            <a:ext cx="7010400" cy="23205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4189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8400" y="1125539"/>
            <a:ext cx="5130800" cy="14189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8400" y="2290764"/>
            <a:ext cx="5130800" cy="14189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895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186913"/>
            <a:ext cx="9144000" cy="232051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23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0"/>
            <a:ext cx="9840384" cy="260350"/>
          </a:xfrm>
          <a:prstGeom prst="rect">
            <a:avLst/>
          </a:prstGeom>
          <a:solidFill>
            <a:srgbClr val="C302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/>
            <a:endParaRPr lang="zh-CN" altLang="en-US" sz="2400">
              <a:solidFill>
                <a:schemeClr val="tx2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376238"/>
            <a:ext cx="7010400" cy="37260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标题</a:t>
            </a:r>
          </a:p>
        </p:txBody>
      </p:sp>
      <p:sp>
        <p:nvSpPr>
          <p:cNvPr id="1037" name="Line 13"/>
          <p:cNvSpPr>
            <a:spLocks noChangeShapeType="1"/>
          </p:cNvSpPr>
          <p:nvPr userDrawn="1"/>
        </p:nvSpPr>
        <p:spPr bwMode="auto">
          <a:xfrm flipV="1">
            <a:off x="814917" y="808038"/>
            <a:ext cx="10752667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 sz="2000"/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125538"/>
            <a:ext cx="10464800" cy="22303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This is our 1st Level Bullet</a:t>
            </a:r>
          </a:p>
          <a:p>
            <a:pPr lvl="1"/>
            <a:r>
              <a:rPr lang="en-US" altLang="zh-CN" smtClean="0"/>
              <a:t>This is our 2nd level bullet</a:t>
            </a:r>
          </a:p>
          <a:p>
            <a:pPr lvl="2"/>
            <a:r>
              <a:rPr lang="en-US" altLang="zh-CN" smtClean="0"/>
              <a:t>This is our 3rd level bullet</a:t>
            </a:r>
          </a:p>
          <a:p>
            <a:pPr lvl="0"/>
            <a:r>
              <a:rPr lang="en-US" altLang="zh-CN" smtClean="0"/>
              <a:t>This is our next 1st Level Bullet</a:t>
            </a:r>
          </a:p>
          <a:p>
            <a:pPr lvl="1"/>
            <a:r>
              <a:rPr lang="en-US" altLang="zh-CN" smtClean="0"/>
              <a:t>This is our 2nd level bullet</a:t>
            </a:r>
          </a:p>
          <a:p>
            <a:pPr lvl="2"/>
            <a:r>
              <a:rPr lang="en-US" altLang="zh-CN" smtClean="0"/>
              <a:t>This is our 3rd level bullet</a:t>
            </a:r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6351" y="6742114"/>
            <a:ext cx="11465983" cy="71437"/>
          </a:xfrm>
          <a:prstGeom prst="rect">
            <a:avLst/>
          </a:prstGeom>
          <a:solidFill>
            <a:srgbClr val="E8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14818" y="6811964"/>
            <a:ext cx="12187767" cy="73025"/>
          </a:xfrm>
          <a:prstGeom prst="rect">
            <a:avLst/>
          </a:prstGeom>
          <a:solidFill>
            <a:srgbClr val="C9561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41" name="Rectangle 17"/>
          <p:cNvSpPr>
            <a:spLocks noChangeArrowheads="1"/>
          </p:cNvSpPr>
          <p:nvPr userDrawn="1"/>
        </p:nvSpPr>
        <p:spPr bwMode="auto">
          <a:xfrm>
            <a:off x="2117" y="6577013"/>
            <a:ext cx="11463867" cy="165100"/>
          </a:xfrm>
          <a:prstGeom prst="rect">
            <a:avLst/>
          </a:prstGeom>
          <a:solidFill>
            <a:srgbClr val="FCC24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42" name="Text Box 18"/>
          <p:cNvSpPr txBox="1">
            <a:spLocks noChangeArrowheads="1"/>
          </p:cNvSpPr>
          <p:nvPr userDrawn="1"/>
        </p:nvSpPr>
        <p:spPr bwMode="auto">
          <a:xfrm>
            <a:off x="11377084" y="6524625"/>
            <a:ext cx="768349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024CBFD5-9974-45DE-8EF4-0B055329CF73}" type="slidenum">
              <a:rPr lang="zh-CN" altLang="en-US" sz="1400">
                <a:solidFill>
                  <a:srgbClr val="000099"/>
                </a:solidFill>
                <a:ea typeface="宋体" pitchFamily="2" charset="-122"/>
              </a:rPr>
              <a:pPr>
                <a:spcBef>
                  <a:spcPct val="50000"/>
                </a:spcBef>
              </a:pPr>
              <a:t>‹#›</a:t>
            </a:fld>
            <a:endParaRPr lang="en-US" altLang="zh-CN" sz="1400">
              <a:solidFill>
                <a:srgbClr val="000099"/>
              </a:solidFill>
              <a:ea typeface="宋体" pitchFamily="2" charset="-122"/>
            </a:endParaRPr>
          </a:p>
        </p:txBody>
      </p:sp>
      <p:pic>
        <p:nvPicPr>
          <p:cNvPr id="1043" name="Picture 19" descr="buaa_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6597650"/>
            <a:ext cx="1775884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2" r:id="rId12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84163" indent="-284163" algn="l" rtl="0" eaLnBrk="0" fontAlgn="base" hangingPunct="0">
        <a:lnSpc>
          <a:spcPct val="75000"/>
        </a:lnSpc>
        <a:spcBef>
          <a:spcPct val="65000"/>
        </a:spcBef>
        <a:spcAft>
          <a:spcPct val="0"/>
        </a:spcAft>
        <a:buClr>
          <a:srgbClr val="FF0000"/>
        </a:buClr>
        <a:buSzPct val="100000"/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68338" indent="-193675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rgbClr val="001ADC"/>
        </a:buClr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2pPr>
      <a:lvl3pPr marL="1050925" indent="-192088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rgbClr val="05AD01"/>
        </a:buClr>
        <a:buSzPct val="100000"/>
        <a:buFont typeface="Wingdings" pitchFamily="2" charset="2"/>
        <a:buChar char="§"/>
        <a:defRPr b="1">
          <a:solidFill>
            <a:schemeClr val="tx1"/>
          </a:solidFill>
          <a:latin typeface="+mn-lt"/>
        </a:defRPr>
      </a:lvl3pPr>
      <a:lvl4pPr marL="1968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5019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9591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4163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8735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330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0"/>
          <a:stretch/>
        </p:blipFill>
        <p:spPr>
          <a:xfrm>
            <a:off x="0" y="0"/>
            <a:ext cx="12192000" cy="692696"/>
          </a:xfrm>
          <a:prstGeom prst="rect">
            <a:avLst/>
          </a:prstGeom>
        </p:spPr>
      </p:pic>
      <p:sp>
        <p:nvSpPr>
          <p:cNvPr id="3686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188645"/>
            <a:ext cx="7010400" cy="232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标题</a:t>
            </a:r>
          </a:p>
        </p:txBody>
      </p:sp>
      <p:sp>
        <p:nvSpPr>
          <p:cNvPr id="36869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08720"/>
            <a:ext cx="10464800" cy="1955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dirty="0"/>
              <a:t>This is our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  <a:p>
            <a:pPr lvl="0"/>
            <a:r>
              <a:rPr lang="en-US" altLang="zh-CN" dirty="0"/>
              <a:t>This is our next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1280577" y="6553201"/>
            <a:ext cx="864096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fld id="{8E6141A4-B4DF-417A-BE19-BD33A1D78EA3}" type="slidenum">
              <a:rPr lang="zh-CN" altLang="en-US" sz="675">
                <a:solidFill>
                  <a:srgbClr val="000099"/>
                </a:solidFill>
                <a:latin typeface="Arial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pPr eaLnBrk="1" hangingPunct="1">
                <a:spcBef>
                  <a:spcPct val="50000"/>
                </a:spcBef>
              </a:pPr>
              <a:t>‹#›</a:t>
            </a:fld>
            <a:endParaRPr lang="en-US" altLang="zh-CN" sz="675" dirty="0">
              <a:solidFill>
                <a:srgbClr val="000099"/>
              </a:solidFill>
              <a:latin typeface="Arial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9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txStyles>
    <p:titleStyle>
      <a:lvl1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0">
          <a:solidFill>
            <a:srgbClr val="FF0000"/>
          </a:solidFill>
          <a:latin typeface="+mj-lt"/>
          <a:ea typeface="+mj-ea"/>
          <a:cs typeface="楷体_GB2312"/>
        </a:defRPr>
      </a:lvl1pPr>
      <a:lvl2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2pPr>
      <a:lvl3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3pPr>
      <a:lvl4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4pPr>
      <a:lvl5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5pPr>
      <a:lvl6pPr marL="257175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6pPr>
      <a:lvl7pPr marL="51435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7pPr>
      <a:lvl8pPr marL="771525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8pPr>
      <a:lvl9pPr marL="10287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35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159842" indent="-159842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FF0000"/>
        </a:buClr>
        <a:buSzPct val="100000"/>
        <a:buFont typeface="Wingdings" pitchFamily="2" charset="2"/>
        <a:buChar char="v"/>
        <a:defRPr sz="1350" b="1">
          <a:solidFill>
            <a:schemeClr val="tx1"/>
          </a:solidFill>
          <a:latin typeface="+mn-lt"/>
          <a:ea typeface="+mn-ea"/>
          <a:cs typeface="+mn-cs"/>
        </a:defRPr>
      </a:lvl1pPr>
      <a:lvl2pPr marL="375941" indent="-108942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01ADC"/>
        </a:buClr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2pPr>
      <a:lvl3pPr marL="591146" indent="-108050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5AD01"/>
        </a:buClr>
        <a:buSzPct val="100000"/>
        <a:buFont typeface="Wingdings" pitchFamily="2" charset="2"/>
        <a:buChar char="§"/>
        <a:defRPr b="1">
          <a:solidFill>
            <a:schemeClr val="tx1"/>
          </a:solidFill>
          <a:latin typeface="+mn-lt"/>
        </a:defRPr>
      </a:lvl3pPr>
      <a:lvl4pPr marL="1107281" indent="-192881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chemeClr val="tx1"/>
          </a:solidFill>
          <a:latin typeface="Times New Roman" pitchFamily="18" charset="0"/>
        </a:defRPr>
      </a:lvl4pPr>
      <a:lvl5pPr marL="1407319" indent="-192881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Times New Roman" pitchFamily="18" charset="0"/>
        </a:defRPr>
      </a:lvl5pPr>
      <a:lvl6pPr marL="1664494" indent="-192881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Times New Roman" pitchFamily="18" charset="0"/>
        </a:defRPr>
      </a:lvl6pPr>
      <a:lvl7pPr marL="1921669" indent="-192881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Times New Roman" pitchFamily="18" charset="0"/>
        </a:defRPr>
      </a:lvl7pPr>
      <a:lvl8pPr marL="2178844" indent="-192881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Times New Roman" pitchFamily="18" charset="0"/>
        </a:defRPr>
      </a:lvl8pPr>
      <a:lvl9pPr marL="2436019" indent="-192881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计算机硬件基础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级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4151784" y="3744436"/>
            <a:ext cx="4050450" cy="73366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35719" tIns="54675" rIns="35719" bIns="54675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sz="2700" baseline="30000" dirty="0">
                <a:solidFill>
                  <a:srgbClr val="000066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牛建伟  王丽华  邓莹莹  李辉勇  李莹</a:t>
            </a:r>
            <a:endParaRPr lang="en-US" altLang="zh-CN" b="0" dirty="0">
              <a:solidFill>
                <a:srgbClr val="000066"/>
              </a:solidFill>
              <a:ea typeface="华文楷体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45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836" name="Group 4"/>
          <p:cNvGrpSpPr>
            <a:grpSpLocks/>
          </p:cNvGrpSpPr>
          <p:nvPr/>
        </p:nvGrpSpPr>
        <p:grpSpPr bwMode="auto">
          <a:xfrm>
            <a:off x="3729038" y="1809750"/>
            <a:ext cx="5327650" cy="4275139"/>
            <a:chOff x="1225" y="1131"/>
            <a:chExt cx="3356" cy="2693"/>
          </a:xfrm>
        </p:grpSpPr>
        <p:sp>
          <p:nvSpPr>
            <p:cNvPr id="504838" name="Rectangle 6"/>
            <p:cNvSpPr>
              <a:spLocks noChangeArrowheads="1"/>
            </p:cNvSpPr>
            <p:nvPr/>
          </p:nvSpPr>
          <p:spPr bwMode="auto">
            <a:xfrm>
              <a:off x="1225" y="1131"/>
              <a:ext cx="33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87000"/>
                </a:lnSpc>
              </a:pPr>
              <a:r>
                <a:rPr lang="zh-CN" altLang="en-US" sz="2800" b="1" dirty="0" smtClean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第十部分  总线与</a:t>
              </a:r>
              <a:r>
                <a:rPr lang="en-US" altLang="zh-CN" sz="2800" b="1" dirty="0" smtClean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I/O</a:t>
              </a:r>
              <a:endParaRPr lang="en-US" altLang="zh-CN" sz="2800" b="1" dirty="0">
                <a:solidFill>
                  <a:srgbClr val="001AD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4839" name="Rectangle 7"/>
            <p:cNvSpPr>
              <a:spLocks noChangeArrowheads="1"/>
            </p:cNvSpPr>
            <p:nvPr/>
          </p:nvSpPr>
          <p:spPr bwMode="auto">
            <a:xfrm>
              <a:off x="1354" y="1526"/>
              <a:ext cx="3054" cy="2298"/>
            </a:xfrm>
            <a:prstGeom prst="rect">
              <a:avLst/>
            </a:prstGeom>
            <a:noFill/>
            <a:ln w="28575">
              <a:solidFill>
                <a:srgbClr val="05AD01"/>
              </a:solidFill>
              <a:miter lim="800000"/>
              <a:headEnd/>
              <a:tailEnd/>
            </a:ln>
            <a:effectLst/>
          </p:spPr>
          <p:txBody>
            <a:bodyPr lIns="63500" tIns="133200" rIns="63500" bIns="133200">
              <a:spAutoFit/>
            </a:bodyPr>
            <a:lstStyle/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 smtClean="0">
                  <a:solidFill>
                    <a:schemeClr val="accent2"/>
                  </a:solidFill>
                  <a:ea typeface="宋体" pitchFamily="2" charset="-122"/>
                </a:rPr>
                <a:t>总线</a:t>
              </a:r>
              <a:r>
                <a:rPr lang="zh-CN" altLang="en-US" sz="2400" b="1" dirty="0">
                  <a:solidFill>
                    <a:schemeClr val="accent2"/>
                  </a:solidFill>
                  <a:ea typeface="宋体" pitchFamily="2" charset="-122"/>
                </a:rPr>
                <a:t>的仲裁</a:t>
              </a:r>
              <a:endParaRPr lang="en-US" altLang="zh-CN" sz="2400" b="1" dirty="0">
                <a:solidFill>
                  <a:schemeClr val="accent2"/>
                </a:solidFill>
                <a:ea typeface="宋体" pitchFamily="2" charset="-122"/>
              </a:endParaRP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接口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程序查询</a:t>
              </a: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中断与中断</a:t>
              </a: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DMA I/O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endParaRPr lang="zh-CN" altLang="en-US" sz="2400" b="1" dirty="0">
                <a:solidFill>
                  <a:schemeClr val="tx1"/>
                </a:solidFill>
                <a:ea typeface="宋体" pitchFamily="2" charset="-122"/>
              </a:endParaRP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endParaRPr lang="zh-CN" altLang="en-US" sz="2400" b="1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3"/>
          <p:cNvGrpSpPr>
            <a:grpSpLocks/>
          </p:cNvGrpSpPr>
          <p:nvPr/>
        </p:nvGrpSpPr>
        <p:grpSpPr bwMode="auto">
          <a:xfrm>
            <a:off x="1865313" y="965200"/>
            <a:ext cx="4146550" cy="2324100"/>
            <a:chOff x="551" y="717"/>
            <a:chExt cx="1711" cy="1098"/>
          </a:xfrm>
        </p:grpSpPr>
        <p:sp>
          <p:nvSpPr>
            <p:cNvPr id="53303" name="AutoShape 4"/>
            <p:cNvSpPr>
              <a:spLocks noChangeArrowheads="1"/>
            </p:cNvSpPr>
            <p:nvPr/>
          </p:nvSpPr>
          <p:spPr bwMode="auto">
            <a:xfrm>
              <a:off x="1490" y="1514"/>
              <a:ext cx="717" cy="263"/>
            </a:xfrm>
            <a:prstGeom prst="leftRightArrow">
              <a:avLst>
                <a:gd name="adj1" fmla="val 50000"/>
                <a:gd name="adj2" fmla="val 54525"/>
              </a:avLst>
            </a:prstGeom>
            <a:solidFill>
              <a:srgbClr val="FED6D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4" name="Rectangle 5"/>
            <p:cNvSpPr>
              <a:spLocks noChangeArrowheads="1"/>
            </p:cNvSpPr>
            <p:nvPr/>
          </p:nvSpPr>
          <p:spPr bwMode="auto">
            <a:xfrm>
              <a:off x="1003" y="874"/>
              <a:ext cx="338" cy="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5" name="Rectangle 6"/>
            <p:cNvSpPr>
              <a:spLocks noChangeArrowheads="1"/>
            </p:cNvSpPr>
            <p:nvPr/>
          </p:nvSpPr>
          <p:spPr bwMode="auto">
            <a:xfrm>
              <a:off x="1003" y="949"/>
              <a:ext cx="338" cy="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6" name="Rectangle 7"/>
            <p:cNvSpPr>
              <a:spLocks noChangeArrowheads="1"/>
            </p:cNvSpPr>
            <p:nvPr/>
          </p:nvSpPr>
          <p:spPr bwMode="auto">
            <a:xfrm>
              <a:off x="1003" y="1025"/>
              <a:ext cx="338" cy="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7" name="Rectangle 8"/>
            <p:cNvSpPr>
              <a:spLocks noChangeArrowheads="1"/>
            </p:cNvSpPr>
            <p:nvPr/>
          </p:nvSpPr>
          <p:spPr bwMode="auto">
            <a:xfrm>
              <a:off x="1003" y="1100"/>
              <a:ext cx="338" cy="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zh-CN" sz="1400" b="1">
                  <a:latin typeface="Helvetica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sz="10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308" name="Rectangle 9"/>
            <p:cNvSpPr>
              <a:spLocks noChangeArrowheads="1"/>
            </p:cNvSpPr>
            <p:nvPr/>
          </p:nvSpPr>
          <p:spPr bwMode="auto">
            <a:xfrm>
              <a:off x="1003" y="1175"/>
              <a:ext cx="338" cy="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9" name="AutoShape 10"/>
            <p:cNvSpPr>
              <a:spLocks noChangeArrowheads="1"/>
            </p:cNvSpPr>
            <p:nvPr/>
          </p:nvSpPr>
          <p:spPr bwMode="auto">
            <a:xfrm>
              <a:off x="1385" y="874"/>
              <a:ext cx="220" cy="188"/>
            </a:xfrm>
            <a:prstGeom prst="rightArrow">
              <a:avLst>
                <a:gd name="adj1" fmla="val 50000"/>
                <a:gd name="adj2" fmla="val 2925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0" name="AutoShape 11"/>
            <p:cNvSpPr>
              <a:spLocks noChangeArrowheads="1"/>
            </p:cNvSpPr>
            <p:nvPr/>
          </p:nvSpPr>
          <p:spPr bwMode="auto">
            <a:xfrm flipH="1">
              <a:off x="1341" y="1062"/>
              <a:ext cx="220" cy="188"/>
            </a:xfrm>
            <a:prstGeom prst="rightArrow">
              <a:avLst>
                <a:gd name="adj1" fmla="val 50000"/>
                <a:gd name="adj2" fmla="val 2925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1" name="Rectangle 12"/>
            <p:cNvSpPr>
              <a:spLocks noChangeArrowheads="1"/>
            </p:cNvSpPr>
            <p:nvPr/>
          </p:nvSpPr>
          <p:spPr bwMode="auto">
            <a:xfrm>
              <a:off x="1605" y="799"/>
              <a:ext cx="263" cy="5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Helvetica" panose="020B0604020202020204" pitchFamily="34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53312" name="Text Box 13"/>
            <p:cNvSpPr txBox="1">
              <a:spLocks noChangeArrowheads="1"/>
            </p:cNvSpPr>
            <p:nvPr/>
          </p:nvSpPr>
          <p:spPr bwMode="auto">
            <a:xfrm>
              <a:off x="964" y="717"/>
              <a:ext cx="43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寄存器组</a:t>
              </a:r>
            </a:p>
          </p:txBody>
        </p:sp>
        <p:sp>
          <p:nvSpPr>
            <p:cNvPr id="53313" name="AutoShape 14"/>
            <p:cNvSpPr>
              <a:spLocks noChangeArrowheads="1"/>
            </p:cNvSpPr>
            <p:nvPr/>
          </p:nvSpPr>
          <p:spPr bwMode="auto">
            <a:xfrm>
              <a:off x="1040" y="1281"/>
              <a:ext cx="301" cy="226"/>
            </a:xfrm>
            <a:prstGeom prst="upDownArrow">
              <a:avLst>
                <a:gd name="adj1" fmla="val 50000"/>
                <a:gd name="adj2" fmla="val 2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4" name="Rectangle 15"/>
            <p:cNvSpPr>
              <a:spLocks noChangeArrowheads="1"/>
            </p:cNvSpPr>
            <p:nvPr/>
          </p:nvSpPr>
          <p:spPr bwMode="auto">
            <a:xfrm>
              <a:off x="551" y="1530"/>
              <a:ext cx="925" cy="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总线接口</a:t>
              </a:r>
            </a:p>
          </p:txBody>
        </p:sp>
        <p:sp>
          <p:nvSpPr>
            <p:cNvPr id="53315" name="Text Box 16"/>
            <p:cNvSpPr txBox="1">
              <a:spLocks noChangeArrowheads="1"/>
            </p:cNvSpPr>
            <p:nvPr/>
          </p:nvSpPr>
          <p:spPr bwMode="auto">
            <a:xfrm>
              <a:off x="800" y="1068"/>
              <a:ext cx="249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700" b="1">
                  <a:latin typeface="Courier New" panose="02070309020205020404" pitchFamily="49" charset="0"/>
                  <a:ea typeface="宋体" panose="02010600030101010101" pitchFamily="2" charset="-122"/>
                </a:rPr>
                <a:t>R6</a:t>
              </a:r>
              <a:endParaRPr lang="zh-CN" altLang="en-US" sz="17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316" name="Text Box 17"/>
            <p:cNvSpPr txBox="1">
              <a:spLocks noChangeArrowheads="1"/>
            </p:cNvSpPr>
            <p:nvPr/>
          </p:nvSpPr>
          <p:spPr bwMode="auto">
            <a:xfrm>
              <a:off x="1425" y="1566"/>
              <a:ext cx="837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CPU(</a:t>
              </a:r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  <a:r>
                <a:rPr lang="en-US" altLang="zh-CN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</p:grpSp>
      <p:grpSp>
        <p:nvGrpSpPr>
          <p:cNvPr id="558098" name="Group 18"/>
          <p:cNvGrpSpPr>
            <a:grpSpLocks/>
          </p:cNvGrpSpPr>
          <p:nvPr/>
        </p:nvGrpSpPr>
        <p:grpSpPr bwMode="auto">
          <a:xfrm>
            <a:off x="1968500" y="3228976"/>
            <a:ext cx="7975600" cy="1616075"/>
            <a:chOff x="423" y="1835"/>
            <a:chExt cx="3594" cy="769"/>
          </a:xfrm>
        </p:grpSpPr>
        <p:sp>
          <p:nvSpPr>
            <p:cNvPr id="53286" name="AutoShape 19"/>
            <p:cNvSpPr>
              <a:spLocks noChangeArrowheads="1"/>
            </p:cNvSpPr>
            <p:nvPr/>
          </p:nvSpPr>
          <p:spPr bwMode="auto">
            <a:xfrm>
              <a:off x="2305" y="1835"/>
              <a:ext cx="244" cy="339"/>
            </a:xfrm>
            <a:prstGeom prst="upArrow">
              <a:avLst>
                <a:gd name="adj1" fmla="val 36667"/>
                <a:gd name="adj2" fmla="val 45025"/>
              </a:avLst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7" name="AutoShape 20"/>
            <p:cNvSpPr>
              <a:spLocks noChangeArrowheads="1"/>
            </p:cNvSpPr>
            <p:nvPr/>
          </p:nvSpPr>
          <p:spPr bwMode="auto">
            <a:xfrm flipV="1">
              <a:off x="2850" y="2199"/>
              <a:ext cx="245" cy="339"/>
            </a:xfrm>
            <a:prstGeom prst="upArrow">
              <a:avLst>
                <a:gd name="adj1" fmla="val 36667"/>
                <a:gd name="adj2" fmla="val 44841"/>
              </a:avLst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8" name="AutoShape 21"/>
            <p:cNvSpPr>
              <a:spLocks noChangeArrowheads="1"/>
            </p:cNvSpPr>
            <p:nvPr/>
          </p:nvSpPr>
          <p:spPr bwMode="auto">
            <a:xfrm flipV="1">
              <a:off x="1699" y="2199"/>
              <a:ext cx="245" cy="339"/>
            </a:xfrm>
            <a:prstGeom prst="upArrow">
              <a:avLst>
                <a:gd name="adj1" fmla="val 36667"/>
                <a:gd name="adj2" fmla="val 44841"/>
              </a:avLst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9" name="AutoShape 22"/>
            <p:cNvSpPr>
              <a:spLocks noChangeArrowheads="1"/>
            </p:cNvSpPr>
            <p:nvPr/>
          </p:nvSpPr>
          <p:spPr bwMode="auto">
            <a:xfrm flipV="1">
              <a:off x="871" y="2199"/>
              <a:ext cx="245" cy="339"/>
            </a:xfrm>
            <a:prstGeom prst="upArrow">
              <a:avLst>
                <a:gd name="adj1" fmla="val 36667"/>
                <a:gd name="adj2" fmla="val 44841"/>
              </a:avLst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0" name="AutoShape 23"/>
            <p:cNvSpPr>
              <a:spLocks noChangeArrowheads="1"/>
            </p:cNvSpPr>
            <p:nvPr/>
          </p:nvSpPr>
          <p:spPr bwMode="auto">
            <a:xfrm>
              <a:off x="423" y="2063"/>
              <a:ext cx="3594" cy="266"/>
            </a:xfrm>
            <a:prstGeom prst="leftRightArrow">
              <a:avLst>
                <a:gd name="adj1" fmla="val 48611"/>
                <a:gd name="adj2" fmla="val 69808"/>
              </a:avLst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1" name="Rectangle 24"/>
            <p:cNvSpPr>
              <a:spLocks noChangeArrowheads="1"/>
            </p:cNvSpPr>
            <p:nvPr/>
          </p:nvSpPr>
          <p:spPr bwMode="auto">
            <a:xfrm>
              <a:off x="955" y="2176"/>
              <a:ext cx="82" cy="7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2" name="Rectangle 25"/>
            <p:cNvSpPr>
              <a:spLocks noChangeArrowheads="1"/>
            </p:cNvSpPr>
            <p:nvPr/>
          </p:nvSpPr>
          <p:spPr bwMode="auto">
            <a:xfrm>
              <a:off x="1783" y="2171"/>
              <a:ext cx="82" cy="76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3" name="Rectangle 26"/>
            <p:cNvSpPr>
              <a:spLocks noChangeArrowheads="1"/>
            </p:cNvSpPr>
            <p:nvPr/>
          </p:nvSpPr>
          <p:spPr bwMode="auto">
            <a:xfrm>
              <a:off x="2935" y="2167"/>
              <a:ext cx="80" cy="7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4" name="Text Box 27"/>
            <p:cNvSpPr txBox="1">
              <a:spLocks noChangeArrowheads="1"/>
            </p:cNvSpPr>
            <p:nvPr/>
          </p:nvSpPr>
          <p:spPr bwMode="auto">
            <a:xfrm>
              <a:off x="1402" y="2115"/>
              <a:ext cx="437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Helvetica" panose="020B0604020202020204" pitchFamily="34" charset="0"/>
                  <a:ea typeface="宋体" panose="02010600030101010101" pitchFamily="2" charset="-122"/>
                </a:rPr>
                <a:t>I/O </a:t>
              </a:r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  <p:sp>
          <p:nvSpPr>
            <p:cNvPr id="53295" name="Rectangle 28"/>
            <p:cNvSpPr>
              <a:spLocks noChangeArrowheads="1"/>
            </p:cNvSpPr>
            <p:nvPr/>
          </p:nvSpPr>
          <p:spPr bwMode="auto">
            <a:xfrm>
              <a:off x="2387" y="2136"/>
              <a:ext cx="80" cy="7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6" name="Rectangle 29"/>
            <p:cNvSpPr>
              <a:spLocks noChangeArrowheads="1"/>
            </p:cNvSpPr>
            <p:nvPr/>
          </p:nvSpPr>
          <p:spPr bwMode="auto">
            <a:xfrm>
              <a:off x="3321" y="2098"/>
              <a:ext cx="63" cy="2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7" name="Rectangle 30"/>
            <p:cNvSpPr>
              <a:spLocks noChangeArrowheads="1"/>
            </p:cNvSpPr>
            <p:nvPr/>
          </p:nvSpPr>
          <p:spPr bwMode="auto">
            <a:xfrm>
              <a:off x="3471" y="2098"/>
              <a:ext cx="63" cy="2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8" name="Rectangle 31"/>
            <p:cNvSpPr>
              <a:spLocks noChangeArrowheads="1"/>
            </p:cNvSpPr>
            <p:nvPr/>
          </p:nvSpPr>
          <p:spPr bwMode="auto">
            <a:xfrm>
              <a:off x="3622" y="2098"/>
              <a:ext cx="63" cy="2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99" name="Text Box 32"/>
            <p:cNvSpPr txBox="1">
              <a:spLocks noChangeArrowheads="1"/>
            </p:cNvSpPr>
            <p:nvPr/>
          </p:nvSpPr>
          <p:spPr bwMode="auto">
            <a:xfrm>
              <a:off x="3324" y="2312"/>
              <a:ext cx="57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主板扩展槽</a:t>
              </a:r>
            </a:p>
            <a:p>
              <a:pPr algn="ctr"/>
              <a:r>
                <a:rPr lang="en-US" altLang="zh-CN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PCI</a:t>
              </a:r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</a:t>
              </a:r>
            </a:p>
          </p:txBody>
        </p:sp>
        <p:sp>
          <p:nvSpPr>
            <p:cNvPr id="53300" name="Rectangle 33"/>
            <p:cNvSpPr>
              <a:spLocks noChangeArrowheads="1"/>
            </p:cNvSpPr>
            <p:nvPr/>
          </p:nvSpPr>
          <p:spPr bwMode="auto">
            <a:xfrm>
              <a:off x="2205" y="2050"/>
              <a:ext cx="449" cy="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7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301" name="Text Box 34"/>
            <p:cNvSpPr txBox="1">
              <a:spLocks noChangeArrowheads="1"/>
            </p:cNvSpPr>
            <p:nvPr/>
          </p:nvSpPr>
          <p:spPr bwMode="auto">
            <a:xfrm>
              <a:off x="2194" y="2089"/>
              <a:ext cx="476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南桥芯片</a:t>
              </a:r>
            </a:p>
          </p:txBody>
        </p:sp>
        <p:sp>
          <p:nvSpPr>
            <p:cNvPr id="53302" name="Text Box 35"/>
            <p:cNvSpPr txBox="1">
              <a:spLocks noChangeArrowheads="1"/>
            </p:cNvSpPr>
            <p:nvPr/>
          </p:nvSpPr>
          <p:spPr bwMode="auto">
            <a:xfrm>
              <a:off x="2810" y="2115"/>
              <a:ext cx="46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I/O </a:t>
              </a:r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</p:grpSp>
      <p:grpSp>
        <p:nvGrpSpPr>
          <p:cNvPr id="558116" name="Group 36"/>
          <p:cNvGrpSpPr>
            <a:grpSpLocks/>
          </p:cNvGrpSpPr>
          <p:nvPr/>
        </p:nvGrpSpPr>
        <p:grpSpPr bwMode="auto">
          <a:xfrm>
            <a:off x="2593975" y="4714875"/>
            <a:ext cx="7556500" cy="1081088"/>
            <a:chOff x="618" y="2547"/>
            <a:chExt cx="3397" cy="534"/>
          </a:xfrm>
        </p:grpSpPr>
        <p:sp>
          <p:nvSpPr>
            <p:cNvPr id="53267" name="Rectangle 37"/>
            <p:cNvSpPr>
              <a:spLocks noChangeArrowheads="1"/>
            </p:cNvSpPr>
            <p:nvPr/>
          </p:nvSpPr>
          <p:spPr bwMode="auto">
            <a:xfrm>
              <a:off x="2684" y="2547"/>
              <a:ext cx="557" cy="25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磁盘控制器</a:t>
              </a:r>
            </a:p>
          </p:txBody>
        </p:sp>
        <p:sp>
          <p:nvSpPr>
            <p:cNvPr id="53268" name="Rectangle 38"/>
            <p:cNvSpPr>
              <a:spLocks noChangeArrowheads="1"/>
            </p:cNvSpPr>
            <p:nvPr/>
          </p:nvSpPr>
          <p:spPr bwMode="auto">
            <a:xfrm>
              <a:off x="1492" y="2547"/>
              <a:ext cx="640" cy="25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以太网卡</a:t>
              </a:r>
            </a:p>
          </p:txBody>
        </p:sp>
        <p:sp>
          <p:nvSpPr>
            <p:cNvPr id="53269" name="Rectangle 39"/>
            <p:cNvSpPr>
              <a:spLocks noChangeArrowheads="1"/>
            </p:cNvSpPr>
            <p:nvPr/>
          </p:nvSpPr>
          <p:spPr bwMode="auto">
            <a:xfrm>
              <a:off x="658" y="2547"/>
              <a:ext cx="652" cy="2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Helvetica" panose="020B0604020202020204" pitchFamily="34" charset="0"/>
                  <a:ea typeface="宋体" panose="02010600030101010101" pitchFamily="2" charset="-122"/>
                </a:rPr>
                <a:t>USB</a:t>
              </a:r>
            </a:p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控制器和接口</a:t>
              </a:r>
            </a:p>
          </p:txBody>
        </p:sp>
        <p:grpSp>
          <p:nvGrpSpPr>
            <p:cNvPr id="53270" name="Group 40"/>
            <p:cNvGrpSpPr>
              <a:grpSpLocks/>
            </p:cNvGrpSpPr>
            <p:nvPr/>
          </p:nvGrpSpPr>
          <p:grpSpPr bwMode="auto">
            <a:xfrm>
              <a:off x="814" y="2813"/>
              <a:ext cx="377" cy="89"/>
              <a:chOff x="1039" y="3588"/>
              <a:chExt cx="480" cy="192"/>
            </a:xfrm>
          </p:grpSpPr>
          <p:sp>
            <p:nvSpPr>
              <p:cNvPr id="53284" name="Line 41"/>
              <p:cNvSpPr>
                <a:spLocks noChangeShapeType="1"/>
              </p:cNvSpPr>
              <p:nvPr/>
            </p:nvSpPr>
            <p:spPr bwMode="auto">
              <a:xfrm>
                <a:off x="1039" y="35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85" name="Line 42"/>
              <p:cNvSpPr>
                <a:spLocks noChangeShapeType="1"/>
              </p:cNvSpPr>
              <p:nvPr/>
            </p:nvSpPr>
            <p:spPr bwMode="auto">
              <a:xfrm>
                <a:off x="1519" y="35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271" name="Text Box 43"/>
            <p:cNvSpPr txBox="1">
              <a:spLocks noChangeArrowheads="1"/>
            </p:cNvSpPr>
            <p:nvPr/>
          </p:nvSpPr>
          <p:spPr bwMode="auto">
            <a:xfrm>
              <a:off x="618" y="2876"/>
              <a:ext cx="37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鼠标器</a:t>
              </a:r>
            </a:p>
          </p:txBody>
        </p:sp>
        <p:sp>
          <p:nvSpPr>
            <p:cNvPr id="53272" name="Text Box 44"/>
            <p:cNvSpPr txBox="1">
              <a:spLocks noChangeArrowheads="1"/>
            </p:cNvSpPr>
            <p:nvPr/>
          </p:nvSpPr>
          <p:spPr bwMode="auto">
            <a:xfrm>
              <a:off x="1064" y="2881"/>
              <a:ext cx="2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</a:p>
          </p:txBody>
        </p:sp>
        <p:sp>
          <p:nvSpPr>
            <p:cNvPr id="53273" name="Line 45"/>
            <p:cNvSpPr>
              <a:spLocks noChangeShapeType="1"/>
            </p:cNvSpPr>
            <p:nvPr/>
          </p:nvSpPr>
          <p:spPr bwMode="auto">
            <a:xfrm>
              <a:off x="1830" y="2813"/>
              <a:ext cx="1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4" name="Text Box 46"/>
            <p:cNvSpPr txBox="1">
              <a:spLocks noChangeArrowheads="1"/>
            </p:cNvSpPr>
            <p:nvPr/>
          </p:nvSpPr>
          <p:spPr bwMode="auto">
            <a:xfrm>
              <a:off x="1677" y="2845"/>
              <a:ext cx="304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网线</a:t>
              </a:r>
            </a:p>
          </p:txBody>
        </p:sp>
        <p:sp>
          <p:nvSpPr>
            <p:cNvPr id="53275" name="Line 47"/>
            <p:cNvSpPr>
              <a:spLocks noChangeShapeType="1"/>
            </p:cNvSpPr>
            <p:nvPr/>
          </p:nvSpPr>
          <p:spPr bwMode="auto">
            <a:xfrm rot="10800000">
              <a:off x="3130" y="2796"/>
              <a:ext cx="0" cy="1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6" name="AutoShape 48"/>
            <p:cNvSpPr>
              <a:spLocks noChangeArrowheads="1"/>
            </p:cNvSpPr>
            <p:nvPr/>
          </p:nvSpPr>
          <p:spPr bwMode="auto">
            <a:xfrm>
              <a:off x="2988" y="2885"/>
              <a:ext cx="301" cy="196"/>
            </a:xfrm>
            <a:prstGeom prst="can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disk</a:t>
              </a:r>
            </a:p>
          </p:txBody>
        </p:sp>
        <p:sp>
          <p:nvSpPr>
            <p:cNvPr id="53277" name="Text Box 49"/>
            <p:cNvSpPr txBox="1">
              <a:spLocks noChangeArrowheads="1"/>
            </p:cNvSpPr>
            <p:nvPr/>
          </p:nvSpPr>
          <p:spPr bwMode="auto">
            <a:xfrm>
              <a:off x="3324" y="2662"/>
              <a:ext cx="293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声卡</a:t>
              </a:r>
            </a:p>
          </p:txBody>
        </p:sp>
        <p:sp>
          <p:nvSpPr>
            <p:cNvPr id="53278" name="Text Box 50"/>
            <p:cNvSpPr txBox="1">
              <a:spLocks noChangeArrowheads="1"/>
            </p:cNvSpPr>
            <p:nvPr/>
          </p:nvSpPr>
          <p:spPr bwMode="auto">
            <a:xfrm>
              <a:off x="3639" y="2662"/>
              <a:ext cx="37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视频卡</a:t>
              </a:r>
            </a:p>
          </p:txBody>
        </p:sp>
        <p:grpSp>
          <p:nvGrpSpPr>
            <p:cNvPr id="53279" name="Group 51"/>
            <p:cNvGrpSpPr>
              <a:grpSpLocks/>
            </p:cNvGrpSpPr>
            <p:nvPr/>
          </p:nvGrpSpPr>
          <p:grpSpPr bwMode="auto">
            <a:xfrm>
              <a:off x="3510" y="2582"/>
              <a:ext cx="259" cy="106"/>
              <a:chOff x="1039" y="3588"/>
              <a:chExt cx="480" cy="192"/>
            </a:xfrm>
          </p:grpSpPr>
          <p:sp>
            <p:nvSpPr>
              <p:cNvPr id="53282" name="Line 52"/>
              <p:cNvSpPr>
                <a:spLocks noChangeShapeType="1"/>
              </p:cNvSpPr>
              <p:nvPr/>
            </p:nvSpPr>
            <p:spPr bwMode="auto">
              <a:xfrm>
                <a:off x="1039" y="35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83" name="Line 53"/>
              <p:cNvSpPr>
                <a:spLocks noChangeShapeType="1"/>
              </p:cNvSpPr>
              <p:nvPr/>
            </p:nvSpPr>
            <p:spPr bwMode="auto">
              <a:xfrm>
                <a:off x="1519" y="35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280" name="Line 54"/>
            <p:cNvSpPr>
              <a:spLocks noChangeShapeType="1"/>
            </p:cNvSpPr>
            <p:nvPr/>
          </p:nvSpPr>
          <p:spPr bwMode="auto">
            <a:xfrm rot="10800000">
              <a:off x="2792" y="2796"/>
              <a:ext cx="0" cy="1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1" name="AutoShape 55"/>
            <p:cNvSpPr>
              <a:spLocks noChangeArrowheads="1"/>
            </p:cNvSpPr>
            <p:nvPr/>
          </p:nvSpPr>
          <p:spPr bwMode="auto">
            <a:xfrm>
              <a:off x="2650" y="2885"/>
              <a:ext cx="301" cy="196"/>
            </a:xfrm>
            <a:prstGeom prst="can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光驱</a:t>
              </a:r>
            </a:p>
          </p:txBody>
        </p:sp>
      </p:grpSp>
      <p:grpSp>
        <p:nvGrpSpPr>
          <p:cNvPr id="558136" name="Group 56"/>
          <p:cNvGrpSpPr>
            <a:grpSpLocks/>
          </p:cNvGrpSpPr>
          <p:nvPr/>
        </p:nvGrpSpPr>
        <p:grpSpPr bwMode="auto">
          <a:xfrm>
            <a:off x="5822950" y="1792288"/>
            <a:ext cx="4299724" cy="1592262"/>
            <a:chOff x="2187" y="1104"/>
            <a:chExt cx="1821" cy="786"/>
          </a:xfrm>
        </p:grpSpPr>
        <p:sp>
          <p:nvSpPr>
            <p:cNvPr id="53255" name="AutoShape 57"/>
            <p:cNvSpPr>
              <a:spLocks noChangeArrowheads="1"/>
            </p:cNvSpPr>
            <p:nvPr/>
          </p:nvSpPr>
          <p:spPr bwMode="auto">
            <a:xfrm>
              <a:off x="2661" y="1514"/>
              <a:ext cx="737" cy="263"/>
            </a:xfrm>
            <a:prstGeom prst="leftRightArrow">
              <a:avLst>
                <a:gd name="adj1" fmla="val 50000"/>
                <a:gd name="adj2" fmla="val 56046"/>
              </a:avLst>
            </a:prstGeom>
            <a:solidFill>
              <a:srgbClr val="C4FCF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7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6" name="Rectangle 58"/>
            <p:cNvSpPr>
              <a:spLocks noChangeArrowheads="1"/>
            </p:cNvSpPr>
            <p:nvPr/>
          </p:nvSpPr>
          <p:spPr bwMode="auto">
            <a:xfrm>
              <a:off x="2209" y="1529"/>
              <a:ext cx="449" cy="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7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7" name="Rectangle 59"/>
            <p:cNvSpPr>
              <a:spLocks noChangeArrowheads="1"/>
            </p:cNvSpPr>
            <p:nvPr/>
          </p:nvSpPr>
          <p:spPr bwMode="auto">
            <a:xfrm>
              <a:off x="3414" y="1438"/>
              <a:ext cx="449" cy="4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7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8" name="Text Box 60"/>
            <p:cNvSpPr txBox="1">
              <a:spLocks noChangeArrowheads="1"/>
            </p:cNvSpPr>
            <p:nvPr/>
          </p:nvSpPr>
          <p:spPr bwMode="auto">
            <a:xfrm>
              <a:off x="3325" y="1274"/>
              <a:ext cx="677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solidFill>
                    <a:srgbClr val="D139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主存储器</a:t>
              </a:r>
            </a:p>
          </p:txBody>
        </p:sp>
        <p:sp>
          <p:nvSpPr>
            <p:cNvPr id="53259" name="Text Box 61"/>
            <p:cNvSpPr txBox="1">
              <a:spLocks noChangeArrowheads="1"/>
            </p:cNvSpPr>
            <p:nvPr/>
          </p:nvSpPr>
          <p:spPr bwMode="auto">
            <a:xfrm>
              <a:off x="3871" y="1367"/>
              <a:ext cx="12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Helvetica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3260" name="Text Box 62"/>
            <p:cNvSpPr txBox="1">
              <a:spLocks noChangeArrowheads="1"/>
            </p:cNvSpPr>
            <p:nvPr/>
          </p:nvSpPr>
          <p:spPr bwMode="auto">
            <a:xfrm>
              <a:off x="3864" y="1616"/>
              <a:ext cx="144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700" b="1">
                  <a:latin typeface="Helvetica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3261" name="Text Box 63"/>
            <p:cNvSpPr txBox="1">
              <a:spLocks noChangeArrowheads="1"/>
            </p:cNvSpPr>
            <p:nvPr/>
          </p:nvSpPr>
          <p:spPr bwMode="auto">
            <a:xfrm>
              <a:off x="2187" y="1566"/>
              <a:ext cx="49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北桥芯片</a:t>
              </a:r>
            </a:p>
          </p:txBody>
        </p:sp>
        <p:sp>
          <p:nvSpPr>
            <p:cNvPr id="53262" name="Rectangle 64"/>
            <p:cNvSpPr>
              <a:spLocks noChangeArrowheads="1"/>
            </p:cNvSpPr>
            <p:nvPr/>
          </p:nvSpPr>
          <p:spPr bwMode="auto">
            <a:xfrm>
              <a:off x="3414" y="1636"/>
              <a:ext cx="449" cy="1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7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63" name="Rectangle 65"/>
            <p:cNvSpPr>
              <a:spLocks noChangeArrowheads="1"/>
            </p:cNvSpPr>
            <p:nvPr/>
          </p:nvSpPr>
          <p:spPr bwMode="auto">
            <a:xfrm>
              <a:off x="3450" y="1619"/>
              <a:ext cx="338" cy="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83" tIns="45046" rIns="90083" bIns="45046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Helvetica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sz="1000" b="1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64" name="Text Box 66"/>
            <p:cNvSpPr txBox="1">
              <a:spLocks noChangeArrowheads="1"/>
            </p:cNvSpPr>
            <p:nvPr/>
          </p:nvSpPr>
          <p:spPr bwMode="auto">
            <a:xfrm>
              <a:off x="2720" y="1547"/>
              <a:ext cx="623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存储器总线</a:t>
              </a:r>
            </a:p>
          </p:txBody>
        </p:sp>
        <p:sp>
          <p:nvSpPr>
            <p:cNvPr id="53265" name="AutoShape 67"/>
            <p:cNvSpPr>
              <a:spLocks noChangeArrowheads="1"/>
            </p:cNvSpPr>
            <p:nvPr/>
          </p:nvSpPr>
          <p:spPr bwMode="auto">
            <a:xfrm>
              <a:off x="2349" y="1308"/>
              <a:ext cx="159" cy="204"/>
            </a:xfrm>
            <a:prstGeom prst="upDownArrow">
              <a:avLst>
                <a:gd name="adj1" fmla="val 50000"/>
                <a:gd name="adj2" fmla="val 25660"/>
              </a:avLst>
            </a:prstGeom>
            <a:solidFill>
              <a:srgbClr val="00FF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66" name="Rectangle 68"/>
            <p:cNvSpPr>
              <a:spLocks noChangeArrowheads="1"/>
            </p:cNvSpPr>
            <p:nvPr/>
          </p:nvSpPr>
          <p:spPr bwMode="auto">
            <a:xfrm>
              <a:off x="2235" y="1104"/>
              <a:ext cx="386" cy="18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6623" tIns="58311" rIns="116623" bIns="58311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显卡</a:t>
              </a:r>
            </a:p>
          </p:txBody>
        </p:sp>
      </p:grpSp>
      <p:sp>
        <p:nvSpPr>
          <p:cNvPr id="53254" name="Rectangle 69"/>
          <p:cNvSpPr>
            <a:spLocks noGrp="1" noChangeArrowheads="1"/>
          </p:cNvSpPr>
          <p:nvPr>
            <p:ph type="title"/>
          </p:nvPr>
        </p:nvSpPr>
        <p:spPr>
          <a:xfrm>
            <a:off x="848976" y="333396"/>
            <a:ext cx="7953375" cy="426142"/>
          </a:xfrm>
        </p:spPr>
        <p:txBody>
          <a:bodyPr/>
          <a:lstStyle/>
          <a:p>
            <a:r>
              <a:rPr lang="zh-CN" altLang="en-US" sz="2800" i="0" dirty="0"/>
              <a:t>回顾</a:t>
            </a:r>
            <a:r>
              <a:rPr lang="zh-CN" altLang="en-US" sz="2800" i="0" dirty="0" smtClean="0"/>
              <a:t>：总线</a:t>
            </a:r>
            <a:r>
              <a:rPr lang="en-US" altLang="zh-CN" sz="2800" i="0" dirty="0"/>
              <a:t>,I/O</a:t>
            </a:r>
            <a:r>
              <a:rPr lang="zh-CN" altLang="en-US" sz="2800" i="0" dirty="0"/>
              <a:t>控制器与</a:t>
            </a:r>
            <a:r>
              <a:rPr lang="en-US" altLang="zh-CN" sz="2800" i="0" dirty="0"/>
              <a:t>I/O</a:t>
            </a:r>
            <a:r>
              <a:rPr lang="zh-CN" altLang="en-US" sz="2800" i="0" dirty="0"/>
              <a:t>设备的关系</a:t>
            </a:r>
          </a:p>
        </p:txBody>
      </p:sp>
    </p:spTree>
    <p:extLst>
      <p:ext uri="{BB962C8B-B14F-4D97-AF65-F5344CB8AC3E}">
        <p14:creationId xmlns:p14="http://schemas.microsoft.com/office/powerpoint/2010/main" val="1481884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404664"/>
            <a:ext cx="5257800" cy="426142"/>
          </a:xfrm>
        </p:spPr>
        <p:txBody>
          <a:bodyPr/>
          <a:lstStyle/>
          <a:p>
            <a:r>
              <a:rPr lang="en-US" altLang="zh-CN" sz="2800" i="0" dirty="0" smtClean="0"/>
              <a:t>1 </a:t>
            </a:r>
            <a:r>
              <a:rPr lang="zh-CN" altLang="en-US" sz="2800" i="0" dirty="0" smtClean="0"/>
              <a:t>总线</a:t>
            </a:r>
            <a:r>
              <a:rPr lang="zh-CN" altLang="en-US" sz="2800" i="0" dirty="0"/>
              <a:t>的仲</a:t>
            </a:r>
            <a:r>
              <a:rPr lang="zh-CN" altLang="en-US" sz="2800" i="0" dirty="0" smtClean="0"/>
              <a:t>裁方</a:t>
            </a:r>
            <a:r>
              <a:rPr lang="zh-CN" altLang="en-US" sz="2800" i="0" dirty="0"/>
              <a:t>式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980728"/>
            <a:ext cx="8928992" cy="63299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宋体" pitchFamily="2" charset="-122"/>
                <a:ea typeface="宋体" pitchFamily="2" charset="-122"/>
              </a:rPr>
              <a:t>总线仲裁方式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集中式仲裁方式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链式查询方式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计数器定时查询方式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独立请求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方式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分布式仲裁方式</a:t>
            </a:r>
            <a:endParaRPr lang="en-US" altLang="zh-CN" sz="2400" dirty="0" smtClean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accent4">
                    <a:lumMod val="50000"/>
                    <a:lumOff val="50000"/>
                  </a:schemeClr>
                </a:solidFill>
                <a:latin typeface="宋体" pitchFamily="2" charset="-122"/>
                <a:ea typeface="宋体" pitchFamily="2" charset="-122"/>
              </a:rPr>
              <a:t>自举分布式仲裁</a:t>
            </a:r>
            <a:endParaRPr lang="en-US" altLang="zh-CN" sz="2400" dirty="0">
              <a:solidFill>
                <a:schemeClr val="accent4">
                  <a:lumMod val="50000"/>
                  <a:lumOff val="50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accent4">
                    <a:lumMod val="50000"/>
                    <a:lumOff val="50000"/>
                  </a:schemeClr>
                </a:solidFill>
                <a:latin typeface="宋体" pitchFamily="2" charset="-122"/>
                <a:ea typeface="宋体" pitchFamily="2" charset="-122"/>
              </a:rPr>
              <a:t>冲突检测分布式仲裁</a:t>
            </a:r>
            <a:endParaRPr lang="en-US" altLang="zh-CN" sz="2400" dirty="0">
              <a:solidFill>
                <a:schemeClr val="accent4">
                  <a:lumMod val="50000"/>
                  <a:lumOff val="50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accent4">
                    <a:lumMod val="50000"/>
                    <a:lumOff val="50000"/>
                  </a:schemeClr>
                </a:solidFill>
                <a:latin typeface="宋体" pitchFamily="2" charset="-122"/>
                <a:ea typeface="宋体" pitchFamily="2" charset="-122"/>
              </a:rPr>
              <a:t>并行竞争分布式仲裁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zh-CN" altLang="en-US" sz="24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317858"/>
            <a:ext cx="5257800" cy="422275"/>
          </a:xfrm>
        </p:spPr>
        <p:txBody>
          <a:bodyPr/>
          <a:lstStyle/>
          <a:p>
            <a:r>
              <a:rPr lang="en-US" altLang="zh-CN" sz="2800" i="0" dirty="0" smtClean="0"/>
              <a:t>1 </a:t>
            </a:r>
            <a:r>
              <a:rPr lang="zh-CN" altLang="en-US" sz="2800" i="0" dirty="0"/>
              <a:t>总线的仲裁方式</a:t>
            </a:r>
          </a:p>
        </p:txBody>
      </p:sp>
      <p:graphicFrame>
        <p:nvGraphicFramePr>
          <p:cNvPr id="477192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1847529" y="3645025"/>
          <a:ext cx="8569325" cy="240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77" name="Visio" r:id="rId4" imgW="5007864" imgH="1408786" progId="Visio.Drawing.11">
                  <p:embed/>
                </p:oleObj>
              </mc:Choice>
              <mc:Fallback>
                <p:oleObj name="Visio" r:id="rId4" imgW="5007864" imgH="1408786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3645025"/>
                        <a:ext cx="8569325" cy="2408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3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623392" y="908050"/>
            <a:ext cx="10945216" cy="2401142"/>
          </a:xfrm>
          <a:noFill/>
          <a:ln/>
        </p:spPr>
        <p:txBody>
          <a:bodyPr vert="horz" wrap="square" lIns="63500" tIns="61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dirty="0">
                <a:ea typeface="宋体" pitchFamily="2" charset="-122"/>
              </a:rPr>
              <a:t>链式查询方式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 err="1">
                <a:ea typeface="宋体" pitchFamily="2" charset="-122"/>
              </a:rPr>
              <a:t>总线控制器（仲裁器）收到总线申请BR，BG</a:t>
            </a:r>
            <a:r>
              <a:rPr lang="zh-CN" altLang="en-US" sz="2000" dirty="0">
                <a:ea typeface="宋体" pitchFamily="2" charset="-122"/>
              </a:rPr>
              <a:t>（总线同意信号）逐个往下传；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ea typeface="宋体" pitchFamily="2" charset="-122"/>
              </a:rPr>
              <a:t>遇到某接口有总线申请（</a:t>
            </a:r>
            <a:r>
              <a:rPr lang="en-US" altLang="zh-CN" sz="2000" dirty="0">
                <a:ea typeface="宋体" pitchFamily="2" charset="-122"/>
              </a:rPr>
              <a:t>BR</a:t>
            </a:r>
            <a:r>
              <a:rPr lang="zh-CN" altLang="en-US" sz="2000" dirty="0">
                <a:ea typeface="宋体" pitchFamily="2" charset="-122"/>
              </a:rPr>
              <a:t>：总线申请信号），</a:t>
            </a:r>
            <a:r>
              <a:rPr lang="en-US" altLang="zh-CN" sz="2000" dirty="0">
                <a:ea typeface="宋体" pitchFamily="2" charset="-122"/>
              </a:rPr>
              <a:t>BG</a:t>
            </a:r>
            <a:r>
              <a:rPr lang="zh-CN" altLang="en-US" sz="2000" dirty="0">
                <a:ea typeface="宋体" pitchFamily="2" charset="-122"/>
              </a:rPr>
              <a:t>停止往下传；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ea typeface="宋体" pitchFamily="2" charset="-122"/>
              </a:rPr>
              <a:t>该接口获得总线使用权，并建立总线忙信号</a:t>
            </a:r>
            <a:r>
              <a:rPr lang="en-US" altLang="zh-CN" sz="2000" dirty="0">
                <a:ea typeface="宋体" pitchFamily="2" charset="-122"/>
              </a:rPr>
              <a:t>BS</a:t>
            </a:r>
            <a:r>
              <a:rPr lang="zh-CN" altLang="en-US" sz="2000" dirty="0">
                <a:ea typeface="宋体" pitchFamily="2" charset="-122"/>
              </a:rPr>
              <a:t>。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ea typeface="宋体" pitchFamily="2" charset="-122"/>
              </a:rPr>
              <a:t>优先级问题？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07854" y="6197242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硬件简单，易于扩展，但对故障敏感，优先级不灵活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58788" y="300052"/>
            <a:ext cx="5257800" cy="422275"/>
          </a:xfrm>
        </p:spPr>
        <p:txBody>
          <a:bodyPr/>
          <a:lstStyle/>
          <a:p>
            <a:r>
              <a:rPr lang="en-US" altLang="zh-CN" sz="2800" i="0" dirty="0" smtClean="0"/>
              <a:t>1 </a:t>
            </a:r>
            <a:r>
              <a:rPr lang="zh-CN" altLang="en-US" sz="2800" i="0" dirty="0" smtClean="0"/>
              <a:t>总线</a:t>
            </a:r>
            <a:r>
              <a:rPr lang="zh-CN" altLang="en-US" sz="2800" i="0" dirty="0"/>
              <a:t>的仲裁方式</a:t>
            </a:r>
          </a:p>
        </p:txBody>
      </p:sp>
      <p:graphicFrame>
        <p:nvGraphicFramePr>
          <p:cNvPr id="479237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4331850"/>
              </p:ext>
            </p:extLst>
          </p:nvPr>
        </p:nvGraphicFramePr>
        <p:xfrm>
          <a:off x="2135560" y="3971380"/>
          <a:ext cx="8064500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23" name="Visio" r:id="rId4" imgW="6172874" imgH="1678987" progId="Visio.Drawing.11">
                  <p:embed/>
                </p:oleObj>
              </mc:Choice>
              <mc:Fallback>
                <p:oleObj name="Visio" r:id="rId4" imgW="6172874" imgH="1678987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3971380"/>
                        <a:ext cx="8064500" cy="219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3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836713"/>
            <a:ext cx="10873208" cy="2536564"/>
          </a:xfrm>
          <a:noFill/>
          <a:ln/>
        </p:spPr>
        <p:txBody>
          <a:bodyPr vert="horz" wrap="square" lIns="63500" tIns="61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dirty="0">
                <a:ea typeface="宋体" pitchFamily="2" charset="-122"/>
              </a:rPr>
              <a:t>计数器定时查询方式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ea typeface="宋体" pitchFamily="2" charset="-122"/>
              </a:rPr>
              <a:t>总线控制器（仲裁器）收到总线申请</a:t>
            </a:r>
            <a:r>
              <a:rPr lang="en-US" altLang="zh-CN" sz="2400" dirty="0">
                <a:ea typeface="宋体" pitchFamily="2" charset="-122"/>
              </a:rPr>
              <a:t>BR</a:t>
            </a:r>
            <a:r>
              <a:rPr lang="zh-CN" altLang="en-US" sz="2400" dirty="0">
                <a:ea typeface="宋体" pitchFamily="2" charset="-122"/>
              </a:rPr>
              <a:t>，仲裁器上的计数器开始计数；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ea typeface="宋体" pitchFamily="2" charset="-122"/>
              </a:rPr>
              <a:t>当某个有总线申请的设备地址与计数器一致，便获得总线使用权，并建立总线忙信号</a:t>
            </a:r>
            <a:r>
              <a:rPr lang="en-US" altLang="zh-CN" sz="2400" dirty="0">
                <a:ea typeface="宋体" pitchFamily="2" charset="-122"/>
              </a:rPr>
              <a:t>BS</a:t>
            </a:r>
            <a:r>
              <a:rPr lang="zh-CN" altLang="en-US" sz="2400" dirty="0">
                <a:ea typeface="宋体" pitchFamily="2" charset="-122"/>
              </a:rPr>
              <a:t>。</a:t>
            </a: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ea typeface="宋体" pitchFamily="2" charset="-122"/>
              </a:rPr>
              <a:t>优先级问题？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87688" y="6165304"/>
            <a:ext cx="6120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硬件较复杂，但对故障不敏感，优先级定义灵活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281287"/>
            <a:ext cx="5257800" cy="422275"/>
          </a:xfrm>
        </p:spPr>
        <p:txBody>
          <a:bodyPr/>
          <a:lstStyle/>
          <a:p>
            <a:r>
              <a:rPr lang="en-US" altLang="zh-CN" sz="2800" i="0" dirty="0" smtClean="0"/>
              <a:t>1 </a:t>
            </a:r>
            <a:r>
              <a:rPr lang="zh-CN" altLang="en-US" sz="2800" i="0" dirty="0" smtClean="0"/>
              <a:t>总线</a:t>
            </a:r>
            <a:r>
              <a:rPr lang="zh-CN" altLang="en-US" sz="2800" i="0" dirty="0"/>
              <a:t>的仲裁方式</a:t>
            </a:r>
          </a:p>
        </p:txBody>
      </p:sp>
      <p:sp>
        <p:nvSpPr>
          <p:cNvPr id="47821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981075"/>
            <a:ext cx="9505305" cy="1206500"/>
          </a:xfrm>
          <a:noFill/>
          <a:ln/>
        </p:spPr>
        <p:txBody>
          <a:bodyPr vert="horz" wrap="square" lIns="63500" tIns="61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 dirty="0">
                <a:ea typeface="宋体" pitchFamily="2" charset="-122"/>
              </a:rPr>
              <a:t>独立请求方式</a:t>
            </a:r>
          </a:p>
          <a:p>
            <a:pPr lvl="1"/>
            <a:r>
              <a:rPr lang="zh-CN" altLang="en-US" sz="2000" dirty="0">
                <a:ea typeface="宋体" pitchFamily="2" charset="-122"/>
              </a:rPr>
              <a:t>每个设备有独立的请求信号和总线同意信号；</a:t>
            </a:r>
          </a:p>
          <a:p>
            <a:pPr lvl="1"/>
            <a:r>
              <a:rPr lang="zh-CN" altLang="en-US" sz="2000" dirty="0">
                <a:ea typeface="宋体" pitchFamily="2" charset="-122"/>
              </a:rPr>
              <a:t>总线控制器根据设备的优先级决定将总线的使用权交给哪个设备。</a:t>
            </a:r>
          </a:p>
        </p:txBody>
      </p:sp>
      <p:graphicFrame>
        <p:nvGraphicFramePr>
          <p:cNvPr id="478215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62437303"/>
              </p:ext>
            </p:extLst>
          </p:nvPr>
        </p:nvGraphicFramePr>
        <p:xfrm>
          <a:off x="2459832" y="2163215"/>
          <a:ext cx="7345362" cy="391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299" name="Visio" r:id="rId4" imgW="5791505" imgH="3086100" progId="Visio.Drawing.11">
                  <p:embed/>
                </p:oleObj>
              </mc:Choice>
              <mc:Fallback>
                <p:oleObj name="Visio" r:id="rId4" imgW="5791505" imgH="3086100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832" y="2163215"/>
                        <a:ext cx="7345362" cy="391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423592" y="6165304"/>
            <a:ext cx="7344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连线最多成本高，但速度最快，对故障不敏感，优先级定义灵活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836" name="Group 4"/>
          <p:cNvGrpSpPr>
            <a:grpSpLocks/>
          </p:cNvGrpSpPr>
          <p:nvPr/>
        </p:nvGrpSpPr>
        <p:grpSpPr bwMode="auto">
          <a:xfrm>
            <a:off x="3729038" y="1809750"/>
            <a:ext cx="5327650" cy="3757613"/>
            <a:chOff x="1225" y="1131"/>
            <a:chExt cx="3356" cy="2367"/>
          </a:xfrm>
        </p:grpSpPr>
        <p:sp>
          <p:nvSpPr>
            <p:cNvPr id="504838" name="Rectangle 6"/>
            <p:cNvSpPr>
              <a:spLocks noChangeArrowheads="1"/>
            </p:cNvSpPr>
            <p:nvPr/>
          </p:nvSpPr>
          <p:spPr bwMode="auto">
            <a:xfrm>
              <a:off x="1225" y="1131"/>
              <a:ext cx="33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87000"/>
                </a:lnSpc>
              </a:pPr>
              <a:r>
                <a:rPr lang="zh-CN" altLang="en-US" sz="2800" b="1" dirty="0" smtClean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第十部分  总线与</a:t>
              </a:r>
              <a:r>
                <a:rPr lang="en-US" altLang="zh-CN" sz="2800" b="1" dirty="0" smtClean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I/O</a:t>
              </a:r>
              <a:endParaRPr lang="en-US" altLang="zh-CN" sz="2800" b="1" dirty="0">
                <a:solidFill>
                  <a:srgbClr val="001AD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4839" name="Rectangle 7"/>
            <p:cNvSpPr>
              <a:spLocks noChangeArrowheads="1"/>
            </p:cNvSpPr>
            <p:nvPr/>
          </p:nvSpPr>
          <p:spPr bwMode="auto">
            <a:xfrm>
              <a:off x="1354" y="1526"/>
              <a:ext cx="3054" cy="1972"/>
            </a:xfrm>
            <a:prstGeom prst="rect">
              <a:avLst/>
            </a:prstGeom>
            <a:noFill/>
            <a:ln w="28575">
              <a:solidFill>
                <a:srgbClr val="05AD01"/>
              </a:solidFill>
              <a:miter lim="800000"/>
              <a:headEnd/>
              <a:tailEnd/>
            </a:ln>
            <a:effectLst/>
          </p:spPr>
          <p:txBody>
            <a:bodyPr lIns="63500" tIns="133200" rIns="63500" bIns="133200">
              <a:spAutoFit/>
            </a:bodyPr>
            <a:lstStyle/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 smtClean="0">
                  <a:solidFill>
                    <a:schemeClr val="tx1"/>
                  </a:solidFill>
                  <a:ea typeface="宋体" pitchFamily="2" charset="-122"/>
                </a:rPr>
                <a:t>总线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的仲裁</a:t>
              </a:r>
              <a:endParaRPr lang="en-US" altLang="zh-CN" sz="2400" b="1" dirty="0">
                <a:solidFill>
                  <a:schemeClr val="tx1"/>
                </a:solidFill>
                <a:ea typeface="宋体" pitchFamily="2" charset="-122"/>
              </a:endParaRP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>
                  <a:solidFill>
                    <a:schemeClr val="accent2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accent2"/>
                  </a:solidFill>
                  <a:ea typeface="宋体" pitchFamily="2" charset="-122"/>
                </a:rPr>
                <a:t>接口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程序查询</a:t>
              </a: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中断与中断</a:t>
              </a: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>
                  <a:solidFill>
                    <a:schemeClr val="tx1"/>
                  </a:solidFill>
                  <a:ea typeface="宋体" pitchFamily="2" charset="-122"/>
                </a:rPr>
                <a:t>DMA I/O</a:t>
              </a:r>
              <a:r>
                <a:rPr lang="zh-CN" altLang="en-US" sz="2400" b="1" dirty="0" smtClean="0">
                  <a:solidFill>
                    <a:schemeClr val="tx1"/>
                  </a:solidFill>
                  <a:ea typeface="宋体" pitchFamily="2" charset="-122"/>
                </a:rPr>
                <a:t>方式</a:t>
              </a:r>
              <a:endParaRPr lang="zh-CN" altLang="en-US" sz="2400" b="1" dirty="0">
                <a:solidFill>
                  <a:schemeClr val="tx1"/>
                </a:solidFill>
                <a:ea typeface="宋体" pitchFamily="2" charset="-122"/>
              </a:endParaRP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endParaRPr lang="zh-CN" altLang="en-US" sz="2400" b="1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601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337632"/>
            <a:ext cx="5257800" cy="422275"/>
          </a:xfrm>
        </p:spPr>
        <p:txBody>
          <a:bodyPr/>
          <a:lstStyle/>
          <a:p>
            <a:r>
              <a:rPr lang="en-US" altLang="zh-CN" sz="2800" dirty="0" smtClean="0"/>
              <a:t>2 </a:t>
            </a:r>
            <a:r>
              <a:rPr lang="en-US" altLang="zh-CN" sz="2800" dirty="0"/>
              <a:t>I/O</a:t>
            </a:r>
            <a:r>
              <a:rPr lang="zh-CN" altLang="en-US" sz="2800" dirty="0"/>
              <a:t>接口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891669"/>
            <a:ext cx="10920908" cy="2043113"/>
          </a:xfrm>
        </p:spPr>
        <p:txBody>
          <a:bodyPr vert="horz" wrap="square" lIns="63500" tIns="61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dirty="0">
                <a:ea typeface="宋体" pitchFamily="2" charset="-122"/>
              </a:rPr>
              <a:t>外部设备并不直接挂接在系统总线</a:t>
            </a:r>
            <a:r>
              <a:rPr lang="zh-CN" altLang="en-US" dirty="0" smtClean="0">
                <a:ea typeface="宋体" pitchFamily="2" charset="-122"/>
              </a:rPr>
              <a:t>上</a:t>
            </a:r>
            <a:r>
              <a:rPr lang="zh-CN" altLang="en-US" dirty="0">
                <a:ea typeface="宋体" pitchFamily="2" charset="-122"/>
              </a:rPr>
              <a:t>，</a:t>
            </a:r>
            <a:r>
              <a:rPr lang="zh-CN" altLang="en-US" dirty="0" smtClean="0">
                <a:ea typeface="宋体" pitchFamily="2" charset="-122"/>
              </a:rPr>
              <a:t>而是</a:t>
            </a:r>
            <a:r>
              <a:rPr lang="zh-CN" altLang="en-US" dirty="0">
                <a:ea typeface="宋体" pitchFamily="2" charset="-122"/>
              </a:rPr>
              <a:t>通过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接口为桥梁实现与系统总线的连接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dirty="0">
                <a:ea typeface="宋体" pitchFamily="2" charset="-122"/>
              </a:rPr>
              <a:t>各种外设使用不同的操作方法，由</a:t>
            </a:r>
            <a:r>
              <a:rPr lang="en-US" altLang="zh-CN" dirty="0">
                <a:ea typeface="宋体" pitchFamily="2" charset="-122"/>
              </a:rPr>
              <a:t>CPU</a:t>
            </a:r>
            <a:r>
              <a:rPr lang="zh-CN" altLang="en-US" dirty="0">
                <a:ea typeface="宋体" pitchFamily="2" charset="-122"/>
              </a:rPr>
              <a:t>来直接控制不同的外设不切实际。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dirty="0">
                <a:ea typeface="宋体" pitchFamily="2" charset="-122"/>
              </a:rPr>
              <a:t>外设的数据传送速度比存储器和处理器的速度慢得多，使用高速的系统总线与慢速的外设直接连接，不切实际。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dirty="0">
                <a:ea typeface="宋体" pitchFamily="2" charset="-122"/>
              </a:rPr>
              <a:t>外设经常使用与处理器不同的数据格式和字长度。</a:t>
            </a:r>
          </a:p>
        </p:txBody>
      </p:sp>
      <p:sp>
        <p:nvSpPr>
          <p:cNvPr id="390148" name="AutoShape 4"/>
          <p:cNvSpPr>
            <a:spLocks noChangeArrowheads="1"/>
          </p:cNvSpPr>
          <p:nvPr/>
        </p:nvSpPr>
        <p:spPr bwMode="auto">
          <a:xfrm>
            <a:off x="2895600" y="3068638"/>
            <a:ext cx="6629400" cy="457200"/>
          </a:xfrm>
          <a:prstGeom prst="leftRightArrow">
            <a:avLst>
              <a:gd name="adj1" fmla="val 30556"/>
              <a:gd name="adj2" fmla="val 83711"/>
            </a:avLst>
          </a:prstGeom>
          <a:solidFill>
            <a:srgbClr val="0408B2"/>
          </a:solidFill>
          <a:ln w="12700">
            <a:solidFill>
              <a:srgbClr val="28077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150" name="Rectangle 6"/>
          <p:cNvSpPr>
            <a:spLocks noChangeArrowheads="1"/>
          </p:cNvSpPr>
          <p:nvPr/>
        </p:nvSpPr>
        <p:spPr bwMode="auto">
          <a:xfrm>
            <a:off x="5029200" y="3906838"/>
            <a:ext cx="19812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b="1">
                <a:ea typeface="宋体" pitchFamily="2" charset="-122"/>
              </a:rPr>
              <a:t>I/O</a:t>
            </a:r>
            <a:r>
              <a:rPr lang="zh-CN" altLang="en-US" b="1">
                <a:ea typeface="宋体" pitchFamily="2" charset="-122"/>
              </a:rPr>
              <a:t>接口</a:t>
            </a:r>
          </a:p>
        </p:txBody>
      </p:sp>
      <p:sp>
        <p:nvSpPr>
          <p:cNvPr id="390152" name="AutoShape 8"/>
          <p:cNvSpPr>
            <a:spLocks noChangeArrowheads="1"/>
          </p:cNvSpPr>
          <p:nvPr/>
        </p:nvSpPr>
        <p:spPr bwMode="auto">
          <a:xfrm>
            <a:off x="5867400" y="3373438"/>
            <a:ext cx="381000" cy="533400"/>
          </a:xfrm>
          <a:prstGeom prst="upDownArrow">
            <a:avLst>
              <a:gd name="adj1" fmla="val 50000"/>
              <a:gd name="adj2" fmla="val 28000"/>
            </a:avLst>
          </a:prstGeom>
          <a:solidFill>
            <a:srgbClr val="D5AD0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0153" name="Rectangle 9"/>
          <p:cNvSpPr>
            <a:spLocks noChangeArrowheads="1"/>
          </p:cNvSpPr>
          <p:nvPr/>
        </p:nvSpPr>
        <p:spPr bwMode="auto">
          <a:xfrm>
            <a:off x="4343400" y="5354638"/>
            <a:ext cx="3276600" cy="1143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800" b="1">
                <a:solidFill>
                  <a:srgbClr val="0408B2"/>
                </a:solidFill>
                <a:ea typeface="宋体" pitchFamily="2" charset="-122"/>
              </a:rPr>
              <a:t>外部设备</a:t>
            </a:r>
          </a:p>
        </p:txBody>
      </p:sp>
      <p:sp>
        <p:nvSpPr>
          <p:cNvPr id="390154" name="Line 10"/>
          <p:cNvSpPr>
            <a:spLocks noChangeShapeType="1"/>
          </p:cNvSpPr>
          <p:nvPr/>
        </p:nvSpPr>
        <p:spPr bwMode="auto">
          <a:xfrm>
            <a:off x="5257800" y="4592638"/>
            <a:ext cx="0" cy="762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0155" name="Line 11"/>
          <p:cNvSpPr>
            <a:spLocks noChangeShapeType="1"/>
          </p:cNvSpPr>
          <p:nvPr/>
        </p:nvSpPr>
        <p:spPr bwMode="auto">
          <a:xfrm flipV="1">
            <a:off x="5638800" y="4592638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0157" name="AutoShape 13"/>
          <p:cNvSpPr>
            <a:spLocks noChangeArrowheads="1"/>
          </p:cNvSpPr>
          <p:nvPr/>
        </p:nvSpPr>
        <p:spPr bwMode="auto">
          <a:xfrm>
            <a:off x="6629400" y="4592638"/>
            <a:ext cx="228600" cy="762000"/>
          </a:xfrm>
          <a:prstGeom prst="upDownArrow">
            <a:avLst>
              <a:gd name="adj1" fmla="val 50000"/>
              <a:gd name="adj2" fmla="val 66667"/>
            </a:avLst>
          </a:prstGeom>
          <a:solidFill>
            <a:srgbClr val="05AD01"/>
          </a:solidFill>
          <a:ln w="12700">
            <a:solidFill>
              <a:srgbClr val="05AD0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0158" name="Text Box 14"/>
          <p:cNvSpPr txBox="1">
            <a:spLocks noChangeArrowheads="1"/>
          </p:cNvSpPr>
          <p:nvPr/>
        </p:nvSpPr>
        <p:spPr bwMode="auto">
          <a:xfrm>
            <a:off x="3200400" y="3373439"/>
            <a:ext cx="1905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System Bus</a:t>
            </a:r>
          </a:p>
        </p:txBody>
      </p:sp>
      <p:sp>
        <p:nvSpPr>
          <p:cNvPr id="390159" name="Text Box 15"/>
          <p:cNvSpPr txBox="1">
            <a:spLocks noChangeArrowheads="1"/>
          </p:cNvSpPr>
          <p:nvPr/>
        </p:nvSpPr>
        <p:spPr bwMode="auto">
          <a:xfrm>
            <a:off x="6629400" y="4745039"/>
            <a:ext cx="9906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5AD0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390160" name="Text Box 16"/>
          <p:cNvSpPr txBox="1">
            <a:spLocks noChangeArrowheads="1"/>
          </p:cNvSpPr>
          <p:nvPr/>
        </p:nvSpPr>
        <p:spPr bwMode="auto">
          <a:xfrm>
            <a:off x="4114800" y="4745039"/>
            <a:ext cx="13716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Control</a:t>
            </a:r>
          </a:p>
        </p:txBody>
      </p:sp>
      <p:sp>
        <p:nvSpPr>
          <p:cNvPr id="390161" name="Text Box 17"/>
          <p:cNvSpPr txBox="1">
            <a:spLocks noChangeArrowheads="1"/>
          </p:cNvSpPr>
          <p:nvPr/>
        </p:nvSpPr>
        <p:spPr bwMode="auto">
          <a:xfrm>
            <a:off x="5562600" y="4897439"/>
            <a:ext cx="9906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42586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332656"/>
            <a:ext cx="5257800" cy="422275"/>
          </a:xfrm>
        </p:spPr>
        <p:txBody>
          <a:bodyPr/>
          <a:lstStyle/>
          <a:p>
            <a:r>
              <a:rPr lang="en-US" altLang="zh-CN" sz="2800" dirty="0" smtClean="0"/>
              <a:t>2  </a:t>
            </a:r>
            <a:r>
              <a:rPr lang="en-US" altLang="zh-CN" sz="2800" dirty="0"/>
              <a:t>I/O</a:t>
            </a:r>
            <a:r>
              <a:rPr lang="zh-CN" altLang="en-US" sz="2800" dirty="0"/>
              <a:t>接口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914400"/>
            <a:ext cx="11233248" cy="5221942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3600" dirty="0">
                <a:ea typeface="宋体" pitchFamily="2" charset="-122"/>
              </a:rPr>
              <a:t>I/O</a:t>
            </a:r>
            <a:r>
              <a:rPr lang="zh-CN" altLang="en-US" sz="3600" dirty="0">
                <a:ea typeface="宋体" pitchFamily="2" charset="-122"/>
              </a:rPr>
              <a:t>接口的功能</a:t>
            </a:r>
          </a:p>
          <a:p>
            <a:pPr marL="812800" lvl="1" indent="-338138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dirty="0">
                <a:ea typeface="宋体" pitchFamily="2" charset="-122"/>
              </a:rPr>
              <a:t>识别</a:t>
            </a:r>
            <a:r>
              <a:rPr lang="en-US" altLang="zh-CN" sz="2800" dirty="0">
                <a:ea typeface="宋体" pitchFamily="2" charset="-122"/>
              </a:rPr>
              <a:t>I/O</a:t>
            </a:r>
            <a:r>
              <a:rPr lang="zh-CN" altLang="en-US" sz="2800" dirty="0">
                <a:ea typeface="宋体" pitchFamily="2" charset="-122"/>
              </a:rPr>
              <a:t>地址，即地址译码；</a:t>
            </a:r>
          </a:p>
          <a:p>
            <a:pPr marL="812800" lvl="1" indent="-338138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dirty="0">
                <a:ea typeface="宋体" pitchFamily="2" charset="-122"/>
              </a:rPr>
              <a:t>实现主机与</a:t>
            </a:r>
            <a:r>
              <a:rPr lang="en-US" altLang="zh-CN" sz="2800" dirty="0">
                <a:ea typeface="宋体" pitchFamily="2" charset="-122"/>
              </a:rPr>
              <a:t>I/O</a:t>
            </a:r>
            <a:r>
              <a:rPr lang="zh-CN" altLang="en-US" sz="2800" dirty="0">
                <a:ea typeface="宋体" pitchFamily="2" charset="-122"/>
              </a:rPr>
              <a:t>设备的数据交换、控制命令的传递和状态检测与传递；</a:t>
            </a:r>
          </a:p>
          <a:p>
            <a:pPr marL="812800" lvl="1" indent="-338138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dirty="0">
                <a:ea typeface="宋体" pitchFamily="2" charset="-122"/>
              </a:rPr>
              <a:t>提供缓冲和驱动能力；</a:t>
            </a:r>
          </a:p>
          <a:p>
            <a:pPr marL="812800" lvl="1" indent="-338138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dirty="0">
                <a:ea typeface="宋体" pitchFamily="2" charset="-122"/>
              </a:rPr>
              <a:t>进行数据格式、类型方面的转换（串并行转换，电平转换等）；</a:t>
            </a:r>
          </a:p>
          <a:p>
            <a:pPr marL="812800" lvl="1" indent="-338138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dirty="0">
                <a:ea typeface="宋体" pitchFamily="2" charset="-122"/>
              </a:rPr>
              <a:t>支持一定的</a:t>
            </a:r>
            <a:r>
              <a:rPr lang="en-US" altLang="zh-CN" sz="2800" dirty="0">
                <a:ea typeface="宋体" pitchFamily="2" charset="-122"/>
              </a:rPr>
              <a:t>I/O</a:t>
            </a:r>
            <a:r>
              <a:rPr lang="zh-CN" altLang="en-US" sz="2800" dirty="0">
                <a:ea typeface="宋体" pitchFamily="2" charset="-122"/>
              </a:rPr>
              <a:t>方式（程序查询、程序中断、</a:t>
            </a:r>
            <a:r>
              <a:rPr lang="en-US" altLang="zh-CN" sz="2800" dirty="0">
                <a:ea typeface="宋体" pitchFamily="2" charset="-122"/>
              </a:rPr>
              <a:t>DMA</a:t>
            </a:r>
            <a:r>
              <a:rPr lang="zh-CN" altLang="en-US" sz="2800" dirty="0">
                <a:ea typeface="宋体" pitchFamily="2" charset="-122"/>
              </a:rPr>
              <a:t>等）；</a:t>
            </a:r>
          </a:p>
          <a:p>
            <a:pPr marL="812800" lvl="1" indent="-338138">
              <a:lnSpc>
                <a:spcPct val="105000"/>
              </a:lnSpc>
              <a:spcBef>
                <a:spcPct val="20000"/>
              </a:spcBef>
            </a:pPr>
            <a:r>
              <a:rPr lang="en-US" altLang="zh-CN" sz="2800" dirty="0">
                <a:ea typeface="宋体" pitchFamily="2" charset="-122"/>
              </a:rPr>
              <a:t>I/O</a:t>
            </a:r>
            <a:r>
              <a:rPr lang="zh-CN" altLang="en-US" sz="2800" dirty="0">
                <a:ea typeface="宋体" pitchFamily="2" charset="-122"/>
              </a:rPr>
              <a:t>控制与定时</a:t>
            </a:r>
          </a:p>
        </p:txBody>
      </p:sp>
    </p:spTree>
    <p:extLst>
      <p:ext uri="{BB962C8B-B14F-4D97-AF65-F5344CB8AC3E}">
        <p14:creationId xmlns:p14="http://schemas.microsoft.com/office/powerpoint/2010/main" val="171269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404664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2  </a:t>
            </a:r>
            <a:r>
              <a:rPr lang="en-US" altLang="zh-CN" dirty="0"/>
              <a:t>I/O</a:t>
            </a:r>
            <a:r>
              <a:rPr lang="zh-CN" altLang="en-US" dirty="0"/>
              <a:t>接口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981075"/>
            <a:ext cx="10441160" cy="4575612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3200" dirty="0">
                <a:ea typeface="宋体" pitchFamily="2" charset="-122"/>
              </a:rPr>
              <a:t>I/O</a:t>
            </a:r>
            <a:r>
              <a:rPr lang="zh-CN" altLang="en-US" sz="3200" dirty="0">
                <a:ea typeface="宋体" pitchFamily="2" charset="-122"/>
              </a:rPr>
              <a:t>接口的分类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按传送数据格式：串行接口，并行接口</a:t>
            </a:r>
          </a:p>
          <a:p>
            <a:pPr lvl="2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串行接口适合速度低、传输距离长的环境</a:t>
            </a:r>
          </a:p>
          <a:p>
            <a:pPr lvl="2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并行接口适合速度高、传输距离短的环境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按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方式：程序查询接口、中断接口、</a:t>
            </a:r>
            <a:r>
              <a:rPr lang="en-US" altLang="zh-CN" sz="2400" dirty="0">
                <a:ea typeface="宋体" pitchFamily="2" charset="-122"/>
              </a:rPr>
              <a:t>DMA</a:t>
            </a:r>
            <a:r>
              <a:rPr lang="zh-CN" altLang="en-US" sz="2400" dirty="0">
                <a:ea typeface="宋体" pitchFamily="2" charset="-122"/>
              </a:rPr>
              <a:t>接口、通道控制接口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按时序控制方式：同步接口、异步接口</a:t>
            </a:r>
          </a:p>
          <a:p>
            <a:pPr lvl="2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同步接口：数据传送由一个统一的时钟信号同步控制</a:t>
            </a:r>
          </a:p>
          <a:p>
            <a:pPr lvl="2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>
                <a:ea typeface="宋体" pitchFamily="2" charset="-122"/>
              </a:rPr>
              <a:t>异步接口：数据传送采用异步应答方式控制</a:t>
            </a:r>
          </a:p>
        </p:txBody>
      </p:sp>
    </p:spTree>
    <p:extLst>
      <p:ext uri="{BB962C8B-B14F-4D97-AF65-F5344CB8AC3E}">
        <p14:creationId xmlns:p14="http://schemas.microsoft.com/office/powerpoint/2010/main" val="64988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57647" y="332656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2 </a:t>
            </a:r>
            <a:r>
              <a:rPr lang="en-US" altLang="zh-CN" dirty="0"/>
              <a:t>I/O</a:t>
            </a:r>
            <a:r>
              <a:rPr lang="zh-CN" altLang="en-US" dirty="0"/>
              <a:t>接口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7647" y="980728"/>
            <a:ext cx="10866945" cy="547335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ea typeface="宋体" pitchFamily="2" charset="-122"/>
              </a:rPr>
              <a:t>I/O</a:t>
            </a:r>
            <a:r>
              <a:rPr lang="zh-CN" altLang="en-US" sz="3200" dirty="0">
                <a:ea typeface="宋体" pitchFamily="2" charset="-122"/>
              </a:rPr>
              <a:t>设备的编址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接口的编址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ea typeface="宋体" pitchFamily="2" charset="-122"/>
              </a:rPr>
              <a:t>编址方式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ea typeface="宋体" pitchFamily="2" charset="-122"/>
              </a:rPr>
              <a:t>独立编址方式：存储器地址与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地址分开，</a:t>
            </a:r>
            <a:r>
              <a:rPr lang="en-US" altLang="zh-CN" sz="2400" dirty="0">
                <a:ea typeface="宋体" pitchFamily="2" charset="-122"/>
              </a:rPr>
              <a:t>CPU</a:t>
            </a:r>
            <a:r>
              <a:rPr lang="zh-CN" altLang="en-US" sz="2400" dirty="0">
                <a:ea typeface="宋体" pitchFamily="2" charset="-122"/>
              </a:rPr>
              <a:t>具有专用的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指令，系统总线中具有区别存储器读写和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操作的控制信号，并以此区别地址总线上的地址是存储器地址还是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地址。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ea typeface="宋体" pitchFamily="2" charset="-122"/>
              </a:rPr>
              <a:t>统一编址方式：存储器地址与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地址统一考虑，地址空间的一部分是存储器，另一部分是</a:t>
            </a:r>
            <a:r>
              <a:rPr lang="en-US" altLang="zh-CN" sz="2400" dirty="0">
                <a:ea typeface="宋体" pitchFamily="2" charset="-122"/>
              </a:rPr>
              <a:t>I/O，</a:t>
            </a:r>
            <a:r>
              <a:rPr lang="zh-CN" altLang="en-US" sz="2400" dirty="0">
                <a:ea typeface="宋体" pitchFamily="2" charset="-122"/>
              </a:rPr>
              <a:t>支持存储器操作的指令都可用于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操作。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地址（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接口地址, 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端口地址）：实际上是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接口电路中寄存器的地址。</a:t>
            </a:r>
          </a:p>
        </p:txBody>
      </p:sp>
      <p:pic>
        <p:nvPicPr>
          <p:cNvPr id="560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-99392"/>
            <a:ext cx="3703269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42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129" y="332656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2 I/O</a:t>
            </a:r>
            <a:r>
              <a:rPr lang="zh-CN" altLang="en-US" dirty="0"/>
              <a:t>接口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1839" y="1048481"/>
            <a:ext cx="7848600" cy="325438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接口</a:t>
            </a:r>
            <a:r>
              <a:rPr lang="zh-CN" altLang="en-US" dirty="0" smtClean="0">
                <a:ea typeface="宋体" pitchFamily="2" charset="-122"/>
              </a:rPr>
              <a:t>的通用结</a:t>
            </a:r>
            <a:r>
              <a:rPr lang="zh-CN" altLang="en-US" dirty="0">
                <a:ea typeface="宋体" pitchFamily="2" charset="-122"/>
              </a:rPr>
              <a:t>构</a:t>
            </a:r>
          </a:p>
        </p:txBody>
      </p:sp>
      <p:graphicFrame>
        <p:nvGraphicFramePr>
          <p:cNvPr id="393220" name="Object 4"/>
          <p:cNvGraphicFramePr>
            <a:graphicFrameLocks noChangeAspect="1"/>
          </p:cNvGraphicFramePr>
          <p:nvPr>
            <p:extLst/>
          </p:nvPr>
        </p:nvGraphicFramePr>
        <p:xfrm>
          <a:off x="874713" y="1484784"/>
          <a:ext cx="9999460" cy="448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58" name="Visio" r:id="rId3" imgW="6959735" imgH="3120672" progId="Visio.Drawing.11">
                  <p:embed/>
                </p:oleObj>
              </mc:Choice>
              <mc:Fallback>
                <p:oleObj name="Visio" r:id="rId3" imgW="6959735" imgH="312067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1484784"/>
                        <a:ext cx="9999460" cy="448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3289" name="Picture 73" descr="https://timgsa.baidu.com/timg?image&amp;quality=80&amp;size=b9999_10000&amp;sec=1607519323139&amp;di=69b6c151a43f2062da219216a65d3ed6&amp;imgtype=0&amp;src=http%3A%2F%2Fimg18.3lian.com%2Fd%2Ffile%2F201709%2F11%2F4e2323f8353bc7454f069363e6740b89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0056440" y="5460633"/>
            <a:ext cx="2041732" cy="110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35397" y="3327030"/>
            <a:ext cx="1271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CPU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264102" y="3272654"/>
            <a:ext cx="1271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I/O</a:t>
            </a:r>
            <a:r>
              <a:rPr lang="zh-CN" altLang="en-US" dirty="0" smtClean="0"/>
              <a:t>设备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616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6" y="369165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2 </a:t>
            </a:r>
            <a:r>
              <a:rPr lang="en-US" altLang="zh-CN" dirty="0"/>
              <a:t>I/O</a:t>
            </a:r>
            <a:r>
              <a:rPr lang="zh-CN" altLang="en-US" dirty="0"/>
              <a:t>接口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895553"/>
            <a:ext cx="9144744" cy="1011238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接口地址选择（译码）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接口地址是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接口电路中寄存器的地址</a:t>
            </a:r>
          </a:p>
          <a:p>
            <a:pPr lvl="1"/>
            <a:r>
              <a:rPr lang="zh-CN" altLang="en-US" dirty="0">
                <a:ea typeface="宋体" pitchFamily="2" charset="-122"/>
              </a:rPr>
              <a:t>单独编址方式下的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地址选择电路</a:t>
            </a:r>
          </a:p>
        </p:txBody>
      </p:sp>
      <p:graphicFrame>
        <p:nvGraphicFramePr>
          <p:cNvPr id="394246" name="Object 6"/>
          <p:cNvGraphicFramePr>
            <a:graphicFrameLocks noChangeAspect="1"/>
          </p:cNvGraphicFramePr>
          <p:nvPr/>
        </p:nvGraphicFramePr>
        <p:xfrm>
          <a:off x="2640014" y="2060576"/>
          <a:ext cx="6524625" cy="451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482" name="VISIO" r:id="rId4" imgW="6321240" imgH="4377960" progId="Visio.Drawing.11">
                  <p:embed/>
                </p:oleObj>
              </mc:Choice>
              <mc:Fallback>
                <p:oleObj name="VISIO" r:id="rId4" imgW="6321240" imgH="43779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2060576"/>
                        <a:ext cx="6524625" cy="451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968208" y="5805264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独立编址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63552" y="407707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36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882" name="Group 2"/>
          <p:cNvGrpSpPr>
            <a:grpSpLocks/>
          </p:cNvGrpSpPr>
          <p:nvPr/>
        </p:nvGrpSpPr>
        <p:grpSpPr bwMode="auto">
          <a:xfrm>
            <a:off x="3729038" y="1809750"/>
            <a:ext cx="5327650" cy="3241675"/>
            <a:chOff x="1225" y="1131"/>
            <a:chExt cx="3356" cy="2042"/>
          </a:xfrm>
        </p:grpSpPr>
        <p:sp>
          <p:nvSpPr>
            <p:cNvPr id="506884" name="Rectangle 4"/>
            <p:cNvSpPr>
              <a:spLocks noGrp="1" noChangeArrowheads="1"/>
            </p:cNvSpPr>
            <p:nvPr/>
          </p:nvSpPr>
          <p:spPr bwMode="auto">
            <a:xfrm>
              <a:off x="1225" y="1131"/>
              <a:ext cx="3356" cy="268"/>
            </a:xfrm>
            <a:prstGeom prst="rect">
              <a:avLst/>
            </a:prstGeom>
            <a:noFill/>
            <a:ln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lnSpc>
                  <a:spcPct val="87000"/>
                </a:lnSpc>
              </a:pPr>
              <a:r>
                <a:rPr lang="zh-CN" altLang="en-US" sz="2800" b="1" dirty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第九部分：输入输出接口</a:t>
              </a:r>
              <a:endParaRPr lang="en-US" altLang="zh-CN" sz="2800" b="1" dirty="0">
                <a:solidFill>
                  <a:srgbClr val="001AD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6885" name="Rectangle 5"/>
            <p:cNvSpPr>
              <a:spLocks noChangeArrowheads="1"/>
            </p:cNvSpPr>
            <p:nvPr/>
          </p:nvSpPr>
          <p:spPr bwMode="auto">
            <a:xfrm>
              <a:off x="1354" y="1526"/>
              <a:ext cx="3054" cy="1647"/>
            </a:xfrm>
            <a:prstGeom prst="rect">
              <a:avLst/>
            </a:prstGeom>
            <a:noFill/>
            <a:ln w="28575">
              <a:solidFill>
                <a:srgbClr val="05AD01"/>
              </a:solidFill>
              <a:miter lim="800000"/>
              <a:headEnd/>
              <a:tailEnd/>
            </a:ln>
            <a:effectLst/>
          </p:spPr>
          <p:txBody>
            <a:bodyPr lIns="63500" tIns="133200" rIns="63500" bIns="133200">
              <a:spAutoFit/>
            </a:bodyPr>
            <a:lstStyle/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r>
                <a:rPr lang="zh-CN" altLang="en-US" sz="2400" b="1" dirty="0">
                  <a:ea typeface="宋体" pitchFamily="2" charset="-122"/>
                </a:rPr>
                <a:t>一、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总线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r>
                <a:rPr lang="zh-CN" altLang="en-US" sz="2400" b="1" dirty="0">
                  <a:ea typeface="宋体" pitchFamily="2" charset="-122"/>
                </a:rPr>
                <a:t>二、</a:t>
              </a: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接口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r>
                <a:rPr lang="zh-CN" altLang="en-US" sz="2400" b="1" dirty="0">
                  <a:ea typeface="宋体" pitchFamily="2" charset="-122"/>
                </a:rPr>
                <a:t>三、</a:t>
              </a:r>
              <a:r>
                <a:rPr lang="zh-CN" altLang="en-US" sz="2400" b="1" dirty="0">
                  <a:solidFill>
                    <a:schemeClr val="accent2"/>
                  </a:solidFill>
                  <a:ea typeface="宋体" pitchFamily="2" charset="-122"/>
                </a:rPr>
                <a:t>程序查询</a:t>
              </a:r>
              <a:r>
                <a:rPr lang="en-US" altLang="zh-CN" sz="2400" b="1" dirty="0">
                  <a:solidFill>
                    <a:schemeClr val="accent2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accent2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r>
                <a:rPr lang="zh-CN" altLang="en-US" sz="2400" b="1" dirty="0">
                  <a:ea typeface="宋体" pitchFamily="2" charset="-122"/>
                </a:rPr>
                <a:t>四、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中断与中断</a:t>
              </a: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</a:pPr>
              <a:r>
                <a:rPr lang="zh-CN" altLang="en-US" sz="2400" b="1" dirty="0">
                  <a:ea typeface="宋体" pitchFamily="2" charset="-122"/>
                </a:rPr>
                <a:t>五、</a:t>
              </a: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DMA I/O</a:t>
              </a:r>
              <a:r>
                <a:rPr lang="zh-CN" altLang="en-US" sz="2400" b="1" dirty="0" smtClean="0">
                  <a:solidFill>
                    <a:srgbClr val="C0C0C0"/>
                  </a:solidFill>
                  <a:ea typeface="宋体" pitchFamily="2" charset="-122"/>
                </a:rPr>
                <a:t>方式</a:t>
              </a:r>
              <a:endParaRPr lang="zh-CN" altLang="en-US" sz="2400" b="1" dirty="0">
                <a:solidFill>
                  <a:srgbClr val="C0C0C0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019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404664"/>
            <a:ext cx="5257800" cy="372603"/>
          </a:xfrm>
        </p:spPr>
        <p:txBody>
          <a:bodyPr/>
          <a:lstStyle/>
          <a:p>
            <a:r>
              <a:rPr lang="en-US" altLang="zh-CN" i="0" dirty="0" smtClean="0"/>
              <a:t>3 </a:t>
            </a:r>
            <a:r>
              <a:rPr lang="zh-CN" altLang="en-US" i="0" dirty="0" smtClean="0"/>
              <a:t>程序</a:t>
            </a:r>
            <a:r>
              <a:rPr lang="zh-CN" altLang="en-US" i="0" dirty="0"/>
              <a:t>查询</a:t>
            </a:r>
            <a:r>
              <a:rPr lang="en-US" altLang="zh-CN" i="0" dirty="0"/>
              <a:t>I/O</a:t>
            </a:r>
            <a:r>
              <a:rPr lang="zh-CN" altLang="en-US" i="0" dirty="0"/>
              <a:t>方式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928553"/>
            <a:ext cx="10585176" cy="4652556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ea typeface="宋体" pitchFamily="2" charset="-122"/>
              </a:rPr>
              <a:t>也</a:t>
            </a:r>
            <a:r>
              <a:rPr lang="zh-CN" altLang="en-US" dirty="0" smtClean="0">
                <a:ea typeface="宋体" pitchFamily="2" charset="-122"/>
              </a:rPr>
              <a:t>称编程</a:t>
            </a:r>
            <a:r>
              <a:rPr lang="zh-CN" altLang="en-US" dirty="0">
                <a:ea typeface="宋体" pitchFamily="2" charset="-122"/>
              </a:rPr>
              <a:t>式</a:t>
            </a:r>
            <a:r>
              <a:rPr lang="en-US" altLang="zh-CN" dirty="0" smtClean="0">
                <a:ea typeface="宋体" pitchFamily="2" charset="-122"/>
              </a:rPr>
              <a:t>I/O</a:t>
            </a:r>
            <a:r>
              <a:rPr lang="zh-CN" altLang="en-US" dirty="0" smtClean="0">
                <a:ea typeface="宋体" pitchFamily="2" charset="-122"/>
              </a:rPr>
              <a:t>，处理器执行程序直接控制</a:t>
            </a:r>
            <a:r>
              <a:rPr lang="en-US" altLang="zh-CN" dirty="0" smtClean="0">
                <a:ea typeface="宋体" pitchFamily="2" charset="-122"/>
              </a:rPr>
              <a:t>I/O</a:t>
            </a:r>
            <a:r>
              <a:rPr lang="zh-CN" altLang="en-US" dirty="0" smtClean="0">
                <a:ea typeface="宋体" pitchFamily="2" charset="-122"/>
              </a:rPr>
              <a:t>，包括：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检测设备状态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发送读写命令（处理器发送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命令后，必须等待，直到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接口状态就绪）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传送数据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600" dirty="0">
                <a:ea typeface="宋体" pitchFamily="2" charset="-122"/>
              </a:rPr>
              <a:t>I/O</a:t>
            </a:r>
            <a:r>
              <a:rPr lang="zh-CN" altLang="en-US" sz="2600" dirty="0">
                <a:ea typeface="宋体" pitchFamily="2" charset="-122"/>
              </a:rPr>
              <a:t>命令</a:t>
            </a:r>
            <a:endParaRPr lang="en-US" altLang="zh-CN" sz="2600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控制命令：激活外设完成动作。如指示磁带机快进或快退，控制命令与设备类型相关；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测试命令：测试与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接口及其外部设备的各种状态条件；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读命令：使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接口从外设获得一个数据项，存入内部缓冲区；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写命令：使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接口从数据总线获得一个数据项，然后传送到外设。</a:t>
            </a:r>
            <a:endParaRPr lang="en-US" altLang="zh-CN" sz="20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83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332656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/>
              <a:t>程序查询</a:t>
            </a:r>
            <a:r>
              <a:rPr lang="en-US" altLang="zh-CN" dirty="0"/>
              <a:t>I/O</a:t>
            </a:r>
            <a:r>
              <a:rPr lang="zh-CN" altLang="en-US" dirty="0"/>
              <a:t>方式</a:t>
            </a:r>
          </a:p>
        </p:txBody>
      </p:sp>
      <p:pic>
        <p:nvPicPr>
          <p:cNvPr id="560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908721"/>
            <a:ext cx="5040560" cy="5617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379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61657" y="326938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/>
              <a:t>程序查询</a:t>
            </a:r>
            <a:r>
              <a:rPr lang="en-US" altLang="zh-CN" dirty="0"/>
              <a:t>I/O</a:t>
            </a:r>
            <a:r>
              <a:rPr lang="zh-CN" altLang="en-US" dirty="0"/>
              <a:t>方式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1657" y="908720"/>
            <a:ext cx="9166791" cy="1836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 smtClean="0">
                <a:ea typeface="宋体" pitchFamily="2" charset="-122"/>
              </a:rPr>
              <a:t>示例</a:t>
            </a:r>
            <a:r>
              <a:rPr lang="zh-CN" altLang="en-US" dirty="0">
                <a:ea typeface="宋体" pitchFamily="2" charset="-122"/>
              </a:rPr>
              <a:t>（串行接口</a:t>
            </a:r>
            <a:r>
              <a:rPr lang="en-US" altLang="zh-CN" dirty="0">
                <a:ea typeface="宋体" pitchFamily="2" charset="-122"/>
              </a:rPr>
              <a:t>COM1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RS-232C</a:t>
            </a:r>
            <a:r>
              <a:rPr lang="zh-CN" altLang="en-US" dirty="0">
                <a:ea typeface="宋体" pitchFamily="2" charset="-122"/>
              </a:rPr>
              <a:t>串行接口）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 smtClean="0">
                <a:ea typeface="宋体" pitchFamily="2" charset="-122"/>
              </a:rPr>
              <a:t>状态寄存器端口</a:t>
            </a:r>
            <a:r>
              <a:rPr lang="zh-CN" altLang="en-US" dirty="0" smtClean="0">
                <a:ea typeface="宋体" pitchFamily="2" charset="-122"/>
              </a:rPr>
              <a:t>地址：（</a:t>
            </a:r>
            <a:r>
              <a:rPr lang="en-US" altLang="zh-CN" dirty="0" smtClean="0">
                <a:ea typeface="宋体" pitchFamily="2" charset="-122"/>
              </a:rPr>
              <a:t>3FD</a:t>
            </a:r>
            <a:r>
              <a:rPr lang="zh-CN" altLang="en-US" dirty="0" smtClean="0">
                <a:ea typeface="宋体" pitchFamily="2" charset="-122"/>
              </a:rPr>
              <a:t>）</a:t>
            </a:r>
            <a:r>
              <a:rPr lang="en-US" altLang="zh-CN" baseline="-25000" dirty="0" smtClean="0">
                <a:ea typeface="宋体" pitchFamily="2" charset="-122"/>
              </a:rPr>
              <a:t>16</a:t>
            </a:r>
            <a:r>
              <a:rPr lang="en-US" altLang="zh-CN" dirty="0" smtClean="0">
                <a:ea typeface="宋体" pitchFamily="2" charset="-122"/>
              </a:rPr>
              <a:t> 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 smtClean="0">
                <a:ea typeface="宋体" pitchFamily="2" charset="-122"/>
              </a:rPr>
              <a:t>状态寄存器：</a:t>
            </a:r>
            <a:r>
              <a:rPr lang="en-US" altLang="zh-CN" dirty="0" smtClean="0">
                <a:ea typeface="宋体" pitchFamily="2" charset="-122"/>
              </a:rPr>
              <a:t>61H</a:t>
            </a:r>
            <a:r>
              <a:rPr lang="zh-CN" altLang="en-US" dirty="0" smtClean="0">
                <a:ea typeface="宋体" pitchFamily="2" charset="-122"/>
              </a:rPr>
              <a:t>表示数据准备就绪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 smtClean="0">
                <a:ea typeface="宋体" pitchFamily="2" charset="-122"/>
              </a:rPr>
              <a:t>数据寄存器端口</a:t>
            </a:r>
            <a:r>
              <a:rPr lang="zh-CN" altLang="en-US" dirty="0" smtClean="0">
                <a:ea typeface="宋体" pitchFamily="2" charset="-122"/>
              </a:rPr>
              <a:t>地址：（</a:t>
            </a:r>
            <a:r>
              <a:rPr lang="en-US" altLang="zh-CN" dirty="0" smtClean="0">
                <a:ea typeface="宋体" pitchFamily="2" charset="-122"/>
              </a:rPr>
              <a:t>3F8</a:t>
            </a:r>
            <a:r>
              <a:rPr lang="zh-CN" altLang="en-US" dirty="0" smtClean="0">
                <a:ea typeface="宋体" pitchFamily="2" charset="-122"/>
              </a:rPr>
              <a:t>）</a:t>
            </a:r>
            <a:r>
              <a:rPr lang="en-US" altLang="zh-CN" baseline="-25000" dirty="0" smtClean="0">
                <a:ea typeface="宋体" pitchFamily="2" charset="-122"/>
              </a:rPr>
              <a:t>16</a:t>
            </a:r>
            <a:endParaRPr lang="en-US" altLang="zh-CN" baseline="-25000" dirty="0" smtClean="0">
              <a:ea typeface="宋体" pitchFamily="2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395268" name="Rectangle 4"/>
          <p:cNvSpPr>
            <a:spLocks noChangeArrowheads="1"/>
          </p:cNvSpPr>
          <p:nvPr/>
        </p:nvSpPr>
        <p:spPr bwMode="auto">
          <a:xfrm>
            <a:off x="7772400" y="3276600"/>
            <a:ext cx="19812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b="1">
                <a:ea typeface="宋体" pitchFamily="2" charset="-122"/>
              </a:rPr>
              <a:t>读状态寄存器</a:t>
            </a:r>
          </a:p>
        </p:txBody>
      </p:sp>
      <p:sp>
        <p:nvSpPr>
          <p:cNvPr id="395269" name="AutoShape 5"/>
          <p:cNvSpPr>
            <a:spLocks noChangeArrowheads="1"/>
          </p:cNvSpPr>
          <p:nvPr/>
        </p:nvSpPr>
        <p:spPr bwMode="auto">
          <a:xfrm>
            <a:off x="7848600" y="4191000"/>
            <a:ext cx="1828800" cy="76200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ea typeface="宋体" pitchFamily="2" charset="-122"/>
              </a:rPr>
              <a:t>Ready ?</a:t>
            </a:r>
          </a:p>
        </p:txBody>
      </p:sp>
      <p:sp>
        <p:nvSpPr>
          <p:cNvPr id="395270" name="Rectangle 6"/>
          <p:cNvSpPr>
            <a:spLocks noChangeArrowheads="1"/>
          </p:cNvSpPr>
          <p:nvPr/>
        </p:nvSpPr>
        <p:spPr bwMode="auto">
          <a:xfrm>
            <a:off x="7772400" y="5410200"/>
            <a:ext cx="19812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b="1">
                <a:ea typeface="宋体" pitchFamily="2" charset="-122"/>
              </a:rPr>
              <a:t>执行</a:t>
            </a:r>
            <a:r>
              <a:rPr lang="en-US" altLang="zh-CN" b="1">
                <a:ea typeface="宋体" pitchFamily="2" charset="-122"/>
              </a:rPr>
              <a:t>I/O</a:t>
            </a:r>
            <a:r>
              <a:rPr lang="zh-CN" altLang="en-US" b="1">
                <a:ea typeface="宋体" pitchFamily="2" charset="-122"/>
              </a:rPr>
              <a:t>操作</a:t>
            </a:r>
          </a:p>
        </p:txBody>
      </p:sp>
      <p:sp>
        <p:nvSpPr>
          <p:cNvPr id="395271" name="Line 7"/>
          <p:cNvSpPr>
            <a:spLocks noChangeShapeType="1"/>
          </p:cNvSpPr>
          <p:nvPr/>
        </p:nvSpPr>
        <p:spPr bwMode="auto">
          <a:xfrm>
            <a:off x="8763000" y="3810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5272" name="Line 8"/>
          <p:cNvSpPr>
            <a:spLocks noChangeShapeType="1"/>
          </p:cNvSpPr>
          <p:nvPr/>
        </p:nvSpPr>
        <p:spPr bwMode="auto">
          <a:xfrm>
            <a:off x="8763000" y="4953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5273" name="Line 9"/>
          <p:cNvSpPr>
            <a:spLocks noChangeShapeType="1"/>
          </p:cNvSpPr>
          <p:nvPr/>
        </p:nvSpPr>
        <p:spPr bwMode="auto">
          <a:xfrm flipH="1">
            <a:off x="6629400" y="45720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5274" name="Line 10"/>
          <p:cNvSpPr>
            <a:spLocks noChangeShapeType="1"/>
          </p:cNvSpPr>
          <p:nvPr/>
        </p:nvSpPr>
        <p:spPr bwMode="auto">
          <a:xfrm flipV="1">
            <a:off x="6629400" y="35814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5275" name="Line 11"/>
          <p:cNvSpPr>
            <a:spLocks noChangeShapeType="1"/>
          </p:cNvSpPr>
          <p:nvPr/>
        </p:nvSpPr>
        <p:spPr bwMode="auto">
          <a:xfrm>
            <a:off x="6629400" y="3581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5276" name="Text Box 12"/>
          <p:cNvSpPr txBox="1">
            <a:spLocks noChangeArrowheads="1"/>
          </p:cNvSpPr>
          <p:nvPr/>
        </p:nvSpPr>
        <p:spPr bwMode="auto">
          <a:xfrm>
            <a:off x="7162800" y="4191001"/>
            <a:ext cx="762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No</a:t>
            </a:r>
          </a:p>
        </p:txBody>
      </p:sp>
      <p:sp>
        <p:nvSpPr>
          <p:cNvPr id="395277" name="Text Box 13"/>
          <p:cNvSpPr txBox="1">
            <a:spLocks noChangeArrowheads="1"/>
          </p:cNvSpPr>
          <p:nvPr/>
        </p:nvSpPr>
        <p:spPr bwMode="auto">
          <a:xfrm>
            <a:off x="8915400" y="4876801"/>
            <a:ext cx="838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Yes</a:t>
            </a:r>
          </a:p>
        </p:txBody>
      </p:sp>
      <p:sp>
        <p:nvSpPr>
          <p:cNvPr id="395278" name="Text Box 14"/>
          <p:cNvSpPr txBox="1">
            <a:spLocks noChangeArrowheads="1"/>
          </p:cNvSpPr>
          <p:nvPr/>
        </p:nvSpPr>
        <p:spPr bwMode="auto">
          <a:xfrm>
            <a:off x="2201416" y="3356993"/>
            <a:ext cx="4038600" cy="269557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 err="1">
                <a:solidFill>
                  <a:srgbClr val="0408B2"/>
                </a:solidFill>
                <a:ea typeface="宋体" pitchFamily="2" charset="-122"/>
              </a:rPr>
              <a:t>RdSta</a:t>
            </a:r>
            <a:r>
              <a:rPr lang="en-US" altLang="zh-CN" dirty="0">
                <a:solidFill>
                  <a:srgbClr val="0408B2"/>
                </a:solidFill>
                <a:ea typeface="宋体" pitchFamily="2" charset="-122"/>
              </a:rPr>
              <a:t>:   MOV DX,3FDH</a:t>
            </a: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0408B2"/>
                </a:solidFill>
                <a:ea typeface="宋体" pitchFamily="2" charset="-122"/>
              </a:rPr>
              <a:t>              IN  AL,DX </a:t>
            </a: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0408B2"/>
                </a:solidFill>
                <a:ea typeface="宋体" pitchFamily="2" charset="-122"/>
              </a:rPr>
              <a:t>              CMP AL,61H</a:t>
            </a: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0408B2"/>
                </a:solidFill>
                <a:ea typeface="宋体" pitchFamily="2" charset="-122"/>
              </a:rPr>
              <a:t>              JNE  </a:t>
            </a:r>
            <a:r>
              <a:rPr lang="en-US" altLang="zh-CN" dirty="0" err="1">
                <a:solidFill>
                  <a:srgbClr val="0408B2"/>
                </a:solidFill>
                <a:ea typeface="宋体" pitchFamily="2" charset="-122"/>
              </a:rPr>
              <a:t>RdSta</a:t>
            </a:r>
            <a:endParaRPr lang="en-US" altLang="zh-CN" dirty="0">
              <a:solidFill>
                <a:srgbClr val="0408B2"/>
              </a:solidFill>
              <a:ea typeface="宋体" pitchFamily="2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0408B2"/>
                </a:solidFill>
                <a:ea typeface="宋体" pitchFamily="2" charset="-122"/>
              </a:rPr>
              <a:t>              MOV DX,3F8H</a:t>
            </a: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0408B2"/>
                </a:solidFill>
                <a:ea typeface="宋体" pitchFamily="2" charset="-122"/>
              </a:rPr>
              <a:t>              IN AL,DX</a:t>
            </a:r>
          </a:p>
        </p:txBody>
      </p:sp>
    </p:spTree>
    <p:extLst>
      <p:ext uri="{BB962C8B-B14F-4D97-AF65-F5344CB8AC3E}">
        <p14:creationId xmlns:p14="http://schemas.microsoft.com/office/powerpoint/2010/main" val="49292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60648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/>
              <a:t>程序查询</a:t>
            </a:r>
            <a:r>
              <a:rPr lang="en-US" altLang="zh-CN" dirty="0"/>
              <a:t>I/O</a:t>
            </a:r>
            <a:r>
              <a:rPr lang="zh-CN" altLang="en-US" dirty="0"/>
              <a:t>方式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914400"/>
            <a:ext cx="10801200" cy="4969566"/>
          </a:xfrm>
        </p:spPr>
        <p:txBody>
          <a:bodyPr/>
          <a:lstStyle/>
          <a:p>
            <a:r>
              <a:rPr lang="zh-CN" altLang="en-US" sz="3200" dirty="0">
                <a:ea typeface="宋体" pitchFamily="2" charset="-122"/>
              </a:rPr>
              <a:t>程序查询</a:t>
            </a:r>
            <a:r>
              <a:rPr lang="en-US" altLang="zh-CN" sz="3200" dirty="0">
                <a:ea typeface="宋体" pitchFamily="2" charset="-122"/>
              </a:rPr>
              <a:t>I/O</a:t>
            </a:r>
            <a:r>
              <a:rPr lang="zh-CN" altLang="en-US" sz="3200" dirty="0">
                <a:ea typeface="宋体" pitchFamily="2" charset="-122"/>
              </a:rPr>
              <a:t>接口的基本组成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Status Register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Data </a:t>
            </a:r>
            <a:r>
              <a:rPr lang="en-US" altLang="zh-CN" sz="2400" dirty="0" err="1">
                <a:ea typeface="宋体" pitchFamily="2" charset="-122"/>
              </a:rPr>
              <a:t>Register（Input</a:t>
            </a:r>
            <a:r>
              <a:rPr lang="en-US" altLang="zh-CN" sz="2400" dirty="0">
                <a:ea typeface="宋体" pitchFamily="2" charset="-122"/>
              </a:rPr>
              <a:t> Register， Output Register</a:t>
            </a:r>
            <a:r>
              <a:rPr lang="zh-CN" altLang="en-US" sz="2400" dirty="0">
                <a:ea typeface="宋体" pitchFamily="2" charset="-122"/>
              </a:rPr>
              <a:t>）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Address Selected Logic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Bus Interface Logic</a:t>
            </a:r>
          </a:p>
          <a:p>
            <a:r>
              <a:rPr lang="zh-CN" altLang="en-US" sz="3200" dirty="0">
                <a:ea typeface="宋体" pitchFamily="2" charset="-122"/>
              </a:rPr>
              <a:t>程序查询</a:t>
            </a:r>
            <a:r>
              <a:rPr lang="en-US" altLang="zh-CN" sz="3200" dirty="0">
                <a:ea typeface="宋体" pitchFamily="2" charset="-122"/>
              </a:rPr>
              <a:t>I/O</a:t>
            </a:r>
            <a:r>
              <a:rPr lang="zh-CN" altLang="en-US" sz="3200" dirty="0">
                <a:ea typeface="宋体" pitchFamily="2" charset="-122"/>
              </a:rPr>
              <a:t>方式的特点</a:t>
            </a:r>
          </a:p>
          <a:p>
            <a:pPr lvl="1"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操作由</a:t>
            </a:r>
            <a:r>
              <a:rPr lang="en-US" altLang="zh-CN" sz="2400" dirty="0">
                <a:ea typeface="宋体" pitchFamily="2" charset="-122"/>
              </a:rPr>
              <a:t>CPU</a:t>
            </a:r>
            <a:r>
              <a:rPr lang="zh-CN" altLang="en-US" sz="2400" dirty="0">
                <a:ea typeface="宋体" pitchFamily="2" charset="-122"/>
              </a:rPr>
              <a:t>直接完成（通过执行</a:t>
            </a:r>
            <a:r>
              <a:rPr lang="en-US" altLang="zh-CN" sz="2400" dirty="0">
                <a:ea typeface="宋体" pitchFamily="2" charset="-122"/>
              </a:rPr>
              <a:t>I/O</a:t>
            </a:r>
            <a:r>
              <a:rPr lang="zh-CN" altLang="en-US" sz="2400" dirty="0">
                <a:ea typeface="宋体" pitchFamily="2" charset="-122"/>
              </a:rPr>
              <a:t>指令完成）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ea typeface="宋体" pitchFamily="2" charset="-122"/>
              </a:rPr>
              <a:t>外设速度慢，</a:t>
            </a:r>
            <a:r>
              <a:rPr lang="en-US" altLang="zh-CN" sz="2400" dirty="0">
                <a:ea typeface="宋体" pitchFamily="2" charset="-122"/>
              </a:rPr>
              <a:t>CPU</a:t>
            </a:r>
            <a:r>
              <a:rPr lang="zh-CN" altLang="en-US" sz="2400" dirty="0">
                <a:ea typeface="宋体" pitchFamily="2" charset="-122"/>
              </a:rPr>
              <a:t>速度快，在外设准备过程中，</a:t>
            </a:r>
            <a:r>
              <a:rPr lang="en-US" altLang="zh-CN" sz="2400" dirty="0">
                <a:ea typeface="宋体" pitchFamily="2" charset="-122"/>
              </a:rPr>
              <a:t>CPU</a:t>
            </a:r>
            <a:r>
              <a:rPr lang="zh-CN" altLang="en-US" sz="2400" dirty="0">
                <a:ea typeface="宋体" pitchFamily="2" charset="-122"/>
              </a:rPr>
              <a:t>处在不断的查询之中，</a:t>
            </a:r>
            <a:r>
              <a:rPr lang="en-US" altLang="zh-CN" sz="2400" dirty="0">
                <a:ea typeface="宋体" pitchFamily="2" charset="-122"/>
              </a:rPr>
              <a:t>CPU</a:t>
            </a:r>
            <a:r>
              <a:rPr lang="zh-CN" altLang="en-US" sz="2400" dirty="0">
                <a:ea typeface="宋体" pitchFamily="2" charset="-122"/>
              </a:rPr>
              <a:t>的效率浪费严重。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ea typeface="宋体" pitchFamily="2" charset="-122"/>
              </a:rPr>
              <a:t>外设与</a:t>
            </a:r>
            <a:r>
              <a:rPr lang="en-US" altLang="zh-CN" sz="2400" dirty="0">
                <a:ea typeface="宋体" pitchFamily="2" charset="-122"/>
              </a:rPr>
              <a:t>CPU</a:t>
            </a:r>
            <a:r>
              <a:rPr lang="zh-CN" altLang="en-US" sz="2400" dirty="0">
                <a:ea typeface="宋体" pitchFamily="2" charset="-122"/>
              </a:rPr>
              <a:t>完全串行工作。</a:t>
            </a:r>
          </a:p>
        </p:txBody>
      </p:sp>
    </p:spTree>
    <p:extLst>
      <p:ext uri="{BB962C8B-B14F-4D97-AF65-F5344CB8AC3E}">
        <p14:creationId xmlns:p14="http://schemas.microsoft.com/office/powerpoint/2010/main" val="102669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906" name="Group 2"/>
          <p:cNvGrpSpPr>
            <a:grpSpLocks/>
          </p:cNvGrpSpPr>
          <p:nvPr/>
        </p:nvGrpSpPr>
        <p:grpSpPr bwMode="auto">
          <a:xfrm>
            <a:off x="3729038" y="1809751"/>
            <a:ext cx="5327650" cy="3241675"/>
            <a:chOff x="1225" y="1131"/>
            <a:chExt cx="3356" cy="2042"/>
          </a:xfrm>
        </p:grpSpPr>
        <p:sp>
          <p:nvSpPr>
            <p:cNvPr id="507908" name="Rectangle 4"/>
            <p:cNvSpPr>
              <a:spLocks noGrp="1" noChangeArrowheads="1"/>
            </p:cNvSpPr>
            <p:nvPr/>
          </p:nvSpPr>
          <p:spPr bwMode="auto">
            <a:xfrm>
              <a:off x="1225" y="1131"/>
              <a:ext cx="3356" cy="268"/>
            </a:xfrm>
            <a:prstGeom prst="rect">
              <a:avLst/>
            </a:prstGeom>
            <a:noFill/>
            <a:ln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lnSpc>
                  <a:spcPct val="87000"/>
                </a:lnSpc>
              </a:pPr>
              <a:r>
                <a:rPr lang="zh-CN" altLang="en-US" sz="2800" b="1" dirty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第九部分：输入输出接口</a:t>
              </a:r>
              <a:endParaRPr lang="en-US" altLang="zh-CN" sz="2800" b="1" dirty="0">
                <a:solidFill>
                  <a:srgbClr val="001AD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7909" name="Rectangle 5"/>
            <p:cNvSpPr>
              <a:spLocks noChangeArrowheads="1"/>
            </p:cNvSpPr>
            <p:nvPr/>
          </p:nvSpPr>
          <p:spPr bwMode="auto">
            <a:xfrm>
              <a:off x="1354" y="1526"/>
              <a:ext cx="3054" cy="1647"/>
            </a:xfrm>
            <a:prstGeom prst="rect">
              <a:avLst/>
            </a:prstGeom>
            <a:noFill/>
            <a:ln w="28575">
              <a:solidFill>
                <a:srgbClr val="05AD01"/>
              </a:solidFill>
              <a:miter lim="800000"/>
              <a:headEnd/>
              <a:tailEnd/>
            </a:ln>
            <a:effectLst/>
          </p:spPr>
          <p:txBody>
            <a:bodyPr lIns="63500" tIns="133200" rIns="63500" bIns="133200">
              <a:spAutoFit/>
            </a:bodyPr>
            <a:lstStyle/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 smtClean="0">
                  <a:solidFill>
                    <a:srgbClr val="C0C0C0"/>
                  </a:solidFill>
                  <a:ea typeface="宋体" pitchFamily="2" charset="-122"/>
                </a:rPr>
                <a:t>总线</a:t>
              </a:r>
              <a:endParaRPr lang="en-US" altLang="zh-CN" sz="2400" b="1" dirty="0" smtClean="0">
                <a:solidFill>
                  <a:srgbClr val="C0C0C0"/>
                </a:solidFill>
                <a:ea typeface="宋体" pitchFamily="2" charset="-122"/>
              </a:endParaRP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 smtClean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接口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程序查询</a:t>
              </a: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chemeClr val="accent2"/>
                  </a:solidFill>
                  <a:ea typeface="宋体" pitchFamily="2" charset="-122"/>
                </a:rPr>
                <a:t>中断与中断</a:t>
              </a:r>
              <a:r>
                <a:rPr lang="en-US" altLang="zh-CN" sz="2400" b="1" dirty="0">
                  <a:solidFill>
                    <a:schemeClr val="accent2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chemeClr val="accent2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DMA I/O</a:t>
              </a:r>
              <a:r>
                <a:rPr lang="zh-CN" altLang="en-US" sz="2400" b="1" dirty="0" smtClean="0">
                  <a:solidFill>
                    <a:srgbClr val="C0C0C0"/>
                  </a:solidFill>
                  <a:ea typeface="宋体" pitchFamily="2" charset="-122"/>
                </a:rPr>
                <a:t>方式</a:t>
              </a:r>
              <a:endParaRPr lang="zh-CN" altLang="en-US" sz="2400" b="1" dirty="0">
                <a:solidFill>
                  <a:srgbClr val="C0C0C0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261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51384" y="356909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中断与中断</a:t>
            </a:r>
            <a:r>
              <a:rPr lang="en-US" altLang="zh-CN" dirty="0" smtClean="0"/>
              <a:t>I/O</a:t>
            </a:r>
            <a:endParaRPr lang="zh-CN" altLang="en-US" dirty="0"/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836613"/>
            <a:ext cx="10801200" cy="2225738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>
                <a:ea typeface="宋体" pitchFamily="2" charset="-122"/>
              </a:rPr>
              <a:t>中断的概念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>
                <a:ea typeface="宋体" pitchFamily="2" charset="-122"/>
              </a:rPr>
              <a:t>机器出现了一些紧急事务，</a:t>
            </a:r>
            <a:r>
              <a:rPr lang="en-US" altLang="zh-CN" dirty="0">
                <a:ea typeface="宋体" pitchFamily="2" charset="-122"/>
              </a:rPr>
              <a:t>CPU</a:t>
            </a:r>
            <a:r>
              <a:rPr lang="zh-CN" altLang="en-US" dirty="0">
                <a:ea typeface="宋体" pitchFamily="2" charset="-122"/>
              </a:rPr>
              <a:t>不得不停下当前正在执行的程序，转去处理紧急事务，当紧急事务处理完后，继续执行被中断的程序。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 smtClean="0">
                <a:ea typeface="宋体" pitchFamily="2" charset="-122"/>
              </a:rPr>
              <a:t>一般情况下，中断</a:t>
            </a:r>
            <a:r>
              <a:rPr lang="zh-CN" altLang="en-US" dirty="0">
                <a:ea typeface="宋体" pitchFamily="2" charset="-122"/>
              </a:rPr>
              <a:t>是随机的；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>
                <a:ea typeface="宋体" pitchFamily="2" charset="-122"/>
              </a:rPr>
              <a:t>主程序：被中断的程序；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>
                <a:ea typeface="宋体" pitchFamily="2" charset="-122"/>
              </a:rPr>
              <a:t>中断服务子程序：处理中断事务的</a:t>
            </a:r>
            <a:r>
              <a:rPr lang="zh-CN" altLang="en-US" dirty="0" smtClean="0">
                <a:ea typeface="宋体" pitchFamily="2" charset="-122"/>
              </a:rPr>
              <a:t>程序。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4860032" y="3625552"/>
            <a:ext cx="0" cy="914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4936232" y="3854152"/>
            <a:ext cx="1447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6384032" y="3930352"/>
            <a:ext cx="0" cy="1905000"/>
          </a:xfrm>
          <a:prstGeom prst="line">
            <a:avLst/>
          </a:prstGeom>
          <a:noFill/>
          <a:ln w="28575">
            <a:solidFill>
              <a:srgbClr val="0408B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 flipV="1">
            <a:off x="4860032" y="4616152"/>
            <a:ext cx="144780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860032" y="4692352"/>
            <a:ext cx="0" cy="1905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74232" y="3244553"/>
            <a:ext cx="1524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a typeface="宋体" pitchFamily="2" charset="-122"/>
              </a:rPr>
              <a:t>主程序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663952" y="3084662"/>
            <a:ext cx="152400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408B2"/>
                </a:solidFill>
                <a:ea typeface="宋体" pitchFamily="2" charset="-122"/>
              </a:rPr>
              <a:t>中断服务子程序</a:t>
            </a:r>
          </a:p>
        </p:txBody>
      </p:sp>
    </p:spTree>
    <p:extLst>
      <p:ext uri="{BB962C8B-B14F-4D97-AF65-F5344CB8AC3E}">
        <p14:creationId xmlns:p14="http://schemas.microsoft.com/office/powerpoint/2010/main" val="31625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332656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中断与中断</a:t>
            </a:r>
            <a:r>
              <a:rPr lang="en-US" altLang="zh-CN" dirty="0" smtClean="0"/>
              <a:t>I/O</a:t>
            </a:r>
            <a:endParaRPr lang="zh-CN" altLang="en-US" dirty="0"/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980728"/>
            <a:ext cx="9072736" cy="485261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>
                <a:ea typeface="宋体" pitchFamily="2" charset="-122"/>
              </a:rPr>
              <a:t>引起中断的因素（中断源）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人为设置的中断（软中断 </a:t>
            </a:r>
            <a:r>
              <a:rPr lang="en-US" altLang="zh-CN" sz="2000" dirty="0">
                <a:ea typeface="宋体" pitchFamily="2" charset="-122"/>
              </a:rPr>
              <a:t>SWI</a:t>
            </a:r>
            <a:r>
              <a:rPr lang="zh-CN" altLang="en-US" sz="2000" dirty="0">
                <a:ea typeface="宋体" pitchFamily="2" charset="-122"/>
              </a:rPr>
              <a:t>）：主动中断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程序性事故：如溢出、除“零”等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硬件故障：如电源掉电、磁盘损坏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操作：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设备准备就绪，请求操作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外部事件：如键盘操作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>
                <a:ea typeface="宋体" pitchFamily="2" charset="-122"/>
              </a:rPr>
              <a:t>中断源分类</a:t>
            </a:r>
            <a:endParaRPr lang="en-US" altLang="zh-CN" sz="28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不可屏蔽中断：</a:t>
            </a: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不能不响应；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可屏蔽中断：若中断源被屏蔽，</a:t>
            </a: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不响应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 smtClean="0">
                <a:ea typeface="宋体" pitchFamily="2" charset="-122"/>
              </a:rPr>
              <a:t>中断的分类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非屏蔽中断与可屏蔽中断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硬中断与软中断（软中断不是真正的中断）</a:t>
            </a:r>
            <a:endParaRPr lang="zh-CN" altLang="en-US" sz="20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16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342230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中断与中断</a:t>
            </a:r>
            <a:r>
              <a:rPr lang="en-US" altLang="zh-CN" dirty="0" smtClean="0"/>
              <a:t>I/O</a:t>
            </a:r>
            <a:endParaRPr lang="zh-CN" altLang="en-US" dirty="0"/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908721"/>
            <a:ext cx="10657184" cy="2276521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</a:pPr>
            <a:r>
              <a:rPr lang="zh-CN" altLang="en-US" sz="2800" dirty="0">
                <a:ea typeface="宋体" pitchFamily="2" charset="-122"/>
              </a:rPr>
              <a:t>中断请求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sz="2400" dirty="0">
                <a:ea typeface="宋体" pitchFamily="2" charset="-122"/>
              </a:rPr>
              <a:t>中断请求触发器（</a:t>
            </a:r>
            <a:r>
              <a:rPr lang="en-US" altLang="zh-CN" sz="2400" dirty="0">
                <a:ea typeface="宋体" pitchFamily="2" charset="-122"/>
              </a:rPr>
              <a:t>INTR</a:t>
            </a:r>
            <a:r>
              <a:rPr lang="zh-CN" altLang="en-US" sz="2400" dirty="0">
                <a:ea typeface="宋体" pitchFamily="2" charset="-122"/>
              </a:rPr>
              <a:t>）：每个中断源配置一个中断请求触发器；</a:t>
            </a: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sz="2400" dirty="0">
                <a:ea typeface="宋体" pitchFamily="2" charset="-122"/>
              </a:rPr>
              <a:t>中断请求标记寄存器：各中断源的请求触发器组成中断请求标记寄存器；</a:t>
            </a:r>
            <a:endParaRPr lang="en-US" altLang="zh-CN" sz="2400" dirty="0">
              <a:ea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575720" y="3573017"/>
            <a:ext cx="4824536" cy="2678817"/>
            <a:chOff x="1979712" y="3573016"/>
            <a:chExt cx="4824536" cy="2678817"/>
          </a:xfrm>
        </p:grpSpPr>
        <p:sp>
          <p:nvSpPr>
            <p:cNvPr id="4" name="矩形 3"/>
            <p:cNvSpPr/>
            <p:nvPr/>
          </p:nvSpPr>
          <p:spPr bwMode="auto">
            <a:xfrm>
              <a:off x="1979712" y="3573016"/>
              <a:ext cx="504056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2483768" y="3573016"/>
              <a:ext cx="504056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2987824" y="3573016"/>
              <a:ext cx="504056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3491880" y="3573016"/>
              <a:ext cx="504056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3995936" y="3573016"/>
              <a:ext cx="1800200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5796136" y="3573016"/>
              <a:ext cx="504056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300192" y="3573016"/>
              <a:ext cx="504056" cy="432048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79712" y="4005064"/>
              <a:ext cx="5040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掉电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83768" y="4005064"/>
              <a:ext cx="5040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过热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87824" y="4005064"/>
              <a:ext cx="50405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主存读写检验错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91880" y="4005064"/>
              <a:ext cx="5040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溢出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00192" y="4005064"/>
              <a:ext cx="50405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打印机输出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96136" y="4005064"/>
              <a:ext cx="50405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键盘输入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864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30796" y="427497"/>
            <a:ext cx="5257800" cy="372603"/>
          </a:xfrm>
        </p:spPr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中断与中断</a:t>
            </a:r>
            <a:r>
              <a:rPr lang="en-US" altLang="zh-CN" dirty="0" smtClean="0"/>
              <a:t>I/O</a:t>
            </a:r>
            <a:endParaRPr lang="zh-CN" altLang="en-US" dirty="0"/>
          </a:p>
        </p:txBody>
      </p:sp>
      <p:sp>
        <p:nvSpPr>
          <p:cNvPr id="403468" name="Rectangle 12"/>
          <p:cNvSpPr>
            <a:spLocks noChangeArrowheads="1"/>
          </p:cNvSpPr>
          <p:nvPr/>
        </p:nvSpPr>
        <p:spPr bwMode="auto">
          <a:xfrm rot="10800000">
            <a:off x="3141664" y="981075"/>
            <a:ext cx="2376487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设备控制器或其他</a:t>
            </a:r>
          </a:p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系统硬件发出中断</a:t>
            </a:r>
          </a:p>
        </p:txBody>
      </p:sp>
      <p:sp>
        <p:nvSpPr>
          <p:cNvPr id="403469" name="Rectangle 13"/>
          <p:cNvSpPr>
            <a:spLocks noChangeArrowheads="1"/>
          </p:cNvSpPr>
          <p:nvPr/>
        </p:nvSpPr>
        <p:spPr bwMode="auto">
          <a:xfrm rot="10800000">
            <a:off x="3141664" y="2060575"/>
            <a:ext cx="2376487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处理器结束当前</a:t>
            </a:r>
          </a:p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指令的执行</a:t>
            </a:r>
          </a:p>
        </p:txBody>
      </p:sp>
      <p:sp>
        <p:nvSpPr>
          <p:cNvPr id="403470" name="Rectangle 14"/>
          <p:cNvSpPr>
            <a:spLocks noChangeArrowheads="1"/>
          </p:cNvSpPr>
          <p:nvPr/>
        </p:nvSpPr>
        <p:spPr bwMode="auto">
          <a:xfrm rot="10800000">
            <a:off x="3141664" y="3141664"/>
            <a:ext cx="2376487" cy="649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处理器发出</a:t>
            </a:r>
          </a:p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中断认可信号</a:t>
            </a:r>
          </a:p>
        </p:txBody>
      </p:sp>
      <p:sp>
        <p:nvSpPr>
          <p:cNvPr id="403471" name="Rectangle 15"/>
          <p:cNvSpPr>
            <a:spLocks noChangeArrowheads="1"/>
          </p:cNvSpPr>
          <p:nvPr/>
        </p:nvSpPr>
        <p:spPr bwMode="auto">
          <a:xfrm rot="10800000">
            <a:off x="3141664" y="4149725"/>
            <a:ext cx="2376487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 dirty="0">
                <a:solidFill>
                  <a:srgbClr val="0408B2"/>
                </a:solidFill>
                <a:ea typeface="宋体" pitchFamily="2" charset="-122"/>
              </a:rPr>
              <a:t>处理器将</a:t>
            </a:r>
          </a:p>
          <a:p>
            <a:r>
              <a:rPr lang="en-US" altLang="zh-CN" b="1" dirty="0">
                <a:solidFill>
                  <a:srgbClr val="0408B2"/>
                </a:solidFill>
                <a:ea typeface="宋体" pitchFamily="2" charset="-122"/>
              </a:rPr>
              <a:t>PC</a:t>
            </a:r>
            <a:r>
              <a:rPr lang="zh-CN" altLang="en-US" b="1" dirty="0">
                <a:solidFill>
                  <a:srgbClr val="0408B2"/>
                </a:solidFill>
                <a:ea typeface="宋体" pitchFamily="2" charset="-122"/>
              </a:rPr>
              <a:t>压入堆栈</a:t>
            </a:r>
          </a:p>
        </p:txBody>
      </p:sp>
      <p:sp>
        <p:nvSpPr>
          <p:cNvPr id="403472" name="Rectangle 16"/>
          <p:cNvSpPr>
            <a:spLocks noChangeArrowheads="1"/>
          </p:cNvSpPr>
          <p:nvPr/>
        </p:nvSpPr>
        <p:spPr bwMode="auto">
          <a:xfrm rot="10800000">
            <a:off x="3141664" y="5300664"/>
            <a:ext cx="2376487" cy="649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处理器获取中断</a:t>
            </a:r>
          </a:p>
          <a:p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向量（</a:t>
            </a:r>
            <a:r>
              <a:rPr lang="en-US" altLang="zh-CN" b="1">
                <a:solidFill>
                  <a:srgbClr val="0408B2"/>
                </a:solidFill>
                <a:ea typeface="宋体" pitchFamily="2" charset="-122"/>
              </a:rPr>
              <a:t>PC</a:t>
            </a:r>
            <a:r>
              <a:rPr lang="zh-CN" altLang="en-US" b="1">
                <a:solidFill>
                  <a:srgbClr val="0408B2"/>
                </a:solidFill>
                <a:ea typeface="宋体" pitchFamily="2" charset="-122"/>
              </a:rPr>
              <a:t>值）</a:t>
            </a:r>
          </a:p>
        </p:txBody>
      </p:sp>
      <p:sp>
        <p:nvSpPr>
          <p:cNvPr id="403473" name="Line 17"/>
          <p:cNvSpPr>
            <a:spLocks noChangeShapeType="1"/>
          </p:cNvSpPr>
          <p:nvPr/>
        </p:nvSpPr>
        <p:spPr bwMode="auto">
          <a:xfrm>
            <a:off x="4294188" y="1628775"/>
            <a:ext cx="0" cy="431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74" name="Line 18"/>
          <p:cNvSpPr>
            <a:spLocks noChangeShapeType="1"/>
          </p:cNvSpPr>
          <p:nvPr/>
        </p:nvSpPr>
        <p:spPr bwMode="auto">
          <a:xfrm>
            <a:off x="4294188" y="2708275"/>
            <a:ext cx="0" cy="43338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75" name="Line 19"/>
          <p:cNvSpPr>
            <a:spLocks noChangeShapeType="1"/>
          </p:cNvSpPr>
          <p:nvPr/>
        </p:nvSpPr>
        <p:spPr bwMode="auto">
          <a:xfrm>
            <a:off x="4294188" y="3789363"/>
            <a:ext cx="0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77" name="Line 21"/>
          <p:cNvSpPr>
            <a:spLocks noChangeShapeType="1"/>
          </p:cNvSpPr>
          <p:nvPr/>
        </p:nvSpPr>
        <p:spPr bwMode="auto">
          <a:xfrm>
            <a:off x="4294188" y="4797425"/>
            <a:ext cx="0" cy="50323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79" name="Rectangle 23"/>
          <p:cNvSpPr>
            <a:spLocks noChangeArrowheads="1"/>
          </p:cNvSpPr>
          <p:nvPr/>
        </p:nvSpPr>
        <p:spPr bwMode="auto">
          <a:xfrm rot="10800000">
            <a:off x="6815139" y="1700213"/>
            <a:ext cx="2376487" cy="647700"/>
          </a:xfrm>
          <a:prstGeom prst="rect">
            <a:avLst/>
          </a:prstGeom>
          <a:noFill/>
          <a:ln w="28575">
            <a:solidFill>
              <a:srgbClr val="0408B2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5AD01"/>
                </a:solidFill>
                <a:ea typeface="宋体" pitchFamily="2" charset="-122"/>
              </a:rPr>
              <a:t>保存其余</a:t>
            </a:r>
          </a:p>
          <a:p>
            <a:r>
              <a:rPr lang="zh-CN" altLang="en-US" b="1">
                <a:solidFill>
                  <a:srgbClr val="05AD01"/>
                </a:solidFill>
                <a:ea typeface="宋体" pitchFamily="2" charset="-122"/>
              </a:rPr>
              <a:t>处理器的状态</a:t>
            </a:r>
          </a:p>
        </p:txBody>
      </p:sp>
      <p:sp>
        <p:nvSpPr>
          <p:cNvPr id="403480" name="Rectangle 24"/>
          <p:cNvSpPr>
            <a:spLocks noChangeArrowheads="1"/>
          </p:cNvSpPr>
          <p:nvPr/>
        </p:nvSpPr>
        <p:spPr bwMode="auto">
          <a:xfrm rot="10800000">
            <a:off x="6815139" y="2852738"/>
            <a:ext cx="2376487" cy="647700"/>
          </a:xfrm>
          <a:prstGeom prst="rect">
            <a:avLst/>
          </a:prstGeom>
          <a:noFill/>
          <a:ln w="28575">
            <a:solidFill>
              <a:srgbClr val="0408B2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5AD01"/>
                </a:solidFill>
                <a:ea typeface="宋体" pitchFamily="2" charset="-122"/>
              </a:rPr>
              <a:t>处理中断事务</a:t>
            </a:r>
          </a:p>
        </p:txBody>
      </p:sp>
      <p:sp>
        <p:nvSpPr>
          <p:cNvPr id="403481" name="Rectangle 25"/>
          <p:cNvSpPr>
            <a:spLocks noChangeArrowheads="1"/>
          </p:cNvSpPr>
          <p:nvPr/>
        </p:nvSpPr>
        <p:spPr bwMode="auto">
          <a:xfrm rot="10800000">
            <a:off x="6815139" y="4076700"/>
            <a:ext cx="2376487" cy="647700"/>
          </a:xfrm>
          <a:prstGeom prst="rect">
            <a:avLst/>
          </a:prstGeom>
          <a:noFill/>
          <a:ln w="28575">
            <a:solidFill>
              <a:srgbClr val="0408B2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>
                <a:solidFill>
                  <a:srgbClr val="05AD01"/>
                </a:solidFill>
                <a:ea typeface="宋体" pitchFamily="2" charset="-122"/>
              </a:rPr>
              <a:t>恢复处理器状态</a:t>
            </a:r>
          </a:p>
        </p:txBody>
      </p:sp>
      <p:sp>
        <p:nvSpPr>
          <p:cNvPr id="403482" name="Rectangle 26"/>
          <p:cNvSpPr>
            <a:spLocks noChangeArrowheads="1"/>
          </p:cNvSpPr>
          <p:nvPr/>
        </p:nvSpPr>
        <p:spPr bwMode="auto">
          <a:xfrm rot="10800000">
            <a:off x="6815139" y="5229225"/>
            <a:ext cx="2376487" cy="647700"/>
          </a:xfrm>
          <a:prstGeom prst="rect">
            <a:avLst/>
          </a:prstGeom>
          <a:noFill/>
          <a:ln w="28575">
            <a:solidFill>
              <a:srgbClr val="0408B2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r>
              <a:rPr lang="zh-CN" altLang="en-US" b="1" dirty="0">
                <a:solidFill>
                  <a:srgbClr val="05AD01"/>
                </a:solidFill>
                <a:ea typeface="宋体" pitchFamily="2" charset="-122"/>
              </a:rPr>
              <a:t>取回原</a:t>
            </a:r>
            <a:r>
              <a:rPr lang="en-US" altLang="zh-CN" b="1" dirty="0">
                <a:solidFill>
                  <a:srgbClr val="05AD01"/>
                </a:solidFill>
                <a:ea typeface="宋体" pitchFamily="2" charset="-122"/>
              </a:rPr>
              <a:t>PC</a:t>
            </a:r>
          </a:p>
          <a:p>
            <a:r>
              <a:rPr lang="zh-CN" altLang="en-US" b="1" dirty="0">
                <a:solidFill>
                  <a:srgbClr val="05AD01"/>
                </a:solidFill>
                <a:ea typeface="宋体" pitchFamily="2" charset="-122"/>
              </a:rPr>
              <a:t>中断返回</a:t>
            </a:r>
          </a:p>
        </p:txBody>
      </p:sp>
      <p:sp>
        <p:nvSpPr>
          <p:cNvPr id="403483" name="Line 27"/>
          <p:cNvSpPr>
            <a:spLocks noChangeShapeType="1"/>
          </p:cNvSpPr>
          <p:nvPr/>
        </p:nvSpPr>
        <p:spPr bwMode="auto">
          <a:xfrm>
            <a:off x="4294188" y="5949950"/>
            <a:ext cx="0" cy="28733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84" name="Line 28"/>
          <p:cNvSpPr>
            <a:spLocks noChangeShapeType="1"/>
          </p:cNvSpPr>
          <p:nvPr/>
        </p:nvSpPr>
        <p:spPr bwMode="auto">
          <a:xfrm>
            <a:off x="4294189" y="6237288"/>
            <a:ext cx="172878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85" name="Line 29"/>
          <p:cNvSpPr>
            <a:spLocks noChangeShapeType="1"/>
          </p:cNvSpPr>
          <p:nvPr/>
        </p:nvSpPr>
        <p:spPr bwMode="auto">
          <a:xfrm flipV="1">
            <a:off x="6022975" y="1341438"/>
            <a:ext cx="0" cy="48958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86" name="Line 30"/>
          <p:cNvSpPr>
            <a:spLocks noChangeShapeType="1"/>
          </p:cNvSpPr>
          <p:nvPr/>
        </p:nvSpPr>
        <p:spPr bwMode="auto">
          <a:xfrm>
            <a:off x="6022976" y="1341438"/>
            <a:ext cx="201612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88" name="Line 32"/>
          <p:cNvSpPr>
            <a:spLocks noChangeShapeType="1"/>
          </p:cNvSpPr>
          <p:nvPr/>
        </p:nvSpPr>
        <p:spPr bwMode="auto">
          <a:xfrm>
            <a:off x="8039100" y="1341439"/>
            <a:ext cx="0" cy="287337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89" name="Line 33"/>
          <p:cNvSpPr>
            <a:spLocks noChangeShapeType="1"/>
          </p:cNvSpPr>
          <p:nvPr/>
        </p:nvSpPr>
        <p:spPr bwMode="auto">
          <a:xfrm>
            <a:off x="8039100" y="2349500"/>
            <a:ext cx="0" cy="50323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90" name="Line 34"/>
          <p:cNvSpPr>
            <a:spLocks noChangeShapeType="1"/>
          </p:cNvSpPr>
          <p:nvPr/>
        </p:nvSpPr>
        <p:spPr bwMode="auto">
          <a:xfrm>
            <a:off x="8039100" y="3500438"/>
            <a:ext cx="0" cy="5762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91" name="Line 35"/>
          <p:cNvSpPr>
            <a:spLocks noChangeShapeType="1"/>
          </p:cNvSpPr>
          <p:nvPr/>
        </p:nvSpPr>
        <p:spPr bwMode="auto">
          <a:xfrm>
            <a:off x="8039100" y="4724401"/>
            <a:ext cx="0" cy="5048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3493" name="AutoShape 37"/>
          <p:cNvSpPr>
            <a:spLocks/>
          </p:cNvSpPr>
          <p:nvPr/>
        </p:nvSpPr>
        <p:spPr bwMode="auto">
          <a:xfrm>
            <a:off x="2566989" y="1268414"/>
            <a:ext cx="433387" cy="4465637"/>
          </a:xfrm>
          <a:prstGeom prst="leftBrace">
            <a:avLst>
              <a:gd name="adj1" fmla="val 85867"/>
              <a:gd name="adj2" fmla="val 4906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3494" name="AutoShape 38"/>
          <p:cNvSpPr>
            <a:spLocks/>
          </p:cNvSpPr>
          <p:nvPr/>
        </p:nvSpPr>
        <p:spPr bwMode="auto">
          <a:xfrm>
            <a:off x="9264650" y="1916113"/>
            <a:ext cx="503238" cy="3600450"/>
          </a:xfrm>
          <a:prstGeom prst="rightBrace">
            <a:avLst>
              <a:gd name="adj1" fmla="val 5962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3495" name="Text Box 39"/>
          <p:cNvSpPr txBox="1">
            <a:spLocks noChangeArrowheads="1"/>
          </p:cNvSpPr>
          <p:nvPr/>
        </p:nvSpPr>
        <p:spPr bwMode="auto">
          <a:xfrm>
            <a:off x="1774825" y="2852738"/>
            <a:ext cx="649288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ea typeface="宋体" pitchFamily="2" charset="-122"/>
              </a:rPr>
              <a:t>硬件实现</a:t>
            </a:r>
          </a:p>
        </p:txBody>
      </p:sp>
      <p:sp>
        <p:nvSpPr>
          <p:cNvPr id="403496" name="Text Box 40"/>
          <p:cNvSpPr txBox="1">
            <a:spLocks noChangeArrowheads="1"/>
          </p:cNvSpPr>
          <p:nvPr/>
        </p:nvSpPr>
        <p:spPr bwMode="auto">
          <a:xfrm>
            <a:off x="9768409" y="1772816"/>
            <a:ext cx="649287" cy="41549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ea typeface="宋体" pitchFamily="2" charset="-122"/>
              </a:rPr>
              <a:t>中断服务子程序软件实现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59696" y="6093619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20650" y="6237288"/>
            <a:ext cx="3455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中断隐指令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446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930" name="Group 2"/>
          <p:cNvGrpSpPr>
            <a:grpSpLocks/>
          </p:cNvGrpSpPr>
          <p:nvPr/>
        </p:nvGrpSpPr>
        <p:grpSpPr bwMode="auto">
          <a:xfrm>
            <a:off x="3729038" y="1809751"/>
            <a:ext cx="5327650" cy="3241675"/>
            <a:chOff x="1225" y="1131"/>
            <a:chExt cx="3356" cy="2042"/>
          </a:xfrm>
        </p:grpSpPr>
        <p:sp>
          <p:nvSpPr>
            <p:cNvPr id="508932" name="Rectangle 4"/>
            <p:cNvSpPr>
              <a:spLocks noGrp="1" noChangeArrowheads="1"/>
            </p:cNvSpPr>
            <p:nvPr/>
          </p:nvSpPr>
          <p:spPr bwMode="auto">
            <a:xfrm>
              <a:off x="1225" y="1131"/>
              <a:ext cx="3356" cy="268"/>
            </a:xfrm>
            <a:prstGeom prst="rect">
              <a:avLst/>
            </a:prstGeom>
            <a:noFill/>
            <a:ln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lnSpc>
                  <a:spcPct val="87000"/>
                </a:lnSpc>
              </a:pPr>
              <a:r>
                <a:rPr lang="zh-CN" altLang="en-US" sz="2800" b="1" dirty="0">
                  <a:solidFill>
                    <a:srgbClr val="001ADC"/>
                  </a:solidFill>
                  <a:latin typeface="楷体_GB2312" pitchFamily="49" charset="-122"/>
                  <a:ea typeface="楷体_GB2312" pitchFamily="49" charset="-122"/>
                </a:rPr>
                <a:t>第九部分：输入输出接口</a:t>
              </a:r>
              <a:endParaRPr lang="en-US" altLang="zh-CN" sz="2800" b="1" dirty="0">
                <a:solidFill>
                  <a:srgbClr val="001AD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8933" name="Rectangle 5"/>
            <p:cNvSpPr>
              <a:spLocks noChangeArrowheads="1"/>
            </p:cNvSpPr>
            <p:nvPr/>
          </p:nvSpPr>
          <p:spPr bwMode="auto">
            <a:xfrm>
              <a:off x="1354" y="1526"/>
              <a:ext cx="3054" cy="1647"/>
            </a:xfrm>
            <a:prstGeom prst="rect">
              <a:avLst/>
            </a:prstGeom>
            <a:noFill/>
            <a:ln w="28575">
              <a:solidFill>
                <a:srgbClr val="05AD01"/>
              </a:solidFill>
              <a:miter lim="800000"/>
              <a:headEnd/>
              <a:tailEnd/>
            </a:ln>
            <a:effectLst/>
          </p:spPr>
          <p:txBody>
            <a:bodyPr lIns="63500" tIns="133200" rIns="63500" bIns="133200">
              <a:spAutoFit/>
            </a:bodyPr>
            <a:lstStyle/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 smtClean="0">
                  <a:solidFill>
                    <a:srgbClr val="C0C0C0"/>
                  </a:solidFill>
                  <a:ea typeface="宋体" pitchFamily="2" charset="-122"/>
                </a:rPr>
                <a:t>总线</a:t>
              </a:r>
              <a:endParaRPr lang="en-US" altLang="zh-CN" sz="2400" b="1" dirty="0" smtClean="0">
                <a:solidFill>
                  <a:srgbClr val="C0C0C0"/>
                </a:solidFill>
                <a:ea typeface="宋体" pitchFamily="2" charset="-122"/>
              </a:endParaRP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 smtClean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接口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程序查询</a:t>
              </a: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中断与中断</a:t>
              </a:r>
              <a:r>
                <a:rPr lang="en-US" altLang="zh-CN" sz="2400" b="1" dirty="0">
                  <a:solidFill>
                    <a:srgbClr val="C0C0C0"/>
                  </a:solidFill>
                  <a:ea typeface="宋体" pitchFamily="2" charset="-122"/>
                </a:rPr>
                <a:t>I/O</a:t>
              </a:r>
              <a:r>
                <a:rPr lang="zh-CN" altLang="en-US" sz="2400" b="1" dirty="0">
                  <a:solidFill>
                    <a:srgbClr val="C0C0C0"/>
                  </a:solidFill>
                  <a:ea typeface="宋体" pitchFamily="2" charset="-122"/>
                </a:rPr>
                <a:t>方式</a:t>
              </a:r>
            </a:p>
            <a:p>
              <a:pPr marL="609600" indent="-609600" algn="l">
                <a:lnSpc>
                  <a:spcPct val="75000"/>
                </a:lnSpc>
                <a:spcBef>
                  <a:spcPct val="65000"/>
                </a:spcBef>
                <a:buClr>
                  <a:srgbClr val="FF0000"/>
                </a:buClr>
                <a:buSzPct val="100000"/>
                <a:buFont typeface="+mj-ea"/>
                <a:buAutoNum type="ea1JpnChsDbPeriod"/>
              </a:pPr>
              <a:r>
                <a:rPr lang="en-US" altLang="zh-CN" sz="2400" b="1" dirty="0">
                  <a:solidFill>
                    <a:schemeClr val="accent2"/>
                  </a:solidFill>
                  <a:ea typeface="宋体" pitchFamily="2" charset="-122"/>
                </a:rPr>
                <a:t>DMA I/O</a:t>
              </a:r>
              <a:r>
                <a:rPr lang="zh-CN" altLang="en-US" sz="2400" b="1" dirty="0" smtClean="0">
                  <a:solidFill>
                    <a:schemeClr val="accent2"/>
                  </a:solidFill>
                  <a:ea typeface="宋体" pitchFamily="2" charset="-122"/>
                </a:rPr>
                <a:t>方式</a:t>
              </a:r>
              <a:endParaRPr lang="zh-CN" altLang="en-US" sz="2400" b="1" dirty="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957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404664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DMA</a:t>
            </a:r>
            <a:r>
              <a:rPr lang="zh-CN" altLang="en-US" i="0" dirty="0" smtClean="0">
                <a:latin typeface="+mn-lt"/>
              </a:rPr>
              <a:t>的</a:t>
            </a:r>
            <a:r>
              <a:rPr lang="zh-CN" altLang="en-US" i="0" dirty="0">
                <a:latin typeface="+mn-lt"/>
              </a:rPr>
              <a:t>一般概念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908050"/>
            <a:ext cx="9649072" cy="5175776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>
                <a:ea typeface="宋体" pitchFamily="2" charset="-122"/>
              </a:rPr>
              <a:t>程序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与中断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的不足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传送速度受处理器测试</a:t>
            </a:r>
            <a:r>
              <a:rPr lang="zh-CN" altLang="en-US" dirty="0" smtClean="0">
                <a:ea typeface="宋体" pitchFamily="2" charset="-122"/>
              </a:rPr>
              <a:t>和服务设备速度</a:t>
            </a:r>
            <a:r>
              <a:rPr lang="zh-CN" altLang="en-US" dirty="0">
                <a:ea typeface="宋体" pitchFamily="2" charset="-122"/>
              </a:rPr>
              <a:t>的限制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>
                <a:ea typeface="宋体" pitchFamily="2" charset="-122"/>
              </a:rPr>
              <a:t>处理器直接负责管理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，对于每一次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传送，处理器必须执行一些指令</a:t>
            </a:r>
            <a:r>
              <a:rPr lang="zh-CN" altLang="en-US" dirty="0" smtClean="0">
                <a:ea typeface="宋体" pitchFamily="2" charset="-122"/>
              </a:rPr>
              <a:t>。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 smtClean="0">
                <a:ea typeface="宋体" pitchFamily="2" charset="-122"/>
              </a:rPr>
              <a:t>考虑批量（数据块）传送：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 smtClean="0">
                <a:ea typeface="宋体" pitchFamily="2" charset="-122"/>
              </a:rPr>
              <a:t>程序查询</a:t>
            </a:r>
            <a:r>
              <a:rPr lang="en-US" altLang="zh-CN" dirty="0" smtClean="0">
                <a:ea typeface="宋体" pitchFamily="2" charset="-122"/>
              </a:rPr>
              <a:t>I/O</a:t>
            </a:r>
            <a:r>
              <a:rPr lang="zh-CN" altLang="en-US" dirty="0" smtClean="0">
                <a:ea typeface="宋体" pitchFamily="2" charset="-122"/>
              </a:rPr>
              <a:t>方式：处理器做不了其他工作；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105000"/>
              </a:lnSpc>
              <a:spcBef>
                <a:spcPct val="30000"/>
              </a:spcBef>
            </a:pPr>
            <a:r>
              <a:rPr lang="zh-CN" altLang="en-US" dirty="0" smtClean="0">
                <a:ea typeface="宋体" pitchFamily="2" charset="-122"/>
              </a:rPr>
              <a:t>中断</a:t>
            </a:r>
            <a:r>
              <a:rPr lang="en-US" altLang="zh-CN" dirty="0" smtClean="0">
                <a:ea typeface="宋体" pitchFamily="2" charset="-122"/>
              </a:rPr>
              <a:t>I/O</a:t>
            </a:r>
            <a:r>
              <a:rPr lang="zh-CN" altLang="en-US" dirty="0" smtClean="0">
                <a:ea typeface="宋体" pitchFamily="2" charset="-122"/>
              </a:rPr>
              <a:t>方式：</a:t>
            </a:r>
            <a:r>
              <a:rPr lang="en-US" altLang="zh-CN" dirty="0" smtClean="0">
                <a:ea typeface="宋体" pitchFamily="2" charset="-122"/>
              </a:rPr>
              <a:t>I/O</a:t>
            </a:r>
            <a:r>
              <a:rPr lang="zh-CN" altLang="en-US" dirty="0" smtClean="0">
                <a:ea typeface="宋体" pitchFamily="2" charset="-122"/>
              </a:rPr>
              <a:t>传输效率较低。</a:t>
            </a:r>
            <a:endParaRPr lang="zh-CN" altLang="en-US" dirty="0">
              <a:ea typeface="宋体" pitchFamily="2" charset="-122"/>
            </a:endParaRPr>
          </a:p>
          <a:p>
            <a:pPr>
              <a:lnSpc>
                <a:spcPct val="105000"/>
              </a:lnSpc>
              <a:spcBef>
                <a:spcPct val="30000"/>
              </a:spcBef>
            </a:pPr>
            <a:r>
              <a:rPr lang="en-US" altLang="zh-CN" dirty="0">
                <a:ea typeface="宋体" pitchFamily="2" charset="-122"/>
              </a:rPr>
              <a:t>DMA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Direct Memory Access)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en-US" altLang="zh-CN" dirty="0">
                <a:ea typeface="宋体" pitchFamily="2" charset="-122"/>
              </a:rPr>
              <a:t>CPU</a:t>
            </a:r>
            <a:r>
              <a:rPr lang="zh-CN" altLang="en-US" dirty="0">
                <a:ea typeface="宋体" pitchFamily="2" charset="-122"/>
              </a:rPr>
              <a:t>对总线的控制被临时禁止。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en-US" altLang="zh-CN" dirty="0">
                <a:ea typeface="宋体" pitchFamily="2" charset="-122"/>
              </a:rPr>
              <a:t>DMA</a:t>
            </a:r>
            <a:r>
              <a:rPr lang="zh-CN" altLang="en-US" dirty="0">
                <a:ea typeface="宋体" pitchFamily="2" charset="-122"/>
              </a:rPr>
              <a:t>控制器接管总线控制权，控制数据直接在存储器与外设之间高速交换，</a:t>
            </a:r>
            <a:r>
              <a:rPr lang="en-US" altLang="zh-CN" dirty="0">
                <a:ea typeface="宋体" pitchFamily="2" charset="-122"/>
              </a:rPr>
              <a:t>CPU</a:t>
            </a:r>
            <a:r>
              <a:rPr lang="zh-CN" altLang="en-US" dirty="0">
                <a:ea typeface="宋体" pitchFamily="2" charset="-122"/>
              </a:rPr>
              <a:t>不再介入具体的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操作，由</a:t>
            </a:r>
            <a:r>
              <a:rPr lang="en-US" altLang="zh-CN" dirty="0">
                <a:ea typeface="宋体" pitchFamily="2" charset="-122"/>
              </a:rPr>
              <a:t>DMA</a:t>
            </a:r>
            <a:r>
              <a:rPr lang="zh-CN" altLang="en-US" dirty="0">
                <a:ea typeface="宋体" pitchFamily="2" charset="-122"/>
              </a:rPr>
              <a:t>控制器来负责提供存储器地址信号、读写控制信号等。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en-US" altLang="zh-CN" dirty="0">
                <a:ea typeface="宋体" pitchFamily="2" charset="-122"/>
              </a:rPr>
              <a:t>CPU</a:t>
            </a:r>
            <a:r>
              <a:rPr lang="zh-CN" altLang="en-US" dirty="0">
                <a:ea typeface="宋体" pitchFamily="2" charset="-122"/>
              </a:rPr>
              <a:t>与</a:t>
            </a:r>
            <a:r>
              <a:rPr lang="en-US" altLang="zh-CN" dirty="0">
                <a:ea typeface="宋体" pitchFamily="2" charset="-122"/>
              </a:rPr>
              <a:t>I/O</a:t>
            </a:r>
            <a:r>
              <a:rPr lang="zh-CN" altLang="en-US" dirty="0">
                <a:ea typeface="宋体" pitchFamily="2" charset="-122"/>
              </a:rPr>
              <a:t>设备在更大的程度上并行工作，效率更高。</a:t>
            </a:r>
          </a:p>
          <a:p>
            <a:pPr lvl="1">
              <a:lnSpc>
                <a:spcPct val="105000"/>
              </a:lnSpc>
              <a:spcBef>
                <a:spcPct val="30000"/>
              </a:spcBef>
            </a:pPr>
            <a:r>
              <a:rPr lang="en-US" altLang="zh-CN" dirty="0">
                <a:ea typeface="宋体" pitchFamily="2" charset="-122"/>
              </a:rPr>
              <a:t>DMA</a:t>
            </a:r>
            <a:r>
              <a:rPr lang="zh-CN" altLang="en-US" dirty="0">
                <a:ea typeface="宋体" pitchFamily="2" charset="-122"/>
              </a:rPr>
              <a:t>方式适合高速批量的数据传输，如视频显示刷新、磁盘存储系统的读写，存储器到存储器的传输等。</a:t>
            </a:r>
          </a:p>
        </p:txBody>
      </p:sp>
    </p:spTree>
    <p:extLst>
      <p:ext uri="{BB962C8B-B14F-4D97-AF65-F5344CB8AC3E}">
        <p14:creationId xmlns:p14="http://schemas.microsoft.com/office/powerpoint/2010/main" val="392815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0208" y="332656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</a:t>
            </a:r>
            <a:r>
              <a:rPr lang="en-US" altLang="zh-CN" i="0" dirty="0">
                <a:latin typeface="+mn-lt"/>
              </a:rPr>
              <a:t>DMA</a:t>
            </a:r>
            <a:r>
              <a:rPr lang="zh-CN" altLang="en-US" i="0" dirty="0" smtClean="0">
                <a:latin typeface="+mn-lt"/>
              </a:rPr>
              <a:t>过程</a:t>
            </a:r>
            <a:endParaRPr lang="zh-CN" altLang="en-US" i="0" dirty="0">
              <a:latin typeface="+mn-lt"/>
            </a:endParaRP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0208" y="980728"/>
            <a:ext cx="10586392" cy="367074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800" dirty="0">
                <a:ea typeface="宋体" pitchFamily="2" charset="-122"/>
              </a:rPr>
              <a:t>DMA</a:t>
            </a:r>
            <a:r>
              <a:rPr lang="zh-CN" altLang="en-US" sz="2800" dirty="0">
                <a:ea typeface="宋体" pitchFamily="2" charset="-122"/>
              </a:rPr>
              <a:t>请求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当接口做好数据传输的准备，通过有关逻辑向</a:t>
            </a: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发出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请求信号。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800" dirty="0">
                <a:ea typeface="宋体" pitchFamily="2" charset="-122"/>
              </a:rPr>
              <a:t>CPU</a:t>
            </a:r>
            <a:r>
              <a:rPr lang="zh-CN" altLang="en-US" sz="2800" dirty="0">
                <a:ea typeface="宋体" pitchFamily="2" charset="-122"/>
              </a:rPr>
              <a:t>的工作：初始化</a:t>
            </a:r>
            <a:r>
              <a:rPr lang="en-US" altLang="zh-CN" sz="2800" dirty="0">
                <a:ea typeface="宋体" pitchFamily="2" charset="-122"/>
              </a:rPr>
              <a:t>DMA</a:t>
            </a:r>
            <a:r>
              <a:rPr lang="zh-CN" altLang="en-US" sz="2800" dirty="0">
                <a:ea typeface="宋体" pitchFamily="2" charset="-122"/>
              </a:rPr>
              <a:t>控制器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设置数据传送方向：是请求读还是请求写（对存储器而言）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设置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接口地址：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操作所涉及的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接口的地址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设置存储器起始地址：读或写存储器的起始单元地址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设置传送的数据数量：传送数据的字数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有关中断方式的设置：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结束后通过中断方式请求</a:t>
            </a: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处理</a:t>
            </a:r>
          </a:p>
        </p:txBody>
      </p:sp>
    </p:spTree>
    <p:extLst>
      <p:ext uri="{BB962C8B-B14F-4D97-AF65-F5344CB8AC3E}">
        <p14:creationId xmlns:p14="http://schemas.microsoft.com/office/powerpoint/2010/main" val="273502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332656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DMA</a:t>
            </a:r>
            <a:r>
              <a:rPr lang="zh-CN" altLang="en-US" i="0" dirty="0" smtClean="0">
                <a:latin typeface="+mn-lt"/>
              </a:rPr>
              <a:t>过程</a:t>
            </a:r>
            <a:endParaRPr lang="zh-CN" altLang="en-US" i="0" dirty="0">
              <a:latin typeface="+mn-lt"/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791411"/>
            <a:ext cx="9562701" cy="485261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ea typeface="宋体" pitchFamily="2" charset="-122"/>
              </a:rPr>
              <a:t>DMA</a:t>
            </a:r>
            <a:r>
              <a:rPr lang="zh-CN" altLang="en-US" sz="2800" dirty="0">
                <a:ea typeface="宋体" pitchFamily="2" charset="-122"/>
              </a:rPr>
              <a:t>操作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控制器接到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应答信号后，通过控制逻辑向系统总线发送存储器地址信号、存储器读写控制信号、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接口读写控制信号等，完成一次数据传送。这些操作完全由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控制器完成。若是单字传输，一般仅需要一个总线周期，所以这种方式称为</a:t>
            </a: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周期窃取（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cycle-stealing</a:t>
            </a: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，或者叫周期挪用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方式</a:t>
            </a:r>
            <a:r>
              <a:rPr lang="zh-CN" altLang="en-US" sz="2000" dirty="0">
                <a:ea typeface="宋体" pitchFamily="2" charset="-122"/>
              </a:rPr>
              <a:t>。若是成组传输，需要多个总线周期来完成。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ea typeface="宋体" pitchFamily="2" charset="-122"/>
              </a:rPr>
              <a:t>所有数据传送结束后，通过中断方式告知</a:t>
            </a: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进行善后处理。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仅在开始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操作之前和完成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操作之后参与</a:t>
            </a:r>
            <a:r>
              <a:rPr lang="en-US" altLang="zh-CN" sz="2000" dirty="0">
                <a:ea typeface="宋体" pitchFamily="2" charset="-122"/>
              </a:rPr>
              <a:t>I/O</a:t>
            </a:r>
            <a:r>
              <a:rPr lang="zh-CN" altLang="en-US" sz="2000" dirty="0">
                <a:ea typeface="宋体" pitchFamily="2" charset="-122"/>
              </a:rPr>
              <a:t>处理，在</a:t>
            </a:r>
            <a:r>
              <a:rPr lang="en-US" altLang="zh-CN" sz="2000" dirty="0">
                <a:ea typeface="宋体" pitchFamily="2" charset="-122"/>
              </a:rPr>
              <a:t>DMA</a:t>
            </a:r>
            <a:r>
              <a:rPr lang="zh-CN" altLang="en-US" sz="2000" dirty="0">
                <a:ea typeface="宋体" pitchFamily="2" charset="-122"/>
              </a:rPr>
              <a:t>过程中，</a:t>
            </a:r>
            <a:r>
              <a:rPr lang="en-US" altLang="zh-CN" sz="2000" dirty="0">
                <a:ea typeface="宋体" pitchFamily="2" charset="-122"/>
              </a:rPr>
              <a:t>CPU</a:t>
            </a:r>
            <a:r>
              <a:rPr lang="zh-CN" altLang="en-US" sz="2000" dirty="0">
                <a:ea typeface="宋体" pitchFamily="2" charset="-122"/>
              </a:rPr>
              <a:t>可以运行原来的程序</a:t>
            </a:r>
            <a:endParaRPr lang="en-US" altLang="zh-CN" sz="20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352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332656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DMA</a:t>
            </a:r>
            <a:r>
              <a:rPr lang="zh-CN" altLang="en-US" i="0" dirty="0" smtClean="0">
                <a:latin typeface="+mn-lt"/>
              </a:rPr>
              <a:t>过程</a:t>
            </a:r>
            <a:endParaRPr lang="en-US" altLang="zh-CN" i="0" dirty="0">
              <a:latin typeface="+mn-lt"/>
            </a:endParaRPr>
          </a:p>
        </p:txBody>
      </p:sp>
      <p:sp>
        <p:nvSpPr>
          <p:cNvPr id="444423" name="Rectangle 7"/>
          <p:cNvSpPr>
            <a:spLocks noChangeArrowheads="1"/>
          </p:cNvSpPr>
          <p:nvPr/>
        </p:nvSpPr>
        <p:spPr bwMode="auto">
          <a:xfrm>
            <a:off x="767408" y="836712"/>
            <a:ext cx="10801200" cy="49249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61200" rIns="63500" bIns="61200">
            <a:spAutoFit/>
          </a:bodyPr>
          <a:lstStyle/>
          <a:p>
            <a:pPr marL="284163" indent="-284163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00000"/>
              <a:buFont typeface="Wingdings" pitchFamily="2" charset="2"/>
              <a:buChar char="v"/>
            </a:pP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sz="2800" b="1" dirty="0">
                <a:solidFill>
                  <a:schemeClr val="tx1"/>
                </a:solidFill>
                <a:ea typeface="宋体" pitchFamily="2" charset="-122"/>
              </a:rPr>
              <a:t>方式</a:t>
            </a:r>
          </a:p>
          <a:p>
            <a:pPr marL="668338" lvl="1" indent="-193675" algn="l">
              <a:lnSpc>
                <a:spcPct val="150000"/>
              </a:lnSpc>
              <a:spcBef>
                <a:spcPts val="0"/>
              </a:spcBef>
              <a:buClr>
                <a:srgbClr val="001ADC"/>
              </a:buClr>
              <a:buSzPct val="100000"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停止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访问内存（成组传送方式）</a:t>
            </a:r>
          </a:p>
          <a:p>
            <a:pPr marL="1050925" lvl="2" indent="-192088" algn="l">
              <a:lnSpc>
                <a:spcPct val="150000"/>
              </a:lnSpc>
              <a:spcBef>
                <a:spcPts val="0"/>
              </a:spcBef>
              <a:buClr>
                <a:srgbClr val="05AD01"/>
              </a:buClr>
              <a:buSzPct val="100000"/>
              <a:buFont typeface="Wingdings" pitchFamily="2" charset="2"/>
              <a:buChar char="§"/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一次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请求得到响应后，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控制器完全占用总线，进行块数据（多字）传送，直到所有数据传送完毕才释放总线，这段时间完全停止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访问内存。</a:t>
            </a:r>
          </a:p>
          <a:p>
            <a:pPr marL="1050925" lvl="2" indent="-192088" algn="l">
              <a:lnSpc>
                <a:spcPct val="150000"/>
              </a:lnSpc>
              <a:spcBef>
                <a:spcPts val="0"/>
              </a:spcBef>
              <a:buClr>
                <a:srgbClr val="05AD01"/>
              </a:buClr>
              <a:buSzPct val="100000"/>
              <a:buFont typeface="Wingdings" pitchFamily="2" charset="2"/>
              <a:buChar char="§"/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适应高速外设与存储器交换数据的情况。</a:t>
            </a:r>
          </a:p>
          <a:p>
            <a:pPr marL="668338" lvl="1" indent="-193675" algn="l">
              <a:lnSpc>
                <a:spcPct val="150000"/>
              </a:lnSpc>
              <a:spcBef>
                <a:spcPts val="0"/>
              </a:spcBef>
              <a:buClr>
                <a:srgbClr val="001ADC"/>
              </a:buClr>
              <a:buSzPct val="100000"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周期窃取方式（单字传送</a:t>
            </a:r>
            <a:r>
              <a:rPr lang="zh-CN" altLang="en-US" b="1" dirty="0" smtClean="0">
                <a:solidFill>
                  <a:schemeClr val="tx1"/>
                </a:solidFill>
                <a:ea typeface="宋体" pitchFamily="2" charset="-122"/>
              </a:rPr>
              <a:t>方式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，</a:t>
            </a:r>
            <a:r>
              <a:rPr lang="en-US" altLang="zh-CN" b="1" dirty="0" smtClean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交替使用总线）</a:t>
            </a:r>
          </a:p>
          <a:p>
            <a:pPr marL="1050925" lvl="2" indent="-192088" algn="l">
              <a:lnSpc>
                <a:spcPct val="150000"/>
              </a:lnSpc>
              <a:spcBef>
                <a:spcPts val="0"/>
              </a:spcBef>
              <a:buClr>
                <a:srgbClr val="05AD01"/>
              </a:buClr>
              <a:buSzPct val="100000"/>
              <a:buFont typeface="Wingdings" pitchFamily="2" charset="2"/>
              <a:buChar char="§"/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每次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请求得到响应后，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控制器窃取一个总线周期完成一次数据传送，然后释放总线，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接着使用一个总线周期，然后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再窃取一个周期，这样持续循环下去，直到数据传输结束。</a:t>
            </a:r>
          </a:p>
          <a:p>
            <a:pPr marL="1050925" lvl="2" indent="-192088" algn="l">
              <a:lnSpc>
                <a:spcPct val="150000"/>
              </a:lnSpc>
              <a:spcBef>
                <a:spcPts val="0"/>
              </a:spcBef>
              <a:buClr>
                <a:srgbClr val="05AD01"/>
              </a:buClr>
              <a:buSzPct val="100000"/>
              <a:buFont typeface="Wingdings" pitchFamily="2" charset="2"/>
              <a:buChar char="§"/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一般适应存储器速度远高于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I/O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设备速度的情况。</a:t>
            </a:r>
          </a:p>
        </p:txBody>
      </p:sp>
    </p:spTree>
    <p:extLst>
      <p:ext uri="{BB962C8B-B14F-4D97-AF65-F5344CB8AC3E}">
        <p14:creationId xmlns:p14="http://schemas.microsoft.com/office/powerpoint/2010/main" val="395034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408" y="404664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</a:t>
            </a:r>
            <a:r>
              <a:rPr lang="en-US" altLang="zh-CN" i="0" dirty="0">
                <a:latin typeface="+mn-lt"/>
              </a:rPr>
              <a:t>DMA</a:t>
            </a:r>
            <a:r>
              <a:rPr lang="zh-CN" altLang="en-US" i="0" dirty="0" smtClean="0">
                <a:latin typeface="+mn-lt"/>
              </a:rPr>
              <a:t>过程</a:t>
            </a:r>
            <a:endParaRPr lang="zh-CN" altLang="en-US" i="0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7568" y="5085185"/>
            <a:ext cx="7848600" cy="259045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800" b="0" dirty="0"/>
              <a:t>指令周期中的</a:t>
            </a:r>
            <a:r>
              <a:rPr lang="en-US" altLang="zh-CN" sz="1800" b="0" dirty="0"/>
              <a:t>DMA</a:t>
            </a:r>
            <a:r>
              <a:rPr lang="zh-CN" altLang="en-US" sz="1800" b="0" dirty="0"/>
              <a:t>和中断断点</a:t>
            </a:r>
          </a:p>
        </p:txBody>
      </p:sp>
      <p:graphicFrame>
        <p:nvGraphicFramePr>
          <p:cNvPr id="559106" name="Object 2"/>
          <p:cNvGraphicFramePr>
            <a:graphicFrameLocks noChangeAspect="1"/>
          </p:cNvGraphicFramePr>
          <p:nvPr>
            <p:extLst/>
          </p:nvPr>
        </p:nvGraphicFramePr>
        <p:xfrm>
          <a:off x="2063553" y="1484784"/>
          <a:ext cx="8137525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06" name="Visio" r:id="rId3" imgW="5075968" imgH="2104132" progId="Visio.Drawing.11">
                  <p:embed/>
                </p:oleObj>
              </mc:Choice>
              <mc:Fallback>
                <p:oleObj name="Visio" r:id="rId3" imgW="5075968" imgH="210413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1484784"/>
                        <a:ext cx="8137525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437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312981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DMA</a:t>
            </a:r>
            <a:r>
              <a:rPr lang="zh-CN" altLang="en-US" i="0" dirty="0" smtClean="0">
                <a:latin typeface="+mn-lt"/>
              </a:rPr>
              <a:t>控制器</a:t>
            </a:r>
            <a:r>
              <a:rPr lang="zh-CN" altLang="en-US" i="0" dirty="0">
                <a:latin typeface="+mn-lt"/>
              </a:rPr>
              <a:t>的结构</a:t>
            </a:r>
            <a:endParaRPr lang="en-US" altLang="zh-CN" i="0" dirty="0">
              <a:latin typeface="+mn-lt"/>
            </a:endParaRPr>
          </a:p>
        </p:txBody>
      </p:sp>
      <p:sp>
        <p:nvSpPr>
          <p:cNvPr id="441349" name="Text Box 5"/>
          <p:cNvSpPr txBox="1">
            <a:spLocks noChangeArrowheads="1"/>
          </p:cNvSpPr>
          <p:nvPr/>
        </p:nvSpPr>
        <p:spPr bwMode="auto">
          <a:xfrm>
            <a:off x="1919536" y="2780720"/>
            <a:ext cx="1080120" cy="13234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可能的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DMA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结构</a:t>
            </a:r>
          </a:p>
        </p:txBody>
      </p:sp>
      <p:pic>
        <p:nvPicPr>
          <p:cNvPr id="441371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908721"/>
            <a:ext cx="6627813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80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332656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 </a:t>
            </a:r>
            <a:r>
              <a:rPr lang="en-US" altLang="zh-CN" i="0" dirty="0">
                <a:latin typeface="+mn-lt"/>
              </a:rPr>
              <a:t>DMA</a:t>
            </a:r>
            <a:r>
              <a:rPr lang="zh-CN" altLang="en-US" i="0" dirty="0">
                <a:latin typeface="+mn-lt"/>
              </a:rPr>
              <a:t>控制器的结构</a:t>
            </a:r>
            <a:endParaRPr lang="zh-CN" altLang="en-US" dirty="0">
              <a:latin typeface="+mn-lt"/>
            </a:endParaRPr>
          </a:p>
        </p:txBody>
      </p:sp>
      <p:graphicFrame>
        <p:nvGraphicFramePr>
          <p:cNvPr id="440325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583113" y="981075"/>
          <a:ext cx="5905500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0" name="VISIO" r:id="rId3" imgW="3933000" imgH="3361680" progId="Visio.Drawing.11">
                  <p:embed/>
                </p:oleObj>
              </mc:Choice>
              <mc:Fallback>
                <p:oleObj name="VISIO" r:id="rId3" imgW="3933000" imgH="33616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981075"/>
                        <a:ext cx="5905500" cy="504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7" name="Text Box 7"/>
          <p:cNvSpPr txBox="1">
            <a:spLocks noChangeArrowheads="1"/>
          </p:cNvSpPr>
          <p:nvPr/>
        </p:nvSpPr>
        <p:spPr bwMode="auto">
          <a:xfrm>
            <a:off x="335360" y="1196976"/>
            <a:ext cx="4176315" cy="3323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Counter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：长度计数器，保存传送数据的字数。</a:t>
            </a:r>
          </a:p>
          <a:p>
            <a:pPr algn="l">
              <a:spcBef>
                <a:spcPct val="5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Data </a:t>
            </a:r>
            <a:r>
              <a:rPr lang="en-US" altLang="zh-CN" b="1" dirty="0" err="1">
                <a:solidFill>
                  <a:schemeClr val="tx1"/>
                </a:solidFill>
                <a:ea typeface="宋体" pitchFamily="2" charset="-122"/>
              </a:rPr>
              <a:t>Reg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：读写数据缓冲寄存器。</a:t>
            </a:r>
          </a:p>
          <a:p>
            <a:pPr algn="l">
              <a:spcBef>
                <a:spcPct val="5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Address </a:t>
            </a:r>
            <a:r>
              <a:rPr lang="en-US" altLang="zh-CN" b="1" dirty="0" err="1">
                <a:solidFill>
                  <a:schemeClr val="tx1"/>
                </a:solidFill>
                <a:ea typeface="宋体" pitchFamily="2" charset="-122"/>
              </a:rPr>
              <a:t>Reg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：地址寄存器，向地址总线提供存储器地址。</a:t>
            </a:r>
          </a:p>
          <a:p>
            <a:pPr algn="l">
              <a:spcBef>
                <a:spcPct val="5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控制逻辑</a:t>
            </a:r>
          </a:p>
          <a:p>
            <a:pPr algn="l">
              <a:spcBef>
                <a:spcPct val="5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状态逻辑</a:t>
            </a:r>
          </a:p>
          <a:p>
            <a:pPr algn="l">
              <a:spcBef>
                <a:spcPct val="50000"/>
              </a:spcBef>
              <a:buClr>
                <a:schemeClr val="accent1"/>
              </a:buClr>
            </a:pP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中断控制逻辑</a:t>
            </a:r>
          </a:p>
        </p:txBody>
      </p:sp>
    </p:spTree>
    <p:extLst>
      <p:ext uri="{BB962C8B-B14F-4D97-AF65-F5344CB8AC3E}">
        <p14:creationId xmlns:p14="http://schemas.microsoft.com/office/powerpoint/2010/main" val="160872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838" y="396964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 </a:t>
            </a:r>
            <a:r>
              <a:rPr lang="en-US" altLang="zh-CN" i="0" dirty="0">
                <a:latin typeface="+mn-lt"/>
              </a:rPr>
              <a:t>DMA</a:t>
            </a:r>
            <a:r>
              <a:rPr lang="zh-CN" altLang="en-US" i="0" dirty="0">
                <a:latin typeface="+mn-lt"/>
              </a:rPr>
              <a:t>控制器的结构</a:t>
            </a:r>
            <a:endParaRPr lang="en-US" altLang="zh-CN" dirty="0">
              <a:latin typeface="+mn-lt"/>
            </a:endParaRPr>
          </a:p>
        </p:txBody>
      </p:sp>
      <p:sp>
        <p:nvSpPr>
          <p:cNvPr id="453636" name="Text Box 4"/>
          <p:cNvSpPr txBox="1">
            <a:spLocks noChangeArrowheads="1"/>
          </p:cNvSpPr>
          <p:nvPr/>
        </p:nvSpPr>
        <p:spPr bwMode="auto">
          <a:xfrm>
            <a:off x="2351310" y="6237312"/>
            <a:ext cx="784860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1"/>
              </a:buClr>
            </a:pPr>
            <a:r>
              <a:rPr lang="en-US" altLang="zh-CN" sz="1600" b="1" dirty="0">
                <a:solidFill>
                  <a:schemeClr val="accent2"/>
                </a:solidFill>
                <a:ea typeface="宋体" pitchFamily="2" charset="-122"/>
              </a:rPr>
              <a:t>8237A-5 </a:t>
            </a:r>
            <a:r>
              <a:rPr lang="zh-CN" altLang="en-US" sz="1600" b="1" dirty="0">
                <a:solidFill>
                  <a:schemeClr val="accent2"/>
                </a:solidFill>
                <a:ea typeface="宋体" pitchFamily="2" charset="-122"/>
              </a:rPr>
              <a:t>可编程</a:t>
            </a:r>
            <a:r>
              <a:rPr lang="en-US" altLang="zh-CN" sz="1600" b="1" dirty="0">
                <a:solidFill>
                  <a:schemeClr val="accent2"/>
                </a:solidFill>
                <a:ea typeface="宋体" pitchFamily="2" charset="-122"/>
              </a:rPr>
              <a:t>DMA</a:t>
            </a:r>
            <a:r>
              <a:rPr lang="zh-CN" altLang="en-US" sz="1600" b="1" dirty="0">
                <a:solidFill>
                  <a:schemeClr val="accent2"/>
                </a:solidFill>
                <a:ea typeface="宋体" pitchFamily="2" charset="-122"/>
              </a:rPr>
              <a:t>控制器逻辑结构</a:t>
            </a:r>
          </a:p>
        </p:txBody>
      </p:sp>
      <p:pic>
        <p:nvPicPr>
          <p:cNvPr id="453661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908720"/>
            <a:ext cx="8424390" cy="534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7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805" y="332656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DMA</a:t>
            </a:r>
            <a:r>
              <a:rPr lang="zh-CN" altLang="en-US" i="0" dirty="0" smtClean="0">
                <a:latin typeface="+mn-lt"/>
              </a:rPr>
              <a:t>控制器的类型</a:t>
            </a:r>
            <a:endParaRPr lang="zh-CN" altLang="en-US" i="0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836713"/>
            <a:ext cx="9217024" cy="22672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 smtClean="0"/>
              <a:t>选择型</a:t>
            </a:r>
            <a:r>
              <a:rPr lang="en-US" altLang="zh-CN" dirty="0" smtClean="0"/>
              <a:t>DMA</a:t>
            </a:r>
            <a:r>
              <a:rPr lang="zh-CN" altLang="en-US" dirty="0" smtClean="0"/>
              <a:t>控制器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 smtClean="0"/>
              <a:t>物理上可以连接多个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接口（外设）；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逻辑</a:t>
            </a:r>
            <a:r>
              <a:rPr lang="zh-CN" altLang="en-US" dirty="0" smtClean="0"/>
              <a:t>上只能连接一个设备，即在某一时间段只能为其中一台外设服务。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适应</a:t>
            </a:r>
            <a:r>
              <a:rPr lang="zh-CN" altLang="en-US" dirty="0" smtClean="0"/>
              <a:t>于数据传输率很高（接近于内存）的外设数据传输服务。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5" y="2636913"/>
            <a:ext cx="5536849" cy="400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2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408" y="461066"/>
            <a:ext cx="5257800" cy="372603"/>
          </a:xfrm>
        </p:spPr>
        <p:txBody>
          <a:bodyPr/>
          <a:lstStyle/>
          <a:p>
            <a:r>
              <a:rPr lang="en-US" altLang="zh-CN" i="0" dirty="0" smtClean="0">
                <a:latin typeface="+mn-lt"/>
              </a:rPr>
              <a:t>5 DMA</a:t>
            </a:r>
            <a:r>
              <a:rPr lang="zh-CN" altLang="en-US" i="0" dirty="0" smtClean="0">
                <a:latin typeface="+mn-lt"/>
              </a:rPr>
              <a:t>控制器的类型</a:t>
            </a:r>
            <a:endParaRPr lang="zh-CN" altLang="en-US" i="0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836712"/>
            <a:ext cx="9433048" cy="268278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 smtClean="0"/>
              <a:t>多路型</a:t>
            </a:r>
            <a:r>
              <a:rPr lang="en-US" altLang="zh-CN" dirty="0" smtClean="0"/>
              <a:t>DMA</a:t>
            </a:r>
            <a:r>
              <a:rPr lang="zh-CN" altLang="en-US" dirty="0" smtClean="0"/>
              <a:t>控制器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物理</a:t>
            </a:r>
            <a:r>
              <a:rPr lang="zh-CN" altLang="en-US" dirty="0" smtClean="0"/>
              <a:t>上可以连接多个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接口（外设）；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逻辑</a:t>
            </a:r>
            <a:r>
              <a:rPr lang="zh-CN" altLang="en-US" dirty="0" smtClean="0"/>
              <a:t>上</a:t>
            </a:r>
            <a:r>
              <a:rPr lang="zh-CN" altLang="en-US" dirty="0"/>
              <a:t>也可</a:t>
            </a:r>
            <a:r>
              <a:rPr lang="zh-CN" altLang="en-US" dirty="0" smtClean="0"/>
              <a:t>连接多个</a:t>
            </a:r>
            <a:r>
              <a:rPr lang="zh-CN" altLang="en-US" dirty="0"/>
              <a:t>设备</a:t>
            </a:r>
            <a:r>
              <a:rPr lang="zh-CN" altLang="en-US" dirty="0" smtClean="0"/>
              <a:t>，可通过交叉服务的方式为多台</a:t>
            </a:r>
            <a:r>
              <a:rPr lang="zh-CN" altLang="en-US" dirty="0"/>
              <a:t>外设</a:t>
            </a:r>
            <a:r>
              <a:rPr lang="zh-CN" altLang="en-US" dirty="0" smtClean="0"/>
              <a:t>服务；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多</a:t>
            </a:r>
            <a:r>
              <a:rPr lang="zh-CN" altLang="en-US" dirty="0" smtClean="0"/>
              <a:t>路型</a:t>
            </a:r>
            <a:r>
              <a:rPr lang="en-US" altLang="zh-CN" dirty="0" smtClean="0"/>
              <a:t>DMA</a:t>
            </a:r>
            <a:r>
              <a:rPr lang="zh-CN" altLang="en-US" dirty="0" smtClean="0"/>
              <a:t>控制器内部应包括多个</a:t>
            </a:r>
            <a:r>
              <a:rPr lang="en-US" altLang="zh-CN" dirty="0" smtClean="0"/>
              <a:t>DMA</a:t>
            </a:r>
            <a:r>
              <a:rPr lang="zh-CN" altLang="en-US" dirty="0" smtClean="0"/>
              <a:t>通道；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适应</a:t>
            </a:r>
            <a:r>
              <a:rPr lang="zh-CN" altLang="en-US" dirty="0" smtClean="0"/>
              <a:t>于多个慢速（相对）外设的数据</a:t>
            </a:r>
            <a:r>
              <a:rPr lang="zh-CN" altLang="en-US" dirty="0"/>
              <a:t>传输</a:t>
            </a:r>
            <a:r>
              <a:rPr lang="zh-CN" altLang="en-US" dirty="0" smtClean="0"/>
              <a:t>服务。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3068960"/>
            <a:ext cx="5235986" cy="342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2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S152-SP98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S152-SP98">
      <a:majorFont>
        <a:latin typeface="楷体_GB2312"/>
        <a:ea typeface="楷体_GB2312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S152-SP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52-SP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新硬件基础模板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S152-SP98">
      <a:majorFont>
        <a:latin typeface="楷体_GB2312"/>
        <a:ea typeface="楷体_GB2312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>
            <a:lumMod val="60000"/>
            <a:lumOff val="40000"/>
          </a:schemeClr>
        </a:solidFill>
        <a:ln w="12700" cap="flat" cmpd="sng" algn="ctr">
          <a:solidFill>
            <a:srgbClr val="00B05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S152-SP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52-SP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15660</TotalTime>
  <Pages>47</Pages>
  <Words>2701</Words>
  <Application>Microsoft Office PowerPoint</Application>
  <PresentationFormat>宽屏</PresentationFormat>
  <Paragraphs>305</Paragraphs>
  <Slides>35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Arial Unicode MS</vt:lpstr>
      <vt:lpstr>Yu Gothic</vt:lpstr>
      <vt:lpstr>华文楷体</vt:lpstr>
      <vt:lpstr>楷体_GB2312</vt:lpstr>
      <vt:lpstr>宋体</vt:lpstr>
      <vt:lpstr>微软雅黑</vt:lpstr>
      <vt:lpstr>Arial</vt:lpstr>
      <vt:lpstr>Courier New</vt:lpstr>
      <vt:lpstr>Helvetica</vt:lpstr>
      <vt:lpstr>Times New Roman</vt:lpstr>
      <vt:lpstr>Wingdings</vt:lpstr>
      <vt:lpstr>CS152-SP98</vt:lpstr>
      <vt:lpstr>新硬件基础模板</vt:lpstr>
      <vt:lpstr>Visio</vt:lpstr>
      <vt:lpstr>VISIO</vt:lpstr>
      <vt:lpstr>计算机硬件基础 （2020级）</vt:lpstr>
      <vt:lpstr>PowerPoint 演示文稿</vt:lpstr>
      <vt:lpstr>回顾：总线,I/O控制器与I/O设备的关系</vt:lpstr>
      <vt:lpstr>1 总线的仲裁方式</vt:lpstr>
      <vt:lpstr>1 总线的仲裁方式</vt:lpstr>
      <vt:lpstr>1 总线的仲裁方式</vt:lpstr>
      <vt:lpstr>1 总线的仲裁方式</vt:lpstr>
      <vt:lpstr>PowerPoint 演示文稿</vt:lpstr>
      <vt:lpstr>2 I/O接口</vt:lpstr>
      <vt:lpstr>2  I/O接口</vt:lpstr>
      <vt:lpstr>2  I/O接口</vt:lpstr>
      <vt:lpstr>2 I/O接口</vt:lpstr>
      <vt:lpstr>2 I/O接口</vt:lpstr>
      <vt:lpstr>2 I/O接口</vt:lpstr>
      <vt:lpstr>PowerPoint 演示文稿</vt:lpstr>
      <vt:lpstr>3 程序查询I/O方式</vt:lpstr>
      <vt:lpstr>3 程序查询I/O方式</vt:lpstr>
      <vt:lpstr>3 程序查询I/O方式</vt:lpstr>
      <vt:lpstr>3 程序查询I/O方式</vt:lpstr>
      <vt:lpstr>PowerPoint 演示文稿</vt:lpstr>
      <vt:lpstr>4 中断与中断I/O</vt:lpstr>
      <vt:lpstr>4中断与中断I/O</vt:lpstr>
      <vt:lpstr>4 中断与中断I/O</vt:lpstr>
      <vt:lpstr>4 中断与中断I/O</vt:lpstr>
      <vt:lpstr>PowerPoint 演示文稿</vt:lpstr>
      <vt:lpstr>5 DMA的一般概念</vt:lpstr>
      <vt:lpstr>5 DMA过程</vt:lpstr>
      <vt:lpstr>5 DMA过程</vt:lpstr>
      <vt:lpstr>5 DMA过程</vt:lpstr>
      <vt:lpstr>5 DMA过程</vt:lpstr>
      <vt:lpstr>5 DMA控制器的结构</vt:lpstr>
      <vt:lpstr>5  DMA控制器的结构</vt:lpstr>
      <vt:lpstr>5  DMA控制器的结构</vt:lpstr>
      <vt:lpstr>5 DMA控制器的类型</vt:lpstr>
      <vt:lpstr>5 DMA控制器的类型</vt:lpstr>
    </vt:vector>
  </TitlesOfParts>
  <Company>BUAA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</dc:title>
  <dc:creator>lxd</dc:creator>
  <cp:lastModifiedBy>JWN</cp:lastModifiedBy>
  <cp:revision>317</cp:revision>
  <cp:lastPrinted>1999-08-22T22:40:57Z</cp:lastPrinted>
  <dcterms:created xsi:type="dcterms:W3CDTF">1997-08-19T16:58:46Z</dcterms:created>
  <dcterms:modified xsi:type="dcterms:W3CDTF">2021-12-19T14:31:40Z</dcterms:modified>
</cp:coreProperties>
</file>