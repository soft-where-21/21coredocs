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88"/>
  </p:notesMasterIdLst>
  <p:sldIdLst>
    <p:sldId id="256" r:id="rId3"/>
    <p:sldId id="257" r:id="rId4"/>
    <p:sldId id="258" r:id="rId5"/>
    <p:sldId id="259" r:id="rId6"/>
    <p:sldId id="260" r:id="rId7"/>
    <p:sldId id="431" r:id="rId8"/>
    <p:sldId id="432" r:id="rId9"/>
    <p:sldId id="433" r:id="rId10"/>
    <p:sldId id="434" r:id="rId11"/>
    <p:sldId id="435" r:id="rId12"/>
    <p:sldId id="436" r:id="rId13"/>
    <p:sldId id="414" r:id="rId14"/>
    <p:sldId id="412" r:id="rId15"/>
    <p:sldId id="413" r:id="rId16"/>
    <p:sldId id="415" r:id="rId17"/>
    <p:sldId id="422" r:id="rId18"/>
    <p:sldId id="423" r:id="rId19"/>
    <p:sldId id="424" r:id="rId20"/>
    <p:sldId id="261" r:id="rId21"/>
    <p:sldId id="262" r:id="rId22"/>
    <p:sldId id="263" r:id="rId23"/>
    <p:sldId id="264" r:id="rId24"/>
    <p:sldId id="265" r:id="rId25"/>
    <p:sldId id="266" r:id="rId26"/>
    <p:sldId id="267" r:id="rId27"/>
    <p:sldId id="268" r:id="rId28"/>
    <p:sldId id="269" r:id="rId29"/>
    <p:sldId id="416" r:id="rId30"/>
    <p:sldId id="417" r:id="rId31"/>
    <p:sldId id="418" r:id="rId32"/>
    <p:sldId id="419" r:id="rId33"/>
    <p:sldId id="420" r:id="rId34"/>
    <p:sldId id="421" r:id="rId35"/>
    <p:sldId id="277" r:id="rId36"/>
    <p:sldId id="278" r:id="rId37"/>
    <p:sldId id="279" r:id="rId38"/>
    <p:sldId id="280" r:id="rId39"/>
    <p:sldId id="281" r:id="rId40"/>
    <p:sldId id="282" r:id="rId41"/>
    <p:sldId id="283" r:id="rId42"/>
    <p:sldId id="430" r:id="rId43"/>
    <p:sldId id="285" r:id="rId44"/>
    <p:sldId id="286" r:id="rId45"/>
    <p:sldId id="287" r:id="rId46"/>
    <p:sldId id="288" r:id="rId47"/>
    <p:sldId id="289" r:id="rId48"/>
    <p:sldId id="290" r:id="rId49"/>
    <p:sldId id="291" r:id="rId50"/>
    <p:sldId id="292" r:id="rId51"/>
    <p:sldId id="293" r:id="rId52"/>
    <p:sldId id="294" r:id="rId53"/>
    <p:sldId id="295" r:id="rId54"/>
    <p:sldId id="296" r:id="rId55"/>
    <p:sldId id="297" r:id="rId56"/>
    <p:sldId id="298" r:id="rId57"/>
    <p:sldId id="299" r:id="rId58"/>
    <p:sldId id="300" r:id="rId59"/>
    <p:sldId id="301" r:id="rId60"/>
    <p:sldId id="302" r:id="rId61"/>
    <p:sldId id="303" r:id="rId62"/>
    <p:sldId id="304" r:id="rId63"/>
    <p:sldId id="305" r:id="rId64"/>
    <p:sldId id="306" r:id="rId65"/>
    <p:sldId id="307" r:id="rId66"/>
    <p:sldId id="308" r:id="rId67"/>
    <p:sldId id="309" r:id="rId68"/>
    <p:sldId id="310" r:id="rId69"/>
    <p:sldId id="311" r:id="rId70"/>
    <p:sldId id="312" r:id="rId71"/>
    <p:sldId id="313" r:id="rId72"/>
    <p:sldId id="314" r:id="rId73"/>
    <p:sldId id="315" r:id="rId74"/>
    <p:sldId id="316" r:id="rId75"/>
    <p:sldId id="317" r:id="rId76"/>
    <p:sldId id="318" r:id="rId77"/>
    <p:sldId id="319" r:id="rId78"/>
    <p:sldId id="320" r:id="rId79"/>
    <p:sldId id="321" r:id="rId80"/>
    <p:sldId id="322" r:id="rId81"/>
    <p:sldId id="323" r:id="rId82"/>
    <p:sldId id="425" r:id="rId83"/>
    <p:sldId id="426" r:id="rId84"/>
    <p:sldId id="427" r:id="rId85"/>
    <p:sldId id="428" r:id="rId86"/>
    <p:sldId id="429" r:id="rId8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357" autoAdjust="0"/>
    <p:restoredTop sz="85885" autoAdjust="0"/>
  </p:normalViewPr>
  <p:slideViewPr>
    <p:cSldViewPr snapToGrid="0">
      <p:cViewPr varScale="1">
        <p:scale>
          <a:sx n="57" d="100"/>
          <a:sy n="57" d="100"/>
        </p:scale>
        <p:origin x="1588" y="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slide" Target="slides/slide74.xml"/><Relationship Id="rId84" Type="http://schemas.openxmlformats.org/officeDocument/2006/relationships/slide" Target="slides/slide82.xml"/><Relationship Id="rId89"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87" Type="http://schemas.openxmlformats.org/officeDocument/2006/relationships/slide" Target="slides/slide85.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slide" Target="slides/slide80.xml"/><Relationship Id="rId90"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notesMaster" Target="notesMasters/notes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AEF00F-23FB-4497-92C0-AD63E822348C}" type="datetimeFigureOut">
              <a:rPr lang="zh-CN" altLang="en-US" smtClean="0"/>
              <a:pPr/>
              <a:t>2021/11/23</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8C4347-6D16-47BB-957C-B6FA794BB1B6}" type="slidenum">
              <a:rPr lang="zh-CN" altLang="en-US" smtClean="0"/>
              <a:pPr/>
              <a:t>‹#›</a:t>
            </a:fld>
            <a:endParaRPr lang="zh-CN" altLang="en-US"/>
          </a:p>
        </p:txBody>
      </p:sp>
    </p:spTree>
    <p:extLst>
      <p:ext uri="{BB962C8B-B14F-4D97-AF65-F5344CB8AC3E}">
        <p14:creationId xmlns:p14="http://schemas.microsoft.com/office/powerpoint/2010/main" val="34243571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lang="en-US" altLang="zh-CN" dirty="0"/>
              <a:t>123</a:t>
            </a:r>
            <a:endParaRPr lang="zh-CN" altLang="en-US" dirty="0"/>
          </a:p>
        </p:txBody>
      </p:sp>
      <p:sp>
        <p:nvSpPr>
          <p:cNvPr id="4" name="灯片编号占位符 3"/>
          <p:cNvSpPr>
            <a:spLocks noGrp="1"/>
          </p:cNvSpPr>
          <p:nvPr>
            <p:ph type="sldNum" sz="quarter" idx="10"/>
          </p:nvPr>
        </p:nvSpPr>
        <p:spPr/>
        <p:txBody>
          <a:bodyPr/>
          <a:lstStyle/>
          <a:p>
            <a:fld id="{2AB00908-A052-472D-8C9B-C4F81103C2DB}" type="slidenum">
              <a:rPr lang="zh-CN" altLang="en-US" smtClean="0">
                <a:solidFill>
                  <a:prstClr val="black"/>
                </a:solidFill>
              </a:rPr>
              <a:pPr/>
              <a:t>1</a:t>
            </a:fld>
            <a:endParaRPr lang="zh-CN" altLang="en-US">
              <a:solidFill>
                <a:prstClr val="black"/>
              </a:solidFill>
            </a:endParaRPr>
          </a:p>
        </p:txBody>
      </p:sp>
    </p:spTree>
    <p:extLst>
      <p:ext uri="{BB962C8B-B14F-4D97-AF65-F5344CB8AC3E}">
        <p14:creationId xmlns:p14="http://schemas.microsoft.com/office/powerpoint/2010/main" val="38807303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存疑</a:t>
            </a:r>
          </a:p>
        </p:txBody>
      </p:sp>
      <p:sp>
        <p:nvSpPr>
          <p:cNvPr id="4" name="灯片编号占位符 3"/>
          <p:cNvSpPr>
            <a:spLocks noGrp="1"/>
          </p:cNvSpPr>
          <p:nvPr>
            <p:ph type="sldNum" sz="quarter" idx="5"/>
          </p:nvPr>
        </p:nvSpPr>
        <p:spPr/>
        <p:txBody>
          <a:bodyPr/>
          <a:lstStyle/>
          <a:p>
            <a:fld id="{2E8C4347-6D16-47BB-957C-B6FA794BB1B6}" type="slidenum">
              <a:rPr lang="zh-CN" altLang="en-US" smtClean="0"/>
              <a:pPr/>
              <a:t>13</a:t>
            </a:fld>
            <a:endParaRPr lang="zh-CN" altLang="en-US"/>
          </a:p>
        </p:txBody>
      </p:sp>
    </p:spTree>
    <p:extLst>
      <p:ext uri="{BB962C8B-B14F-4D97-AF65-F5344CB8AC3E}">
        <p14:creationId xmlns:p14="http://schemas.microsoft.com/office/powerpoint/2010/main" val="41589448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意法提供了多种开发环境的例程，我们的在</a:t>
            </a:r>
            <a:r>
              <a:rPr lang="en-US" altLang="zh-CN" dirty="0"/>
              <a:t>MDK-ARM</a:t>
            </a:r>
            <a:r>
              <a:rPr lang="zh-CN" altLang="en-US" dirty="0"/>
              <a:t>中。</a:t>
            </a:r>
          </a:p>
        </p:txBody>
      </p:sp>
      <p:sp>
        <p:nvSpPr>
          <p:cNvPr id="4" name="灯片编号占位符 3"/>
          <p:cNvSpPr>
            <a:spLocks noGrp="1"/>
          </p:cNvSpPr>
          <p:nvPr>
            <p:ph type="sldNum" sz="quarter" idx="10"/>
          </p:nvPr>
        </p:nvSpPr>
        <p:spPr/>
        <p:txBody>
          <a:bodyPr/>
          <a:lstStyle/>
          <a:p>
            <a:fld id="{2E8C4347-6D16-47BB-957C-B6FA794BB1B6}" type="slidenum">
              <a:rPr lang="zh-CN" altLang="en-US" smtClean="0"/>
              <a:pPr/>
              <a:t>21</a:t>
            </a:fld>
            <a:endParaRPr lang="zh-CN" altLang="en-US"/>
          </a:p>
        </p:txBody>
      </p:sp>
    </p:spTree>
    <p:extLst>
      <p:ext uri="{BB962C8B-B14F-4D97-AF65-F5344CB8AC3E}">
        <p14:creationId xmlns:p14="http://schemas.microsoft.com/office/powerpoint/2010/main" val="26624903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如果勾选</a:t>
            </a:r>
            <a:r>
              <a:rPr lang="en-US" altLang="zh-CN" dirty="0" err="1"/>
              <a:t>Greate</a:t>
            </a:r>
            <a:r>
              <a:rPr lang="en-US" altLang="zh-CN" dirty="0"/>
              <a:t> hex file</a:t>
            </a:r>
            <a:r>
              <a:rPr lang="zh-CN" altLang="en-US" dirty="0"/>
              <a:t>则会产生程序的二进制文件，此文件可用于串口烧写程序。</a:t>
            </a:r>
          </a:p>
        </p:txBody>
      </p:sp>
      <p:sp>
        <p:nvSpPr>
          <p:cNvPr id="4" name="灯片编号占位符 3"/>
          <p:cNvSpPr>
            <a:spLocks noGrp="1"/>
          </p:cNvSpPr>
          <p:nvPr>
            <p:ph type="sldNum" sz="quarter" idx="10"/>
          </p:nvPr>
        </p:nvSpPr>
        <p:spPr/>
        <p:txBody>
          <a:bodyPr/>
          <a:lstStyle/>
          <a:p>
            <a:fld id="{2E8C4347-6D16-47BB-957C-B6FA794BB1B6}" type="slidenum">
              <a:rPr lang="zh-CN" altLang="en-US" smtClean="0"/>
              <a:pPr/>
              <a:t>34</a:t>
            </a:fld>
            <a:endParaRPr lang="zh-CN" altLang="en-US"/>
          </a:p>
        </p:txBody>
      </p:sp>
    </p:spTree>
    <p:extLst>
      <p:ext uri="{BB962C8B-B14F-4D97-AF65-F5344CB8AC3E}">
        <p14:creationId xmlns:p14="http://schemas.microsoft.com/office/powerpoint/2010/main" val="605922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存疑</a:t>
            </a:r>
          </a:p>
        </p:txBody>
      </p:sp>
      <p:sp>
        <p:nvSpPr>
          <p:cNvPr id="4" name="灯片编号占位符 3"/>
          <p:cNvSpPr>
            <a:spLocks noGrp="1"/>
          </p:cNvSpPr>
          <p:nvPr>
            <p:ph type="sldNum" sz="quarter" idx="5"/>
          </p:nvPr>
        </p:nvSpPr>
        <p:spPr/>
        <p:txBody>
          <a:bodyPr/>
          <a:lstStyle/>
          <a:p>
            <a:fld id="{2E8C4347-6D16-47BB-957C-B6FA794BB1B6}" type="slidenum">
              <a:rPr lang="zh-CN" altLang="en-US" smtClean="0"/>
              <a:pPr/>
              <a:t>41</a:t>
            </a:fld>
            <a:endParaRPr lang="zh-CN" altLang="en-US"/>
          </a:p>
        </p:txBody>
      </p:sp>
    </p:spTree>
    <p:extLst>
      <p:ext uri="{BB962C8B-B14F-4D97-AF65-F5344CB8AC3E}">
        <p14:creationId xmlns:p14="http://schemas.microsoft.com/office/powerpoint/2010/main" val="28506590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 </a:t>
            </a:r>
            <a:r>
              <a:rPr lang="zh-CN" altLang="en-US" dirty="0"/>
              <a:t>染发</a:t>
            </a:r>
          </a:p>
        </p:txBody>
      </p:sp>
      <p:sp>
        <p:nvSpPr>
          <p:cNvPr id="4" name="灯片编号占位符 3"/>
          <p:cNvSpPr>
            <a:spLocks noGrp="1"/>
          </p:cNvSpPr>
          <p:nvPr>
            <p:ph type="sldNum" sz="quarter" idx="5"/>
          </p:nvPr>
        </p:nvSpPr>
        <p:spPr/>
        <p:txBody>
          <a:bodyPr/>
          <a:lstStyle/>
          <a:p>
            <a:fld id="{2E8C4347-6D16-47BB-957C-B6FA794BB1B6}" type="slidenum">
              <a:rPr lang="zh-CN" altLang="en-US" smtClean="0"/>
              <a:pPr/>
              <a:t>46</a:t>
            </a:fld>
            <a:endParaRPr lang="zh-CN" altLang="en-US"/>
          </a:p>
        </p:txBody>
      </p:sp>
    </p:spTree>
    <p:extLst>
      <p:ext uri="{BB962C8B-B14F-4D97-AF65-F5344CB8AC3E}">
        <p14:creationId xmlns:p14="http://schemas.microsoft.com/office/powerpoint/2010/main" val="38528107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如果我们要控制绿色的</a:t>
            </a:r>
            <a:r>
              <a:rPr lang="en-US" altLang="zh-CN" dirty="0"/>
              <a:t>LED</a:t>
            </a:r>
            <a:r>
              <a:rPr lang="zh-CN" altLang="en-US" dirty="0"/>
              <a:t>灯，那么只需要将</a:t>
            </a:r>
            <a:r>
              <a:rPr lang="en-US" altLang="zh-CN" dirty="0"/>
              <a:t>MODER12</a:t>
            </a:r>
            <a:r>
              <a:rPr lang="zh-CN" altLang="en-US" dirty="0"/>
              <a:t>字段设置成</a:t>
            </a:r>
            <a:r>
              <a:rPr lang="en-US" altLang="zh-CN" dirty="0"/>
              <a:t>01</a:t>
            </a:r>
            <a:r>
              <a:rPr lang="zh-CN" altLang="en-US" dirty="0"/>
              <a:t>即可。</a:t>
            </a:r>
          </a:p>
        </p:txBody>
      </p:sp>
      <p:sp>
        <p:nvSpPr>
          <p:cNvPr id="4" name="灯片编号占位符 3"/>
          <p:cNvSpPr>
            <a:spLocks noGrp="1"/>
          </p:cNvSpPr>
          <p:nvPr>
            <p:ph type="sldNum" sz="quarter" idx="10"/>
          </p:nvPr>
        </p:nvSpPr>
        <p:spPr/>
        <p:txBody>
          <a:bodyPr/>
          <a:lstStyle/>
          <a:p>
            <a:fld id="{2E8C4347-6D16-47BB-957C-B6FA794BB1B6}" type="slidenum">
              <a:rPr lang="zh-CN" altLang="en-US" smtClean="0"/>
              <a:pPr/>
              <a:t>71</a:t>
            </a:fld>
            <a:endParaRPr lang="zh-CN" altLang="en-US"/>
          </a:p>
        </p:txBody>
      </p:sp>
    </p:spTree>
    <p:extLst>
      <p:ext uri="{BB962C8B-B14F-4D97-AF65-F5344CB8AC3E}">
        <p14:creationId xmlns:p14="http://schemas.microsoft.com/office/powerpoint/2010/main" val="20250574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E8C4347-6D16-47BB-957C-B6FA794BB1B6}" type="slidenum">
              <a:rPr lang="zh-CN" altLang="en-US" smtClean="0"/>
              <a:pPr/>
              <a:t>72</a:t>
            </a:fld>
            <a:endParaRPr lang="zh-CN" altLang="en-US"/>
          </a:p>
        </p:txBody>
      </p:sp>
    </p:spTree>
    <p:extLst>
      <p:ext uri="{BB962C8B-B14F-4D97-AF65-F5344CB8AC3E}">
        <p14:creationId xmlns:p14="http://schemas.microsoft.com/office/powerpoint/2010/main" val="17969588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我们只是点亮</a:t>
            </a:r>
            <a:r>
              <a:rPr lang="en-US" altLang="zh-CN" dirty="0"/>
              <a:t>LED</a:t>
            </a:r>
            <a:r>
              <a:rPr lang="zh-CN" altLang="en-US" dirty="0"/>
              <a:t>灯，任意速度即可我们这里可以把</a:t>
            </a:r>
            <a:r>
              <a:rPr lang="en-US" altLang="zh-CN" dirty="0"/>
              <a:t>OSPEEDR12</a:t>
            </a:r>
            <a:r>
              <a:rPr lang="zh-CN" altLang="en-US" dirty="0"/>
              <a:t>字段置为</a:t>
            </a:r>
            <a:r>
              <a:rPr lang="en-US" altLang="zh-CN" dirty="0"/>
              <a:t>11</a:t>
            </a:r>
            <a:r>
              <a:rPr lang="zh-CN" altLang="en-US" dirty="0"/>
              <a:t>。</a:t>
            </a:r>
          </a:p>
        </p:txBody>
      </p:sp>
      <p:sp>
        <p:nvSpPr>
          <p:cNvPr id="4" name="灯片编号占位符 3"/>
          <p:cNvSpPr>
            <a:spLocks noGrp="1"/>
          </p:cNvSpPr>
          <p:nvPr>
            <p:ph type="sldNum" sz="quarter" idx="10"/>
          </p:nvPr>
        </p:nvSpPr>
        <p:spPr/>
        <p:txBody>
          <a:bodyPr/>
          <a:lstStyle/>
          <a:p>
            <a:fld id="{2E8C4347-6D16-47BB-957C-B6FA794BB1B6}" type="slidenum">
              <a:rPr lang="zh-CN" altLang="en-US" smtClean="0"/>
              <a:pPr/>
              <a:t>73</a:t>
            </a:fld>
            <a:endParaRPr lang="zh-CN" altLang="en-US"/>
          </a:p>
        </p:txBody>
      </p:sp>
    </p:spTree>
    <p:extLst>
      <p:ext uri="{BB962C8B-B14F-4D97-AF65-F5344CB8AC3E}">
        <p14:creationId xmlns:p14="http://schemas.microsoft.com/office/powerpoint/2010/main" val="30705304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我们只是点亮</a:t>
            </a:r>
            <a:r>
              <a:rPr lang="en-US" altLang="zh-CN" dirty="0"/>
              <a:t>LED</a:t>
            </a:r>
            <a:r>
              <a:rPr lang="zh-CN" altLang="en-US" dirty="0"/>
              <a:t>灯，不用上拉也不用下拉。</a:t>
            </a:r>
            <a:r>
              <a:rPr lang="en-US" altLang="zh-CN" dirty="0"/>
              <a:t>PUPDR12</a:t>
            </a:r>
            <a:r>
              <a:rPr lang="zh-CN" altLang="en-US" dirty="0"/>
              <a:t>字段设置为</a:t>
            </a:r>
            <a:r>
              <a:rPr lang="en-US" altLang="zh-CN" dirty="0"/>
              <a:t>00</a:t>
            </a:r>
            <a:r>
              <a:rPr lang="zh-CN" altLang="en-US" dirty="0"/>
              <a:t>。</a:t>
            </a:r>
          </a:p>
        </p:txBody>
      </p:sp>
      <p:sp>
        <p:nvSpPr>
          <p:cNvPr id="4" name="灯片编号占位符 3"/>
          <p:cNvSpPr>
            <a:spLocks noGrp="1"/>
          </p:cNvSpPr>
          <p:nvPr>
            <p:ph type="sldNum" sz="quarter" idx="10"/>
          </p:nvPr>
        </p:nvSpPr>
        <p:spPr/>
        <p:txBody>
          <a:bodyPr/>
          <a:lstStyle/>
          <a:p>
            <a:fld id="{2E8C4347-6D16-47BB-957C-B6FA794BB1B6}" type="slidenum">
              <a:rPr lang="zh-CN" altLang="en-US" smtClean="0"/>
              <a:pPr/>
              <a:t>74</a:t>
            </a:fld>
            <a:endParaRPr lang="zh-CN" altLang="en-US"/>
          </a:p>
        </p:txBody>
      </p:sp>
    </p:spTree>
    <p:extLst>
      <p:ext uri="{BB962C8B-B14F-4D97-AF65-F5344CB8AC3E}">
        <p14:creationId xmlns:p14="http://schemas.microsoft.com/office/powerpoint/2010/main" val="5869025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E9455004-AF3E-4715-8B34-B29A48324A0F}" type="datetimeFigureOut">
              <a:rPr lang="zh-CN" altLang="en-US" smtClean="0"/>
              <a:pPr/>
              <a:t>2021/11/23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D8A978-6DC5-4D57-8CF2-78254A0E7AF3}" type="slidenum">
              <a:rPr lang="zh-CN" altLang="en-US" smtClean="0"/>
              <a:pPr/>
              <a:t>‹#›</a:t>
            </a:fld>
            <a:endParaRPr lang="zh-CN" altLang="en-US"/>
          </a:p>
        </p:txBody>
      </p:sp>
    </p:spTree>
    <p:extLst>
      <p:ext uri="{BB962C8B-B14F-4D97-AF65-F5344CB8AC3E}">
        <p14:creationId xmlns:p14="http://schemas.microsoft.com/office/powerpoint/2010/main" val="29566035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9455004-AF3E-4715-8B34-B29A48324A0F}" type="datetimeFigureOut">
              <a:rPr lang="zh-CN" altLang="en-US" smtClean="0"/>
              <a:pPr/>
              <a:t>2021/11/23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D8A978-6DC5-4D57-8CF2-78254A0E7AF3}" type="slidenum">
              <a:rPr lang="zh-CN" altLang="en-US" smtClean="0"/>
              <a:pPr/>
              <a:t>‹#›</a:t>
            </a:fld>
            <a:endParaRPr lang="zh-CN" altLang="en-US"/>
          </a:p>
        </p:txBody>
      </p:sp>
    </p:spTree>
    <p:extLst>
      <p:ext uri="{BB962C8B-B14F-4D97-AF65-F5344CB8AC3E}">
        <p14:creationId xmlns:p14="http://schemas.microsoft.com/office/powerpoint/2010/main" val="1795911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E9455004-AF3E-4715-8B34-B29A48324A0F}" type="datetimeFigureOut">
              <a:rPr lang="zh-CN" altLang="en-US" smtClean="0"/>
              <a:pPr/>
              <a:t>2021/11/23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D8A978-6DC5-4D57-8CF2-78254A0E7AF3}" type="slidenum">
              <a:rPr lang="zh-CN" altLang="en-US" smtClean="0"/>
              <a:pPr/>
              <a:t>‹#›</a:t>
            </a:fld>
            <a:endParaRPr lang="zh-CN" altLang="en-US"/>
          </a:p>
        </p:txBody>
      </p:sp>
    </p:spTree>
    <p:extLst>
      <p:ext uri="{BB962C8B-B14F-4D97-AF65-F5344CB8AC3E}">
        <p14:creationId xmlns:p14="http://schemas.microsoft.com/office/powerpoint/2010/main" val="34312656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71487" y="1825625"/>
            <a:ext cx="2900363"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3486150" y="1825625"/>
            <a:ext cx="2900363"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E9455004-AF3E-4715-8B34-B29A48324A0F}" type="datetimeFigureOut">
              <a:rPr lang="zh-CN" altLang="en-US" smtClean="0"/>
              <a:pPr/>
              <a:t>2021/11/23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9D8A978-6DC5-4D57-8CF2-78254A0E7AF3}" type="slidenum">
              <a:rPr lang="zh-CN" altLang="en-US" smtClean="0"/>
              <a:pPr/>
              <a:t>‹#›</a:t>
            </a:fld>
            <a:endParaRPr lang="zh-CN" altLang="en-US"/>
          </a:p>
        </p:txBody>
      </p:sp>
    </p:spTree>
    <p:extLst>
      <p:ext uri="{BB962C8B-B14F-4D97-AF65-F5344CB8AC3E}">
        <p14:creationId xmlns:p14="http://schemas.microsoft.com/office/powerpoint/2010/main" val="6674199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E9455004-AF3E-4715-8B34-B29A48324A0F}" type="datetimeFigureOut">
              <a:rPr lang="zh-CN" altLang="en-US" smtClean="0"/>
              <a:pPr/>
              <a:t>2021/11/23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9D8A978-6DC5-4D57-8CF2-78254A0E7AF3}" type="slidenum">
              <a:rPr lang="zh-CN" altLang="en-US" smtClean="0"/>
              <a:pPr/>
              <a:t>‹#›</a:t>
            </a:fld>
            <a:endParaRPr lang="zh-CN" altLang="en-US"/>
          </a:p>
        </p:txBody>
      </p:sp>
    </p:spTree>
    <p:extLst>
      <p:ext uri="{BB962C8B-B14F-4D97-AF65-F5344CB8AC3E}">
        <p14:creationId xmlns:p14="http://schemas.microsoft.com/office/powerpoint/2010/main" val="40364317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9455004-AF3E-4715-8B34-B29A48324A0F}" type="datetimeFigureOut">
              <a:rPr lang="zh-CN" altLang="en-US" smtClean="0"/>
              <a:pPr/>
              <a:t>2021/11/23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9D8A978-6DC5-4D57-8CF2-78254A0E7AF3}" type="slidenum">
              <a:rPr lang="zh-CN" altLang="en-US" smtClean="0"/>
              <a:pPr/>
              <a:t>‹#›</a:t>
            </a:fld>
            <a:endParaRPr lang="zh-CN" altLang="en-US"/>
          </a:p>
        </p:txBody>
      </p:sp>
    </p:spTree>
    <p:extLst>
      <p:ext uri="{BB962C8B-B14F-4D97-AF65-F5344CB8AC3E}">
        <p14:creationId xmlns:p14="http://schemas.microsoft.com/office/powerpoint/2010/main" val="12358801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9455004-AF3E-4715-8B34-B29A48324A0F}" type="datetimeFigureOut">
              <a:rPr lang="zh-CN" altLang="en-US" smtClean="0"/>
              <a:pPr/>
              <a:t>2021/11/23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9D8A978-6DC5-4D57-8CF2-78254A0E7AF3}" type="slidenum">
              <a:rPr lang="zh-CN" altLang="en-US" smtClean="0"/>
              <a:pPr/>
              <a:t>‹#›</a:t>
            </a:fld>
            <a:endParaRPr lang="zh-CN" altLang="en-US"/>
          </a:p>
        </p:txBody>
      </p:sp>
    </p:spTree>
    <p:extLst>
      <p:ext uri="{BB962C8B-B14F-4D97-AF65-F5344CB8AC3E}">
        <p14:creationId xmlns:p14="http://schemas.microsoft.com/office/powerpoint/2010/main" val="21914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9455004-AF3E-4715-8B34-B29A48324A0F}" type="datetimeFigureOut">
              <a:rPr lang="zh-CN" altLang="en-US" smtClean="0"/>
              <a:pPr/>
              <a:t>2021/11/23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9D8A978-6DC5-4D57-8CF2-78254A0E7AF3}" type="slidenum">
              <a:rPr lang="zh-CN" altLang="en-US" smtClean="0"/>
              <a:pPr/>
              <a:t>‹#›</a:t>
            </a:fld>
            <a:endParaRPr lang="zh-CN" altLang="en-US"/>
          </a:p>
        </p:txBody>
      </p:sp>
    </p:spTree>
    <p:extLst>
      <p:ext uri="{BB962C8B-B14F-4D97-AF65-F5344CB8AC3E}">
        <p14:creationId xmlns:p14="http://schemas.microsoft.com/office/powerpoint/2010/main" val="3551335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9455004-AF3E-4715-8B34-B29A48324A0F}" type="datetimeFigureOut">
              <a:rPr lang="zh-CN" altLang="en-US" smtClean="0"/>
              <a:pPr/>
              <a:t>2021/11/23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9D8A978-6DC5-4D57-8CF2-78254A0E7AF3}" type="slidenum">
              <a:rPr lang="zh-CN" altLang="en-US" smtClean="0"/>
              <a:pPr/>
              <a:t>‹#›</a:t>
            </a:fld>
            <a:endParaRPr lang="zh-CN" altLang="en-US"/>
          </a:p>
        </p:txBody>
      </p:sp>
    </p:spTree>
    <p:extLst>
      <p:ext uri="{BB962C8B-B14F-4D97-AF65-F5344CB8AC3E}">
        <p14:creationId xmlns:p14="http://schemas.microsoft.com/office/powerpoint/2010/main" val="26805325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9455004-AF3E-4715-8B34-B29A48324A0F}" type="datetimeFigureOut">
              <a:rPr lang="zh-CN" altLang="en-US" smtClean="0"/>
              <a:pPr/>
              <a:t>2021/11/23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D8A978-6DC5-4D57-8CF2-78254A0E7AF3}" type="slidenum">
              <a:rPr lang="zh-CN" altLang="en-US" smtClean="0"/>
              <a:pPr/>
              <a:t>‹#›</a:t>
            </a:fld>
            <a:endParaRPr lang="zh-CN" altLang="en-US"/>
          </a:p>
        </p:txBody>
      </p:sp>
    </p:spTree>
    <p:extLst>
      <p:ext uri="{BB962C8B-B14F-4D97-AF65-F5344CB8AC3E}">
        <p14:creationId xmlns:p14="http://schemas.microsoft.com/office/powerpoint/2010/main" val="8566811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4907757" y="365125"/>
            <a:ext cx="1478756"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71488" y="365125"/>
            <a:ext cx="4321969"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9455004-AF3E-4715-8B34-B29A48324A0F}" type="datetimeFigureOut">
              <a:rPr lang="zh-CN" altLang="en-US" smtClean="0"/>
              <a:pPr/>
              <a:t>2021/11/23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D8A978-6DC5-4D57-8CF2-78254A0E7AF3}" type="slidenum">
              <a:rPr lang="zh-CN" altLang="en-US" smtClean="0"/>
              <a:pPr/>
              <a:t>‹#›</a:t>
            </a:fld>
            <a:endParaRPr lang="zh-CN" altLang="en-US"/>
          </a:p>
        </p:txBody>
      </p:sp>
    </p:spTree>
    <p:extLst>
      <p:ext uri="{BB962C8B-B14F-4D97-AF65-F5344CB8AC3E}">
        <p14:creationId xmlns:p14="http://schemas.microsoft.com/office/powerpoint/2010/main" val="4544192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33"/>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178C1384-3686-45C4-9274-264A95345C91}" type="slidenum">
              <a:rPr lang="en-US" altLang="zh-CN"/>
              <a:pPr>
                <a:defRPr/>
              </a:pPr>
              <a:t>‹#›</a:t>
            </a:fld>
            <a:endParaRPr lang="en-US" altLang="zh-CN"/>
          </a:p>
        </p:txBody>
      </p:sp>
    </p:spTree>
    <p:extLst>
      <p:ext uri="{BB962C8B-B14F-4D97-AF65-F5344CB8AC3E}">
        <p14:creationId xmlns:p14="http://schemas.microsoft.com/office/powerpoint/2010/main" val="1160155193"/>
      </p:ext>
    </p:extLst>
  </p:cSld>
  <p:clrMapOvr>
    <a:masterClrMapping/>
  </p:clrMapOvr>
  <p:transition>
    <p:cover di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2C687883-A9F8-4324-BFDB-FCCC5C558AE8}" type="slidenum">
              <a:rPr lang="en-US" altLang="zh-CN"/>
              <a:pPr>
                <a:defRPr/>
              </a:pPr>
              <a:t>‹#›</a:t>
            </a:fld>
            <a:endParaRPr lang="en-US" altLang="zh-CN"/>
          </a:p>
        </p:txBody>
      </p:sp>
    </p:spTree>
    <p:extLst>
      <p:ext uri="{BB962C8B-B14F-4D97-AF65-F5344CB8AC3E}">
        <p14:creationId xmlns:p14="http://schemas.microsoft.com/office/powerpoint/2010/main" val="147479379"/>
      </p:ext>
    </p:extLst>
  </p:cSld>
  <p:clrMapOvr>
    <a:masterClrMapping/>
  </p:clrMapOvr>
  <p:transition>
    <p:cover dir="d"/>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8"/>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24A2B26-0FA3-473F-9174-F6D9E481BFA1}" type="slidenum">
              <a:rPr lang="en-US" altLang="zh-CN"/>
              <a:pPr>
                <a:defRPr/>
              </a:pPr>
              <a:t>‹#›</a:t>
            </a:fld>
            <a:endParaRPr lang="en-US" altLang="zh-CN"/>
          </a:p>
        </p:txBody>
      </p:sp>
    </p:spTree>
    <p:extLst>
      <p:ext uri="{BB962C8B-B14F-4D97-AF65-F5344CB8AC3E}">
        <p14:creationId xmlns:p14="http://schemas.microsoft.com/office/powerpoint/2010/main" val="3791916447"/>
      </p:ext>
    </p:extLst>
  </p:cSld>
  <p:clrMapOvr>
    <a:masterClrMapping/>
  </p:clrMapOvr>
  <p:transition>
    <p:cover dir="d"/>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A0A41B2E-0564-49C7-AE47-7DBB17967741}" type="slidenum">
              <a:rPr lang="en-US" altLang="zh-CN"/>
              <a:pPr>
                <a:defRPr/>
              </a:pPr>
              <a:t>‹#›</a:t>
            </a:fld>
            <a:endParaRPr lang="en-US" altLang="zh-CN"/>
          </a:p>
        </p:txBody>
      </p:sp>
    </p:spTree>
    <p:extLst>
      <p:ext uri="{BB962C8B-B14F-4D97-AF65-F5344CB8AC3E}">
        <p14:creationId xmlns:p14="http://schemas.microsoft.com/office/powerpoint/2010/main" val="151507861"/>
      </p:ext>
    </p:extLst>
  </p:cSld>
  <p:clrMapOvr>
    <a:masterClrMapping/>
  </p:clrMapOvr>
  <p:transition>
    <p:cover dir="d"/>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9"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9"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0231B4C8-FC89-42E9-B91A-70FC8438C555}" type="slidenum">
              <a:rPr lang="en-US" altLang="zh-CN"/>
              <a:pPr>
                <a:defRPr/>
              </a:pPr>
              <a:t>‹#›</a:t>
            </a:fld>
            <a:endParaRPr lang="en-US" altLang="zh-CN"/>
          </a:p>
        </p:txBody>
      </p:sp>
    </p:spTree>
    <p:extLst>
      <p:ext uri="{BB962C8B-B14F-4D97-AF65-F5344CB8AC3E}">
        <p14:creationId xmlns:p14="http://schemas.microsoft.com/office/powerpoint/2010/main" val="1317911943"/>
      </p:ext>
    </p:extLst>
  </p:cSld>
  <p:clrMapOvr>
    <a:masterClrMapping/>
  </p:clrMapOvr>
  <p:transition>
    <p:cover dir="d"/>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9E0CDD31-6EDA-4B63-885E-0EE493EA4FC2}" type="slidenum">
              <a:rPr lang="en-US" altLang="zh-CN"/>
              <a:pPr>
                <a:defRPr/>
              </a:pPr>
              <a:t>‹#›</a:t>
            </a:fld>
            <a:endParaRPr lang="en-US" altLang="zh-CN"/>
          </a:p>
        </p:txBody>
      </p:sp>
    </p:spTree>
    <p:extLst>
      <p:ext uri="{BB962C8B-B14F-4D97-AF65-F5344CB8AC3E}">
        <p14:creationId xmlns:p14="http://schemas.microsoft.com/office/powerpoint/2010/main" val="4105124864"/>
      </p:ext>
    </p:extLst>
  </p:cSld>
  <p:clrMapOvr>
    <a:masterClrMapping/>
  </p:clrMapOvr>
  <p:transition>
    <p:cover dir="d"/>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9B8D6B41-AAF5-4D7C-9630-46E39E52E699}" type="slidenum">
              <a:rPr lang="en-US" altLang="zh-CN"/>
              <a:pPr>
                <a:defRPr/>
              </a:pPr>
              <a:t>‹#›</a:t>
            </a:fld>
            <a:endParaRPr lang="en-US" altLang="zh-CN"/>
          </a:p>
        </p:txBody>
      </p:sp>
    </p:spTree>
    <p:extLst>
      <p:ext uri="{BB962C8B-B14F-4D97-AF65-F5344CB8AC3E}">
        <p14:creationId xmlns:p14="http://schemas.microsoft.com/office/powerpoint/2010/main" val="21481898"/>
      </p:ext>
    </p:extLst>
  </p:cSld>
  <p:clrMapOvr>
    <a:masterClrMapping/>
  </p:clrMapOvr>
  <p:transition>
    <p:cover dir="d"/>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8"/>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2"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5AEBD598-5F9C-4349-AEB3-E05F3179A862}" type="slidenum">
              <a:rPr lang="en-US" altLang="zh-CN"/>
              <a:pPr>
                <a:defRPr/>
              </a:pPr>
              <a:t>‹#›</a:t>
            </a:fld>
            <a:endParaRPr lang="en-US" altLang="zh-CN"/>
          </a:p>
        </p:txBody>
      </p:sp>
    </p:spTree>
    <p:extLst>
      <p:ext uri="{BB962C8B-B14F-4D97-AF65-F5344CB8AC3E}">
        <p14:creationId xmlns:p14="http://schemas.microsoft.com/office/powerpoint/2010/main" val="372832631"/>
      </p:ext>
    </p:extLst>
  </p:cSld>
  <p:clrMapOvr>
    <a:masterClrMapping/>
  </p:clrMapOvr>
  <p:transition>
    <p:cover dir="d"/>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CA05A86F-E4C4-4AE8-BCC7-46675975EFC1}" type="slidenum">
              <a:rPr lang="en-US" altLang="zh-CN"/>
              <a:pPr>
                <a:defRPr/>
              </a:pPr>
              <a:t>‹#›</a:t>
            </a:fld>
            <a:endParaRPr lang="en-US" altLang="zh-CN"/>
          </a:p>
        </p:txBody>
      </p:sp>
    </p:spTree>
    <p:extLst>
      <p:ext uri="{BB962C8B-B14F-4D97-AF65-F5344CB8AC3E}">
        <p14:creationId xmlns:p14="http://schemas.microsoft.com/office/powerpoint/2010/main" val="237395425"/>
      </p:ext>
    </p:extLst>
  </p:cSld>
  <p:clrMapOvr>
    <a:masterClrMapping/>
  </p:clrMapOvr>
  <p:transition>
    <p:cover dir="d"/>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5E4AA024-4BD4-4C3E-9782-94B9F836E446}" type="slidenum">
              <a:rPr lang="en-US" altLang="zh-CN"/>
              <a:pPr>
                <a:defRPr/>
              </a:pPr>
              <a:t>‹#›</a:t>
            </a:fld>
            <a:endParaRPr lang="en-US" altLang="zh-CN"/>
          </a:p>
        </p:txBody>
      </p:sp>
    </p:spTree>
    <p:extLst>
      <p:ext uri="{BB962C8B-B14F-4D97-AF65-F5344CB8AC3E}">
        <p14:creationId xmlns:p14="http://schemas.microsoft.com/office/powerpoint/2010/main" val="1077705675"/>
      </p:ext>
    </p:extLst>
  </p:cSld>
  <p:clrMapOvr>
    <a:masterClrMapping/>
  </p:clrMapOvr>
  <p:transition>
    <p:cover dir="d"/>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7A23B651-01C7-4ACB-A684-85A55AD844EF}" type="slidenum">
              <a:rPr lang="en-US" altLang="zh-CN"/>
              <a:pPr>
                <a:defRPr/>
              </a:pPr>
              <a:t>‹#›</a:t>
            </a:fld>
            <a:endParaRPr lang="en-US" altLang="zh-CN"/>
          </a:p>
        </p:txBody>
      </p:sp>
    </p:spTree>
    <p:extLst>
      <p:ext uri="{BB962C8B-B14F-4D97-AF65-F5344CB8AC3E}">
        <p14:creationId xmlns:p14="http://schemas.microsoft.com/office/powerpoint/2010/main" val="1474858548"/>
      </p:ext>
    </p:extLst>
  </p:cSld>
  <p:clrMapOvr>
    <a:masterClrMapping/>
  </p:clrMapOvr>
  <p:transition>
    <p:cover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455004-AF3E-4715-8B34-B29A48324A0F}" type="datetimeFigureOut">
              <a:rPr lang="zh-CN" altLang="en-US" smtClean="0"/>
              <a:pPr/>
              <a:t>2021/11/23</a:t>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D8A978-6DC5-4D57-8CF2-78254A0E7AF3}" type="slidenum">
              <a:rPr lang="zh-CN" altLang="en-US" smtClean="0"/>
              <a:pPr/>
              <a:t>‹#›</a:t>
            </a:fld>
            <a:endParaRPr lang="zh-CN" altLang="en-US"/>
          </a:p>
        </p:txBody>
      </p:sp>
    </p:spTree>
    <p:extLst>
      <p:ext uri="{BB962C8B-B14F-4D97-AF65-F5344CB8AC3E}">
        <p14:creationId xmlns:p14="http://schemas.microsoft.com/office/powerpoint/2010/main" val="41433144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1"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solidFill>
                  <a:srgbClr val="000000"/>
                </a:solidFill>
                <a:effectLst/>
                <a:ea typeface="+mn-ea"/>
              </a:defRPr>
            </a:lvl1pPr>
          </a:lstStyle>
          <a:p>
            <a:pPr fontAlgn="base">
              <a:spcBef>
                <a:spcPct val="0"/>
              </a:spcBef>
              <a:spcAft>
                <a:spcPct val="0"/>
              </a:spcAft>
              <a:defRPr/>
            </a:pPr>
            <a:endParaRPr kumimoji="1"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solidFill>
                  <a:srgbClr val="000000"/>
                </a:solidFill>
                <a:effectLst/>
                <a:ea typeface="+mn-ea"/>
              </a:defRPr>
            </a:lvl1pPr>
          </a:lstStyle>
          <a:p>
            <a:pPr fontAlgn="base">
              <a:spcBef>
                <a:spcPct val="0"/>
              </a:spcBef>
              <a:spcAft>
                <a:spcPct val="0"/>
              </a:spcAft>
              <a:defRPr/>
            </a:pPr>
            <a:endParaRPr kumimoji="1"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a:solidFill>
                  <a:srgbClr val="000000"/>
                </a:solidFill>
                <a:effectLst/>
                <a:ea typeface="宋体" panose="02010600030101010101" pitchFamily="2" charset="-122"/>
              </a:defRPr>
            </a:lvl1pPr>
          </a:lstStyle>
          <a:p>
            <a:pPr fontAlgn="base">
              <a:spcBef>
                <a:spcPct val="0"/>
              </a:spcBef>
              <a:spcAft>
                <a:spcPct val="0"/>
              </a:spcAft>
              <a:defRPr/>
            </a:pPr>
            <a:fld id="{913CEB95-6C5A-49F2-94B7-1C2B9AE0D82E}" type="slidenum">
              <a:rPr kumimoji="1" lang="en-US" altLang="zh-CN"/>
              <a:pPr fontAlgn="base">
                <a:spcBef>
                  <a:spcPct val="0"/>
                </a:spcBef>
                <a:spcAft>
                  <a:spcPct val="0"/>
                </a:spcAft>
                <a:defRPr/>
              </a:pPr>
              <a:t>‹#›</a:t>
            </a:fld>
            <a:endParaRPr kumimoji="1" lang="en-US" altLang="zh-CN"/>
          </a:p>
        </p:txBody>
      </p:sp>
    </p:spTree>
    <p:extLst>
      <p:ext uri="{BB962C8B-B14F-4D97-AF65-F5344CB8AC3E}">
        <p14:creationId xmlns:p14="http://schemas.microsoft.com/office/powerpoint/2010/main" val="35532938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cover dir="d"/>
  </p:transition>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hyperlink" Target="https://blog.csdn.net/qq_38821783/article/details/88042180" TargetMode="External"/><Relationship Id="rId2" Type="http://schemas.openxmlformats.org/officeDocument/2006/relationships/hyperlink" Target="http://www.keil.com/dd2/pack" TargetMode="Externa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9867" y="2460434"/>
            <a:ext cx="7772400" cy="1143000"/>
          </a:xfrm>
        </p:spPr>
        <p:txBody>
          <a:bodyPr/>
          <a:lstStyle/>
          <a:p>
            <a:r>
              <a:rPr lang="zh-CN" altLang="en-US" sz="6000" dirty="0"/>
              <a:t>嵌入式系统课程实验</a:t>
            </a:r>
          </a:p>
        </p:txBody>
      </p:sp>
    </p:spTree>
    <p:extLst>
      <p:ext uri="{BB962C8B-B14F-4D97-AF65-F5344CB8AC3E}">
        <p14:creationId xmlns:p14="http://schemas.microsoft.com/office/powerpoint/2010/main" val="2386441591"/>
      </p:ext>
    </p:extLst>
  </p:cSld>
  <p:clrMapOvr>
    <a:masterClrMapping/>
  </p:clrMapOvr>
  <p:transition>
    <p:cover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实验内容</a:t>
            </a:r>
          </a:p>
        </p:txBody>
      </p:sp>
      <p:sp>
        <p:nvSpPr>
          <p:cNvPr id="3" name="内容占位符 2"/>
          <p:cNvSpPr>
            <a:spLocks noGrp="1"/>
          </p:cNvSpPr>
          <p:nvPr>
            <p:ph idx="1"/>
          </p:nvPr>
        </p:nvSpPr>
        <p:spPr>
          <a:xfrm>
            <a:off x="685800" y="1981200"/>
            <a:ext cx="7937500" cy="4114800"/>
          </a:xfrm>
        </p:spPr>
        <p:txBody>
          <a:bodyPr/>
          <a:lstStyle/>
          <a:p>
            <a:r>
              <a:rPr lang="en-US" altLang="zh-CN" dirty="0">
                <a:latin typeface="Times New Roman" panose="02020603050405020304" pitchFamily="18" charset="0"/>
                <a:cs typeface="Times New Roman" panose="02020603050405020304" pitchFamily="18" charset="0"/>
              </a:rPr>
              <a:t>STM32F407VG</a:t>
            </a:r>
            <a:r>
              <a:rPr lang="zh-CN" altLang="en-US" dirty="0">
                <a:latin typeface="Times New Roman" panose="02020603050405020304" pitchFamily="18" charset="0"/>
                <a:cs typeface="Times New Roman" panose="02020603050405020304" pitchFamily="18" charset="0"/>
              </a:rPr>
              <a:t>开发板基础实验</a:t>
            </a:r>
            <a:endParaRPr lang="en-US" altLang="zh-CN" dirty="0">
              <a:latin typeface="Times New Roman" panose="02020603050405020304" pitchFamily="18" charset="0"/>
              <a:cs typeface="Times New Roman" panose="02020603050405020304" pitchFamily="18" charset="0"/>
            </a:endParaRPr>
          </a:p>
          <a:p>
            <a:r>
              <a:rPr lang="en-US" altLang="zh-CN" dirty="0" err="1">
                <a:latin typeface="Times New Roman" panose="02020603050405020304" pitchFamily="18" charset="0"/>
                <a:cs typeface="Times New Roman" panose="02020603050405020304" pitchFamily="18" charset="0"/>
              </a:rPr>
              <a:t>FreeRTOS</a:t>
            </a:r>
            <a:r>
              <a:rPr lang="zh-CN" altLang="en-US" dirty="0">
                <a:latin typeface="Times New Roman" panose="02020603050405020304" pitchFamily="18" charset="0"/>
                <a:cs typeface="Times New Roman" panose="02020603050405020304" pitchFamily="18" charset="0"/>
              </a:rPr>
              <a:t>操作系统原理</a:t>
            </a:r>
            <a:endParaRPr lang="en-US" altLang="zh-CN" dirty="0">
              <a:latin typeface="Times New Roman" panose="02020603050405020304" pitchFamily="18" charset="0"/>
              <a:cs typeface="Times New Roman" panose="02020603050405020304" pitchFamily="18" charset="0"/>
            </a:endParaRPr>
          </a:p>
          <a:p>
            <a:r>
              <a:rPr lang="en-US" altLang="zh-CN" dirty="0" err="1">
                <a:latin typeface="Times New Roman" panose="02020603050405020304" pitchFamily="18" charset="0"/>
                <a:cs typeface="Times New Roman" panose="02020603050405020304" pitchFamily="18" charset="0"/>
              </a:rPr>
              <a:t>FreeRTOS</a:t>
            </a:r>
            <a:r>
              <a:rPr lang="zh-CN" altLang="en-US">
                <a:latin typeface="Times New Roman" panose="02020603050405020304" pitchFamily="18" charset="0"/>
                <a:cs typeface="Times New Roman" panose="02020603050405020304" pitchFamily="18" charset="0"/>
              </a:rPr>
              <a:t>操作系统移植</a:t>
            </a:r>
            <a:endParaRPr lang="en-US" altLang="zh-C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1548806"/>
      </p:ext>
    </p:extLst>
  </p:cSld>
  <p:clrMapOvr>
    <a:masterClrMapping/>
  </p:clrMapOvr>
  <p:transition>
    <p:cover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了解开发板</a:t>
            </a:r>
          </a:p>
        </p:txBody>
      </p:sp>
      <p:sp>
        <p:nvSpPr>
          <p:cNvPr id="3" name="内容占位符 2"/>
          <p:cNvSpPr>
            <a:spLocks noGrp="1"/>
          </p:cNvSpPr>
          <p:nvPr>
            <p:ph idx="1"/>
          </p:nvPr>
        </p:nvSpPr>
        <p:spPr>
          <a:xfrm>
            <a:off x="685800" y="1542361"/>
            <a:ext cx="7772400" cy="4891490"/>
          </a:xfrm>
        </p:spPr>
        <p:txBody>
          <a:bodyPr/>
          <a:lstStyle/>
          <a:p>
            <a:r>
              <a:rPr lang="en-US" altLang="zh-CN" sz="2800" dirty="0"/>
              <a:t>STM32F407VG</a:t>
            </a:r>
            <a:r>
              <a:rPr lang="zh-CN" altLang="en-US" sz="2800" dirty="0"/>
              <a:t>微控制器</a:t>
            </a:r>
            <a:endParaRPr lang="en-US" altLang="zh-CN" sz="2800" dirty="0"/>
          </a:p>
          <a:p>
            <a:r>
              <a:rPr lang="en-US" altLang="zh-CN" sz="2800" dirty="0"/>
              <a:t>ST-Link</a:t>
            </a:r>
            <a:r>
              <a:rPr lang="zh-CN" altLang="en-US" sz="2800" dirty="0"/>
              <a:t>调试器</a:t>
            </a:r>
            <a:endParaRPr lang="en-US" altLang="zh-CN" sz="2800" dirty="0"/>
          </a:p>
          <a:p>
            <a:r>
              <a:rPr lang="en-US" altLang="zh-CN" sz="2800" dirty="0"/>
              <a:t>LIS302DL</a:t>
            </a:r>
            <a:r>
              <a:rPr lang="zh-CN" altLang="en-US" sz="2800" dirty="0"/>
              <a:t>运动传感器，</a:t>
            </a:r>
            <a:r>
              <a:rPr lang="en-US" altLang="zh-CN" sz="2800" dirty="0"/>
              <a:t>3</a:t>
            </a:r>
            <a:r>
              <a:rPr lang="zh-CN" altLang="en-US" sz="2800" dirty="0"/>
              <a:t>轴数字输出加速器</a:t>
            </a:r>
            <a:endParaRPr lang="en-US" altLang="zh-CN" sz="2800" dirty="0"/>
          </a:p>
          <a:p>
            <a:r>
              <a:rPr lang="en-US" altLang="zh-CN" sz="2800" dirty="0"/>
              <a:t>MP45DT02</a:t>
            </a:r>
            <a:r>
              <a:rPr lang="zh-CN" altLang="en-US" sz="2800" dirty="0"/>
              <a:t>音频传感器，全向数字麦克风</a:t>
            </a:r>
            <a:endParaRPr lang="en-US" altLang="zh-CN" sz="2800" dirty="0"/>
          </a:p>
          <a:p>
            <a:r>
              <a:rPr lang="en-US" altLang="zh-CN" sz="2800" dirty="0"/>
              <a:t>CS43L22</a:t>
            </a:r>
            <a:r>
              <a:rPr lang="zh-CN" altLang="en-US" sz="2800" dirty="0"/>
              <a:t>音频</a:t>
            </a:r>
            <a:r>
              <a:rPr lang="en-US" altLang="zh-CN" sz="2800" dirty="0"/>
              <a:t>DAC</a:t>
            </a:r>
          </a:p>
          <a:p>
            <a:r>
              <a:rPr lang="en-US" altLang="zh-CN" sz="2800" dirty="0"/>
              <a:t>8</a:t>
            </a:r>
            <a:r>
              <a:rPr lang="zh-CN" altLang="en-US" sz="2800" dirty="0"/>
              <a:t>个</a:t>
            </a:r>
            <a:r>
              <a:rPr lang="en-US" altLang="zh-CN" sz="2800" dirty="0"/>
              <a:t>LED</a:t>
            </a:r>
            <a:r>
              <a:rPr lang="zh-CN" altLang="en-US" sz="2800" dirty="0"/>
              <a:t>灯</a:t>
            </a:r>
            <a:endParaRPr lang="en-US" altLang="zh-CN" sz="2800" dirty="0"/>
          </a:p>
          <a:p>
            <a:r>
              <a:rPr lang="en-US" altLang="zh-CN" sz="2800" dirty="0"/>
              <a:t>2</a:t>
            </a:r>
            <a:r>
              <a:rPr lang="zh-CN" altLang="en-US" sz="2800" dirty="0"/>
              <a:t>个按钮</a:t>
            </a:r>
            <a:endParaRPr lang="en-US" altLang="zh-CN" sz="2800" dirty="0"/>
          </a:p>
          <a:p>
            <a:r>
              <a:rPr lang="en-US" altLang="zh-CN" sz="2800" dirty="0"/>
              <a:t>USB OTG</a:t>
            </a:r>
          </a:p>
          <a:p>
            <a:r>
              <a:rPr lang="en-US" altLang="zh-CN" sz="2800" dirty="0"/>
              <a:t>LQFP100 IO</a:t>
            </a:r>
            <a:r>
              <a:rPr lang="zh-CN" altLang="en-US" sz="2800" dirty="0"/>
              <a:t>口扩展头</a:t>
            </a:r>
            <a:endParaRPr lang="en-US" altLang="zh-CN" sz="2800" dirty="0"/>
          </a:p>
          <a:p>
            <a:pPr marL="0" indent="0">
              <a:buNone/>
            </a:pPr>
            <a:endParaRPr lang="zh-CN" altLang="en-US" dirty="0"/>
          </a:p>
        </p:txBody>
      </p:sp>
    </p:spTree>
    <p:extLst>
      <p:ext uri="{BB962C8B-B14F-4D97-AF65-F5344CB8AC3E}">
        <p14:creationId xmlns:p14="http://schemas.microsoft.com/office/powerpoint/2010/main" val="2493860607"/>
      </p:ext>
    </p:extLst>
  </p:cSld>
  <p:clrMapOvr>
    <a:masterClrMapping/>
  </p:clrMapOvr>
  <p:transition>
    <p:cover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了解开发板</a:t>
            </a:r>
          </a:p>
        </p:txBody>
      </p:sp>
      <p:sp>
        <p:nvSpPr>
          <p:cNvPr id="3" name="内容占位符 2"/>
          <p:cNvSpPr>
            <a:spLocks noGrp="1"/>
          </p:cNvSpPr>
          <p:nvPr>
            <p:ph idx="1"/>
          </p:nvPr>
        </p:nvSpPr>
        <p:spPr/>
        <p:txBody>
          <a:bodyPr/>
          <a:lstStyle/>
          <a:p>
            <a:r>
              <a:rPr lang="en-US" altLang="zh-CN" sz="2800" dirty="0"/>
              <a:t>3</a:t>
            </a:r>
            <a:r>
              <a:rPr lang="zh-CN" altLang="en-US" sz="2800" dirty="0"/>
              <a:t>个</a:t>
            </a:r>
            <a:r>
              <a:rPr lang="en-US" altLang="zh-CN" sz="2800" dirty="0"/>
              <a:t>I2C</a:t>
            </a:r>
          </a:p>
          <a:p>
            <a:r>
              <a:rPr lang="en-US" altLang="zh-CN" sz="2800" dirty="0"/>
              <a:t>3</a:t>
            </a:r>
            <a:r>
              <a:rPr lang="zh-CN" altLang="en-US" sz="2800" dirty="0"/>
              <a:t>个</a:t>
            </a:r>
            <a:r>
              <a:rPr lang="en-US" altLang="zh-CN" sz="2800" dirty="0"/>
              <a:t>SPI</a:t>
            </a:r>
          </a:p>
          <a:p>
            <a:r>
              <a:rPr lang="en-US" altLang="zh-CN" sz="2800" dirty="0"/>
              <a:t>6</a:t>
            </a:r>
            <a:r>
              <a:rPr lang="zh-CN" altLang="en-US" sz="2800" dirty="0"/>
              <a:t>个</a:t>
            </a:r>
            <a:r>
              <a:rPr lang="en-US" altLang="zh-CN" sz="2800" dirty="0"/>
              <a:t>USART</a:t>
            </a:r>
          </a:p>
          <a:p>
            <a:r>
              <a:rPr lang="en-US" altLang="zh-CN" sz="2800" dirty="0"/>
              <a:t>2</a:t>
            </a:r>
            <a:r>
              <a:rPr lang="zh-CN" altLang="en-US" sz="2800" dirty="0"/>
              <a:t>路</a:t>
            </a:r>
            <a:r>
              <a:rPr lang="en-US" altLang="zh-CN" sz="2800" dirty="0"/>
              <a:t>CAN</a:t>
            </a:r>
          </a:p>
          <a:p>
            <a:r>
              <a:rPr lang="en-US" altLang="zh-CN" sz="2800" dirty="0"/>
              <a:t>3</a:t>
            </a:r>
            <a:r>
              <a:rPr lang="zh-CN" altLang="en-US" sz="2800" dirty="0"/>
              <a:t>个</a:t>
            </a:r>
            <a:r>
              <a:rPr lang="en-US" altLang="zh-CN" sz="2800" dirty="0"/>
              <a:t>12</a:t>
            </a:r>
            <a:r>
              <a:rPr lang="zh-CN" altLang="en-US" sz="2800" dirty="0"/>
              <a:t>位</a:t>
            </a:r>
            <a:r>
              <a:rPr lang="en-US" altLang="zh-CN" sz="2800" dirty="0"/>
              <a:t>ADC</a:t>
            </a:r>
          </a:p>
          <a:p>
            <a:r>
              <a:rPr lang="en-US" altLang="zh-CN" sz="2800" dirty="0"/>
              <a:t>2</a:t>
            </a:r>
            <a:r>
              <a:rPr lang="zh-CN" altLang="en-US" sz="2800" dirty="0"/>
              <a:t>个</a:t>
            </a:r>
            <a:r>
              <a:rPr lang="en-US" altLang="zh-CN" sz="2800" dirty="0"/>
              <a:t>12</a:t>
            </a:r>
            <a:r>
              <a:rPr lang="zh-CN" altLang="en-US" sz="2800" dirty="0"/>
              <a:t>位</a:t>
            </a:r>
            <a:r>
              <a:rPr lang="en-US" altLang="zh-CN" sz="2800" dirty="0"/>
              <a:t>DAC</a:t>
            </a:r>
          </a:p>
          <a:p>
            <a:r>
              <a:rPr lang="en-US" altLang="zh-CN" sz="2800" dirty="0"/>
              <a:t>192KB</a:t>
            </a:r>
            <a:r>
              <a:rPr lang="zh-CN" altLang="en-US" sz="2800" dirty="0"/>
              <a:t>的</a:t>
            </a:r>
            <a:r>
              <a:rPr lang="en-US" altLang="zh-CN" sz="2800" dirty="0"/>
              <a:t>Data SRAM</a:t>
            </a:r>
          </a:p>
          <a:p>
            <a:r>
              <a:rPr lang="en-US" altLang="zh-CN" sz="2800" dirty="0"/>
              <a:t>1MB</a:t>
            </a:r>
            <a:r>
              <a:rPr lang="zh-CN" altLang="en-US" sz="2800" dirty="0"/>
              <a:t>的</a:t>
            </a:r>
            <a:r>
              <a:rPr lang="en-US" altLang="zh-CN" sz="2800" dirty="0"/>
              <a:t>FLASH</a:t>
            </a:r>
            <a:endParaRPr lang="zh-CN" altLang="en-US" sz="2800" dirty="0"/>
          </a:p>
        </p:txBody>
      </p:sp>
    </p:spTree>
    <p:extLst>
      <p:ext uri="{BB962C8B-B14F-4D97-AF65-F5344CB8AC3E}">
        <p14:creationId xmlns:p14="http://schemas.microsoft.com/office/powerpoint/2010/main" val="1568248032"/>
      </p:ext>
    </p:extLst>
  </p:cSld>
  <p:clrMapOvr>
    <a:masterClrMapping/>
  </p:clrMapOvr>
  <p:transition>
    <p:cover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了解开发板</a:t>
            </a:r>
          </a:p>
        </p:txBody>
      </p:sp>
      <p:pic>
        <p:nvPicPr>
          <p:cNvPr id="4" name="内容占位符 3"/>
          <p:cNvPicPr>
            <a:picLocks noGrp="1" noChangeAspect="1"/>
          </p:cNvPicPr>
          <p:nvPr>
            <p:ph idx="1"/>
          </p:nvPr>
        </p:nvPicPr>
        <p:blipFill>
          <a:blip r:embed="rId2" cstate="print"/>
          <a:stretch>
            <a:fillRect/>
          </a:stretch>
        </p:blipFill>
        <p:spPr>
          <a:xfrm>
            <a:off x="685800" y="1752600"/>
            <a:ext cx="5801193" cy="4114800"/>
          </a:xfrm>
          <a:prstGeom prst="rect">
            <a:avLst/>
          </a:prstGeom>
        </p:spPr>
      </p:pic>
      <p:sp>
        <p:nvSpPr>
          <p:cNvPr id="6" name="文本框 5"/>
          <p:cNvSpPr txBox="1"/>
          <p:nvPr/>
        </p:nvSpPr>
        <p:spPr>
          <a:xfrm>
            <a:off x="6764357" y="1938969"/>
            <a:ext cx="2170323" cy="2062103"/>
          </a:xfrm>
          <a:prstGeom prst="rect">
            <a:avLst/>
          </a:prstGeom>
          <a:noFill/>
        </p:spPr>
        <p:txBody>
          <a:bodyPr wrap="square" rtlCol="0">
            <a:spAutoFit/>
          </a:bodyPr>
          <a:lstStyle/>
          <a:p>
            <a:r>
              <a:rPr lang="zh-CN" altLang="en-US" sz="3200" dirty="0"/>
              <a:t>开发板手册中有更详细的说明。</a:t>
            </a:r>
          </a:p>
        </p:txBody>
      </p:sp>
    </p:spTree>
    <p:extLst>
      <p:ext uri="{BB962C8B-B14F-4D97-AF65-F5344CB8AC3E}">
        <p14:creationId xmlns:p14="http://schemas.microsoft.com/office/powerpoint/2010/main" val="86966987"/>
      </p:ext>
    </p:extLst>
  </p:cSld>
  <p:clrMapOvr>
    <a:masterClrMapping/>
  </p:clrMapOvr>
  <p:transition>
    <p:cover di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Keil</a:t>
            </a:r>
            <a:r>
              <a:rPr lang="zh-CN" altLang="en-US" dirty="0"/>
              <a:t> </a:t>
            </a:r>
            <a:r>
              <a:rPr lang="en-US" altLang="zh-CN" dirty="0"/>
              <a:t>MDK</a:t>
            </a:r>
            <a:r>
              <a:rPr lang="zh-CN" altLang="en-US" dirty="0"/>
              <a:t>简介</a:t>
            </a:r>
          </a:p>
        </p:txBody>
      </p:sp>
      <p:sp>
        <p:nvSpPr>
          <p:cNvPr id="3" name="内容占位符 2">
            <a:extLst>
              <a:ext uri="{FF2B5EF4-FFF2-40B4-BE49-F238E27FC236}">
                <a16:creationId xmlns:a16="http://schemas.microsoft.com/office/drawing/2014/main" id="{0F7D1DD1-982B-2148-BE5B-E66CFCD83B53}"/>
              </a:ext>
            </a:extLst>
          </p:cNvPr>
          <p:cNvSpPr>
            <a:spLocks noGrp="1"/>
          </p:cNvSpPr>
          <p:nvPr>
            <p:ph idx="1"/>
          </p:nvPr>
        </p:nvSpPr>
        <p:spPr/>
        <p:txBody>
          <a:bodyPr/>
          <a:lstStyle/>
          <a:p>
            <a:r>
              <a:rPr lang="en-US" altLang="zh-CN" dirty="0"/>
              <a:t>Keil</a:t>
            </a:r>
            <a:r>
              <a:rPr lang="zh-CN" altLang="zh-CN" dirty="0"/>
              <a:t>是知名软件公司</a:t>
            </a:r>
            <a:r>
              <a:rPr lang="en-US" altLang="zh-CN" dirty="0"/>
              <a:t>Keil</a:t>
            </a:r>
            <a:r>
              <a:rPr lang="zh-CN" altLang="zh-CN" dirty="0"/>
              <a:t>（现已被</a:t>
            </a:r>
            <a:r>
              <a:rPr lang="en-US" altLang="zh-CN" dirty="0"/>
              <a:t>ARM </a:t>
            </a:r>
            <a:r>
              <a:rPr lang="zh-CN" altLang="zh-CN" dirty="0"/>
              <a:t>公司收购）开发的微控制器软件开发平台，是目前</a:t>
            </a:r>
            <a:r>
              <a:rPr lang="en-US" altLang="zh-CN" dirty="0"/>
              <a:t>ARM</a:t>
            </a:r>
            <a:r>
              <a:rPr lang="zh-CN" altLang="zh-CN" dirty="0"/>
              <a:t>内核单片机开发的主流工具。</a:t>
            </a:r>
            <a:r>
              <a:rPr lang="en-US" altLang="zh-CN" dirty="0"/>
              <a:t>Keil</a:t>
            </a:r>
            <a:r>
              <a:rPr lang="zh-CN" altLang="zh-CN" dirty="0"/>
              <a:t>提供了包括</a:t>
            </a:r>
            <a:r>
              <a:rPr lang="en-US" altLang="zh-CN" dirty="0"/>
              <a:t>C</a:t>
            </a:r>
            <a:r>
              <a:rPr lang="zh-CN" altLang="zh-CN" dirty="0"/>
              <a:t>编译器、宏汇编器、连接器、库管理和一个功能强大的仿真调试器在内的完整开发方案，通过一个集成开发环境（</a:t>
            </a:r>
            <a:r>
              <a:rPr lang="en-US" altLang="zh-CN" dirty="0"/>
              <a:t>μVision</a:t>
            </a:r>
            <a:r>
              <a:rPr lang="zh-CN" altLang="zh-CN" dirty="0"/>
              <a:t>）将这些功能组合在一起。 </a:t>
            </a:r>
            <a:endParaRPr kumimoji="1" lang="zh-CN" altLang="en-US" dirty="0"/>
          </a:p>
        </p:txBody>
      </p:sp>
    </p:spTree>
    <p:extLst>
      <p:ext uri="{BB962C8B-B14F-4D97-AF65-F5344CB8AC3E}">
        <p14:creationId xmlns:p14="http://schemas.microsoft.com/office/powerpoint/2010/main" val="2709901128"/>
      </p:ext>
    </p:extLst>
  </p:cSld>
  <p:clrMapOvr>
    <a:masterClrMapping/>
  </p:clrMapOvr>
  <p:transition>
    <p:cover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MDK5</a:t>
            </a:r>
            <a:r>
              <a:rPr lang="zh-CN" altLang="en-US" dirty="0"/>
              <a:t>组成</a:t>
            </a:r>
          </a:p>
        </p:txBody>
      </p:sp>
      <p:sp>
        <p:nvSpPr>
          <p:cNvPr id="3" name="内容占位符 2">
            <a:extLst>
              <a:ext uri="{FF2B5EF4-FFF2-40B4-BE49-F238E27FC236}">
                <a16:creationId xmlns:a16="http://schemas.microsoft.com/office/drawing/2014/main" id="{0F7D1DD1-982B-2148-BE5B-E66CFCD83B53}"/>
              </a:ext>
            </a:extLst>
          </p:cNvPr>
          <p:cNvSpPr>
            <a:spLocks noGrp="1"/>
          </p:cNvSpPr>
          <p:nvPr>
            <p:ph idx="1"/>
          </p:nvPr>
        </p:nvSpPr>
        <p:spPr/>
        <p:txBody>
          <a:bodyPr/>
          <a:lstStyle/>
          <a:p>
            <a:endParaRPr kumimoji="1" lang="zh-CN" altLang="en-US" dirty="0"/>
          </a:p>
        </p:txBody>
      </p:sp>
      <p:pic>
        <p:nvPicPr>
          <p:cNvPr id="4" name="图片 3">
            <a:extLst>
              <a:ext uri="{FF2B5EF4-FFF2-40B4-BE49-F238E27FC236}">
                <a16:creationId xmlns:a16="http://schemas.microsoft.com/office/drawing/2014/main" id="{D4FA7BAA-B6AA-EE42-8FB3-DA5B570554D1}"/>
              </a:ext>
            </a:extLst>
          </p:cNvPr>
          <p:cNvPicPr>
            <a:picLocks noChangeAspect="1"/>
          </p:cNvPicPr>
          <p:nvPr/>
        </p:nvPicPr>
        <p:blipFill>
          <a:blip r:embed="rId2"/>
          <a:stretch>
            <a:fillRect/>
          </a:stretch>
        </p:blipFill>
        <p:spPr>
          <a:xfrm>
            <a:off x="1285239" y="1513204"/>
            <a:ext cx="6758075" cy="5264785"/>
          </a:xfrm>
          <a:prstGeom prst="rect">
            <a:avLst/>
          </a:prstGeom>
        </p:spPr>
      </p:pic>
    </p:spTree>
    <p:extLst>
      <p:ext uri="{BB962C8B-B14F-4D97-AF65-F5344CB8AC3E}">
        <p14:creationId xmlns:p14="http://schemas.microsoft.com/office/powerpoint/2010/main" val="2505273144"/>
      </p:ext>
    </p:extLst>
  </p:cSld>
  <p:clrMapOvr>
    <a:masterClrMapping/>
  </p:clrMapOvr>
  <p:transition>
    <p:cover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μVision IDE</a:t>
            </a:r>
            <a:r>
              <a:rPr lang="zh-CN" altLang="zh-CN" dirty="0"/>
              <a:t> </a:t>
            </a:r>
            <a:endParaRPr lang="zh-CN" altLang="en-US" dirty="0"/>
          </a:p>
        </p:txBody>
      </p:sp>
      <p:sp>
        <p:nvSpPr>
          <p:cNvPr id="3" name="内容占位符 2">
            <a:extLst>
              <a:ext uri="{FF2B5EF4-FFF2-40B4-BE49-F238E27FC236}">
                <a16:creationId xmlns:a16="http://schemas.microsoft.com/office/drawing/2014/main" id="{0F7D1DD1-982B-2148-BE5B-E66CFCD83B53}"/>
              </a:ext>
            </a:extLst>
          </p:cNvPr>
          <p:cNvSpPr>
            <a:spLocks noGrp="1"/>
          </p:cNvSpPr>
          <p:nvPr>
            <p:ph idx="1"/>
          </p:nvPr>
        </p:nvSpPr>
        <p:spPr/>
        <p:txBody>
          <a:bodyPr/>
          <a:lstStyle/>
          <a:p>
            <a:r>
              <a:rPr lang="en-US" altLang="zh-CN" dirty="0"/>
              <a:t>μVision IDE</a:t>
            </a:r>
            <a:r>
              <a:rPr lang="zh-CN" altLang="zh-CN" dirty="0"/>
              <a:t>是一款集编辑，编译和项目管理于一身的基于窗口的软件开发环境，集成了</a:t>
            </a:r>
            <a:r>
              <a:rPr lang="en-US" altLang="zh-CN" dirty="0"/>
              <a:t>C</a:t>
            </a:r>
            <a:r>
              <a:rPr lang="zh-CN" altLang="zh-CN" dirty="0"/>
              <a:t>语言编译器，宏编译，链接</a:t>
            </a:r>
            <a:r>
              <a:rPr lang="en-US" altLang="zh-CN" dirty="0"/>
              <a:t>/</a:t>
            </a:r>
            <a:r>
              <a:rPr lang="zh-CN" altLang="zh-CN" dirty="0"/>
              <a:t>定位，以及</a:t>
            </a:r>
            <a:r>
              <a:rPr lang="en-US" altLang="zh-CN" dirty="0"/>
              <a:t>HEX</a:t>
            </a:r>
            <a:r>
              <a:rPr lang="zh-CN" altLang="zh-CN" dirty="0"/>
              <a:t>文件生成器。 </a:t>
            </a:r>
            <a:endParaRPr kumimoji="1" lang="zh-CN" altLang="en-US" dirty="0"/>
          </a:p>
        </p:txBody>
      </p:sp>
    </p:spTree>
    <p:extLst>
      <p:ext uri="{BB962C8B-B14F-4D97-AF65-F5344CB8AC3E}">
        <p14:creationId xmlns:p14="http://schemas.microsoft.com/office/powerpoint/2010/main" val="1340960604"/>
      </p:ext>
    </p:extLst>
  </p:cSld>
  <p:clrMapOvr>
    <a:masterClrMapping/>
  </p:clrMapOvr>
  <p:transition>
    <p:cover di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μVision IDE</a:t>
            </a:r>
            <a:r>
              <a:rPr lang="zh-CN" altLang="en-US" dirty="0"/>
              <a:t>特性</a:t>
            </a:r>
            <a:r>
              <a:rPr lang="zh-CN" altLang="zh-CN" dirty="0"/>
              <a:t> </a:t>
            </a:r>
            <a:endParaRPr lang="zh-CN" altLang="en-US" dirty="0"/>
          </a:p>
        </p:txBody>
      </p:sp>
      <p:sp>
        <p:nvSpPr>
          <p:cNvPr id="3" name="内容占位符 2">
            <a:extLst>
              <a:ext uri="{FF2B5EF4-FFF2-40B4-BE49-F238E27FC236}">
                <a16:creationId xmlns:a16="http://schemas.microsoft.com/office/drawing/2014/main" id="{0F7D1DD1-982B-2148-BE5B-E66CFCD83B53}"/>
              </a:ext>
            </a:extLst>
          </p:cNvPr>
          <p:cNvSpPr>
            <a:spLocks noGrp="1"/>
          </p:cNvSpPr>
          <p:nvPr>
            <p:ph idx="1"/>
          </p:nvPr>
        </p:nvSpPr>
        <p:spPr>
          <a:xfrm>
            <a:off x="240030" y="1752600"/>
            <a:ext cx="8663940" cy="4164330"/>
          </a:xfrm>
        </p:spPr>
        <p:txBody>
          <a:bodyPr/>
          <a:lstStyle/>
          <a:p>
            <a:pPr marL="0" lvl="0" indent="0">
              <a:buNone/>
            </a:pPr>
            <a:r>
              <a:rPr lang="zh-CN" altLang="en-US" dirty="0"/>
              <a:t>（</a:t>
            </a:r>
            <a:r>
              <a:rPr lang="en-US" altLang="zh-CN" dirty="0"/>
              <a:t>1</a:t>
            </a:r>
            <a:r>
              <a:rPr lang="zh-CN" altLang="en-US" dirty="0"/>
              <a:t>）</a:t>
            </a:r>
            <a:r>
              <a:rPr lang="zh-CN" altLang="zh-CN" dirty="0"/>
              <a:t>功能齐全的源代码编译器；</a:t>
            </a:r>
          </a:p>
          <a:p>
            <a:pPr marL="0" lvl="0" indent="0">
              <a:buNone/>
            </a:pPr>
            <a:r>
              <a:rPr lang="zh-CN" altLang="en-US" dirty="0"/>
              <a:t>（</a:t>
            </a:r>
            <a:r>
              <a:rPr lang="en-US" altLang="zh-CN" dirty="0"/>
              <a:t>2</a:t>
            </a:r>
            <a:r>
              <a:rPr lang="zh-CN" altLang="en-US" dirty="0"/>
              <a:t>）</a:t>
            </a:r>
            <a:r>
              <a:rPr lang="zh-CN" altLang="zh-CN" dirty="0"/>
              <a:t>用于配置开发工具的设备库；</a:t>
            </a:r>
          </a:p>
          <a:p>
            <a:pPr marL="0" lvl="0" indent="0">
              <a:buNone/>
            </a:pPr>
            <a:r>
              <a:rPr lang="zh-CN" altLang="en-US" dirty="0"/>
              <a:t>（</a:t>
            </a:r>
            <a:r>
              <a:rPr lang="en-US" altLang="zh-CN" dirty="0"/>
              <a:t>3</a:t>
            </a:r>
            <a:r>
              <a:rPr lang="zh-CN" altLang="en-US" dirty="0"/>
              <a:t>）</a:t>
            </a:r>
            <a:r>
              <a:rPr lang="zh-CN" altLang="zh-CN" dirty="0"/>
              <a:t>用于创建工程和维护工程的项目管理器；</a:t>
            </a:r>
            <a:endParaRPr lang="en-US" altLang="zh-CN" dirty="0"/>
          </a:p>
          <a:p>
            <a:pPr marL="0" indent="0">
              <a:buNone/>
            </a:pPr>
            <a:r>
              <a:rPr lang="zh-CN" altLang="en-US" dirty="0"/>
              <a:t>（</a:t>
            </a:r>
            <a:r>
              <a:rPr lang="en-US" altLang="zh-CN" dirty="0"/>
              <a:t>4</a:t>
            </a:r>
            <a:r>
              <a:rPr lang="zh-CN" altLang="en-US" dirty="0"/>
              <a:t>）</a:t>
            </a:r>
            <a:r>
              <a:rPr lang="zh-CN" altLang="zh-CN" dirty="0"/>
              <a:t>所有的工具配置都采用对话框进行；</a:t>
            </a:r>
            <a:endParaRPr lang="en-US" altLang="zh-CN" dirty="0"/>
          </a:p>
          <a:p>
            <a:pPr marL="0" indent="0">
              <a:buNone/>
            </a:pPr>
            <a:r>
              <a:rPr lang="zh-CN" altLang="en-US" dirty="0"/>
              <a:t>（</a:t>
            </a:r>
            <a:r>
              <a:rPr lang="en-US" altLang="zh-CN" dirty="0"/>
              <a:t>5</a:t>
            </a:r>
            <a:r>
              <a:rPr lang="zh-CN" altLang="en-US" dirty="0"/>
              <a:t>）</a:t>
            </a:r>
            <a:r>
              <a:rPr lang="zh-CN" altLang="zh-CN" dirty="0"/>
              <a:t>集成了源码级的仿真调试器，包括高速</a:t>
            </a:r>
            <a:r>
              <a:rPr lang="en-US" altLang="zh-CN" dirty="0"/>
              <a:t>CPU</a:t>
            </a:r>
            <a:r>
              <a:rPr lang="zh-CN" altLang="zh-CN" dirty="0"/>
              <a:t>和外设模拟器； </a:t>
            </a:r>
            <a:endParaRPr lang="en-US" altLang="zh-CN" dirty="0"/>
          </a:p>
          <a:p>
            <a:pPr lvl="0"/>
            <a:endParaRPr lang="zh-CN" altLang="zh-CN" dirty="0"/>
          </a:p>
          <a:p>
            <a:endParaRPr kumimoji="1" lang="zh-CN" altLang="en-US" dirty="0"/>
          </a:p>
        </p:txBody>
      </p:sp>
    </p:spTree>
    <p:extLst>
      <p:ext uri="{BB962C8B-B14F-4D97-AF65-F5344CB8AC3E}">
        <p14:creationId xmlns:p14="http://schemas.microsoft.com/office/powerpoint/2010/main" val="3565800322"/>
      </p:ext>
    </p:extLst>
  </p:cSld>
  <p:clrMapOvr>
    <a:masterClrMapping/>
  </p:clrMapOvr>
  <p:transition>
    <p:cover di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μVision IDE</a:t>
            </a:r>
            <a:r>
              <a:rPr lang="zh-CN" altLang="en-US" dirty="0"/>
              <a:t>特性</a:t>
            </a:r>
            <a:r>
              <a:rPr lang="zh-CN" altLang="zh-CN" dirty="0"/>
              <a:t> </a:t>
            </a:r>
            <a:endParaRPr lang="zh-CN" altLang="en-US" dirty="0"/>
          </a:p>
        </p:txBody>
      </p:sp>
      <p:sp>
        <p:nvSpPr>
          <p:cNvPr id="3" name="内容占位符 2">
            <a:extLst>
              <a:ext uri="{FF2B5EF4-FFF2-40B4-BE49-F238E27FC236}">
                <a16:creationId xmlns:a16="http://schemas.microsoft.com/office/drawing/2014/main" id="{0F7D1DD1-982B-2148-BE5B-E66CFCD83B53}"/>
              </a:ext>
            </a:extLst>
          </p:cNvPr>
          <p:cNvSpPr>
            <a:spLocks noGrp="1"/>
          </p:cNvSpPr>
          <p:nvPr>
            <p:ph idx="1"/>
          </p:nvPr>
        </p:nvSpPr>
        <p:spPr>
          <a:xfrm>
            <a:off x="240030" y="1752600"/>
            <a:ext cx="8663940" cy="4164330"/>
          </a:xfrm>
        </p:spPr>
        <p:txBody>
          <a:bodyPr/>
          <a:lstStyle/>
          <a:p>
            <a:pPr lvl="0"/>
            <a:r>
              <a:rPr lang="zh-CN" altLang="en-US" dirty="0"/>
              <a:t>（</a:t>
            </a:r>
            <a:r>
              <a:rPr lang="en-US" altLang="zh-CN" dirty="0"/>
              <a:t>6</a:t>
            </a:r>
            <a:r>
              <a:rPr lang="zh-CN" altLang="en-US" dirty="0"/>
              <a:t>）</a:t>
            </a:r>
            <a:r>
              <a:rPr lang="zh-CN" altLang="zh-CN" dirty="0"/>
              <a:t>用于向</a:t>
            </a:r>
            <a:r>
              <a:rPr lang="en-US" altLang="zh-CN" dirty="0"/>
              <a:t>Flash ROM</a:t>
            </a:r>
            <a:r>
              <a:rPr lang="zh-CN" altLang="zh-CN" dirty="0"/>
              <a:t>下载应用程序的</a:t>
            </a:r>
            <a:r>
              <a:rPr lang="en-US" altLang="zh-CN" dirty="0"/>
              <a:t>Flash</a:t>
            </a:r>
            <a:r>
              <a:rPr lang="zh-CN" altLang="zh-CN" dirty="0"/>
              <a:t>编程工具；</a:t>
            </a:r>
          </a:p>
          <a:p>
            <a:pPr lvl="0"/>
            <a:r>
              <a:rPr lang="zh-CN" altLang="en-US" dirty="0"/>
              <a:t>（</a:t>
            </a:r>
            <a:r>
              <a:rPr lang="en-US" altLang="zh-CN" dirty="0"/>
              <a:t>7</a:t>
            </a:r>
            <a:r>
              <a:rPr lang="zh-CN" altLang="en-US" dirty="0"/>
              <a:t>）</a:t>
            </a:r>
            <a:r>
              <a:rPr lang="zh-CN" altLang="zh-CN" dirty="0"/>
              <a:t>完备的开发工具帮助文档，设备数据表和用户使用向导。</a:t>
            </a:r>
          </a:p>
          <a:p>
            <a:pPr lvl="0"/>
            <a:endParaRPr lang="zh-CN" altLang="zh-CN" dirty="0"/>
          </a:p>
          <a:p>
            <a:endParaRPr kumimoji="1" lang="zh-CN" altLang="en-US" dirty="0"/>
          </a:p>
        </p:txBody>
      </p:sp>
    </p:spTree>
    <p:extLst>
      <p:ext uri="{BB962C8B-B14F-4D97-AF65-F5344CB8AC3E}">
        <p14:creationId xmlns:p14="http://schemas.microsoft.com/office/powerpoint/2010/main" val="4254885853"/>
      </p:ext>
    </p:extLst>
  </p:cSld>
  <p:clrMapOvr>
    <a:masterClrMapping/>
  </p:clrMapOvr>
  <p:transition>
    <p:cover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μVision IDE</a:t>
            </a:r>
            <a:r>
              <a:rPr lang="zh-CN" altLang="en-US" dirty="0"/>
              <a:t>调试窗口组成</a:t>
            </a:r>
            <a:r>
              <a:rPr lang="zh-CN" altLang="zh-CN" dirty="0"/>
              <a:t> </a:t>
            </a:r>
            <a:endParaRPr lang="zh-CN" altLang="en-US" dirty="0"/>
          </a:p>
        </p:txBody>
      </p:sp>
      <p:sp>
        <p:nvSpPr>
          <p:cNvPr id="3" name="内容占位符 2">
            <a:extLst>
              <a:ext uri="{FF2B5EF4-FFF2-40B4-BE49-F238E27FC236}">
                <a16:creationId xmlns:a16="http://schemas.microsoft.com/office/drawing/2014/main" id="{0F7D1DD1-982B-2148-BE5B-E66CFCD83B53}"/>
              </a:ext>
            </a:extLst>
          </p:cNvPr>
          <p:cNvSpPr>
            <a:spLocks noGrp="1"/>
          </p:cNvSpPr>
          <p:nvPr>
            <p:ph idx="1"/>
          </p:nvPr>
        </p:nvSpPr>
        <p:spPr>
          <a:xfrm>
            <a:off x="891540" y="1767840"/>
            <a:ext cx="8663940" cy="4164330"/>
          </a:xfrm>
        </p:spPr>
        <p:txBody>
          <a:bodyPr/>
          <a:lstStyle/>
          <a:p>
            <a:r>
              <a:rPr lang="zh-CN" altLang="en-US" dirty="0"/>
              <a:t>（</a:t>
            </a:r>
            <a:r>
              <a:rPr lang="en-US" altLang="zh-CN" dirty="0"/>
              <a:t>1</a:t>
            </a:r>
            <a:r>
              <a:rPr lang="zh-CN" altLang="en-US" dirty="0"/>
              <a:t>）</a:t>
            </a:r>
            <a:r>
              <a:rPr lang="zh-CN" altLang="zh-CN" dirty="0"/>
              <a:t>工程区</a:t>
            </a:r>
            <a:endParaRPr lang="en-US" altLang="zh-CN" dirty="0"/>
          </a:p>
          <a:p>
            <a:r>
              <a:rPr lang="zh-CN" altLang="en-US" dirty="0"/>
              <a:t>（</a:t>
            </a:r>
            <a:r>
              <a:rPr lang="en-US" altLang="zh-CN" dirty="0"/>
              <a:t>2</a:t>
            </a:r>
            <a:r>
              <a:rPr lang="zh-CN" altLang="en-US" dirty="0"/>
              <a:t>）</a:t>
            </a:r>
            <a:r>
              <a:rPr lang="zh-CN" altLang="zh-CN" dirty="0"/>
              <a:t>输出窗口</a:t>
            </a:r>
            <a:endParaRPr lang="en-US" altLang="zh-CN" dirty="0"/>
          </a:p>
          <a:p>
            <a:r>
              <a:rPr lang="zh-CN" altLang="en-US" dirty="0"/>
              <a:t>（</a:t>
            </a:r>
            <a:r>
              <a:rPr lang="en-US" altLang="zh-CN" dirty="0"/>
              <a:t>3</a:t>
            </a:r>
            <a:r>
              <a:rPr lang="zh-CN" altLang="en-US" dirty="0"/>
              <a:t>）</a:t>
            </a:r>
            <a:r>
              <a:rPr lang="zh-CN" altLang="zh-CN" dirty="0"/>
              <a:t>内存窗口</a:t>
            </a:r>
            <a:endParaRPr lang="en-US" altLang="zh-CN" dirty="0"/>
          </a:p>
          <a:p>
            <a:r>
              <a:rPr lang="zh-CN" altLang="en-US" dirty="0"/>
              <a:t>（</a:t>
            </a:r>
            <a:r>
              <a:rPr lang="en-US" altLang="zh-CN" dirty="0"/>
              <a:t>4</a:t>
            </a:r>
            <a:r>
              <a:rPr lang="zh-CN" altLang="en-US" dirty="0"/>
              <a:t>）</a:t>
            </a:r>
            <a:r>
              <a:rPr lang="zh-CN" altLang="zh-CN" dirty="0"/>
              <a:t>查看和调用栈窗口</a:t>
            </a:r>
            <a:endParaRPr lang="en-US" altLang="zh-CN" dirty="0"/>
          </a:p>
          <a:p>
            <a:r>
              <a:rPr lang="zh-CN" altLang="en-US" dirty="0"/>
              <a:t>（</a:t>
            </a:r>
            <a:r>
              <a:rPr lang="en-US" altLang="zh-CN" dirty="0"/>
              <a:t>5</a:t>
            </a:r>
            <a:r>
              <a:rPr lang="zh-CN" altLang="en-US" dirty="0"/>
              <a:t>）</a:t>
            </a:r>
            <a:r>
              <a:rPr lang="zh-CN" altLang="zh-CN" dirty="0"/>
              <a:t>代码窗口</a:t>
            </a:r>
            <a:endParaRPr lang="en-US" altLang="zh-CN" dirty="0"/>
          </a:p>
          <a:p>
            <a:r>
              <a:rPr lang="zh-CN" altLang="en-US" dirty="0"/>
              <a:t>（</a:t>
            </a:r>
            <a:r>
              <a:rPr lang="en-US" altLang="zh-CN" dirty="0"/>
              <a:t>6</a:t>
            </a:r>
            <a:r>
              <a:rPr lang="zh-CN" altLang="en-US" dirty="0"/>
              <a:t>）</a:t>
            </a:r>
            <a:r>
              <a:rPr lang="zh-CN" altLang="zh-CN" dirty="0"/>
              <a:t>外设对话框</a:t>
            </a:r>
            <a:endParaRPr lang="en-US" altLang="zh-CN" dirty="0"/>
          </a:p>
          <a:p>
            <a:pPr lvl="0"/>
            <a:endParaRPr lang="zh-CN" altLang="zh-CN" dirty="0"/>
          </a:p>
          <a:p>
            <a:pPr lvl="0"/>
            <a:endParaRPr lang="zh-CN" altLang="zh-CN" dirty="0"/>
          </a:p>
          <a:p>
            <a:endParaRPr kumimoji="1" lang="zh-CN" altLang="en-US" dirty="0"/>
          </a:p>
        </p:txBody>
      </p:sp>
    </p:spTree>
    <p:extLst>
      <p:ext uri="{BB962C8B-B14F-4D97-AF65-F5344CB8AC3E}">
        <p14:creationId xmlns:p14="http://schemas.microsoft.com/office/powerpoint/2010/main" val="2940539844"/>
      </p:ext>
    </p:extLst>
  </p:cSld>
  <p:clrMapOvr>
    <a:masterClrMapping/>
  </p:clrMapOvr>
  <p:transition>
    <p:cover di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安装</a:t>
            </a:r>
            <a:r>
              <a:rPr lang="en-US" altLang="zh-CN" dirty="0" err="1"/>
              <a:t>Keil</a:t>
            </a:r>
            <a:endParaRPr lang="zh-CN" altLang="en-US" dirty="0"/>
          </a:p>
        </p:txBody>
      </p:sp>
      <p:sp>
        <p:nvSpPr>
          <p:cNvPr id="5" name="内容占位符 4"/>
          <p:cNvSpPr>
            <a:spLocks noGrp="1"/>
          </p:cNvSpPr>
          <p:nvPr>
            <p:ph idx="1"/>
          </p:nvPr>
        </p:nvSpPr>
        <p:spPr>
          <a:xfrm>
            <a:off x="507670" y="1933700"/>
            <a:ext cx="7772400" cy="4114800"/>
          </a:xfrm>
        </p:spPr>
        <p:txBody>
          <a:bodyPr/>
          <a:lstStyle/>
          <a:p>
            <a:r>
              <a:rPr lang="zh-CN" altLang="en-US" dirty="0"/>
              <a:t>具体安装步骤，参考：</a:t>
            </a:r>
            <a:endParaRPr lang="en-US" altLang="zh-CN" dirty="0"/>
          </a:p>
          <a:p>
            <a:endParaRPr lang="en-US" altLang="zh-CN" dirty="0"/>
          </a:p>
          <a:p>
            <a:r>
              <a:rPr lang="zh-CN" altLang="en-US" dirty="0"/>
              <a:t>所需安装包在</a:t>
            </a:r>
            <a:r>
              <a:rPr lang="en-US" altLang="zh-CN" dirty="0" err="1"/>
              <a:t>keil</a:t>
            </a:r>
            <a:r>
              <a:rPr lang="en-US" altLang="zh-CN" dirty="0"/>
              <a:t> mdk5.12</a:t>
            </a:r>
            <a:r>
              <a:rPr lang="zh-CN" altLang="en-US" dirty="0"/>
              <a:t>文件夹下</a:t>
            </a:r>
            <a:endParaRPr lang="en-US" altLang="zh-CN" dirty="0"/>
          </a:p>
          <a:p>
            <a:r>
              <a:rPr lang="zh-CN" altLang="en-US" dirty="0"/>
              <a:t>其中，复制</a:t>
            </a:r>
            <a:r>
              <a:rPr lang="en-US" altLang="zh-CN" dirty="0"/>
              <a:t>Pack</a:t>
            </a:r>
            <a:r>
              <a:rPr lang="zh-CN" altLang="en-US" dirty="0"/>
              <a:t>文件夹及以后的操作暂不需要。</a:t>
            </a:r>
          </a:p>
        </p:txBody>
      </p:sp>
      <p:pic>
        <p:nvPicPr>
          <p:cNvPr id="2051" name="Picture 3"/>
          <p:cNvPicPr>
            <a:picLocks noChangeAspect="1" noChangeArrowheads="1"/>
          </p:cNvPicPr>
          <p:nvPr/>
        </p:nvPicPr>
        <p:blipFill>
          <a:blip r:embed="rId2" cstate="print"/>
          <a:srcRect/>
          <a:stretch>
            <a:fillRect/>
          </a:stretch>
        </p:blipFill>
        <p:spPr bwMode="auto">
          <a:xfrm>
            <a:off x="4878965" y="2001460"/>
            <a:ext cx="2459985" cy="761491"/>
          </a:xfrm>
          <a:prstGeom prst="rect">
            <a:avLst/>
          </a:prstGeom>
          <a:noFill/>
          <a:ln w="9525">
            <a:noFill/>
            <a:miter lim="800000"/>
            <a:headEnd/>
            <a:tailEnd/>
          </a:ln>
        </p:spPr>
      </p:pic>
    </p:spTree>
    <p:extLst>
      <p:ext uri="{BB962C8B-B14F-4D97-AF65-F5344CB8AC3E}">
        <p14:creationId xmlns:p14="http://schemas.microsoft.com/office/powerpoint/2010/main" val="86966987"/>
      </p:ext>
    </p:extLst>
  </p:cSld>
  <p:clrMapOvr>
    <a:masterClrMapping/>
  </p:clrMapOvr>
  <p:transition>
    <p:cover di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安装</a:t>
            </a:r>
            <a:r>
              <a:rPr lang="en-US" altLang="zh-CN" dirty="0" err="1"/>
              <a:t>Keil</a:t>
            </a:r>
            <a:endParaRPr lang="zh-CN" altLang="en-US" dirty="0"/>
          </a:p>
        </p:txBody>
      </p:sp>
      <p:sp>
        <p:nvSpPr>
          <p:cNvPr id="5" name="内容占位符 4"/>
          <p:cNvSpPr>
            <a:spLocks noGrp="1"/>
          </p:cNvSpPr>
          <p:nvPr>
            <p:ph idx="1"/>
          </p:nvPr>
        </p:nvSpPr>
        <p:spPr>
          <a:xfrm>
            <a:off x="507670" y="1933700"/>
            <a:ext cx="7772400" cy="4114800"/>
          </a:xfrm>
        </p:spPr>
        <p:txBody>
          <a:bodyPr/>
          <a:lstStyle/>
          <a:p>
            <a:r>
              <a:rPr lang="zh-CN" altLang="en-US" dirty="0"/>
              <a:t>破解完成后，</a:t>
            </a:r>
            <a:r>
              <a:rPr lang="en-US" altLang="zh-CN" dirty="0"/>
              <a:t>PC</a:t>
            </a:r>
            <a:r>
              <a:rPr lang="zh-CN" altLang="en-US" dirty="0"/>
              <a:t>连着开发板可能打开</a:t>
            </a:r>
            <a:r>
              <a:rPr lang="en-US" altLang="zh-CN" dirty="0" err="1"/>
              <a:t>Keil</a:t>
            </a:r>
            <a:r>
              <a:rPr lang="zh-CN" altLang="en-US" dirty="0"/>
              <a:t>会提示</a:t>
            </a:r>
          </a:p>
        </p:txBody>
      </p:sp>
      <p:pic>
        <p:nvPicPr>
          <p:cNvPr id="1026" name="Picture 2"/>
          <p:cNvPicPr>
            <a:picLocks noChangeAspect="1" noChangeArrowheads="1"/>
          </p:cNvPicPr>
          <p:nvPr/>
        </p:nvPicPr>
        <p:blipFill>
          <a:blip r:embed="rId3" cstate="print"/>
          <a:srcRect/>
          <a:stretch>
            <a:fillRect/>
          </a:stretch>
        </p:blipFill>
        <p:spPr bwMode="auto">
          <a:xfrm>
            <a:off x="1523217" y="3034207"/>
            <a:ext cx="5741306" cy="3366167"/>
          </a:xfrm>
          <a:prstGeom prst="rect">
            <a:avLst/>
          </a:prstGeom>
          <a:noFill/>
          <a:ln w="9525">
            <a:noFill/>
            <a:miter lim="800000"/>
            <a:headEnd/>
            <a:tailEnd/>
          </a:ln>
        </p:spPr>
      </p:pic>
    </p:spTree>
    <p:extLst>
      <p:ext uri="{BB962C8B-B14F-4D97-AF65-F5344CB8AC3E}">
        <p14:creationId xmlns:p14="http://schemas.microsoft.com/office/powerpoint/2010/main" val="86966987"/>
      </p:ext>
    </p:extLst>
  </p:cSld>
  <p:clrMapOvr>
    <a:masterClrMapping/>
  </p:clrMapOvr>
  <p:transition>
    <p:cover di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安装</a:t>
            </a:r>
            <a:r>
              <a:rPr lang="en-US" altLang="zh-CN" dirty="0" err="1"/>
              <a:t>Keil</a:t>
            </a:r>
            <a:endParaRPr lang="zh-CN" altLang="en-US" dirty="0"/>
          </a:p>
        </p:txBody>
      </p:sp>
      <p:sp>
        <p:nvSpPr>
          <p:cNvPr id="5" name="内容占位符 4"/>
          <p:cNvSpPr>
            <a:spLocks noGrp="1"/>
          </p:cNvSpPr>
          <p:nvPr>
            <p:ph idx="1"/>
          </p:nvPr>
        </p:nvSpPr>
        <p:spPr>
          <a:xfrm>
            <a:off x="507670" y="1933700"/>
            <a:ext cx="7772400" cy="4114800"/>
          </a:xfrm>
        </p:spPr>
        <p:txBody>
          <a:bodyPr/>
          <a:lstStyle/>
          <a:p>
            <a:r>
              <a:rPr lang="zh-CN" altLang="en-US" dirty="0"/>
              <a:t>根据提示去</a:t>
            </a:r>
            <a:r>
              <a:rPr lang="en-US" altLang="zh-CN" dirty="0">
                <a:hlinkClick r:id="rId2"/>
              </a:rPr>
              <a:t>www.keil.com/dd2/pack</a:t>
            </a:r>
            <a:r>
              <a:rPr lang="zh-CN" altLang="en-US" dirty="0"/>
              <a:t>下载开发板对应型号</a:t>
            </a:r>
            <a:r>
              <a:rPr lang="en-US" altLang="zh-CN" dirty="0"/>
              <a:t>stm32f4</a:t>
            </a:r>
            <a:r>
              <a:rPr lang="zh-CN" altLang="en-US" dirty="0"/>
              <a:t>的</a:t>
            </a:r>
            <a:r>
              <a:rPr lang="en-US" altLang="zh-CN" dirty="0"/>
              <a:t>Pack</a:t>
            </a:r>
          </a:p>
          <a:p>
            <a:r>
              <a:rPr lang="zh-CN" altLang="en-US" dirty="0"/>
              <a:t>可参考教程：</a:t>
            </a:r>
            <a:r>
              <a:rPr lang="en-US" altLang="zh-CN" dirty="0"/>
              <a:t> </a:t>
            </a:r>
            <a:r>
              <a:rPr lang="zh-CN" altLang="en-US" dirty="0"/>
              <a:t>（注意该教程型号与我们使用的不同）</a:t>
            </a:r>
            <a:endParaRPr lang="en-US" altLang="zh-CN" dirty="0"/>
          </a:p>
          <a:p>
            <a:r>
              <a:rPr lang="en-US" altLang="zh-CN" dirty="0">
                <a:hlinkClick r:id="rId3"/>
              </a:rPr>
              <a:t>https://blog.csdn.net/qq_38821783/article/details/88042180</a:t>
            </a:r>
            <a:endParaRPr lang="en-US" altLang="zh-CN" dirty="0"/>
          </a:p>
          <a:p>
            <a:r>
              <a:rPr lang="zh-CN" altLang="en-US" dirty="0"/>
              <a:t>（注：我已经下载好了</a:t>
            </a:r>
            <a:r>
              <a:rPr lang="en-US" altLang="zh-CN" dirty="0"/>
              <a:t>pack</a:t>
            </a:r>
            <a:r>
              <a:rPr lang="zh-CN" altLang="en-US" dirty="0"/>
              <a:t>传给大家，大家可以跳过下载步骤。直接安装）</a:t>
            </a:r>
          </a:p>
        </p:txBody>
      </p:sp>
      <p:pic>
        <p:nvPicPr>
          <p:cNvPr id="3077" name="Picture 5"/>
          <p:cNvPicPr>
            <a:picLocks noChangeAspect="1" noChangeArrowheads="1"/>
          </p:cNvPicPr>
          <p:nvPr/>
        </p:nvPicPr>
        <p:blipFill>
          <a:blip r:embed="rId4" cstate="print"/>
          <a:srcRect/>
          <a:stretch>
            <a:fillRect/>
          </a:stretch>
        </p:blipFill>
        <p:spPr bwMode="auto">
          <a:xfrm>
            <a:off x="555103" y="6169306"/>
            <a:ext cx="4658848" cy="407023"/>
          </a:xfrm>
          <a:prstGeom prst="rect">
            <a:avLst/>
          </a:prstGeom>
          <a:noFill/>
          <a:ln w="9525">
            <a:noFill/>
            <a:miter lim="800000"/>
            <a:headEnd/>
            <a:tailEnd/>
          </a:ln>
        </p:spPr>
      </p:pic>
    </p:spTree>
    <p:extLst>
      <p:ext uri="{BB962C8B-B14F-4D97-AF65-F5344CB8AC3E}">
        <p14:creationId xmlns:p14="http://schemas.microsoft.com/office/powerpoint/2010/main" val="86966987"/>
      </p:ext>
    </p:extLst>
  </p:cSld>
  <p:clrMapOvr>
    <a:masterClrMapping/>
  </p:clrMapOvr>
  <p:transition>
    <p:cover di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安装</a:t>
            </a:r>
            <a:r>
              <a:rPr lang="en-US" altLang="zh-CN" dirty="0" err="1"/>
              <a:t>Keil</a:t>
            </a:r>
            <a:r>
              <a:rPr lang="zh-CN" altLang="en-US" dirty="0"/>
              <a:t>兼容包</a:t>
            </a:r>
          </a:p>
        </p:txBody>
      </p:sp>
      <p:sp>
        <p:nvSpPr>
          <p:cNvPr id="5" name="内容占位符 4"/>
          <p:cNvSpPr>
            <a:spLocks noGrp="1"/>
          </p:cNvSpPr>
          <p:nvPr>
            <p:ph idx="1"/>
          </p:nvPr>
        </p:nvSpPr>
        <p:spPr>
          <a:xfrm>
            <a:off x="507670" y="1933700"/>
            <a:ext cx="7772400" cy="4114800"/>
          </a:xfrm>
        </p:spPr>
        <p:txBody>
          <a:bodyPr/>
          <a:lstStyle/>
          <a:p>
            <a:r>
              <a:rPr lang="zh-CN" altLang="en-US" dirty="0"/>
              <a:t>双击运行</a:t>
            </a:r>
          </a:p>
        </p:txBody>
      </p:sp>
      <p:pic>
        <p:nvPicPr>
          <p:cNvPr id="5122" name="Picture 2"/>
          <p:cNvPicPr>
            <a:picLocks noChangeAspect="1" noChangeArrowheads="1"/>
          </p:cNvPicPr>
          <p:nvPr/>
        </p:nvPicPr>
        <p:blipFill>
          <a:blip r:embed="rId2" cstate="print"/>
          <a:srcRect/>
          <a:stretch>
            <a:fillRect/>
          </a:stretch>
        </p:blipFill>
        <p:spPr bwMode="auto">
          <a:xfrm>
            <a:off x="2703234" y="1967697"/>
            <a:ext cx="5225424" cy="619004"/>
          </a:xfrm>
          <a:prstGeom prst="rect">
            <a:avLst/>
          </a:prstGeom>
          <a:noFill/>
          <a:ln w="9525">
            <a:noFill/>
            <a:miter lim="800000"/>
            <a:headEnd/>
            <a:tailEnd/>
          </a:ln>
        </p:spPr>
      </p:pic>
    </p:spTree>
    <p:extLst>
      <p:ext uri="{BB962C8B-B14F-4D97-AF65-F5344CB8AC3E}">
        <p14:creationId xmlns:p14="http://schemas.microsoft.com/office/powerpoint/2010/main" val="86966987"/>
      </p:ext>
    </p:extLst>
  </p:cSld>
  <p:clrMapOvr>
    <a:masterClrMapping/>
  </p:clrMapOvr>
  <p:transition>
    <p:cover di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安装烧写程序</a:t>
            </a:r>
          </a:p>
        </p:txBody>
      </p:sp>
      <p:sp>
        <p:nvSpPr>
          <p:cNvPr id="5" name="内容占位符 4"/>
          <p:cNvSpPr>
            <a:spLocks noGrp="1"/>
          </p:cNvSpPr>
          <p:nvPr>
            <p:ph idx="1"/>
          </p:nvPr>
        </p:nvSpPr>
        <p:spPr>
          <a:xfrm>
            <a:off x="507670" y="1933700"/>
            <a:ext cx="7772400" cy="4114800"/>
          </a:xfrm>
        </p:spPr>
        <p:txBody>
          <a:bodyPr/>
          <a:lstStyle/>
          <a:p>
            <a:r>
              <a:rPr lang="zh-CN" altLang="en-US" dirty="0"/>
              <a:t>解压</a:t>
            </a:r>
            <a:endParaRPr lang="en-US" altLang="zh-CN" dirty="0"/>
          </a:p>
          <a:p>
            <a:r>
              <a:rPr lang="zh-CN" altLang="en-US" dirty="0"/>
              <a:t>安装</a:t>
            </a:r>
            <a:endParaRPr lang="en-US" altLang="zh-CN" dirty="0"/>
          </a:p>
          <a:p>
            <a:r>
              <a:rPr lang="zh-CN" altLang="en-US" dirty="0"/>
              <a:t>若安装失败，提示</a:t>
            </a:r>
            <a:r>
              <a:rPr lang="en-US" altLang="zh-CN" dirty="0"/>
              <a:t>JDK</a:t>
            </a:r>
            <a:r>
              <a:rPr lang="zh-CN" altLang="en-US" dirty="0"/>
              <a:t>版本不对，可以安装提供的</a:t>
            </a:r>
            <a:r>
              <a:rPr lang="en-US" altLang="zh-CN" dirty="0"/>
              <a:t>java-1.8.0_66</a:t>
            </a:r>
            <a:r>
              <a:rPr lang="zh-CN" altLang="en-US" dirty="0"/>
              <a:t>版本，安装包提供给大家</a:t>
            </a:r>
            <a:endParaRPr lang="en-US" altLang="zh-CN" dirty="0"/>
          </a:p>
          <a:p>
            <a:endParaRPr lang="en-US" altLang="zh-CN" dirty="0"/>
          </a:p>
          <a:p>
            <a:endParaRPr lang="en-US" altLang="zh-CN" dirty="0"/>
          </a:p>
        </p:txBody>
      </p:sp>
      <p:pic>
        <p:nvPicPr>
          <p:cNvPr id="1027" name="Picture 3"/>
          <p:cNvPicPr>
            <a:picLocks noChangeAspect="1" noChangeArrowheads="1"/>
          </p:cNvPicPr>
          <p:nvPr/>
        </p:nvPicPr>
        <p:blipFill>
          <a:blip r:embed="rId2" cstate="print"/>
          <a:srcRect/>
          <a:stretch>
            <a:fillRect/>
          </a:stretch>
        </p:blipFill>
        <p:spPr bwMode="auto">
          <a:xfrm>
            <a:off x="2012066" y="1909823"/>
            <a:ext cx="4079786" cy="552471"/>
          </a:xfrm>
          <a:prstGeom prst="rect">
            <a:avLst/>
          </a:prstGeom>
          <a:noFill/>
          <a:ln w="9525">
            <a:noFill/>
            <a:miter lim="800000"/>
            <a:headEnd/>
            <a:tailEnd/>
          </a:ln>
        </p:spPr>
      </p:pic>
      <p:pic>
        <p:nvPicPr>
          <p:cNvPr id="1029" name="Picture 5"/>
          <p:cNvPicPr>
            <a:picLocks noChangeAspect="1" noChangeArrowheads="1"/>
          </p:cNvPicPr>
          <p:nvPr/>
        </p:nvPicPr>
        <p:blipFill>
          <a:blip r:embed="rId3" cstate="print"/>
          <a:srcRect/>
          <a:stretch>
            <a:fillRect/>
          </a:stretch>
        </p:blipFill>
        <p:spPr bwMode="auto">
          <a:xfrm>
            <a:off x="1981762" y="2571850"/>
            <a:ext cx="3886603" cy="488689"/>
          </a:xfrm>
          <a:prstGeom prst="rect">
            <a:avLst/>
          </a:prstGeom>
          <a:noFill/>
          <a:ln w="9525">
            <a:noFill/>
            <a:miter lim="800000"/>
            <a:headEnd/>
            <a:tailEnd/>
          </a:ln>
        </p:spPr>
      </p:pic>
      <p:pic>
        <p:nvPicPr>
          <p:cNvPr id="1031" name="Picture 7"/>
          <p:cNvPicPr>
            <a:picLocks noChangeAspect="1" noChangeArrowheads="1"/>
          </p:cNvPicPr>
          <p:nvPr/>
        </p:nvPicPr>
        <p:blipFill>
          <a:blip r:embed="rId4" cstate="print"/>
          <a:srcRect/>
          <a:stretch>
            <a:fillRect/>
          </a:stretch>
        </p:blipFill>
        <p:spPr bwMode="auto">
          <a:xfrm>
            <a:off x="2723949" y="4147290"/>
            <a:ext cx="3696102" cy="496833"/>
          </a:xfrm>
          <a:prstGeom prst="rect">
            <a:avLst/>
          </a:prstGeom>
          <a:noFill/>
          <a:ln w="9525">
            <a:noFill/>
            <a:miter lim="800000"/>
            <a:headEnd/>
            <a:tailEnd/>
          </a:ln>
        </p:spPr>
      </p:pic>
    </p:spTree>
    <p:extLst>
      <p:ext uri="{BB962C8B-B14F-4D97-AF65-F5344CB8AC3E}">
        <p14:creationId xmlns:p14="http://schemas.microsoft.com/office/powerpoint/2010/main" val="86966987"/>
      </p:ext>
    </p:extLst>
  </p:cSld>
  <p:clrMapOvr>
    <a:masterClrMapping/>
  </p:clrMapOvr>
  <p:transition>
    <p:cover di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安装烧写程序</a:t>
            </a:r>
          </a:p>
        </p:txBody>
      </p:sp>
      <p:sp>
        <p:nvSpPr>
          <p:cNvPr id="5" name="内容占位符 4"/>
          <p:cNvSpPr>
            <a:spLocks noGrp="1"/>
          </p:cNvSpPr>
          <p:nvPr>
            <p:ph idx="1"/>
          </p:nvPr>
        </p:nvSpPr>
        <p:spPr>
          <a:xfrm>
            <a:off x="507670" y="1933700"/>
            <a:ext cx="7772400" cy="4114800"/>
          </a:xfrm>
        </p:spPr>
        <p:txBody>
          <a:bodyPr/>
          <a:lstStyle/>
          <a:p>
            <a:r>
              <a:rPr lang="zh-CN" altLang="en-US" dirty="0"/>
              <a:t>安装好</a:t>
            </a:r>
            <a:r>
              <a:rPr lang="en-US" altLang="zh-CN" dirty="0"/>
              <a:t>java </a:t>
            </a:r>
            <a:r>
              <a:rPr lang="en-US" altLang="zh-CN" dirty="0" err="1"/>
              <a:t>jdk</a:t>
            </a:r>
            <a:r>
              <a:rPr lang="zh-CN" altLang="en-US" dirty="0"/>
              <a:t>后安装</a:t>
            </a:r>
            <a:r>
              <a:rPr lang="en-US" altLang="zh-CN" dirty="0"/>
              <a:t>STM32CubeProgrammer</a:t>
            </a:r>
            <a:r>
              <a:rPr lang="zh-CN" altLang="en-US" dirty="0"/>
              <a:t>软件，第一次运行时可能会提示，不影响，继续后续步骤</a:t>
            </a:r>
            <a:endParaRPr lang="en-US" altLang="zh-CN" dirty="0"/>
          </a:p>
          <a:p>
            <a:endParaRPr lang="en-US" altLang="zh-CN" dirty="0"/>
          </a:p>
          <a:p>
            <a:endParaRPr lang="en-US" altLang="zh-CN" dirty="0"/>
          </a:p>
          <a:p>
            <a:endParaRPr lang="en-US" altLang="zh-CN" dirty="0"/>
          </a:p>
          <a:p>
            <a:endParaRPr lang="en-US" altLang="zh-CN" dirty="0"/>
          </a:p>
        </p:txBody>
      </p:sp>
      <p:pic>
        <p:nvPicPr>
          <p:cNvPr id="7" name="图片 6"/>
          <p:cNvPicPr/>
          <p:nvPr/>
        </p:nvPicPr>
        <p:blipFill>
          <a:blip r:embed="rId2" cstate="print"/>
          <a:srcRect/>
          <a:stretch>
            <a:fillRect/>
          </a:stretch>
        </p:blipFill>
        <p:spPr bwMode="auto">
          <a:xfrm>
            <a:off x="2645083" y="3625502"/>
            <a:ext cx="4010359" cy="1826174"/>
          </a:xfrm>
          <a:prstGeom prst="rect">
            <a:avLst/>
          </a:prstGeom>
          <a:noFill/>
          <a:ln w="9525">
            <a:noFill/>
            <a:miter lim="800000"/>
            <a:headEnd/>
            <a:tailEnd/>
          </a:ln>
        </p:spPr>
      </p:pic>
    </p:spTree>
    <p:extLst>
      <p:ext uri="{BB962C8B-B14F-4D97-AF65-F5344CB8AC3E}">
        <p14:creationId xmlns:p14="http://schemas.microsoft.com/office/powerpoint/2010/main" val="86966987"/>
      </p:ext>
    </p:extLst>
  </p:cSld>
  <p:clrMapOvr>
    <a:masterClrMapping/>
  </p:clrMapOvr>
  <p:transition>
    <p:cover di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安装烧写程序</a:t>
            </a:r>
          </a:p>
        </p:txBody>
      </p:sp>
      <p:sp>
        <p:nvSpPr>
          <p:cNvPr id="5" name="内容占位符 4"/>
          <p:cNvSpPr>
            <a:spLocks noGrp="1"/>
          </p:cNvSpPr>
          <p:nvPr>
            <p:ph idx="1"/>
          </p:nvPr>
        </p:nvSpPr>
        <p:spPr>
          <a:xfrm>
            <a:off x="507670" y="1933700"/>
            <a:ext cx="7772400" cy="4114800"/>
          </a:xfrm>
        </p:spPr>
        <p:txBody>
          <a:bodyPr/>
          <a:lstStyle/>
          <a:p>
            <a:r>
              <a:rPr lang="zh-CN" altLang="en-US" dirty="0"/>
              <a:t>（过程中会提示安装驱动必装）：</a:t>
            </a:r>
            <a:endParaRPr lang="en-US" altLang="zh-CN" dirty="0"/>
          </a:p>
          <a:p>
            <a:r>
              <a:rPr lang="zh-CN" altLang="en-US" dirty="0"/>
              <a:t>点击软件界面右侧右下角</a:t>
            </a:r>
            <a:r>
              <a:rPr lang="en-US" altLang="zh-CN" dirty="0"/>
              <a:t>firmware upgrade	</a:t>
            </a:r>
            <a:r>
              <a:rPr lang="zh-CN" altLang="en-US" dirty="0"/>
              <a:t>按钮</a:t>
            </a:r>
            <a:endParaRPr lang="en-US" altLang="zh-CN" dirty="0"/>
          </a:p>
          <a:p>
            <a:r>
              <a:rPr lang="zh-CN" altLang="en-US" dirty="0"/>
              <a:t>然后给板载</a:t>
            </a:r>
            <a:r>
              <a:rPr lang="en-US" altLang="zh-CN" dirty="0" err="1"/>
              <a:t>st</a:t>
            </a:r>
            <a:r>
              <a:rPr lang="en-US" altLang="zh-CN" dirty="0"/>
              <a:t>-link</a:t>
            </a:r>
            <a:r>
              <a:rPr lang="zh-CN" altLang="en-US" dirty="0"/>
              <a:t>驱动升级：</a:t>
            </a:r>
            <a:endParaRPr lang="en-US" altLang="zh-CN" dirty="0"/>
          </a:p>
          <a:p>
            <a:r>
              <a:rPr lang="en-US" altLang="zh-CN" dirty="0"/>
              <a:t>STM32</a:t>
            </a:r>
            <a:r>
              <a:rPr lang="zh-CN" altLang="en-US" dirty="0"/>
              <a:t>给</a:t>
            </a:r>
            <a:r>
              <a:rPr lang="en-US" altLang="zh-CN" dirty="0" err="1"/>
              <a:t>ArdaTech</a:t>
            </a:r>
            <a:r>
              <a:rPr lang="zh-CN" altLang="en-US" dirty="0"/>
              <a:t>客户资料</a:t>
            </a:r>
            <a:r>
              <a:rPr lang="en-US" altLang="zh-CN" dirty="0"/>
              <a:t>-&gt;</a:t>
            </a:r>
            <a:r>
              <a:rPr lang="en-US" altLang="zh-CN" dirty="0" err="1"/>
              <a:t>STLink</a:t>
            </a:r>
            <a:r>
              <a:rPr lang="zh-CN" altLang="en-US" dirty="0"/>
              <a:t>驱动及软件</a:t>
            </a:r>
            <a:r>
              <a:rPr lang="en-US" altLang="zh-CN" dirty="0"/>
              <a:t>-&gt;</a:t>
            </a:r>
            <a:r>
              <a:rPr lang="zh-CN" altLang="en-US" dirty="0"/>
              <a:t>解压</a:t>
            </a:r>
            <a:r>
              <a:rPr lang="en-US" altLang="zh-CN" dirty="0"/>
              <a:t>stm32_st-link-utility v2.3.zip-&gt;</a:t>
            </a:r>
            <a:r>
              <a:rPr lang="zh-CN" altLang="en-US" dirty="0"/>
              <a:t>点击</a:t>
            </a:r>
            <a:endParaRPr lang="en-US" altLang="zh-CN" dirty="0"/>
          </a:p>
          <a:p>
            <a:endParaRPr lang="en-US" altLang="zh-CN" dirty="0"/>
          </a:p>
          <a:p>
            <a:endParaRPr lang="en-US" altLang="zh-CN" dirty="0"/>
          </a:p>
          <a:p>
            <a:endParaRPr lang="en-US" altLang="zh-CN" dirty="0"/>
          </a:p>
        </p:txBody>
      </p:sp>
      <p:pic>
        <p:nvPicPr>
          <p:cNvPr id="6" name="图片 5"/>
          <p:cNvPicPr/>
          <p:nvPr/>
        </p:nvPicPr>
        <p:blipFill>
          <a:blip r:embed="rId2" cstate="print"/>
          <a:srcRect/>
          <a:stretch>
            <a:fillRect/>
          </a:stretch>
        </p:blipFill>
        <p:spPr bwMode="auto">
          <a:xfrm>
            <a:off x="7200900" y="0"/>
            <a:ext cx="1943100" cy="3071813"/>
          </a:xfrm>
          <a:prstGeom prst="rect">
            <a:avLst/>
          </a:prstGeom>
          <a:noFill/>
          <a:ln w="9525">
            <a:noFill/>
            <a:miter lim="800000"/>
            <a:headEnd/>
            <a:tailEnd/>
          </a:ln>
        </p:spPr>
      </p:pic>
      <p:pic>
        <p:nvPicPr>
          <p:cNvPr id="8" name="图片 7"/>
          <p:cNvPicPr/>
          <p:nvPr/>
        </p:nvPicPr>
        <p:blipFill>
          <a:blip r:embed="rId3" cstate="print"/>
          <a:srcRect/>
          <a:stretch>
            <a:fillRect/>
          </a:stretch>
        </p:blipFill>
        <p:spPr bwMode="auto">
          <a:xfrm>
            <a:off x="3650314" y="5157229"/>
            <a:ext cx="5274310" cy="1634221"/>
          </a:xfrm>
          <a:prstGeom prst="rect">
            <a:avLst/>
          </a:prstGeom>
          <a:noFill/>
          <a:ln w="9525">
            <a:noFill/>
            <a:miter lim="800000"/>
            <a:headEnd/>
            <a:tailEnd/>
          </a:ln>
        </p:spPr>
      </p:pic>
    </p:spTree>
    <p:extLst>
      <p:ext uri="{BB962C8B-B14F-4D97-AF65-F5344CB8AC3E}">
        <p14:creationId xmlns:p14="http://schemas.microsoft.com/office/powerpoint/2010/main" val="86966987"/>
      </p:ext>
    </p:extLst>
  </p:cSld>
  <p:clrMapOvr>
    <a:masterClrMapping/>
  </p:clrMapOvr>
  <p:transition>
    <p:cover di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新建工程</a:t>
            </a:r>
          </a:p>
        </p:txBody>
      </p:sp>
      <p:sp>
        <p:nvSpPr>
          <p:cNvPr id="3" name="内容占位符 2"/>
          <p:cNvSpPr>
            <a:spLocks noGrp="1"/>
          </p:cNvSpPr>
          <p:nvPr>
            <p:ph idx="1"/>
          </p:nvPr>
        </p:nvSpPr>
        <p:spPr/>
        <p:txBody>
          <a:bodyPr/>
          <a:lstStyle/>
          <a:p>
            <a:pPr marL="0" indent="0">
              <a:buNone/>
            </a:pPr>
            <a:r>
              <a:rPr lang="en-US" altLang="zh-CN" dirty="0" err="1"/>
              <a:t>Keil</a:t>
            </a:r>
            <a:r>
              <a:rPr lang="zh-CN" altLang="en-US" dirty="0"/>
              <a:t>并没有提供特定的工程模板，也不检查工程配置的正确性。而编译器给的反馈也只保证源文件是否通过编译。</a:t>
            </a:r>
            <a:endParaRPr lang="en-US" altLang="zh-CN" dirty="0"/>
          </a:p>
          <a:p>
            <a:pPr marL="0" indent="0">
              <a:buNone/>
            </a:pPr>
            <a:r>
              <a:rPr lang="zh-CN" altLang="en-US" dirty="0"/>
              <a:t>因此我们可以先看一看意法官方提供的工程模板是如何进行文件组织的。</a:t>
            </a:r>
          </a:p>
        </p:txBody>
      </p:sp>
    </p:spTree>
    <p:extLst>
      <p:ext uri="{BB962C8B-B14F-4D97-AF65-F5344CB8AC3E}">
        <p14:creationId xmlns:p14="http://schemas.microsoft.com/office/powerpoint/2010/main" val="1067504840"/>
      </p:ext>
    </p:extLst>
  </p:cSld>
  <p:clrMapOvr>
    <a:masterClrMapping/>
  </p:clrMapOvr>
  <p:transition>
    <p:cover di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新建工程</a:t>
            </a:r>
          </a:p>
        </p:txBody>
      </p:sp>
      <p:pic>
        <p:nvPicPr>
          <p:cNvPr id="5" name="内容占位符 4"/>
          <p:cNvPicPr>
            <a:picLocks noGrp="1" noChangeAspect="1"/>
          </p:cNvPicPr>
          <p:nvPr>
            <p:ph idx="1"/>
          </p:nvPr>
        </p:nvPicPr>
        <p:blipFill>
          <a:blip r:embed="rId2" cstate="print"/>
          <a:stretch>
            <a:fillRect/>
          </a:stretch>
        </p:blipFill>
        <p:spPr>
          <a:xfrm>
            <a:off x="685800" y="1752600"/>
            <a:ext cx="4437276" cy="4114800"/>
          </a:xfrm>
          <a:prstGeom prst="rect">
            <a:avLst/>
          </a:prstGeom>
        </p:spPr>
      </p:pic>
      <p:sp>
        <p:nvSpPr>
          <p:cNvPr id="6" name="文本框 5"/>
          <p:cNvSpPr txBox="1"/>
          <p:nvPr/>
        </p:nvSpPr>
        <p:spPr>
          <a:xfrm>
            <a:off x="5772839" y="1916935"/>
            <a:ext cx="2875402" cy="2677656"/>
          </a:xfrm>
          <a:prstGeom prst="rect">
            <a:avLst/>
          </a:prstGeom>
          <a:noFill/>
        </p:spPr>
        <p:txBody>
          <a:bodyPr wrap="square" rtlCol="0">
            <a:spAutoFit/>
          </a:bodyPr>
          <a:lstStyle/>
          <a:p>
            <a:pPr algn="just"/>
            <a:r>
              <a:rPr lang="zh-CN" altLang="en-US" sz="2800" dirty="0"/>
              <a:t>我们可以查看官方例程里面</a:t>
            </a:r>
            <a:r>
              <a:rPr lang="en-US" altLang="zh-CN" sz="2800" dirty="0"/>
              <a:t>Demonstration</a:t>
            </a:r>
            <a:r>
              <a:rPr lang="zh-CN" altLang="en-US" sz="2800" dirty="0"/>
              <a:t>这个例子，这也是开发板出厂默认带的例子。</a:t>
            </a:r>
          </a:p>
        </p:txBody>
      </p:sp>
    </p:spTree>
    <p:extLst>
      <p:ext uri="{BB962C8B-B14F-4D97-AF65-F5344CB8AC3E}">
        <p14:creationId xmlns:p14="http://schemas.microsoft.com/office/powerpoint/2010/main" val="3979774542"/>
      </p:ext>
    </p:extLst>
  </p:cSld>
  <p:clrMapOvr>
    <a:masterClrMapping/>
  </p:clrMapOvr>
  <p:transition>
    <p:cover di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新建工程</a:t>
            </a:r>
          </a:p>
        </p:txBody>
      </p:sp>
      <p:pic>
        <p:nvPicPr>
          <p:cNvPr id="4" name="内容占位符 3"/>
          <p:cNvPicPr>
            <a:picLocks noGrp="1" noChangeAspect="1"/>
          </p:cNvPicPr>
          <p:nvPr>
            <p:ph idx="1"/>
          </p:nvPr>
        </p:nvPicPr>
        <p:blipFill>
          <a:blip r:embed="rId3" cstate="print"/>
          <a:stretch>
            <a:fillRect/>
          </a:stretch>
        </p:blipFill>
        <p:spPr>
          <a:xfrm>
            <a:off x="1144075" y="1981200"/>
            <a:ext cx="6855850" cy="4114800"/>
          </a:xfrm>
          <a:prstGeom prst="rect">
            <a:avLst/>
          </a:prstGeom>
        </p:spPr>
      </p:pic>
      <p:pic>
        <p:nvPicPr>
          <p:cNvPr id="4098" name="Picture 2"/>
          <p:cNvPicPr>
            <a:picLocks noChangeAspect="1" noChangeArrowheads="1"/>
          </p:cNvPicPr>
          <p:nvPr/>
        </p:nvPicPr>
        <p:blipFill>
          <a:blip r:embed="rId4" cstate="print"/>
          <a:srcRect/>
          <a:stretch>
            <a:fillRect/>
          </a:stretch>
        </p:blipFill>
        <p:spPr bwMode="auto">
          <a:xfrm>
            <a:off x="3145482" y="1030146"/>
            <a:ext cx="5654909" cy="448760"/>
          </a:xfrm>
          <a:prstGeom prst="rect">
            <a:avLst/>
          </a:prstGeom>
          <a:noFill/>
          <a:ln w="9525">
            <a:noFill/>
            <a:miter lim="800000"/>
            <a:headEnd/>
            <a:tailEnd/>
          </a:ln>
        </p:spPr>
      </p:pic>
    </p:spTree>
    <p:extLst>
      <p:ext uri="{BB962C8B-B14F-4D97-AF65-F5344CB8AC3E}">
        <p14:creationId xmlns:p14="http://schemas.microsoft.com/office/powerpoint/2010/main" val="3248631018"/>
      </p:ext>
    </p:extLst>
  </p:cSld>
  <p:clrMapOvr>
    <a:masterClrMapping/>
  </p:clrMapOvr>
  <p:transition>
    <p:cover di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新建工程</a:t>
            </a:r>
          </a:p>
        </p:txBody>
      </p:sp>
      <p:sp>
        <p:nvSpPr>
          <p:cNvPr id="5" name="文本框 4"/>
          <p:cNvSpPr txBox="1"/>
          <p:nvPr/>
        </p:nvSpPr>
        <p:spPr>
          <a:xfrm>
            <a:off x="5715000" y="1953491"/>
            <a:ext cx="3013364" cy="3785652"/>
          </a:xfrm>
          <a:prstGeom prst="rect">
            <a:avLst/>
          </a:prstGeom>
          <a:noFill/>
        </p:spPr>
        <p:txBody>
          <a:bodyPr wrap="square" rtlCol="0">
            <a:spAutoFit/>
          </a:bodyPr>
          <a:lstStyle/>
          <a:p>
            <a:pPr algn="just"/>
            <a:r>
              <a:rPr lang="zh-CN" altLang="en-US" sz="2400" dirty="0"/>
              <a:t>工程下的文件夹更像是文件分组的概念。我们可以打开源文件所在目录会发现文件并不像图中所组织的那样。</a:t>
            </a:r>
            <a:endParaRPr lang="en-US" altLang="zh-CN" sz="2400" dirty="0"/>
          </a:p>
          <a:p>
            <a:pPr algn="just"/>
            <a:r>
              <a:rPr lang="zh-CN" altLang="en-US" sz="2400" dirty="0"/>
              <a:t>这样可以提高一些驱动源文件的复用性，并缩小工程体积。但并不便于工程迁移。</a:t>
            </a:r>
          </a:p>
        </p:txBody>
      </p:sp>
      <p:pic>
        <p:nvPicPr>
          <p:cNvPr id="7" name="图片 6">
            <a:extLst>
              <a:ext uri="{FF2B5EF4-FFF2-40B4-BE49-F238E27FC236}">
                <a16:creationId xmlns:a16="http://schemas.microsoft.com/office/drawing/2014/main" id="{CF75F2FE-0D59-4527-A3D6-A3A8A931432C}"/>
              </a:ext>
            </a:extLst>
          </p:cNvPr>
          <p:cNvPicPr>
            <a:picLocks noChangeAspect="1"/>
          </p:cNvPicPr>
          <p:nvPr/>
        </p:nvPicPr>
        <p:blipFill>
          <a:blip r:embed="rId2" cstate="print"/>
          <a:stretch>
            <a:fillRect/>
          </a:stretch>
        </p:blipFill>
        <p:spPr>
          <a:xfrm>
            <a:off x="685800" y="1662953"/>
            <a:ext cx="4733333" cy="4076190"/>
          </a:xfrm>
          <a:prstGeom prst="rect">
            <a:avLst/>
          </a:prstGeom>
        </p:spPr>
      </p:pic>
    </p:spTree>
    <p:extLst>
      <p:ext uri="{BB962C8B-B14F-4D97-AF65-F5344CB8AC3E}">
        <p14:creationId xmlns:p14="http://schemas.microsoft.com/office/powerpoint/2010/main" val="1390746993"/>
      </p:ext>
    </p:extLst>
  </p:cSld>
  <p:clrMapOvr>
    <a:masterClrMapping/>
  </p:clrMapOvr>
  <p:transition>
    <p:cover di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699655"/>
          </a:xfrm>
        </p:spPr>
        <p:txBody>
          <a:bodyPr/>
          <a:lstStyle/>
          <a:p>
            <a:pPr algn="l"/>
            <a:r>
              <a:rPr lang="zh-CN" altLang="en-US" dirty="0"/>
              <a:t>新建工程</a:t>
            </a:r>
          </a:p>
        </p:txBody>
      </p:sp>
      <p:pic>
        <p:nvPicPr>
          <p:cNvPr id="4" name="内容占位符 3"/>
          <p:cNvPicPr>
            <a:picLocks noGrp="1" noChangeAspect="1"/>
          </p:cNvPicPr>
          <p:nvPr>
            <p:ph idx="1"/>
          </p:nvPr>
        </p:nvPicPr>
        <p:blipFill>
          <a:blip r:embed="rId2" cstate="print"/>
          <a:stretch>
            <a:fillRect/>
          </a:stretch>
        </p:blipFill>
        <p:spPr>
          <a:xfrm>
            <a:off x="695325" y="1339090"/>
            <a:ext cx="3524250" cy="2905125"/>
          </a:xfrm>
          <a:prstGeom prst="rect">
            <a:avLst/>
          </a:prstGeom>
        </p:spPr>
      </p:pic>
      <p:sp>
        <p:nvSpPr>
          <p:cNvPr id="5" name="文本框 4"/>
          <p:cNvSpPr txBox="1"/>
          <p:nvPr/>
        </p:nvSpPr>
        <p:spPr>
          <a:xfrm>
            <a:off x="4374574" y="1609292"/>
            <a:ext cx="4436918" cy="4893647"/>
          </a:xfrm>
          <a:prstGeom prst="rect">
            <a:avLst/>
          </a:prstGeom>
          <a:noFill/>
        </p:spPr>
        <p:txBody>
          <a:bodyPr wrap="square" rtlCol="0">
            <a:spAutoFit/>
          </a:bodyPr>
          <a:lstStyle/>
          <a:p>
            <a:pPr algn="just"/>
            <a:r>
              <a:rPr lang="zh-CN" altLang="en-US" sz="2400" dirty="0"/>
              <a:t>如果开发者不写板上其他芯片驱动的话，那么基本上只需在</a:t>
            </a:r>
            <a:r>
              <a:rPr lang="en-US" altLang="zh-CN" sz="2400" dirty="0"/>
              <a:t>User</a:t>
            </a:r>
            <a:r>
              <a:rPr lang="zh-CN" altLang="en-US" sz="2400" dirty="0"/>
              <a:t>目录下工作。除了</a:t>
            </a:r>
            <a:r>
              <a:rPr lang="en-US" altLang="zh-CN" sz="2400" dirty="0"/>
              <a:t>main</a:t>
            </a:r>
            <a:r>
              <a:rPr lang="zh-CN" altLang="en-US" sz="2400" dirty="0"/>
              <a:t>文件外，</a:t>
            </a:r>
            <a:r>
              <a:rPr lang="en-US" altLang="zh-CN" sz="2400" dirty="0"/>
              <a:t>system_stm32f4xx.c</a:t>
            </a:r>
            <a:r>
              <a:rPr lang="zh-CN" altLang="en-US" sz="2400" dirty="0"/>
              <a:t>和</a:t>
            </a:r>
            <a:r>
              <a:rPr lang="en-US" altLang="zh-CN" sz="2400" dirty="0"/>
              <a:t>stm32f4xx_it.c</a:t>
            </a:r>
            <a:r>
              <a:rPr lang="zh-CN" altLang="en-US" sz="2400" dirty="0"/>
              <a:t>也是必不可少的。</a:t>
            </a:r>
            <a:r>
              <a:rPr lang="en-US" altLang="zh-CN" sz="2400" dirty="0"/>
              <a:t>system_stm32f4xx.c</a:t>
            </a:r>
            <a:r>
              <a:rPr lang="zh-CN" altLang="en-US" sz="2400" dirty="0"/>
              <a:t>负责初始化系统时钟和各总线时钟，先于</a:t>
            </a:r>
            <a:r>
              <a:rPr lang="en-US" altLang="zh-CN" sz="2400" dirty="0"/>
              <a:t>main</a:t>
            </a:r>
            <a:r>
              <a:rPr lang="zh-CN" altLang="en-US" sz="2400" dirty="0"/>
              <a:t>函数运行。而</a:t>
            </a:r>
            <a:r>
              <a:rPr lang="en-US" altLang="zh-CN" sz="2400" dirty="0"/>
              <a:t>stm32f4xx_it.c</a:t>
            </a:r>
            <a:r>
              <a:rPr lang="zh-CN" altLang="en-US" sz="2400" dirty="0"/>
              <a:t>中则集成了用户所写的所有中断函数。如果需要程序最终能下载运行，则还需要汇编级的启动文件</a:t>
            </a:r>
            <a:r>
              <a:rPr lang="en-US" altLang="zh-CN" sz="2400" dirty="0"/>
              <a:t>startup_stm32f4xx.s</a:t>
            </a:r>
            <a:r>
              <a:rPr lang="zh-CN" altLang="en-US" sz="2400" dirty="0"/>
              <a:t>。</a:t>
            </a:r>
          </a:p>
        </p:txBody>
      </p:sp>
      <p:pic>
        <p:nvPicPr>
          <p:cNvPr id="6" name="图片 5"/>
          <p:cNvPicPr>
            <a:picLocks noChangeAspect="1"/>
          </p:cNvPicPr>
          <p:nvPr/>
        </p:nvPicPr>
        <p:blipFill>
          <a:blip r:embed="rId3" cstate="print"/>
          <a:stretch>
            <a:fillRect/>
          </a:stretch>
        </p:blipFill>
        <p:spPr>
          <a:xfrm>
            <a:off x="685800" y="4407439"/>
            <a:ext cx="3543300" cy="2095500"/>
          </a:xfrm>
          <a:prstGeom prst="rect">
            <a:avLst/>
          </a:prstGeom>
        </p:spPr>
      </p:pic>
    </p:spTree>
    <p:extLst>
      <p:ext uri="{BB962C8B-B14F-4D97-AF65-F5344CB8AC3E}">
        <p14:creationId xmlns:p14="http://schemas.microsoft.com/office/powerpoint/2010/main" val="4135847136"/>
      </p:ext>
    </p:extLst>
  </p:cSld>
  <p:clrMapOvr>
    <a:masterClrMapping/>
  </p:clrMapOvr>
  <p:transition>
    <p:cover dir="d"/>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新建工程</a:t>
            </a:r>
          </a:p>
        </p:txBody>
      </p:sp>
      <p:sp>
        <p:nvSpPr>
          <p:cNvPr id="3" name="内容占位符 2"/>
          <p:cNvSpPr>
            <a:spLocks noGrp="1"/>
          </p:cNvSpPr>
          <p:nvPr>
            <p:ph idx="1"/>
          </p:nvPr>
        </p:nvSpPr>
        <p:spPr>
          <a:xfrm>
            <a:off x="685800" y="1672936"/>
            <a:ext cx="7772400" cy="4423064"/>
          </a:xfrm>
        </p:spPr>
        <p:txBody>
          <a:bodyPr/>
          <a:lstStyle/>
          <a:p>
            <a:pPr marL="0" indent="0" algn="just">
              <a:buNone/>
            </a:pPr>
            <a:r>
              <a:rPr lang="zh-CN" altLang="en-US" sz="2800" dirty="0"/>
              <a:t>如果需要一个工程能成功运行上述四个文件是必不可少的。这四个文件也展示出了意法官方所建议的一种工程架构。</a:t>
            </a:r>
            <a:endParaRPr lang="en-US" altLang="zh-CN" sz="2800" dirty="0"/>
          </a:p>
          <a:p>
            <a:pPr marL="0" indent="0" algn="just">
              <a:buNone/>
            </a:pPr>
            <a:r>
              <a:rPr lang="en-US" altLang="zh-CN" sz="2800" dirty="0"/>
              <a:t>startup_stm32f4xx.s</a:t>
            </a:r>
            <a:r>
              <a:rPr lang="zh-CN" altLang="en-US" sz="2800" dirty="0"/>
              <a:t>负责芯片启动，初始化堆栈，初始化中断向量表，载入</a:t>
            </a:r>
            <a:r>
              <a:rPr lang="en-US" altLang="zh-CN" sz="2800" dirty="0" err="1"/>
              <a:t>SystemInit</a:t>
            </a:r>
            <a:r>
              <a:rPr lang="en-US" altLang="zh-CN" sz="2800" dirty="0"/>
              <a:t>(system_stm32f4xx.c</a:t>
            </a:r>
            <a:r>
              <a:rPr lang="zh-CN" altLang="en-US" sz="2800" dirty="0"/>
              <a:t>中初始化函数</a:t>
            </a:r>
            <a:r>
              <a:rPr lang="en-US" altLang="zh-CN" sz="2800" dirty="0"/>
              <a:t>)</a:t>
            </a:r>
            <a:r>
              <a:rPr lang="zh-CN" altLang="en-US" sz="2800" dirty="0"/>
              <a:t>与</a:t>
            </a:r>
            <a:r>
              <a:rPr lang="en-US" altLang="zh-CN" sz="2800" dirty="0"/>
              <a:t>main</a:t>
            </a:r>
            <a:r>
              <a:rPr lang="zh-CN" altLang="en-US" sz="2800" dirty="0"/>
              <a:t>函数。</a:t>
            </a:r>
            <a:r>
              <a:rPr lang="en-US" altLang="zh-CN" sz="2800" dirty="0"/>
              <a:t> stm32f4xx_it.c</a:t>
            </a:r>
            <a:r>
              <a:rPr lang="zh-CN" altLang="en-US" sz="2800" dirty="0"/>
              <a:t>则负责对各种中断进行响应。其中开发者编写部分为</a:t>
            </a:r>
            <a:r>
              <a:rPr lang="en-US" altLang="zh-CN" sz="2800" dirty="0" err="1"/>
              <a:t>main.c</a:t>
            </a:r>
            <a:r>
              <a:rPr lang="en-US" altLang="zh-CN" sz="2800" dirty="0"/>
              <a:t> </a:t>
            </a:r>
            <a:r>
              <a:rPr lang="zh-CN" altLang="en-US" sz="2800" dirty="0"/>
              <a:t>和</a:t>
            </a:r>
            <a:r>
              <a:rPr lang="en-US" altLang="zh-CN" sz="2800" dirty="0"/>
              <a:t>stm32f4xx_it.c</a:t>
            </a:r>
            <a:r>
              <a:rPr lang="zh-CN" altLang="en-US" sz="2800" dirty="0"/>
              <a:t>。</a:t>
            </a:r>
          </a:p>
        </p:txBody>
      </p:sp>
    </p:spTree>
    <p:extLst>
      <p:ext uri="{BB962C8B-B14F-4D97-AF65-F5344CB8AC3E}">
        <p14:creationId xmlns:p14="http://schemas.microsoft.com/office/powerpoint/2010/main" val="853661702"/>
      </p:ext>
    </p:extLst>
  </p:cSld>
  <p:clrMapOvr>
    <a:masterClrMapping/>
  </p:clrMapOvr>
  <p:transition>
    <p:cover dir="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新建工程</a:t>
            </a:r>
          </a:p>
        </p:txBody>
      </p:sp>
      <p:sp>
        <p:nvSpPr>
          <p:cNvPr id="5" name="文本框 4"/>
          <p:cNvSpPr txBox="1"/>
          <p:nvPr/>
        </p:nvSpPr>
        <p:spPr>
          <a:xfrm>
            <a:off x="6577446" y="1752600"/>
            <a:ext cx="2566554" cy="4154984"/>
          </a:xfrm>
          <a:prstGeom prst="rect">
            <a:avLst/>
          </a:prstGeom>
          <a:noFill/>
        </p:spPr>
        <p:txBody>
          <a:bodyPr wrap="square" rtlCol="0">
            <a:spAutoFit/>
          </a:bodyPr>
          <a:lstStyle/>
          <a:p>
            <a:pPr algn="just"/>
            <a:r>
              <a:rPr lang="zh-CN" altLang="en-US" sz="2400" dirty="0"/>
              <a:t>在新建工程前我们可以先创建好目录。这里我们希望官方库可以随工程一起所以有</a:t>
            </a:r>
            <a:r>
              <a:rPr lang="en-US" altLang="zh-CN" sz="2400" dirty="0"/>
              <a:t>Lib</a:t>
            </a:r>
            <a:r>
              <a:rPr lang="zh-CN" altLang="en-US" sz="2400" dirty="0"/>
              <a:t>文件夹。</a:t>
            </a:r>
            <a:r>
              <a:rPr lang="en-US" altLang="zh-CN" sz="2400" dirty="0" err="1"/>
              <a:t>main.c</a:t>
            </a:r>
            <a:r>
              <a:rPr lang="zh-CN" altLang="en-US" sz="2400" dirty="0"/>
              <a:t>等开发者编写文件放置在</a:t>
            </a:r>
            <a:r>
              <a:rPr lang="en-US" altLang="zh-CN" sz="2400" dirty="0"/>
              <a:t>User</a:t>
            </a:r>
            <a:r>
              <a:rPr lang="zh-CN" altLang="en-US" sz="2400" dirty="0"/>
              <a:t>目录，工程启动文件在</a:t>
            </a:r>
            <a:r>
              <a:rPr lang="en-US" altLang="zh-CN" sz="2400" dirty="0"/>
              <a:t>Project</a:t>
            </a:r>
            <a:r>
              <a:rPr lang="zh-CN" altLang="en-US" sz="2400" dirty="0"/>
              <a:t>目录下。</a:t>
            </a:r>
          </a:p>
        </p:txBody>
      </p:sp>
      <p:pic>
        <p:nvPicPr>
          <p:cNvPr id="7" name="内容占位符 6"/>
          <p:cNvPicPr>
            <a:picLocks noGrp="1" noChangeAspect="1"/>
          </p:cNvPicPr>
          <p:nvPr>
            <p:ph idx="1"/>
          </p:nvPr>
        </p:nvPicPr>
        <p:blipFill>
          <a:blip r:embed="rId2" cstate="print"/>
          <a:stretch>
            <a:fillRect/>
          </a:stretch>
        </p:blipFill>
        <p:spPr>
          <a:xfrm>
            <a:off x="685800" y="1586345"/>
            <a:ext cx="5766194" cy="4114800"/>
          </a:xfrm>
          <a:prstGeom prst="rect">
            <a:avLst/>
          </a:prstGeom>
        </p:spPr>
      </p:pic>
    </p:spTree>
    <p:extLst>
      <p:ext uri="{BB962C8B-B14F-4D97-AF65-F5344CB8AC3E}">
        <p14:creationId xmlns:p14="http://schemas.microsoft.com/office/powerpoint/2010/main" val="3585976923"/>
      </p:ext>
    </p:extLst>
  </p:cSld>
  <p:clrMapOvr>
    <a:masterClrMapping/>
  </p:clrMapOvr>
  <p:transition>
    <p:cover dir="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新建工程</a:t>
            </a:r>
          </a:p>
        </p:txBody>
      </p:sp>
      <p:pic>
        <p:nvPicPr>
          <p:cNvPr id="4" name="内容占位符 3"/>
          <p:cNvPicPr>
            <a:picLocks noGrp="1" noChangeAspect="1"/>
          </p:cNvPicPr>
          <p:nvPr>
            <p:ph idx="1"/>
          </p:nvPr>
        </p:nvPicPr>
        <p:blipFill>
          <a:blip r:embed="rId2" cstate="print"/>
          <a:stretch>
            <a:fillRect/>
          </a:stretch>
        </p:blipFill>
        <p:spPr>
          <a:xfrm>
            <a:off x="0" y="1454727"/>
            <a:ext cx="9130328" cy="5507182"/>
          </a:xfrm>
          <a:prstGeom prst="rect">
            <a:avLst/>
          </a:prstGeom>
        </p:spPr>
      </p:pic>
    </p:spTree>
    <p:extLst>
      <p:ext uri="{BB962C8B-B14F-4D97-AF65-F5344CB8AC3E}">
        <p14:creationId xmlns:p14="http://schemas.microsoft.com/office/powerpoint/2010/main" val="1810047930"/>
      </p:ext>
    </p:extLst>
  </p:cSld>
  <p:clrMapOvr>
    <a:masterClrMapping/>
  </p:clrMapOvr>
  <p:transition>
    <p:cover dir="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新建工程</a:t>
            </a:r>
          </a:p>
        </p:txBody>
      </p:sp>
      <p:sp>
        <p:nvSpPr>
          <p:cNvPr id="5" name="文本框 4"/>
          <p:cNvSpPr txBox="1"/>
          <p:nvPr/>
        </p:nvSpPr>
        <p:spPr>
          <a:xfrm>
            <a:off x="6650182" y="1825336"/>
            <a:ext cx="2493818" cy="1077218"/>
          </a:xfrm>
          <a:prstGeom prst="rect">
            <a:avLst/>
          </a:prstGeom>
          <a:noFill/>
        </p:spPr>
        <p:txBody>
          <a:bodyPr wrap="square" rtlCol="0">
            <a:spAutoFit/>
          </a:bodyPr>
          <a:lstStyle/>
          <a:p>
            <a:r>
              <a:rPr lang="zh-CN" altLang="en-US" sz="3200" dirty="0"/>
              <a:t>位置选择</a:t>
            </a:r>
            <a:r>
              <a:rPr lang="en-US" altLang="zh-CN" sz="3200" dirty="0" err="1"/>
              <a:t>mdk</a:t>
            </a:r>
            <a:r>
              <a:rPr lang="en-US" altLang="zh-CN" sz="3200" dirty="0"/>
              <a:t>-&gt;Project</a:t>
            </a:r>
            <a:endParaRPr lang="zh-CN" altLang="en-US" sz="3200" dirty="0"/>
          </a:p>
        </p:txBody>
      </p:sp>
      <p:pic>
        <p:nvPicPr>
          <p:cNvPr id="6" name="图片 5"/>
          <p:cNvPicPr>
            <a:picLocks noChangeAspect="1"/>
          </p:cNvPicPr>
          <p:nvPr/>
        </p:nvPicPr>
        <p:blipFill>
          <a:blip r:embed="rId2" cstate="print"/>
          <a:stretch>
            <a:fillRect/>
          </a:stretch>
        </p:blipFill>
        <p:spPr>
          <a:xfrm>
            <a:off x="499197" y="1679863"/>
            <a:ext cx="5953125" cy="4572000"/>
          </a:xfrm>
          <a:prstGeom prst="rect">
            <a:avLst/>
          </a:prstGeom>
        </p:spPr>
      </p:pic>
    </p:spTree>
    <p:extLst>
      <p:ext uri="{BB962C8B-B14F-4D97-AF65-F5344CB8AC3E}">
        <p14:creationId xmlns:p14="http://schemas.microsoft.com/office/powerpoint/2010/main" val="1436135132"/>
      </p:ext>
    </p:extLst>
  </p:cSld>
  <p:clrMapOvr>
    <a:masterClrMapping/>
  </p:clrMapOvr>
  <p:transition>
    <p:cover dir="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新建工程</a:t>
            </a:r>
          </a:p>
        </p:txBody>
      </p:sp>
      <p:sp>
        <p:nvSpPr>
          <p:cNvPr id="5" name="文本框 4"/>
          <p:cNvSpPr txBox="1"/>
          <p:nvPr/>
        </p:nvSpPr>
        <p:spPr>
          <a:xfrm>
            <a:off x="7460673" y="2524991"/>
            <a:ext cx="1610591" cy="954107"/>
          </a:xfrm>
          <a:prstGeom prst="rect">
            <a:avLst/>
          </a:prstGeom>
          <a:noFill/>
        </p:spPr>
        <p:txBody>
          <a:bodyPr wrap="square" rtlCol="0">
            <a:spAutoFit/>
          </a:bodyPr>
          <a:lstStyle/>
          <a:p>
            <a:r>
              <a:rPr lang="zh-CN" altLang="en-US" sz="2800" dirty="0"/>
              <a:t>选择</a:t>
            </a:r>
            <a:r>
              <a:rPr lang="en-US" altLang="zh-CN" sz="2800" dirty="0"/>
              <a:t>CPU</a:t>
            </a:r>
            <a:r>
              <a:rPr lang="zh-CN" altLang="en-US" sz="2800" dirty="0"/>
              <a:t>型号</a:t>
            </a:r>
          </a:p>
        </p:txBody>
      </p:sp>
      <p:pic>
        <p:nvPicPr>
          <p:cNvPr id="6146" name="Picture 2"/>
          <p:cNvPicPr>
            <a:picLocks noChangeAspect="1" noChangeArrowheads="1"/>
          </p:cNvPicPr>
          <p:nvPr/>
        </p:nvPicPr>
        <p:blipFill>
          <a:blip r:embed="rId2" cstate="print"/>
          <a:srcRect/>
          <a:stretch>
            <a:fillRect/>
          </a:stretch>
        </p:blipFill>
        <p:spPr bwMode="auto">
          <a:xfrm>
            <a:off x="692331" y="1861342"/>
            <a:ext cx="6611294" cy="4483314"/>
          </a:xfrm>
          <a:prstGeom prst="rect">
            <a:avLst/>
          </a:prstGeom>
          <a:noFill/>
          <a:ln w="9525">
            <a:noFill/>
            <a:miter lim="800000"/>
            <a:headEnd/>
            <a:tailEnd/>
          </a:ln>
        </p:spPr>
      </p:pic>
    </p:spTree>
    <p:extLst>
      <p:ext uri="{BB962C8B-B14F-4D97-AF65-F5344CB8AC3E}">
        <p14:creationId xmlns:p14="http://schemas.microsoft.com/office/powerpoint/2010/main" val="1103059873"/>
      </p:ext>
    </p:extLst>
  </p:cSld>
  <p:clrMapOvr>
    <a:masterClrMapping/>
  </p:clrMapOvr>
  <p:transition>
    <p:cover dir="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新建工程</a:t>
            </a:r>
          </a:p>
        </p:txBody>
      </p:sp>
      <p:pic>
        <p:nvPicPr>
          <p:cNvPr id="7170" name="Picture 2"/>
          <p:cNvPicPr>
            <a:picLocks noGrp="1" noChangeAspect="1" noChangeArrowheads="1"/>
          </p:cNvPicPr>
          <p:nvPr>
            <p:ph idx="1"/>
          </p:nvPr>
        </p:nvPicPr>
        <p:blipFill>
          <a:blip r:embed="rId2" cstate="print"/>
          <a:srcRect/>
          <a:stretch>
            <a:fillRect/>
          </a:stretch>
        </p:blipFill>
        <p:spPr bwMode="auto">
          <a:xfrm>
            <a:off x="1394713" y="1570038"/>
            <a:ext cx="6070412" cy="5105400"/>
          </a:xfrm>
          <a:prstGeom prst="rect">
            <a:avLst/>
          </a:prstGeom>
          <a:noFill/>
          <a:ln w="9525">
            <a:noFill/>
            <a:miter lim="800000"/>
            <a:headEnd/>
            <a:tailEnd/>
          </a:ln>
        </p:spPr>
      </p:pic>
    </p:spTree>
    <p:extLst>
      <p:ext uri="{BB962C8B-B14F-4D97-AF65-F5344CB8AC3E}">
        <p14:creationId xmlns:p14="http://schemas.microsoft.com/office/powerpoint/2010/main" val="2367378401"/>
      </p:ext>
    </p:extLst>
  </p:cSld>
  <p:clrMapOvr>
    <a:masterClrMapping/>
  </p:clrMapOvr>
  <p:transition>
    <p:cover dir="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新建工程</a:t>
            </a:r>
          </a:p>
        </p:txBody>
      </p:sp>
      <p:pic>
        <p:nvPicPr>
          <p:cNvPr id="8194" name="Picture 2"/>
          <p:cNvPicPr>
            <a:picLocks noChangeAspect="1" noChangeArrowheads="1"/>
          </p:cNvPicPr>
          <p:nvPr/>
        </p:nvPicPr>
        <p:blipFill>
          <a:blip r:embed="rId2" cstate="print"/>
          <a:srcRect/>
          <a:stretch>
            <a:fillRect/>
          </a:stretch>
        </p:blipFill>
        <p:spPr bwMode="auto">
          <a:xfrm>
            <a:off x="2715509" y="1584738"/>
            <a:ext cx="3604268" cy="3929875"/>
          </a:xfrm>
          <a:prstGeom prst="rect">
            <a:avLst/>
          </a:prstGeom>
          <a:noFill/>
          <a:ln w="9525">
            <a:noFill/>
            <a:miter lim="800000"/>
            <a:headEnd/>
            <a:tailEnd/>
          </a:ln>
        </p:spPr>
      </p:pic>
    </p:spTree>
    <p:extLst>
      <p:ext uri="{BB962C8B-B14F-4D97-AF65-F5344CB8AC3E}">
        <p14:creationId xmlns:p14="http://schemas.microsoft.com/office/powerpoint/2010/main" val="3873689117"/>
      </p:ext>
    </p:extLst>
  </p:cSld>
  <p:clrMapOvr>
    <a:masterClrMapping/>
  </p:clrMapOvr>
  <p:transition>
    <p:cover dir="d"/>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新建工程</a:t>
            </a:r>
          </a:p>
        </p:txBody>
      </p:sp>
      <p:pic>
        <p:nvPicPr>
          <p:cNvPr id="4" name="内容占位符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85800" y="1894180"/>
            <a:ext cx="6438095" cy="1066667"/>
          </a:xfrm>
        </p:spPr>
      </p:pic>
      <p:sp>
        <p:nvSpPr>
          <p:cNvPr id="5" name="文本框 4"/>
          <p:cNvSpPr txBox="1"/>
          <p:nvPr/>
        </p:nvSpPr>
        <p:spPr>
          <a:xfrm>
            <a:off x="1600200" y="3410858"/>
            <a:ext cx="7180943" cy="584775"/>
          </a:xfrm>
          <a:prstGeom prst="rect">
            <a:avLst/>
          </a:prstGeom>
          <a:noFill/>
        </p:spPr>
        <p:txBody>
          <a:bodyPr wrap="square" rtlCol="0">
            <a:spAutoFit/>
          </a:bodyPr>
          <a:lstStyle/>
          <a:p>
            <a:r>
              <a:rPr lang="zh-CN" altLang="en-US" sz="3200" dirty="0"/>
              <a:t>配置工程</a:t>
            </a:r>
          </a:p>
        </p:txBody>
      </p:sp>
    </p:spTree>
    <p:extLst>
      <p:ext uri="{BB962C8B-B14F-4D97-AF65-F5344CB8AC3E}">
        <p14:creationId xmlns:p14="http://schemas.microsoft.com/office/powerpoint/2010/main" val="4059515709"/>
      </p:ext>
    </p:extLst>
  </p:cSld>
  <p:clrMapOvr>
    <a:masterClrMapping/>
  </p:clrMapOvr>
  <p:transition>
    <p:cover dir="d"/>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新建工程</a:t>
            </a:r>
          </a:p>
        </p:txBody>
      </p:sp>
      <p:pic>
        <p:nvPicPr>
          <p:cNvPr id="4" name="内容占位符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1492827"/>
            <a:ext cx="7056676" cy="5219700"/>
          </a:xfrm>
        </p:spPr>
      </p:pic>
      <p:sp>
        <p:nvSpPr>
          <p:cNvPr id="5" name="文本框 4"/>
          <p:cNvSpPr txBox="1"/>
          <p:nvPr/>
        </p:nvSpPr>
        <p:spPr>
          <a:xfrm>
            <a:off x="7242464" y="2119745"/>
            <a:ext cx="1745672" cy="1384995"/>
          </a:xfrm>
          <a:prstGeom prst="rect">
            <a:avLst/>
          </a:prstGeom>
          <a:noFill/>
        </p:spPr>
        <p:txBody>
          <a:bodyPr wrap="square" rtlCol="0">
            <a:spAutoFit/>
          </a:bodyPr>
          <a:lstStyle/>
          <a:p>
            <a:r>
              <a:rPr lang="zh-CN" altLang="en-US" sz="2800" dirty="0"/>
              <a:t>设置编译文件输出路径</a:t>
            </a:r>
          </a:p>
        </p:txBody>
      </p:sp>
    </p:spTree>
    <p:extLst>
      <p:ext uri="{BB962C8B-B14F-4D97-AF65-F5344CB8AC3E}">
        <p14:creationId xmlns:p14="http://schemas.microsoft.com/office/powerpoint/2010/main" val="1916341920"/>
      </p:ext>
    </p:extLst>
  </p:cSld>
  <p:clrMapOvr>
    <a:masterClrMapping/>
  </p:clrMapOvr>
  <p:transition>
    <p:cover dir="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新建工程</a:t>
            </a:r>
          </a:p>
        </p:txBody>
      </p:sp>
      <p:pic>
        <p:nvPicPr>
          <p:cNvPr id="4" name="内容占位符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85800" y="1752600"/>
            <a:ext cx="5049419" cy="5105400"/>
          </a:xfrm>
        </p:spPr>
      </p:pic>
      <p:sp>
        <p:nvSpPr>
          <p:cNvPr id="5" name="文本框 4"/>
          <p:cNvSpPr txBox="1"/>
          <p:nvPr/>
        </p:nvSpPr>
        <p:spPr>
          <a:xfrm>
            <a:off x="6296891" y="2275609"/>
            <a:ext cx="2545773" cy="1384995"/>
          </a:xfrm>
          <a:prstGeom prst="rect">
            <a:avLst/>
          </a:prstGeom>
          <a:noFill/>
        </p:spPr>
        <p:txBody>
          <a:bodyPr wrap="square" rtlCol="0">
            <a:spAutoFit/>
          </a:bodyPr>
          <a:lstStyle/>
          <a:p>
            <a:r>
              <a:rPr lang="zh-CN" altLang="en-US" sz="2800" dirty="0"/>
              <a:t>可以在</a:t>
            </a:r>
            <a:r>
              <a:rPr lang="en-US" altLang="zh-CN" sz="2800" dirty="0"/>
              <a:t>Project</a:t>
            </a:r>
            <a:r>
              <a:rPr lang="zh-CN" altLang="en-US" sz="2800" dirty="0"/>
              <a:t>下新建一个</a:t>
            </a:r>
            <a:r>
              <a:rPr lang="en-US" altLang="zh-CN" sz="2800" dirty="0"/>
              <a:t>output</a:t>
            </a:r>
            <a:r>
              <a:rPr lang="zh-CN" altLang="en-US" sz="2800" dirty="0"/>
              <a:t>目录</a:t>
            </a:r>
          </a:p>
        </p:txBody>
      </p:sp>
    </p:spTree>
    <p:extLst>
      <p:ext uri="{BB962C8B-B14F-4D97-AF65-F5344CB8AC3E}">
        <p14:creationId xmlns:p14="http://schemas.microsoft.com/office/powerpoint/2010/main" val="1462567542"/>
      </p:ext>
    </p:extLst>
  </p:cSld>
  <p:clrMapOvr>
    <a:masterClrMapping/>
  </p:clrMapOvr>
  <p:transition>
    <p:cover dir="d"/>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新建工程</a:t>
            </a:r>
          </a:p>
        </p:txBody>
      </p:sp>
      <p:pic>
        <p:nvPicPr>
          <p:cNvPr id="4" name="内容占位符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685800" y="1752600"/>
            <a:ext cx="6902150" cy="5105400"/>
          </a:xfrm>
        </p:spPr>
      </p:pic>
    </p:spTree>
    <p:extLst>
      <p:ext uri="{BB962C8B-B14F-4D97-AF65-F5344CB8AC3E}">
        <p14:creationId xmlns:p14="http://schemas.microsoft.com/office/powerpoint/2010/main" val="1666494473"/>
      </p:ext>
    </p:extLst>
  </p:cSld>
  <p:clrMapOvr>
    <a:masterClrMapping/>
  </p:clrMapOvr>
  <p:transition>
    <p:cover dir="d"/>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新建工程</a:t>
            </a:r>
          </a:p>
        </p:txBody>
      </p:sp>
      <p:pic>
        <p:nvPicPr>
          <p:cNvPr id="4" name="内容占位符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85800" y="1752600"/>
            <a:ext cx="5562927" cy="4114800"/>
          </a:xfrm>
        </p:spPr>
      </p:pic>
      <p:sp>
        <p:nvSpPr>
          <p:cNvPr id="5" name="文本框 4"/>
          <p:cNvSpPr txBox="1"/>
          <p:nvPr/>
        </p:nvSpPr>
        <p:spPr>
          <a:xfrm>
            <a:off x="6556664" y="2327564"/>
            <a:ext cx="2306781" cy="954107"/>
          </a:xfrm>
          <a:prstGeom prst="rect">
            <a:avLst/>
          </a:prstGeom>
          <a:noFill/>
        </p:spPr>
        <p:txBody>
          <a:bodyPr wrap="square" rtlCol="0">
            <a:spAutoFit/>
          </a:bodyPr>
          <a:lstStyle/>
          <a:p>
            <a:r>
              <a:rPr lang="zh-CN" altLang="en-US" sz="2800" dirty="0"/>
              <a:t>添加用户的</a:t>
            </a:r>
            <a:r>
              <a:rPr lang="en-US" altLang="zh-CN" sz="2800" dirty="0"/>
              <a:t>include</a:t>
            </a:r>
            <a:r>
              <a:rPr lang="zh-CN" altLang="en-US" sz="2800" dirty="0"/>
              <a:t>目录。</a:t>
            </a:r>
          </a:p>
        </p:txBody>
      </p:sp>
    </p:spTree>
    <p:extLst>
      <p:ext uri="{BB962C8B-B14F-4D97-AF65-F5344CB8AC3E}">
        <p14:creationId xmlns:p14="http://schemas.microsoft.com/office/powerpoint/2010/main" val="435745395"/>
      </p:ext>
    </p:extLst>
  </p:cSld>
  <p:clrMapOvr>
    <a:masterClrMapping/>
  </p:clrMapOvr>
  <p:transition>
    <p:cover dir="d"/>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新建工程</a:t>
            </a:r>
          </a:p>
        </p:txBody>
      </p:sp>
      <p:pic>
        <p:nvPicPr>
          <p:cNvPr id="4" name="内容占位符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85799" y="1592942"/>
            <a:ext cx="6789057" cy="4347886"/>
          </a:xfrm>
        </p:spPr>
      </p:pic>
    </p:spTree>
    <p:extLst>
      <p:ext uri="{BB962C8B-B14F-4D97-AF65-F5344CB8AC3E}">
        <p14:creationId xmlns:p14="http://schemas.microsoft.com/office/powerpoint/2010/main" val="2539996719"/>
      </p:ext>
    </p:extLst>
  </p:cSld>
  <p:clrMapOvr>
    <a:masterClrMapping/>
  </p:clrMapOvr>
  <p:transition>
    <p:cover dir="d"/>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新建工程</a:t>
            </a:r>
          </a:p>
        </p:txBody>
      </p:sp>
      <p:pic>
        <p:nvPicPr>
          <p:cNvPr id="4" name="内容占位符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85800" y="1603780"/>
            <a:ext cx="6765130" cy="4332563"/>
          </a:xfrm>
        </p:spPr>
      </p:pic>
    </p:spTree>
    <p:extLst>
      <p:ext uri="{BB962C8B-B14F-4D97-AF65-F5344CB8AC3E}">
        <p14:creationId xmlns:p14="http://schemas.microsoft.com/office/powerpoint/2010/main" val="192821123"/>
      </p:ext>
    </p:extLst>
  </p:cSld>
  <p:clrMapOvr>
    <a:masterClrMapping/>
  </p:clrMapOvr>
  <p:transition>
    <p:cover dir="d"/>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新建工程</a:t>
            </a:r>
          </a:p>
        </p:txBody>
      </p:sp>
      <p:pic>
        <p:nvPicPr>
          <p:cNvPr id="4" name="内容占位符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022231" y="1550945"/>
            <a:ext cx="4786086" cy="4697455"/>
          </a:xfrm>
        </p:spPr>
      </p:pic>
    </p:spTree>
    <p:extLst>
      <p:ext uri="{BB962C8B-B14F-4D97-AF65-F5344CB8AC3E}">
        <p14:creationId xmlns:p14="http://schemas.microsoft.com/office/powerpoint/2010/main" val="3968146202"/>
      </p:ext>
    </p:extLst>
  </p:cSld>
  <p:clrMapOvr>
    <a:masterClrMapping/>
  </p:clrMapOvr>
  <p:transition>
    <p:cover dir="d"/>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新建工程</a:t>
            </a:r>
          </a:p>
        </p:txBody>
      </p:sp>
      <p:pic>
        <p:nvPicPr>
          <p:cNvPr id="4" name="内容占位符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85800" y="1752600"/>
            <a:ext cx="6487426" cy="4154714"/>
          </a:xfrm>
        </p:spPr>
      </p:pic>
    </p:spTree>
    <p:extLst>
      <p:ext uri="{BB962C8B-B14F-4D97-AF65-F5344CB8AC3E}">
        <p14:creationId xmlns:p14="http://schemas.microsoft.com/office/powerpoint/2010/main" val="1043727682"/>
      </p:ext>
    </p:extLst>
  </p:cSld>
  <p:clrMapOvr>
    <a:masterClrMapping/>
  </p:clrMapOvr>
  <p:transition>
    <p:cover dir="d"/>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新建工程</a:t>
            </a:r>
          </a:p>
        </p:txBody>
      </p:sp>
      <p:pic>
        <p:nvPicPr>
          <p:cNvPr id="4" name="内容占位符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85800" y="1752600"/>
            <a:ext cx="6421403" cy="4749800"/>
          </a:xfrm>
        </p:spPr>
      </p:pic>
      <p:sp>
        <p:nvSpPr>
          <p:cNvPr id="5" name="文本框 4"/>
          <p:cNvSpPr txBox="1"/>
          <p:nvPr/>
        </p:nvSpPr>
        <p:spPr>
          <a:xfrm>
            <a:off x="7107203" y="2712028"/>
            <a:ext cx="2036797" cy="523220"/>
          </a:xfrm>
          <a:prstGeom prst="rect">
            <a:avLst/>
          </a:prstGeom>
          <a:noFill/>
        </p:spPr>
        <p:txBody>
          <a:bodyPr wrap="square" rtlCol="0">
            <a:spAutoFit/>
          </a:bodyPr>
          <a:lstStyle/>
          <a:p>
            <a:r>
              <a:rPr lang="zh-CN" altLang="en-US" sz="2800" dirty="0"/>
              <a:t>选择调试器。</a:t>
            </a:r>
          </a:p>
        </p:txBody>
      </p:sp>
    </p:spTree>
    <p:extLst>
      <p:ext uri="{BB962C8B-B14F-4D97-AF65-F5344CB8AC3E}">
        <p14:creationId xmlns:p14="http://schemas.microsoft.com/office/powerpoint/2010/main" val="1264806788"/>
      </p:ext>
    </p:extLst>
  </p:cSld>
  <p:clrMapOvr>
    <a:masterClrMapping/>
  </p:clrMapOvr>
  <p:transition>
    <p:cover dir="d"/>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新建工程</a:t>
            </a:r>
          </a:p>
        </p:txBody>
      </p:sp>
      <p:sp>
        <p:nvSpPr>
          <p:cNvPr id="3" name="内容占位符 2">
            <a:extLst>
              <a:ext uri="{FF2B5EF4-FFF2-40B4-BE49-F238E27FC236}">
                <a16:creationId xmlns:a16="http://schemas.microsoft.com/office/drawing/2014/main" id="{34DE8C68-5A3B-4C7C-B0C3-A0FD66062743}"/>
              </a:ext>
            </a:extLst>
          </p:cNvPr>
          <p:cNvSpPr>
            <a:spLocks noGrp="1"/>
          </p:cNvSpPr>
          <p:nvPr>
            <p:ph idx="1"/>
          </p:nvPr>
        </p:nvSpPr>
        <p:spPr>
          <a:xfrm>
            <a:off x="685799" y="1752600"/>
            <a:ext cx="7772400" cy="4114800"/>
          </a:xfrm>
        </p:spPr>
        <p:txBody>
          <a:bodyPr/>
          <a:lstStyle/>
          <a:p>
            <a:endParaRPr lang="zh-CN" altLang="en-US" dirty="0"/>
          </a:p>
        </p:txBody>
      </p:sp>
      <p:pic>
        <p:nvPicPr>
          <p:cNvPr id="5" name="图片 4">
            <a:extLst>
              <a:ext uri="{FF2B5EF4-FFF2-40B4-BE49-F238E27FC236}">
                <a16:creationId xmlns:a16="http://schemas.microsoft.com/office/drawing/2014/main" id="{6D44221A-7E43-4FE1-B776-AF89D4B566CD}"/>
              </a:ext>
            </a:extLst>
          </p:cNvPr>
          <p:cNvPicPr>
            <a:picLocks noChangeAspect="1"/>
          </p:cNvPicPr>
          <p:nvPr/>
        </p:nvPicPr>
        <p:blipFill>
          <a:blip r:embed="rId3"/>
          <a:stretch>
            <a:fillRect/>
          </a:stretch>
        </p:blipFill>
        <p:spPr>
          <a:xfrm>
            <a:off x="923775" y="1238250"/>
            <a:ext cx="7296449" cy="5600700"/>
          </a:xfrm>
          <a:prstGeom prst="rect">
            <a:avLst/>
          </a:prstGeom>
        </p:spPr>
      </p:pic>
      <p:sp>
        <p:nvSpPr>
          <p:cNvPr id="7" name="矩形 6">
            <a:extLst>
              <a:ext uri="{FF2B5EF4-FFF2-40B4-BE49-F238E27FC236}">
                <a16:creationId xmlns:a16="http://schemas.microsoft.com/office/drawing/2014/main" id="{8E0FA34A-30B1-4D10-A1A6-21032914B511}"/>
              </a:ext>
            </a:extLst>
          </p:cNvPr>
          <p:cNvSpPr/>
          <p:nvPr/>
        </p:nvSpPr>
        <p:spPr bwMode="auto">
          <a:xfrm>
            <a:off x="1010653" y="1588168"/>
            <a:ext cx="519764" cy="269508"/>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outerShdw blurRad="38100" dist="38100" dir="2700000" algn="tl">
                  <a:srgbClr val="000000">
                    <a:alpha val="43137"/>
                  </a:srgbClr>
                </a:outerShdw>
              </a:effectLst>
              <a:latin typeface="Times New Roman" pitchFamily="18" charset="0"/>
              <a:ea typeface="楷体" pitchFamily="49" charset="-122"/>
            </a:endParaRPr>
          </a:p>
        </p:txBody>
      </p:sp>
      <p:sp>
        <p:nvSpPr>
          <p:cNvPr id="10" name="矩形 9">
            <a:extLst>
              <a:ext uri="{FF2B5EF4-FFF2-40B4-BE49-F238E27FC236}">
                <a16:creationId xmlns:a16="http://schemas.microsoft.com/office/drawing/2014/main" id="{208A4B86-DA70-4FA4-AA29-155F81CD1EF2}"/>
              </a:ext>
            </a:extLst>
          </p:cNvPr>
          <p:cNvSpPr/>
          <p:nvPr/>
        </p:nvSpPr>
        <p:spPr bwMode="auto">
          <a:xfrm>
            <a:off x="1867301" y="3513221"/>
            <a:ext cx="1145406" cy="348916"/>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outerShdw blurRad="38100" dist="38100" dir="2700000" algn="tl">
                  <a:srgbClr val="000000">
                    <a:alpha val="43137"/>
                  </a:srgbClr>
                </a:outerShdw>
              </a:effectLst>
              <a:latin typeface="Times New Roman" pitchFamily="18" charset="0"/>
              <a:ea typeface="楷体" pitchFamily="49" charset="-122"/>
            </a:endParaRPr>
          </a:p>
        </p:txBody>
      </p:sp>
    </p:spTree>
    <p:extLst>
      <p:ext uri="{BB962C8B-B14F-4D97-AF65-F5344CB8AC3E}">
        <p14:creationId xmlns:p14="http://schemas.microsoft.com/office/powerpoint/2010/main" val="3576623041"/>
      </p:ext>
    </p:extLst>
  </p:cSld>
  <p:clrMapOvr>
    <a:masterClrMapping/>
  </p:clrMapOvr>
  <p:transition>
    <p:cover dir="d"/>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新建工程</a:t>
            </a:r>
          </a:p>
        </p:txBody>
      </p:sp>
      <p:pic>
        <p:nvPicPr>
          <p:cNvPr id="4" name="内容占位符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85800" y="1752600"/>
            <a:ext cx="7522244" cy="4865914"/>
          </a:xfrm>
        </p:spPr>
      </p:pic>
    </p:spTree>
    <p:extLst>
      <p:ext uri="{BB962C8B-B14F-4D97-AF65-F5344CB8AC3E}">
        <p14:creationId xmlns:p14="http://schemas.microsoft.com/office/powerpoint/2010/main" val="1970829374"/>
      </p:ext>
    </p:extLst>
  </p:cSld>
  <p:clrMapOvr>
    <a:masterClrMapping/>
  </p:clrMapOvr>
  <p:transition>
    <p:cover dir="d"/>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新建工程</a:t>
            </a:r>
          </a:p>
        </p:txBody>
      </p:sp>
      <p:pic>
        <p:nvPicPr>
          <p:cNvPr id="4" name="内容占位符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85800" y="1752600"/>
            <a:ext cx="7155136" cy="4851400"/>
          </a:xfrm>
        </p:spPr>
      </p:pic>
    </p:spTree>
    <p:extLst>
      <p:ext uri="{BB962C8B-B14F-4D97-AF65-F5344CB8AC3E}">
        <p14:creationId xmlns:p14="http://schemas.microsoft.com/office/powerpoint/2010/main" val="2558404921"/>
      </p:ext>
    </p:extLst>
  </p:cSld>
  <p:clrMapOvr>
    <a:masterClrMapping/>
  </p:clrMapOvr>
  <p:transition>
    <p:cover dir="d"/>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新建工程</a:t>
            </a:r>
          </a:p>
        </p:txBody>
      </p:sp>
      <p:pic>
        <p:nvPicPr>
          <p:cNvPr id="4" name="内容占位符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85800" y="1979209"/>
            <a:ext cx="6895238" cy="809524"/>
          </a:xfrm>
        </p:spPr>
      </p:pic>
      <p:sp>
        <p:nvSpPr>
          <p:cNvPr id="5" name="文本框 4"/>
          <p:cNvSpPr txBox="1"/>
          <p:nvPr/>
        </p:nvSpPr>
        <p:spPr>
          <a:xfrm>
            <a:off x="685800" y="3468914"/>
            <a:ext cx="6440714" cy="523220"/>
          </a:xfrm>
          <a:prstGeom prst="rect">
            <a:avLst/>
          </a:prstGeom>
          <a:noFill/>
        </p:spPr>
        <p:txBody>
          <a:bodyPr wrap="square" rtlCol="0">
            <a:spAutoFit/>
          </a:bodyPr>
          <a:lstStyle/>
          <a:p>
            <a:r>
              <a:rPr lang="zh-CN" altLang="en-US" sz="2800" dirty="0"/>
              <a:t>创建文件分组</a:t>
            </a:r>
          </a:p>
        </p:txBody>
      </p:sp>
    </p:spTree>
    <p:extLst>
      <p:ext uri="{BB962C8B-B14F-4D97-AF65-F5344CB8AC3E}">
        <p14:creationId xmlns:p14="http://schemas.microsoft.com/office/powerpoint/2010/main" val="2341035929"/>
      </p:ext>
    </p:extLst>
  </p:cSld>
  <p:clrMapOvr>
    <a:masterClrMapping/>
  </p:clrMapOvr>
  <p:transition>
    <p:cover dir="d"/>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新建工程</a:t>
            </a:r>
          </a:p>
        </p:txBody>
      </p:sp>
      <p:pic>
        <p:nvPicPr>
          <p:cNvPr id="4" name="内容占位符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85800" y="1752600"/>
            <a:ext cx="6715738" cy="4967514"/>
          </a:xfrm>
        </p:spPr>
      </p:pic>
    </p:spTree>
    <p:extLst>
      <p:ext uri="{BB962C8B-B14F-4D97-AF65-F5344CB8AC3E}">
        <p14:creationId xmlns:p14="http://schemas.microsoft.com/office/powerpoint/2010/main" val="2344357667"/>
      </p:ext>
    </p:extLst>
  </p:cSld>
  <p:clrMapOvr>
    <a:masterClrMapping/>
  </p:clrMapOvr>
  <p:transition>
    <p:cover dir="d"/>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新建工程</a:t>
            </a:r>
          </a:p>
        </p:txBody>
      </p:sp>
      <p:pic>
        <p:nvPicPr>
          <p:cNvPr id="4" name="内容占位符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685800" y="1752599"/>
            <a:ext cx="6754983" cy="4996543"/>
          </a:xfrm>
        </p:spPr>
      </p:pic>
    </p:spTree>
    <p:extLst>
      <p:ext uri="{BB962C8B-B14F-4D97-AF65-F5344CB8AC3E}">
        <p14:creationId xmlns:p14="http://schemas.microsoft.com/office/powerpoint/2010/main" val="455678891"/>
      </p:ext>
    </p:extLst>
  </p:cSld>
  <p:clrMapOvr>
    <a:masterClrMapping/>
  </p:clrMapOvr>
  <p:transition>
    <p:cover dir="d"/>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新建工程</a:t>
            </a:r>
          </a:p>
        </p:txBody>
      </p:sp>
      <p:pic>
        <p:nvPicPr>
          <p:cNvPr id="4" name="内容占位符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85800" y="1872238"/>
            <a:ext cx="5010062" cy="3367419"/>
          </a:xfrm>
        </p:spPr>
      </p:pic>
    </p:spTree>
    <p:extLst>
      <p:ext uri="{BB962C8B-B14F-4D97-AF65-F5344CB8AC3E}">
        <p14:creationId xmlns:p14="http://schemas.microsoft.com/office/powerpoint/2010/main" val="1338298848"/>
      </p:ext>
    </p:extLst>
  </p:cSld>
  <p:clrMapOvr>
    <a:masterClrMapping/>
  </p:clrMapOvr>
  <p:transition>
    <p:cover dir="d"/>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新建工程</a:t>
            </a:r>
          </a:p>
        </p:txBody>
      </p:sp>
      <p:pic>
        <p:nvPicPr>
          <p:cNvPr id="4" name="内容占位符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85800" y="1752599"/>
            <a:ext cx="3871686" cy="5074073"/>
          </a:xfrm>
        </p:spPr>
      </p:pic>
      <p:sp>
        <p:nvSpPr>
          <p:cNvPr id="5" name="文本框 4"/>
          <p:cNvSpPr txBox="1"/>
          <p:nvPr/>
        </p:nvSpPr>
        <p:spPr>
          <a:xfrm>
            <a:off x="5205845" y="2161309"/>
            <a:ext cx="3127664" cy="584775"/>
          </a:xfrm>
          <a:prstGeom prst="rect">
            <a:avLst/>
          </a:prstGeom>
          <a:noFill/>
        </p:spPr>
        <p:txBody>
          <a:bodyPr wrap="square" rtlCol="0">
            <a:spAutoFit/>
          </a:bodyPr>
          <a:lstStyle/>
          <a:p>
            <a:r>
              <a:rPr lang="zh-CN" altLang="en-US" sz="3200" dirty="0"/>
              <a:t>新建</a:t>
            </a:r>
            <a:r>
              <a:rPr lang="en-US" altLang="zh-CN" sz="3200" dirty="0"/>
              <a:t>main</a:t>
            </a:r>
            <a:r>
              <a:rPr lang="zh-CN" altLang="en-US" sz="3200" dirty="0"/>
              <a:t>文件</a:t>
            </a:r>
          </a:p>
        </p:txBody>
      </p:sp>
    </p:spTree>
    <p:extLst>
      <p:ext uri="{BB962C8B-B14F-4D97-AF65-F5344CB8AC3E}">
        <p14:creationId xmlns:p14="http://schemas.microsoft.com/office/powerpoint/2010/main" val="876346278"/>
      </p:ext>
    </p:extLst>
  </p:cSld>
  <p:clrMapOvr>
    <a:masterClrMapping/>
  </p:clrMapOvr>
  <p:transition>
    <p:cover dir="d"/>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新建工程</a:t>
            </a:r>
          </a:p>
        </p:txBody>
      </p:sp>
      <p:pic>
        <p:nvPicPr>
          <p:cNvPr id="4" name="内容占位符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85800" y="1752600"/>
            <a:ext cx="7571027" cy="4749800"/>
          </a:xfrm>
        </p:spPr>
      </p:pic>
    </p:spTree>
    <p:extLst>
      <p:ext uri="{BB962C8B-B14F-4D97-AF65-F5344CB8AC3E}">
        <p14:creationId xmlns:p14="http://schemas.microsoft.com/office/powerpoint/2010/main" val="2758981359"/>
      </p:ext>
    </p:extLst>
  </p:cSld>
  <p:clrMapOvr>
    <a:masterClrMapping/>
  </p:clrMapOvr>
  <p:transition>
    <p:cover dir="d"/>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新建工程</a:t>
            </a:r>
          </a:p>
        </p:txBody>
      </p:sp>
      <p:pic>
        <p:nvPicPr>
          <p:cNvPr id="4" name="内容占位符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85801" y="1752600"/>
            <a:ext cx="4866352" cy="2572657"/>
          </a:xfrm>
        </p:spPr>
      </p:pic>
      <p:sp>
        <p:nvSpPr>
          <p:cNvPr id="5" name="文本框 4"/>
          <p:cNvSpPr txBox="1"/>
          <p:nvPr/>
        </p:nvSpPr>
        <p:spPr>
          <a:xfrm>
            <a:off x="5912427" y="2234045"/>
            <a:ext cx="2815937" cy="2677656"/>
          </a:xfrm>
          <a:prstGeom prst="rect">
            <a:avLst/>
          </a:prstGeom>
          <a:noFill/>
        </p:spPr>
        <p:txBody>
          <a:bodyPr wrap="square" rtlCol="0">
            <a:spAutoFit/>
          </a:bodyPr>
          <a:lstStyle/>
          <a:p>
            <a:pPr algn="just"/>
            <a:r>
              <a:rPr lang="zh-CN" altLang="en-US" sz="2800" dirty="0"/>
              <a:t>嵌入式中</a:t>
            </a:r>
            <a:r>
              <a:rPr lang="en-US" altLang="zh-CN" sz="2800" dirty="0"/>
              <a:t>main</a:t>
            </a:r>
            <a:r>
              <a:rPr lang="zh-CN" altLang="en-US" sz="2800" dirty="0"/>
              <a:t>函数永不返回，使用</a:t>
            </a:r>
            <a:r>
              <a:rPr lang="en-US" altLang="zh-CN" sz="2800" dirty="0"/>
              <a:t>while</a:t>
            </a:r>
            <a:r>
              <a:rPr lang="zh-CN" altLang="en-US" sz="2800" dirty="0"/>
              <a:t>死循环防止</a:t>
            </a:r>
            <a:r>
              <a:rPr lang="en-US" altLang="zh-CN" sz="2800" dirty="0"/>
              <a:t>main</a:t>
            </a:r>
            <a:r>
              <a:rPr lang="zh-CN" altLang="en-US" sz="2800" dirty="0"/>
              <a:t>函数返回，否则芯片会重复复位。</a:t>
            </a:r>
          </a:p>
        </p:txBody>
      </p:sp>
    </p:spTree>
    <p:extLst>
      <p:ext uri="{BB962C8B-B14F-4D97-AF65-F5344CB8AC3E}">
        <p14:creationId xmlns:p14="http://schemas.microsoft.com/office/powerpoint/2010/main" val="2792529071"/>
      </p:ext>
    </p:extLst>
  </p:cSld>
  <p:clrMapOvr>
    <a:masterClrMapping/>
  </p:clrMapOvr>
  <p:transition>
    <p:cover dir="d"/>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新建工程</a:t>
            </a:r>
          </a:p>
        </p:txBody>
      </p:sp>
      <p:sp>
        <p:nvSpPr>
          <p:cNvPr id="3" name="内容占位符 2"/>
          <p:cNvSpPr>
            <a:spLocks noGrp="1"/>
          </p:cNvSpPr>
          <p:nvPr>
            <p:ph idx="1"/>
          </p:nvPr>
        </p:nvSpPr>
        <p:spPr>
          <a:xfrm>
            <a:off x="685799" y="1981200"/>
            <a:ext cx="8022771" cy="4114800"/>
          </a:xfrm>
        </p:spPr>
        <p:txBody>
          <a:bodyPr/>
          <a:lstStyle/>
          <a:p>
            <a:pPr marL="0" indent="0">
              <a:buNone/>
            </a:pPr>
            <a:r>
              <a:rPr lang="zh-CN" altLang="en-US" sz="2800" dirty="0"/>
              <a:t>添加中断函数，可以直接使用官方例程中的文件。</a:t>
            </a:r>
          </a:p>
        </p:txBody>
      </p:sp>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5799" y="2610381"/>
            <a:ext cx="7904762" cy="4247619"/>
          </a:xfrm>
          <a:prstGeom prst="rect">
            <a:avLst/>
          </a:prstGeom>
        </p:spPr>
      </p:pic>
    </p:spTree>
    <p:extLst>
      <p:ext uri="{BB962C8B-B14F-4D97-AF65-F5344CB8AC3E}">
        <p14:creationId xmlns:p14="http://schemas.microsoft.com/office/powerpoint/2010/main" val="27634595"/>
      </p:ext>
    </p:extLst>
  </p:cSld>
  <p:clrMapOvr>
    <a:masterClrMapping/>
  </p:clrMapOvr>
  <p:transition>
    <p:cover dir="d"/>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新建工程</a:t>
            </a:r>
          </a:p>
        </p:txBody>
      </p:sp>
      <p:pic>
        <p:nvPicPr>
          <p:cNvPr id="4" name="内容占位符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85800" y="1752599"/>
            <a:ext cx="5753560" cy="4866409"/>
          </a:xfrm>
        </p:spPr>
      </p:pic>
      <p:sp>
        <p:nvSpPr>
          <p:cNvPr id="5" name="文本框 4"/>
          <p:cNvSpPr txBox="1"/>
          <p:nvPr/>
        </p:nvSpPr>
        <p:spPr>
          <a:xfrm>
            <a:off x="6639791" y="1911927"/>
            <a:ext cx="2223654" cy="954107"/>
          </a:xfrm>
          <a:prstGeom prst="rect">
            <a:avLst/>
          </a:prstGeom>
          <a:noFill/>
        </p:spPr>
        <p:txBody>
          <a:bodyPr wrap="square" rtlCol="0">
            <a:spAutoFit/>
          </a:bodyPr>
          <a:lstStyle/>
          <a:p>
            <a:r>
              <a:rPr lang="zh-CN" altLang="en-US" sz="2800" dirty="0"/>
              <a:t>放到</a:t>
            </a:r>
            <a:r>
              <a:rPr lang="en-US" altLang="zh-CN" sz="2800" dirty="0"/>
              <a:t>User</a:t>
            </a:r>
            <a:r>
              <a:rPr lang="zh-CN" altLang="en-US" sz="2800" dirty="0"/>
              <a:t>文件夹下。</a:t>
            </a:r>
          </a:p>
        </p:txBody>
      </p:sp>
    </p:spTree>
    <p:extLst>
      <p:ext uri="{BB962C8B-B14F-4D97-AF65-F5344CB8AC3E}">
        <p14:creationId xmlns:p14="http://schemas.microsoft.com/office/powerpoint/2010/main" val="2846823000"/>
      </p:ext>
    </p:extLst>
  </p:cSld>
  <p:clrMapOvr>
    <a:masterClrMapping/>
  </p:clrMapOvr>
  <p:transition>
    <p:cover dir="d"/>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新建工程</a:t>
            </a:r>
          </a:p>
        </p:txBody>
      </p:sp>
      <p:pic>
        <p:nvPicPr>
          <p:cNvPr id="4" name="内容占位符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85799" y="1752600"/>
            <a:ext cx="3965589" cy="5105400"/>
          </a:xfrm>
        </p:spPr>
      </p:pic>
      <p:sp>
        <p:nvSpPr>
          <p:cNvPr id="5" name="文本框 4"/>
          <p:cNvSpPr txBox="1"/>
          <p:nvPr/>
        </p:nvSpPr>
        <p:spPr>
          <a:xfrm>
            <a:off x="5226628" y="2899064"/>
            <a:ext cx="3096491" cy="461665"/>
          </a:xfrm>
          <a:prstGeom prst="rect">
            <a:avLst/>
          </a:prstGeom>
          <a:noFill/>
        </p:spPr>
        <p:txBody>
          <a:bodyPr wrap="square" rtlCol="0">
            <a:spAutoFit/>
          </a:bodyPr>
          <a:lstStyle/>
          <a:p>
            <a:r>
              <a:rPr lang="zh-CN" altLang="en-US" sz="2400" dirty="0"/>
              <a:t>在分组中添加文件</a:t>
            </a:r>
          </a:p>
        </p:txBody>
      </p:sp>
    </p:spTree>
    <p:extLst>
      <p:ext uri="{BB962C8B-B14F-4D97-AF65-F5344CB8AC3E}">
        <p14:creationId xmlns:p14="http://schemas.microsoft.com/office/powerpoint/2010/main" val="2558555622"/>
      </p:ext>
    </p:extLst>
  </p:cSld>
  <p:clrMapOvr>
    <a:masterClrMapping/>
  </p:clrMapOvr>
  <p:transition>
    <p:cover dir="d"/>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新建工程</a:t>
            </a:r>
          </a:p>
        </p:txBody>
      </p:sp>
      <p:pic>
        <p:nvPicPr>
          <p:cNvPr id="4" name="内容占位符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85800" y="1752599"/>
            <a:ext cx="5047343" cy="5103301"/>
          </a:xfrm>
        </p:spPr>
      </p:pic>
    </p:spTree>
    <p:extLst>
      <p:ext uri="{BB962C8B-B14F-4D97-AF65-F5344CB8AC3E}">
        <p14:creationId xmlns:p14="http://schemas.microsoft.com/office/powerpoint/2010/main" val="782039978"/>
      </p:ext>
    </p:extLst>
  </p:cSld>
  <p:clrMapOvr>
    <a:masterClrMapping/>
  </p:clrMapOvr>
  <p:transition>
    <p:cover dir="d"/>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新建工程</a:t>
            </a:r>
          </a:p>
        </p:txBody>
      </p:sp>
      <p:pic>
        <p:nvPicPr>
          <p:cNvPr id="6" name="图片 5">
            <a:extLst>
              <a:ext uri="{FF2B5EF4-FFF2-40B4-BE49-F238E27FC236}">
                <a16:creationId xmlns:a16="http://schemas.microsoft.com/office/drawing/2014/main" id="{B993C059-6A84-4E12-B368-406218246F4D}"/>
              </a:ext>
            </a:extLst>
          </p:cNvPr>
          <p:cNvPicPr>
            <a:picLocks noChangeAspect="1"/>
          </p:cNvPicPr>
          <p:nvPr/>
        </p:nvPicPr>
        <p:blipFill>
          <a:blip r:embed="rId2" cstate="print"/>
          <a:stretch>
            <a:fillRect/>
          </a:stretch>
        </p:blipFill>
        <p:spPr>
          <a:xfrm>
            <a:off x="1342636" y="1752600"/>
            <a:ext cx="6458727" cy="3973579"/>
          </a:xfrm>
          <a:prstGeom prst="rect">
            <a:avLst/>
          </a:prstGeom>
        </p:spPr>
      </p:pic>
    </p:spTree>
    <p:extLst>
      <p:ext uri="{BB962C8B-B14F-4D97-AF65-F5344CB8AC3E}">
        <p14:creationId xmlns:p14="http://schemas.microsoft.com/office/powerpoint/2010/main" val="1472161603"/>
      </p:ext>
    </p:extLst>
  </p:cSld>
  <p:clrMapOvr>
    <a:masterClrMapping/>
  </p:clrMapOvr>
  <p:transition>
    <p:cover dir="d"/>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新建工程</a:t>
            </a:r>
          </a:p>
        </p:txBody>
      </p:sp>
      <p:sp>
        <p:nvSpPr>
          <p:cNvPr id="5" name="文本框 4"/>
          <p:cNvSpPr txBox="1"/>
          <p:nvPr/>
        </p:nvSpPr>
        <p:spPr>
          <a:xfrm>
            <a:off x="6244936" y="1839191"/>
            <a:ext cx="2784764" cy="3108543"/>
          </a:xfrm>
          <a:prstGeom prst="rect">
            <a:avLst/>
          </a:prstGeom>
          <a:noFill/>
        </p:spPr>
        <p:txBody>
          <a:bodyPr wrap="square" rtlCol="0">
            <a:spAutoFit/>
          </a:bodyPr>
          <a:lstStyle/>
          <a:p>
            <a:pPr algn="just"/>
            <a:r>
              <a:rPr lang="zh-CN" altLang="en-US" sz="2800" dirty="0"/>
              <a:t>中断函数的名称与汇编文件中中断向量表中的名称应一致。</a:t>
            </a:r>
            <a:endParaRPr lang="en-US" altLang="zh-CN" sz="2800" dirty="0"/>
          </a:p>
          <a:p>
            <a:pPr algn="just"/>
            <a:r>
              <a:rPr lang="zh-CN" altLang="en-US" sz="2800" dirty="0"/>
              <a:t>实际上将中断函数放在一起也只是方便管理。</a:t>
            </a:r>
          </a:p>
        </p:txBody>
      </p:sp>
      <p:pic>
        <p:nvPicPr>
          <p:cNvPr id="9218" name="Picture 2"/>
          <p:cNvPicPr>
            <a:picLocks noChangeAspect="1" noChangeArrowheads="1"/>
          </p:cNvPicPr>
          <p:nvPr/>
        </p:nvPicPr>
        <p:blipFill>
          <a:blip r:embed="rId2" cstate="print"/>
          <a:srcRect/>
          <a:stretch>
            <a:fillRect/>
          </a:stretch>
        </p:blipFill>
        <p:spPr bwMode="auto">
          <a:xfrm>
            <a:off x="243068" y="1990844"/>
            <a:ext cx="5991961" cy="3808071"/>
          </a:xfrm>
          <a:prstGeom prst="rect">
            <a:avLst/>
          </a:prstGeom>
          <a:noFill/>
          <a:ln w="9525">
            <a:noFill/>
            <a:miter lim="800000"/>
            <a:headEnd/>
            <a:tailEnd/>
          </a:ln>
        </p:spPr>
      </p:pic>
    </p:spTree>
    <p:extLst>
      <p:ext uri="{BB962C8B-B14F-4D97-AF65-F5344CB8AC3E}">
        <p14:creationId xmlns:p14="http://schemas.microsoft.com/office/powerpoint/2010/main" val="3844688119"/>
      </p:ext>
    </p:extLst>
  </p:cSld>
  <p:clrMapOvr>
    <a:masterClrMapping/>
  </p:clrMapOvr>
  <p:transition>
    <p:cover dir="d"/>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嵌入式的</a:t>
            </a:r>
            <a:r>
              <a:rPr lang="en-US" altLang="zh-CN" dirty="0"/>
              <a:t>Hello World</a:t>
            </a:r>
            <a:endParaRPr lang="zh-CN" altLang="en-US" dirty="0"/>
          </a:p>
        </p:txBody>
      </p:sp>
      <p:sp>
        <p:nvSpPr>
          <p:cNvPr id="3" name="内容占位符 2"/>
          <p:cNvSpPr>
            <a:spLocks noGrp="1"/>
          </p:cNvSpPr>
          <p:nvPr>
            <p:ph idx="1"/>
          </p:nvPr>
        </p:nvSpPr>
        <p:spPr/>
        <p:txBody>
          <a:bodyPr/>
          <a:lstStyle/>
          <a:p>
            <a:pPr marL="0" indent="0" algn="just">
              <a:buNone/>
            </a:pPr>
            <a:r>
              <a:rPr lang="zh-CN" altLang="en-US" dirty="0"/>
              <a:t>嵌入式设备要实现如同</a:t>
            </a:r>
            <a:r>
              <a:rPr lang="en-US" altLang="zh-CN" dirty="0"/>
              <a:t>PC</a:t>
            </a:r>
            <a:r>
              <a:rPr lang="zh-CN" altLang="en-US" dirty="0"/>
              <a:t>上的</a:t>
            </a:r>
            <a:r>
              <a:rPr lang="en-US" altLang="zh-CN" dirty="0"/>
              <a:t>hello world</a:t>
            </a:r>
            <a:r>
              <a:rPr lang="zh-CN" altLang="en-US" dirty="0"/>
              <a:t>，通常比较麻烦。但是实现</a:t>
            </a:r>
            <a:r>
              <a:rPr lang="en-US" altLang="zh-CN" dirty="0"/>
              <a:t>IO</a:t>
            </a:r>
            <a:r>
              <a:rPr lang="zh-CN" altLang="en-US" dirty="0"/>
              <a:t>口的反转反而比较简单。所以嵌入式的</a:t>
            </a:r>
            <a:r>
              <a:rPr lang="en-US" altLang="zh-CN" dirty="0"/>
              <a:t>Hello World</a:t>
            </a:r>
            <a:r>
              <a:rPr lang="zh-CN" altLang="en-US" dirty="0"/>
              <a:t>通常是实现</a:t>
            </a:r>
            <a:r>
              <a:rPr lang="en-US" altLang="zh-CN" dirty="0"/>
              <a:t>IO</a:t>
            </a:r>
            <a:r>
              <a:rPr lang="zh-CN" altLang="en-US" dirty="0"/>
              <a:t>口的反转，使与</a:t>
            </a:r>
            <a:r>
              <a:rPr lang="en-US" altLang="zh-CN" dirty="0"/>
              <a:t>IO</a:t>
            </a:r>
            <a:r>
              <a:rPr lang="zh-CN" altLang="en-US" dirty="0"/>
              <a:t>口相连的</a:t>
            </a:r>
            <a:r>
              <a:rPr lang="en-US" altLang="zh-CN" dirty="0"/>
              <a:t>LED</a:t>
            </a:r>
            <a:r>
              <a:rPr lang="zh-CN" altLang="en-US" dirty="0"/>
              <a:t>灯闪烁。</a:t>
            </a:r>
            <a:endParaRPr lang="en-US" altLang="zh-CN" dirty="0"/>
          </a:p>
          <a:p>
            <a:pPr marL="0" indent="0" algn="just">
              <a:buNone/>
            </a:pPr>
            <a:r>
              <a:rPr lang="zh-CN" altLang="en-US" dirty="0"/>
              <a:t>开发板上可供编程的</a:t>
            </a:r>
            <a:r>
              <a:rPr lang="en-US" altLang="zh-CN" dirty="0"/>
              <a:t>LED</a:t>
            </a:r>
            <a:r>
              <a:rPr lang="zh-CN" altLang="en-US" dirty="0"/>
              <a:t>灯只有</a:t>
            </a:r>
            <a:r>
              <a:rPr lang="en-US" altLang="zh-CN" dirty="0"/>
              <a:t>4</a:t>
            </a:r>
            <a:r>
              <a:rPr lang="zh-CN" altLang="en-US" dirty="0"/>
              <a:t>个，我们需要找到这些</a:t>
            </a:r>
            <a:r>
              <a:rPr lang="en-US" altLang="zh-CN" dirty="0"/>
              <a:t>LED</a:t>
            </a:r>
            <a:r>
              <a:rPr lang="zh-CN" altLang="en-US" dirty="0"/>
              <a:t>灯与哪些</a:t>
            </a:r>
            <a:r>
              <a:rPr lang="en-US" altLang="zh-CN" dirty="0"/>
              <a:t>IO</a:t>
            </a:r>
            <a:r>
              <a:rPr lang="zh-CN" altLang="en-US" dirty="0"/>
              <a:t>口相连。</a:t>
            </a:r>
          </a:p>
        </p:txBody>
      </p:sp>
    </p:spTree>
    <p:extLst>
      <p:ext uri="{BB962C8B-B14F-4D97-AF65-F5344CB8AC3E}">
        <p14:creationId xmlns:p14="http://schemas.microsoft.com/office/powerpoint/2010/main" val="402972981"/>
      </p:ext>
    </p:extLst>
  </p:cSld>
  <p:clrMapOvr>
    <a:masterClrMapping/>
  </p:clrMapOvr>
  <p:transition>
    <p:cover dir="d"/>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嵌入式的</a:t>
            </a:r>
            <a:r>
              <a:rPr lang="en-US" altLang="zh-CN" dirty="0"/>
              <a:t>Hello World</a:t>
            </a:r>
            <a:endParaRPr lang="zh-CN" altLang="en-US" dirty="0"/>
          </a:p>
        </p:txBody>
      </p:sp>
      <p:sp>
        <p:nvSpPr>
          <p:cNvPr id="3" name="内容占位符 2"/>
          <p:cNvSpPr>
            <a:spLocks noGrp="1"/>
          </p:cNvSpPr>
          <p:nvPr>
            <p:ph idx="1"/>
          </p:nvPr>
        </p:nvSpPr>
        <p:spPr>
          <a:xfrm>
            <a:off x="685800" y="1573236"/>
            <a:ext cx="7772400" cy="4114800"/>
          </a:xfrm>
        </p:spPr>
        <p:txBody>
          <a:bodyPr/>
          <a:lstStyle/>
          <a:p>
            <a:pPr marL="0" indent="0">
              <a:buNone/>
            </a:pPr>
            <a:r>
              <a:rPr lang="zh-CN" altLang="en-US" dirty="0"/>
              <a:t>开发板的原理图在</a:t>
            </a:r>
            <a:r>
              <a:rPr lang="en-US" altLang="zh-CN" dirty="0"/>
              <a:t>PCB SCH</a:t>
            </a:r>
            <a:r>
              <a:rPr lang="zh-CN" altLang="en-US" dirty="0"/>
              <a:t>文件夹中</a:t>
            </a:r>
          </a:p>
        </p:txBody>
      </p:sp>
      <p:pic>
        <p:nvPicPr>
          <p:cNvPr id="5" name="图片 4">
            <a:extLst>
              <a:ext uri="{FF2B5EF4-FFF2-40B4-BE49-F238E27FC236}">
                <a16:creationId xmlns:a16="http://schemas.microsoft.com/office/drawing/2014/main" id="{2BA3A69C-8832-4DC3-AE78-6F02FB5CECB1}"/>
              </a:ext>
            </a:extLst>
          </p:cNvPr>
          <p:cNvPicPr>
            <a:picLocks noChangeAspect="1"/>
          </p:cNvPicPr>
          <p:nvPr/>
        </p:nvPicPr>
        <p:blipFill>
          <a:blip r:embed="rId2" cstate="print"/>
          <a:stretch>
            <a:fillRect/>
          </a:stretch>
        </p:blipFill>
        <p:spPr>
          <a:xfrm>
            <a:off x="685800" y="2152809"/>
            <a:ext cx="7666278" cy="3131955"/>
          </a:xfrm>
          <a:prstGeom prst="rect">
            <a:avLst/>
          </a:prstGeom>
        </p:spPr>
      </p:pic>
    </p:spTree>
    <p:extLst>
      <p:ext uri="{BB962C8B-B14F-4D97-AF65-F5344CB8AC3E}">
        <p14:creationId xmlns:p14="http://schemas.microsoft.com/office/powerpoint/2010/main" val="504440099"/>
      </p:ext>
    </p:extLst>
  </p:cSld>
  <p:clrMapOvr>
    <a:masterClrMapping/>
  </p:clrMapOvr>
  <p:transition>
    <p:cover dir="d"/>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嵌入式的</a:t>
            </a:r>
            <a:r>
              <a:rPr lang="en-US" altLang="zh-CN" dirty="0"/>
              <a:t>Hello World</a:t>
            </a:r>
            <a:endParaRPr lang="zh-CN" altLang="en-US" dirty="0"/>
          </a:p>
        </p:txBody>
      </p:sp>
      <p:pic>
        <p:nvPicPr>
          <p:cNvPr id="4" name="内容占位符 3"/>
          <p:cNvPicPr>
            <a:picLocks noGrp="1" noChangeAspect="1"/>
          </p:cNvPicPr>
          <p:nvPr>
            <p:ph idx="1"/>
          </p:nvPr>
        </p:nvPicPr>
        <p:blipFill>
          <a:blip r:embed="rId2" cstate="print"/>
          <a:stretch>
            <a:fillRect/>
          </a:stretch>
        </p:blipFill>
        <p:spPr>
          <a:xfrm>
            <a:off x="685800" y="1752600"/>
            <a:ext cx="2266711" cy="2108200"/>
          </a:xfrm>
          <a:prstGeom prst="rect">
            <a:avLst/>
          </a:prstGeom>
        </p:spPr>
      </p:pic>
      <p:sp>
        <p:nvSpPr>
          <p:cNvPr id="5" name="文本框 4"/>
          <p:cNvSpPr txBox="1"/>
          <p:nvPr/>
        </p:nvSpPr>
        <p:spPr>
          <a:xfrm>
            <a:off x="3657600" y="1752600"/>
            <a:ext cx="4353791" cy="954107"/>
          </a:xfrm>
          <a:prstGeom prst="rect">
            <a:avLst/>
          </a:prstGeom>
          <a:noFill/>
        </p:spPr>
        <p:txBody>
          <a:bodyPr wrap="square" rtlCol="0">
            <a:spAutoFit/>
          </a:bodyPr>
          <a:lstStyle/>
          <a:p>
            <a:r>
              <a:rPr lang="zh-CN" altLang="en-US" sz="2800" dirty="0"/>
              <a:t>我们可以查看</a:t>
            </a:r>
            <a:r>
              <a:rPr lang="en-US" altLang="zh-CN" sz="2800" dirty="0"/>
              <a:t>pdf</a:t>
            </a:r>
            <a:r>
              <a:rPr lang="zh-CN" altLang="en-US" sz="2800" dirty="0"/>
              <a:t>文件里的原理图</a:t>
            </a:r>
          </a:p>
        </p:txBody>
      </p:sp>
    </p:spTree>
    <p:extLst>
      <p:ext uri="{BB962C8B-B14F-4D97-AF65-F5344CB8AC3E}">
        <p14:creationId xmlns:p14="http://schemas.microsoft.com/office/powerpoint/2010/main" val="2582997455"/>
      </p:ext>
    </p:extLst>
  </p:cSld>
  <p:clrMapOvr>
    <a:masterClrMapping/>
  </p:clrMapOvr>
  <p:transition>
    <p:cover dir="d"/>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嵌入式的</a:t>
            </a:r>
            <a:r>
              <a:rPr lang="en-US" altLang="zh-CN" dirty="0"/>
              <a:t>Hello World</a:t>
            </a:r>
            <a:endParaRPr lang="zh-CN" altLang="en-US" dirty="0"/>
          </a:p>
        </p:txBody>
      </p:sp>
      <p:sp>
        <p:nvSpPr>
          <p:cNvPr id="5" name="文本框 4"/>
          <p:cNvSpPr txBox="1"/>
          <p:nvPr/>
        </p:nvSpPr>
        <p:spPr>
          <a:xfrm>
            <a:off x="4322617" y="3065318"/>
            <a:ext cx="4395355" cy="584775"/>
          </a:xfrm>
          <a:prstGeom prst="rect">
            <a:avLst/>
          </a:prstGeom>
          <a:noFill/>
        </p:spPr>
        <p:txBody>
          <a:bodyPr wrap="square" rtlCol="0">
            <a:spAutoFit/>
          </a:bodyPr>
          <a:lstStyle/>
          <a:p>
            <a:r>
              <a:rPr lang="en-US" altLang="zh-CN" sz="2800" dirty="0"/>
              <a:t> LD3</a:t>
            </a:r>
            <a:r>
              <a:rPr lang="zh-CN" altLang="en-US" sz="2800" dirty="0"/>
              <a:t>～</a:t>
            </a:r>
            <a:r>
              <a:rPr lang="en-US" altLang="zh-CN" sz="2800" dirty="0"/>
              <a:t>LD6</a:t>
            </a:r>
            <a:r>
              <a:rPr lang="zh-CN" altLang="en-US" sz="2800" dirty="0"/>
              <a:t>为四个</a:t>
            </a:r>
            <a:r>
              <a:rPr lang="en-US" altLang="zh-CN" sz="2800" dirty="0"/>
              <a:t>LED</a:t>
            </a:r>
            <a:r>
              <a:rPr lang="zh-CN" altLang="en-US" sz="2800" dirty="0"/>
              <a:t>灯</a:t>
            </a:r>
            <a:r>
              <a:rPr lang="zh-CN" altLang="en-US" sz="3200" dirty="0"/>
              <a:t>。</a:t>
            </a:r>
          </a:p>
        </p:txBody>
      </p:sp>
      <p:pic>
        <p:nvPicPr>
          <p:cNvPr id="7" name="图片 6">
            <a:extLst>
              <a:ext uri="{FF2B5EF4-FFF2-40B4-BE49-F238E27FC236}">
                <a16:creationId xmlns:a16="http://schemas.microsoft.com/office/drawing/2014/main" id="{4FAF09B6-EE3E-4B9F-BE36-CB2EE6AD447E}"/>
              </a:ext>
            </a:extLst>
          </p:cNvPr>
          <p:cNvPicPr>
            <a:picLocks noChangeAspect="1"/>
          </p:cNvPicPr>
          <p:nvPr/>
        </p:nvPicPr>
        <p:blipFill>
          <a:blip r:embed="rId2" cstate="print"/>
          <a:stretch>
            <a:fillRect/>
          </a:stretch>
        </p:blipFill>
        <p:spPr>
          <a:xfrm>
            <a:off x="791576" y="1603413"/>
            <a:ext cx="2683144" cy="3998665"/>
          </a:xfrm>
          <a:prstGeom prst="rect">
            <a:avLst/>
          </a:prstGeom>
        </p:spPr>
      </p:pic>
    </p:spTree>
    <p:extLst>
      <p:ext uri="{BB962C8B-B14F-4D97-AF65-F5344CB8AC3E}">
        <p14:creationId xmlns:p14="http://schemas.microsoft.com/office/powerpoint/2010/main" val="2500801235"/>
      </p:ext>
    </p:extLst>
  </p:cSld>
  <p:clrMapOvr>
    <a:masterClrMapping/>
  </p:clrMapOvr>
  <p:transition>
    <p:cover dir="d"/>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嵌入式的</a:t>
            </a:r>
            <a:r>
              <a:rPr lang="en-US" altLang="zh-CN" dirty="0"/>
              <a:t>Hello World</a:t>
            </a:r>
            <a:endParaRPr lang="zh-CN" altLang="en-US" dirty="0"/>
          </a:p>
        </p:txBody>
      </p:sp>
      <p:pic>
        <p:nvPicPr>
          <p:cNvPr id="5" name="内容占位符 4"/>
          <p:cNvPicPr>
            <a:picLocks noGrp="1" noChangeAspect="1"/>
          </p:cNvPicPr>
          <p:nvPr>
            <p:ph idx="1"/>
          </p:nvPr>
        </p:nvPicPr>
        <p:blipFill>
          <a:blip r:embed="rId2" cstate="print"/>
          <a:stretch>
            <a:fillRect/>
          </a:stretch>
        </p:blipFill>
        <p:spPr>
          <a:xfrm>
            <a:off x="685800" y="1752600"/>
            <a:ext cx="3238500" cy="2638425"/>
          </a:xfrm>
          <a:prstGeom prst="rect">
            <a:avLst/>
          </a:prstGeom>
        </p:spPr>
      </p:pic>
      <p:sp>
        <p:nvSpPr>
          <p:cNvPr id="6" name="文本框 5"/>
          <p:cNvSpPr txBox="1"/>
          <p:nvPr/>
        </p:nvSpPr>
        <p:spPr>
          <a:xfrm>
            <a:off x="4374573" y="2389909"/>
            <a:ext cx="4312227" cy="1815882"/>
          </a:xfrm>
          <a:prstGeom prst="rect">
            <a:avLst/>
          </a:prstGeom>
          <a:noFill/>
        </p:spPr>
        <p:txBody>
          <a:bodyPr wrap="square" rtlCol="0">
            <a:spAutoFit/>
          </a:bodyPr>
          <a:lstStyle/>
          <a:p>
            <a:r>
              <a:rPr lang="zh-CN" altLang="en-US" sz="2800" dirty="0"/>
              <a:t>可以看到几个</a:t>
            </a:r>
            <a:r>
              <a:rPr lang="en-US" altLang="zh-CN" sz="2800" dirty="0"/>
              <a:t>LED</a:t>
            </a:r>
            <a:r>
              <a:rPr lang="zh-CN" altLang="en-US" sz="2800" dirty="0"/>
              <a:t>灯与</a:t>
            </a:r>
            <a:r>
              <a:rPr lang="en-US" altLang="zh-CN" sz="2800" dirty="0"/>
              <a:t>IO</a:t>
            </a:r>
            <a:r>
              <a:rPr lang="zh-CN" altLang="en-US" sz="2800" dirty="0"/>
              <a:t>口</a:t>
            </a:r>
            <a:r>
              <a:rPr lang="en-US" altLang="zh-CN" sz="2800" dirty="0"/>
              <a:t>PD12</a:t>
            </a:r>
            <a:r>
              <a:rPr lang="zh-CN" altLang="en-US" sz="2800" dirty="0"/>
              <a:t>～</a:t>
            </a:r>
            <a:r>
              <a:rPr lang="en-US" altLang="zh-CN" sz="2800" dirty="0"/>
              <a:t>PD15</a:t>
            </a:r>
            <a:r>
              <a:rPr lang="zh-CN" altLang="en-US" sz="2800" dirty="0"/>
              <a:t>相连。灯的另外一头接地，说明</a:t>
            </a:r>
            <a:r>
              <a:rPr lang="en-US" altLang="zh-CN" sz="2800" dirty="0"/>
              <a:t>IO</a:t>
            </a:r>
            <a:r>
              <a:rPr lang="zh-CN" altLang="en-US" sz="2800" dirty="0"/>
              <a:t>口给高电平亮灯。</a:t>
            </a:r>
          </a:p>
        </p:txBody>
      </p:sp>
    </p:spTree>
    <p:extLst>
      <p:ext uri="{BB962C8B-B14F-4D97-AF65-F5344CB8AC3E}">
        <p14:creationId xmlns:p14="http://schemas.microsoft.com/office/powerpoint/2010/main" val="275629358"/>
      </p:ext>
    </p:extLst>
  </p:cSld>
  <p:clrMapOvr>
    <a:masterClrMapping/>
  </p:clrMapOvr>
  <p:transition>
    <p:cover dir="d"/>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嵌入式的</a:t>
            </a:r>
            <a:r>
              <a:rPr lang="en-US" altLang="zh-CN" dirty="0"/>
              <a:t>Hello World</a:t>
            </a:r>
            <a:endParaRPr lang="zh-CN" altLang="en-US" dirty="0"/>
          </a:p>
        </p:txBody>
      </p:sp>
      <p:sp>
        <p:nvSpPr>
          <p:cNvPr id="3" name="内容占位符 2"/>
          <p:cNvSpPr>
            <a:spLocks noGrp="1"/>
          </p:cNvSpPr>
          <p:nvPr>
            <p:ph idx="1"/>
          </p:nvPr>
        </p:nvSpPr>
        <p:spPr/>
        <p:txBody>
          <a:bodyPr/>
          <a:lstStyle/>
          <a:p>
            <a:pPr marL="0" indent="0">
              <a:buNone/>
            </a:pPr>
            <a:r>
              <a:rPr lang="zh-CN" altLang="en-US" dirty="0"/>
              <a:t>这样我们就需要查阅芯片开发手册，看如何配置</a:t>
            </a:r>
            <a:r>
              <a:rPr lang="en-US" altLang="zh-CN" dirty="0"/>
              <a:t>IO</a:t>
            </a:r>
            <a:r>
              <a:rPr lang="zh-CN" altLang="en-US" dirty="0"/>
              <a:t>口。我们看开发参考手册即可。</a:t>
            </a:r>
          </a:p>
        </p:txBody>
      </p:sp>
      <p:pic>
        <p:nvPicPr>
          <p:cNvPr id="5" name="图片 4">
            <a:extLst>
              <a:ext uri="{FF2B5EF4-FFF2-40B4-BE49-F238E27FC236}">
                <a16:creationId xmlns:a16="http://schemas.microsoft.com/office/drawing/2014/main" id="{A287B79B-7881-4665-8BD7-DA8F9C155D98}"/>
              </a:ext>
            </a:extLst>
          </p:cNvPr>
          <p:cNvPicPr>
            <a:picLocks noChangeAspect="1"/>
          </p:cNvPicPr>
          <p:nvPr/>
        </p:nvPicPr>
        <p:blipFill>
          <a:blip r:embed="rId2" cstate="print"/>
          <a:stretch>
            <a:fillRect/>
          </a:stretch>
        </p:blipFill>
        <p:spPr>
          <a:xfrm>
            <a:off x="877336" y="3097778"/>
            <a:ext cx="7123661" cy="2374554"/>
          </a:xfrm>
          <a:prstGeom prst="rect">
            <a:avLst/>
          </a:prstGeom>
        </p:spPr>
      </p:pic>
    </p:spTree>
    <p:extLst>
      <p:ext uri="{BB962C8B-B14F-4D97-AF65-F5344CB8AC3E}">
        <p14:creationId xmlns:p14="http://schemas.microsoft.com/office/powerpoint/2010/main" val="1198753919"/>
      </p:ext>
    </p:extLst>
  </p:cSld>
  <p:clrMapOvr>
    <a:masterClrMapping/>
  </p:clrMapOvr>
  <p:transition>
    <p:cover dir="d"/>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嵌入式的</a:t>
            </a:r>
            <a:r>
              <a:rPr lang="en-US" altLang="zh-CN" dirty="0"/>
              <a:t>Hello World</a:t>
            </a:r>
            <a:endParaRPr lang="zh-CN" altLang="en-US" dirty="0"/>
          </a:p>
        </p:txBody>
      </p:sp>
      <p:sp>
        <p:nvSpPr>
          <p:cNvPr id="5" name="文本框 4"/>
          <p:cNvSpPr txBox="1"/>
          <p:nvPr/>
        </p:nvSpPr>
        <p:spPr>
          <a:xfrm>
            <a:off x="5351318" y="1995055"/>
            <a:ext cx="3584864" cy="2677656"/>
          </a:xfrm>
          <a:prstGeom prst="rect">
            <a:avLst/>
          </a:prstGeom>
          <a:noFill/>
        </p:spPr>
        <p:txBody>
          <a:bodyPr wrap="square" rtlCol="0">
            <a:spAutoFit/>
          </a:bodyPr>
          <a:lstStyle/>
          <a:p>
            <a:pPr algn="just"/>
            <a:r>
              <a:rPr lang="zh-CN" altLang="en-US" sz="2800" dirty="0"/>
              <a:t>开发参考手册总共</a:t>
            </a:r>
            <a:r>
              <a:rPr lang="en-US" altLang="zh-CN" sz="2800" dirty="0"/>
              <a:t>33</a:t>
            </a:r>
            <a:r>
              <a:rPr lang="zh-CN" altLang="en-US" sz="2800" dirty="0"/>
              <a:t>章，控制</a:t>
            </a:r>
            <a:r>
              <a:rPr lang="en-US" altLang="zh-CN" sz="2800" dirty="0"/>
              <a:t>IO</a:t>
            </a:r>
            <a:r>
              <a:rPr lang="zh-CN" altLang="en-US" sz="2800" dirty="0"/>
              <a:t>口我们只需要看第</a:t>
            </a:r>
            <a:r>
              <a:rPr lang="en-US" altLang="zh-CN" sz="2800" dirty="0"/>
              <a:t>2</a:t>
            </a:r>
            <a:r>
              <a:rPr lang="zh-CN" altLang="en-US" sz="2800" dirty="0"/>
              <a:t>、</a:t>
            </a:r>
            <a:r>
              <a:rPr lang="en-US" altLang="zh-CN" sz="2800" dirty="0"/>
              <a:t>5</a:t>
            </a:r>
            <a:r>
              <a:rPr lang="zh-CN" altLang="en-US" sz="2800" dirty="0"/>
              <a:t>、</a:t>
            </a:r>
            <a:r>
              <a:rPr lang="en-US" altLang="zh-CN" sz="2800" dirty="0"/>
              <a:t>6</a:t>
            </a:r>
            <a:r>
              <a:rPr lang="zh-CN" altLang="en-US" sz="2800" dirty="0"/>
              <a:t>章。分别是内存与总线架构、复位与时钟控制、通用</a:t>
            </a:r>
            <a:r>
              <a:rPr lang="en-US" altLang="zh-CN" sz="2800" dirty="0"/>
              <a:t>I/O</a:t>
            </a:r>
            <a:r>
              <a:rPr lang="zh-CN" altLang="en-US" sz="2800" dirty="0"/>
              <a:t>。</a:t>
            </a:r>
          </a:p>
        </p:txBody>
      </p:sp>
      <p:pic>
        <p:nvPicPr>
          <p:cNvPr id="7" name="图片 6">
            <a:extLst>
              <a:ext uri="{FF2B5EF4-FFF2-40B4-BE49-F238E27FC236}">
                <a16:creationId xmlns:a16="http://schemas.microsoft.com/office/drawing/2014/main" id="{A1319FF0-BE83-4D22-9D3A-90924807042D}"/>
              </a:ext>
            </a:extLst>
          </p:cNvPr>
          <p:cNvPicPr>
            <a:picLocks noChangeAspect="1"/>
          </p:cNvPicPr>
          <p:nvPr/>
        </p:nvPicPr>
        <p:blipFill>
          <a:blip r:embed="rId2" cstate="print"/>
          <a:stretch>
            <a:fillRect/>
          </a:stretch>
        </p:blipFill>
        <p:spPr>
          <a:xfrm>
            <a:off x="840302" y="1852930"/>
            <a:ext cx="3830172" cy="3842528"/>
          </a:xfrm>
          <a:prstGeom prst="rect">
            <a:avLst/>
          </a:prstGeom>
        </p:spPr>
      </p:pic>
    </p:spTree>
    <p:extLst>
      <p:ext uri="{BB962C8B-B14F-4D97-AF65-F5344CB8AC3E}">
        <p14:creationId xmlns:p14="http://schemas.microsoft.com/office/powerpoint/2010/main" val="3649812647"/>
      </p:ext>
    </p:extLst>
  </p:cSld>
  <p:clrMapOvr>
    <a:masterClrMapping/>
  </p:clrMapOvr>
  <p:transition>
    <p:cover dir="d"/>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嵌入式的</a:t>
            </a:r>
            <a:r>
              <a:rPr lang="en-US" altLang="zh-CN" dirty="0"/>
              <a:t>Hello World</a:t>
            </a:r>
            <a:endParaRPr lang="zh-CN" altLang="en-US" dirty="0"/>
          </a:p>
        </p:txBody>
      </p:sp>
      <p:sp>
        <p:nvSpPr>
          <p:cNvPr id="3" name="内容占位符 2"/>
          <p:cNvSpPr>
            <a:spLocks noGrp="1"/>
          </p:cNvSpPr>
          <p:nvPr>
            <p:ph idx="1"/>
          </p:nvPr>
        </p:nvSpPr>
        <p:spPr/>
        <p:txBody>
          <a:bodyPr/>
          <a:lstStyle/>
          <a:p>
            <a:pPr marL="0" indent="0">
              <a:buNone/>
            </a:pPr>
            <a:r>
              <a:rPr lang="zh-CN" altLang="en-US" dirty="0"/>
              <a:t>因为我们要控制</a:t>
            </a:r>
            <a:r>
              <a:rPr lang="en-US" altLang="zh-CN" dirty="0"/>
              <a:t>IO</a:t>
            </a:r>
            <a:r>
              <a:rPr lang="zh-CN" altLang="en-US" dirty="0"/>
              <a:t>口所以要看通用</a:t>
            </a:r>
            <a:r>
              <a:rPr lang="en-US" altLang="zh-CN" dirty="0"/>
              <a:t>IO</a:t>
            </a:r>
            <a:r>
              <a:rPr lang="zh-CN" altLang="en-US" dirty="0"/>
              <a:t>这一章节。但使用任何设备都需要时钟信号，只有给相应设备时钟信号，设备才能运转。设备都是挂接在总线上，因此我们需要看复位与时钟控制、内存与总线架构这两章节。另外，片内外设都是统一编址的（使用内存地址），我们还需要知道设备的起始地址。</a:t>
            </a:r>
          </a:p>
        </p:txBody>
      </p:sp>
    </p:spTree>
    <p:extLst>
      <p:ext uri="{BB962C8B-B14F-4D97-AF65-F5344CB8AC3E}">
        <p14:creationId xmlns:p14="http://schemas.microsoft.com/office/powerpoint/2010/main" val="1338414301"/>
      </p:ext>
    </p:extLst>
  </p:cSld>
  <p:clrMapOvr>
    <a:masterClrMapping/>
  </p:clrMapOvr>
  <p:transition>
    <p:cover dir="d"/>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嵌入式的</a:t>
            </a:r>
            <a:r>
              <a:rPr lang="en-US" altLang="zh-CN" dirty="0"/>
              <a:t>Hello World</a:t>
            </a:r>
            <a:endParaRPr lang="zh-CN" altLang="en-US" dirty="0"/>
          </a:p>
        </p:txBody>
      </p:sp>
      <p:sp>
        <p:nvSpPr>
          <p:cNvPr id="3" name="内容占位符 2"/>
          <p:cNvSpPr>
            <a:spLocks noGrp="1"/>
          </p:cNvSpPr>
          <p:nvPr>
            <p:ph idx="1"/>
          </p:nvPr>
        </p:nvSpPr>
        <p:spPr/>
        <p:txBody>
          <a:bodyPr/>
          <a:lstStyle/>
          <a:p>
            <a:pPr marL="0" indent="0">
              <a:buNone/>
            </a:pPr>
            <a:r>
              <a:rPr lang="zh-CN" altLang="en-US" dirty="0"/>
              <a:t>首先我们可以看</a:t>
            </a:r>
            <a:r>
              <a:rPr lang="en-US" altLang="zh-CN" dirty="0"/>
              <a:t>2.3</a:t>
            </a:r>
            <a:r>
              <a:rPr lang="zh-CN" altLang="en-US" dirty="0"/>
              <a:t>节</a:t>
            </a:r>
            <a:r>
              <a:rPr lang="en-US" altLang="zh-CN" dirty="0"/>
              <a:t>(</a:t>
            </a:r>
            <a:r>
              <a:rPr lang="zh-CN" altLang="en-US" dirty="0"/>
              <a:t>内存映射</a:t>
            </a:r>
            <a:r>
              <a:rPr lang="en-US" altLang="zh-CN" dirty="0"/>
              <a:t>)</a:t>
            </a:r>
            <a:r>
              <a:rPr lang="zh-CN" altLang="en-US" dirty="0"/>
              <a:t>：</a:t>
            </a:r>
          </a:p>
        </p:txBody>
      </p:sp>
      <p:pic>
        <p:nvPicPr>
          <p:cNvPr id="4" name="图片 3"/>
          <p:cNvPicPr>
            <a:picLocks noChangeAspect="1"/>
          </p:cNvPicPr>
          <p:nvPr/>
        </p:nvPicPr>
        <p:blipFill>
          <a:blip r:embed="rId2" cstate="print"/>
          <a:stretch>
            <a:fillRect/>
          </a:stretch>
        </p:blipFill>
        <p:spPr>
          <a:xfrm>
            <a:off x="685800" y="2600325"/>
            <a:ext cx="8191500" cy="3724275"/>
          </a:xfrm>
          <a:prstGeom prst="rect">
            <a:avLst/>
          </a:prstGeom>
        </p:spPr>
      </p:pic>
    </p:spTree>
    <p:extLst>
      <p:ext uri="{BB962C8B-B14F-4D97-AF65-F5344CB8AC3E}">
        <p14:creationId xmlns:p14="http://schemas.microsoft.com/office/powerpoint/2010/main" val="301008667"/>
      </p:ext>
    </p:extLst>
  </p:cSld>
  <p:clrMapOvr>
    <a:masterClrMapping/>
  </p:clrMapOvr>
  <p:transition>
    <p:cover dir="d"/>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621175"/>
            <a:ext cx="7772400" cy="1143000"/>
          </a:xfrm>
        </p:spPr>
        <p:txBody>
          <a:bodyPr/>
          <a:lstStyle/>
          <a:p>
            <a:pPr algn="l"/>
            <a:r>
              <a:rPr lang="zh-CN" altLang="en-US" dirty="0"/>
              <a:t>嵌入式的</a:t>
            </a:r>
            <a:r>
              <a:rPr lang="en-US" altLang="zh-CN" dirty="0"/>
              <a:t>Hello World</a:t>
            </a:r>
            <a:endParaRPr lang="zh-CN" altLang="en-US" dirty="0"/>
          </a:p>
        </p:txBody>
      </p:sp>
      <p:sp>
        <p:nvSpPr>
          <p:cNvPr id="3" name="内容占位符 2"/>
          <p:cNvSpPr>
            <a:spLocks noGrp="1"/>
          </p:cNvSpPr>
          <p:nvPr>
            <p:ph idx="1"/>
          </p:nvPr>
        </p:nvSpPr>
        <p:spPr/>
        <p:txBody>
          <a:bodyPr/>
          <a:lstStyle/>
          <a:p>
            <a:r>
              <a:rPr lang="zh-CN" altLang="en-US" dirty="0"/>
              <a:t>通过表中我们可以看出</a:t>
            </a:r>
            <a:r>
              <a:rPr lang="en-US" altLang="zh-CN" dirty="0"/>
              <a:t>GPIOD</a:t>
            </a:r>
            <a:r>
              <a:rPr lang="zh-CN" altLang="en-US" dirty="0"/>
              <a:t>（</a:t>
            </a:r>
            <a:r>
              <a:rPr lang="en-US" altLang="zh-CN" dirty="0"/>
              <a:t>D</a:t>
            </a:r>
            <a:r>
              <a:rPr lang="zh-CN" altLang="en-US" dirty="0"/>
              <a:t>系列</a:t>
            </a:r>
            <a:r>
              <a:rPr lang="en-US" altLang="zh-CN" dirty="0"/>
              <a:t>IO</a:t>
            </a:r>
            <a:r>
              <a:rPr lang="zh-CN" altLang="en-US" dirty="0"/>
              <a:t>口）挂接在</a:t>
            </a:r>
            <a:r>
              <a:rPr lang="en-US" altLang="zh-CN" dirty="0"/>
              <a:t>AHB1</a:t>
            </a:r>
            <a:r>
              <a:rPr lang="zh-CN" altLang="en-US" dirty="0"/>
              <a:t>高速总线上。</a:t>
            </a:r>
            <a:r>
              <a:rPr lang="en-US" altLang="zh-CN" dirty="0"/>
              <a:t> </a:t>
            </a:r>
          </a:p>
          <a:p>
            <a:r>
              <a:rPr lang="en-US" altLang="zh-CN" dirty="0"/>
              <a:t>GPIOD</a:t>
            </a:r>
            <a:r>
              <a:rPr lang="zh-CN" altLang="en-US" dirty="0"/>
              <a:t>的控制寄存器的地址范围是</a:t>
            </a:r>
            <a:r>
              <a:rPr lang="en-US" altLang="zh-CN" dirty="0"/>
              <a:t>0X4002 0C00 </a:t>
            </a:r>
            <a:r>
              <a:rPr lang="zh-CN" altLang="en-US" dirty="0"/>
              <a:t>～</a:t>
            </a:r>
            <a:r>
              <a:rPr lang="en-US" altLang="zh-CN" dirty="0"/>
              <a:t> 0x4002 0FFF</a:t>
            </a:r>
            <a:r>
              <a:rPr lang="zh-CN" altLang="en-US" dirty="0"/>
              <a:t>。</a:t>
            </a:r>
            <a:endParaRPr lang="en-US" altLang="zh-CN" dirty="0"/>
          </a:p>
          <a:p>
            <a:r>
              <a:rPr lang="en-US" altLang="zh-CN" dirty="0"/>
              <a:t>RCC</a:t>
            </a:r>
            <a:r>
              <a:rPr lang="zh-CN" altLang="en-US" dirty="0"/>
              <a:t>（复位与时钟控制）寄存器的地址范围是</a:t>
            </a:r>
            <a:r>
              <a:rPr lang="en-US" altLang="zh-CN" dirty="0"/>
              <a:t>0x4002 3800 </a:t>
            </a:r>
            <a:r>
              <a:rPr lang="zh-CN" altLang="en-US" dirty="0"/>
              <a:t>～</a:t>
            </a:r>
            <a:r>
              <a:rPr lang="en-US" altLang="zh-CN" dirty="0"/>
              <a:t> 0x4002 3BFF</a:t>
            </a:r>
            <a:r>
              <a:rPr lang="zh-CN" altLang="en-US" dirty="0"/>
              <a:t>。</a:t>
            </a:r>
          </a:p>
        </p:txBody>
      </p:sp>
    </p:spTree>
    <p:extLst>
      <p:ext uri="{BB962C8B-B14F-4D97-AF65-F5344CB8AC3E}">
        <p14:creationId xmlns:p14="http://schemas.microsoft.com/office/powerpoint/2010/main" val="2552244735"/>
      </p:ext>
    </p:extLst>
  </p:cSld>
  <p:clrMapOvr>
    <a:masterClrMapping/>
  </p:clrMapOvr>
  <p:transition>
    <p:cover dir="d"/>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嵌入式的</a:t>
            </a:r>
            <a:r>
              <a:rPr lang="en-US" altLang="zh-CN" dirty="0"/>
              <a:t>Hello World</a:t>
            </a:r>
            <a:endParaRPr lang="zh-CN" altLang="en-US" dirty="0"/>
          </a:p>
        </p:txBody>
      </p:sp>
      <p:sp>
        <p:nvSpPr>
          <p:cNvPr id="3" name="内容占位符 2"/>
          <p:cNvSpPr>
            <a:spLocks noGrp="1"/>
          </p:cNvSpPr>
          <p:nvPr>
            <p:ph idx="1"/>
          </p:nvPr>
        </p:nvSpPr>
        <p:spPr/>
        <p:txBody>
          <a:bodyPr/>
          <a:lstStyle/>
          <a:p>
            <a:pPr marL="0" indent="0">
              <a:buNone/>
            </a:pPr>
            <a:r>
              <a:rPr lang="zh-CN" altLang="en-US" sz="2400" dirty="0"/>
              <a:t>我们再可以直接看</a:t>
            </a:r>
            <a:r>
              <a:rPr lang="en-US" altLang="zh-CN" sz="2400" dirty="0"/>
              <a:t>5.3</a:t>
            </a:r>
            <a:r>
              <a:rPr lang="zh-CN" altLang="en-US" sz="2400" dirty="0"/>
              <a:t>节（复位与时钟寄存器部分）：</a:t>
            </a:r>
          </a:p>
        </p:txBody>
      </p:sp>
      <p:pic>
        <p:nvPicPr>
          <p:cNvPr id="4" name="图片 3"/>
          <p:cNvPicPr>
            <a:picLocks noChangeAspect="1"/>
          </p:cNvPicPr>
          <p:nvPr/>
        </p:nvPicPr>
        <p:blipFill>
          <a:blip r:embed="rId2" cstate="print"/>
          <a:stretch>
            <a:fillRect/>
          </a:stretch>
        </p:blipFill>
        <p:spPr>
          <a:xfrm>
            <a:off x="760268" y="2575214"/>
            <a:ext cx="7353300" cy="3162300"/>
          </a:xfrm>
          <a:prstGeom prst="rect">
            <a:avLst/>
          </a:prstGeom>
        </p:spPr>
      </p:pic>
    </p:spTree>
    <p:extLst>
      <p:ext uri="{BB962C8B-B14F-4D97-AF65-F5344CB8AC3E}">
        <p14:creationId xmlns:p14="http://schemas.microsoft.com/office/powerpoint/2010/main" val="484600915"/>
      </p:ext>
    </p:extLst>
  </p:cSld>
  <p:clrMapOvr>
    <a:masterClrMapping/>
  </p:clrMapOvr>
  <p:transition>
    <p:cover dir="d"/>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嵌入式的</a:t>
            </a:r>
            <a:r>
              <a:rPr lang="en-US" altLang="zh-CN" dirty="0"/>
              <a:t>Hello World</a:t>
            </a:r>
            <a:endParaRPr lang="zh-CN" altLang="en-US" dirty="0"/>
          </a:p>
        </p:txBody>
      </p:sp>
      <p:pic>
        <p:nvPicPr>
          <p:cNvPr id="4" name="内容占位符 3"/>
          <p:cNvPicPr>
            <a:picLocks noGrp="1" noChangeAspect="1"/>
          </p:cNvPicPr>
          <p:nvPr>
            <p:ph idx="1"/>
          </p:nvPr>
        </p:nvPicPr>
        <p:blipFill>
          <a:blip r:embed="rId2" cstate="print"/>
          <a:stretch>
            <a:fillRect/>
          </a:stretch>
        </p:blipFill>
        <p:spPr>
          <a:xfrm>
            <a:off x="685800" y="1669473"/>
            <a:ext cx="3843617" cy="1364672"/>
          </a:xfrm>
          <a:prstGeom prst="rect">
            <a:avLst/>
          </a:prstGeom>
        </p:spPr>
      </p:pic>
      <p:sp>
        <p:nvSpPr>
          <p:cNvPr id="5" name="文本框 4"/>
          <p:cNvSpPr txBox="1"/>
          <p:nvPr/>
        </p:nvSpPr>
        <p:spPr>
          <a:xfrm>
            <a:off x="581891" y="3138054"/>
            <a:ext cx="7284027" cy="1815882"/>
          </a:xfrm>
          <a:prstGeom prst="rect">
            <a:avLst/>
          </a:prstGeom>
          <a:noFill/>
        </p:spPr>
        <p:txBody>
          <a:bodyPr wrap="square" rtlCol="0">
            <a:spAutoFit/>
          </a:bodyPr>
          <a:lstStyle/>
          <a:p>
            <a:r>
              <a:rPr lang="zh-CN" altLang="en-US" sz="2800" dirty="0"/>
              <a:t>因此我们只需要将寄存器的第</a:t>
            </a:r>
            <a:r>
              <a:rPr lang="en-US" altLang="zh-CN" sz="2800" dirty="0"/>
              <a:t>3</a:t>
            </a:r>
            <a:r>
              <a:rPr lang="zh-CN" altLang="en-US" sz="2800" dirty="0"/>
              <a:t>位置为</a:t>
            </a:r>
            <a:r>
              <a:rPr lang="en-US" altLang="zh-CN" sz="2800" dirty="0"/>
              <a:t>1</a:t>
            </a:r>
            <a:r>
              <a:rPr lang="zh-CN" altLang="en-US" sz="2800" dirty="0"/>
              <a:t>就可以让</a:t>
            </a:r>
            <a:r>
              <a:rPr lang="en-US" altLang="zh-CN" sz="2800" dirty="0"/>
              <a:t>D</a:t>
            </a:r>
            <a:r>
              <a:rPr lang="zh-CN" altLang="en-US" sz="2800" dirty="0"/>
              <a:t>系列</a:t>
            </a:r>
            <a:r>
              <a:rPr lang="en-US" altLang="zh-CN" sz="2800" dirty="0"/>
              <a:t>IO</a:t>
            </a:r>
            <a:r>
              <a:rPr lang="zh-CN" altLang="en-US" sz="2800" dirty="0"/>
              <a:t>口的时钟使能。</a:t>
            </a:r>
            <a:endParaRPr lang="en-US" altLang="zh-CN" sz="2800" dirty="0"/>
          </a:p>
          <a:p>
            <a:endParaRPr lang="en-US" altLang="zh-CN" sz="2800" dirty="0"/>
          </a:p>
          <a:p>
            <a:r>
              <a:rPr lang="zh-CN" altLang="en-US" sz="2800" dirty="0"/>
              <a:t>那么具体代码中该如何操作呢？</a:t>
            </a:r>
          </a:p>
        </p:txBody>
      </p:sp>
    </p:spTree>
    <p:extLst>
      <p:ext uri="{BB962C8B-B14F-4D97-AF65-F5344CB8AC3E}">
        <p14:creationId xmlns:p14="http://schemas.microsoft.com/office/powerpoint/2010/main" val="2884940011"/>
      </p:ext>
    </p:extLst>
  </p:cSld>
  <p:clrMapOvr>
    <a:masterClrMapping/>
  </p:clrMapOvr>
  <p:transition>
    <p:cover dir="d"/>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嵌入式的</a:t>
            </a:r>
            <a:r>
              <a:rPr lang="en-US" altLang="zh-CN" dirty="0"/>
              <a:t>Hello World</a:t>
            </a:r>
            <a:endParaRPr lang="zh-CN" altLang="en-US" dirty="0"/>
          </a:p>
        </p:txBody>
      </p:sp>
      <p:sp>
        <p:nvSpPr>
          <p:cNvPr id="3" name="内容占位符 2"/>
          <p:cNvSpPr>
            <a:spLocks noGrp="1"/>
          </p:cNvSpPr>
          <p:nvPr>
            <p:ph idx="1"/>
          </p:nvPr>
        </p:nvSpPr>
        <p:spPr>
          <a:xfrm>
            <a:off x="529936" y="1981200"/>
            <a:ext cx="8499764" cy="4114800"/>
          </a:xfrm>
        </p:spPr>
        <p:txBody>
          <a:bodyPr/>
          <a:lstStyle/>
          <a:p>
            <a:r>
              <a:rPr lang="en-US" altLang="zh-CN" dirty="0"/>
              <a:t>RCC</a:t>
            </a:r>
            <a:r>
              <a:rPr lang="zh-CN" altLang="en-US" dirty="0"/>
              <a:t>的起始地址为：</a:t>
            </a:r>
            <a:r>
              <a:rPr lang="en-US" altLang="zh-CN" dirty="0"/>
              <a:t> 0x4002 3800</a:t>
            </a:r>
          </a:p>
          <a:p>
            <a:r>
              <a:rPr lang="en-US" altLang="zh-CN" dirty="0"/>
              <a:t>RCC_AHB1ENR</a:t>
            </a:r>
            <a:r>
              <a:rPr lang="zh-CN" altLang="en-US" dirty="0"/>
              <a:t>寄存器的偏移地址为：</a:t>
            </a:r>
            <a:r>
              <a:rPr lang="en-US" altLang="zh-CN" dirty="0"/>
              <a:t>0x30</a:t>
            </a:r>
          </a:p>
          <a:p>
            <a:r>
              <a:rPr lang="en-US" altLang="zh-CN" dirty="0"/>
              <a:t>RCC_AHB1ENR</a:t>
            </a:r>
            <a:r>
              <a:rPr lang="zh-CN" altLang="en-US" dirty="0"/>
              <a:t>的内存地址为：</a:t>
            </a:r>
            <a:r>
              <a:rPr lang="en-US" altLang="zh-CN" dirty="0"/>
              <a:t>0x4002 3830</a:t>
            </a:r>
            <a:r>
              <a:rPr lang="zh-CN" altLang="en-US" dirty="0"/>
              <a:t>（</a:t>
            </a:r>
            <a:r>
              <a:rPr lang="en-US" altLang="zh-CN" dirty="0"/>
              <a:t> 0x4002 3800  + 0x30</a:t>
            </a:r>
            <a:r>
              <a:rPr lang="zh-CN" altLang="en-US" dirty="0"/>
              <a:t>）</a:t>
            </a:r>
            <a:endParaRPr lang="en-US" altLang="zh-CN" dirty="0"/>
          </a:p>
          <a:p>
            <a:r>
              <a:rPr lang="zh-CN" altLang="en-US" dirty="0"/>
              <a:t>那么只需将起始地址为</a:t>
            </a:r>
            <a:r>
              <a:rPr lang="en-US" altLang="zh-CN" dirty="0"/>
              <a:t>0x4002 3830</a:t>
            </a:r>
            <a:r>
              <a:rPr lang="zh-CN" altLang="en-US" dirty="0"/>
              <a:t>的一个字的内容置为</a:t>
            </a:r>
            <a:r>
              <a:rPr lang="en-US" altLang="zh-CN" dirty="0"/>
              <a:t>0x0010 0008</a:t>
            </a:r>
            <a:r>
              <a:rPr lang="zh-CN" altLang="en-US" dirty="0"/>
              <a:t>（复位值为</a:t>
            </a:r>
            <a:r>
              <a:rPr lang="en-US" altLang="zh-CN" dirty="0"/>
              <a:t>0x0010 0000</a:t>
            </a:r>
            <a:r>
              <a:rPr lang="zh-CN" altLang="en-US" dirty="0"/>
              <a:t>）</a:t>
            </a:r>
            <a:br>
              <a:rPr lang="en-US" altLang="zh-CN" dirty="0"/>
            </a:br>
            <a:br>
              <a:rPr lang="en-US" altLang="zh-CN" dirty="0"/>
            </a:br>
            <a:br>
              <a:rPr lang="en-US" altLang="zh-CN" dirty="0"/>
            </a:br>
            <a:r>
              <a:rPr lang="en-US" altLang="zh-CN" dirty="0"/>
              <a:t> </a:t>
            </a:r>
          </a:p>
          <a:p>
            <a:endParaRPr lang="zh-CN" altLang="en-US" dirty="0"/>
          </a:p>
        </p:txBody>
      </p:sp>
    </p:spTree>
    <p:extLst>
      <p:ext uri="{BB962C8B-B14F-4D97-AF65-F5344CB8AC3E}">
        <p14:creationId xmlns:p14="http://schemas.microsoft.com/office/powerpoint/2010/main" val="4195986403"/>
      </p:ext>
    </p:extLst>
  </p:cSld>
  <p:clrMapOvr>
    <a:masterClrMapping/>
  </p:clrMapOvr>
  <p:transition>
    <p:cover dir="d"/>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嵌入式的</a:t>
            </a:r>
            <a:r>
              <a:rPr lang="en-US" altLang="zh-CN" dirty="0"/>
              <a:t>Hello World</a:t>
            </a:r>
            <a:endParaRPr lang="zh-CN" altLang="en-US" dirty="0"/>
          </a:p>
        </p:txBody>
      </p:sp>
      <p:sp>
        <p:nvSpPr>
          <p:cNvPr id="5" name="内容占位符 4"/>
          <p:cNvSpPr>
            <a:spLocks noGrp="1"/>
          </p:cNvSpPr>
          <p:nvPr>
            <p:ph idx="1"/>
          </p:nvPr>
        </p:nvSpPr>
        <p:spPr/>
        <p:txBody>
          <a:bodyPr/>
          <a:lstStyle/>
          <a:p>
            <a:pPr marL="0" indent="0">
              <a:buNone/>
            </a:pPr>
            <a:r>
              <a:rPr lang="zh-CN" altLang="en-US" sz="2800" dirty="0"/>
              <a:t>最后我们再看</a:t>
            </a:r>
            <a:r>
              <a:rPr lang="en-US" altLang="zh-CN" sz="2800" dirty="0"/>
              <a:t>6.3</a:t>
            </a:r>
            <a:r>
              <a:rPr lang="zh-CN" altLang="en-US" sz="2800" dirty="0"/>
              <a:t>节（</a:t>
            </a:r>
            <a:r>
              <a:rPr lang="en-US" altLang="zh-CN" sz="2800" dirty="0"/>
              <a:t>IO</a:t>
            </a:r>
            <a:r>
              <a:rPr lang="zh-CN" altLang="en-US" sz="2800" dirty="0"/>
              <a:t>口功能描述）</a:t>
            </a:r>
            <a:r>
              <a:rPr lang="zh-CN" altLang="en-US" dirty="0"/>
              <a:t>：</a:t>
            </a:r>
          </a:p>
        </p:txBody>
      </p:sp>
      <p:pic>
        <p:nvPicPr>
          <p:cNvPr id="6" name="图片 5"/>
          <p:cNvPicPr>
            <a:picLocks noChangeAspect="1"/>
          </p:cNvPicPr>
          <p:nvPr/>
        </p:nvPicPr>
        <p:blipFill>
          <a:blip r:embed="rId2" cstate="print"/>
          <a:stretch>
            <a:fillRect/>
          </a:stretch>
        </p:blipFill>
        <p:spPr>
          <a:xfrm>
            <a:off x="842962" y="2557462"/>
            <a:ext cx="7458075" cy="2962275"/>
          </a:xfrm>
          <a:prstGeom prst="rect">
            <a:avLst/>
          </a:prstGeom>
        </p:spPr>
      </p:pic>
    </p:spTree>
    <p:extLst>
      <p:ext uri="{BB962C8B-B14F-4D97-AF65-F5344CB8AC3E}">
        <p14:creationId xmlns:p14="http://schemas.microsoft.com/office/powerpoint/2010/main" val="670601603"/>
      </p:ext>
    </p:extLst>
  </p:cSld>
  <p:clrMapOvr>
    <a:masterClrMapping/>
  </p:clrMapOvr>
  <p:transition>
    <p:cover dir="d"/>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834736"/>
          </a:xfrm>
        </p:spPr>
        <p:txBody>
          <a:bodyPr/>
          <a:lstStyle/>
          <a:p>
            <a:pPr algn="l"/>
            <a:r>
              <a:rPr lang="zh-CN" altLang="en-US" dirty="0"/>
              <a:t>嵌入式的</a:t>
            </a:r>
            <a:r>
              <a:rPr lang="en-US" altLang="zh-CN" dirty="0"/>
              <a:t>Hello World</a:t>
            </a:r>
            <a:endParaRPr lang="zh-CN" altLang="en-US" dirty="0"/>
          </a:p>
        </p:txBody>
      </p:sp>
      <p:sp>
        <p:nvSpPr>
          <p:cNvPr id="3" name="内容占位符 2"/>
          <p:cNvSpPr>
            <a:spLocks noGrp="1"/>
          </p:cNvSpPr>
          <p:nvPr>
            <p:ph idx="1"/>
          </p:nvPr>
        </p:nvSpPr>
        <p:spPr>
          <a:xfrm>
            <a:off x="685800" y="1569027"/>
            <a:ext cx="7772400" cy="4526973"/>
          </a:xfrm>
        </p:spPr>
        <p:txBody>
          <a:bodyPr/>
          <a:lstStyle/>
          <a:p>
            <a:pPr marL="0" indent="0">
              <a:buNone/>
            </a:pPr>
            <a:r>
              <a:rPr lang="zh-CN" altLang="en-US" sz="2800" dirty="0"/>
              <a:t>再直接看</a:t>
            </a:r>
            <a:r>
              <a:rPr lang="en-US" altLang="zh-CN" sz="2800" dirty="0"/>
              <a:t>6.4</a:t>
            </a:r>
            <a:r>
              <a:rPr lang="zh-CN" altLang="en-US" sz="2800" dirty="0"/>
              <a:t>（</a:t>
            </a:r>
            <a:r>
              <a:rPr lang="en-US" altLang="zh-CN" sz="2800" dirty="0"/>
              <a:t>GPIO</a:t>
            </a:r>
            <a:r>
              <a:rPr lang="zh-CN" altLang="en-US" sz="2800" dirty="0"/>
              <a:t>寄存器部分）：</a:t>
            </a:r>
          </a:p>
        </p:txBody>
      </p:sp>
      <p:pic>
        <p:nvPicPr>
          <p:cNvPr id="4" name="图片 3"/>
          <p:cNvPicPr>
            <a:picLocks noChangeAspect="1"/>
          </p:cNvPicPr>
          <p:nvPr/>
        </p:nvPicPr>
        <p:blipFill>
          <a:blip r:embed="rId3" cstate="print"/>
          <a:stretch>
            <a:fillRect/>
          </a:stretch>
        </p:blipFill>
        <p:spPr>
          <a:xfrm>
            <a:off x="838200" y="2109787"/>
            <a:ext cx="7467600" cy="4467225"/>
          </a:xfrm>
          <a:prstGeom prst="rect">
            <a:avLst/>
          </a:prstGeom>
        </p:spPr>
      </p:pic>
    </p:spTree>
    <p:extLst>
      <p:ext uri="{BB962C8B-B14F-4D97-AF65-F5344CB8AC3E}">
        <p14:creationId xmlns:p14="http://schemas.microsoft.com/office/powerpoint/2010/main" val="1657756486"/>
      </p:ext>
    </p:extLst>
  </p:cSld>
  <p:clrMapOvr>
    <a:masterClrMapping/>
  </p:clrMapOvr>
  <p:transition>
    <p:cover dir="d"/>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嵌入式的</a:t>
            </a:r>
            <a:r>
              <a:rPr lang="en-US" altLang="zh-CN" dirty="0"/>
              <a:t>Hello World</a:t>
            </a:r>
            <a:endParaRPr lang="zh-CN" altLang="en-US" dirty="0"/>
          </a:p>
        </p:txBody>
      </p:sp>
      <p:pic>
        <p:nvPicPr>
          <p:cNvPr id="4" name="内容占位符 3"/>
          <p:cNvPicPr>
            <a:picLocks noGrp="1" noChangeAspect="1"/>
          </p:cNvPicPr>
          <p:nvPr>
            <p:ph idx="1"/>
          </p:nvPr>
        </p:nvPicPr>
        <p:blipFill>
          <a:blip r:embed="rId3" cstate="print"/>
          <a:stretch>
            <a:fillRect/>
          </a:stretch>
        </p:blipFill>
        <p:spPr>
          <a:xfrm>
            <a:off x="923925" y="1752600"/>
            <a:ext cx="7296150" cy="3324225"/>
          </a:xfrm>
          <a:prstGeom prst="rect">
            <a:avLst/>
          </a:prstGeom>
        </p:spPr>
      </p:pic>
      <p:sp>
        <p:nvSpPr>
          <p:cNvPr id="5" name="文本框 4"/>
          <p:cNvSpPr txBox="1"/>
          <p:nvPr/>
        </p:nvSpPr>
        <p:spPr>
          <a:xfrm>
            <a:off x="825500" y="5295900"/>
            <a:ext cx="7518400" cy="523220"/>
          </a:xfrm>
          <a:prstGeom prst="rect">
            <a:avLst/>
          </a:prstGeom>
          <a:noFill/>
        </p:spPr>
        <p:txBody>
          <a:bodyPr wrap="square" rtlCol="0">
            <a:spAutoFit/>
          </a:bodyPr>
          <a:lstStyle/>
          <a:p>
            <a:r>
              <a:rPr lang="zh-CN" altLang="en-US" sz="2800" dirty="0"/>
              <a:t>我们使用推挽输出模式，即</a:t>
            </a:r>
            <a:r>
              <a:rPr lang="en-US" altLang="zh-CN" sz="2800" dirty="0"/>
              <a:t>OT12</a:t>
            </a:r>
            <a:r>
              <a:rPr lang="zh-CN" altLang="en-US" sz="2800" dirty="0"/>
              <a:t>置为</a:t>
            </a:r>
            <a:r>
              <a:rPr lang="en-US" altLang="zh-CN" sz="2800" dirty="0"/>
              <a:t>0</a:t>
            </a:r>
            <a:r>
              <a:rPr lang="zh-CN" altLang="en-US" sz="2800" dirty="0"/>
              <a:t>。</a:t>
            </a:r>
          </a:p>
        </p:txBody>
      </p:sp>
    </p:spTree>
    <p:extLst>
      <p:ext uri="{BB962C8B-B14F-4D97-AF65-F5344CB8AC3E}">
        <p14:creationId xmlns:p14="http://schemas.microsoft.com/office/powerpoint/2010/main" val="1240650097"/>
      </p:ext>
    </p:extLst>
  </p:cSld>
  <p:clrMapOvr>
    <a:masterClrMapping/>
  </p:clrMapOvr>
  <p:transition>
    <p:cover dir="d"/>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嵌入式的</a:t>
            </a:r>
            <a:r>
              <a:rPr lang="en-US" altLang="zh-CN" dirty="0"/>
              <a:t>Hello World</a:t>
            </a:r>
            <a:endParaRPr lang="zh-CN" altLang="en-US" dirty="0"/>
          </a:p>
        </p:txBody>
      </p:sp>
      <p:pic>
        <p:nvPicPr>
          <p:cNvPr id="4" name="内容占位符 3"/>
          <p:cNvPicPr>
            <a:picLocks noGrp="1" noChangeAspect="1"/>
          </p:cNvPicPr>
          <p:nvPr>
            <p:ph idx="1"/>
          </p:nvPr>
        </p:nvPicPr>
        <p:blipFill>
          <a:blip r:embed="rId3" cstate="print"/>
          <a:stretch>
            <a:fillRect/>
          </a:stretch>
        </p:blipFill>
        <p:spPr>
          <a:xfrm>
            <a:off x="817689" y="1752600"/>
            <a:ext cx="7000622" cy="4114800"/>
          </a:xfrm>
          <a:prstGeom prst="rect">
            <a:avLst/>
          </a:prstGeom>
        </p:spPr>
      </p:pic>
    </p:spTree>
    <p:extLst>
      <p:ext uri="{BB962C8B-B14F-4D97-AF65-F5344CB8AC3E}">
        <p14:creationId xmlns:p14="http://schemas.microsoft.com/office/powerpoint/2010/main" val="2171418714"/>
      </p:ext>
    </p:extLst>
  </p:cSld>
  <p:clrMapOvr>
    <a:masterClrMapping/>
  </p:clrMapOvr>
  <p:transition>
    <p:cover dir="d"/>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嵌入式的</a:t>
            </a:r>
            <a:r>
              <a:rPr lang="en-US" altLang="zh-CN" dirty="0"/>
              <a:t>Hello World</a:t>
            </a:r>
            <a:endParaRPr lang="zh-CN" altLang="en-US" dirty="0"/>
          </a:p>
        </p:txBody>
      </p:sp>
      <p:pic>
        <p:nvPicPr>
          <p:cNvPr id="4" name="内容占位符 3"/>
          <p:cNvPicPr>
            <a:picLocks noGrp="1" noChangeAspect="1"/>
          </p:cNvPicPr>
          <p:nvPr>
            <p:ph idx="1"/>
          </p:nvPr>
        </p:nvPicPr>
        <p:blipFill>
          <a:blip r:embed="rId3" cstate="print"/>
          <a:stretch>
            <a:fillRect/>
          </a:stretch>
        </p:blipFill>
        <p:spPr>
          <a:xfrm>
            <a:off x="1114485" y="1663700"/>
            <a:ext cx="6737230" cy="4114800"/>
          </a:xfrm>
          <a:prstGeom prst="rect">
            <a:avLst/>
          </a:prstGeom>
        </p:spPr>
      </p:pic>
    </p:spTree>
    <p:extLst>
      <p:ext uri="{BB962C8B-B14F-4D97-AF65-F5344CB8AC3E}">
        <p14:creationId xmlns:p14="http://schemas.microsoft.com/office/powerpoint/2010/main" val="2883707791"/>
      </p:ext>
    </p:extLst>
  </p:cSld>
  <p:clrMapOvr>
    <a:masterClrMapping/>
  </p:clrMapOvr>
  <p:transition>
    <p:cover dir="d"/>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嵌入式的</a:t>
            </a:r>
            <a:r>
              <a:rPr lang="en-US" altLang="zh-CN" dirty="0"/>
              <a:t>Hello World</a:t>
            </a:r>
            <a:endParaRPr lang="zh-CN" altLang="en-US" dirty="0"/>
          </a:p>
        </p:txBody>
      </p:sp>
      <p:pic>
        <p:nvPicPr>
          <p:cNvPr id="4" name="内容占位符 3"/>
          <p:cNvPicPr>
            <a:picLocks noGrp="1" noChangeAspect="1"/>
          </p:cNvPicPr>
          <p:nvPr>
            <p:ph idx="1"/>
          </p:nvPr>
        </p:nvPicPr>
        <p:blipFill>
          <a:blip r:embed="rId2" cstate="print"/>
          <a:stretch>
            <a:fillRect/>
          </a:stretch>
        </p:blipFill>
        <p:spPr>
          <a:xfrm>
            <a:off x="871537" y="1698625"/>
            <a:ext cx="7400925" cy="3409950"/>
          </a:xfrm>
          <a:prstGeom prst="rect">
            <a:avLst/>
          </a:prstGeom>
        </p:spPr>
      </p:pic>
      <p:sp>
        <p:nvSpPr>
          <p:cNvPr id="5" name="文本框 4"/>
          <p:cNvSpPr txBox="1"/>
          <p:nvPr/>
        </p:nvSpPr>
        <p:spPr>
          <a:xfrm>
            <a:off x="871537" y="5283200"/>
            <a:ext cx="7675563" cy="954107"/>
          </a:xfrm>
          <a:prstGeom prst="rect">
            <a:avLst/>
          </a:prstGeom>
          <a:noFill/>
        </p:spPr>
        <p:txBody>
          <a:bodyPr wrap="square" rtlCol="0">
            <a:spAutoFit/>
          </a:bodyPr>
          <a:lstStyle/>
          <a:p>
            <a:r>
              <a:rPr lang="zh-CN" altLang="en-US" sz="2800" dirty="0"/>
              <a:t>我们只做输出用，所以不管输入寄存器。这里</a:t>
            </a:r>
            <a:r>
              <a:rPr lang="en-US" altLang="zh-CN" sz="2800" dirty="0"/>
              <a:t>ODR12</a:t>
            </a:r>
            <a:r>
              <a:rPr lang="zh-CN" altLang="en-US" sz="2800" dirty="0"/>
              <a:t>置为</a:t>
            </a:r>
            <a:r>
              <a:rPr lang="en-US" altLang="zh-CN" sz="2800" dirty="0"/>
              <a:t>1</a:t>
            </a:r>
            <a:r>
              <a:rPr lang="zh-CN" altLang="en-US" sz="2800" dirty="0"/>
              <a:t>即</a:t>
            </a:r>
            <a:r>
              <a:rPr lang="en-US" altLang="zh-CN" sz="2800" dirty="0"/>
              <a:t>12</a:t>
            </a:r>
            <a:r>
              <a:rPr lang="zh-CN" altLang="en-US" sz="2800" dirty="0"/>
              <a:t>号针脚输出高电平。</a:t>
            </a:r>
          </a:p>
        </p:txBody>
      </p:sp>
    </p:spTree>
    <p:extLst>
      <p:ext uri="{BB962C8B-B14F-4D97-AF65-F5344CB8AC3E}">
        <p14:creationId xmlns:p14="http://schemas.microsoft.com/office/powerpoint/2010/main" val="2363224944"/>
      </p:ext>
    </p:extLst>
  </p:cSld>
  <p:clrMapOvr>
    <a:masterClrMapping/>
  </p:clrMapOvr>
  <p:transition>
    <p:cover dir="d"/>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嵌入式的</a:t>
            </a:r>
            <a:r>
              <a:rPr lang="en-US" altLang="zh-CN" dirty="0"/>
              <a:t>Hello World</a:t>
            </a:r>
            <a:endParaRPr lang="zh-CN" altLang="en-US" dirty="0"/>
          </a:p>
        </p:txBody>
      </p:sp>
      <p:pic>
        <p:nvPicPr>
          <p:cNvPr id="4" name="内容占位符 3"/>
          <p:cNvPicPr>
            <a:picLocks noGrp="1" noChangeAspect="1"/>
          </p:cNvPicPr>
          <p:nvPr>
            <p:ph idx="1"/>
          </p:nvPr>
        </p:nvPicPr>
        <p:blipFill>
          <a:blip r:embed="rId2" cstate="print"/>
          <a:stretch>
            <a:fillRect/>
          </a:stretch>
        </p:blipFill>
        <p:spPr>
          <a:xfrm>
            <a:off x="806450" y="1752600"/>
            <a:ext cx="7353300" cy="2371725"/>
          </a:xfrm>
          <a:prstGeom prst="rect">
            <a:avLst/>
          </a:prstGeom>
        </p:spPr>
      </p:pic>
      <p:sp>
        <p:nvSpPr>
          <p:cNvPr id="5" name="文本框 4"/>
          <p:cNvSpPr txBox="1"/>
          <p:nvPr/>
        </p:nvSpPr>
        <p:spPr>
          <a:xfrm>
            <a:off x="901700" y="4457700"/>
            <a:ext cx="7258050" cy="954107"/>
          </a:xfrm>
          <a:prstGeom prst="rect">
            <a:avLst/>
          </a:prstGeom>
          <a:noFill/>
        </p:spPr>
        <p:txBody>
          <a:bodyPr wrap="square" rtlCol="0">
            <a:spAutoFit/>
          </a:bodyPr>
          <a:lstStyle/>
          <a:p>
            <a:r>
              <a:rPr lang="zh-CN" altLang="en-US" sz="2800" dirty="0"/>
              <a:t>然而</a:t>
            </a:r>
            <a:r>
              <a:rPr lang="en-US" altLang="zh-CN" sz="2800" dirty="0"/>
              <a:t>ODR</a:t>
            </a:r>
            <a:r>
              <a:rPr lang="zh-CN" altLang="en-US" sz="2800" dirty="0"/>
              <a:t>寄存器并不方便设置。通常使用</a:t>
            </a:r>
            <a:r>
              <a:rPr lang="en-US" altLang="zh-CN" sz="2800" dirty="0"/>
              <a:t>BSRR</a:t>
            </a:r>
            <a:r>
              <a:rPr lang="zh-CN" altLang="en-US" sz="2800" dirty="0"/>
              <a:t>寄存器设置高低电平。</a:t>
            </a:r>
          </a:p>
        </p:txBody>
      </p:sp>
    </p:spTree>
    <p:extLst>
      <p:ext uri="{BB962C8B-B14F-4D97-AF65-F5344CB8AC3E}">
        <p14:creationId xmlns:p14="http://schemas.microsoft.com/office/powerpoint/2010/main" val="607745082"/>
      </p:ext>
    </p:extLst>
  </p:cSld>
  <p:clrMapOvr>
    <a:masterClrMapping/>
  </p:clrMapOvr>
  <p:transition>
    <p:cover dir="d"/>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嵌入式的</a:t>
            </a:r>
            <a:r>
              <a:rPr lang="en-US" altLang="zh-CN" dirty="0"/>
              <a:t>Hello World</a:t>
            </a:r>
            <a:endParaRPr lang="zh-CN" altLang="en-US" dirty="0"/>
          </a:p>
        </p:txBody>
      </p:sp>
      <p:pic>
        <p:nvPicPr>
          <p:cNvPr id="4" name="内容占位符 3"/>
          <p:cNvPicPr>
            <a:picLocks noGrp="1" noChangeAspect="1"/>
          </p:cNvPicPr>
          <p:nvPr>
            <p:ph idx="1"/>
          </p:nvPr>
        </p:nvPicPr>
        <p:blipFill>
          <a:blip r:embed="rId2" cstate="print"/>
          <a:stretch>
            <a:fillRect/>
          </a:stretch>
        </p:blipFill>
        <p:spPr>
          <a:xfrm>
            <a:off x="685800" y="1660524"/>
            <a:ext cx="7658100" cy="2664629"/>
          </a:xfrm>
          <a:prstGeom prst="rect">
            <a:avLst/>
          </a:prstGeom>
        </p:spPr>
      </p:pic>
      <p:sp>
        <p:nvSpPr>
          <p:cNvPr id="5" name="文本框 4"/>
          <p:cNvSpPr txBox="1"/>
          <p:nvPr/>
        </p:nvSpPr>
        <p:spPr>
          <a:xfrm>
            <a:off x="787400" y="4686300"/>
            <a:ext cx="7442200" cy="954107"/>
          </a:xfrm>
          <a:prstGeom prst="rect">
            <a:avLst/>
          </a:prstGeom>
          <a:noFill/>
        </p:spPr>
        <p:txBody>
          <a:bodyPr wrap="square" rtlCol="0">
            <a:spAutoFit/>
          </a:bodyPr>
          <a:lstStyle/>
          <a:p>
            <a:r>
              <a:rPr lang="zh-CN" altLang="en-US" sz="2800" dirty="0"/>
              <a:t>因此</a:t>
            </a:r>
            <a:r>
              <a:rPr lang="en-US" altLang="zh-CN" sz="2800" dirty="0"/>
              <a:t>BS12</a:t>
            </a:r>
            <a:r>
              <a:rPr lang="zh-CN" altLang="en-US" sz="2800" dirty="0"/>
              <a:t>字段置为</a:t>
            </a:r>
            <a:r>
              <a:rPr lang="en-US" altLang="zh-CN" sz="2800" dirty="0"/>
              <a:t>1</a:t>
            </a:r>
            <a:r>
              <a:rPr lang="zh-CN" altLang="en-US" sz="2800" dirty="0"/>
              <a:t>则输出高电平，</a:t>
            </a:r>
            <a:r>
              <a:rPr lang="en-US" altLang="zh-CN" sz="2800" dirty="0"/>
              <a:t>BR12</a:t>
            </a:r>
            <a:r>
              <a:rPr lang="zh-CN" altLang="en-US" sz="2800" dirty="0"/>
              <a:t>字段置为</a:t>
            </a:r>
            <a:r>
              <a:rPr lang="en-US" altLang="zh-CN" sz="2800" dirty="0"/>
              <a:t>1</a:t>
            </a:r>
            <a:r>
              <a:rPr lang="zh-CN" altLang="en-US" sz="2800" dirty="0"/>
              <a:t>则输出低电平。</a:t>
            </a:r>
          </a:p>
        </p:txBody>
      </p:sp>
    </p:spTree>
    <p:extLst>
      <p:ext uri="{BB962C8B-B14F-4D97-AF65-F5344CB8AC3E}">
        <p14:creationId xmlns:p14="http://schemas.microsoft.com/office/powerpoint/2010/main" val="2813563829"/>
      </p:ext>
    </p:extLst>
  </p:cSld>
  <p:clrMapOvr>
    <a:masterClrMapping/>
  </p:clrMapOvr>
  <p:transition>
    <p:cover dir="d"/>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嵌入式的</a:t>
            </a:r>
            <a:r>
              <a:rPr lang="en-US" altLang="zh-CN" dirty="0"/>
              <a:t>Hello World</a:t>
            </a:r>
            <a:endParaRPr lang="zh-CN" altLang="en-US" dirty="0"/>
          </a:p>
        </p:txBody>
      </p:sp>
      <p:sp>
        <p:nvSpPr>
          <p:cNvPr id="3" name="内容占位符 2"/>
          <p:cNvSpPr>
            <a:spLocks noGrp="1"/>
          </p:cNvSpPr>
          <p:nvPr>
            <p:ph idx="1"/>
          </p:nvPr>
        </p:nvSpPr>
        <p:spPr/>
        <p:txBody>
          <a:bodyPr/>
          <a:lstStyle/>
          <a:p>
            <a:pPr marL="0" indent="0">
              <a:buNone/>
            </a:pPr>
            <a:r>
              <a:rPr lang="zh-CN" altLang="en-US" sz="2800" dirty="0"/>
              <a:t>那么点亮</a:t>
            </a:r>
            <a:r>
              <a:rPr lang="en-US" altLang="zh-CN" sz="2800" dirty="0"/>
              <a:t>LED</a:t>
            </a:r>
            <a:r>
              <a:rPr lang="zh-CN" altLang="en-US" sz="2800" dirty="0"/>
              <a:t>灯应该分为以下几步：</a:t>
            </a:r>
            <a:endParaRPr lang="en-US" altLang="zh-CN" sz="2800" dirty="0"/>
          </a:p>
          <a:p>
            <a:r>
              <a:rPr lang="en-US" altLang="zh-CN" sz="2800" dirty="0"/>
              <a:t>GPIOD</a:t>
            </a:r>
            <a:r>
              <a:rPr lang="zh-CN" altLang="en-US" sz="2800" dirty="0"/>
              <a:t>的时钟使能</a:t>
            </a:r>
            <a:endParaRPr lang="en-US" altLang="zh-CN" sz="2800" dirty="0"/>
          </a:p>
          <a:p>
            <a:r>
              <a:rPr lang="en-US" altLang="zh-CN" sz="2800" dirty="0"/>
              <a:t>MODER12</a:t>
            </a:r>
            <a:r>
              <a:rPr lang="zh-CN" altLang="en-US" sz="2800" dirty="0"/>
              <a:t>置为</a:t>
            </a:r>
            <a:r>
              <a:rPr lang="en-US" altLang="zh-CN" sz="2800" dirty="0"/>
              <a:t>01</a:t>
            </a:r>
            <a:r>
              <a:rPr lang="zh-CN" altLang="en-US" sz="2800" dirty="0"/>
              <a:t>，输出模式</a:t>
            </a:r>
            <a:endParaRPr lang="en-US" altLang="zh-CN" sz="2800" dirty="0"/>
          </a:p>
          <a:p>
            <a:r>
              <a:rPr lang="en-US" altLang="zh-CN" sz="2800" dirty="0"/>
              <a:t>OT12</a:t>
            </a:r>
            <a:r>
              <a:rPr lang="zh-CN" altLang="en-US" sz="2800" dirty="0"/>
              <a:t>置为</a:t>
            </a:r>
            <a:r>
              <a:rPr lang="en-US" altLang="zh-CN" sz="2800" dirty="0"/>
              <a:t>0</a:t>
            </a:r>
            <a:r>
              <a:rPr lang="zh-CN" altLang="en-US" sz="2800" dirty="0"/>
              <a:t>，推挽输出</a:t>
            </a:r>
            <a:endParaRPr lang="en-US" altLang="zh-CN" sz="2800" dirty="0"/>
          </a:p>
          <a:p>
            <a:r>
              <a:rPr lang="en-US" altLang="zh-CN" sz="2800" dirty="0"/>
              <a:t>OSPEEDR12</a:t>
            </a:r>
            <a:r>
              <a:rPr lang="zh-CN" altLang="en-US" sz="2800" dirty="0"/>
              <a:t>置为</a:t>
            </a:r>
            <a:r>
              <a:rPr lang="en-US" altLang="zh-CN" sz="2800" dirty="0"/>
              <a:t>11</a:t>
            </a:r>
            <a:r>
              <a:rPr lang="zh-CN" altLang="en-US" sz="2800" dirty="0"/>
              <a:t>，高速模式</a:t>
            </a:r>
            <a:endParaRPr lang="en-US" altLang="zh-CN" sz="2800" dirty="0"/>
          </a:p>
          <a:p>
            <a:r>
              <a:rPr lang="en-US" altLang="zh-CN" sz="2800" dirty="0"/>
              <a:t>PUPDR12</a:t>
            </a:r>
            <a:r>
              <a:rPr lang="zh-CN" altLang="en-US" sz="2800" dirty="0"/>
              <a:t>置为</a:t>
            </a:r>
            <a:r>
              <a:rPr lang="en-US" altLang="zh-CN" sz="2800" dirty="0"/>
              <a:t>00</a:t>
            </a:r>
            <a:r>
              <a:rPr lang="zh-CN" altLang="en-US" sz="2800" dirty="0"/>
              <a:t>，不上拉也不下拉</a:t>
            </a:r>
            <a:endParaRPr lang="en-US" altLang="zh-CN" sz="2800" dirty="0"/>
          </a:p>
          <a:p>
            <a:r>
              <a:rPr lang="en-US" altLang="zh-CN" sz="2800" dirty="0"/>
              <a:t>BS12</a:t>
            </a:r>
            <a:r>
              <a:rPr lang="zh-CN" altLang="en-US" sz="2800" dirty="0"/>
              <a:t>置为</a:t>
            </a:r>
            <a:r>
              <a:rPr lang="en-US" altLang="zh-CN" sz="2800" dirty="0"/>
              <a:t>1</a:t>
            </a:r>
            <a:r>
              <a:rPr lang="zh-CN" altLang="en-US" sz="2800" dirty="0"/>
              <a:t>，即</a:t>
            </a:r>
            <a:r>
              <a:rPr lang="en-US" altLang="zh-CN" sz="2800" dirty="0"/>
              <a:t>ODR12</a:t>
            </a:r>
            <a:r>
              <a:rPr lang="zh-CN" altLang="en-US" sz="2800" dirty="0"/>
              <a:t>置为</a:t>
            </a:r>
            <a:r>
              <a:rPr lang="en-US" altLang="zh-CN" sz="2800" dirty="0"/>
              <a:t>1</a:t>
            </a:r>
            <a:r>
              <a:rPr lang="zh-CN" altLang="en-US" sz="2800" dirty="0"/>
              <a:t>，输出高电平</a:t>
            </a:r>
            <a:endParaRPr lang="en-US" altLang="zh-CN" sz="2800" dirty="0"/>
          </a:p>
          <a:p>
            <a:pPr marL="0" indent="0">
              <a:buNone/>
            </a:pPr>
            <a:endParaRPr lang="zh-CN" altLang="en-US" sz="2800" dirty="0"/>
          </a:p>
        </p:txBody>
      </p:sp>
    </p:spTree>
    <p:extLst>
      <p:ext uri="{BB962C8B-B14F-4D97-AF65-F5344CB8AC3E}">
        <p14:creationId xmlns:p14="http://schemas.microsoft.com/office/powerpoint/2010/main" val="2989420105"/>
      </p:ext>
    </p:extLst>
  </p:cSld>
  <p:clrMapOvr>
    <a:masterClrMapping/>
  </p:clrMapOvr>
  <p:transition>
    <p:cover dir="d"/>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嵌入式的</a:t>
            </a:r>
            <a:r>
              <a:rPr lang="en-US" altLang="zh-CN" dirty="0"/>
              <a:t>Hello World</a:t>
            </a:r>
            <a:endParaRPr lang="zh-CN" altLang="en-US" dirty="0"/>
          </a:p>
        </p:txBody>
      </p:sp>
      <p:sp>
        <p:nvSpPr>
          <p:cNvPr id="3" name="内容占位符 2"/>
          <p:cNvSpPr>
            <a:spLocks noGrp="1"/>
          </p:cNvSpPr>
          <p:nvPr>
            <p:ph idx="1"/>
          </p:nvPr>
        </p:nvSpPr>
        <p:spPr/>
        <p:txBody>
          <a:bodyPr/>
          <a:lstStyle/>
          <a:p>
            <a:pPr marL="0" indent="0">
              <a:buNone/>
            </a:pPr>
            <a:r>
              <a:rPr lang="zh-CN" altLang="en-US" sz="2800" dirty="0"/>
              <a:t>对应的内存操作为：</a:t>
            </a:r>
            <a:endParaRPr lang="en-US" altLang="zh-CN" sz="2800" dirty="0"/>
          </a:p>
          <a:p>
            <a:pPr marL="0" indent="0">
              <a:buNone/>
            </a:pPr>
            <a:r>
              <a:rPr lang="zh-CN" altLang="en-US" sz="2800" dirty="0"/>
              <a:t>地址：</a:t>
            </a:r>
            <a:r>
              <a:rPr lang="en-US" altLang="zh-CN" sz="2800" dirty="0"/>
              <a:t> 0x4002 3830	</a:t>
            </a:r>
            <a:r>
              <a:rPr lang="zh-CN" altLang="en-US" sz="2800" dirty="0"/>
              <a:t>内容：</a:t>
            </a:r>
            <a:r>
              <a:rPr lang="en-US" altLang="zh-CN" sz="2800" dirty="0"/>
              <a:t> 0x0010 0008</a:t>
            </a:r>
          </a:p>
          <a:p>
            <a:pPr marL="0" indent="0">
              <a:buNone/>
            </a:pPr>
            <a:r>
              <a:rPr lang="zh-CN" altLang="en-US" sz="2800" dirty="0"/>
              <a:t>地址：</a:t>
            </a:r>
            <a:r>
              <a:rPr lang="en-US" altLang="zh-CN" sz="2800" dirty="0"/>
              <a:t> 0x4002 0C00	</a:t>
            </a:r>
            <a:r>
              <a:rPr lang="zh-CN" altLang="en-US" sz="2800" dirty="0"/>
              <a:t>内容：</a:t>
            </a:r>
            <a:r>
              <a:rPr lang="en-US" altLang="zh-CN" sz="2800" dirty="0"/>
              <a:t> 0x0000 0000</a:t>
            </a:r>
          </a:p>
          <a:p>
            <a:pPr marL="0" indent="0">
              <a:buNone/>
            </a:pPr>
            <a:r>
              <a:rPr lang="zh-CN" altLang="en-US" sz="2800" dirty="0"/>
              <a:t>地址：</a:t>
            </a:r>
            <a:r>
              <a:rPr lang="en-US" altLang="zh-CN" sz="2800" dirty="0"/>
              <a:t> 0x4002 0C04	</a:t>
            </a:r>
            <a:r>
              <a:rPr lang="zh-CN" altLang="en-US" sz="2800" dirty="0"/>
              <a:t>内容：</a:t>
            </a:r>
            <a:r>
              <a:rPr lang="en-US" altLang="zh-CN" sz="2800" dirty="0"/>
              <a:t> 0x0000 1000</a:t>
            </a:r>
          </a:p>
          <a:p>
            <a:pPr marL="0" indent="0">
              <a:buNone/>
            </a:pPr>
            <a:r>
              <a:rPr lang="zh-CN" altLang="en-US" sz="2800" dirty="0"/>
              <a:t>地址：</a:t>
            </a:r>
            <a:r>
              <a:rPr lang="en-US" altLang="zh-CN" sz="2800" dirty="0"/>
              <a:t> 0x4002 0C08	</a:t>
            </a:r>
            <a:r>
              <a:rPr lang="zh-CN" altLang="en-US" sz="2800" dirty="0"/>
              <a:t>内容：</a:t>
            </a:r>
            <a:r>
              <a:rPr lang="en-US" altLang="zh-CN" sz="2800" dirty="0"/>
              <a:t> 0x0300 0000</a:t>
            </a:r>
          </a:p>
          <a:p>
            <a:pPr marL="0" indent="0">
              <a:buNone/>
            </a:pPr>
            <a:r>
              <a:rPr lang="zh-CN" altLang="en-US" sz="2800" dirty="0"/>
              <a:t>地址：</a:t>
            </a:r>
            <a:r>
              <a:rPr lang="en-US" altLang="zh-CN" sz="2800" dirty="0"/>
              <a:t> 0x4002 0C0C	</a:t>
            </a:r>
            <a:r>
              <a:rPr lang="zh-CN" altLang="en-US" sz="2800" dirty="0"/>
              <a:t>内容：</a:t>
            </a:r>
            <a:r>
              <a:rPr lang="en-US" altLang="zh-CN" sz="2800" dirty="0"/>
              <a:t> 0x0000 0000</a:t>
            </a:r>
          </a:p>
          <a:p>
            <a:pPr marL="0" indent="0">
              <a:buNone/>
            </a:pPr>
            <a:r>
              <a:rPr lang="zh-CN" altLang="en-US" sz="2800" dirty="0"/>
              <a:t>地址：</a:t>
            </a:r>
            <a:r>
              <a:rPr lang="en-US" altLang="zh-CN" sz="2800" dirty="0"/>
              <a:t> 0x4002 0C18	</a:t>
            </a:r>
            <a:r>
              <a:rPr lang="zh-CN" altLang="en-US" sz="2800" dirty="0"/>
              <a:t>内容：</a:t>
            </a:r>
            <a:r>
              <a:rPr lang="en-US" altLang="zh-CN" sz="2800" dirty="0"/>
              <a:t> 0x0000 1000</a:t>
            </a:r>
          </a:p>
          <a:p>
            <a:pPr marL="0" indent="0">
              <a:buNone/>
            </a:pPr>
            <a:endParaRPr lang="en-US" altLang="zh-CN" sz="2800" dirty="0"/>
          </a:p>
          <a:p>
            <a:pPr marL="0" indent="0">
              <a:buNone/>
            </a:pPr>
            <a:endParaRPr lang="zh-CN" altLang="en-US" sz="2800" dirty="0"/>
          </a:p>
        </p:txBody>
      </p:sp>
    </p:spTree>
    <p:extLst>
      <p:ext uri="{BB962C8B-B14F-4D97-AF65-F5344CB8AC3E}">
        <p14:creationId xmlns:p14="http://schemas.microsoft.com/office/powerpoint/2010/main" val="1539974376"/>
      </p:ext>
    </p:extLst>
  </p:cSld>
  <p:clrMapOvr>
    <a:masterClrMapping/>
  </p:clrMapOvr>
  <p:transition>
    <p:cover dir="d"/>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嵌入式的</a:t>
            </a:r>
            <a:r>
              <a:rPr lang="en-US" altLang="zh-CN" dirty="0"/>
              <a:t>Hello World</a:t>
            </a:r>
            <a:endParaRPr lang="zh-CN" altLang="en-US" dirty="0"/>
          </a:p>
        </p:txBody>
      </p:sp>
      <p:pic>
        <p:nvPicPr>
          <p:cNvPr id="4" name="内容占位符 3"/>
          <p:cNvPicPr>
            <a:picLocks noGrp="1" noChangeAspect="1"/>
          </p:cNvPicPr>
          <p:nvPr>
            <p:ph idx="1"/>
          </p:nvPr>
        </p:nvPicPr>
        <p:blipFill>
          <a:blip r:embed="rId2" cstate="print"/>
          <a:stretch>
            <a:fillRect/>
          </a:stretch>
        </p:blipFill>
        <p:spPr>
          <a:xfrm>
            <a:off x="685800" y="1762225"/>
            <a:ext cx="4191000" cy="5089071"/>
          </a:xfrm>
          <a:prstGeom prst="rect">
            <a:avLst/>
          </a:prstGeom>
        </p:spPr>
      </p:pic>
      <p:sp>
        <p:nvSpPr>
          <p:cNvPr id="5" name="文本框 4"/>
          <p:cNvSpPr txBox="1"/>
          <p:nvPr/>
        </p:nvSpPr>
        <p:spPr>
          <a:xfrm>
            <a:off x="5168900" y="2587725"/>
            <a:ext cx="3835400" cy="1569660"/>
          </a:xfrm>
          <a:prstGeom prst="rect">
            <a:avLst/>
          </a:prstGeom>
          <a:noFill/>
        </p:spPr>
        <p:txBody>
          <a:bodyPr wrap="square" rtlCol="0">
            <a:spAutoFit/>
          </a:bodyPr>
          <a:lstStyle/>
          <a:p>
            <a:pPr algn="just"/>
            <a:r>
              <a:rPr lang="zh-CN" altLang="en-US" sz="3200" dirty="0"/>
              <a:t>具体代码可以写成这样。</a:t>
            </a:r>
            <a:endParaRPr lang="en-US" altLang="zh-CN" sz="3200" dirty="0"/>
          </a:p>
          <a:p>
            <a:pPr algn="just"/>
            <a:endParaRPr lang="zh-CN" altLang="en-US" sz="3200" dirty="0">
              <a:solidFill>
                <a:srgbClr val="FF0000"/>
              </a:solidFill>
            </a:endParaRPr>
          </a:p>
        </p:txBody>
      </p:sp>
    </p:spTree>
    <p:extLst>
      <p:ext uri="{BB962C8B-B14F-4D97-AF65-F5344CB8AC3E}">
        <p14:creationId xmlns:p14="http://schemas.microsoft.com/office/powerpoint/2010/main" val="4024918760"/>
      </p:ext>
    </p:extLst>
  </p:cSld>
  <p:clrMapOvr>
    <a:masterClrMapping/>
  </p:clrMapOvr>
  <p:transition>
    <p:cover dir="d"/>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嵌入式的</a:t>
            </a:r>
            <a:r>
              <a:rPr lang="en-US" altLang="zh-CN" dirty="0"/>
              <a:t>Hello World</a:t>
            </a:r>
            <a:endParaRPr lang="zh-CN" altLang="en-US" dirty="0"/>
          </a:p>
        </p:txBody>
      </p:sp>
      <p:sp>
        <p:nvSpPr>
          <p:cNvPr id="6" name="内容占位符 5"/>
          <p:cNvSpPr>
            <a:spLocks noGrp="1"/>
          </p:cNvSpPr>
          <p:nvPr>
            <p:ph idx="1"/>
          </p:nvPr>
        </p:nvSpPr>
        <p:spPr/>
        <p:txBody>
          <a:bodyPr/>
          <a:lstStyle/>
          <a:p>
            <a:r>
              <a:rPr lang="zh-CN" altLang="en-US" dirty="0"/>
              <a:t>代码写完后点击编译生成</a:t>
            </a:r>
            <a:r>
              <a:rPr lang="en-US" altLang="zh-CN" dirty="0"/>
              <a:t>.hex</a:t>
            </a:r>
            <a:r>
              <a:rPr lang="zh-CN" altLang="en-US" dirty="0"/>
              <a:t>文件</a:t>
            </a:r>
          </a:p>
        </p:txBody>
      </p:sp>
      <p:pic>
        <p:nvPicPr>
          <p:cNvPr id="1026" name="Picture 2"/>
          <p:cNvPicPr>
            <a:picLocks noChangeAspect="1" noChangeArrowheads="1"/>
          </p:cNvPicPr>
          <p:nvPr/>
        </p:nvPicPr>
        <p:blipFill>
          <a:blip r:embed="rId2" cstate="print"/>
          <a:srcRect/>
          <a:stretch>
            <a:fillRect/>
          </a:stretch>
        </p:blipFill>
        <p:spPr bwMode="auto">
          <a:xfrm>
            <a:off x="832533" y="2519735"/>
            <a:ext cx="6228024" cy="4338266"/>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7091403" y="2106593"/>
            <a:ext cx="1877240" cy="355500"/>
          </a:xfrm>
          <a:prstGeom prst="rect">
            <a:avLst/>
          </a:prstGeom>
          <a:noFill/>
          <a:ln w="9525">
            <a:noFill/>
            <a:miter lim="800000"/>
            <a:headEnd/>
            <a:tailEnd/>
          </a:ln>
        </p:spPr>
      </p:pic>
    </p:spTree>
    <p:extLst>
      <p:ext uri="{BB962C8B-B14F-4D97-AF65-F5344CB8AC3E}">
        <p14:creationId xmlns:p14="http://schemas.microsoft.com/office/powerpoint/2010/main" val="4024918760"/>
      </p:ext>
    </p:extLst>
  </p:cSld>
  <p:clrMapOvr>
    <a:masterClrMapping/>
  </p:clrMapOvr>
  <p:transition>
    <p:cover dir="d"/>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嵌入式的</a:t>
            </a:r>
            <a:r>
              <a:rPr lang="en-US" altLang="zh-CN" dirty="0"/>
              <a:t>Hello World</a:t>
            </a:r>
            <a:endParaRPr lang="zh-CN" altLang="en-US" dirty="0"/>
          </a:p>
        </p:txBody>
      </p:sp>
      <p:sp>
        <p:nvSpPr>
          <p:cNvPr id="6" name="内容占位符 5"/>
          <p:cNvSpPr>
            <a:spLocks noGrp="1"/>
          </p:cNvSpPr>
          <p:nvPr>
            <p:ph idx="1"/>
          </p:nvPr>
        </p:nvSpPr>
        <p:spPr/>
        <p:txBody>
          <a:bodyPr/>
          <a:lstStyle/>
          <a:p>
            <a:r>
              <a:rPr lang="zh-CN" altLang="en-US" dirty="0"/>
              <a:t>使用烧写程序</a:t>
            </a:r>
            <a:r>
              <a:rPr lang="en-US" altLang="zh-CN" dirty="0"/>
              <a:t>STM32CubeProgrammer</a:t>
            </a:r>
            <a:r>
              <a:rPr lang="zh-CN" altLang="en-US" dirty="0"/>
              <a:t>打开</a:t>
            </a:r>
            <a:r>
              <a:rPr lang="en-US" altLang="zh-CN" dirty="0"/>
              <a:t>.hex</a:t>
            </a:r>
            <a:r>
              <a:rPr lang="zh-CN" altLang="en-US" dirty="0"/>
              <a:t>文件</a:t>
            </a:r>
            <a:endParaRPr lang="en-US" altLang="zh-CN" dirty="0"/>
          </a:p>
          <a:p>
            <a:r>
              <a:rPr lang="zh-CN" altLang="en-US" dirty="0"/>
              <a:t>点击</a:t>
            </a:r>
            <a:r>
              <a:rPr lang="en-US" altLang="zh-CN" dirty="0"/>
              <a:t>Download</a:t>
            </a:r>
            <a:r>
              <a:rPr lang="zh-CN" altLang="en-US" dirty="0"/>
              <a:t>按钮将程序烧写到板子上</a:t>
            </a:r>
            <a:endParaRPr lang="en-US" altLang="zh-CN" dirty="0"/>
          </a:p>
          <a:p>
            <a:r>
              <a:rPr lang="zh-CN" altLang="en-US" dirty="0"/>
              <a:t>然后按下</a:t>
            </a:r>
            <a:r>
              <a:rPr lang="en-US" altLang="zh-CN" dirty="0"/>
              <a:t>reset</a:t>
            </a:r>
            <a:r>
              <a:rPr lang="zh-CN" altLang="en-US" dirty="0"/>
              <a:t>按钮</a:t>
            </a:r>
          </a:p>
        </p:txBody>
      </p:sp>
      <p:pic>
        <p:nvPicPr>
          <p:cNvPr id="2051" name="Picture 3"/>
          <p:cNvPicPr>
            <a:picLocks noChangeAspect="1" noChangeArrowheads="1"/>
          </p:cNvPicPr>
          <p:nvPr/>
        </p:nvPicPr>
        <p:blipFill>
          <a:blip r:embed="rId2" cstate="print"/>
          <a:srcRect/>
          <a:stretch>
            <a:fillRect/>
          </a:stretch>
        </p:blipFill>
        <p:spPr bwMode="auto">
          <a:xfrm>
            <a:off x="4595150" y="3827172"/>
            <a:ext cx="4271058" cy="2787760"/>
          </a:xfrm>
          <a:prstGeom prst="rect">
            <a:avLst/>
          </a:prstGeom>
          <a:noFill/>
          <a:ln w="9525">
            <a:noFill/>
            <a:miter lim="800000"/>
            <a:headEnd/>
            <a:tailEnd/>
          </a:ln>
        </p:spPr>
      </p:pic>
    </p:spTree>
    <p:extLst>
      <p:ext uri="{BB962C8B-B14F-4D97-AF65-F5344CB8AC3E}">
        <p14:creationId xmlns:p14="http://schemas.microsoft.com/office/powerpoint/2010/main" val="4024918760"/>
      </p:ext>
    </p:extLst>
  </p:cSld>
  <p:clrMapOvr>
    <a:masterClrMapping/>
  </p:clrMapOvr>
  <p:transition>
    <p:cover dir="d"/>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嵌入式的</a:t>
            </a:r>
            <a:r>
              <a:rPr lang="en-US" altLang="zh-CN" dirty="0"/>
              <a:t>Hello World</a:t>
            </a:r>
            <a:endParaRPr lang="zh-CN" altLang="en-US" dirty="0"/>
          </a:p>
        </p:txBody>
      </p:sp>
      <p:sp>
        <p:nvSpPr>
          <p:cNvPr id="6" name="内容占位符 5"/>
          <p:cNvSpPr>
            <a:spLocks noGrp="1"/>
          </p:cNvSpPr>
          <p:nvPr>
            <p:ph idx="1"/>
          </p:nvPr>
        </p:nvSpPr>
        <p:spPr/>
        <p:txBody>
          <a:bodyPr/>
          <a:lstStyle/>
          <a:p>
            <a:r>
              <a:rPr lang="zh-CN" altLang="en-US" dirty="0"/>
              <a:t>也可以使用</a:t>
            </a:r>
            <a:r>
              <a:rPr lang="en-US" altLang="zh-CN" dirty="0" err="1"/>
              <a:t>keil</a:t>
            </a:r>
            <a:r>
              <a:rPr lang="zh-CN" altLang="en-US" dirty="0"/>
              <a:t>烧写：点击</a:t>
            </a:r>
            <a:r>
              <a:rPr lang="en-US" altLang="zh-CN" dirty="0"/>
              <a:t>settings</a:t>
            </a:r>
          </a:p>
          <a:p>
            <a:endParaRPr lang="en-US" altLang="zh-CN" dirty="0"/>
          </a:p>
          <a:p>
            <a:endParaRPr lang="en-US" altLang="zh-CN" dirty="0"/>
          </a:p>
        </p:txBody>
      </p:sp>
      <p:pic>
        <p:nvPicPr>
          <p:cNvPr id="1027" name="Picture 3"/>
          <p:cNvPicPr>
            <a:picLocks noChangeAspect="1" noChangeArrowheads="1"/>
          </p:cNvPicPr>
          <p:nvPr/>
        </p:nvPicPr>
        <p:blipFill>
          <a:blip r:embed="rId2" cstate="print"/>
          <a:srcRect/>
          <a:stretch>
            <a:fillRect/>
          </a:stretch>
        </p:blipFill>
        <p:spPr bwMode="auto">
          <a:xfrm>
            <a:off x="1583583" y="2569577"/>
            <a:ext cx="6102008" cy="4137952"/>
          </a:xfrm>
          <a:prstGeom prst="rect">
            <a:avLst/>
          </a:prstGeom>
          <a:noFill/>
          <a:ln w="9525">
            <a:noFill/>
            <a:miter lim="800000"/>
            <a:headEnd/>
            <a:tailEnd/>
          </a:ln>
        </p:spPr>
      </p:pic>
    </p:spTree>
    <p:extLst>
      <p:ext uri="{BB962C8B-B14F-4D97-AF65-F5344CB8AC3E}">
        <p14:creationId xmlns:p14="http://schemas.microsoft.com/office/powerpoint/2010/main" val="4024918760"/>
      </p:ext>
    </p:extLst>
  </p:cSld>
  <p:clrMapOvr>
    <a:masterClrMapping/>
  </p:clrMapOvr>
  <p:transition>
    <p:cover dir="d"/>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嵌入式的</a:t>
            </a:r>
            <a:r>
              <a:rPr lang="en-US" altLang="zh-CN" dirty="0"/>
              <a:t>Hello World</a:t>
            </a:r>
            <a:endParaRPr lang="zh-CN" altLang="en-US" dirty="0"/>
          </a:p>
        </p:txBody>
      </p:sp>
      <p:sp>
        <p:nvSpPr>
          <p:cNvPr id="6" name="内容占位符 5"/>
          <p:cNvSpPr>
            <a:spLocks noGrp="1"/>
          </p:cNvSpPr>
          <p:nvPr>
            <p:ph idx="1"/>
          </p:nvPr>
        </p:nvSpPr>
        <p:spPr/>
        <p:txBody>
          <a:bodyPr/>
          <a:lstStyle/>
          <a:p>
            <a:r>
              <a:rPr lang="zh-CN" altLang="en-US" dirty="0"/>
              <a:t>在</a:t>
            </a:r>
            <a:r>
              <a:rPr lang="en-US" altLang="zh-CN" dirty="0"/>
              <a:t>flash and download</a:t>
            </a:r>
            <a:r>
              <a:rPr lang="zh-CN" altLang="en-US" dirty="0"/>
              <a:t>选项下勾选</a:t>
            </a:r>
            <a:r>
              <a:rPr lang="en-US" altLang="zh-CN" dirty="0"/>
              <a:t>reset and run</a:t>
            </a:r>
          </a:p>
          <a:p>
            <a:endParaRPr lang="en-US" altLang="zh-CN" dirty="0"/>
          </a:p>
        </p:txBody>
      </p:sp>
      <p:pic>
        <p:nvPicPr>
          <p:cNvPr id="2050" name="Picture 2"/>
          <p:cNvPicPr>
            <a:picLocks noChangeAspect="1" noChangeArrowheads="1"/>
          </p:cNvPicPr>
          <p:nvPr/>
        </p:nvPicPr>
        <p:blipFill>
          <a:blip r:embed="rId2" cstate="print"/>
          <a:srcRect/>
          <a:stretch>
            <a:fillRect/>
          </a:stretch>
        </p:blipFill>
        <p:spPr bwMode="auto">
          <a:xfrm>
            <a:off x="2039856" y="2643369"/>
            <a:ext cx="6386513" cy="3886200"/>
          </a:xfrm>
          <a:prstGeom prst="rect">
            <a:avLst/>
          </a:prstGeom>
          <a:noFill/>
          <a:ln w="9525">
            <a:noFill/>
            <a:miter lim="800000"/>
            <a:headEnd/>
            <a:tailEnd/>
          </a:ln>
        </p:spPr>
      </p:pic>
    </p:spTree>
    <p:extLst>
      <p:ext uri="{BB962C8B-B14F-4D97-AF65-F5344CB8AC3E}">
        <p14:creationId xmlns:p14="http://schemas.microsoft.com/office/powerpoint/2010/main" val="4024918760"/>
      </p:ext>
    </p:extLst>
  </p:cSld>
  <p:clrMapOvr>
    <a:masterClrMapping/>
  </p:clrMapOvr>
  <p:transition>
    <p:cover dir="d"/>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嵌入式的</a:t>
            </a:r>
            <a:r>
              <a:rPr lang="en-US" altLang="zh-CN" dirty="0"/>
              <a:t>Hello World</a:t>
            </a:r>
            <a:endParaRPr lang="zh-CN" altLang="en-US" dirty="0"/>
          </a:p>
        </p:txBody>
      </p:sp>
      <p:sp>
        <p:nvSpPr>
          <p:cNvPr id="6" name="内容占位符 5"/>
          <p:cNvSpPr>
            <a:spLocks noGrp="1"/>
          </p:cNvSpPr>
          <p:nvPr>
            <p:ph idx="1"/>
          </p:nvPr>
        </p:nvSpPr>
        <p:spPr/>
        <p:txBody>
          <a:bodyPr/>
          <a:lstStyle/>
          <a:p>
            <a:r>
              <a:rPr lang="zh-CN" altLang="en-US" dirty="0"/>
              <a:t>点击主界面的</a:t>
            </a:r>
            <a:r>
              <a:rPr lang="en-US" altLang="zh-CN" dirty="0"/>
              <a:t>Download</a:t>
            </a:r>
            <a:r>
              <a:rPr lang="zh-CN" altLang="en-US" dirty="0"/>
              <a:t>按钮即可</a:t>
            </a:r>
            <a:endParaRPr lang="en-US" altLang="zh-CN" dirty="0"/>
          </a:p>
          <a:p>
            <a:endParaRPr lang="en-US" altLang="zh-CN" dirty="0"/>
          </a:p>
        </p:txBody>
      </p:sp>
      <p:pic>
        <p:nvPicPr>
          <p:cNvPr id="3074" name="Picture 2"/>
          <p:cNvPicPr>
            <a:picLocks noChangeAspect="1" noChangeArrowheads="1"/>
          </p:cNvPicPr>
          <p:nvPr/>
        </p:nvPicPr>
        <p:blipFill>
          <a:blip r:embed="rId2" cstate="print"/>
          <a:srcRect/>
          <a:stretch>
            <a:fillRect/>
          </a:stretch>
        </p:blipFill>
        <p:spPr bwMode="auto">
          <a:xfrm>
            <a:off x="1565758" y="2987735"/>
            <a:ext cx="6222793" cy="1781034"/>
          </a:xfrm>
          <a:prstGeom prst="rect">
            <a:avLst/>
          </a:prstGeom>
          <a:noFill/>
          <a:ln w="9525">
            <a:noFill/>
            <a:miter lim="800000"/>
            <a:headEnd/>
            <a:tailEnd/>
          </a:ln>
        </p:spPr>
      </p:pic>
    </p:spTree>
    <p:extLst>
      <p:ext uri="{BB962C8B-B14F-4D97-AF65-F5344CB8AC3E}">
        <p14:creationId xmlns:p14="http://schemas.microsoft.com/office/powerpoint/2010/main" val="4024918760"/>
      </p:ext>
    </p:extLst>
  </p:cSld>
  <p:clrMapOvr>
    <a:masterClrMapping/>
  </p:clrMapOvr>
  <p:transition>
    <p:cover dir="d"/>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outerShdw blurRad="38100" dist="38100" dir="2700000" algn="tl">
                <a:srgbClr val="000000">
                  <a:alpha val="43137"/>
                </a:srgbClr>
              </a:outerShdw>
            </a:effectLst>
            <a:latin typeface="Times New Roman" pitchFamily="18" charset="0"/>
            <a:ea typeface="楷体"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outerShdw blurRad="38100" dist="38100" dir="2700000" algn="tl">
                <a:srgbClr val="000000">
                  <a:alpha val="43137"/>
                </a:srgbClr>
              </a:outerShdw>
            </a:effectLst>
            <a:latin typeface="Times New Roman" pitchFamily="18" charset="0"/>
            <a:ea typeface="楷体"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2824</TotalTime>
  <Words>2111</Words>
  <Application>Microsoft Office PowerPoint</Application>
  <PresentationFormat>全屏显示(4:3)</PresentationFormat>
  <Paragraphs>235</Paragraphs>
  <Slides>85</Slides>
  <Notes>10</Notes>
  <HiddenSlides>0</HiddenSlides>
  <MMClips>0</MMClips>
  <ScaleCrop>false</ScaleCrop>
  <HeadingPairs>
    <vt:vector size="6" baseType="variant">
      <vt:variant>
        <vt:lpstr>已用的字体</vt:lpstr>
      </vt:variant>
      <vt:variant>
        <vt:i4>4</vt:i4>
      </vt:variant>
      <vt:variant>
        <vt:lpstr>主题</vt:lpstr>
      </vt:variant>
      <vt:variant>
        <vt:i4>2</vt:i4>
      </vt:variant>
      <vt:variant>
        <vt:lpstr>幻灯片标题</vt:lpstr>
      </vt:variant>
      <vt:variant>
        <vt:i4>85</vt:i4>
      </vt:variant>
    </vt:vector>
  </HeadingPairs>
  <TitlesOfParts>
    <vt:vector size="91" baseType="lpstr">
      <vt:lpstr>Arial</vt:lpstr>
      <vt:lpstr>Calibri</vt:lpstr>
      <vt:lpstr>Calibri Light</vt:lpstr>
      <vt:lpstr>Times New Roman</vt:lpstr>
      <vt:lpstr>Office 主题</vt:lpstr>
      <vt:lpstr>1_默认设计模板</vt:lpstr>
      <vt:lpstr>嵌入式系统课程实验</vt:lpstr>
      <vt:lpstr>实验内容</vt:lpstr>
      <vt:lpstr>了解开发板</vt:lpstr>
      <vt:lpstr>了解开发板</vt:lpstr>
      <vt:lpstr>了解开发板</vt:lpstr>
      <vt:lpstr>Keil MDK简介</vt:lpstr>
      <vt:lpstr>MDK5组成</vt:lpstr>
      <vt:lpstr>μVision IDE </vt:lpstr>
      <vt:lpstr>μVision IDE特性 </vt:lpstr>
      <vt:lpstr>μVision IDE特性 </vt:lpstr>
      <vt:lpstr>μVision IDE调试窗口组成 </vt:lpstr>
      <vt:lpstr>安装Keil</vt:lpstr>
      <vt:lpstr>安装Keil</vt:lpstr>
      <vt:lpstr>安装Keil</vt:lpstr>
      <vt:lpstr>安装Keil兼容包</vt:lpstr>
      <vt:lpstr>安装烧写程序</vt:lpstr>
      <vt:lpstr>安装烧写程序</vt:lpstr>
      <vt:lpstr>安装烧写程序</vt:lpstr>
      <vt:lpstr>新建工程</vt:lpstr>
      <vt:lpstr>新建工程</vt:lpstr>
      <vt:lpstr>新建工程</vt:lpstr>
      <vt:lpstr>新建工程</vt:lpstr>
      <vt:lpstr>新建工程</vt:lpstr>
      <vt:lpstr>新建工程</vt:lpstr>
      <vt:lpstr>新建工程</vt:lpstr>
      <vt:lpstr>新建工程</vt:lpstr>
      <vt:lpstr>新建工程</vt:lpstr>
      <vt:lpstr>新建工程</vt:lpstr>
      <vt:lpstr>新建工程</vt:lpstr>
      <vt:lpstr>新建工程</vt:lpstr>
      <vt:lpstr>新建工程</vt:lpstr>
      <vt:lpstr>新建工程</vt:lpstr>
      <vt:lpstr>新建工程</vt:lpstr>
      <vt:lpstr>新建工程</vt:lpstr>
      <vt:lpstr>新建工程</vt:lpstr>
      <vt:lpstr>新建工程</vt:lpstr>
      <vt:lpstr>新建工程</vt:lpstr>
      <vt:lpstr>新建工程</vt:lpstr>
      <vt:lpstr>新建工程</vt:lpstr>
      <vt:lpstr>新建工程</vt:lpstr>
      <vt:lpstr>新建工程</vt:lpstr>
      <vt:lpstr>新建工程</vt:lpstr>
      <vt:lpstr>新建工程</vt:lpstr>
      <vt:lpstr>新建工程</vt:lpstr>
      <vt:lpstr>新建工程</vt:lpstr>
      <vt:lpstr>新建工程</vt:lpstr>
      <vt:lpstr>新建工程</vt:lpstr>
      <vt:lpstr>新建工程</vt:lpstr>
      <vt:lpstr>新建工程</vt:lpstr>
      <vt:lpstr>新建工程</vt:lpstr>
      <vt:lpstr>新建工程</vt:lpstr>
      <vt:lpstr>新建工程</vt:lpstr>
      <vt:lpstr>新建工程</vt:lpstr>
      <vt:lpstr>新建工程</vt:lpstr>
      <vt:lpstr>新建工程</vt:lpstr>
      <vt:lpstr>新建工程</vt:lpstr>
      <vt:lpstr>嵌入式的Hello World</vt:lpstr>
      <vt:lpstr>嵌入式的Hello World</vt:lpstr>
      <vt:lpstr>嵌入式的Hello World</vt:lpstr>
      <vt:lpstr>嵌入式的Hello World</vt:lpstr>
      <vt:lpstr>嵌入式的Hello World</vt:lpstr>
      <vt:lpstr>嵌入式的Hello World</vt:lpstr>
      <vt:lpstr>嵌入式的Hello World</vt:lpstr>
      <vt:lpstr>嵌入式的Hello World</vt:lpstr>
      <vt:lpstr>嵌入式的Hello World</vt:lpstr>
      <vt:lpstr>嵌入式的Hello World</vt:lpstr>
      <vt:lpstr>嵌入式的Hello World</vt:lpstr>
      <vt:lpstr>嵌入式的Hello World</vt:lpstr>
      <vt:lpstr>嵌入式的Hello World</vt:lpstr>
      <vt:lpstr>嵌入式的Hello World</vt:lpstr>
      <vt:lpstr>嵌入式的Hello World</vt:lpstr>
      <vt:lpstr>嵌入式的Hello World</vt:lpstr>
      <vt:lpstr>嵌入式的Hello World</vt:lpstr>
      <vt:lpstr>嵌入式的Hello World</vt:lpstr>
      <vt:lpstr>嵌入式的Hello World</vt:lpstr>
      <vt:lpstr>嵌入式的Hello World</vt:lpstr>
      <vt:lpstr>嵌入式的Hello World</vt:lpstr>
      <vt:lpstr>嵌入式的Hello World</vt:lpstr>
      <vt:lpstr>嵌入式的Hello World</vt:lpstr>
      <vt:lpstr>嵌入式的Hello World</vt:lpstr>
      <vt:lpstr>嵌入式的Hello World</vt:lpstr>
      <vt:lpstr>嵌入式的Hello World</vt:lpstr>
      <vt:lpstr>嵌入式的Hello World</vt:lpstr>
      <vt:lpstr>嵌入式的Hello World</vt:lpstr>
      <vt:lpstr>嵌入式的Hello World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数据存储</dc:title>
  <dc:creator>徐贤</dc:creator>
  <cp:lastModifiedBy>Administrator</cp:lastModifiedBy>
  <cp:revision>560</cp:revision>
  <dcterms:created xsi:type="dcterms:W3CDTF">2015-12-07T05:24:44Z</dcterms:created>
  <dcterms:modified xsi:type="dcterms:W3CDTF">2021-11-23T05:48:30Z</dcterms:modified>
</cp:coreProperties>
</file>