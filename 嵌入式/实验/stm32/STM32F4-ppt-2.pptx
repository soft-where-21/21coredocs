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94" r:id="rId2"/>
    <p:sldId id="549" r:id="rId3"/>
    <p:sldId id="5315" r:id="rId4"/>
    <p:sldId id="5316" r:id="rId5"/>
    <p:sldId id="5317" r:id="rId6"/>
    <p:sldId id="5318" r:id="rId7"/>
    <p:sldId id="5319" r:id="rId8"/>
    <p:sldId id="5320" r:id="rId9"/>
    <p:sldId id="5322" r:id="rId10"/>
    <p:sldId id="5323" r:id="rId11"/>
    <p:sldId id="5324" r:id="rId12"/>
    <p:sldId id="5325" r:id="rId13"/>
    <p:sldId id="5326" r:id="rId14"/>
    <p:sldId id="5327" r:id="rId15"/>
    <p:sldId id="5328" r:id="rId16"/>
    <p:sldId id="5329" r:id="rId17"/>
    <p:sldId id="5330" r:id="rId18"/>
    <p:sldId id="5331" r:id="rId19"/>
    <p:sldId id="5332" r:id="rId20"/>
    <p:sldId id="5333" r:id="rId21"/>
    <p:sldId id="5334" r:id="rId22"/>
    <p:sldId id="5339" r:id="rId23"/>
    <p:sldId id="5340" r:id="rId24"/>
    <p:sldId id="5347" r:id="rId25"/>
    <p:sldId id="5348" r:id="rId26"/>
    <p:sldId id="5349" r:id="rId27"/>
    <p:sldId id="5350" r:id="rId28"/>
    <p:sldId id="5351" r:id="rId29"/>
    <p:sldId id="5352" r:id="rId30"/>
    <p:sldId id="5353" r:id="rId31"/>
    <p:sldId id="5354" r:id="rId32"/>
    <p:sldId id="5379" r:id="rId33"/>
    <p:sldId id="5380"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37" autoAdjust="0"/>
    <p:restoredTop sz="94660"/>
  </p:normalViewPr>
  <p:slideViewPr>
    <p:cSldViewPr snapToGrid="0">
      <p:cViewPr varScale="1">
        <p:scale>
          <a:sx n="94" d="100"/>
          <a:sy n="94" d="100"/>
        </p:scale>
        <p:origin x="448"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FB67A2-5F22-41EB-97AE-77B82A4A4B49}" type="datetimeFigureOut">
              <a:rPr lang="zh-CN" altLang="en-US" smtClean="0"/>
              <a:t>2022/11/22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31B62D-0039-40C5-B7C1-15C8C3F63315}" type="slidenum">
              <a:rPr lang="zh-CN" altLang="en-US" smtClean="0"/>
              <a:t>‹#›</a:t>
            </a:fld>
            <a:endParaRPr lang="zh-CN" altLang="en-US"/>
          </a:p>
        </p:txBody>
      </p:sp>
    </p:spTree>
    <p:extLst>
      <p:ext uri="{BB962C8B-B14F-4D97-AF65-F5344CB8AC3E}">
        <p14:creationId xmlns:p14="http://schemas.microsoft.com/office/powerpoint/2010/main" val="4145110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9</a:t>
            </a:fld>
            <a:endParaRPr lang="zh-CN" altLang="en-US"/>
          </a:p>
        </p:txBody>
      </p:sp>
    </p:spTree>
    <p:extLst>
      <p:ext uri="{BB962C8B-B14F-4D97-AF65-F5344CB8AC3E}">
        <p14:creationId xmlns:p14="http://schemas.microsoft.com/office/powerpoint/2010/main" val="1036358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10</a:t>
            </a:fld>
            <a:endParaRPr lang="zh-CN" altLang="en-US"/>
          </a:p>
        </p:txBody>
      </p:sp>
    </p:spTree>
    <p:extLst>
      <p:ext uri="{BB962C8B-B14F-4D97-AF65-F5344CB8AC3E}">
        <p14:creationId xmlns:p14="http://schemas.microsoft.com/office/powerpoint/2010/main" val="646342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11</a:t>
            </a:fld>
            <a:endParaRPr lang="zh-CN" altLang="en-US"/>
          </a:p>
        </p:txBody>
      </p:sp>
    </p:spTree>
    <p:extLst>
      <p:ext uri="{BB962C8B-B14F-4D97-AF65-F5344CB8AC3E}">
        <p14:creationId xmlns:p14="http://schemas.microsoft.com/office/powerpoint/2010/main" val="3093666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12</a:t>
            </a:fld>
            <a:endParaRPr lang="zh-CN" altLang="en-US"/>
          </a:p>
        </p:txBody>
      </p:sp>
    </p:spTree>
    <p:extLst>
      <p:ext uri="{BB962C8B-B14F-4D97-AF65-F5344CB8AC3E}">
        <p14:creationId xmlns:p14="http://schemas.microsoft.com/office/powerpoint/2010/main" val="1958297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13</a:t>
            </a:fld>
            <a:endParaRPr lang="zh-CN" altLang="en-US"/>
          </a:p>
        </p:txBody>
      </p:sp>
    </p:spTree>
    <p:extLst>
      <p:ext uri="{BB962C8B-B14F-4D97-AF65-F5344CB8AC3E}">
        <p14:creationId xmlns:p14="http://schemas.microsoft.com/office/powerpoint/2010/main" val="2104668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14</a:t>
            </a:fld>
            <a:endParaRPr lang="zh-CN" altLang="en-US"/>
          </a:p>
        </p:txBody>
      </p:sp>
    </p:spTree>
    <p:extLst>
      <p:ext uri="{BB962C8B-B14F-4D97-AF65-F5344CB8AC3E}">
        <p14:creationId xmlns:p14="http://schemas.microsoft.com/office/powerpoint/2010/main" val="3812643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15</a:t>
            </a:fld>
            <a:endParaRPr lang="zh-CN" altLang="en-US"/>
          </a:p>
        </p:txBody>
      </p:sp>
    </p:spTree>
    <p:extLst>
      <p:ext uri="{BB962C8B-B14F-4D97-AF65-F5344CB8AC3E}">
        <p14:creationId xmlns:p14="http://schemas.microsoft.com/office/powerpoint/2010/main" val="20951307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16</a:t>
            </a:fld>
            <a:endParaRPr lang="zh-CN" altLang="en-US"/>
          </a:p>
        </p:txBody>
      </p:sp>
    </p:spTree>
    <p:extLst>
      <p:ext uri="{BB962C8B-B14F-4D97-AF65-F5344CB8AC3E}">
        <p14:creationId xmlns:p14="http://schemas.microsoft.com/office/powerpoint/2010/main" val="5562163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17</a:t>
            </a:fld>
            <a:endParaRPr lang="zh-CN" altLang="en-US"/>
          </a:p>
        </p:txBody>
      </p:sp>
    </p:spTree>
    <p:extLst>
      <p:ext uri="{BB962C8B-B14F-4D97-AF65-F5344CB8AC3E}">
        <p14:creationId xmlns:p14="http://schemas.microsoft.com/office/powerpoint/2010/main" val="1648541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18</a:t>
            </a:fld>
            <a:endParaRPr lang="zh-CN" altLang="en-US"/>
          </a:p>
        </p:txBody>
      </p:sp>
    </p:spTree>
    <p:extLst>
      <p:ext uri="{BB962C8B-B14F-4D97-AF65-F5344CB8AC3E}">
        <p14:creationId xmlns:p14="http://schemas.microsoft.com/office/powerpoint/2010/main" val="1072644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19</a:t>
            </a:fld>
            <a:endParaRPr lang="zh-CN" altLang="en-US"/>
          </a:p>
        </p:txBody>
      </p:sp>
    </p:spTree>
    <p:extLst>
      <p:ext uri="{BB962C8B-B14F-4D97-AF65-F5344CB8AC3E}">
        <p14:creationId xmlns:p14="http://schemas.microsoft.com/office/powerpoint/2010/main" val="41079023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20</a:t>
            </a:fld>
            <a:endParaRPr lang="zh-CN" altLang="en-US"/>
          </a:p>
        </p:txBody>
      </p:sp>
    </p:spTree>
    <p:extLst>
      <p:ext uri="{BB962C8B-B14F-4D97-AF65-F5344CB8AC3E}">
        <p14:creationId xmlns:p14="http://schemas.microsoft.com/office/powerpoint/2010/main" val="29853333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21</a:t>
            </a:fld>
            <a:endParaRPr lang="zh-CN" altLang="en-US"/>
          </a:p>
        </p:txBody>
      </p:sp>
    </p:spTree>
    <p:extLst>
      <p:ext uri="{BB962C8B-B14F-4D97-AF65-F5344CB8AC3E}">
        <p14:creationId xmlns:p14="http://schemas.microsoft.com/office/powerpoint/2010/main" val="31238380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22</a:t>
            </a:fld>
            <a:endParaRPr lang="zh-CN" altLang="en-US"/>
          </a:p>
        </p:txBody>
      </p:sp>
    </p:spTree>
    <p:extLst>
      <p:ext uri="{BB962C8B-B14F-4D97-AF65-F5344CB8AC3E}">
        <p14:creationId xmlns:p14="http://schemas.microsoft.com/office/powerpoint/2010/main" val="10046594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23</a:t>
            </a:fld>
            <a:endParaRPr lang="zh-CN" altLang="en-US"/>
          </a:p>
        </p:txBody>
      </p:sp>
    </p:spTree>
    <p:extLst>
      <p:ext uri="{BB962C8B-B14F-4D97-AF65-F5344CB8AC3E}">
        <p14:creationId xmlns:p14="http://schemas.microsoft.com/office/powerpoint/2010/main" val="27297085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24</a:t>
            </a:fld>
            <a:endParaRPr lang="zh-CN" altLang="en-US"/>
          </a:p>
        </p:txBody>
      </p:sp>
    </p:spTree>
    <p:extLst>
      <p:ext uri="{BB962C8B-B14F-4D97-AF65-F5344CB8AC3E}">
        <p14:creationId xmlns:p14="http://schemas.microsoft.com/office/powerpoint/2010/main" val="35042681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25</a:t>
            </a:fld>
            <a:endParaRPr lang="zh-CN" altLang="en-US"/>
          </a:p>
        </p:txBody>
      </p:sp>
    </p:spTree>
    <p:extLst>
      <p:ext uri="{BB962C8B-B14F-4D97-AF65-F5344CB8AC3E}">
        <p14:creationId xmlns:p14="http://schemas.microsoft.com/office/powerpoint/2010/main" val="12398638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26</a:t>
            </a:fld>
            <a:endParaRPr lang="zh-CN" altLang="en-US"/>
          </a:p>
        </p:txBody>
      </p:sp>
    </p:spTree>
    <p:extLst>
      <p:ext uri="{BB962C8B-B14F-4D97-AF65-F5344CB8AC3E}">
        <p14:creationId xmlns:p14="http://schemas.microsoft.com/office/powerpoint/2010/main" val="30654862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27</a:t>
            </a:fld>
            <a:endParaRPr lang="zh-CN" altLang="en-US"/>
          </a:p>
        </p:txBody>
      </p:sp>
    </p:spTree>
    <p:extLst>
      <p:ext uri="{BB962C8B-B14F-4D97-AF65-F5344CB8AC3E}">
        <p14:creationId xmlns:p14="http://schemas.microsoft.com/office/powerpoint/2010/main" val="14536106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28</a:t>
            </a:fld>
            <a:endParaRPr lang="zh-CN" altLang="en-US"/>
          </a:p>
        </p:txBody>
      </p:sp>
    </p:spTree>
    <p:extLst>
      <p:ext uri="{BB962C8B-B14F-4D97-AF65-F5344CB8AC3E}">
        <p14:creationId xmlns:p14="http://schemas.microsoft.com/office/powerpoint/2010/main" val="40482875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29</a:t>
            </a:fld>
            <a:endParaRPr lang="zh-CN" altLang="en-US"/>
          </a:p>
        </p:txBody>
      </p:sp>
    </p:spTree>
    <p:extLst>
      <p:ext uri="{BB962C8B-B14F-4D97-AF65-F5344CB8AC3E}">
        <p14:creationId xmlns:p14="http://schemas.microsoft.com/office/powerpoint/2010/main" val="30819404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31B62D-0039-40C5-B7C1-15C8C3F63315}" type="slidenum">
              <a:rPr lang="zh-CN" altLang="en-US" smtClean="0"/>
              <a:t>33</a:t>
            </a:fld>
            <a:endParaRPr lang="zh-CN" altLang="en-US"/>
          </a:p>
        </p:txBody>
      </p:sp>
    </p:spTree>
    <p:extLst>
      <p:ext uri="{BB962C8B-B14F-4D97-AF65-F5344CB8AC3E}">
        <p14:creationId xmlns:p14="http://schemas.microsoft.com/office/powerpoint/2010/main" val="3872308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98DADB-24D1-4D42-B92C-64F11E0A1CC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D528E19-8339-4C66-B413-A9CFFE311C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DB24E47-E1A4-411E-AB87-FCA95E73B1AF}"/>
              </a:ext>
            </a:extLst>
          </p:cNvPr>
          <p:cNvSpPr>
            <a:spLocks noGrp="1"/>
          </p:cNvSpPr>
          <p:nvPr>
            <p:ph type="dt" sz="half" idx="10"/>
          </p:nvPr>
        </p:nvSpPr>
        <p:spPr/>
        <p:txBody>
          <a:bodyPr/>
          <a:lstStyle/>
          <a:p>
            <a:fld id="{3F37A8F8-99AA-40B7-A783-2495BA48047C}" type="datetime1">
              <a:rPr lang="zh-CN" altLang="en-US" smtClean="0"/>
              <a:t>2022/11/22</a:t>
            </a:fld>
            <a:endParaRPr lang="zh-CN" altLang="en-US"/>
          </a:p>
        </p:txBody>
      </p:sp>
      <p:sp>
        <p:nvSpPr>
          <p:cNvPr id="5" name="页脚占位符 4">
            <a:extLst>
              <a:ext uri="{FF2B5EF4-FFF2-40B4-BE49-F238E27FC236}">
                <a16:creationId xmlns:a16="http://schemas.microsoft.com/office/drawing/2014/main" id="{D944BCB9-DE08-4D4E-B0D5-1F02D6E2A60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35EE645-E6F4-41EF-B8AC-92E141276020}"/>
              </a:ext>
            </a:extLst>
          </p:cNvPr>
          <p:cNvSpPr>
            <a:spLocks noGrp="1"/>
          </p:cNvSpPr>
          <p:nvPr>
            <p:ph type="sldNum" sz="quarter" idx="12"/>
          </p:nvPr>
        </p:nvSpPr>
        <p:spPr/>
        <p:txBody>
          <a:bodyPr/>
          <a:lstStyle/>
          <a:p>
            <a:fld id="{223FAEE7-31C4-4651-8074-E84314A39F13}" type="slidenum">
              <a:rPr lang="zh-CN" altLang="en-US" smtClean="0"/>
              <a:t>‹#›</a:t>
            </a:fld>
            <a:endParaRPr lang="zh-CN" altLang="en-US"/>
          </a:p>
        </p:txBody>
      </p:sp>
    </p:spTree>
    <p:extLst>
      <p:ext uri="{BB962C8B-B14F-4D97-AF65-F5344CB8AC3E}">
        <p14:creationId xmlns:p14="http://schemas.microsoft.com/office/powerpoint/2010/main" val="1564607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C88A1A-950E-4128-BEB9-12ACDBB038C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62D02AF-C859-4E10-9F17-8235D2A3E9F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0BC8F31-020E-41CA-A8D7-5F512B792526}"/>
              </a:ext>
            </a:extLst>
          </p:cNvPr>
          <p:cNvSpPr>
            <a:spLocks noGrp="1"/>
          </p:cNvSpPr>
          <p:nvPr>
            <p:ph type="dt" sz="half" idx="10"/>
          </p:nvPr>
        </p:nvSpPr>
        <p:spPr/>
        <p:txBody>
          <a:bodyPr/>
          <a:lstStyle/>
          <a:p>
            <a:fld id="{8C1868BE-073F-4214-BBA6-F010A6D21D48}" type="datetime1">
              <a:rPr lang="zh-CN" altLang="en-US" smtClean="0"/>
              <a:t>2022/11/22</a:t>
            </a:fld>
            <a:endParaRPr lang="zh-CN" altLang="en-US"/>
          </a:p>
        </p:txBody>
      </p:sp>
      <p:sp>
        <p:nvSpPr>
          <p:cNvPr id="5" name="页脚占位符 4">
            <a:extLst>
              <a:ext uri="{FF2B5EF4-FFF2-40B4-BE49-F238E27FC236}">
                <a16:creationId xmlns:a16="http://schemas.microsoft.com/office/drawing/2014/main" id="{00247612-124A-4ABC-9A39-FFC69DB17D3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4B75910-2620-4D8C-9568-C565ADDA8DE4}"/>
              </a:ext>
            </a:extLst>
          </p:cNvPr>
          <p:cNvSpPr>
            <a:spLocks noGrp="1"/>
          </p:cNvSpPr>
          <p:nvPr>
            <p:ph type="sldNum" sz="quarter" idx="12"/>
          </p:nvPr>
        </p:nvSpPr>
        <p:spPr/>
        <p:txBody>
          <a:bodyPr/>
          <a:lstStyle/>
          <a:p>
            <a:fld id="{223FAEE7-31C4-4651-8074-E84314A39F13}" type="slidenum">
              <a:rPr lang="zh-CN" altLang="en-US" smtClean="0"/>
              <a:t>‹#›</a:t>
            </a:fld>
            <a:endParaRPr lang="zh-CN" altLang="en-US"/>
          </a:p>
        </p:txBody>
      </p:sp>
    </p:spTree>
    <p:extLst>
      <p:ext uri="{BB962C8B-B14F-4D97-AF65-F5344CB8AC3E}">
        <p14:creationId xmlns:p14="http://schemas.microsoft.com/office/powerpoint/2010/main" val="2054072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62F1EC-E137-4EF5-89FA-FF7017B0321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56D15C3-C57C-4DD9-B5A8-D87ABDC5588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9FC1C19-A222-40F3-9798-4B25BB375332}"/>
              </a:ext>
            </a:extLst>
          </p:cNvPr>
          <p:cNvSpPr>
            <a:spLocks noGrp="1"/>
          </p:cNvSpPr>
          <p:nvPr>
            <p:ph type="dt" sz="half" idx="10"/>
          </p:nvPr>
        </p:nvSpPr>
        <p:spPr/>
        <p:txBody>
          <a:bodyPr/>
          <a:lstStyle/>
          <a:p>
            <a:fld id="{033C60AD-2B73-4460-BC9A-FA7AF1151A65}" type="datetime1">
              <a:rPr lang="zh-CN" altLang="en-US" smtClean="0"/>
              <a:t>2022/11/22</a:t>
            </a:fld>
            <a:endParaRPr lang="zh-CN" altLang="en-US"/>
          </a:p>
        </p:txBody>
      </p:sp>
      <p:sp>
        <p:nvSpPr>
          <p:cNvPr id="5" name="页脚占位符 4">
            <a:extLst>
              <a:ext uri="{FF2B5EF4-FFF2-40B4-BE49-F238E27FC236}">
                <a16:creationId xmlns:a16="http://schemas.microsoft.com/office/drawing/2014/main" id="{A378DA54-A380-43B3-A299-6880CFF288A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E1E75F-CCC9-46F2-8FB9-E6CB33B2B03F}"/>
              </a:ext>
            </a:extLst>
          </p:cNvPr>
          <p:cNvSpPr>
            <a:spLocks noGrp="1"/>
          </p:cNvSpPr>
          <p:nvPr>
            <p:ph type="sldNum" sz="quarter" idx="12"/>
          </p:nvPr>
        </p:nvSpPr>
        <p:spPr/>
        <p:txBody>
          <a:bodyPr/>
          <a:lstStyle/>
          <a:p>
            <a:fld id="{223FAEE7-31C4-4651-8074-E84314A39F13}" type="slidenum">
              <a:rPr lang="zh-CN" altLang="en-US" smtClean="0"/>
              <a:t>‹#›</a:t>
            </a:fld>
            <a:endParaRPr lang="zh-CN" altLang="en-US"/>
          </a:p>
        </p:txBody>
      </p:sp>
    </p:spTree>
    <p:extLst>
      <p:ext uri="{BB962C8B-B14F-4D97-AF65-F5344CB8AC3E}">
        <p14:creationId xmlns:p14="http://schemas.microsoft.com/office/powerpoint/2010/main" val="1605866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82C1E1-A2BB-4FB5-BC78-1D32B1C0F64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EFDCE91-B955-4826-9BD2-E98FBA320D1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7CDEAD9-663E-44F8-A838-C33BE0BD36F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82AC295-AD82-4C86-891B-58A4F0267303}"/>
              </a:ext>
            </a:extLst>
          </p:cNvPr>
          <p:cNvSpPr>
            <a:spLocks noGrp="1"/>
          </p:cNvSpPr>
          <p:nvPr>
            <p:ph type="dt" sz="half" idx="10"/>
          </p:nvPr>
        </p:nvSpPr>
        <p:spPr/>
        <p:txBody>
          <a:bodyPr/>
          <a:lstStyle/>
          <a:p>
            <a:fld id="{356BE094-0100-4692-BFE8-D2B6196DBE4E}" type="datetime1">
              <a:rPr lang="zh-CN" altLang="en-US" smtClean="0"/>
              <a:t>2022/11/22</a:t>
            </a:fld>
            <a:endParaRPr lang="zh-CN" altLang="en-US"/>
          </a:p>
        </p:txBody>
      </p:sp>
      <p:sp>
        <p:nvSpPr>
          <p:cNvPr id="6" name="页脚占位符 5">
            <a:extLst>
              <a:ext uri="{FF2B5EF4-FFF2-40B4-BE49-F238E27FC236}">
                <a16:creationId xmlns:a16="http://schemas.microsoft.com/office/drawing/2014/main" id="{CBD93D4E-A033-4D7C-9945-DC1C77593F5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B477F63-D946-4B16-96A0-341090F5B780}"/>
              </a:ext>
            </a:extLst>
          </p:cNvPr>
          <p:cNvSpPr>
            <a:spLocks noGrp="1"/>
          </p:cNvSpPr>
          <p:nvPr>
            <p:ph type="sldNum" sz="quarter" idx="12"/>
          </p:nvPr>
        </p:nvSpPr>
        <p:spPr/>
        <p:txBody>
          <a:bodyPr/>
          <a:lstStyle/>
          <a:p>
            <a:fld id="{223FAEE7-31C4-4651-8074-E84314A39F13}" type="slidenum">
              <a:rPr lang="zh-CN" altLang="en-US" smtClean="0"/>
              <a:t>‹#›</a:t>
            </a:fld>
            <a:endParaRPr lang="zh-CN" altLang="en-US"/>
          </a:p>
        </p:txBody>
      </p:sp>
    </p:spTree>
    <p:extLst>
      <p:ext uri="{BB962C8B-B14F-4D97-AF65-F5344CB8AC3E}">
        <p14:creationId xmlns:p14="http://schemas.microsoft.com/office/powerpoint/2010/main" val="1092813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8DA4F9-29C6-4178-AC78-4D04C0A4274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4ED87B2-BA72-4363-A54A-DF93825F79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DBFE16F-296C-40BE-8EE3-3C20092A104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79B0027-DED3-4B2C-A85D-90EEC46004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999DA55-7C20-4732-B437-A4CA69A9A5B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7B4E0EA-E820-4B57-9831-2A47F061141F}"/>
              </a:ext>
            </a:extLst>
          </p:cNvPr>
          <p:cNvSpPr>
            <a:spLocks noGrp="1"/>
          </p:cNvSpPr>
          <p:nvPr>
            <p:ph type="dt" sz="half" idx="10"/>
          </p:nvPr>
        </p:nvSpPr>
        <p:spPr/>
        <p:txBody>
          <a:bodyPr/>
          <a:lstStyle/>
          <a:p>
            <a:fld id="{1A7205AB-1A87-455D-AAA9-E5DD6C48E60C}" type="datetime1">
              <a:rPr lang="zh-CN" altLang="en-US" smtClean="0"/>
              <a:t>2022/11/22</a:t>
            </a:fld>
            <a:endParaRPr lang="zh-CN" altLang="en-US"/>
          </a:p>
        </p:txBody>
      </p:sp>
      <p:sp>
        <p:nvSpPr>
          <p:cNvPr id="8" name="页脚占位符 7">
            <a:extLst>
              <a:ext uri="{FF2B5EF4-FFF2-40B4-BE49-F238E27FC236}">
                <a16:creationId xmlns:a16="http://schemas.microsoft.com/office/drawing/2014/main" id="{79A453B5-2904-4E7F-922C-E5BD3599515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8B049F6-91F8-41BF-A765-9A1C331A2C8E}"/>
              </a:ext>
            </a:extLst>
          </p:cNvPr>
          <p:cNvSpPr>
            <a:spLocks noGrp="1"/>
          </p:cNvSpPr>
          <p:nvPr>
            <p:ph type="sldNum" sz="quarter" idx="12"/>
          </p:nvPr>
        </p:nvSpPr>
        <p:spPr/>
        <p:txBody>
          <a:bodyPr/>
          <a:lstStyle/>
          <a:p>
            <a:fld id="{223FAEE7-31C4-4651-8074-E84314A39F13}" type="slidenum">
              <a:rPr lang="zh-CN" altLang="en-US" smtClean="0"/>
              <a:t>‹#›</a:t>
            </a:fld>
            <a:endParaRPr lang="zh-CN" altLang="en-US"/>
          </a:p>
        </p:txBody>
      </p:sp>
    </p:spTree>
    <p:extLst>
      <p:ext uri="{BB962C8B-B14F-4D97-AF65-F5344CB8AC3E}">
        <p14:creationId xmlns:p14="http://schemas.microsoft.com/office/powerpoint/2010/main" val="701392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65BC4F-D275-4E0F-9751-D55839FDCB2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D6B3F5A-EB1C-47C0-B4F6-28BB9387B923}"/>
              </a:ext>
            </a:extLst>
          </p:cNvPr>
          <p:cNvSpPr>
            <a:spLocks noGrp="1"/>
          </p:cNvSpPr>
          <p:nvPr>
            <p:ph type="dt" sz="half" idx="10"/>
          </p:nvPr>
        </p:nvSpPr>
        <p:spPr/>
        <p:txBody>
          <a:bodyPr/>
          <a:lstStyle/>
          <a:p>
            <a:fld id="{681B8E8D-1FF5-4A39-A051-A7836A07CA28}" type="datetime1">
              <a:rPr lang="zh-CN" altLang="en-US" smtClean="0"/>
              <a:t>2022/11/22</a:t>
            </a:fld>
            <a:endParaRPr lang="zh-CN" altLang="en-US"/>
          </a:p>
        </p:txBody>
      </p:sp>
      <p:sp>
        <p:nvSpPr>
          <p:cNvPr id="4" name="页脚占位符 3">
            <a:extLst>
              <a:ext uri="{FF2B5EF4-FFF2-40B4-BE49-F238E27FC236}">
                <a16:creationId xmlns:a16="http://schemas.microsoft.com/office/drawing/2014/main" id="{28EEE7A9-7ECE-4B54-B98E-A289B7E9E4A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2D41295-BC48-4C64-9886-2603815007B5}"/>
              </a:ext>
            </a:extLst>
          </p:cNvPr>
          <p:cNvSpPr>
            <a:spLocks noGrp="1"/>
          </p:cNvSpPr>
          <p:nvPr>
            <p:ph type="sldNum" sz="quarter" idx="12"/>
          </p:nvPr>
        </p:nvSpPr>
        <p:spPr/>
        <p:txBody>
          <a:bodyPr/>
          <a:lstStyle/>
          <a:p>
            <a:fld id="{223FAEE7-31C4-4651-8074-E84314A39F13}" type="slidenum">
              <a:rPr lang="zh-CN" altLang="en-US" smtClean="0"/>
              <a:t>‹#›</a:t>
            </a:fld>
            <a:endParaRPr lang="zh-CN" altLang="en-US"/>
          </a:p>
        </p:txBody>
      </p:sp>
    </p:spTree>
    <p:extLst>
      <p:ext uri="{BB962C8B-B14F-4D97-AF65-F5344CB8AC3E}">
        <p14:creationId xmlns:p14="http://schemas.microsoft.com/office/powerpoint/2010/main" val="1918626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FDCDC14-BDA2-426F-87F1-A364B5A4F5C7}"/>
              </a:ext>
            </a:extLst>
          </p:cNvPr>
          <p:cNvSpPr>
            <a:spLocks noGrp="1"/>
          </p:cNvSpPr>
          <p:nvPr>
            <p:ph type="dt" sz="half" idx="10"/>
          </p:nvPr>
        </p:nvSpPr>
        <p:spPr/>
        <p:txBody>
          <a:bodyPr/>
          <a:lstStyle/>
          <a:p>
            <a:fld id="{76C5106E-157D-4D1C-90A0-CDBEB5BCCFE2}" type="datetime1">
              <a:rPr lang="zh-CN" altLang="en-US" smtClean="0"/>
              <a:t>2022/11/22</a:t>
            </a:fld>
            <a:endParaRPr lang="zh-CN" altLang="en-US"/>
          </a:p>
        </p:txBody>
      </p:sp>
      <p:sp>
        <p:nvSpPr>
          <p:cNvPr id="3" name="页脚占位符 2">
            <a:extLst>
              <a:ext uri="{FF2B5EF4-FFF2-40B4-BE49-F238E27FC236}">
                <a16:creationId xmlns:a16="http://schemas.microsoft.com/office/drawing/2014/main" id="{0E75E331-8F04-4918-85C4-62B7AF7D7C0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451E509-FC2F-42FC-B38E-B08F257A8585}"/>
              </a:ext>
            </a:extLst>
          </p:cNvPr>
          <p:cNvSpPr>
            <a:spLocks noGrp="1"/>
          </p:cNvSpPr>
          <p:nvPr>
            <p:ph type="sldNum" sz="quarter" idx="12"/>
          </p:nvPr>
        </p:nvSpPr>
        <p:spPr/>
        <p:txBody>
          <a:bodyPr/>
          <a:lstStyle/>
          <a:p>
            <a:fld id="{223FAEE7-31C4-4651-8074-E84314A39F13}" type="slidenum">
              <a:rPr lang="zh-CN" altLang="en-US" smtClean="0"/>
              <a:t>‹#›</a:t>
            </a:fld>
            <a:endParaRPr lang="zh-CN" altLang="en-US"/>
          </a:p>
        </p:txBody>
      </p:sp>
    </p:spTree>
    <p:extLst>
      <p:ext uri="{BB962C8B-B14F-4D97-AF65-F5344CB8AC3E}">
        <p14:creationId xmlns:p14="http://schemas.microsoft.com/office/powerpoint/2010/main" val="690318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168A14-7EFD-4CF2-B819-2747DEF6F43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237DBDA-7B49-4F18-AE0C-C9E2E81B5A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D149FD3-B2D9-41E2-9309-A6C9806C9C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FFDAC11-1304-4665-A5D3-5BD3D3A60D58}"/>
              </a:ext>
            </a:extLst>
          </p:cNvPr>
          <p:cNvSpPr>
            <a:spLocks noGrp="1"/>
          </p:cNvSpPr>
          <p:nvPr>
            <p:ph type="dt" sz="half" idx="10"/>
          </p:nvPr>
        </p:nvSpPr>
        <p:spPr/>
        <p:txBody>
          <a:bodyPr/>
          <a:lstStyle/>
          <a:p>
            <a:fld id="{BEA53FDC-198D-4874-B274-1291812A9DC7}" type="datetime1">
              <a:rPr lang="zh-CN" altLang="en-US" smtClean="0"/>
              <a:t>2022/11/22</a:t>
            </a:fld>
            <a:endParaRPr lang="zh-CN" altLang="en-US"/>
          </a:p>
        </p:txBody>
      </p:sp>
      <p:sp>
        <p:nvSpPr>
          <p:cNvPr id="6" name="页脚占位符 5">
            <a:extLst>
              <a:ext uri="{FF2B5EF4-FFF2-40B4-BE49-F238E27FC236}">
                <a16:creationId xmlns:a16="http://schemas.microsoft.com/office/drawing/2014/main" id="{7FCE017D-44AE-4C31-A5BD-7ECD76EF1EB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C025B7-091A-4940-AA30-FA2BB6C9558D}"/>
              </a:ext>
            </a:extLst>
          </p:cNvPr>
          <p:cNvSpPr>
            <a:spLocks noGrp="1"/>
          </p:cNvSpPr>
          <p:nvPr>
            <p:ph type="sldNum" sz="quarter" idx="12"/>
          </p:nvPr>
        </p:nvSpPr>
        <p:spPr/>
        <p:txBody>
          <a:bodyPr/>
          <a:lstStyle/>
          <a:p>
            <a:fld id="{223FAEE7-31C4-4651-8074-E84314A39F13}" type="slidenum">
              <a:rPr lang="zh-CN" altLang="en-US" smtClean="0"/>
              <a:t>‹#›</a:t>
            </a:fld>
            <a:endParaRPr lang="zh-CN" altLang="en-US"/>
          </a:p>
        </p:txBody>
      </p:sp>
    </p:spTree>
    <p:extLst>
      <p:ext uri="{BB962C8B-B14F-4D97-AF65-F5344CB8AC3E}">
        <p14:creationId xmlns:p14="http://schemas.microsoft.com/office/powerpoint/2010/main" val="2199108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14FA9-4A4F-4A1D-963F-855D63A47D3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1141530-F524-46C1-A343-120BA6FC51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0D7CB57-0A8C-4357-A1DD-C33917F88B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449E5AD-7207-4C56-83BB-9C314F5E047B}"/>
              </a:ext>
            </a:extLst>
          </p:cNvPr>
          <p:cNvSpPr>
            <a:spLocks noGrp="1"/>
          </p:cNvSpPr>
          <p:nvPr>
            <p:ph type="dt" sz="half" idx="10"/>
          </p:nvPr>
        </p:nvSpPr>
        <p:spPr/>
        <p:txBody>
          <a:bodyPr/>
          <a:lstStyle/>
          <a:p>
            <a:fld id="{A4944CF8-EFDD-4B9B-BE4E-E8774C007DF8}" type="datetime1">
              <a:rPr lang="zh-CN" altLang="en-US" smtClean="0"/>
              <a:t>2022/11/22</a:t>
            </a:fld>
            <a:endParaRPr lang="zh-CN" altLang="en-US"/>
          </a:p>
        </p:txBody>
      </p:sp>
      <p:sp>
        <p:nvSpPr>
          <p:cNvPr id="6" name="页脚占位符 5">
            <a:extLst>
              <a:ext uri="{FF2B5EF4-FFF2-40B4-BE49-F238E27FC236}">
                <a16:creationId xmlns:a16="http://schemas.microsoft.com/office/drawing/2014/main" id="{E418F796-1063-4E4B-81EC-9A174A8B81D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0020EE7-7B86-44E0-A765-49FDF6ADCEDF}"/>
              </a:ext>
            </a:extLst>
          </p:cNvPr>
          <p:cNvSpPr>
            <a:spLocks noGrp="1"/>
          </p:cNvSpPr>
          <p:nvPr>
            <p:ph type="sldNum" sz="quarter" idx="12"/>
          </p:nvPr>
        </p:nvSpPr>
        <p:spPr/>
        <p:txBody>
          <a:bodyPr/>
          <a:lstStyle/>
          <a:p>
            <a:fld id="{223FAEE7-31C4-4651-8074-E84314A39F13}" type="slidenum">
              <a:rPr lang="zh-CN" altLang="en-US" smtClean="0"/>
              <a:t>‹#›</a:t>
            </a:fld>
            <a:endParaRPr lang="zh-CN" altLang="en-US"/>
          </a:p>
        </p:txBody>
      </p:sp>
    </p:spTree>
    <p:extLst>
      <p:ext uri="{BB962C8B-B14F-4D97-AF65-F5344CB8AC3E}">
        <p14:creationId xmlns:p14="http://schemas.microsoft.com/office/powerpoint/2010/main" val="2869688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C25755-B6AC-46C3-83D1-CF2E46EE376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7A5E038-DE98-4E1E-AD5B-61BF538A44D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3D82FEA-46C0-4355-A880-B5AB3F6EE703}"/>
              </a:ext>
            </a:extLst>
          </p:cNvPr>
          <p:cNvSpPr>
            <a:spLocks noGrp="1"/>
          </p:cNvSpPr>
          <p:nvPr>
            <p:ph type="dt" sz="half" idx="10"/>
          </p:nvPr>
        </p:nvSpPr>
        <p:spPr/>
        <p:txBody>
          <a:bodyPr/>
          <a:lstStyle/>
          <a:p>
            <a:fld id="{676F4CC1-6099-420B-B27A-575C9D33DA31}" type="datetime1">
              <a:rPr lang="zh-CN" altLang="en-US" smtClean="0"/>
              <a:t>2022/11/22</a:t>
            </a:fld>
            <a:endParaRPr lang="zh-CN" altLang="en-US"/>
          </a:p>
        </p:txBody>
      </p:sp>
      <p:sp>
        <p:nvSpPr>
          <p:cNvPr id="5" name="页脚占位符 4">
            <a:extLst>
              <a:ext uri="{FF2B5EF4-FFF2-40B4-BE49-F238E27FC236}">
                <a16:creationId xmlns:a16="http://schemas.microsoft.com/office/drawing/2014/main" id="{39B65A19-D891-43ED-B249-FFB7A315AEB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6A6639C-59F6-4977-82E6-6F5F9D66C6A0}"/>
              </a:ext>
            </a:extLst>
          </p:cNvPr>
          <p:cNvSpPr>
            <a:spLocks noGrp="1"/>
          </p:cNvSpPr>
          <p:nvPr>
            <p:ph type="sldNum" sz="quarter" idx="12"/>
          </p:nvPr>
        </p:nvSpPr>
        <p:spPr/>
        <p:txBody>
          <a:bodyPr/>
          <a:lstStyle/>
          <a:p>
            <a:fld id="{223FAEE7-31C4-4651-8074-E84314A39F13}" type="slidenum">
              <a:rPr lang="zh-CN" altLang="en-US" smtClean="0"/>
              <a:t>‹#›</a:t>
            </a:fld>
            <a:endParaRPr lang="zh-CN" altLang="en-US"/>
          </a:p>
        </p:txBody>
      </p:sp>
    </p:spTree>
    <p:extLst>
      <p:ext uri="{BB962C8B-B14F-4D97-AF65-F5344CB8AC3E}">
        <p14:creationId xmlns:p14="http://schemas.microsoft.com/office/powerpoint/2010/main" val="727456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D6AC94A-5094-4776-B040-89BD9FBDE39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817682E-98E5-4C9C-9DC3-3226B7B6987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477BD1-F76A-42DA-AB2C-DB4E361AF1F9}"/>
              </a:ext>
            </a:extLst>
          </p:cNvPr>
          <p:cNvSpPr>
            <a:spLocks noGrp="1"/>
          </p:cNvSpPr>
          <p:nvPr>
            <p:ph type="dt" sz="half" idx="10"/>
          </p:nvPr>
        </p:nvSpPr>
        <p:spPr/>
        <p:txBody>
          <a:bodyPr/>
          <a:lstStyle/>
          <a:p>
            <a:fld id="{7F91F971-273E-4682-B6BB-B009CFF3BD25}" type="datetime1">
              <a:rPr lang="zh-CN" altLang="en-US" smtClean="0"/>
              <a:t>2022/11/22</a:t>
            </a:fld>
            <a:endParaRPr lang="zh-CN" altLang="en-US"/>
          </a:p>
        </p:txBody>
      </p:sp>
      <p:sp>
        <p:nvSpPr>
          <p:cNvPr id="5" name="页脚占位符 4">
            <a:extLst>
              <a:ext uri="{FF2B5EF4-FFF2-40B4-BE49-F238E27FC236}">
                <a16:creationId xmlns:a16="http://schemas.microsoft.com/office/drawing/2014/main" id="{1FA5C914-0F0E-4130-8426-B25CF75C12B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DA7A6FA-BE7F-43BC-97DD-C3C02D919ABD}"/>
              </a:ext>
            </a:extLst>
          </p:cNvPr>
          <p:cNvSpPr>
            <a:spLocks noGrp="1"/>
          </p:cNvSpPr>
          <p:nvPr>
            <p:ph type="sldNum" sz="quarter" idx="12"/>
          </p:nvPr>
        </p:nvSpPr>
        <p:spPr/>
        <p:txBody>
          <a:bodyPr/>
          <a:lstStyle/>
          <a:p>
            <a:fld id="{223FAEE7-31C4-4651-8074-E84314A39F13}" type="slidenum">
              <a:rPr lang="zh-CN" altLang="en-US" smtClean="0"/>
              <a:t>‹#›</a:t>
            </a:fld>
            <a:endParaRPr lang="zh-CN" altLang="en-US"/>
          </a:p>
        </p:txBody>
      </p:sp>
    </p:spTree>
    <p:extLst>
      <p:ext uri="{BB962C8B-B14F-4D97-AF65-F5344CB8AC3E}">
        <p14:creationId xmlns:p14="http://schemas.microsoft.com/office/powerpoint/2010/main" val="653216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1A0B10D-77D4-44B2-A25B-5979E9957A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A219166-0438-4E22-9083-9E71F4D80D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3560F71-04DA-4D48-A53A-273AAD3252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E9569C-D521-48A9-95DF-BCE9C12D2E8A}" type="datetime1">
              <a:rPr lang="zh-CN" altLang="en-US" smtClean="0"/>
              <a:t>2022/11/22</a:t>
            </a:fld>
            <a:endParaRPr lang="zh-CN" altLang="en-US"/>
          </a:p>
        </p:txBody>
      </p:sp>
      <p:sp>
        <p:nvSpPr>
          <p:cNvPr id="5" name="页脚占位符 4">
            <a:extLst>
              <a:ext uri="{FF2B5EF4-FFF2-40B4-BE49-F238E27FC236}">
                <a16:creationId xmlns:a16="http://schemas.microsoft.com/office/drawing/2014/main" id="{8CFDB605-0230-42F4-BEFF-0A918678AB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648FCB4-EE66-4B68-A7B9-A4F75B88D1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3FAEE7-31C4-4651-8074-E84314A39F13}" type="slidenum">
              <a:rPr lang="zh-CN" altLang="en-US" smtClean="0"/>
              <a:t>‹#›</a:t>
            </a:fld>
            <a:endParaRPr lang="zh-CN" altLang="en-US"/>
          </a:p>
        </p:txBody>
      </p:sp>
    </p:spTree>
    <p:extLst>
      <p:ext uri="{BB962C8B-B14F-4D97-AF65-F5344CB8AC3E}">
        <p14:creationId xmlns:p14="http://schemas.microsoft.com/office/powerpoint/2010/main" val="40764970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1137405" y="2370812"/>
            <a:ext cx="8224874" cy="945435"/>
          </a:xfrm>
        </p:spPr>
        <p:txBody>
          <a:bodyPr anchor="ctr" anchorCtr="0">
            <a:noAutofit/>
          </a:bodyPr>
          <a:lstStyle/>
          <a:p>
            <a:pPr>
              <a:lnSpc>
                <a:spcPct val="150000"/>
              </a:lnSpc>
            </a:pPr>
            <a:r>
              <a:rPr lang="en-GB" altLang="zh-CN" sz="4800" b="1"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STM32</a:t>
            </a:r>
            <a:r>
              <a:rPr lang="zh-CN" altLang="en-US" sz="4800" b="1"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实验课</a:t>
            </a:r>
            <a:endParaRPr lang="zh-CN" altLang="en-US" sz="4000" dirty="0">
              <a:solidFill>
                <a:srgbClr val="050358"/>
              </a:solidFill>
              <a:latin typeface="微软雅黑" panose="020B0503020204020204" pitchFamily="34" charset="-122"/>
              <a:ea typeface="微软雅黑" panose="020B0503020204020204" pitchFamily="34" charset="-122"/>
            </a:endParaRPr>
          </a:p>
        </p:txBody>
      </p:sp>
      <p:sp>
        <p:nvSpPr>
          <p:cNvPr id="7" name="标题 1"/>
          <p:cNvSpPr txBox="1">
            <a:spLocks/>
          </p:cNvSpPr>
          <p:nvPr/>
        </p:nvSpPr>
        <p:spPr>
          <a:xfrm>
            <a:off x="1137405" y="3221023"/>
            <a:ext cx="9782446" cy="6118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70000"/>
              </a:lnSpc>
            </a:pPr>
            <a:endParaRPr lang="zh-CN" altLang="en-US" sz="2000" dirty="0">
              <a:solidFill>
                <a:srgbClr val="050358"/>
              </a:solidFill>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D55DBB11-A94B-ABA1-B8B4-1037131A143B}"/>
              </a:ext>
            </a:extLst>
          </p:cNvPr>
          <p:cNvSpPr>
            <a:spLocks noGrp="1"/>
          </p:cNvSpPr>
          <p:nvPr>
            <p:ph type="sldNum" sz="quarter" idx="12"/>
          </p:nvPr>
        </p:nvSpPr>
        <p:spPr/>
        <p:txBody>
          <a:bodyPr/>
          <a:lstStyle/>
          <a:p>
            <a:fld id="{223FAEE7-31C4-4651-8074-E84314A39F13}" type="slidenum">
              <a:rPr lang="zh-CN" altLang="en-US" smtClean="0"/>
              <a:t>1</a:t>
            </a:fld>
            <a:endParaRPr lang="zh-CN" altLang="en-US"/>
          </a:p>
        </p:txBody>
      </p:sp>
    </p:spTree>
    <p:extLst>
      <p:ext uri="{BB962C8B-B14F-4D97-AF65-F5344CB8AC3E}">
        <p14:creationId xmlns:p14="http://schemas.microsoft.com/office/powerpoint/2010/main" val="3223557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a:xfrm>
            <a:off x="656382" y="394893"/>
            <a:ext cx="10439401" cy="623681"/>
          </a:xfrm>
          <a:prstGeom prst="rect">
            <a:avLst/>
          </a:prstGeom>
        </p:spPr>
        <p:txBody>
          <a:bodyPr/>
          <a:lstStyle/>
          <a:p>
            <a:pPr lvl="0" eaLnBrk="0" hangingPunct="0">
              <a:buClr>
                <a:schemeClr val="tx2"/>
              </a:buClr>
              <a:buSzPct val="90000"/>
              <a:defRPr/>
            </a:pPr>
            <a:r>
              <a:rPr lang="zh-CN" altLang="en-US" sz="3200" b="1"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rPr>
              <a:t>目录</a:t>
            </a:r>
          </a:p>
        </p:txBody>
      </p:sp>
      <p:sp>
        <p:nvSpPr>
          <p:cNvPr id="3" name="Rectangle 5"/>
          <p:cNvSpPr txBox="1">
            <a:spLocks noChangeArrowheads="1"/>
          </p:cNvSpPr>
          <p:nvPr/>
        </p:nvSpPr>
        <p:spPr>
          <a:xfrm>
            <a:off x="1298531" y="1161584"/>
            <a:ext cx="7956478" cy="4282700"/>
          </a:xfrm>
          <a:prstGeom prst="rect">
            <a:avLst/>
          </a:prstGeom>
          <a:noFill/>
          <a:ln/>
        </p:spPr>
        <p:txBody>
          <a:bodyPr/>
          <a:lstStyle/>
          <a:p>
            <a:pPr marL="342851" indent="-342851" eaLnBrk="0" hangingPunct="0">
              <a:lnSpc>
                <a:spcPct val="150000"/>
              </a:lnSpc>
              <a:buClr>
                <a:schemeClr val="tx2"/>
              </a:buClr>
              <a:buSzPct val="90000"/>
              <a:buFont typeface="Wingdings" pitchFamily="2" charset="2"/>
              <a:buChar char="Ø"/>
            </a:pPr>
            <a:r>
              <a:rPr lang="en-GB" altLang="zh-CN" sz="2400" b="1" dirty="0" err="1">
                <a:solidFill>
                  <a:srgbClr val="050358"/>
                </a:solidFill>
                <a:latin typeface="微软雅黑" panose="020B0503020204020204" pitchFamily="34" charset="-122"/>
                <a:ea typeface="微软雅黑" panose="020B0503020204020204" pitchFamily="34" charset="-122"/>
                <a:cs typeface="+mj-cs"/>
              </a:rPr>
              <a:t>FreeRTOS</a:t>
            </a:r>
            <a:r>
              <a:rPr lang="zh-CN" altLang="en-US" sz="2400" b="1" dirty="0">
                <a:solidFill>
                  <a:srgbClr val="050358"/>
                </a:solidFill>
                <a:latin typeface="微软雅黑" panose="020B0503020204020204" pitchFamily="34" charset="-122"/>
                <a:ea typeface="微软雅黑" panose="020B0503020204020204" pitchFamily="34" charset="-122"/>
                <a:cs typeface="+mj-cs"/>
              </a:rPr>
              <a:t>操作系统原理</a:t>
            </a:r>
            <a:endParaRPr lang="en-US" altLang="zh-CN" sz="2400" b="1" dirty="0">
              <a:solidFill>
                <a:srgbClr val="050358"/>
              </a:solidFill>
              <a:latin typeface="微软雅黑" panose="020B0503020204020204" pitchFamily="34" charset="-122"/>
              <a:ea typeface="微软雅黑" panose="020B0503020204020204" pitchFamily="34" charset="-122"/>
              <a:cs typeface="+mj-cs"/>
            </a:endParaRPr>
          </a:p>
          <a:p>
            <a:pPr marL="342851" indent="-342851" eaLnBrk="0" hangingPunct="0">
              <a:lnSpc>
                <a:spcPct val="150000"/>
              </a:lnSpc>
              <a:buClr>
                <a:schemeClr val="bg2"/>
              </a:buClr>
              <a:buSzPct val="90000"/>
              <a:buFont typeface="Wingdings" pitchFamily="2" charset="2"/>
              <a:buChar char="Ø"/>
            </a:pPr>
            <a:r>
              <a:rPr lang="en-US" altLang="zh-CN" sz="2400" b="1" kern="0" dirty="0">
                <a:solidFill>
                  <a:schemeClr val="bg1">
                    <a:lumMod val="75000"/>
                  </a:schemeClr>
                </a:solidFill>
                <a:latin typeface="微软雅黑" pitchFamily="34" charset="-122"/>
                <a:ea typeface="微软雅黑" pitchFamily="34" charset="-122"/>
              </a:rPr>
              <a:t>FreeRTOS</a:t>
            </a:r>
            <a:r>
              <a:rPr lang="zh-CN" altLang="en-US" sz="2400" b="1" kern="0" dirty="0">
                <a:solidFill>
                  <a:schemeClr val="bg1">
                    <a:lumMod val="75000"/>
                  </a:schemeClr>
                </a:solidFill>
                <a:latin typeface="微软雅黑" pitchFamily="34" charset="-122"/>
                <a:ea typeface="微软雅黑" pitchFamily="34" charset="-122"/>
              </a:rPr>
              <a:t>操作系统移植</a:t>
            </a:r>
          </a:p>
          <a:p>
            <a:pPr marL="342851" indent="-342851" eaLnBrk="0" hangingPunct="0">
              <a:lnSpc>
                <a:spcPct val="150000"/>
              </a:lnSpc>
              <a:buClr>
                <a:schemeClr val="bg2"/>
              </a:buClr>
              <a:buSzPct val="90000"/>
              <a:buFont typeface="Wingdings" pitchFamily="2" charset="2"/>
              <a:buChar char="Ø"/>
            </a:pPr>
            <a:endParaRPr lang="zh-CN" altLang="en-US" sz="2400" b="1" kern="0" dirty="0">
              <a:solidFill>
                <a:schemeClr val="bg1">
                  <a:lumMod val="75000"/>
                </a:schemeClr>
              </a:solidFill>
              <a:latin typeface="微软雅黑" pitchFamily="34" charset="-122"/>
              <a:ea typeface="微软雅黑" pitchFamily="34" charset="-122"/>
            </a:endParaRPr>
          </a:p>
        </p:txBody>
      </p:sp>
      <p:sp>
        <p:nvSpPr>
          <p:cNvPr id="4" name="灯片编号占位符 3">
            <a:extLst>
              <a:ext uri="{FF2B5EF4-FFF2-40B4-BE49-F238E27FC236}">
                <a16:creationId xmlns:a16="http://schemas.microsoft.com/office/drawing/2014/main" id="{22577BAA-B5CE-1EC0-90FB-37F2A46C055E}"/>
              </a:ext>
            </a:extLst>
          </p:cNvPr>
          <p:cNvSpPr>
            <a:spLocks noGrp="1"/>
          </p:cNvSpPr>
          <p:nvPr>
            <p:ph type="sldNum" sz="quarter" idx="12"/>
          </p:nvPr>
        </p:nvSpPr>
        <p:spPr/>
        <p:txBody>
          <a:bodyPr/>
          <a:lstStyle/>
          <a:p>
            <a:fld id="{223FAEE7-31C4-4651-8074-E84314A39F13}" type="slidenum">
              <a:rPr lang="zh-CN" altLang="en-US" smtClean="0"/>
              <a:t>2</a:t>
            </a:fld>
            <a:endParaRPr lang="zh-CN" altLang="en-US"/>
          </a:p>
        </p:txBody>
      </p:sp>
    </p:spTree>
    <p:extLst>
      <p:ext uri="{BB962C8B-B14F-4D97-AF65-F5344CB8AC3E}">
        <p14:creationId xmlns:p14="http://schemas.microsoft.com/office/powerpoint/2010/main" val="506533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zh-CN" altLang="en-US" sz="2400" dirty="0">
                <a:solidFill>
                  <a:srgbClr val="002060"/>
                </a:solidFill>
                <a:latin typeface="微软雅黑" panose="020B0503020204020204" pitchFamily="34" charset="-122"/>
                <a:ea typeface="微软雅黑" panose="020B0503020204020204" pitchFamily="34" charset="-122"/>
              </a:rPr>
              <a:t>多任务的实现</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经过前面课程的学习大家应该对我们现在程序的运行过程有一定了解。</a:t>
            </a: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我们写的代码在</a:t>
            </a:r>
            <a:r>
              <a:rPr lang="en-US" altLang="zh-CN" sz="2400" kern="0" dirty="0">
                <a:latin typeface="微软雅黑" pitchFamily="34" charset="-122"/>
                <a:ea typeface="微软雅黑" pitchFamily="34" charset="-122"/>
              </a:rPr>
              <a:t>main</a:t>
            </a:r>
            <a:r>
              <a:rPr lang="zh-CN" altLang="en-US" sz="2400" kern="0" dirty="0">
                <a:latin typeface="微软雅黑" pitchFamily="34" charset="-122"/>
                <a:ea typeface="微软雅黑" pitchFamily="34" charset="-122"/>
              </a:rPr>
              <a:t>函数里执行，</a:t>
            </a:r>
            <a:r>
              <a:rPr lang="en-US" altLang="zh-CN" sz="2400" kern="0" dirty="0">
                <a:latin typeface="微软雅黑" pitchFamily="34" charset="-122"/>
                <a:ea typeface="微软雅黑" pitchFamily="34" charset="-122"/>
              </a:rPr>
              <a:t>main</a:t>
            </a:r>
            <a:r>
              <a:rPr lang="zh-CN" altLang="en-US" sz="2400" kern="0" dirty="0">
                <a:latin typeface="微软雅黑" pitchFamily="34" charset="-122"/>
                <a:ea typeface="微软雅黑" pitchFamily="34" charset="-122"/>
              </a:rPr>
              <a:t>函数通常是个死循环。然后还有各种中断服务程序去响应各种中断事件。</a:t>
            </a: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那么我们有没有可能实现一个像</a:t>
            </a:r>
            <a:r>
              <a:rPr lang="en-US" altLang="zh-CN" sz="2400" kern="0" dirty="0">
                <a:latin typeface="微软雅黑" pitchFamily="34" charset="-122"/>
                <a:ea typeface="微软雅黑" pitchFamily="34" charset="-122"/>
              </a:rPr>
              <a:t>windows</a:t>
            </a:r>
            <a:r>
              <a:rPr lang="zh-CN" altLang="en-US" sz="2400" kern="0" dirty="0">
                <a:latin typeface="微软雅黑" pitchFamily="34" charset="-122"/>
                <a:ea typeface="微软雅黑" pitchFamily="34" charset="-122"/>
              </a:rPr>
              <a:t>或者</a:t>
            </a:r>
            <a:r>
              <a:rPr lang="en-US" altLang="zh-CN" sz="2400" kern="0" dirty="0" err="1">
                <a:latin typeface="微软雅黑" pitchFamily="34" charset="-122"/>
                <a:ea typeface="微软雅黑" pitchFamily="34" charset="-122"/>
              </a:rPr>
              <a:t>linux</a:t>
            </a:r>
            <a:r>
              <a:rPr lang="zh-CN" altLang="en-US" sz="2400" kern="0" dirty="0">
                <a:latin typeface="微软雅黑" pitchFamily="34" charset="-122"/>
                <a:ea typeface="微软雅黑" pitchFamily="34" charset="-122"/>
              </a:rPr>
              <a:t>那样的多任务操作系统，把串口当作命令行终端，还能安装各种应用。</a:t>
            </a:r>
          </a:p>
        </p:txBody>
      </p:sp>
      <p:sp>
        <p:nvSpPr>
          <p:cNvPr id="2" name="灯片编号占位符 1">
            <a:extLst>
              <a:ext uri="{FF2B5EF4-FFF2-40B4-BE49-F238E27FC236}">
                <a16:creationId xmlns:a16="http://schemas.microsoft.com/office/drawing/2014/main" id="{7DB5400D-2630-C8B2-4CCB-52240D5913F8}"/>
              </a:ext>
            </a:extLst>
          </p:cNvPr>
          <p:cNvSpPr>
            <a:spLocks noGrp="1"/>
          </p:cNvSpPr>
          <p:nvPr>
            <p:ph type="sldNum" sz="quarter" idx="12"/>
          </p:nvPr>
        </p:nvSpPr>
        <p:spPr/>
        <p:txBody>
          <a:bodyPr/>
          <a:lstStyle/>
          <a:p>
            <a:fld id="{223FAEE7-31C4-4651-8074-E84314A39F13}" type="slidenum">
              <a:rPr lang="zh-CN" altLang="en-US" smtClean="0"/>
              <a:t>3</a:t>
            </a:fld>
            <a:endParaRPr lang="zh-CN" altLang="en-US"/>
          </a:p>
        </p:txBody>
      </p:sp>
    </p:spTree>
    <p:extLst>
      <p:ext uri="{BB962C8B-B14F-4D97-AF65-F5344CB8AC3E}">
        <p14:creationId xmlns:p14="http://schemas.microsoft.com/office/powerpoint/2010/main" val="1546957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zh-CN" altLang="en-US" sz="2400" dirty="0">
                <a:solidFill>
                  <a:srgbClr val="002060"/>
                </a:solidFill>
                <a:latin typeface="微软雅黑" panose="020B0503020204020204" pitchFamily="34" charset="-122"/>
                <a:ea typeface="微软雅黑" panose="020B0503020204020204" pitchFamily="34" charset="-122"/>
              </a:rPr>
              <a:t>多任务的实现</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18347" y="1503699"/>
            <a:ext cx="10662465" cy="4768106"/>
          </a:xfrm>
          <a:prstGeom prst="rect">
            <a:avLst/>
          </a:prstGeom>
          <a:noFill/>
          <a:ln/>
        </p:spPr>
        <p:txBody>
          <a:bodyPr/>
          <a:lstStyle/>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答案是否定的。因为像</a:t>
            </a:r>
            <a:r>
              <a:rPr lang="en-US" altLang="zh-CN" sz="2400" kern="0" dirty="0">
                <a:latin typeface="微软雅黑" pitchFamily="34" charset="-122"/>
                <a:ea typeface="微软雅黑" pitchFamily="34" charset="-122"/>
              </a:rPr>
              <a:t>windows</a:t>
            </a:r>
            <a:r>
              <a:rPr lang="zh-CN" altLang="en-US" sz="2400" kern="0" dirty="0">
                <a:latin typeface="微软雅黑" pitchFamily="34" charset="-122"/>
                <a:ea typeface="微软雅黑" pitchFamily="34" charset="-122"/>
              </a:rPr>
              <a:t>和</a:t>
            </a:r>
            <a:r>
              <a:rPr lang="en-US" altLang="zh-CN" sz="2400" kern="0" dirty="0" err="1">
                <a:latin typeface="微软雅黑" pitchFamily="34" charset="-122"/>
                <a:ea typeface="微软雅黑" pitchFamily="34" charset="-122"/>
              </a:rPr>
              <a:t>linux</a:t>
            </a:r>
            <a:r>
              <a:rPr lang="zh-CN" altLang="en-US" sz="2400" kern="0" dirty="0">
                <a:latin typeface="微软雅黑" pitchFamily="34" charset="-122"/>
                <a:ea typeface="微软雅黑" pitchFamily="34" charset="-122"/>
              </a:rPr>
              <a:t>这种操作系统需要</a:t>
            </a:r>
            <a:r>
              <a:rPr lang="en-US" altLang="zh-CN" sz="2400" kern="0" dirty="0">
                <a:latin typeface="微软雅黑" pitchFamily="34" charset="-122"/>
                <a:ea typeface="微软雅黑" pitchFamily="34" charset="-122"/>
              </a:rPr>
              <a:t>MMU</a:t>
            </a:r>
            <a:r>
              <a:rPr lang="zh-CN" altLang="en-US" sz="2400" kern="0" dirty="0">
                <a:latin typeface="微软雅黑" pitchFamily="34" charset="-122"/>
                <a:ea typeface="微软雅黑" pitchFamily="34" charset="-122"/>
              </a:rPr>
              <a:t>（内存管理单元）的支持。正是</a:t>
            </a:r>
            <a:r>
              <a:rPr lang="en-US" altLang="zh-CN" sz="2400" kern="0" dirty="0">
                <a:latin typeface="微软雅黑" pitchFamily="34" charset="-122"/>
                <a:ea typeface="微软雅黑" pitchFamily="34" charset="-122"/>
              </a:rPr>
              <a:t>MMU</a:t>
            </a:r>
            <a:r>
              <a:rPr lang="zh-CN" altLang="en-US" sz="2400" kern="0" dirty="0">
                <a:latin typeface="微软雅黑" pitchFamily="34" charset="-122"/>
                <a:ea typeface="微软雅黑" pitchFamily="34" charset="-122"/>
              </a:rPr>
              <a:t>的逻辑地址到物理地址的转换功能才使得应用程序能够独立于操作系统编写。并且应用程序员所关心的内存是从</a:t>
            </a:r>
            <a:r>
              <a:rPr lang="en-US" altLang="zh-CN" sz="2400" kern="0" dirty="0">
                <a:latin typeface="微软雅黑" pitchFamily="34" charset="-122"/>
                <a:ea typeface="微软雅黑" pitchFamily="34" charset="-122"/>
              </a:rPr>
              <a:t>0</a:t>
            </a:r>
            <a:r>
              <a:rPr lang="zh-CN" altLang="en-US" sz="2400" kern="0" dirty="0">
                <a:latin typeface="微软雅黑" pitchFamily="34" charset="-122"/>
                <a:ea typeface="微软雅黑" pitchFamily="34" charset="-122"/>
              </a:rPr>
              <a:t>起的，且是顺序空间，编程内存可能远大于实际内存。</a:t>
            </a: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但我们的芯片并没有内存管理单元。</a:t>
            </a:r>
          </a:p>
        </p:txBody>
      </p:sp>
      <p:sp>
        <p:nvSpPr>
          <p:cNvPr id="2" name="灯片编号占位符 1">
            <a:extLst>
              <a:ext uri="{FF2B5EF4-FFF2-40B4-BE49-F238E27FC236}">
                <a16:creationId xmlns:a16="http://schemas.microsoft.com/office/drawing/2014/main" id="{8B77641F-2D0C-DBF0-C3F3-8F4B370EE733}"/>
              </a:ext>
            </a:extLst>
          </p:cNvPr>
          <p:cNvSpPr>
            <a:spLocks noGrp="1"/>
          </p:cNvSpPr>
          <p:nvPr>
            <p:ph type="sldNum" sz="quarter" idx="12"/>
          </p:nvPr>
        </p:nvSpPr>
        <p:spPr/>
        <p:txBody>
          <a:bodyPr/>
          <a:lstStyle/>
          <a:p>
            <a:fld id="{223FAEE7-31C4-4651-8074-E84314A39F13}" type="slidenum">
              <a:rPr lang="zh-CN" altLang="en-US" smtClean="0"/>
              <a:t>4</a:t>
            </a:fld>
            <a:endParaRPr lang="zh-CN" altLang="en-US"/>
          </a:p>
        </p:txBody>
      </p:sp>
    </p:spTree>
    <p:extLst>
      <p:ext uri="{BB962C8B-B14F-4D97-AF65-F5344CB8AC3E}">
        <p14:creationId xmlns:p14="http://schemas.microsoft.com/office/powerpoint/2010/main" val="3541556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zh-CN" altLang="en-US" sz="2400" dirty="0">
                <a:solidFill>
                  <a:srgbClr val="002060"/>
                </a:solidFill>
                <a:latin typeface="微软雅黑" panose="020B0503020204020204" pitchFamily="34" charset="-122"/>
                <a:ea typeface="微软雅黑" panose="020B0503020204020204" pitchFamily="34" charset="-122"/>
              </a:rPr>
              <a:t>多任务的实现</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没有内存管理单元仍然可以实现多任务，只是编写的任务需要和操作系统一起编译，并且各任务需要共用同一个地址空间。</a:t>
            </a: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这类操作系统有很多，但称之为调度器却更合适。因为这类操作系统通常都没有实现文件系统、网络协议栈、</a:t>
            </a:r>
            <a:r>
              <a:rPr lang="en-US" altLang="zh-CN" sz="2400" kern="0" dirty="0">
                <a:latin typeface="微软雅黑" pitchFamily="34" charset="-122"/>
                <a:ea typeface="微软雅黑" pitchFamily="34" charset="-122"/>
              </a:rPr>
              <a:t>GUI</a:t>
            </a:r>
            <a:r>
              <a:rPr lang="zh-CN" altLang="en-US" sz="2400" kern="0" dirty="0">
                <a:latin typeface="微软雅黑" pitchFamily="34" charset="-122"/>
                <a:ea typeface="微软雅黑" pitchFamily="34" charset="-122"/>
              </a:rPr>
              <a:t>等。但这些通常都可以由程序员自己来实现。</a:t>
            </a:r>
          </a:p>
        </p:txBody>
      </p:sp>
      <p:sp>
        <p:nvSpPr>
          <p:cNvPr id="2" name="灯片编号占位符 1">
            <a:extLst>
              <a:ext uri="{FF2B5EF4-FFF2-40B4-BE49-F238E27FC236}">
                <a16:creationId xmlns:a16="http://schemas.microsoft.com/office/drawing/2014/main" id="{476536EC-2022-821D-BC96-9C48342FB46D}"/>
              </a:ext>
            </a:extLst>
          </p:cNvPr>
          <p:cNvSpPr>
            <a:spLocks noGrp="1"/>
          </p:cNvSpPr>
          <p:nvPr>
            <p:ph type="sldNum" sz="quarter" idx="12"/>
          </p:nvPr>
        </p:nvSpPr>
        <p:spPr/>
        <p:txBody>
          <a:bodyPr/>
          <a:lstStyle/>
          <a:p>
            <a:fld id="{223FAEE7-31C4-4651-8074-E84314A39F13}" type="slidenum">
              <a:rPr lang="zh-CN" altLang="en-US" smtClean="0"/>
              <a:t>5</a:t>
            </a:fld>
            <a:endParaRPr lang="zh-CN" altLang="en-US"/>
          </a:p>
        </p:txBody>
      </p:sp>
    </p:spTree>
    <p:extLst>
      <p:ext uri="{BB962C8B-B14F-4D97-AF65-F5344CB8AC3E}">
        <p14:creationId xmlns:p14="http://schemas.microsoft.com/office/powerpoint/2010/main" val="266742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zh-CN" altLang="en-US" sz="2400" dirty="0">
                <a:solidFill>
                  <a:srgbClr val="002060"/>
                </a:solidFill>
                <a:latin typeface="微软雅黑" panose="020B0503020204020204" pitchFamily="34" charset="-122"/>
                <a:ea typeface="微软雅黑" panose="020B0503020204020204" pitchFamily="34" charset="-122"/>
              </a:rPr>
              <a:t>小型多任务嵌入式系统</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不同的多任务系统有不同的侧重点。</a:t>
            </a: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软实时与硬实时。</a:t>
            </a: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大多数嵌入式系统不仅能满足硬实时要求，也能满足软实时要求。</a:t>
            </a:r>
          </a:p>
          <a:p>
            <a:pPr marL="342851" indent="-342851" eaLnBrk="0" hangingPunct="0">
              <a:lnSpc>
                <a:spcPct val="150000"/>
              </a:lnSpc>
              <a:buClr>
                <a:schemeClr val="tx2"/>
              </a:buClr>
              <a:buSzPct val="90000"/>
              <a:buFont typeface="Wingdings" pitchFamily="2" charset="2"/>
              <a:buChar char="Ø"/>
            </a:pPr>
            <a:endParaRPr lang="zh-CN" altLang="en-US" sz="2400" kern="0" dirty="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endParaRPr lang="zh-CN" altLang="en-US" sz="2400" kern="0" dirty="0">
              <a:latin typeface="微软雅黑" pitchFamily="34" charset="-122"/>
              <a:ea typeface="微软雅黑" pitchFamily="34" charset="-122"/>
            </a:endParaRPr>
          </a:p>
        </p:txBody>
      </p:sp>
      <p:sp>
        <p:nvSpPr>
          <p:cNvPr id="2" name="灯片编号占位符 1">
            <a:extLst>
              <a:ext uri="{FF2B5EF4-FFF2-40B4-BE49-F238E27FC236}">
                <a16:creationId xmlns:a16="http://schemas.microsoft.com/office/drawing/2014/main" id="{4E86D73F-5983-7DD3-0B6D-0062470EDA2B}"/>
              </a:ext>
            </a:extLst>
          </p:cNvPr>
          <p:cNvSpPr>
            <a:spLocks noGrp="1"/>
          </p:cNvSpPr>
          <p:nvPr>
            <p:ph type="sldNum" sz="quarter" idx="12"/>
          </p:nvPr>
        </p:nvSpPr>
        <p:spPr/>
        <p:txBody>
          <a:bodyPr/>
          <a:lstStyle/>
          <a:p>
            <a:fld id="{223FAEE7-31C4-4651-8074-E84314A39F13}" type="slidenum">
              <a:rPr lang="zh-CN" altLang="en-US" smtClean="0"/>
              <a:t>6</a:t>
            </a:fld>
            <a:endParaRPr lang="zh-CN" altLang="en-US"/>
          </a:p>
        </p:txBody>
      </p:sp>
    </p:spTree>
    <p:extLst>
      <p:ext uri="{BB962C8B-B14F-4D97-AF65-F5344CB8AC3E}">
        <p14:creationId xmlns:p14="http://schemas.microsoft.com/office/powerpoint/2010/main" val="472864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GB" altLang="zh-CN" sz="2400" dirty="0" err="1">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任务调度机制</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eaLnBrk="0" hangingPunct="0">
              <a:lnSpc>
                <a:spcPct val="150000"/>
              </a:lnSpc>
              <a:buClr>
                <a:schemeClr val="tx2"/>
              </a:buClr>
              <a:buSzPct val="90000"/>
            </a:pPr>
            <a:r>
              <a:rPr lang="zh-CN" altLang="en-US" sz="2400" kern="0" dirty="0">
                <a:latin typeface="微软雅黑" pitchFamily="34" charset="-122"/>
                <a:ea typeface="微软雅黑" pitchFamily="34" charset="-122"/>
              </a:rPr>
              <a:t>任务调度机制是嵌入式实时操作系统的一个重要概念，也是其核心技术。对于可剥夺型内核，优先级高的任务一旦就绪就能剥夺优先级较低任务的</a:t>
            </a:r>
            <a:r>
              <a:rPr lang="en-US" altLang="zh-CN" sz="2400" kern="0" dirty="0">
                <a:latin typeface="微软雅黑" pitchFamily="34" charset="-122"/>
                <a:ea typeface="微软雅黑" pitchFamily="34" charset="-122"/>
              </a:rPr>
              <a:t>CPU</a:t>
            </a:r>
            <a:r>
              <a:rPr lang="zh-CN" altLang="en-US" sz="2400" kern="0" dirty="0">
                <a:latin typeface="微软雅黑" pitchFamily="34" charset="-122"/>
                <a:ea typeface="微软雅黑" pitchFamily="34" charset="-122"/>
              </a:rPr>
              <a:t>使用权，提高了系统的实时响应能力。不同于</a:t>
            </a:r>
            <a:r>
              <a:rPr lang="en-US" altLang="zh-CN" sz="2400" kern="0" dirty="0" err="1">
                <a:latin typeface="微软雅黑" pitchFamily="34" charset="-122"/>
                <a:ea typeface="微软雅黑" pitchFamily="34" charset="-122"/>
              </a:rPr>
              <a:t>μC</a:t>
            </a:r>
            <a:r>
              <a:rPr lang="en-US" altLang="zh-CN" sz="2400" kern="0" dirty="0">
                <a:latin typeface="微软雅黑" pitchFamily="34" charset="-122"/>
                <a:ea typeface="微软雅黑" pitchFamily="34" charset="-122"/>
              </a:rPr>
              <a:t>/OS-II</a:t>
            </a:r>
            <a:r>
              <a:rPr lang="zh-CN" altLang="en-US" sz="2400" kern="0" dirty="0">
                <a:latin typeface="微软雅黑" pitchFamily="34" charset="-122"/>
                <a:ea typeface="微软雅黑" pitchFamily="34" charset="-122"/>
              </a:rPr>
              <a:t>，</a:t>
            </a:r>
            <a:r>
              <a:rPr lang="en-US" altLang="zh-CN" sz="2400" kern="0" dirty="0">
                <a:latin typeface="微软雅黑" pitchFamily="34" charset="-122"/>
                <a:ea typeface="微软雅黑" pitchFamily="34" charset="-122"/>
              </a:rPr>
              <a:t>FreeRTOS</a:t>
            </a:r>
            <a:r>
              <a:rPr lang="zh-CN" altLang="en-US" sz="2400" kern="0" dirty="0">
                <a:latin typeface="微软雅黑" pitchFamily="34" charset="-122"/>
                <a:ea typeface="微软雅黑" pitchFamily="34" charset="-122"/>
              </a:rPr>
              <a:t>对系统任务的数量没有限制，既支持优先级调度算法也支持轮换调度算法，因此</a:t>
            </a:r>
            <a:r>
              <a:rPr lang="en-US" altLang="zh-CN" sz="2400" kern="0" dirty="0">
                <a:latin typeface="微软雅黑" pitchFamily="34" charset="-122"/>
                <a:ea typeface="微软雅黑" pitchFamily="34" charset="-122"/>
              </a:rPr>
              <a:t>FreeRTOS</a:t>
            </a:r>
            <a:r>
              <a:rPr lang="zh-CN" altLang="en-US" sz="2400" kern="0" dirty="0">
                <a:latin typeface="微软雅黑" pitchFamily="34" charset="-122"/>
                <a:ea typeface="微软雅黑" pitchFamily="34" charset="-122"/>
              </a:rPr>
              <a:t>采用双向链表而不是采用查任务就绪表的方法来进行任务调度。</a:t>
            </a:r>
          </a:p>
        </p:txBody>
      </p:sp>
      <p:sp>
        <p:nvSpPr>
          <p:cNvPr id="2" name="灯片编号占位符 1">
            <a:extLst>
              <a:ext uri="{FF2B5EF4-FFF2-40B4-BE49-F238E27FC236}">
                <a16:creationId xmlns:a16="http://schemas.microsoft.com/office/drawing/2014/main" id="{F40C4429-F30D-CC56-C1C5-61F53606B9E5}"/>
              </a:ext>
            </a:extLst>
          </p:cNvPr>
          <p:cNvSpPr>
            <a:spLocks noGrp="1"/>
          </p:cNvSpPr>
          <p:nvPr>
            <p:ph type="sldNum" sz="quarter" idx="12"/>
          </p:nvPr>
        </p:nvSpPr>
        <p:spPr/>
        <p:txBody>
          <a:bodyPr/>
          <a:lstStyle/>
          <a:p>
            <a:fld id="{223FAEE7-31C4-4651-8074-E84314A39F13}" type="slidenum">
              <a:rPr lang="zh-CN" altLang="en-US" smtClean="0"/>
              <a:t>7</a:t>
            </a:fld>
            <a:endParaRPr lang="zh-CN" altLang="en-US"/>
          </a:p>
        </p:txBody>
      </p:sp>
    </p:spTree>
    <p:extLst>
      <p:ext uri="{BB962C8B-B14F-4D97-AF65-F5344CB8AC3E}">
        <p14:creationId xmlns:p14="http://schemas.microsoft.com/office/powerpoint/2010/main" val="3259266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GB" altLang="zh-CN" sz="2400" dirty="0" err="1">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任务调度机制</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eaLnBrk="0" hangingPunct="0">
              <a:lnSpc>
                <a:spcPct val="150000"/>
              </a:lnSpc>
              <a:buClr>
                <a:schemeClr val="tx2"/>
              </a:buClr>
              <a:buSzPct val="90000"/>
            </a:pPr>
            <a:r>
              <a:rPr lang="zh-CN" altLang="en-US" sz="2400" kern="0" dirty="0">
                <a:latin typeface="微软雅黑" pitchFamily="34" charset="-122"/>
                <a:ea typeface="微软雅黑" pitchFamily="34" charset="-122"/>
              </a:rPr>
              <a:t>为了加快任务调度的速度，</a:t>
            </a:r>
            <a:r>
              <a:rPr lang="en-US" altLang="zh-CN" sz="2400" kern="0" dirty="0" err="1">
                <a:latin typeface="微软雅黑" pitchFamily="34" charset="-122"/>
                <a:ea typeface="微软雅黑" pitchFamily="34" charset="-122"/>
              </a:rPr>
              <a:t>FrecRTOS</a:t>
            </a:r>
            <a:r>
              <a:rPr lang="zh-CN" altLang="en-US" sz="2400" kern="0" dirty="0">
                <a:latin typeface="微软雅黑" pitchFamily="34" charset="-122"/>
                <a:ea typeface="微软雅黑" pitchFamily="34" charset="-122"/>
              </a:rPr>
              <a:t>通过变量</a:t>
            </a:r>
            <a:r>
              <a:rPr lang="en-US" altLang="zh-CN" sz="2400" kern="0" dirty="0" err="1">
                <a:latin typeface="微软雅黑" pitchFamily="34" charset="-122"/>
                <a:ea typeface="微软雅黑" pitchFamily="34" charset="-122"/>
              </a:rPr>
              <a:t>ucTopReadyPriotity</a:t>
            </a:r>
            <a:r>
              <a:rPr lang="zh-CN" altLang="en-US" sz="2400" kern="0" dirty="0">
                <a:latin typeface="微软雅黑" pitchFamily="34" charset="-122"/>
                <a:ea typeface="微软雅黑" pitchFamily="34" charset="-122"/>
              </a:rPr>
              <a:t>跟踪当前就绪的最高优先级。当一个任务加入就绪表时，对</a:t>
            </a:r>
            <a:r>
              <a:rPr lang="en-US" altLang="zh-CN" sz="2400" kern="0" dirty="0" err="1">
                <a:latin typeface="微软雅黑" pitchFamily="34" charset="-122"/>
                <a:ea typeface="微软雅黑" pitchFamily="34" charset="-122"/>
              </a:rPr>
              <a:t>ucTopReadyPriotity</a:t>
            </a:r>
            <a:r>
              <a:rPr lang="zh-CN" altLang="en-US" sz="2400" kern="0" dirty="0">
                <a:latin typeface="微软雅黑" pitchFamily="34" charset="-122"/>
                <a:ea typeface="微软雅黑" pitchFamily="34" charset="-122"/>
              </a:rPr>
              <a:t>进行更新。这样当进行优先级调度时，调度算法从</a:t>
            </a:r>
            <a:r>
              <a:rPr lang="en-US" altLang="zh-CN" sz="2400" kern="0" dirty="0" err="1">
                <a:latin typeface="微软雅黑" pitchFamily="34" charset="-122"/>
                <a:ea typeface="微软雅黑" pitchFamily="34" charset="-122"/>
              </a:rPr>
              <a:t>ucTopReadyPriority</a:t>
            </a:r>
            <a:r>
              <a:rPr lang="zh-CN" altLang="en-US" sz="2400" kern="0" dirty="0">
                <a:latin typeface="微软雅黑" pitchFamily="34" charset="-122"/>
                <a:ea typeface="微软雅黑" pitchFamily="34" charset="-122"/>
              </a:rPr>
              <a:t>开始搜索。这就加快了搜索的速度，同时缩短了内核关断时间。</a:t>
            </a:r>
          </a:p>
        </p:txBody>
      </p:sp>
      <p:sp>
        <p:nvSpPr>
          <p:cNvPr id="2" name="灯片编号占位符 1">
            <a:extLst>
              <a:ext uri="{FF2B5EF4-FFF2-40B4-BE49-F238E27FC236}">
                <a16:creationId xmlns:a16="http://schemas.microsoft.com/office/drawing/2014/main" id="{D44E3CD8-D853-CD1D-BF79-107357B366DB}"/>
              </a:ext>
            </a:extLst>
          </p:cNvPr>
          <p:cNvSpPr>
            <a:spLocks noGrp="1"/>
          </p:cNvSpPr>
          <p:nvPr>
            <p:ph type="sldNum" sz="quarter" idx="12"/>
          </p:nvPr>
        </p:nvSpPr>
        <p:spPr/>
        <p:txBody>
          <a:bodyPr/>
          <a:lstStyle/>
          <a:p>
            <a:fld id="{223FAEE7-31C4-4651-8074-E84314A39F13}" type="slidenum">
              <a:rPr lang="zh-CN" altLang="en-US" smtClean="0"/>
              <a:t>8</a:t>
            </a:fld>
            <a:endParaRPr lang="zh-CN" altLang="en-US"/>
          </a:p>
        </p:txBody>
      </p:sp>
    </p:spTree>
    <p:extLst>
      <p:ext uri="{BB962C8B-B14F-4D97-AF65-F5344CB8AC3E}">
        <p14:creationId xmlns:p14="http://schemas.microsoft.com/office/powerpoint/2010/main" val="3388256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GB" altLang="zh-CN" sz="2400" dirty="0" err="1">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任务</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每个任务都是在自己权限范围内的一个小程序。其具有程序入口，通常会运行在一个死循环中，也不会退出。</a:t>
            </a:r>
          </a:p>
          <a:p>
            <a:pPr marL="342851" indent="-342851" eaLnBrk="0" hangingPunct="0">
              <a:lnSpc>
                <a:spcPct val="150000"/>
              </a:lnSpc>
              <a:buClr>
                <a:schemeClr val="tx2"/>
              </a:buClr>
              <a:buSzPct val="90000"/>
              <a:buFont typeface="Wingdings" pitchFamily="2" charset="2"/>
              <a:buChar char="Ø"/>
            </a:pPr>
            <a:r>
              <a:rPr lang="en-US" altLang="zh-CN" sz="2400" kern="0" dirty="0">
                <a:latin typeface="微软雅黑" pitchFamily="34" charset="-122"/>
                <a:ea typeface="微软雅黑" pitchFamily="34" charset="-122"/>
              </a:rPr>
              <a:t>FreeRTOS </a:t>
            </a:r>
            <a:r>
              <a:rPr lang="zh-CN" altLang="en-US" sz="2400" kern="0" dirty="0">
                <a:latin typeface="微软雅黑" pitchFamily="34" charset="-122"/>
                <a:ea typeface="微软雅黑" pitchFamily="34" charset="-122"/>
              </a:rPr>
              <a:t>任务不允许以任何方式从实现函数中返回</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它们绝不能有一条”</a:t>
            </a:r>
            <a:r>
              <a:rPr lang="en-US" altLang="zh-CN" sz="2400" kern="0" dirty="0">
                <a:latin typeface="微软雅黑" pitchFamily="34" charset="-122"/>
                <a:ea typeface="微软雅黑" pitchFamily="34" charset="-122"/>
              </a:rPr>
              <a:t>return”</a:t>
            </a:r>
            <a:r>
              <a:rPr lang="zh-CN" altLang="en-US" sz="2400" kern="0" dirty="0">
                <a:latin typeface="微软雅黑" pitchFamily="34" charset="-122"/>
                <a:ea typeface="微软雅黑" pitchFamily="34" charset="-122"/>
              </a:rPr>
              <a:t>语句，也不能执行到函数末尾。如果一个任务不再需要，可以显式地将其删除。</a:t>
            </a: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一个任务函数可以用来创建若干个任务</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创建出的任务均是独立的执行实例，拥有属于自己的栈空间，以及属于自己的自动变量</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栈变量</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，即任务函数本身定义的变量。</a:t>
            </a:r>
          </a:p>
          <a:p>
            <a:pPr marL="342851" indent="-342851" eaLnBrk="0" hangingPunct="0">
              <a:lnSpc>
                <a:spcPct val="150000"/>
              </a:lnSpc>
              <a:buClr>
                <a:schemeClr val="tx2"/>
              </a:buClr>
              <a:buSzPct val="90000"/>
              <a:buFont typeface="Wingdings" pitchFamily="2" charset="2"/>
              <a:buChar char="Ø"/>
            </a:pPr>
            <a:endParaRPr lang="en-US" altLang="zh-CN" sz="2400" kern="0" dirty="0">
              <a:latin typeface="微软雅黑" pitchFamily="34" charset="-122"/>
              <a:ea typeface="微软雅黑" pitchFamily="34" charset="-122"/>
            </a:endParaRPr>
          </a:p>
        </p:txBody>
      </p:sp>
      <p:sp>
        <p:nvSpPr>
          <p:cNvPr id="2" name="灯片编号占位符 1">
            <a:extLst>
              <a:ext uri="{FF2B5EF4-FFF2-40B4-BE49-F238E27FC236}">
                <a16:creationId xmlns:a16="http://schemas.microsoft.com/office/drawing/2014/main" id="{4D1E4FDE-0EC5-022D-28F9-24184CB57CBB}"/>
              </a:ext>
            </a:extLst>
          </p:cNvPr>
          <p:cNvSpPr>
            <a:spLocks noGrp="1"/>
          </p:cNvSpPr>
          <p:nvPr>
            <p:ph type="sldNum" sz="quarter" idx="12"/>
          </p:nvPr>
        </p:nvSpPr>
        <p:spPr/>
        <p:txBody>
          <a:bodyPr/>
          <a:lstStyle/>
          <a:p>
            <a:fld id="{223FAEE7-31C4-4651-8074-E84314A39F13}" type="slidenum">
              <a:rPr lang="zh-CN" altLang="en-US" smtClean="0"/>
              <a:t>9</a:t>
            </a:fld>
            <a:endParaRPr lang="zh-CN" altLang="en-US"/>
          </a:p>
        </p:txBody>
      </p:sp>
    </p:spTree>
    <p:extLst>
      <p:ext uri="{BB962C8B-B14F-4D97-AF65-F5344CB8AC3E}">
        <p14:creationId xmlns:p14="http://schemas.microsoft.com/office/powerpoint/2010/main" val="3436264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GB" altLang="zh-CN" sz="2400" dirty="0" err="1">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任务</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eaLnBrk="0" hangingPunct="0">
              <a:lnSpc>
                <a:spcPct val="150000"/>
              </a:lnSpc>
              <a:buClr>
                <a:schemeClr val="tx2"/>
              </a:buClr>
              <a:buSzPct val="90000"/>
            </a:pPr>
            <a:r>
              <a:rPr lang="zh-CN" altLang="en-US" sz="2400" kern="0" dirty="0">
                <a:latin typeface="微软雅黑" pitchFamily="34" charset="-122"/>
                <a:ea typeface="微软雅黑" pitchFamily="34" charset="-122"/>
              </a:rPr>
              <a:t>一个典型的</a:t>
            </a:r>
            <a:r>
              <a:rPr lang="en-US" altLang="zh-CN" sz="2400" kern="0" dirty="0">
                <a:latin typeface="微软雅黑" pitchFamily="34" charset="-122"/>
                <a:ea typeface="微软雅黑" pitchFamily="34" charset="-122"/>
              </a:rPr>
              <a:t>FreeRTOS</a:t>
            </a:r>
            <a:r>
              <a:rPr lang="zh-CN" altLang="en-US" sz="2400" kern="0" dirty="0">
                <a:latin typeface="微软雅黑" pitchFamily="34" charset="-122"/>
                <a:ea typeface="微软雅黑" pitchFamily="34" charset="-122"/>
              </a:rPr>
              <a:t>任务结构</a:t>
            </a:r>
          </a:p>
        </p:txBody>
      </p:sp>
      <p:pic>
        <p:nvPicPr>
          <p:cNvPr id="6" name="Picture 2">
            <a:extLst>
              <a:ext uri="{FF2B5EF4-FFF2-40B4-BE49-F238E27FC236}">
                <a16:creationId xmlns:a16="http://schemas.microsoft.com/office/drawing/2014/main" id="{4C3C94F3-038D-480B-968B-0B2C6D3DFF20}"/>
              </a:ext>
            </a:extLst>
          </p:cNvPr>
          <p:cNvPicPr>
            <a:picLocks noChangeAspect="1" noChangeArrowheads="1"/>
          </p:cNvPicPr>
          <p:nvPr/>
        </p:nvPicPr>
        <p:blipFill>
          <a:blip r:embed="rId3" cstate="print"/>
          <a:srcRect/>
          <a:stretch>
            <a:fillRect/>
          </a:stretch>
        </p:blipFill>
        <p:spPr bwMode="auto">
          <a:xfrm>
            <a:off x="2482080" y="2334387"/>
            <a:ext cx="7637060" cy="4305335"/>
          </a:xfrm>
          <a:prstGeom prst="rect">
            <a:avLst/>
          </a:prstGeom>
          <a:noFill/>
          <a:ln w="9525">
            <a:noFill/>
            <a:miter lim="800000"/>
            <a:headEnd/>
            <a:tailEnd/>
          </a:ln>
        </p:spPr>
      </p:pic>
      <p:sp>
        <p:nvSpPr>
          <p:cNvPr id="2" name="灯片编号占位符 1">
            <a:extLst>
              <a:ext uri="{FF2B5EF4-FFF2-40B4-BE49-F238E27FC236}">
                <a16:creationId xmlns:a16="http://schemas.microsoft.com/office/drawing/2014/main" id="{E1AB94D4-4767-DB7F-2948-7EF5FB8EA05E}"/>
              </a:ext>
            </a:extLst>
          </p:cNvPr>
          <p:cNvSpPr>
            <a:spLocks noGrp="1"/>
          </p:cNvSpPr>
          <p:nvPr>
            <p:ph type="sldNum" sz="quarter" idx="12"/>
          </p:nvPr>
        </p:nvSpPr>
        <p:spPr/>
        <p:txBody>
          <a:bodyPr/>
          <a:lstStyle/>
          <a:p>
            <a:fld id="{223FAEE7-31C4-4651-8074-E84314A39F13}" type="slidenum">
              <a:rPr lang="zh-CN" altLang="en-US" smtClean="0"/>
              <a:t>10</a:t>
            </a:fld>
            <a:endParaRPr lang="zh-CN" altLang="en-US"/>
          </a:p>
        </p:txBody>
      </p:sp>
    </p:spTree>
    <p:extLst>
      <p:ext uri="{BB962C8B-B14F-4D97-AF65-F5344CB8AC3E}">
        <p14:creationId xmlns:p14="http://schemas.microsoft.com/office/powerpoint/2010/main" val="1364767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US" altLang="zh-CN" sz="2400" dirty="0">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任务管理的实现</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实现多个任务的有效管理是操作系统的主要功能。</a:t>
            </a:r>
            <a:r>
              <a:rPr lang="en-US" altLang="zh-CN" sz="2400" kern="0" dirty="0">
                <a:latin typeface="微软雅黑" pitchFamily="34" charset="-122"/>
                <a:ea typeface="微软雅黑" pitchFamily="34" charset="-122"/>
              </a:rPr>
              <a:t>FreeRTOS</a:t>
            </a:r>
            <a:r>
              <a:rPr lang="zh-CN" altLang="en-US" sz="2400" kern="0" dirty="0">
                <a:latin typeface="微软雅黑" pitchFamily="34" charset="-122"/>
                <a:ea typeface="微软雅黑" pitchFamily="34" charset="-122"/>
              </a:rPr>
              <a:t>下可实现创建任务、删除任务、挂起任务、恢复任务、设定任务优先级、获得任务相关信息等功能。</a:t>
            </a:r>
            <a:endParaRPr lang="en-US" altLang="zh-CN" sz="2400" kern="0" dirty="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r>
              <a:rPr lang="en-US" altLang="zh-CN" sz="2400" kern="0" dirty="0" err="1">
                <a:latin typeface="微软雅黑" pitchFamily="34" charset="-122"/>
                <a:ea typeface="微软雅黑" pitchFamily="34" charset="-122"/>
              </a:rPr>
              <a:t>xTaskCreate</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函数用于创建任务，其函数原型为：</a:t>
            </a:r>
          </a:p>
          <a:p>
            <a:pPr marL="342851" indent="-342851" eaLnBrk="0" hangingPunct="0">
              <a:lnSpc>
                <a:spcPct val="150000"/>
              </a:lnSpc>
              <a:buClr>
                <a:schemeClr val="tx2"/>
              </a:buClr>
              <a:buSzPct val="90000"/>
              <a:buFont typeface="Wingdings" pitchFamily="2" charset="2"/>
              <a:buChar char="Ø"/>
            </a:pPr>
            <a:endParaRPr lang="zh-CN" altLang="en-US" sz="2400" kern="0" dirty="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endParaRPr lang="zh-CN" altLang="en-US" sz="2400" kern="0" dirty="0">
              <a:latin typeface="微软雅黑" pitchFamily="34" charset="-122"/>
              <a:ea typeface="微软雅黑" pitchFamily="34" charset="-122"/>
            </a:endParaRPr>
          </a:p>
        </p:txBody>
      </p:sp>
      <p:pic>
        <p:nvPicPr>
          <p:cNvPr id="6" name="Picture 3">
            <a:extLst>
              <a:ext uri="{FF2B5EF4-FFF2-40B4-BE49-F238E27FC236}">
                <a16:creationId xmlns:a16="http://schemas.microsoft.com/office/drawing/2014/main" id="{A71CBF6C-331D-40B4-AE76-27022EF61D4A}"/>
              </a:ext>
            </a:extLst>
          </p:cNvPr>
          <p:cNvPicPr>
            <a:picLocks noChangeAspect="1" noChangeArrowheads="1"/>
          </p:cNvPicPr>
          <p:nvPr/>
        </p:nvPicPr>
        <p:blipFill>
          <a:blip r:embed="rId3" cstate="print"/>
          <a:srcRect/>
          <a:stretch>
            <a:fillRect/>
          </a:stretch>
        </p:blipFill>
        <p:spPr bwMode="auto">
          <a:xfrm>
            <a:off x="1911959" y="4034459"/>
            <a:ext cx="8368082" cy="2223120"/>
          </a:xfrm>
          <a:prstGeom prst="rect">
            <a:avLst/>
          </a:prstGeom>
          <a:noFill/>
          <a:ln w="9525">
            <a:noFill/>
            <a:miter lim="800000"/>
            <a:headEnd/>
            <a:tailEnd/>
          </a:ln>
        </p:spPr>
      </p:pic>
      <p:sp>
        <p:nvSpPr>
          <p:cNvPr id="2" name="灯片编号占位符 1">
            <a:extLst>
              <a:ext uri="{FF2B5EF4-FFF2-40B4-BE49-F238E27FC236}">
                <a16:creationId xmlns:a16="http://schemas.microsoft.com/office/drawing/2014/main" id="{EEE1A771-5FE3-9F91-1566-C8636171AE84}"/>
              </a:ext>
            </a:extLst>
          </p:cNvPr>
          <p:cNvSpPr>
            <a:spLocks noGrp="1"/>
          </p:cNvSpPr>
          <p:nvPr>
            <p:ph type="sldNum" sz="quarter" idx="12"/>
          </p:nvPr>
        </p:nvSpPr>
        <p:spPr/>
        <p:txBody>
          <a:bodyPr/>
          <a:lstStyle/>
          <a:p>
            <a:fld id="{223FAEE7-31C4-4651-8074-E84314A39F13}" type="slidenum">
              <a:rPr lang="zh-CN" altLang="en-US" smtClean="0"/>
              <a:t>11</a:t>
            </a:fld>
            <a:endParaRPr lang="zh-CN" altLang="en-US"/>
          </a:p>
        </p:txBody>
      </p:sp>
    </p:spTree>
    <p:extLst>
      <p:ext uri="{BB962C8B-B14F-4D97-AF65-F5344CB8AC3E}">
        <p14:creationId xmlns:p14="http://schemas.microsoft.com/office/powerpoint/2010/main" val="282016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US" altLang="zh-CN" sz="2400" dirty="0">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任务管理的实现</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当调用</a:t>
            </a:r>
            <a:r>
              <a:rPr lang="en-US" altLang="zh-CN" sz="2400" kern="0" dirty="0" err="1">
                <a:latin typeface="微软雅黑" pitchFamily="34" charset="-122"/>
                <a:ea typeface="微软雅黑" pitchFamily="34" charset="-122"/>
              </a:rPr>
              <a:t>xTaskCreate</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函数创建一个新的任务时，</a:t>
            </a:r>
            <a:r>
              <a:rPr lang="en-US" altLang="zh-CN" sz="2400" kern="0" dirty="0">
                <a:latin typeface="微软雅黑" pitchFamily="34" charset="-122"/>
                <a:ea typeface="微软雅黑" pitchFamily="34" charset="-122"/>
              </a:rPr>
              <a:t>FreeRTOS</a:t>
            </a:r>
            <a:r>
              <a:rPr lang="zh-CN" altLang="en-US" sz="2400" kern="0" dirty="0">
                <a:latin typeface="微软雅黑" pitchFamily="34" charset="-122"/>
                <a:ea typeface="微软雅黑" pitchFamily="34" charset="-122"/>
              </a:rPr>
              <a:t>首先为新任务分配所需的内存。若内存分配成功，则初始化任务控制块的任务名称、堆栈深度和任务优先级，然后根据堆栈的增长方向初始化任务控制块的堆栈。</a:t>
            </a:r>
            <a:endParaRPr lang="en-US" altLang="zh-CN" sz="2400" kern="0" dirty="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接着，</a:t>
            </a:r>
            <a:r>
              <a:rPr lang="en-US" altLang="zh-CN" sz="2400" kern="0" dirty="0">
                <a:latin typeface="微软雅黑" pitchFamily="34" charset="-122"/>
                <a:ea typeface="微软雅黑" pitchFamily="34" charset="-122"/>
              </a:rPr>
              <a:t>FreeRTOS</a:t>
            </a:r>
            <a:r>
              <a:rPr lang="zh-CN" altLang="en-US" sz="2400" kern="0" dirty="0">
                <a:latin typeface="微软雅黑" pitchFamily="34" charset="-122"/>
                <a:ea typeface="微软雅黑" pitchFamily="34" charset="-122"/>
              </a:rPr>
              <a:t>把当前创建的任务加入到就绪任务链表。若当前此任务的优先级为最高，则把此优先级赋值给变量</a:t>
            </a:r>
            <a:r>
              <a:rPr lang="en-US" altLang="zh-CN" sz="2400" kern="0" dirty="0" err="1">
                <a:latin typeface="微软雅黑" pitchFamily="34" charset="-122"/>
                <a:ea typeface="微软雅黑" pitchFamily="34" charset="-122"/>
              </a:rPr>
              <a:t>ucTopReadyPriority</a:t>
            </a:r>
            <a:r>
              <a:rPr lang="zh-CN" altLang="en-US" sz="2400" kern="0" dirty="0">
                <a:latin typeface="微软雅黑" pitchFamily="34" charset="-122"/>
                <a:ea typeface="微软雅黑" pitchFamily="34" charset="-122"/>
              </a:rPr>
              <a:t>。若任务调度程序已经运行且当前创建的任务优先级为最高，则进行任务切换。</a:t>
            </a:r>
          </a:p>
        </p:txBody>
      </p:sp>
      <p:sp>
        <p:nvSpPr>
          <p:cNvPr id="2" name="灯片编号占位符 1">
            <a:extLst>
              <a:ext uri="{FF2B5EF4-FFF2-40B4-BE49-F238E27FC236}">
                <a16:creationId xmlns:a16="http://schemas.microsoft.com/office/drawing/2014/main" id="{CBA32945-9410-DAD2-FDE8-473C374B1A1F}"/>
              </a:ext>
            </a:extLst>
          </p:cNvPr>
          <p:cNvSpPr>
            <a:spLocks noGrp="1"/>
          </p:cNvSpPr>
          <p:nvPr>
            <p:ph type="sldNum" sz="quarter" idx="12"/>
          </p:nvPr>
        </p:nvSpPr>
        <p:spPr/>
        <p:txBody>
          <a:bodyPr/>
          <a:lstStyle/>
          <a:p>
            <a:fld id="{223FAEE7-31C4-4651-8074-E84314A39F13}" type="slidenum">
              <a:rPr lang="zh-CN" altLang="en-US" smtClean="0"/>
              <a:t>12</a:t>
            </a:fld>
            <a:endParaRPr lang="zh-CN" altLang="en-US"/>
          </a:p>
        </p:txBody>
      </p:sp>
    </p:spTree>
    <p:extLst>
      <p:ext uri="{BB962C8B-B14F-4D97-AF65-F5344CB8AC3E}">
        <p14:creationId xmlns:p14="http://schemas.microsoft.com/office/powerpoint/2010/main" val="1627067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US" altLang="zh-CN" sz="2400" dirty="0">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任务管理的实现</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调度器保证总是在所有可运行的任务中选择具有最高优先级的任务，并使其进入运行态。如果被选中的优先级上具有不止一个任务，调度器会让这些任务轮流执行。</a:t>
            </a: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要能够选择下一个运行的任务，调度器需要在每个时间片的结束时刻运行自己本身。一个称为心跳</a:t>
            </a:r>
            <a:r>
              <a:rPr lang="en-US" altLang="zh-CN" sz="2400" kern="0" dirty="0">
                <a:latin typeface="微软雅黑" pitchFamily="34" charset="-122"/>
                <a:ea typeface="微软雅黑" pitchFamily="34" charset="-122"/>
              </a:rPr>
              <a:t>(tick</a:t>
            </a:r>
            <a:r>
              <a:rPr lang="zh-CN" altLang="en-US" sz="2400" kern="0" dirty="0">
                <a:latin typeface="微软雅黑" pitchFamily="34" charset="-122"/>
                <a:ea typeface="微软雅黑" pitchFamily="34" charset="-122"/>
              </a:rPr>
              <a:t>，有些地方被称为时钟滴答</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中断的周期性中断用于此目的。</a:t>
            </a: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时间片的长度通过心跳中断的频率进行设定。</a:t>
            </a:r>
          </a:p>
        </p:txBody>
      </p:sp>
      <p:sp>
        <p:nvSpPr>
          <p:cNvPr id="2" name="灯片编号占位符 1">
            <a:extLst>
              <a:ext uri="{FF2B5EF4-FFF2-40B4-BE49-F238E27FC236}">
                <a16:creationId xmlns:a16="http://schemas.microsoft.com/office/drawing/2014/main" id="{576A0C40-BA6A-2FE3-BE36-F9F88F6B4179}"/>
              </a:ext>
            </a:extLst>
          </p:cNvPr>
          <p:cNvSpPr>
            <a:spLocks noGrp="1"/>
          </p:cNvSpPr>
          <p:nvPr>
            <p:ph type="sldNum" sz="quarter" idx="12"/>
          </p:nvPr>
        </p:nvSpPr>
        <p:spPr/>
        <p:txBody>
          <a:bodyPr/>
          <a:lstStyle/>
          <a:p>
            <a:fld id="{223FAEE7-31C4-4651-8074-E84314A39F13}" type="slidenum">
              <a:rPr lang="zh-CN" altLang="en-US" smtClean="0"/>
              <a:t>13</a:t>
            </a:fld>
            <a:endParaRPr lang="zh-CN" altLang="en-US"/>
          </a:p>
        </p:txBody>
      </p:sp>
    </p:spTree>
    <p:extLst>
      <p:ext uri="{BB962C8B-B14F-4D97-AF65-F5344CB8AC3E}">
        <p14:creationId xmlns:p14="http://schemas.microsoft.com/office/powerpoint/2010/main" val="2382842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US" altLang="zh-CN" sz="2400" dirty="0">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任务管理的实现</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marL="342851" indent="-342851" eaLnBrk="0" hangingPunct="0">
              <a:lnSpc>
                <a:spcPct val="150000"/>
              </a:lnSpc>
              <a:buClr>
                <a:schemeClr val="tx2"/>
              </a:buClr>
              <a:buSzPct val="90000"/>
              <a:buFont typeface="Wingdings" pitchFamily="2" charset="2"/>
              <a:buChar char="Ø"/>
            </a:pPr>
            <a:r>
              <a:rPr lang="en-US" altLang="zh-CN" sz="2400" kern="0" dirty="0">
                <a:latin typeface="微软雅黑" pitchFamily="34" charset="-122"/>
                <a:ea typeface="微软雅黑" pitchFamily="34" charset="-122"/>
              </a:rPr>
              <a:t>FreeRTOS API</a:t>
            </a:r>
            <a:r>
              <a:rPr lang="zh-CN" altLang="en-US" sz="2400" kern="0" dirty="0">
                <a:latin typeface="微软雅黑" pitchFamily="34" charset="-122"/>
                <a:ea typeface="微软雅黑" pitchFamily="34" charset="-122"/>
              </a:rPr>
              <a:t>函数调用中指定的时间总是以心跳中断为单位（通常的提法为心跳“</a:t>
            </a:r>
            <a:r>
              <a:rPr lang="en-US" altLang="zh-CN" sz="2400" kern="0" dirty="0">
                <a:latin typeface="微软雅黑" pitchFamily="34" charset="-122"/>
                <a:ea typeface="微软雅黑" pitchFamily="34" charset="-122"/>
              </a:rPr>
              <a:t>ticks”)</a:t>
            </a:r>
            <a:r>
              <a:rPr lang="zh-CN" altLang="en-US" sz="2400" kern="0" dirty="0">
                <a:latin typeface="微软雅黑" pitchFamily="34" charset="-122"/>
                <a:ea typeface="微软雅黑" pitchFamily="34" charset="-122"/>
              </a:rPr>
              <a:t>。</a:t>
            </a: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心跳计数</a:t>
            </a:r>
            <a:r>
              <a:rPr lang="en-US" altLang="zh-CN" sz="2400" kern="0" dirty="0">
                <a:latin typeface="微软雅黑" pitchFamily="34" charset="-122"/>
                <a:ea typeface="微软雅黑" pitchFamily="34" charset="-122"/>
              </a:rPr>
              <a:t>(tick count)</a:t>
            </a:r>
            <a:r>
              <a:rPr lang="zh-CN" altLang="en-US" sz="2400" kern="0" dirty="0">
                <a:latin typeface="微软雅黑" pitchFamily="34" charset="-122"/>
                <a:ea typeface="微软雅黑" pitchFamily="34" charset="-122"/>
              </a:rPr>
              <a:t>值表示的是从调度器启动开始，心跳中断的总数，并假定心跳计数器不会溢出。用户程序在指定延迟周期时不必考虑心跳计数溢出问题，因为时间连贯性在内核中进行管理。</a:t>
            </a:r>
          </a:p>
        </p:txBody>
      </p:sp>
      <p:sp>
        <p:nvSpPr>
          <p:cNvPr id="2" name="灯片编号占位符 1">
            <a:extLst>
              <a:ext uri="{FF2B5EF4-FFF2-40B4-BE49-F238E27FC236}">
                <a16:creationId xmlns:a16="http://schemas.microsoft.com/office/drawing/2014/main" id="{D6956263-54E4-B227-D0E6-6D037497AF8A}"/>
              </a:ext>
            </a:extLst>
          </p:cNvPr>
          <p:cNvSpPr>
            <a:spLocks noGrp="1"/>
          </p:cNvSpPr>
          <p:nvPr>
            <p:ph type="sldNum" sz="quarter" idx="12"/>
          </p:nvPr>
        </p:nvSpPr>
        <p:spPr/>
        <p:txBody>
          <a:bodyPr/>
          <a:lstStyle/>
          <a:p>
            <a:fld id="{223FAEE7-31C4-4651-8074-E84314A39F13}" type="slidenum">
              <a:rPr lang="zh-CN" altLang="en-US" smtClean="0"/>
              <a:t>14</a:t>
            </a:fld>
            <a:endParaRPr lang="zh-CN" altLang="en-US"/>
          </a:p>
        </p:txBody>
      </p:sp>
    </p:spTree>
    <p:extLst>
      <p:ext uri="{BB962C8B-B14F-4D97-AF65-F5344CB8AC3E}">
        <p14:creationId xmlns:p14="http://schemas.microsoft.com/office/powerpoint/2010/main" val="2648713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US" altLang="zh-CN" sz="2400" dirty="0">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任务管理的实现</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eaLnBrk="0" hangingPunct="0">
              <a:lnSpc>
                <a:spcPct val="150000"/>
              </a:lnSpc>
              <a:buClr>
                <a:schemeClr val="tx2"/>
              </a:buClr>
              <a:buSzPct val="90000"/>
            </a:pPr>
            <a:r>
              <a:rPr lang="zh-CN" altLang="en-US" sz="2400" kern="0" dirty="0">
                <a:latin typeface="微软雅黑" pitchFamily="34" charset="-122"/>
                <a:ea typeface="微软雅黑" pitchFamily="34" charset="-122"/>
              </a:rPr>
              <a:t>图中红色的线段表示内核本身在运行。黑色箭头表示任务到中断，中断再到另一个任务的执行顺序。</a:t>
            </a:r>
          </a:p>
        </p:txBody>
      </p:sp>
      <p:pic>
        <p:nvPicPr>
          <p:cNvPr id="6" name="Picture 2">
            <a:extLst>
              <a:ext uri="{FF2B5EF4-FFF2-40B4-BE49-F238E27FC236}">
                <a16:creationId xmlns:a16="http://schemas.microsoft.com/office/drawing/2014/main" id="{9B5C49DA-53D8-44CD-BB12-B37EDC5A3571}"/>
              </a:ext>
            </a:extLst>
          </p:cNvPr>
          <p:cNvPicPr>
            <a:picLocks noChangeAspect="1" noChangeArrowheads="1"/>
          </p:cNvPicPr>
          <p:nvPr/>
        </p:nvPicPr>
        <p:blipFill>
          <a:blip r:embed="rId3" cstate="print"/>
          <a:srcRect/>
          <a:stretch>
            <a:fillRect/>
          </a:stretch>
        </p:blipFill>
        <p:spPr bwMode="auto">
          <a:xfrm>
            <a:off x="3718401" y="2514194"/>
            <a:ext cx="5317794" cy="3743385"/>
          </a:xfrm>
          <a:prstGeom prst="rect">
            <a:avLst/>
          </a:prstGeom>
          <a:noFill/>
          <a:ln w="9525">
            <a:noFill/>
            <a:miter lim="800000"/>
            <a:headEnd/>
            <a:tailEnd/>
          </a:ln>
        </p:spPr>
      </p:pic>
      <p:sp>
        <p:nvSpPr>
          <p:cNvPr id="2" name="灯片编号占位符 1">
            <a:extLst>
              <a:ext uri="{FF2B5EF4-FFF2-40B4-BE49-F238E27FC236}">
                <a16:creationId xmlns:a16="http://schemas.microsoft.com/office/drawing/2014/main" id="{B0CF0C3B-CE69-F4BB-FB91-99510061C1BF}"/>
              </a:ext>
            </a:extLst>
          </p:cNvPr>
          <p:cNvSpPr>
            <a:spLocks noGrp="1"/>
          </p:cNvSpPr>
          <p:nvPr>
            <p:ph type="sldNum" sz="quarter" idx="12"/>
          </p:nvPr>
        </p:nvSpPr>
        <p:spPr/>
        <p:txBody>
          <a:bodyPr/>
          <a:lstStyle/>
          <a:p>
            <a:fld id="{223FAEE7-31C4-4651-8074-E84314A39F13}" type="slidenum">
              <a:rPr lang="zh-CN" altLang="en-US" smtClean="0"/>
              <a:t>15</a:t>
            </a:fld>
            <a:endParaRPr lang="zh-CN" altLang="en-US"/>
          </a:p>
        </p:txBody>
      </p:sp>
    </p:spTree>
    <p:extLst>
      <p:ext uri="{BB962C8B-B14F-4D97-AF65-F5344CB8AC3E}">
        <p14:creationId xmlns:p14="http://schemas.microsoft.com/office/powerpoint/2010/main" val="3934164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US" altLang="zh-CN" sz="2400" dirty="0">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任务管理的实现</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eaLnBrk="0" hangingPunct="0">
              <a:lnSpc>
                <a:spcPct val="150000"/>
              </a:lnSpc>
              <a:buClr>
                <a:schemeClr val="tx2"/>
              </a:buClr>
              <a:buSzPct val="90000"/>
            </a:pPr>
            <a:r>
              <a:rPr lang="en-US" altLang="zh-CN" sz="2400" kern="0" dirty="0">
                <a:latin typeface="微软雅黑" pitchFamily="34" charset="-122"/>
                <a:ea typeface="微软雅黑" pitchFamily="34" charset="-122"/>
              </a:rPr>
              <a:t>FreeRTOS</a:t>
            </a:r>
            <a:r>
              <a:rPr lang="zh-CN" altLang="en-US" sz="2400" kern="0" dirty="0">
                <a:latin typeface="微软雅黑" pitchFamily="34" charset="-122"/>
                <a:ea typeface="微软雅黑" pitchFamily="34" charset="-122"/>
              </a:rPr>
              <a:t>下任务删除分两步进行。当用户调用</a:t>
            </a:r>
            <a:r>
              <a:rPr lang="en-US" altLang="zh-CN" sz="2400" kern="0" dirty="0" err="1">
                <a:latin typeface="微软雅黑" pitchFamily="34" charset="-122"/>
                <a:ea typeface="微软雅黑" pitchFamily="34" charset="-122"/>
              </a:rPr>
              <a:t>vTaskDelete</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函数后，执行任务删除的第一步：</a:t>
            </a:r>
            <a:r>
              <a:rPr lang="en-US" altLang="zh-CN" sz="2400" kern="0" dirty="0">
                <a:latin typeface="微软雅黑" pitchFamily="34" charset="-122"/>
                <a:ea typeface="微软雅黑" pitchFamily="34" charset="-122"/>
              </a:rPr>
              <a:t>FreeRTOS</a:t>
            </a:r>
            <a:r>
              <a:rPr lang="zh-CN" altLang="en-US" sz="2400" kern="0" dirty="0">
                <a:latin typeface="微软雅黑" pitchFamily="34" charset="-122"/>
                <a:ea typeface="微软雅黑" pitchFamily="34" charset="-122"/>
              </a:rPr>
              <a:t>先把要删除的任务从就绪任务链表和事件等待链表中删除，然后把此任务添加到任务删除链表，若删除的任务是当前运行任务，系统就执行任务调度函数，至此完成任务删除的第一步。</a:t>
            </a:r>
            <a:endParaRPr lang="en-US" altLang="zh-CN" sz="2400" kern="0" dirty="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endParaRPr lang="zh-CN" altLang="en-US" sz="2400" kern="0" dirty="0">
              <a:latin typeface="微软雅黑" pitchFamily="34" charset="-122"/>
              <a:ea typeface="微软雅黑" pitchFamily="34" charset="-122"/>
            </a:endParaRPr>
          </a:p>
        </p:txBody>
      </p:sp>
      <p:sp>
        <p:nvSpPr>
          <p:cNvPr id="2" name="灯片编号占位符 1">
            <a:extLst>
              <a:ext uri="{FF2B5EF4-FFF2-40B4-BE49-F238E27FC236}">
                <a16:creationId xmlns:a16="http://schemas.microsoft.com/office/drawing/2014/main" id="{E9B97081-1268-90A9-42C9-BFE10D85CB0F}"/>
              </a:ext>
            </a:extLst>
          </p:cNvPr>
          <p:cNvSpPr>
            <a:spLocks noGrp="1"/>
          </p:cNvSpPr>
          <p:nvPr>
            <p:ph type="sldNum" sz="quarter" idx="12"/>
          </p:nvPr>
        </p:nvSpPr>
        <p:spPr/>
        <p:txBody>
          <a:bodyPr/>
          <a:lstStyle/>
          <a:p>
            <a:fld id="{223FAEE7-31C4-4651-8074-E84314A39F13}" type="slidenum">
              <a:rPr lang="zh-CN" altLang="en-US" smtClean="0"/>
              <a:t>16</a:t>
            </a:fld>
            <a:endParaRPr lang="zh-CN" altLang="en-US"/>
          </a:p>
        </p:txBody>
      </p:sp>
    </p:spTree>
    <p:extLst>
      <p:ext uri="{BB962C8B-B14F-4D97-AF65-F5344CB8AC3E}">
        <p14:creationId xmlns:p14="http://schemas.microsoft.com/office/powerpoint/2010/main" val="1558985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US" altLang="zh-CN" sz="2400" dirty="0">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任务管理的实现</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当系统空闲任务即</a:t>
            </a:r>
            <a:r>
              <a:rPr lang="en-US" altLang="zh-CN" sz="2400" kern="0" dirty="0" err="1">
                <a:latin typeface="微软雅黑" pitchFamily="34" charset="-122"/>
                <a:ea typeface="微软雅黑" pitchFamily="34" charset="-122"/>
              </a:rPr>
              <a:t>prvldleTask</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函数运行时，若发现任务删除链表中有等待删除的任务，则进行任务删除的第二步，即释放该任务占用的内存空间， 并把该任务从任务删除链表中删除，这样才彻底删除了这个任务。值得注意的是，在</a:t>
            </a:r>
            <a:r>
              <a:rPr lang="en-US" altLang="zh-CN" sz="2400" kern="0" dirty="0">
                <a:latin typeface="微软雅黑" pitchFamily="34" charset="-122"/>
                <a:ea typeface="微软雅黑" pitchFamily="34" charset="-122"/>
              </a:rPr>
              <a:t>FreeRTOS</a:t>
            </a:r>
            <a:r>
              <a:rPr lang="zh-CN" altLang="en-US" sz="2400" kern="0" dirty="0">
                <a:latin typeface="微软雅黑" pitchFamily="34" charset="-122"/>
                <a:ea typeface="微软雅黑" pitchFamily="34" charset="-122"/>
              </a:rPr>
              <a:t>中，当系统被配置为不可剥夺内核时，空闲任务还有实现各个任务切换的功能。</a:t>
            </a: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采用两步删除的策略有利于减少内核关断时间，减少任务删除函数的执行时间，尤其是当删除多个任务的时候。</a:t>
            </a:r>
          </a:p>
        </p:txBody>
      </p:sp>
      <p:sp>
        <p:nvSpPr>
          <p:cNvPr id="2" name="灯片编号占位符 1">
            <a:extLst>
              <a:ext uri="{FF2B5EF4-FFF2-40B4-BE49-F238E27FC236}">
                <a16:creationId xmlns:a16="http://schemas.microsoft.com/office/drawing/2014/main" id="{63A25054-0588-EA88-F635-CCB4C4B020FC}"/>
              </a:ext>
            </a:extLst>
          </p:cNvPr>
          <p:cNvSpPr>
            <a:spLocks noGrp="1"/>
          </p:cNvSpPr>
          <p:nvPr>
            <p:ph type="sldNum" sz="quarter" idx="12"/>
          </p:nvPr>
        </p:nvSpPr>
        <p:spPr/>
        <p:txBody>
          <a:bodyPr/>
          <a:lstStyle/>
          <a:p>
            <a:fld id="{223FAEE7-31C4-4651-8074-E84314A39F13}" type="slidenum">
              <a:rPr lang="zh-CN" altLang="en-US" smtClean="0"/>
              <a:t>17</a:t>
            </a:fld>
            <a:endParaRPr lang="zh-CN" altLang="en-US"/>
          </a:p>
        </p:txBody>
      </p:sp>
    </p:spTree>
    <p:extLst>
      <p:ext uri="{BB962C8B-B14F-4D97-AF65-F5344CB8AC3E}">
        <p14:creationId xmlns:p14="http://schemas.microsoft.com/office/powerpoint/2010/main" val="4193995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US" altLang="zh-CN" sz="2400" dirty="0">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任务非运行态：阻塞状态</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如果一个任务正在等待某个事件，则称这个任务处于“阻塞态</a:t>
            </a:r>
            <a:r>
              <a:rPr lang="en-US" altLang="zh-CN" sz="2400" kern="0" dirty="0">
                <a:latin typeface="微软雅黑" pitchFamily="34" charset="-122"/>
                <a:ea typeface="微软雅黑" pitchFamily="34" charset="-122"/>
              </a:rPr>
              <a:t>(blocked)”</a:t>
            </a:r>
            <a:r>
              <a:rPr lang="zh-CN" altLang="en-US" sz="2400" kern="0" dirty="0">
                <a:latin typeface="微软雅黑" pitchFamily="34" charset="-122"/>
                <a:ea typeface="微软雅黑" pitchFamily="34" charset="-122"/>
              </a:rPr>
              <a:t>。阻塞态是非运行态的一个子状态。</a:t>
            </a: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任务可以进入阻塞态以等待以下两种不同类型的事件：</a:t>
            </a:r>
            <a:endParaRPr lang="en-US" altLang="zh-CN" sz="2400" kern="0" dirty="0">
              <a:latin typeface="微软雅黑" pitchFamily="34" charset="-122"/>
              <a:ea typeface="微软雅黑" pitchFamily="34" charset="-122"/>
            </a:endParaRPr>
          </a:p>
          <a:p>
            <a:pPr marL="799987" lvl="1" indent="-342851" eaLnBrk="0" hangingPunct="0">
              <a:lnSpc>
                <a:spcPct val="150000"/>
              </a:lnSpc>
              <a:buClr>
                <a:schemeClr val="tx2"/>
              </a:buClr>
              <a:buSzPct val="90000"/>
              <a:buFont typeface="Wingdings" pitchFamily="2" charset="2"/>
              <a:buChar char="ü"/>
            </a:pPr>
            <a:r>
              <a:rPr lang="zh-CN" altLang="en-US" sz="2400" kern="0" dirty="0">
                <a:latin typeface="微软雅黑" pitchFamily="34" charset="-122"/>
                <a:ea typeface="微软雅黑" pitchFamily="34" charset="-122"/>
              </a:rPr>
              <a:t>定时</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时间相关</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事件</a:t>
            </a:r>
            <a:endParaRPr lang="en-US" altLang="zh-CN" sz="2400" kern="0" dirty="0">
              <a:latin typeface="微软雅黑" pitchFamily="34" charset="-122"/>
              <a:ea typeface="微软雅黑" pitchFamily="34" charset="-122"/>
            </a:endParaRPr>
          </a:p>
          <a:p>
            <a:pPr marL="799987" lvl="1" indent="-342851" eaLnBrk="0" hangingPunct="0">
              <a:lnSpc>
                <a:spcPct val="150000"/>
              </a:lnSpc>
              <a:buClr>
                <a:schemeClr val="tx2"/>
              </a:buClr>
              <a:buSzPct val="90000"/>
              <a:buFont typeface="Wingdings" pitchFamily="2" charset="2"/>
              <a:buChar char="ü"/>
            </a:pPr>
            <a:r>
              <a:rPr lang="zh-CN" altLang="en-US" sz="2400" kern="0" dirty="0">
                <a:latin typeface="微软雅黑" pitchFamily="34" charset="-122"/>
                <a:ea typeface="微软雅黑" pitchFamily="34" charset="-122"/>
              </a:rPr>
              <a:t>同步事件</a:t>
            </a:r>
          </a:p>
          <a:p>
            <a:pPr marL="342851" indent="-342851" eaLnBrk="0" hangingPunct="0">
              <a:lnSpc>
                <a:spcPct val="150000"/>
              </a:lnSpc>
              <a:buClr>
                <a:schemeClr val="tx2"/>
              </a:buClr>
              <a:buSzPct val="90000"/>
              <a:buFont typeface="Wingdings" pitchFamily="2" charset="2"/>
              <a:buChar char="Ø"/>
            </a:pPr>
            <a:r>
              <a:rPr lang="en-US" altLang="zh-CN" sz="2400" kern="0" dirty="0">
                <a:latin typeface="微软雅黑" pitchFamily="34" charset="-122"/>
                <a:ea typeface="微软雅黑" pitchFamily="34" charset="-122"/>
              </a:rPr>
              <a:t>FreeRTOS </a:t>
            </a:r>
            <a:r>
              <a:rPr lang="zh-CN" altLang="en-US" sz="2400" kern="0" dirty="0">
                <a:latin typeface="微软雅黑" pitchFamily="34" charset="-122"/>
                <a:ea typeface="微软雅黑" pitchFamily="34" charset="-122"/>
              </a:rPr>
              <a:t>的队列，二值信号量，计数信号量，互斥信号量和互斥量都可以用来实现同步事件</a:t>
            </a:r>
          </a:p>
        </p:txBody>
      </p:sp>
      <p:sp>
        <p:nvSpPr>
          <p:cNvPr id="2" name="灯片编号占位符 1">
            <a:extLst>
              <a:ext uri="{FF2B5EF4-FFF2-40B4-BE49-F238E27FC236}">
                <a16:creationId xmlns:a16="http://schemas.microsoft.com/office/drawing/2014/main" id="{3E75192C-599D-54CB-2372-AEDBEF7C50DA}"/>
              </a:ext>
            </a:extLst>
          </p:cNvPr>
          <p:cNvSpPr>
            <a:spLocks noGrp="1"/>
          </p:cNvSpPr>
          <p:nvPr>
            <p:ph type="sldNum" sz="quarter" idx="12"/>
          </p:nvPr>
        </p:nvSpPr>
        <p:spPr/>
        <p:txBody>
          <a:bodyPr/>
          <a:lstStyle/>
          <a:p>
            <a:fld id="{223FAEE7-31C4-4651-8074-E84314A39F13}" type="slidenum">
              <a:rPr lang="zh-CN" altLang="en-US" smtClean="0"/>
              <a:t>18</a:t>
            </a:fld>
            <a:endParaRPr lang="zh-CN" altLang="en-US"/>
          </a:p>
        </p:txBody>
      </p:sp>
    </p:spTree>
    <p:extLst>
      <p:ext uri="{BB962C8B-B14F-4D97-AF65-F5344CB8AC3E}">
        <p14:creationId xmlns:p14="http://schemas.microsoft.com/office/powerpoint/2010/main" val="1636581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US" altLang="zh-CN" sz="2400" dirty="0">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任务非运行态：挂起状态</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处于挂起状态的任务对调度器而言是不可见的。让一个任务进入挂起状态的唯一办法就是调用 </a:t>
            </a:r>
            <a:r>
              <a:rPr lang="en-US" altLang="zh-CN" sz="2400" kern="0" dirty="0" err="1">
                <a:latin typeface="微软雅黑" pitchFamily="34" charset="-122"/>
                <a:ea typeface="微软雅黑" pitchFamily="34" charset="-122"/>
              </a:rPr>
              <a:t>vTaskSuspend</a:t>
            </a:r>
            <a:r>
              <a:rPr lang="en-US" altLang="zh-CN" sz="2400" kern="0" dirty="0">
                <a:latin typeface="微软雅黑" pitchFamily="34" charset="-122"/>
                <a:ea typeface="微软雅黑" pitchFamily="34" charset="-122"/>
              </a:rPr>
              <a:t>() API </a:t>
            </a:r>
            <a:r>
              <a:rPr lang="zh-CN" altLang="en-US" sz="2400" kern="0" dirty="0">
                <a:latin typeface="微软雅黑" pitchFamily="34" charset="-122"/>
                <a:ea typeface="微软雅黑" pitchFamily="34" charset="-122"/>
              </a:rPr>
              <a:t>函数；</a:t>
            </a: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而 把 一 个 挂 起 状 态 的 任 务 唤 醒 的 唯 一 途 径 就 是 调 用 </a:t>
            </a:r>
            <a:r>
              <a:rPr lang="en-US" altLang="zh-CN" sz="2400" kern="0" dirty="0" err="1">
                <a:latin typeface="微软雅黑" pitchFamily="34" charset="-122"/>
                <a:ea typeface="微软雅黑" pitchFamily="34" charset="-122"/>
              </a:rPr>
              <a:t>vTaskResume</a:t>
            </a:r>
            <a:r>
              <a:rPr lang="en-US" altLang="zh-CN" sz="2400" kern="0" dirty="0">
                <a:latin typeface="微软雅黑" pitchFamily="34" charset="-122"/>
                <a:ea typeface="微软雅黑" pitchFamily="34" charset="-122"/>
              </a:rPr>
              <a:t>() </a:t>
            </a:r>
            <a:r>
              <a:rPr lang="zh-CN" altLang="en-US" sz="2400" kern="0" dirty="0">
                <a:latin typeface="微软雅黑" pitchFamily="34" charset="-122"/>
                <a:ea typeface="微软雅黑" pitchFamily="34" charset="-122"/>
              </a:rPr>
              <a:t>或</a:t>
            </a:r>
            <a:r>
              <a:rPr lang="en-US" altLang="zh-CN" sz="2400" kern="0" dirty="0" err="1">
                <a:latin typeface="微软雅黑" pitchFamily="34" charset="-122"/>
                <a:ea typeface="微软雅黑" pitchFamily="34" charset="-122"/>
              </a:rPr>
              <a:t>vTaskResumeFromISR</a:t>
            </a:r>
            <a:r>
              <a:rPr lang="en-US" altLang="zh-CN" sz="2400" kern="0" dirty="0">
                <a:latin typeface="微软雅黑" pitchFamily="34" charset="-122"/>
                <a:ea typeface="微软雅黑" pitchFamily="34" charset="-122"/>
              </a:rPr>
              <a:t>() API </a:t>
            </a:r>
            <a:r>
              <a:rPr lang="zh-CN" altLang="en-US" sz="2400" kern="0" dirty="0">
                <a:latin typeface="微软雅黑" pitchFamily="34" charset="-122"/>
                <a:ea typeface="微软雅黑" pitchFamily="34" charset="-122"/>
              </a:rPr>
              <a:t>函数。大多数应用程序中都不会用到挂起状态。</a:t>
            </a:r>
            <a:endParaRPr lang="en-US" altLang="zh-CN" sz="2400" kern="0" dirty="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r>
              <a:rPr lang="en-US" altLang="zh-CN" sz="2400" kern="0" dirty="0" err="1">
                <a:latin typeface="微软雅黑" pitchFamily="34" charset="-122"/>
                <a:ea typeface="微软雅黑" pitchFamily="34" charset="-122"/>
              </a:rPr>
              <a:t>xxxFromISR</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代表中断安全版本，可以在中断函数中使用</a:t>
            </a:r>
          </a:p>
        </p:txBody>
      </p:sp>
      <p:sp>
        <p:nvSpPr>
          <p:cNvPr id="2" name="灯片编号占位符 1">
            <a:extLst>
              <a:ext uri="{FF2B5EF4-FFF2-40B4-BE49-F238E27FC236}">
                <a16:creationId xmlns:a16="http://schemas.microsoft.com/office/drawing/2014/main" id="{898FF298-52BD-5CA1-10A2-7BB9DD288CD1}"/>
              </a:ext>
            </a:extLst>
          </p:cNvPr>
          <p:cNvSpPr>
            <a:spLocks noGrp="1"/>
          </p:cNvSpPr>
          <p:nvPr>
            <p:ph type="sldNum" sz="quarter" idx="12"/>
          </p:nvPr>
        </p:nvSpPr>
        <p:spPr/>
        <p:txBody>
          <a:bodyPr/>
          <a:lstStyle/>
          <a:p>
            <a:fld id="{223FAEE7-31C4-4651-8074-E84314A39F13}" type="slidenum">
              <a:rPr lang="zh-CN" altLang="en-US" smtClean="0"/>
              <a:t>19</a:t>
            </a:fld>
            <a:endParaRPr lang="zh-CN" altLang="en-US"/>
          </a:p>
        </p:txBody>
      </p:sp>
    </p:spTree>
    <p:extLst>
      <p:ext uri="{BB962C8B-B14F-4D97-AF65-F5344CB8AC3E}">
        <p14:creationId xmlns:p14="http://schemas.microsoft.com/office/powerpoint/2010/main" val="33656645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US" altLang="zh-CN" sz="2400" dirty="0">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任务非运行态：就绪状态</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如果任务处于非运行状态，但既没有阻塞也没有挂起，则这个任务处于就绪</a:t>
            </a:r>
            <a:r>
              <a:rPr lang="en-US" altLang="zh-CN" sz="2400" kern="0" dirty="0">
                <a:latin typeface="微软雅黑" pitchFamily="34" charset="-122"/>
                <a:ea typeface="微软雅黑" pitchFamily="34" charset="-122"/>
              </a:rPr>
              <a:t>(ready</a:t>
            </a:r>
            <a:r>
              <a:rPr lang="zh-CN" altLang="en-US" sz="2400" kern="0" dirty="0">
                <a:latin typeface="微软雅黑" pitchFamily="34" charset="-122"/>
                <a:ea typeface="微软雅黑" pitchFamily="34" charset="-122"/>
              </a:rPr>
              <a:t>，准备或就绪</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状态。</a:t>
            </a:r>
            <a:endParaRPr lang="en-US" altLang="zh-CN" sz="2400" kern="0" dirty="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处于就绪态的任务能够被运行，但只是”准备</a:t>
            </a:r>
            <a:r>
              <a:rPr lang="en-US" altLang="zh-CN" sz="2400" kern="0" dirty="0">
                <a:latin typeface="微软雅黑" pitchFamily="34" charset="-122"/>
                <a:ea typeface="微软雅黑" pitchFamily="34" charset="-122"/>
              </a:rPr>
              <a:t>(ready)”</a:t>
            </a:r>
            <a:r>
              <a:rPr lang="zh-CN" altLang="en-US" sz="2400" kern="0" dirty="0">
                <a:latin typeface="微软雅黑" pitchFamily="34" charset="-122"/>
                <a:ea typeface="微软雅黑" pitchFamily="34" charset="-122"/>
              </a:rPr>
              <a:t>运行，而当前尚未运行。</a:t>
            </a:r>
          </a:p>
        </p:txBody>
      </p:sp>
      <p:sp>
        <p:nvSpPr>
          <p:cNvPr id="2" name="灯片编号占位符 1">
            <a:extLst>
              <a:ext uri="{FF2B5EF4-FFF2-40B4-BE49-F238E27FC236}">
                <a16:creationId xmlns:a16="http://schemas.microsoft.com/office/drawing/2014/main" id="{B4D40FB7-7C0B-38AF-5A4D-EC0F67501A83}"/>
              </a:ext>
            </a:extLst>
          </p:cNvPr>
          <p:cNvSpPr>
            <a:spLocks noGrp="1"/>
          </p:cNvSpPr>
          <p:nvPr>
            <p:ph type="sldNum" sz="quarter" idx="12"/>
          </p:nvPr>
        </p:nvSpPr>
        <p:spPr/>
        <p:txBody>
          <a:bodyPr/>
          <a:lstStyle/>
          <a:p>
            <a:fld id="{223FAEE7-31C4-4651-8074-E84314A39F13}" type="slidenum">
              <a:rPr lang="zh-CN" altLang="en-US" smtClean="0"/>
              <a:t>20</a:t>
            </a:fld>
            <a:endParaRPr lang="zh-CN" altLang="en-US"/>
          </a:p>
        </p:txBody>
      </p:sp>
    </p:spTree>
    <p:extLst>
      <p:ext uri="{BB962C8B-B14F-4D97-AF65-F5344CB8AC3E}">
        <p14:creationId xmlns:p14="http://schemas.microsoft.com/office/powerpoint/2010/main" val="3317522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US" altLang="zh-CN" sz="2400" dirty="0">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任务状态转移图</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eaLnBrk="0" hangingPunct="0">
              <a:lnSpc>
                <a:spcPct val="150000"/>
              </a:lnSpc>
              <a:buClr>
                <a:schemeClr val="tx2"/>
              </a:buClr>
              <a:buSzPct val="90000"/>
            </a:pPr>
            <a:endParaRPr lang="zh-CN" altLang="en-US" sz="2400" kern="0" dirty="0">
              <a:latin typeface="微软雅黑" pitchFamily="34" charset="-122"/>
              <a:ea typeface="微软雅黑" pitchFamily="34" charset="-122"/>
            </a:endParaRPr>
          </a:p>
        </p:txBody>
      </p:sp>
      <p:pic>
        <p:nvPicPr>
          <p:cNvPr id="6" name="Picture 2">
            <a:extLst>
              <a:ext uri="{FF2B5EF4-FFF2-40B4-BE49-F238E27FC236}">
                <a16:creationId xmlns:a16="http://schemas.microsoft.com/office/drawing/2014/main" id="{694E9A6B-FD78-4837-A807-6A4059FF481E}"/>
              </a:ext>
            </a:extLst>
          </p:cNvPr>
          <p:cNvPicPr>
            <a:picLocks noChangeAspect="1" noChangeArrowheads="1"/>
          </p:cNvPicPr>
          <p:nvPr/>
        </p:nvPicPr>
        <p:blipFill>
          <a:blip r:embed="rId3" cstate="print"/>
          <a:srcRect/>
          <a:stretch>
            <a:fillRect/>
          </a:stretch>
        </p:blipFill>
        <p:spPr bwMode="auto">
          <a:xfrm>
            <a:off x="4126485" y="1619826"/>
            <a:ext cx="4326480" cy="4924844"/>
          </a:xfrm>
          <a:prstGeom prst="rect">
            <a:avLst/>
          </a:prstGeom>
          <a:noFill/>
          <a:ln w="9525">
            <a:noFill/>
            <a:miter lim="800000"/>
            <a:headEnd/>
            <a:tailEnd/>
          </a:ln>
        </p:spPr>
      </p:pic>
      <p:sp>
        <p:nvSpPr>
          <p:cNvPr id="2" name="灯片编号占位符 1">
            <a:extLst>
              <a:ext uri="{FF2B5EF4-FFF2-40B4-BE49-F238E27FC236}">
                <a16:creationId xmlns:a16="http://schemas.microsoft.com/office/drawing/2014/main" id="{20DB5668-F1AA-3930-FB36-1F9E657C10C8}"/>
              </a:ext>
            </a:extLst>
          </p:cNvPr>
          <p:cNvSpPr>
            <a:spLocks noGrp="1"/>
          </p:cNvSpPr>
          <p:nvPr>
            <p:ph type="sldNum" sz="quarter" idx="12"/>
          </p:nvPr>
        </p:nvSpPr>
        <p:spPr/>
        <p:txBody>
          <a:bodyPr/>
          <a:lstStyle/>
          <a:p>
            <a:fld id="{223FAEE7-31C4-4651-8074-E84314A39F13}" type="slidenum">
              <a:rPr lang="zh-CN" altLang="en-US" smtClean="0"/>
              <a:t>21</a:t>
            </a:fld>
            <a:endParaRPr lang="zh-CN" altLang="en-US"/>
          </a:p>
        </p:txBody>
      </p:sp>
    </p:spTree>
    <p:extLst>
      <p:ext uri="{BB962C8B-B14F-4D97-AF65-F5344CB8AC3E}">
        <p14:creationId xmlns:p14="http://schemas.microsoft.com/office/powerpoint/2010/main" val="1188320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US" altLang="zh-CN" sz="2400" dirty="0">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的内存管理</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eaLnBrk="0" hangingPunct="0">
              <a:lnSpc>
                <a:spcPct val="150000"/>
              </a:lnSpc>
              <a:buClr>
                <a:schemeClr val="tx2"/>
              </a:buClr>
              <a:buSzPct val="90000"/>
            </a:pPr>
            <a:r>
              <a:rPr lang="zh-CN" altLang="en-US" sz="2400" kern="0" dirty="0">
                <a:latin typeface="微软雅黑" pitchFamily="34" charset="-122"/>
                <a:ea typeface="微软雅黑" pitchFamily="34" charset="-122"/>
              </a:rPr>
              <a:t>每当任务、队列和信号量创建的时候，</a:t>
            </a:r>
            <a:r>
              <a:rPr lang="en-US" altLang="zh-CN" sz="2400" kern="0" dirty="0">
                <a:latin typeface="微软雅黑" pitchFamily="34" charset="-122"/>
                <a:ea typeface="微软雅黑" pitchFamily="34" charset="-122"/>
              </a:rPr>
              <a:t>FreeRTOS</a:t>
            </a:r>
            <a:r>
              <a:rPr lang="zh-CN" altLang="en-US" sz="2400" kern="0" dirty="0">
                <a:latin typeface="微软雅黑" pitchFamily="34" charset="-122"/>
                <a:ea typeface="微软雅黑" pitchFamily="34" charset="-122"/>
              </a:rPr>
              <a:t>要求分配一定的</a:t>
            </a:r>
            <a:r>
              <a:rPr lang="en-US" altLang="zh-CN" sz="2400" kern="0" dirty="0">
                <a:latin typeface="微软雅黑" pitchFamily="34" charset="-122"/>
                <a:ea typeface="微软雅黑" pitchFamily="34" charset="-122"/>
              </a:rPr>
              <a:t>RAM</a:t>
            </a:r>
            <a:r>
              <a:rPr lang="zh-CN" altLang="en-US" sz="2400" kern="0" dirty="0">
                <a:latin typeface="微软雅黑" pitchFamily="34" charset="-122"/>
                <a:ea typeface="微软雅黑" pitchFamily="34" charset="-122"/>
              </a:rPr>
              <a:t>。虽然采用</a:t>
            </a:r>
            <a:r>
              <a:rPr lang="en-US" altLang="zh-CN" sz="2400" kern="0" dirty="0">
                <a:latin typeface="微软雅黑" pitchFamily="34" charset="-122"/>
                <a:ea typeface="微软雅黑" pitchFamily="34" charset="-122"/>
              </a:rPr>
              <a:t>malloc()</a:t>
            </a:r>
            <a:r>
              <a:rPr lang="zh-CN" altLang="en-US" sz="2400" kern="0" dirty="0">
                <a:latin typeface="微软雅黑" pitchFamily="34" charset="-122"/>
                <a:ea typeface="微软雅黑" pitchFamily="34" charset="-122"/>
              </a:rPr>
              <a:t>和</a:t>
            </a:r>
            <a:r>
              <a:rPr lang="en-US" altLang="zh-CN" sz="2400" kern="0" dirty="0">
                <a:latin typeface="微软雅黑" pitchFamily="34" charset="-122"/>
                <a:ea typeface="微软雅黑" pitchFamily="34" charset="-122"/>
              </a:rPr>
              <a:t>free()</a:t>
            </a:r>
            <a:r>
              <a:rPr lang="zh-CN" altLang="en-US" sz="2400" kern="0" dirty="0">
                <a:latin typeface="微软雅黑" pitchFamily="34" charset="-122"/>
                <a:ea typeface="微软雅黑" pitchFamily="34" charset="-122"/>
              </a:rPr>
              <a:t>函数可以实现申请和释放内存的功能，但这两个函数存在以下缺点：</a:t>
            </a: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这两个函数在小型嵌入式系统中可能不可用</a:t>
            </a: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这两个函数的具体实现可能会相对较大，会占用较多宝贵的代码空间</a:t>
            </a: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这两个函数通常不具备线程安全特性</a:t>
            </a: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这两个函数具有不确定性。每次调用时的时间开销都可能不同</a:t>
            </a:r>
            <a:endParaRPr lang="en-US" altLang="zh-CN" sz="2400" kern="0" dirty="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这两个函数会产生内存碎片</a:t>
            </a: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这两个函数会使得链接器配置得复杂</a:t>
            </a:r>
          </a:p>
          <a:p>
            <a:pPr marL="342851" indent="-342851" eaLnBrk="0" hangingPunct="0">
              <a:lnSpc>
                <a:spcPct val="150000"/>
              </a:lnSpc>
              <a:buClr>
                <a:schemeClr val="tx2"/>
              </a:buClr>
              <a:buSzPct val="90000"/>
              <a:buFont typeface="Wingdings" pitchFamily="2" charset="2"/>
              <a:buChar char="Ø"/>
            </a:pPr>
            <a:endParaRPr lang="zh-CN" altLang="en-US" sz="2400" kern="0" dirty="0">
              <a:latin typeface="微软雅黑" pitchFamily="34" charset="-122"/>
              <a:ea typeface="微软雅黑" pitchFamily="34" charset="-122"/>
            </a:endParaRPr>
          </a:p>
        </p:txBody>
      </p:sp>
      <p:sp>
        <p:nvSpPr>
          <p:cNvPr id="2" name="灯片编号占位符 1">
            <a:extLst>
              <a:ext uri="{FF2B5EF4-FFF2-40B4-BE49-F238E27FC236}">
                <a16:creationId xmlns:a16="http://schemas.microsoft.com/office/drawing/2014/main" id="{5E447108-010D-7C66-CFD8-7FEB3AD0F054}"/>
              </a:ext>
            </a:extLst>
          </p:cNvPr>
          <p:cNvSpPr>
            <a:spLocks noGrp="1"/>
          </p:cNvSpPr>
          <p:nvPr>
            <p:ph type="sldNum" sz="quarter" idx="12"/>
          </p:nvPr>
        </p:nvSpPr>
        <p:spPr/>
        <p:txBody>
          <a:bodyPr/>
          <a:lstStyle/>
          <a:p>
            <a:fld id="{223FAEE7-31C4-4651-8074-E84314A39F13}" type="slidenum">
              <a:rPr lang="zh-CN" altLang="en-US" smtClean="0"/>
              <a:t>22</a:t>
            </a:fld>
            <a:endParaRPr lang="zh-CN" altLang="en-US"/>
          </a:p>
        </p:txBody>
      </p:sp>
    </p:spTree>
    <p:extLst>
      <p:ext uri="{BB962C8B-B14F-4D97-AF65-F5344CB8AC3E}">
        <p14:creationId xmlns:p14="http://schemas.microsoft.com/office/powerpoint/2010/main" val="1718671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GB" altLang="zh-CN" sz="2400" dirty="0" err="1">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的内存管理</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marL="342851" indent="-342851" eaLnBrk="0" hangingPunct="0">
              <a:lnSpc>
                <a:spcPct val="150000"/>
              </a:lnSpc>
              <a:buClr>
                <a:schemeClr val="tx2"/>
              </a:buClr>
              <a:buSzPct val="90000"/>
              <a:buFont typeface="Wingdings" pitchFamily="2" charset="2"/>
              <a:buChar char="Ø"/>
            </a:pPr>
            <a:r>
              <a:rPr lang="en-US" altLang="zh-CN" sz="2400" kern="0" dirty="0" err="1">
                <a:latin typeface="微软雅黑" pitchFamily="34" charset="-122"/>
                <a:ea typeface="微软雅黑" pitchFamily="34" charset="-122"/>
              </a:rPr>
              <a:t>FreeRTOS</a:t>
            </a:r>
            <a:r>
              <a:rPr lang="en-US" altLang="zh-CN" sz="2400" kern="0" dirty="0">
                <a:latin typeface="微软雅黑" pitchFamily="34" charset="-122"/>
                <a:ea typeface="微软雅黑" pitchFamily="34" charset="-122"/>
              </a:rPr>
              <a:t> </a:t>
            </a:r>
            <a:r>
              <a:rPr lang="zh-CN" altLang="en-US" sz="2400" kern="0" dirty="0">
                <a:latin typeface="微软雅黑" pitchFamily="34" charset="-122"/>
                <a:ea typeface="微软雅黑" pitchFamily="34" charset="-122"/>
              </a:rPr>
              <a:t>中内存分配和回收的</a:t>
            </a:r>
            <a:r>
              <a:rPr lang="en-US" altLang="zh-CN" sz="2400" kern="0" dirty="0">
                <a:latin typeface="微软雅黑" pitchFamily="34" charset="-122"/>
                <a:ea typeface="微软雅黑" pitchFamily="34" charset="-122"/>
              </a:rPr>
              <a:t>API</a:t>
            </a:r>
            <a:r>
              <a:rPr lang="zh-CN" altLang="en-US" sz="2400" kern="0" dirty="0">
                <a:latin typeface="微软雅黑" pitchFamily="34" charset="-122"/>
                <a:ea typeface="微软雅黑" pitchFamily="34" charset="-122"/>
              </a:rPr>
              <a:t>为 </a:t>
            </a:r>
            <a:r>
              <a:rPr lang="en-GB" altLang="zh-CN" sz="2400" kern="0" dirty="0" err="1">
                <a:latin typeface="微软雅黑" pitchFamily="34" charset="-122"/>
                <a:ea typeface="微软雅黑" pitchFamily="34" charset="-122"/>
              </a:rPr>
              <a:t>pvPortMalloc</a:t>
            </a:r>
            <a:r>
              <a:rPr lang="en-GB" altLang="zh-CN" sz="2400" kern="0" dirty="0">
                <a:latin typeface="微软雅黑" pitchFamily="34" charset="-122"/>
                <a:ea typeface="微软雅黑" pitchFamily="34" charset="-122"/>
              </a:rPr>
              <a:t>() </a:t>
            </a:r>
            <a:r>
              <a:rPr lang="zh-CN" altLang="en-US" sz="2400" kern="0" dirty="0">
                <a:latin typeface="微软雅黑" pitchFamily="34" charset="-122"/>
                <a:ea typeface="微软雅黑" pitchFamily="34" charset="-122"/>
              </a:rPr>
              <a:t>和</a:t>
            </a:r>
            <a:r>
              <a:rPr lang="en-GB" altLang="zh-CN" sz="2400" kern="0" dirty="0" err="1">
                <a:latin typeface="微软雅黑" pitchFamily="34" charset="-122"/>
                <a:ea typeface="微软雅黑" pitchFamily="34" charset="-122"/>
              </a:rPr>
              <a:t>vPortFree</a:t>
            </a:r>
            <a:r>
              <a:rPr lang="en-GB"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 </a:t>
            </a:r>
            <a:endParaRPr lang="en-US" altLang="zh-CN" sz="2400" kern="0" dirty="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r>
              <a:rPr lang="en-US" altLang="zh-CN" sz="2400" kern="0" dirty="0" err="1">
                <a:latin typeface="微软雅黑" pitchFamily="34" charset="-122"/>
                <a:ea typeface="微软雅黑" pitchFamily="34" charset="-122"/>
              </a:rPr>
              <a:t>FreeRTOS</a:t>
            </a:r>
            <a:r>
              <a:rPr lang="en-US" altLang="zh-CN" sz="2400" kern="0" dirty="0">
                <a:latin typeface="微软雅黑" pitchFamily="34" charset="-122"/>
                <a:ea typeface="微软雅黑" pitchFamily="34" charset="-122"/>
              </a:rPr>
              <a:t> </a:t>
            </a:r>
            <a:r>
              <a:rPr lang="zh-CN" altLang="en-US" sz="2400" kern="0" dirty="0">
                <a:latin typeface="微软雅黑" pitchFamily="34" charset="-122"/>
                <a:ea typeface="微软雅黑" pitchFamily="34" charset="-122"/>
              </a:rPr>
              <a:t>将内存分配作为可移植层面</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相对于基本的内核代码部分而言</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a:t>
            </a:r>
            <a:endParaRPr lang="en-US" altLang="zh-CN" sz="2400" kern="0" dirty="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r>
              <a:rPr lang="en-US" altLang="zh-CN" sz="2400" kern="0" dirty="0" err="1">
                <a:latin typeface="微软雅黑" pitchFamily="34" charset="-122"/>
                <a:ea typeface="微软雅黑" pitchFamily="34" charset="-122"/>
              </a:rPr>
              <a:t>FreeRTOS</a:t>
            </a:r>
            <a:r>
              <a:rPr lang="en-US" altLang="zh-CN" sz="2400" kern="0" dirty="0">
                <a:latin typeface="微软雅黑" pitchFamily="34" charset="-122"/>
                <a:ea typeface="微软雅黑" pitchFamily="34" charset="-122"/>
              </a:rPr>
              <a:t> 9.0</a:t>
            </a:r>
            <a:r>
              <a:rPr lang="zh-CN" altLang="en-US" sz="2400" kern="0" dirty="0">
                <a:latin typeface="微软雅黑" pitchFamily="34" charset="-122"/>
                <a:ea typeface="微软雅黑" pitchFamily="34" charset="-122"/>
              </a:rPr>
              <a:t>版本提供</a:t>
            </a:r>
            <a:r>
              <a:rPr lang="en-US" altLang="zh-CN" sz="2400" kern="0" dirty="0">
                <a:latin typeface="微软雅黑" pitchFamily="34" charset="-122"/>
                <a:ea typeface="微软雅黑" pitchFamily="34" charset="-122"/>
              </a:rPr>
              <a:t>5</a:t>
            </a:r>
            <a:r>
              <a:rPr lang="zh-CN" altLang="en-US" sz="2400" kern="0" dirty="0">
                <a:latin typeface="微软雅黑" pitchFamily="34" charset="-122"/>
                <a:ea typeface="微软雅黑" pitchFamily="34" charset="-122"/>
              </a:rPr>
              <a:t>种策略，分别对应图中的</a:t>
            </a:r>
            <a:r>
              <a:rPr lang="en-US" altLang="zh-CN" sz="2400" kern="0" dirty="0">
                <a:latin typeface="微软雅黑" pitchFamily="34" charset="-122"/>
                <a:ea typeface="微软雅黑" pitchFamily="34" charset="-122"/>
              </a:rPr>
              <a:t>5</a:t>
            </a:r>
            <a:r>
              <a:rPr lang="zh-CN" altLang="en-US" sz="2400" kern="0" dirty="0">
                <a:latin typeface="微软雅黑" pitchFamily="34" charset="-122"/>
                <a:ea typeface="微软雅黑" pitchFamily="34" charset="-122"/>
              </a:rPr>
              <a:t>个源文件</a:t>
            </a:r>
          </a:p>
        </p:txBody>
      </p:sp>
      <p:sp>
        <p:nvSpPr>
          <p:cNvPr id="2" name="灯片编号占位符 1">
            <a:extLst>
              <a:ext uri="{FF2B5EF4-FFF2-40B4-BE49-F238E27FC236}">
                <a16:creationId xmlns:a16="http://schemas.microsoft.com/office/drawing/2014/main" id="{98E2249E-CCE2-11E2-33BC-EF8A2D0231C2}"/>
              </a:ext>
            </a:extLst>
          </p:cNvPr>
          <p:cNvSpPr>
            <a:spLocks noGrp="1"/>
          </p:cNvSpPr>
          <p:nvPr>
            <p:ph type="sldNum" sz="quarter" idx="12"/>
          </p:nvPr>
        </p:nvSpPr>
        <p:spPr/>
        <p:txBody>
          <a:bodyPr/>
          <a:lstStyle/>
          <a:p>
            <a:fld id="{223FAEE7-31C4-4651-8074-E84314A39F13}" type="slidenum">
              <a:rPr lang="zh-CN" altLang="en-US" smtClean="0"/>
              <a:t>23</a:t>
            </a:fld>
            <a:endParaRPr lang="zh-CN" altLang="en-US"/>
          </a:p>
        </p:txBody>
      </p:sp>
      <p:pic>
        <p:nvPicPr>
          <p:cNvPr id="4" name="图片 3">
            <a:extLst>
              <a:ext uri="{FF2B5EF4-FFF2-40B4-BE49-F238E27FC236}">
                <a16:creationId xmlns:a16="http://schemas.microsoft.com/office/drawing/2014/main" id="{FC295912-2618-7E22-467E-2EA44E7E6C56}"/>
              </a:ext>
            </a:extLst>
          </p:cNvPr>
          <p:cNvPicPr>
            <a:picLocks noChangeAspect="1"/>
          </p:cNvPicPr>
          <p:nvPr/>
        </p:nvPicPr>
        <p:blipFill>
          <a:blip r:embed="rId3"/>
          <a:stretch>
            <a:fillRect/>
          </a:stretch>
        </p:blipFill>
        <p:spPr>
          <a:xfrm>
            <a:off x="2590800" y="3348037"/>
            <a:ext cx="7010400" cy="3190875"/>
          </a:xfrm>
          <a:prstGeom prst="rect">
            <a:avLst/>
          </a:prstGeom>
        </p:spPr>
      </p:pic>
    </p:spTree>
    <p:extLst>
      <p:ext uri="{BB962C8B-B14F-4D97-AF65-F5344CB8AC3E}">
        <p14:creationId xmlns:p14="http://schemas.microsoft.com/office/powerpoint/2010/main" val="20139368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US" altLang="zh-CN" sz="2400" dirty="0">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的内存管理</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marL="342851" indent="-342851" eaLnBrk="0" hangingPunct="0">
              <a:lnSpc>
                <a:spcPct val="150000"/>
              </a:lnSpc>
              <a:buClr>
                <a:schemeClr val="tx2"/>
              </a:buClr>
              <a:buSzPct val="90000"/>
              <a:buFont typeface="Wingdings" pitchFamily="2" charset="2"/>
              <a:buChar char="Ø"/>
            </a:pPr>
            <a:r>
              <a:rPr lang="en-US" altLang="zh-CN" sz="2400" kern="0" dirty="0">
                <a:latin typeface="微软雅黑" pitchFamily="34" charset="-122"/>
                <a:ea typeface="微软雅黑" pitchFamily="34" charset="-122"/>
              </a:rPr>
              <a:t>Heap_1.c </a:t>
            </a:r>
            <a:r>
              <a:rPr lang="zh-CN" altLang="en-US" sz="2400" kern="0" dirty="0">
                <a:latin typeface="微软雅黑" pitchFamily="34" charset="-122"/>
                <a:ea typeface="微软雅黑" pitchFamily="34" charset="-122"/>
              </a:rPr>
              <a:t>实现了一个非常基本的 </a:t>
            </a:r>
            <a:r>
              <a:rPr lang="en-US" altLang="zh-CN" sz="2400" kern="0" dirty="0" err="1">
                <a:latin typeface="微软雅黑" pitchFamily="34" charset="-122"/>
                <a:ea typeface="微软雅黑" pitchFamily="34" charset="-122"/>
              </a:rPr>
              <a:t>pvPortMalloc</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版本，而且没有实现 </a:t>
            </a:r>
            <a:r>
              <a:rPr lang="en-US" altLang="zh-CN" sz="2400" kern="0" dirty="0" err="1">
                <a:latin typeface="微软雅黑" pitchFamily="34" charset="-122"/>
                <a:ea typeface="微软雅黑" pitchFamily="34" charset="-122"/>
              </a:rPr>
              <a:t>vPortFree</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，也就是不支持内存释放。</a:t>
            </a:r>
            <a:endParaRPr lang="en-US" altLang="zh-CN" sz="2400" kern="0" dirty="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这种分配方案是将 </a:t>
            </a:r>
            <a:r>
              <a:rPr lang="en-US" altLang="zh-CN" sz="2400" kern="0" dirty="0">
                <a:latin typeface="微软雅黑" pitchFamily="34" charset="-122"/>
                <a:ea typeface="微软雅黑" pitchFamily="34" charset="-122"/>
              </a:rPr>
              <a:t>FreeRTOS </a:t>
            </a:r>
            <a:r>
              <a:rPr lang="zh-CN" altLang="en-US" sz="2400" kern="0" dirty="0">
                <a:latin typeface="微软雅黑" pitchFamily="34" charset="-122"/>
                <a:ea typeface="微软雅黑" pitchFamily="34" charset="-122"/>
              </a:rPr>
              <a:t>的内存堆空间看作一个简单的数组。当调用</a:t>
            </a:r>
            <a:r>
              <a:rPr lang="en-US" altLang="zh-CN" sz="2400" kern="0" dirty="0" err="1">
                <a:latin typeface="微软雅黑" pitchFamily="34" charset="-122"/>
                <a:ea typeface="微软雅黑" pitchFamily="34" charset="-122"/>
              </a:rPr>
              <a:t>pvPortMalloc</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时，则将数组又简单地细分为更小的内存块。</a:t>
            </a:r>
            <a:endParaRPr lang="en-US" altLang="zh-CN" sz="2400" kern="0" dirty="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数组的总大小</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字节为单位</a:t>
            </a:r>
            <a:r>
              <a:rPr lang="en-US" altLang="zh-CN" sz="2400" kern="0" dirty="0">
                <a:latin typeface="微软雅黑" pitchFamily="34" charset="-122"/>
                <a:ea typeface="微软雅黑" pitchFamily="34" charset="-122"/>
              </a:rPr>
              <a:t>)</a:t>
            </a:r>
            <a:r>
              <a:rPr lang="en-US" altLang="zh-CN" sz="2400" kern="0" dirty="0" err="1">
                <a:latin typeface="微软雅黑" pitchFamily="34" charset="-122"/>
                <a:ea typeface="微软雅黑" pitchFamily="34" charset="-122"/>
              </a:rPr>
              <a:t>FreeRTOSConfig.h</a:t>
            </a:r>
            <a:r>
              <a:rPr lang="zh-CN" altLang="en-US" sz="2400" kern="0" dirty="0">
                <a:latin typeface="微软雅黑" pitchFamily="34" charset="-122"/>
                <a:ea typeface="微软雅黑" pitchFamily="34" charset="-122"/>
              </a:rPr>
              <a:t>中由</a:t>
            </a:r>
            <a:r>
              <a:rPr lang="en-US" altLang="zh-CN" sz="2400" kern="0" dirty="0" err="1">
                <a:latin typeface="微软雅黑" pitchFamily="34" charset="-122"/>
                <a:ea typeface="微软雅黑" pitchFamily="34" charset="-122"/>
              </a:rPr>
              <a:t>configTOTAL_HEAP_SIZE</a:t>
            </a:r>
            <a:r>
              <a:rPr lang="zh-CN" altLang="en-US" sz="2400" kern="0" dirty="0">
                <a:latin typeface="微软雅黑" pitchFamily="34" charset="-122"/>
                <a:ea typeface="微软雅黑" pitchFamily="34" charset="-122"/>
              </a:rPr>
              <a:t>定义。</a:t>
            </a:r>
            <a:endParaRPr lang="en-US" altLang="zh-CN" sz="2400" kern="0" dirty="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如果应用程序不需要删除任务，队列或者信号量，则具有使用 </a:t>
            </a:r>
            <a:r>
              <a:rPr lang="en-US" altLang="zh-CN" sz="2400" kern="0" dirty="0">
                <a:latin typeface="微软雅黑" pitchFamily="34" charset="-122"/>
                <a:ea typeface="微软雅黑" pitchFamily="34" charset="-122"/>
              </a:rPr>
              <a:t>heap_1 </a:t>
            </a:r>
            <a:r>
              <a:rPr lang="zh-CN" altLang="en-US" sz="2400" kern="0" dirty="0">
                <a:latin typeface="微软雅黑" pitchFamily="34" charset="-122"/>
                <a:ea typeface="微软雅黑" pitchFamily="34" charset="-122"/>
              </a:rPr>
              <a:t>的潜质。</a:t>
            </a:r>
            <a:r>
              <a:rPr lang="en-US" altLang="zh-CN" sz="2400" kern="0" dirty="0">
                <a:latin typeface="微软雅黑" pitchFamily="34" charset="-122"/>
                <a:ea typeface="微软雅黑" pitchFamily="34" charset="-122"/>
              </a:rPr>
              <a:t>Heap_1</a:t>
            </a:r>
            <a:r>
              <a:rPr lang="zh-CN" altLang="en-US" sz="2400" kern="0" dirty="0">
                <a:latin typeface="微软雅黑" pitchFamily="34" charset="-122"/>
                <a:ea typeface="微软雅黑" pitchFamily="34" charset="-122"/>
              </a:rPr>
              <a:t>总是具有确定性。</a:t>
            </a:r>
            <a:endParaRPr lang="en-US" altLang="zh-CN" sz="2400" kern="0" dirty="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endParaRPr lang="zh-CN" altLang="en-US" sz="2400" kern="0" dirty="0">
              <a:latin typeface="微软雅黑" pitchFamily="34" charset="-122"/>
              <a:ea typeface="微软雅黑" pitchFamily="34" charset="-122"/>
            </a:endParaRPr>
          </a:p>
          <a:p>
            <a:pPr eaLnBrk="0" hangingPunct="0">
              <a:lnSpc>
                <a:spcPct val="150000"/>
              </a:lnSpc>
              <a:buClr>
                <a:schemeClr val="tx2"/>
              </a:buClr>
              <a:buSzPct val="90000"/>
            </a:pPr>
            <a:endParaRPr lang="zh-CN" altLang="en-US" sz="2400" kern="0" dirty="0">
              <a:latin typeface="微软雅黑" pitchFamily="34" charset="-122"/>
              <a:ea typeface="微软雅黑" pitchFamily="34" charset="-122"/>
            </a:endParaRPr>
          </a:p>
        </p:txBody>
      </p:sp>
      <p:sp>
        <p:nvSpPr>
          <p:cNvPr id="2" name="灯片编号占位符 1">
            <a:extLst>
              <a:ext uri="{FF2B5EF4-FFF2-40B4-BE49-F238E27FC236}">
                <a16:creationId xmlns:a16="http://schemas.microsoft.com/office/drawing/2014/main" id="{043145F3-F529-D79A-B5C8-22B93F168373}"/>
              </a:ext>
            </a:extLst>
          </p:cNvPr>
          <p:cNvSpPr>
            <a:spLocks noGrp="1"/>
          </p:cNvSpPr>
          <p:nvPr>
            <p:ph type="sldNum" sz="quarter" idx="12"/>
          </p:nvPr>
        </p:nvSpPr>
        <p:spPr/>
        <p:txBody>
          <a:bodyPr/>
          <a:lstStyle/>
          <a:p>
            <a:fld id="{223FAEE7-31C4-4651-8074-E84314A39F13}" type="slidenum">
              <a:rPr lang="zh-CN" altLang="en-US" smtClean="0"/>
              <a:t>24</a:t>
            </a:fld>
            <a:endParaRPr lang="zh-CN" altLang="en-US"/>
          </a:p>
        </p:txBody>
      </p:sp>
    </p:spTree>
    <p:extLst>
      <p:ext uri="{BB962C8B-B14F-4D97-AF65-F5344CB8AC3E}">
        <p14:creationId xmlns:p14="http://schemas.microsoft.com/office/powerpoint/2010/main" val="13393936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US" altLang="zh-CN" sz="2400" dirty="0">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的内存管理</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eaLnBrk="0" hangingPunct="0">
              <a:lnSpc>
                <a:spcPct val="150000"/>
              </a:lnSpc>
              <a:buClr>
                <a:schemeClr val="tx2"/>
              </a:buClr>
              <a:buSzPct val="90000"/>
            </a:pPr>
            <a:r>
              <a:rPr lang="zh-CN" altLang="en-US" sz="2400" kern="0" dirty="0">
                <a:latin typeface="微软雅黑" pitchFamily="34" charset="-122"/>
                <a:ea typeface="微软雅黑" pitchFamily="34" charset="-122"/>
              </a:rPr>
              <a:t>需要为每个创建的任务在堆空间上分配一个任务控制块</a:t>
            </a:r>
            <a:r>
              <a:rPr lang="en-US" altLang="zh-CN" sz="2400" kern="0" dirty="0">
                <a:latin typeface="微软雅黑" pitchFamily="34" charset="-122"/>
                <a:ea typeface="微软雅黑" pitchFamily="34" charset="-122"/>
              </a:rPr>
              <a:t>(TCB)</a:t>
            </a:r>
            <a:r>
              <a:rPr lang="zh-CN" altLang="en-US" sz="2400" kern="0" dirty="0">
                <a:latin typeface="微软雅黑" pitchFamily="34" charset="-122"/>
                <a:ea typeface="微软雅黑" pitchFamily="34" charset="-122"/>
              </a:rPr>
              <a:t>和一个栈空间。</a:t>
            </a:r>
          </a:p>
        </p:txBody>
      </p:sp>
      <p:pic>
        <p:nvPicPr>
          <p:cNvPr id="6" name="Picture 2">
            <a:extLst>
              <a:ext uri="{FF2B5EF4-FFF2-40B4-BE49-F238E27FC236}">
                <a16:creationId xmlns:a16="http://schemas.microsoft.com/office/drawing/2014/main" id="{59266A04-5395-4B1F-9173-6B402EC0B3A0}"/>
              </a:ext>
            </a:extLst>
          </p:cNvPr>
          <p:cNvPicPr>
            <a:picLocks noChangeAspect="1" noChangeArrowheads="1"/>
          </p:cNvPicPr>
          <p:nvPr/>
        </p:nvPicPr>
        <p:blipFill>
          <a:blip r:embed="rId3" cstate="print"/>
          <a:srcRect/>
          <a:stretch>
            <a:fillRect/>
          </a:stretch>
        </p:blipFill>
        <p:spPr bwMode="auto">
          <a:xfrm>
            <a:off x="3611410" y="2499183"/>
            <a:ext cx="4969180" cy="3758396"/>
          </a:xfrm>
          <a:prstGeom prst="rect">
            <a:avLst/>
          </a:prstGeom>
          <a:noFill/>
          <a:ln w="9525">
            <a:noFill/>
            <a:miter lim="800000"/>
            <a:headEnd/>
            <a:tailEnd/>
          </a:ln>
        </p:spPr>
      </p:pic>
      <p:sp>
        <p:nvSpPr>
          <p:cNvPr id="2" name="灯片编号占位符 1">
            <a:extLst>
              <a:ext uri="{FF2B5EF4-FFF2-40B4-BE49-F238E27FC236}">
                <a16:creationId xmlns:a16="http://schemas.microsoft.com/office/drawing/2014/main" id="{17485D84-642C-A919-D25E-43B6923A4F05}"/>
              </a:ext>
            </a:extLst>
          </p:cNvPr>
          <p:cNvSpPr>
            <a:spLocks noGrp="1"/>
          </p:cNvSpPr>
          <p:nvPr>
            <p:ph type="sldNum" sz="quarter" idx="12"/>
          </p:nvPr>
        </p:nvSpPr>
        <p:spPr/>
        <p:txBody>
          <a:bodyPr/>
          <a:lstStyle/>
          <a:p>
            <a:fld id="{223FAEE7-31C4-4651-8074-E84314A39F13}" type="slidenum">
              <a:rPr lang="zh-CN" altLang="en-US" smtClean="0"/>
              <a:t>25</a:t>
            </a:fld>
            <a:endParaRPr lang="zh-CN" altLang="en-US"/>
          </a:p>
        </p:txBody>
      </p:sp>
    </p:spTree>
    <p:extLst>
      <p:ext uri="{BB962C8B-B14F-4D97-AF65-F5344CB8AC3E}">
        <p14:creationId xmlns:p14="http://schemas.microsoft.com/office/powerpoint/2010/main" val="21481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US" altLang="zh-CN" sz="2400" dirty="0">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的内存管理</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marL="342851" indent="-342851" eaLnBrk="0" hangingPunct="0">
              <a:lnSpc>
                <a:spcPct val="150000"/>
              </a:lnSpc>
              <a:buClr>
                <a:schemeClr val="tx2"/>
              </a:buClr>
              <a:buSzPct val="90000"/>
              <a:buFont typeface="Wingdings" pitchFamily="2" charset="2"/>
              <a:buChar char="Ø"/>
            </a:pPr>
            <a:r>
              <a:rPr lang="en-US" altLang="zh-CN" sz="2400" kern="0" dirty="0">
                <a:latin typeface="微软雅黑" pitchFamily="34" charset="-122"/>
                <a:ea typeface="微软雅黑" pitchFamily="34" charset="-122"/>
              </a:rPr>
              <a:t>Heap_2.c </a:t>
            </a:r>
            <a:r>
              <a:rPr lang="zh-CN" altLang="en-US" sz="2400" kern="0" dirty="0">
                <a:latin typeface="微软雅黑" pitchFamily="34" charset="-122"/>
                <a:ea typeface="微软雅黑" pitchFamily="34" charset="-122"/>
              </a:rPr>
              <a:t>也是使用了一个由 </a:t>
            </a:r>
            <a:r>
              <a:rPr lang="en-US" altLang="zh-CN" sz="2400" kern="0" dirty="0" err="1">
                <a:latin typeface="微软雅黑" pitchFamily="34" charset="-122"/>
                <a:ea typeface="微软雅黑" pitchFamily="34" charset="-122"/>
              </a:rPr>
              <a:t>configTOTAL_HEAP_SIZE</a:t>
            </a:r>
            <a:r>
              <a:rPr lang="en-US" altLang="zh-CN" sz="2400" kern="0" dirty="0">
                <a:latin typeface="微软雅黑" pitchFamily="34" charset="-122"/>
                <a:ea typeface="微软雅黑" pitchFamily="34" charset="-122"/>
              </a:rPr>
              <a:t> </a:t>
            </a:r>
            <a:r>
              <a:rPr lang="zh-CN" altLang="en-US" sz="2400" kern="0" dirty="0">
                <a:latin typeface="微软雅黑" pitchFamily="34" charset="-122"/>
                <a:ea typeface="微软雅黑" pitchFamily="34" charset="-122"/>
              </a:rPr>
              <a:t>定义大小的简单数组。不同于 </a:t>
            </a:r>
            <a:r>
              <a:rPr lang="en-US" altLang="zh-CN" sz="2400" kern="0" dirty="0">
                <a:latin typeface="微软雅黑" pitchFamily="34" charset="-122"/>
                <a:ea typeface="微软雅黑" pitchFamily="34" charset="-122"/>
              </a:rPr>
              <a:t>heap_1 </a:t>
            </a:r>
            <a:r>
              <a:rPr lang="zh-CN" altLang="en-US" sz="2400" kern="0" dirty="0">
                <a:latin typeface="微软雅黑" pitchFamily="34" charset="-122"/>
                <a:ea typeface="微软雅黑" pitchFamily="34" charset="-122"/>
              </a:rPr>
              <a:t>的是，</a:t>
            </a:r>
            <a:r>
              <a:rPr lang="en-US" altLang="zh-CN" sz="2400" kern="0" dirty="0">
                <a:latin typeface="微软雅黑" pitchFamily="34" charset="-122"/>
                <a:ea typeface="微软雅黑" pitchFamily="34" charset="-122"/>
              </a:rPr>
              <a:t>heap_2 </a:t>
            </a:r>
            <a:r>
              <a:rPr lang="zh-CN" altLang="en-US" sz="2400" kern="0" dirty="0">
                <a:latin typeface="微软雅黑" pitchFamily="34" charset="-122"/>
                <a:ea typeface="微软雅黑" pitchFamily="34" charset="-122"/>
              </a:rPr>
              <a:t>采用了一个最佳匹配算法来分配内存，并且支持内存释放。</a:t>
            </a:r>
            <a:endParaRPr lang="en-US" altLang="zh-CN" sz="2400" kern="0" dirty="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最佳匹配算法保证 </a:t>
            </a:r>
            <a:r>
              <a:rPr lang="en-US" altLang="zh-CN" sz="2400" kern="0" dirty="0" err="1">
                <a:latin typeface="微软雅黑" pitchFamily="34" charset="-122"/>
                <a:ea typeface="微软雅黑" pitchFamily="34" charset="-122"/>
              </a:rPr>
              <a:t>pvPortMalloc</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会使用最接近请求大小的空闲内存块。</a:t>
            </a:r>
            <a:endParaRPr lang="en-US" altLang="zh-CN" sz="2400" kern="0" dirty="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r>
              <a:rPr lang="en-US" altLang="zh-CN" sz="2400" kern="0" dirty="0">
                <a:latin typeface="微软雅黑" pitchFamily="34" charset="-122"/>
                <a:ea typeface="微软雅黑" pitchFamily="34" charset="-122"/>
              </a:rPr>
              <a:t>Heap_2.c </a:t>
            </a:r>
            <a:r>
              <a:rPr lang="zh-CN" altLang="en-US" sz="2400" kern="0" dirty="0">
                <a:latin typeface="微软雅黑" pitchFamily="34" charset="-122"/>
                <a:ea typeface="微软雅黑" pitchFamily="34" charset="-122"/>
              </a:rPr>
              <a:t>并不会把相邻的空闲块合并成一个更大的内存块，所以会产生内存碎片。</a:t>
            </a:r>
          </a:p>
        </p:txBody>
      </p:sp>
      <p:sp>
        <p:nvSpPr>
          <p:cNvPr id="2" name="灯片编号占位符 1">
            <a:extLst>
              <a:ext uri="{FF2B5EF4-FFF2-40B4-BE49-F238E27FC236}">
                <a16:creationId xmlns:a16="http://schemas.microsoft.com/office/drawing/2014/main" id="{1AD54132-A72E-E4E6-0C63-29A7B4A63825}"/>
              </a:ext>
            </a:extLst>
          </p:cNvPr>
          <p:cNvSpPr>
            <a:spLocks noGrp="1"/>
          </p:cNvSpPr>
          <p:nvPr>
            <p:ph type="sldNum" sz="quarter" idx="12"/>
          </p:nvPr>
        </p:nvSpPr>
        <p:spPr/>
        <p:txBody>
          <a:bodyPr/>
          <a:lstStyle/>
          <a:p>
            <a:fld id="{223FAEE7-31C4-4651-8074-E84314A39F13}" type="slidenum">
              <a:rPr lang="zh-CN" altLang="en-US" smtClean="0"/>
              <a:t>26</a:t>
            </a:fld>
            <a:endParaRPr lang="zh-CN" altLang="en-US"/>
          </a:p>
        </p:txBody>
      </p:sp>
    </p:spTree>
    <p:extLst>
      <p:ext uri="{BB962C8B-B14F-4D97-AF65-F5344CB8AC3E}">
        <p14:creationId xmlns:p14="http://schemas.microsoft.com/office/powerpoint/2010/main" val="23736845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US" altLang="zh-CN" sz="2400" dirty="0">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的内存管理</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eaLnBrk="0" hangingPunct="0">
              <a:lnSpc>
                <a:spcPct val="150000"/>
              </a:lnSpc>
              <a:buClr>
                <a:schemeClr val="tx2"/>
              </a:buClr>
              <a:buSzPct val="90000"/>
            </a:pPr>
            <a:r>
              <a:rPr lang="en-US" altLang="zh-CN" sz="2400" kern="0" dirty="0">
                <a:latin typeface="微软雅黑" pitchFamily="34" charset="-122"/>
                <a:ea typeface="微软雅黑" pitchFamily="34" charset="-122"/>
              </a:rPr>
              <a:t>Heap_2.c </a:t>
            </a:r>
            <a:r>
              <a:rPr lang="zh-CN" altLang="en-US" sz="2400" kern="0" dirty="0">
                <a:latin typeface="微软雅黑" pitchFamily="34" charset="-122"/>
                <a:ea typeface="微软雅黑" pitchFamily="34" charset="-122"/>
              </a:rPr>
              <a:t>适合用于那些重复创建与删除具有相同栈空间任务的应用程序。</a:t>
            </a:r>
          </a:p>
        </p:txBody>
      </p:sp>
      <p:pic>
        <p:nvPicPr>
          <p:cNvPr id="7" name="Picture 2">
            <a:extLst>
              <a:ext uri="{FF2B5EF4-FFF2-40B4-BE49-F238E27FC236}">
                <a16:creationId xmlns:a16="http://schemas.microsoft.com/office/drawing/2014/main" id="{27D80343-3E1A-43C0-8EF4-09D95827E8B9}"/>
              </a:ext>
            </a:extLst>
          </p:cNvPr>
          <p:cNvPicPr>
            <a:picLocks noChangeAspect="1" noChangeArrowheads="1"/>
          </p:cNvPicPr>
          <p:nvPr/>
        </p:nvPicPr>
        <p:blipFill>
          <a:blip r:embed="rId3" cstate="print"/>
          <a:srcRect/>
          <a:stretch>
            <a:fillRect/>
          </a:stretch>
        </p:blipFill>
        <p:spPr bwMode="auto">
          <a:xfrm>
            <a:off x="4003795" y="2327285"/>
            <a:ext cx="4184409" cy="3930294"/>
          </a:xfrm>
          <a:prstGeom prst="rect">
            <a:avLst/>
          </a:prstGeom>
          <a:noFill/>
          <a:ln w="9525">
            <a:noFill/>
            <a:miter lim="800000"/>
            <a:headEnd/>
            <a:tailEnd/>
          </a:ln>
        </p:spPr>
      </p:pic>
      <p:sp>
        <p:nvSpPr>
          <p:cNvPr id="2" name="灯片编号占位符 1">
            <a:extLst>
              <a:ext uri="{FF2B5EF4-FFF2-40B4-BE49-F238E27FC236}">
                <a16:creationId xmlns:a16="http://schemas.microsoft.com/office/drawing/2014/main" id="{0E344F7F-D649-6733-5DBE-22621E73689B}"/>
              </a:ext>
            </a:extLst>
          </p:cNvPr>
          <p:cNvSpPr>
            <a:spLocks noGrp="1"/>
          </p:cNvSpPr>
          <p:nvPr>
            <p:ph type="sldNum" sz="quarter" idx="12"/>
          </p:nvPr>
        </p:nvSpPr>
        <p:spPr/>
        <p:txBody>
          <a:bodyPr/>
          <a:lstStyle/>
          <a:p>
            <a:fld id="{223FAEE7-31C4-4651-8074-E84314A39F13}" type="slidenum">
              <a:rPr lang="zh-CN" altLang="en-US" smtClean="0"/>
              <a:t>27</a:t>
            </a:fld>
            <a:endParaRPr lang="zh-CN" altLang="en-US"/>
          </a:p>
        </p:txBody>
      </p:sp>
    </p:spTree>
    <p:extLst>
      <p:ext uri="{BB962C8B-B14F-4D97-AF65-F5344CB8AC3E}">
        <p14:creationId xmlns:p14="http://schemas.microsoft.com/office/powerpoint/2010/main" val="20253045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US" altLang="zh-CN" sz="2400" dirty="0">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的内存管理</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marL="342851" indent="-342851" eaLnBrk="0" hangingPunct="0">
              <a:lnSpc>
                <a:spcPct val="150000"/>
              </a:lnSpc>
              <a:buClr>
                <a:schemeClr val="tx2"/>
              </a:buClr>
              <a:buSzPct val="90000"/>
              <a:buFont typeface="Wingdings" pitchFamily="2" charset="2"/>
              <a:buChar char="Ø"/>
            </a:pPr>
            <a:r>
              <a:rPr lang="en-US" altLang="zh-CN" sz="2400" kern="0" dirty="0">
                <a:latin typeface="微软雅黑" pitchFamily="34" charset="-122"/>
                <a:ea typeface="微软雅黑" pitchFamily="34" charset="-122"/>
              </a:rPr>
              <a:t>Heap_3.c</a:t>
            </a:r>
            <a:r>
              <a:rPr lang="zh-CN" altLang="en-US" sz="2400" kern="0" dirty="0">
                <a:latin typeface="微软雅黑" pitchFamily="34" charset="-122"/>
                <a:ea typeface="微软雅黑" pitchFamily="34" charset="-122"/>
              </a:rPr>
              <a:t>对标准库函数 </a:t>
            </a:r>
            <a:r>
              <a:rPr lang="en-US" altLang="zh-CN" sz="2400" kern="0" dirty="0">
                <a:latin typeface="微软雅黑" pitchFamily="34" charset="-122"/>
                <a:ea typeface="微软雅黑" pitchFamily="34" charset="-122"/>
              </a:rPr>
              <a:t>malloc()</a:t>
            </a:r>
            <a:r>
              <a:rPr lang="zh-CN" altLang="en-US" sz="2400" kern="0" dirty="0">
                <a:latin typeface="微软雅黑" pitchFamily="34" charset="-122"/>
                <a:ea typeface="微软雅黑" pitchFamily="34" charset="-122"/>
              </a:rPr>
              <a:t>和 </a:t>
            </a:r>
            <a:r>
              <a:rPr lang="en-US" altLang="zh-CN" sz="2400" kern="0" dirty="0">
                <a:latin typeface="微软雅黑" pitchFamily="34" charset="-122"/>
                <a:ea typeface="微软雅黑" pitchFamily="34" charset="-122"/>
              </a:rPr>
              <a:t>free()</a:t>
            </a:r>
            <a:r>
              <a:rPr lang="zh-CN" altLang="en-US" sz="2400" kern="0" dirty="0">
                <a:latin typeface="微软雅黑" pitchFamily="34" charset="-122"/>
                <a:ea typeface="微软雅黑" pitchFamily="34" charset="-122"/>
              </a:rPr>
              <a:t>进行封装，通过暂时挂起调度器使得函数调用具备线程安全特性。</a:t>
            </a:r>
            <a:endParaRPr lang="en-US" altLang="zh-CN" sz="2400" kern="0" dirty="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此时的内存堆空间大小不受 </a:t>
            </a:r>
            <a:r>
              <a:rPr lang="en-US" altLang="zh-CN" sz="2400" kern="0" dirty="0" err="1">
                <a:latin typeface="微软雅黑" pitchFamily="34" charset="-122"/>
                <a:ea typeface="微软雅黑" pitchFamily="34" charset="-122"/>
              </a:rPr>
              <a:t>configTOTAL_HEAP_SIZE</a:t>
            </a:r>
            <a:r>
              <a:rPr lang="en-US" altLang="zh-CN" sz="2400" kern="0" dirty="0">
                <a:latin typeface="微软雅黑" pitchFamily="34" charset="-122"/>
                <a:ea typeface="微软雅黑" pitchFamily="34" charset="-122"/>
              </a:rPr>
              <a:t> </a:t>
            </a:r>
            <a:r>
              <a:rPr lang="zh-CN" altLang="en-US" sz="2400" kern="0" dirty="0">
                <a:latin typeface="微软雅黑" pitchFamily="34" charset="-122"/>
                <a:ea typeface="微软雅黑" pitchFamily="34" charset="-122"/>
              </a:rPr>
              <a:t>影响，而是由链接器配置决定。</a:t>
            </a:r>
          </a:p>
        </p:txBody>
      </p:sp>
      <p:sp>
        <p:nvSpPr>
          <p:cNvPr id="2" name="灯片编号占位符 1">
            <a:extLst>
              <a:ext uri="{FF2B5EF4-FFF2-40B4-BE49-F238E27FC236}">
                <a16:creationId xmlns:a16="http://schemas.microsoft.com/office/drawing/2014/main" id="{15379A53-C61D-8062-5973-FAB48F7F8B63}"/>
              </a:ext>
            </a:extLst>
          </p:cNvPr>
          <p:cNvSpPr>
            <a:spLocks noGrp="1"/>
          </p:cNvSpPr>
          <p:nvPr>
            <p:ph type="sldNum" sz="quarter" idx="12"/>
          </p:nvPr>
        </p:nvSpPr>
        <p:spPr/>
        <p:txBody>
          <a:bodyPr/>
          <a:lstStyle/>
          <a:p>
            <a:fld id="{223FAEE7-31C4-4651-8074-E84314A39F13}" type="slidenum">
              <a:rPr lang="zh-CN" altLang="en-US" smtClean="0"/>
              <a:t>28</a:t>
            </a:fld>
            <a:endParaRPr lang="zh-CN" altLang="en-US"/>
          </a:p>
        </p:txBody>
      </p:sp>
    </p:spTree>
    <p:extLst>
      <p:ext uri="{BB962C8B-B14F-4D97-AF65-F5344CB8AC3E}">
        <p14:creationId xmlns:p14="http://schemas.microsoft.com/office/powerpoint/2010/main" val="26520824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操作系统原理</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US" altLang="zh-CN" sz="2400" dirty="0">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的内存管理</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eaLnBrk="0" hangingPunct="0">
              <a:lnSpc>
                <a:spcPct val="150000"/>
              </a:lnSpc>
              <a:buClr>
                <a:schemeClr val="tx2"/>
              </a:buClr>
              <a:buSzPct val="90000"/>
            </a:pPr>
            <a:r>
              <a:rPr lang="en-US" altLang="zh-CN" sz="2400" kern="0" dirty="0">
                <a:latin typeface="微软雅黑" pitchFamily="34" charset="-122"/>
                <a:ea typeface="微软雅黑" pitchFamily="34" charset="-122"/>
              </a:rPr>
              <a:t>Heap_3.c</a:t>
            </a:r>
            <a:r>
              <a:rPr lang="zh-CN" altLang="en-US" sz="2400" kern="0" dirty="0">
                <a:latin typeface="微软雅黑" pitchFamily="34" charset="-122"/>
                <a:ea typeface="微软雅黑" pitchFamily="34" charset="-122"/>
              </a:rPr>
              <a:t>实现代码</a:t>
            </a:r>
          </a:p>
        </p:txBody>
      </p:sp>
      <p:pic>
        <p:nvPicPr>
          <p:cNvPr id="8" name="Picture 2">
            <a:extLst>
              <a:ext uri="{FF2B5EF4-FFF2-40B4-BE49-F238E27FC236}">
                <a16:creationId xmlns:a16="http://schemas.microsoft.com/office/drawing/2014/main" id="{55933D77-2BC8-4ED0-A785-0E1A434F8AC2}"/>
              </a:ext>
            </a:extLst>
          </p:cNvPr>
          <p:cNvPicPr>
            <a:picLocks noChangeAspect="1" noChangeArrowheads="1"/>
          </p:cNvPicPr>
          <p:nvPr/>
        </p:nvPicPr>
        <p:blipFill>
          <a:blip r:embed="rId3" cstate="print"/>
          <a:srcRect/>
          <a:stretch>
            <a:fillRect/>
          </a:stretch>
        </p:blipFill>
        <p:spPr bwMode="auto">
          <a:xfrm>
            <a:off x="6656314" y="1478321"/>
            <a:ext cx="3659509" cy="4943578"/>
          </a:xfrm>
          <a:prstGeom prst="rect">
            <a:avLst/>
          </a:prstGeom>
          <a:noFill/>
          <a:ln w="9525">
            <a:noFill/>
            <a:miter lim="800000"/>
            <a:headEnd/>
            <a:tailEnd/>
          </a:ln>
        </p:spPr>
      </p:pic>
      <p:sp>
        <p:nvSpPr>
          <p:cNvPr id="2" name="灯片编号占位符 1">
            <a:extLst>
              <a:ext uri="{FF2B5EF4-FFF2-40B4-BE49-F238E27FC236}">
                <a16:creationId xmlns:a16="http://schemas.microsoft.com/office/drawing/2014/main" id="{C46B924D-1DF9-F1E3-8951-3CA395A7ADF5}"/>
              </a:ext>
            </a:extLst>
          </p:cNvPr>
          <p:cNvSpPr>
            <a:spLocks noGrp="1"/>
          </p:cNvSpPr>
          <p:nvPr>
            <p:ph type="sldNum" sz="quarter" idx="12"/>
          </p:nvPr>
        </p:nvSpPr>
        <p:spPr/>
        <p:txBody>
          <a:bodyPr/>
          <a:lstStyle/>
          <a:p>
            <a:fld id="{223FAEE7-31C4-4651-8074-E84314A39F13}" type="slidenum">
              <a:rPr lang="zh-CN" altLang="en-US" smtClean="0"/>
              <a:t>29</a:t>
            </a:fld>
            <a:endParaRPr lang="zh-CN" altLang="en-US"/>
          </a:p>
        </p:txBody>
      </p:sp>
    </p:spTree>
    <p:extLst>
      <p:ext uri="{BB962C8B-B14F-4D97-AF65-F5344CB8AC3E}">
        <p14:creationId xmlns:p14="http://schemas.microsoft.com/office/powerpoint/2010/main" val="2833943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a:xfrm>
            <a:off x="656382" y="394893"/>
            <a:ext cx="10439401" cy="623681"/>
          </a:xfrm>
          <a:prstGeom prst="rect">
            <a:avLst/>
          </a:prstGeom>
        </p:spPr>
        <p:txBody>
          <a:bodyPr/>
          <a:lstStyle/>
          <a:p>
            <a:pPr lvl="0" eaLnBrk="0" hangingPunct="0">
              <a:buClr>
                <a:schemeClr val="tx2"/>
              </a:buClr>
              <a:buSzPct val="90000"/>
              <a:defRPr/>
            </a:pPr>
            <a:r>
              <a:rPr lang="zh-CN" altLang="en-US" sz="3200" b="1"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rPr>
              <a:t>目录</a:t>
            </a:r>
          </a:p>
        </p:txBody>
      </p:sp>
      <p:sp>
        <p:nvSpPr>
          <p:cNvPr id="3" name="Rectangle 5"/>
          <p:cNvSpPr txBox="1">
            <a:spLocks noChangeArrowheads="1"/>
          </p:cNvSpPr>
          <p:nvPr/>
        </p:nvSpPr>
        <p:spPr>
          <a:xfrm>
            <a:off x="1298531" y="1161584"/>
            <a:ext cx="7956478" cy="4282700"/>
          </a:xfrm>
          <a:prstGeom prst="rect">
            <a:avLst/>
          </a:prstGeom>
          <a:noFill/>
          <a:ln/>
        </p:spPr>
        <p:txBody>
          <a:bodyPr/>
          <a:lstStyle/>
          <a:p>
            <a:pPr marL="342851" indent="-342851" eaLnBrk="0" hangingPunct="0">
              <a:lnSpc>
                <a:spcPct val="150000"/>
              </a:lnSpc>
              <a:buClr>
                <a:schemeClr val="bg2"/>
              </a:buClr>
              <a:buSzPct val="90000"/>
              <a:buFont typeface="Wingdings" pitchFamily="2" charset="2"/>
              <a:buChar char="Ø"/>
            </a:pPr>
            <a:r>
              <a:rPr lang="en-GB" altLang="zh-CN" sz="2400" b="1" kern="0" dirty="0" err="1">
                <a:solidFill>
                  <a:schemeClr val="bg1">
                    <a:lumMod val="75000"/>
                  </a:schemeClr>
                </a:solidFill>
                <a:latin typeface="微软雅黑" pitchFamily="34" charset="-122"/>
                <a:ea typeface="微软雅黑" pitchFamily="34" charset="-122"/>
              </a:rPr>
              <a:t>FreeRTOS</a:t>
            </a:r>
            <a:r>
              <a:rPr lang="zh-CN" altLang="en-US" sz="2400" b="1" kern="0" dirty="0">
                <a:solidFill>
                  <a:schemeClr val="bg1">
                    <a:lumMod val="75000"/>
                  </a:schemeClr>
                </a:solidFill>
                <a:latin typeface="微软雅黑" pitchFamily="34" charset="-122"/>
                <a:ea typeface="微软雅黑" pitchFamily="34" charset="-122"/>
              </a:rPr>
              <a:t>操作系统原理</a:t>
            </a:r>
            <a:endParaRPr lang="en-US" altLang="zh-CN" sz="2400" b="1" kern="0" dirty="0">
              <a:solidFill>
                <a:schemeClr val="bg1">
                  <a:lumMod val="75000"/>
                </a:schemeClr>
              </a:solidFill>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r>
              <a:rPr lang="en-US" altLang="zh-CN" sz="2400" b="1" dirty="0">
                <a:solidFill>
                  <a:srgbClr val="050358"/>
                </a:solidFill>
                <a:latin typeface="微软雅黑" panose="020B0503020204020204" pitchFamily="34" charset="-122"/>
                <a:ea typeface="微软雅黑" panose="020B0503020204020204" pitchFamily="34" charset="-122"/>
                <a:cs typeface="+mj-cs"/>
              </a:rPr>
              <a:t>FreeRTOS</a:t>
            </a:r>
            <a:r>
              <a:rPr lang="zh-CN" altLang="en-US" sz="2400" b="1" dirty="0">
                <a:solidFill>
                  <a:srgbClr val="050358"/>
                </a:solidFill>
                <a:latin typeface="微软雅黑" panose="020B0503020204020204" pitchFamily="34" charset="-122"/>
                <a:ea typeface="微软雅黑" panose="020B0503020204020204" pitchFamily="34" charset="-122"/>
                <a:cs typeface="+mj-cs"/>
              </a:rPr>
              <a:t>操作系统移植</a:t>
            </a:r>
          </a:p>
          <a:p>
            <a:pPr marL="342851" indent="-342851" eaLnBrk="0" hangingPunct="0">
              <a:lnSpc>
                <a:spcPct val="150000"/>
              </a:lnSpc>
              <a:buClr>
                <a:schemeClr val="bg2"/>
              </a:buClr>
              <a:buSzPct val="90000"/>
              <a:buFont typeface="Wingdings" pitchFamily="2" charset="2"/>
              <a:buChar char="Ø"/>
            </a:pPr>
            <a:endParaRPr lang="zh-CN" altLang="en-US" sz="2400" b="1" kern="0" dirty="0">
              <a:solidFill>
                <a:schemeClr val="bg1">
                  <a:lumMod val="75000"/>
                </a:schemeClr>
              </a:solidFill>
              <a:latin typeface="微软雅黑" pitchFamily="34" charset="-122"/>
              <a:ea typeface="微软雅黑" pitchFamily="34" charset="-122"/>
            </a:endParaRPr>
          </a:p>
        </p:txBody>
      </p:sp>
      <p:sp>
        <p:nvSpPr>
          <p:cNvPr id="4" name="灯片编号占位符 3">
            <a:extLst>
              <a:ext uri="{FF2B5EF4-FFF2-40B4-BE49-F238E27FC236}">
                <a16:creationId xmlns:a16="http://schemas.microsoft.com/office/drawing/2014/main" id="{82EA60C8-DDE3-0017-C143-33E5AA459A60}"/>
              </a:ext>
            </a:extLst>
          </p:cNvPr>
          <p:cNvSpPr>
            <a:spLocks noGrp="1"/>
          </p:cNvSpPr>
          <p:nvPr>
            <p:ph type="sldNum" sz="quarter" idx="12"/>
          </p:nvPr>
        </p:nvSpPr>
        <p:spPr/>
        <p:txBody>
          <a:bodyPr/>
          <a:lstStyle/>
          <a:p>
            <a:fld id="{223FAEE7-31C4-4651-8074-E84314A39F13}" type="slidenum">
              <a:rPr lang="zh-CN" altLang="en-US" smtClean="0"/>
              <a:t>30</a:t>
            </a:fld>
            <a:endParaRPr lang="zh-CN" altLang="en-US"/>
          </a:p>
        </p:txBody>
      </p:sp>
    </p:spTree>
    <p:extLst>
      <p:ext uri="{BB962C8B-B14F-4D97-AF65-F5344CB8AC3E}">
        <p14:creationId xmlns:p14="http://schemas.microsoft.com/office/powerpoint/2010/main" val="17974268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操作系统移植</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en-GB" altLang="zh-CN" sz="2400" dirty="0" err="1">
                <a:solidFill>
                  <a:srgbClr val="002060"/>
                </a:solidFill>
                <a:latin typeface="微软雅黑" panose="020B0503020204020204" pitchFamily="34" charset="-122"/>
                <a:ea typeface="微软雅黑" panose="020B0503020204020204" pitchFamily="34" charset="-122"/>
              </a:rPr>
              <a:t>FreeRTOS</a:t>
            </a:r>
            <a:r>
              <a:rPr lang="zh-CN" altLang="en-US" sz="2400" dirty="0">
                <a:solidFill>
                  <a:srgbClr val="002060"/>
                </a:solidFill>
                <a:latin typeface="微软雅黑" panose="020B0503020204020204" pitchFamily="34" charset="-122"/>
                <a:ea typeface="微软雅黑" panose="020B0503020204020204" pitchFamily="34" charset="-122"/>
              </a:rPr>
              <a:t>的移植</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marL="342851" indent="-342851" eaLnBrk="0" hangingPunct="0">
              <a:lnSpc>
                <a:spcPct val="150000"/>
              </a:lnSpc>
              <a:buClr>
                <a:schemeClr val="tx2"/>
              </a:buClr>
              <a:buSzPct val="90000"/>
              <a:buFont typeface="Wingdings" pitchFamily="2" charset="2"/>
              <a:buChar char="Ø"/>
            </a:pPr>
            <a:r>
              <a:rPr lang="en-US" altLang="zh-CN" sz="2400" kern="0" dirty="0">
                <a:latin typeface="微软雅黑" pitchFamily="34" charset="-122"/>
                <a:ea typeface="微软雅黑" pitchFamily="34" charset="-122"/>
              </a:rPr>
              <a:t>FreeRTOS</a:t>
            </a:r>
            <a:r>
              <a:rPr lang="zh-CN" altLang="en-US" sz="2400" kern="0" dirty="0">
                <a:latin typeface="微软雅黑" pitchFamily="34" charset="-122"/>
                <a:ea typeface="微软雅黑" pitchFamily="34" charset="-122"/>
              </a:rPr>
              <a:t>的移植非常简单。操作系统的实现部分与处理器无关。移植只需要实现对应平台上的三个中断服务程序即可（汇编实现）。</a:t>
            </a:r>
          </a:p>
          <a:p>
            <a:pPr marL="342851" indent="-342851" eaLnBrk="0" hangingPunct="0">
              <a:lnSpc>
                <a:spcPct val="150000"/>
              </a:lnSpc>
              <a:buClr>
                <a:schemeClr val="tx2"/>
              </a:buClr>
              <a:buSzPct val="90000"/>
              <a:buFont typeface="Wingdings" pitchFamily="2" charset="2"/>
              <a:buChar char="Ø"/>
            </a:pPr>
            <a:r>
              <a:rPr lang="en-US" altLang="zh-CN" sz="2400" kern="0" dirty="0">
                <a:latin typeface="微软雅黑" pitchFamily="34" charset="-122"/>
                <a:ea typeface="微软雅黑" pitchFamily="34" charset="-122"/>
              </a:rPr>
              <a:t>FreeRTOS</a:t>
            </a:r>
            <a:r>
              <a:rPr lang="zh-CN" altLang="en-US" sz="2400" kern="0" dirty="0">
                <a:latin typeface="微软雅黑" pitchFamily="34" charset="-122"/>
                <a:ea typeface="微软雅黑" pitchFamily="34" charset="-122"/>
              </a:rPr>
              <a:t>官方下载的源文件中已经包含了市面上大部分处理器的移植文件的实现。所以移植过程就是将官方实现的中断服务程序加入到中断向量表中即可，然后再选择相应的内存管理源文件加入工程就算移植完了。</a:t>
            </a:r>
          </a:p>
        </p:txBody>
      </p:sp>
      <p:sp>
        <p:nvSpPr>
          <p:cNvPr id="2" name="灯片编号占位符 1">
            <a:extLst>
              <a:ext uri="{FF2B5EF4-FFF2-40B4-BE49-F238E27FC236}">
                <a16:creationId xmlns:a16="http://schemas.microsoft.com/office/drawing/2014/main" id="{BF4C6461-C768-282B-B70F-69F74DDDCA96}"/>
              </a:ext>
            </a:extLst>
          </p:cNvPr>
          <p:cNvSpPr>
            <a:spLocks noGrp="1"/>
          </p:cNvSpPr>
          <p:nvPr>
            <p:ph type="sldNum" sz="quarter" idx="12"/>
          </p:nvPr>
        </p:nvSpPr>
        <p:spPr/>
        <p:txBody>
          <a:bodyPr/>
          <a:lstStyle/>
          <a:p>
            <a:fld id="{223FAEE7-31C4-4651-8074-E84314A39F13}" type="slidenum">
              <a:rPr lang="zh-CN" altLang="en-US" smtClean="0"/>
              <a:t>31</a:t>
            </a:fld>
            <a:endParaRPr lang="zh-CN" altLang="en-US"/>
          </a:p>
        </p:txBody>
      </p:sp>
    </p:spTree>
    <p:extLst>
      <p:ext uri="{BB962C8B-B14F-4D97-AF65-F5344CB8AC3E}">
        <p14:creationId xmlns:p14="http://schemas.microsoft.com/office/powerpoint/2010/main" val="98658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1" y="218278"/>
            <a:ext cx="4584610" cy="630021"/>
          </a:xfrm>
        </p:spPr>
        <p:txBody>
          <a:bodyPr>
            <a:normAutofit fontScale="90000"/>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操作系统移植</a:t>
            </a: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8498390"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zh-CN" altLang="en-US" sz="2400" kern="0" dirty="0">
                <a:solidFill>
                  <a:srgbClr val="002060"/>
                </a:solidFill>
                <a:latin typeface="微软雅黑" panose="020B0503020204020204" pitchFamily="34" charset="-122"/>
                <a:ea typeface="微软雅黑" panose="020B0503020204020204" pitchFamily="34" charset="-122"/>
              </a:rPr>
              <a:t>三个</a:t>
            </a:r>
            <a:r>
              <a:rPr lang="zh-CN" altLang="en-US" sz="2400" dirty="0">
                <a:solidFill>
                  <a:srgbClr val="002060"/>
                </a:solidFill>
                <a:latin typeface="微软雅黑" panose="020B0503020204020204" pitchFamily="34" charset="-122"/>
                <a:ea typeface="微软雅黑" panose="020B0503020204020204" pitchFamily="34" charset="-122"/>
              </a:rPr>
              <a:t>中断服务程序</a:t>
            </a: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662465" cy="4768106"/>
          </a:xfrm>
          <a:prstGeom prst="rect">
            <a:avLst/>
          </a:prstGeom>
          <a:noFill/>
          <a:ln/>
        </p:spPr>
        <p:txBody>
          <a:bodyPr/>
          <a:lstStyle/>
          <a:p>
            <a:pPr marL="342851" indent="-342851" eaLnBrk="0" hangingPunct="0">
              <a:lnSpc>
                <a:spcPct val="150000"/>
              </a:lnSpc>
              <a:buClr>
                <a:schemeClr val="tx2"/>
              </a:buClr>
              <a:buSzPct val="90000"/>
              <a:buFont typeface="Wingdings" pitchFamily="2" charset="2"/>
              <a:buChar char="Ø"/>
            </a:pPr>
            <a:r>
              <a:rPr lang="en-US" altLang="zh-CN" sz="2400" kern="0" dirty="0" err="1">
                <a:latin typeface="微软雅黑" pitchFamily="34" charset="-122"/>
                <a:ea typeface="微软雅黑" pitchFamily="34" charset="-122"/>
              </a:rPr>
              <a:t>xPortPendSVHandler</a:t>
            </a:r>
            <a:r>
              <a:rPr lang="zh-CN" altLang="en-US" sz="2400" kern="0" dirty="0">
                <a:latin typeface="微软雅黑" pitchFamily="34" charset="-122"/>
                <a:ea typeface="微软雅黑" pitchFamily="34" charset="-122"/>
              </a:rPr>
              <a:t>（对应</a:t>
            </a:r>
            <a:r>
              <a:rPr lang="en-US" altLang="zh-CN" sz="2400" kern="0" dirty="0">
                <a:latin typeface="微软雅黑" pitchFamily="34" charset="-122"/>
                <a:ea typeface="微软雅黑" pitchFamily="34" charset="-122"/>
              </a:rPr>
              <a:t>stm32</a:t>
            </a:r>
            <a:r>
              <a:rPr lang="zh-CN" altLang="en-US" sz="2400" kern="0" dirty="0">
                <a:latin typeface="微软雅黑" pitchFamily="34" charset="-122"/>
                <a:ea typeface="微软雅黑" pitchFamily="34" charset="-122"/>
              </a:rPr>
              <a:t>中的</a:t>
            </a:r>
            <a:r>
              <a:rPr lang="en-US" altLang="zh-CN" sz="2400" kern="0" dirty="0" err="1">
                <a:latin typeface="微软雅黑" pitchFamily="34" charset="-122"/>
                <a:ea typeface="微软雅黑" pitchFamily="34" charset="-122"/>
              </a:rPr>
              <a:t>PendSV_Handler</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a:t>
            </a:r>
          </a:p>
          <a:p>
            <a:pPr eaLnBrk="0" hangingPunct="0">
              <a:lnSpc>
                <a:spcPct val="150000"/>
              </a:lnSpc>
              <a:buClr>
                <a:schemeClr val="tx2"/>
              </a:buClr>
              <a:buSzPct val="90000"/>
            </a:pPr>
            <a:r>
              <a:rPr lang="zh-CN" altLang="en-US" sz="2400" kern="0" dirty="0">
                <a:latin typeface="微软雅黑" pitchFamily="34" charset="-122"/>
                <a:ea typeface="微软雅黑" pitchFamily="34" charset="-122"/>
              </a:rPr>
              <a:t>用于请求切换任务，任务调度的上下文切换就是在这里面实现。由</a:t>
            </a:r>
            <a:r>
              <a:rPr lang="en-US" altLang="zh-CN" sz="2400" kern="0" dirty="0" err="1">
                <a:latin typeface="微软雅黑" pitchFamily="34" charset="-122"/>
                <a:ea typeface="微软雅黑" pitchFamily="34" charset="-122"/>
              </a:rPr>
              <a:t>PendSV</a:t>
            </a:r>
            <a:r>
              <a:rPr lang="zh-CN" altLang="en-US" sz="2400" kern="0" dirty="0">
                <a:latin typeface="微软雅黑" pitchFamily="34" charset="-122"/>
                <a:ea typeface="微软雅黑" pitchFamily="34" charset="-122"/>
              </a:rPr>
              <a:t>异常触发， </a:t>
            </a:r>
            <a:r>
              <a:rPr lang="en-US" altLang="zh-CN" sz="2400" kern="0" dirty="0" err="1">
                <a:latin typeface="微软雅黑" pitchFamily="34" charset="-122"/>
                <a:ea typeface="微软雅黑" pitchFamily="34" charset="-122"/>
              </a:rPr>
              <a:t>PendSV</a:t>
            </a:r>
            <a:r>
              <a:rPr lang="zh-CN" altLang="en-US" sz="2400" kern="0" dirty="0">
                <a:latin typeface="微软雅黑" pitchFamily="34" charset="-122"/>
                <a:ea typeface="微软雅黑" pitchFamily="34" charset="-122"/>
              </a:rPr>
              <a:t>又称可悬起系统调用。异常的触发是通过在</a:t>
            </a:r>
            <a:r>
              <a:rPr lang="en-US" altLang="zh-CN" sz="2400" kern="0" dirty="0" err="1">
                <a:latin typeface="微软雅黑" pitchFamily="34" charset="-122"/>
                <a:ea typeface="微软雅黑" pitchFamily="34" charset="-122"/>
              </a:rPr>
              <a:t>PendSV</a:t>
            </a:r>
            <a:r>
              <a:rPr lang="zh-CN" altLang="en-US" sz="2400" kern="0" dirty="0">
                <a:latin typeface="微软雅黑" pitchFamily="34" charset="-122"/>
                <a:ea typeface="微软雅黑" pitchFamily="34" charset="-122"/>
              </a:rPr>
              <a:t>悬起寄存器中写</a:t>
            </a:r>
            <a:r>
              <a:rPr lang="en-US" altLang="zh-CN" sz="2400" kern="0" dirty="0">
                <a:latin typeface="微软雅黑" pitchFamily="34" charset="-122"/>
                <a:ea typeface="微软雅黑" pitchFamily="34" charset="-122"/>
              </a:rPr>
              <a:t>1</a:t>
            </a:r>
            <a:r>
              <a:rPr lang="zh-CN" altLang="en-US" sz="2400" kern="0" dirty="0">
                <a:latin typeface="微软雅黑" pitchFamily="34" charset="-122"/>
                <a:ea typeface="微软雅黑" pitchFamily="34" charset="-122"/>
              </a:rPr>
              <a:t>实现。悬起后如果优先级不够高，则将缓期执行。</a:t>
            </a:r>
            <a:endParaRPr lang="en-US" altLang="zh-CN" sz="2400" kern="0" dirty="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r>
              <a:rPr lang="en-US" altLang="zh-CN" sz="2400" kern="0" dirty="0" err="1">
                <a:latin typeface="微软雅黑" pitchFamily="34" charset="-122"/>
                <a:ea typeface="微软雅黑" pitchFamily="34" charset="-122"/>
              </a:rPr>
              <a:t>xPortSysTickHandler</a:t>
            </a:r>
            <a:r>
              <a:rPr lang="zh-CN" altLang="en-US" sz="2400" kern="0" dirty="0">
                <a:latin typeface="微软雅黑" pitchFamily="34" charset="-122"/>
                <a:ea typeface="微软雅黑" pitchFamily="34" charset="-122"/>
              </a:rPr>
              <a:t>（对应</a:t>
            </a:r>
            <a:r>
              <a:rPr lang="en-US" altLang="zh-CN" sz="2400" kern="0" dirty="0">
                <a:latin typeface="微软雅黑" pitchFamily="34" charset="-122"/>
                <a:ea typeface="微软雅黑" pitchFamily="34" charset="-122"/>
              </a:rPr>
              <a:t>stm32</a:t>
            </a:r>
            <a:r>
              <a:rPr lang="zh-CN" altLang="en-US" sz="2400" kern="0" dirty="0">
                <a:latin typeface="微软雅黑" pitchFamily="34" charset="-122"/>
                <a:ea typeface="微软雅黑" pitchFamily="34" charset="-122"/>
              </a:rPr>
              <a:t>中的</a:t>
            </a:r>
            <a:r>
              <a:rPr lang="en-US" altLang="zh-CN" sz="2400" kern="0" dirty="0" err="1">
                <a:latin typeface="微软雅黑" pitchFamily="34" charset="-122"/>
                <a:ea typeface="微软雅黑" pitchFamily="34" charset="-122"/>
              </a:rPr>
              <a:t>SVC_Handler</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a:t>
            </a:r>
          </a:p>
          <a:p>
            <a:pPr eaLnBrk="0" hangingPunct="0">
              <a:lnSpc>
                <a:spcPct val="150000"/>
              </a:lnSpc>
              <a:buClr>
                <a:schemeClr val="tx2"/>
              </a:buClr>
              <a:buSzPct val="90000"/>
            </a:pPr>
            <a:r>
              <a:rPr lang="zh-CN" altLang="en-US" sz="2400" kern="0" dirty="0">
                <a:latin typeface="微软雅黑" pitchFamily="34" charset="-122"/>
                <a:ea typeface="微软雅黑" pitchFamily="34" charset="-122"/>
              </a:rPr>
              <a:t>心跳时钟处理函数。系统时钟配置好后就会定时触发。任务调度在这里面实现。如果需要切换上下文，就会触发</a:t>
            </a:r>
            <a:r>
              <a:rPr lang="en-US" altLang="zh-CN" sz="2400" kern="0" dirty="0" err="1">
                <a:latin typeface="微软雅黑" pitchFamily="34" charset="-122"/>
                <a:ea typeface="微软雅黑" pitchFamily="34" charset="-122"/>
              </a:rPr>
              <a:t>PendSV</a:t>
            </a:r>
            <a:r>
              <a:rPr lang="zh-CN" altLang="en-US" sz="2400" kern="0" dirty="0">
                <a:latin typeface="微软雅黑" pitchFamily="34" charset="-122"/>
                <a:ea typeface="微软雅黑" pitchFamily="34" charset="-122"/>
              </a:rPr>
              <a:t>异常用于切换上下文。</a:t>
            </a:r>
            <a:endParaRPr lang="en-US" altLang="zh-CN" sz="2400" kern="0" dirty="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r>
              <a:rPr lang="en-US" altLang="zh-CN" sz="2400" kern="0" dirty="0" err="1">
                <a:latin typeface="微软雅黑" pitchFamily="34" charset="-122"/>
                <a:ea typeface="微软雅黑" pitchFamily="34" charset="-122"/>
              </a:rPr>
              <a:t>vPortSVCHandler</a:t>
            </a:r>
            <a:r>
              <a:rPr lang="zh-CN" altLang="en-US" sz="2400" kern="0" dirty="0">
                <a:latin typeface="微软雅黑" pitchFamily="34" charset="-122"/>
                <a:ea typeface="微软雅黑" pitchFamily="34" charset="-122"/>
              </a:rPr>
              <a:t>（对应</a:t>
            </a:r>
            <a:r>
              <a:rPr lang="en-US" altLang="zh-CN" sz="2400" kern="0" dirty="0">
                <a:latin typeface="微软雅黑" pitchFamily="34" charset="-122"/>
                <a:ea typeface="微软雅黑" pitchFamily="34" charset="-122"/>
              </a:rPr>
              <a:t>stm32</a:t>
            </a:r>
            <a:r>
              <a:rPr lang="zh-CN" altLang="en-US" sz="2400" kern="0" dirty="0">
                <a:latin typeface="微软雅黑" pitchFamily="34" charset="-122"/>
                <a:ea typeface="微软雅黑" pitchFamily="34" charset="-122"/>
              </a:rPr>
              <a:t>中的</a:t>
            </a:r>
            <a:r>
              <a:rPr lang="en-US" altLang="zh-CN" sz="2400" kern="0" dirty="0" err="1">
                <a:latin typeface="微软雅黑" pitchFamily="34" charset="-122"/>
                <a:ea typeface="微软雅黑" pitchFamily="34" charset="-122"/>
              </a:rPr>
              <a:t>Systick_Handler</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a:t>
            </a:r>
          </a:p>
          <a:p>
            <a:pPr eaLnBrk="0" hangingPunct="0">
              <a:lnSpc>
                <a:spcPct val="150000"/>
              </a:lnSpc>
              <a:buClr>
                <a:schemeClr val="tx2"/>
              </a:buClr>
              <a:buSzPct val="90000"/>
            </a:pPr>
            <a:r>
              <a:rPr lang="zh-CN" altLang="en-US" sz="2400" kern="0" dirty="0">
                <a:latin typeface="微软雅黑" pitchFamily="34" charset="-122"/>
                <a:ea typeface="微软雅黑" pitchFamily="34" charset="-122"/>
              </a:rPr>
              <a:t>直接切换任务，用于启动调度时初始化堆栈和各寄存器。有专门的指令触发。</a:t>
            </a:r>
          </a:p>
          <a:p>
            <a:pPr marL="342851" indent="-342851" eaLnBrk="0" hangingPunct="0">
              <a:lnSpc>
                <a:spcPct val="150000"/>
              </a:lnSpc>
              <a:buClr>
                <a:schemeClr val="tx2"/>
              </a:buClr>
              <a:buSzPct val="90000"/>
              <a:buFont typeface="Wingdings" pitchFamily="2" charset="2"/>
              <a:buChar char="Ø"/>
            </a:pPr>
            <a:endParaRPr lang="zh-CN" altLang="en-US" sz="2400" kern="0" dirty="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endParaRPr lang="zh-CN" altLang="en-US" sz="2400" kern="0" dirty="0">
              <a:latin typeface="微软雅黑" pitchFamily="34" charset="-122"/>
              <a:ea typeface="微软雅黑" pitchFamily="34" charset="-122"/>
            </a:endParaRPr>
          </a:p>
        </p:txBody>
      </p:sp>
      <p:sp>
        <p:nvSpPr>
          <p:cNvPr id="2" name="灯片编号占位符 1">
            <a:extLst>
              <a:ext uri="{FF2B5EF4-FFF2-40B4-BE49-F238E27FC236}">
                <a16:creationId xmlns:a16="http://schemas.microsoft.com/office/drawing/2014/main" id="{0A38A4C7-D48F-9CC7-A9B2-04E45AF14AAB}"/>
              </a:ext>
            </a:extLst>
          </p:cNvPr>
          <p:cNvSpPr>
            <a:spLocks noGrp="1"/>
          </p:cNvSpPr>
          <p:nvPr>
            <p:ph type="sldNum" sz="quarter" idx="12"/>
          </p:nvPr>
        </p:nvSpPr>
        <p:spPr/>
        <p:txBody>
          <a:bodyPr/>
          <a:lstStyle/>
          <a:p>
            <a:fld id="{223FAEE7-31C4-4651-8074-E84314A39F13}" type="slidenum">
              <a:rPr lang="zh-CN" altLang="en-US" smtClean="0"/>
              <a:t>32</a:t>
            </a:fld>
            <a:endParaRPr lang="zh-CN" altLang="en-US"/>
          </a:p>
        </p:txBody>
      </p:sp>
    </p:spTree>
    <p:extLst>
      <p:ext uri="{BB962C8B-B14F-4D97-AF65-F5344CB8AC3E}">
        <p14:creationId xmlns:p14="http://schemas.microsoft.com/office/powerpoint/2010/main" val="14557223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a:extLst>
              <a:ext uri="{FF2B5EF4-FFF2-40B4-BE49-F238E27FC236}">
                <a16:creationId xmlns:a16="http://schemas.microsoft.com/office/drawing/2014/main" id="{59D3A830-BB7A-4AF5-9627-77029B844750}"/>
              </a:ext>
            </a:extLst>
          </p:cNvPr>
          <p:cNvSpPr>
            <a:spLocks noGrp="1" noChangeArrowheads="1"/>
          </p:cNvSpPr>
          <p:nvPr>
            <p:ph type="title"/>
          </p:nvPr>
        </p:nvSpPr>
        <p:spPr>
          <a:xfrm>
            <a:off x="528810" y="218278"/>
            <a:ext cx="5160789" cy="630021"/>
          </a:xfrm>
        </p:spPr>
        <p:txBody>
          <a:bodyPr>
            <a:normAutofit/>
          </a:bodyPr>
          <a:lstStyle/>
          <a:p>
            <a:r>
              <a:rPr lang="en-GB" altLang="zh-CN" sz="3600" dirty="0" err="1">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FreeRTOS</a:t>
            </a:r>
            <a:r>
              <a:rPr lang="zh-CN" altLang="en-US"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rPr>
              <a:t>操作系统移植</a:t>
            </a:r>
            <a:endParaRPr lang="en-GB" altLang="zh-CN" sz="3600" dirty="0">
              <a:solidFill>
                <a:srgbClr val="050358"/>
              </a:solidFill>
              <a:effectDag name="">
                <a:cont type="tree" name="">
                  <a:effect ref="fillLine"/>
                  <a:outerShdw dist="38100" dir="13500000" algn="br">
                    <a:srgbClr val="DDDDFF"/>
                  </a:outerShdw>
                </a:cont>
                <a:cont type="tree" name="">
                  <a:effect ref="fillLine"/>
                  <a:outerShdw dist="38100" dir="2700000" algn="tl">
                    <a:srgbClr val="7A7A99"/>
                  </a:outerShdw>
                </a:cont>
                <a:effect ref="fillLine"/>
              </a:effectDag>
              <a:latin typeface="微软雅黑" panose="020B0503020204020204" pitchFamily="34" charset="-122"/>
              <a:ea typeface="微软雅黑" panose="020B0503020204020204" pitchFamily="34" charset="-122"/>
              <a:cs typeface="+mn-cs"/>
            </a:endParaRPr>
          </a:p>
        </p:txBody>
      </p:sp>
      <p:cxnSp>
        <p:nvCxnSpPr>
          <p:cNvPr id="9" name="直接连接符 8">
            <a:extLst>
              <a:ext uri="{FF2B5EF4-FFF2-40B4-BE49-F238E27FC236}">
                <a16:creationId xmlns:a16="http://schemas.microsoft.com/office/drawing/2014/main" id="{97DF394A-6851-418C-9B0D-BCE923131210}"/>
              </a:ext>
            </a:extLst>
          </p:cNvPr>
          <p:cNvCxnSpPr/>
          <p:nvPr/>
        </p:nvCxnSpPr>
        <p:spPr bwMode="auto">
          <a:xfrm>
            <a:off x="528812" y="848299"/>
            <a:ext cx="11052000" cy="0"/>
          </a:xfrm>
          <a:prstGeom prst="line">
            <a:avLst/>
          </a:prstGeom>
          <a:noFill/>
          <a:ln w="60325" cmpd="thinThick">
            <a:solidFill>
              <a:srgbClr val="00206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2">
            <a:extLst>
              <a:ext uri="{FF2B5EF4-FFF2-40B4-BE49-F238E27FC236}">
                <a16:creationId xmlns:a16="http://schemas.microsoft.com/office/drawing/2014/main" id="{3CF2AAF2-0E99-47FC-ADBB-1D72361B2B17}"/>
              </a:ext>
            </a:extLst>
          </p:cNvPr>
          <p:cNvSpPr txBox="1">
            <a:spLocks noChangeArrowheads="1"/>
          </p:cNvSpPr>
          <p:nvPr/>
        </p:nvSpPr>
        <p:spPr bwMode="auto">
          <a:xfrm>
            <a:off x="679477" y="1057091"/>
            <a:ext cx="5697821" cy="44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6050" tIns="28024" rIns="56050" bIns="28024" anchor="ctr"/>
          <a:lstStyle>
            <a:lvl1pPr algn="l" rtl="0" eaLnBrk="0" fontAlgn="base" hangingPunct="0">
              <a:spcBef>
                <a:spcPct val="0"/>
              </a:spcBef>
              <a:spcAft>
                <a:spcPct val="0"/>
              </a:spcAft>
              <a:defRPr sz="2600">
                <a:solidFill>
                  <a:schemeClr val="tx2"/>
                </a:solidFill>
                <a:latin typeface="+mj-lt"/>
                <a:ea typeface="+mj-ea"/>
                <a:cs typeface="+mj-cs"/>
              </a:defRPr>
            </a:lvl1pPr>
            <a:lvl2pPr algn="l" rtl="0" eaLnBrk="0" fontAlgn="base" hangingPunct="0">
              <a:spcBef>
                <a:spcPct val="0"/>
              </a:spcBef>
              <a:spcAft>
                <a:spcPct val="0"/>
              </a:spcAft>
              <a:defRPr sz="2600">
                <a:solidFill>
                  <a:schemeClr val="tx2"/>
                </a:solidFill>
                <a:latin typeface="Arial" pitchFamily="34" charset="0"/>
                <a:ea typeface="宋体" pitchFamily="2" charset="-122"/>
              </a:defRPr>
            </a:lvl2pPr>
            <a:lvl3pPr algn="l" rtl="0" eaLnBrk="0" fontAlgn="base" hangingPunct="0">
              <a:spcBef>
                <a:spcPct val="0"/>
              </a:spcBef>
              <a:spcAft>
                <a:spcPct val="0"/>
              </a:spcAft>
              <a:defRPr sz="2600">
                <a:solidFill>
                  <a:schemeClr val="tx2"/>
                </a:solidFill>
                <a:latin typeface="Arial" pitchFamily="34" charset="0"/>
                <a:ea typeface="宋体" pitchFamily="2" charset="-122"/>
              </a:defRPr>
            </a:lvl3pPr>
            <a:lvl4pPr algn="l" rtl="0" eaLnBrk="0" fontAlgn="base" hangingPunct="0">
              <a:spcBef>
                <a:spcPct val="0"/>
              </a:spcBef>
              <a:spcAft>
                <a:spcPct val="0"/>
              </a:spcAft>
              <a:defRPr sz="2600">
                <a:solidFill>
                  <a:schemeClr val="tx2"/>
                </a:solidFill>
                <a:latin typeface="Arial" pitchFamily="34" charset="0"/>
                <a:ea typeface="宋体" pitchFamily="2" charset="-122"/>
              </a:defRPr>
            </a:lvl4pPr>
            <a:lvl5pPr algn="l" rtl="0" eaLnBrk="0" fontAlgn="base" hangingPunct="0">
              <a:spcBef>
                <a:spcPct val="0"/>
              </a:spcBef>
              <a:spcAft>
                <a:spcPct val="0"/>
              </a:spcAft>
              <a:defRPr sz="2600">
                <a:solidFill>
                  <a:schemeClr val="tx2"/>
                </a:solidFill>
                <a:latin typeface="Arial" pitchFamily="34" charset="0"/>
                <a:ea typeface="宋体" pitchFamily="2" charset="-122"/>
              </a:defRPr>
            </a:lvl5pPr>
            <a:lvl6pPr marL="457162" algn="l" rtl="0" fontAlgn="base">
              <a:spcBef>
                <a:spcPct val="0"/>
              </a:spcBef>
              <a:spcAft>
                <a:spcPct val="0"/>
              </a:spcAft>
              <a:defRPr sz="2600">
                <a:solidFill>
                  <a:schemeClr val="tx2"/>
                </a:solidFill>
                <a:latin typeface="Arial" pitchFamily="34" charset="0"/>
                <a:ea typeface="宋体" pitchFamily="2" charset="-122"/>
              </a:defRPr>
            </a:lvl6pPr>
            <a:lvl7pPr marL="914323" algn="l" rtl="0" fontAlgn="base">
              <a:spcBef>
                <a:spcPct val="0"/>
              </a:spcBef>
              <a:spcAft>
                <a:spcPct val="0"/>
              </a:spcAft>
              <a:defRPr sz="2600">
                <a:solidFill>
                  <a:schemeClr val="tx2"/>
                </a:solidFill>
                <a:latin typeface="Arial" pitchFamily="34" charset="0"/>
                <a:ea typeface="宋体" pitchFamily="2" charset="-122"/>
              </a:defRPr>
            </a:lvl7pPr>
            <a:lvl8pPr marL="1371485" algn="l" rtl="0" fontAlgn="base">
              <a:spcBef>
                <a:spcPct val="0"/>
              </a:spcBef>
              <a:spcAft>
                <a:spcPct val="0"/>
              </a:spcAft>
              <a:defRPr sz="2600">
                <a:solidFill>
                  <a:schemeClr val="tx2"/>
                </a:solidFill>
                <a:latin typeface="Arial" pitchFamily="34" charset="0"/>
                <a:ea typeface="宋体" pitchFamily="2" charset="-122"/>
              </a:defRPr>
            </a:lvl8pPr>
            <a:lvl9pPr marL="1828647" algn="l" rtl="0" fontAlgn="base">
              <a:spcBef>
                <a:spcPct val="0"/>
              </a:spcBef>
              <a:spcAft>
                <a:spcPct val="0"/>
              </a:spcAft>
              <a:defRPr sz="2600">
                <a:solidFill>
                  <a:schemeClr val="tx2"/>
                </a:solidFill>
                <a:latin typeface="Arial" pitchFamily="34" charset="0"/>
                <a:ea typeface="宋体" pitchFamily="2" charset="-122"/>
              </a:defRPr>
            </a:lvl9pPr>
          </a:lstStyle>
          <a:p>
            <a:pPr eaLnBrk="1" hangingPunct="1">
              <a:buClr>
                <a:schemeClr val="tx2"/>
              </a:buClr>
              <a:buFont typeface="Wingdings" pitchFamily="2" charset="2"/>
              <a:buChar char="p"/>
              <a:defRPr/>
            </a:pPr>
            <a:r>
              <a:rPr lang="en-US" altLang="zh-CN" sz="2294" kern="0" dirty="0">
                <a:solidFill>
                  <a:srgbClr val="A50021"/>
                </a:solidFill>
                <a:latin typeface="微软雅黑" panose="020B0503020204020204" pitchFamily="34" charset="-122"/>
                <a:ea typeface="微软雅黑" panose="020B0503020204020204" pitchFamily="34" charset="-122"/>
              </a:rPr>
              <a:t> </a:t>
            </a:r>
            <a:r>
              <a:rPr lang="zh-CN" altLang="en-US" sz="2400" kern="0" dirty="0">
                <a:solidFill>
                  <a:srgbClr val="002060"/>
                </a:solidFill>
                <a:latin typeface="微软雅黑" panose="020B0503020204020204" pitchFamily="34" charset="-122"/>
                <a:ea typeface="微软雅黑" panose="020B0503020204020204" pitchFamily="34" charset="-122"/>
              </a:rPr>
              <a:t>作业</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
        <p:nvSpPr>
          <p:cNvPr id="17" name="Rectangle 5">
            <a:extLst>
              <a:ext uri="{FF2B5EF4-FFF2-40B4-BE49-F238E27FC236}">
                <a16:creationId xmlns:a16="http://schemas.microsoft.com/office/drawing/2014/main" id="{89B8EC0B-D0CB-4128-ABC6-8DEBF7D78151}"/>
              </a:ext>
            </a:extLst>
          </p:cNvPr>
          <p:cNvSpPr txBox="1">
            <a:spLocks noChangeArrowheads="1"/>
          </p:cNvSpPr>
          <p:nvPr/>
        </p:nvSpPr>
        <p:spPr>
          <a:xfrm>
            <a:off x="958493" y="1489473"/>
            <a:ext cx="10554029" cy="4768106"/>
          </a:xfrm>
          <a:prstGeom prst="rect">
            <a:avLst/>
          </a:prstGeom>
          <a:noFill/>
          <a:ln/>
        </p:spPr>
        <p:txBody>
          <a:bodyPr numCol="1"/>
          <a:lstStyle/>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参考实验指导书完成</a:t>
            </a:r>
            <a:r>
              <a:rPr lang="en-US" altLang="zh-CN" sz="2400" kern="0" dirty="0" err="1">
                <a:latin typeface="微软雅黑" pitchFamily="34" charset="-122"/>
                <a:ea typeface="微软雅黑" pitchFamily="34" charset="-122"/>
              </a:rPr>
              <a:t>FreeRTOS</a:t>
            </a:r>
            <a:r>
              <a:rPr lang="zh-CN" altLang="en-US" sz="2400" kern="0" dirty="0">
                <a:latin typeface="微软雅黑" pitchFamily="34" charset="-122"/>
                <a:ea typeface="微软雅黑" pitchFamily="34" charset="-122"/>
              </a:rPr>
              <a:t>移植，并编写简单示例验证</a:t>
            </a:r>
            <a:endParaRPr lang="en-US" altLang="zh-CN" sz="2400" kern="0" dirty="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以</a:t>
            </a:r>
            <a:r>
              <a:rPr lang="en-GB" altLang="zh-CN" sz="2400" kern="0" dirty="0">
                <a:latin typeface="微软雅黑" pitchFamily="34" charset="-122"/>
                <a:ea typeface="微软雅黑" pitchFamily="34" charset="-122"/>
              </a:rPr>
              <a:t>word</a:t>
            </a:r>
            <a:r>
              <a:rPr lang="zh-CN" altLang="en-US" sz="2400" kern="0" dirty="0">
                <a:latin typeface="微软雅黑" pitchFamily="34" charset="-122"/>
                <a:ea typeface="微软雅黑" pitchFamily="34" charset="-122"/>
              </a:rPr>
              <a:t>文档形式提交，命名为“成员</a:t>
            </a:r>
            <a:r>
              <a:rPr lang="en-US" altLang="zh-CN" sz="2400" kern="0" dirty="0">
                <a:latin typeface="微软雅黑" pitchFamily="34" charset="-122"/>
                <a:ea typeface="微软雅黑" pitchFamily="34" charset="-122"/>
              </a:rPr>
              <a:t>1-</a:t>
            </a:r>
            <a:r>
              <a:rPr lang="zh-CN" altLang="en-US" sz="2400" kern="0" dirty="0">
                <a:latin typeface="微软雅黑" pitchFamily="34" charset="-122"/>
                <a:ea typeface="微软雅黑" pitchFamily="34" charset="-122"/>
              </a:rPr>
              <a:t>成员</a:t>
            </a:r>
            <a:r>
              <a:rPr lang="en-US" altLang="zh-CN" sz="2400" kern="0" dirty="0">
                <a:latin typeface="微软雅黑" pitchFamily="34" charset="-122"/>
                <a:ea typeface="微软雅黑" pitchFamily="34" charset="-122"/>
              </a:rPr>
              <a:t>2-</a:t>
            </a:r>
            <a:r>
              <a:rPr lang="zh-CN" altLang="en-US" sz="2400" kern="0" dirty="0">
                <a:latin typeface="微软雅黑" pitchFamily="34" charset="-122"/>
                <a:ea typeface="微软雅黑" pitchFamily="34" charset="-122"/>
              </a:rPr>
              <a:t>成员</a:t>
            </a:r>
            <a:r>
              <a:rPr lang="en-US" altLang="zh-CN" sz="2400" kern="0" dirty="0">
                <a:latin typeface="微软雅黑" pitchFamily="34" charset="-122"/>
                <a:ea typeface="微软雅黑" pitchFamily="34" charset="-122"/>
              </a:rPr>
              <a:t>3-</a:t>
            </a:r>
            <a:r>
              <a:rPr lang="zh-CN" altLang="en-US" sz="2400" kern="0" dirty="0">
                <a:latin typeface="微软雅黑" pitchFamily="34" charset="-122"/>
                <a:ea typeface="微软雅黑" pitchFamily="34" charset="-122"/>
              </a:rPr>
              <a:t>实验报告</a:t>
            </a:r>
            <a:r>
              <a:rPr lang="en-US" altLang="zh-CN" sz="2400" kern="0" dirty="0">
                <a:latin typeface="微软雅黑" pitchFamily="34" charset="-122"/>
                <a:ea typeface="微软雅黑" pitchFamily="34" charset="-122"/>
              </a:rPr>
              <a:t>5.</a:t>
            </a:r>
            <a:r>
              <a:rPr lang="en-GB" altLang="zh-CN" sz="2400" kern="0" dirty="0">
                <a:latin typeface="微软雅黑" pitchFamily="34" charset="-122"/>
                <a:ea typeface="微软雅黑" pitchFamily="34" charset="-122"/>
              </a:rPr>
              <a:t>docx”</a:t>
            </a:r>
          </a:p>
          <a:p>
            <a:pPr marL="342851" indent="-342851" eaLnBrk="0" hangingPunct="0">
              <a:lnSpc>
                <a:spcPct val="150000"/>
              </a:lnSpc>
              <a:buClr>
                <a:schemeClr val="tx2"/>
              </a:buClr>
              <a:buSzPct val="90000"/>
              <a:buFont typeface="Wingdings" pitchFamily="2" charset="2"/>
              <a:buChar char="Ø"/>
            </a:pPr>
            <a:r>
              <a:rPr lang="zh-CN" altLang="en-US" sz="2400" kern="0" dirty="0">
                <a:latin typeface="微软雅黑" pitchFamily="34" charset="-122"/>
                <a:ea typeface="微软雅黑" pitchFamily="34" charset="-122"/>
              </a:rPr>
              <a:t>内容为：程序代码、实验结果图片</a:t>
            </a:r>
            <a:endParaRPr lang="en-US" altLang="zh-CN" sz="2400" kern="0">
              <a:latin typeface="微软雅黑" pitchFamily="34" charset="-122"/>
              <a:ea typeface="微软雅黑" pitchFamily="34" charset="-122"/>
            </a:endParaRPr>
          </a:p>
          <a:p>
            <a:pPr marL="342851" indent="-342851" eaLnBrk="0" hangingPunct="0">
              <a:lnSpc>
                <a:spcPct val="150000"/>
              </a:lnSpc>
              <a:buClr>
                <a:schemeClr val="tx2"/>
              </a:buClr>
              <a:buSzPct val="90000"/>
              <a:buFont typeface="Wingdings" pitchFamily="2" charset="2"/>
              <a:buChar char="Ø"/>
            </a:pPr>
            <a:r>
              <a:rPr lang="zh-CN" altLang="en-US" sz="2400" kern="0">
                <a:latin typeface="微软雅黑" pitchFamily="34" charset="-122"/>
                <a:ea typeface="微软雅黑" pitchFamily="34" charset="-122"/>
              </a:rPr>
              <a:t>下次</a:t>
            </a:r>
            <a:r>
              <a:rPr lang="zh-CN" altLang="en-US" sz="2400" kern="0" dirty="0">
                <a:latin typeface="微软雅黑" pitchFamily="34" charset="-122"/>
                <a:ea typeface="微软雅黑" pitchFamily="34" charset="-122"/>
              </a:rPr>
              <a:t>课前发送到邮箱</a:t>
            </a:r>
            <a:r>
              <a:rPr lang="en-GB" altLang="zh-CN" sz="2400" kern="0" dirty="0">
                <a:latin typeface="微软雅黑" pitchFamily="34" charset="-122"/>
                <a:ea typeface="微软雅黑" pitchFamily="34" charset="-122"/>
              </a:rPr>
              <a:t>qiushitong@buaa.edu.cn</a:t>
            </a:r>
          </a:p>
        </p:txBody>
      </p:sp>
      <p:sp>
        <p:nvSpPr>
          <p:cNvPr id="2" name="灯片编号占位符 1">
            <a:extLst>
              <a:ext uri="{FF2B5EF4-FFF2-40B4-BE49-F238E27FC236}">
                <a16:creationId xmlns:a16="http://schemas.microsoft.com/office/drawing/2014/main" id="{FDFAF2D1-25EE-CD40-99ED-D384D43F0289}"/>
              </a:ext>
            </a:extLst>
          </p:cNvPr>
          <p:cNvSpPr>
            <a:spLocks noGrp="1"/>
          </p:cNvSpPr>
          <p:nvPr>
            <p:ph type="sldNum" sz="quarter" idx="12"/>
          </p:nvPr>
        </p:nvSpPr>
        <p:spPr/>
        <p:txBody>
          <a:bodyPr/>
          <a:lstStyle/>
          <a:p>
            <a:fld id="{223FAEE7-31C4-4651-8074-E84314A39F13}" type="slidenum">
              <a:rPr lang="zh-CN" altLang="en-US" smtClean="0"/>
              <a:t>33</a:t>
            </a:fld>
            <a:endParaRPr lang="zh-CN" altLang="en-US"/>
          </a:p>
        </p:txBody>
      </p:sp>
    </p:spTree>
    <p:extLst>
      <p:ext uri="{BB962C8B-B14F-4D97-AF65-F5344CB8AC3E}">
        <p14:creationId xmlns:p14="http://schemas.microsoft.com/office/powerpoint/2010/main" val="81969418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793</TotalTime>
  <Words>2373</Words>
  <Application>Microsoft Office PowerPoint</Application>
  <PresentationFormat>宽屏</PresentationFormat>
  <Paragraphs>195</Paragraphs>
  <Slides>33</Slides>
  <Notes>22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33</vt:i4>
      </vt:variant>
    </vt:vector>
  </HeadingPairs>
  <TitlesOfParts>
    <vt:vector size="39" baseType="lpstr">
      <vt:lpstr>等线</vt:lpstr>
      <vt:lpstr>等线 Light</vt:lpstr>
      <vt:lpstr>微软雅黑</vt:lpstr>
      <vt:lpstr>Arial</vt:lpstr>
      <vt:lpstr>Wingdings</vt:lpstr>
      <vt:lpstr>Office 主题​​</vt:lpstr>
      <vt:lpstr>STM32实验课</vt:lpstr>
      <vt:lpstr>PowerPoint 演示文稿</vt:lpstr>
      <vt:lpstr>FreeRTOS操作系统原理</vt:lpstr>
      <vt:lpstr>FreeRTOS操作系统原理</vt:lpstr>
      <vt:lpstr>FreeRTOS操作系统原理</vt:lpstr>
      <vt:lpstr>FreeRTOS操作系统原理</vt:lpstr>
      <vt:lpstr>FreeRTOS操作系统原理</vt:lpstr>
      <vt:lpstr>FreeRTOS操作系统原理</vt:lpstr>
      <vt:lpstr>FreeRTOS操作系统原理</vt:lpstr>
      <vt:lpstr>FreeRTOS操作系统原理</vt:lpstr>
      <vt:lpstr>FreeRTOS操作系统原理</vt:lpstr>
      <vt:lpstr>FreeRTOS操作系统原理</vt:lpstr>
      <vt:lpstr>FreeRTOS操作系统原理</vt:lpstr>
      <vt:lpstr>FreeRTOS操作系统原理</vt:lpstr>
      <vt:lpstr>FreeRTOS操作系统原理</vt:lpstr>
      <vt:lpstr>FreeRTOS操作系统原理</vt:lpstr>
      <vt:lpstr>FreeRTOS操作系统原理</vt:lpstr>
      <vt:lpstr>FreeRTOS操作系统原理</vt:lpstr>
      <vt:lpstr>FreeRTOS操作系统原理</vt:lpstr>
      <vt:lpstr>FreeRTOS操作系统原理</vt:lpstr>
      <vt:lpstr>FreeRTOS操作系统原理</vt:lpstr>
      <vt:lpstr>FreeRTOS操作系统原理</vt:lpstr>
      <vt:lpstr>FreeRTOS操作系统原理</vt:lpstr>
      <vt:lpstr>FreeRTOS操作系统原理</vt:lpstr>
      <vt:lpstr>FreeRTOS操作系统原理</vt:lpstr>
      <vt:lpstr>FreeRTOS操作系统原理</vt:lpstr>
      <vt:lpstr>FreeRTOS操作系统原理</vt:lpstr>
      <vt:lpstr>FreeRTOS操作系统原理</vt:lpstr>
      <vt:lpstr>FreeRTOS操作系统原理</vt:lpstr>
      <vt:lpstr>PowerPoint 演示文稿</vt:lpstr>
      <vt:lpstr>FreeRTOS操作系统移植</vt:lpstr>
      <vt:lpstr>FreeRTOS操作系统移植</vt:lpstr>
      <vt:lpstr>FreeRTOS操作系统移植</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Arduino实验课</dc:title>
  <dc:creator>qiu shitong</dc:creator>
  <cp:lastModifiedBy>qiu shitong</cp:lastModifiedBy>
  <cp:revision>140</cp:revision>
  <dcterms:created xsi:type="dcterms:W3CDTF">2022-11-05T08:16:56Z</dcterms:created>
  <dcterms:modified xsi:type="dcterms:W3CDTF">2022-11-22T04:58:19Z</dcterms:modified>
</cp:coreProperties>
</file>