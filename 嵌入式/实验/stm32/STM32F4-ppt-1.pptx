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94" r:id="rId2"/>
    <p:sldId id="549" r:id="rId3"/>
    <p:sldId id="5315" r:id="rId4"/>
    <p:sldId id="5318" r:id="rId5"/>
    <p:sldId id="5319" r:id="rId6"/>
    <p:sldId id="5320" r:id="rId7"/>
    <p:sldId id="5321" r:id="rId8"/>
    <p:sldId id="5322" r:id="rId9"/>
    <p:sldId id="5323" r:id="rId10"/>
    <p:sldId id="5324" r:id="rId11"/>
    <p:sldId id="5325" r:id="rId12"/>
    <p:sldId id="5326" r:id="rId13"/>
    <p:sldId id="5327" r:id="rId14"/>
    <p:sldId id="5329" r:id="rId15"/>
    <p:sldId id="5328" r:id="rId16"/>
    <p:sldId id="5330" r:id="rId17"/>
    <p:sldId id="5331" r:id="rId18"/>
    <p:sldId id="5334" r:id="rId19"/>
    <p:sldId id="5335" r:id="rId20"/>
    <p:sldId id="5336" r:id="rId21"/>
    <p:sldId id="5337" r:id="rId22"/>
    <p:sldId id="5332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737" autoAdjust="0"/>
    <p:restoredTop sz="78039" autoAdjust="0"/>
  </p:normalViewPr>
  <p:slideViewPr>
    <p:cSldViewPr snapToGrid="0">
      <p:cViewPr varScale="1">
        <p:scale>
          <a:sx n="78" d="100"/>
          <a:sy n="78" d="100"/>
        </p:scale>
        <p:origin x="10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FB67A2-5F22-41EB-97AE-77B82A4A4B49}" type="datetimeFigureOut">
              <a:rPr lang="zh-CN" altLang="en-US" smtClean="0"/>
              <a:t>2022/11/14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31B62D-0039-40C5-B7C1-15C8C3F633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451106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B62D-0039-40C5-B7C1-15C8C3F6331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8293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B62D-0039-40C5-B7C1-15C8C3F63315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4645001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B62D-0039-40C5-B7C1-15C8C3F63315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85458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B62D-0039-40C5-B7C1-15C8C3F6331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269289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B62D-0039-40C5-B7C1-15C8C3F6331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298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B62D-0039-40C5-B7C1-15C8C3F6331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48141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B62D-0039-40C5-B7C1-15C8C3F6331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4844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B62D-0039-40C5-B7C1-15C8C3F63315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267620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B62D-0039-40C5-B7C1-15C8C3F63315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670045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B62D-0039-40C5-B7C1-15C8C3F63315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988356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B62D-0039-40C5-B7C1-15C8C3F6331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52928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B62D-0039-40C5-B7C1-15C8C3F63315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734343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B62D-0039-40C5-B7C1-15C8C3F6331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6321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31B62D-0039-40C5-B7C1-15C8C3F6331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2308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E98DADB-24D1-4D42-B92C-64F11E0A1C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D528E19-8339-4C66-B413-A9CFFE311C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B24E47-E1A4-411E-AB87-FCA95E73B1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AD4739-5AD7-4F39-9AD3-1F3DDFE5A620}" type="datetime1">
              <a:rPr lang="zh-CN" altLang="en-US" smtClean="0"/>
              <a:t>2022/11/14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44BCB9-DE08-4D4E-B0D5-1F02D6E2A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35EE645-E6F4-41EF-B8AC-92E141276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46074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1C88A1A-950E-4128-BEB9-12ACDBB038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62D02AF-C859-4E10-9F17-8235D2A3E9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0BC8F31-020E-41CA-A8D7-5F512B792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52E61A-2AF5-4C5C-8AE5-F22F932C44B8}" type="datetime1">
              <a:rPr lang="zh-CN" altLang="en-US" smtClean="0"/>
              <a:t>2022/11/14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247612-124A-4ABC-9A39-FFC69DB17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4B75910-2620-4D8C-9568-C565ADDA8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4072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62F1EC-E137-4EF5-89FA-FF7017B03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56D15C3-C57C-4DD9-B5A8-D87ABDC558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9FC1C19-A222-40F3-9798-4B25BB375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6D59D3-B2E1-4F80-8AA9-EAA709619368}" type="datetime1">
              <a:rPr lang="zh-CN" altLang="en-US" smtClean="0"/>
              <a:t>2022/11/14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378DA54-A380-43B3-A299-6880CFF28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8E1E75F-CCC9-46F2-8FB9-E6CB33B2B0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5866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82C1E1-A2BB-4FB5-BC78-1D32B1C0F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EFDCE91-B955-4826-9BD2-E98FBA320D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7CDEAD9-663E-44F8-A838-C33BE0BD36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2AC295-AD82-4C86-891B-58A4F0267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87AB85-BD54-4A60-99CC-6B59F99CB4E3}" type="datetime1">
              <a:rPr lang="zh-CN" altLang="en-US" smtClean="0"/>
              <a:t>2022/11/14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BD93D4E-A033-4D7C-9945-DC1C7759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477F63-D946-4B16-96A0-341090F5B7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2813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8DA4F9-29C6-4178-AC78-4D04C0A427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4ED87B2-BA72-4363-A54A-DF93825F79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DBFE16F-296C-40BE-8EE3-3C20092A10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79B0027-DED3-4B2C-A85D-90EEC46004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F999DA55-7C20-4732-B437-A4CA69A9A5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7B4E0EA-E820-4B57-9831-2A47F06114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E79F04-C023-48B9-8E78-DEACEE946E3F}" type="datetime1">
              <a:rPr lang="zh-CN" altLang="en-US" smtClean="0"/>
              <a:t>2022/11/14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9A453B5-2904-4E7F-922C-E5BD35995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8B049F6-91F8-41BF-A765-9A1C331A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13928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165BC4F-D275-4E0F-9751-D55839FD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D6B3F5A-EB1C-47C0-B4F6-28BB9387B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A9B1B-0399-4284-A7C1-B56DAE1826A6}" type="datetime1">
              <a:rPr lang="zh-CN" altLang="en-US" smtClean="0"/>
              <a:t>2022/11/14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8EEE7A9-7ECE-4B54-B98E-A289B7E9E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2D41295-BC48-4C64-9886-2603815007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86263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DCDC14-BDA2-426F-87F1-A364B5A4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0D0A2F-25C2-4D35-A5EC-74F756DB3960}" type="datetime1">
              <a:rPr lang="zh-CN" altLang="en-US" smtClean="0"/>
              <a:t>2022/11/14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E75E331-8F04-4918-85C4-62B7AF7D7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451E509-FC2F-42FC-B38E-B08F257A8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03187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3168A14-7EFD-4CF2-B819-2747DEF6F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237DBDA-7B49-4F18-AE0C-C9E2E81B5A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D149FD3-B2D9-41E2-9309-A6C9806C9C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FFDAC11-1304-4665-A5D3-5BD3D3A60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C8A90D-52FA-45DF-B0A6-DD618E861B03}" type="datetime1">
              <a:rPr lang="zh-CN" altLang="en-US" smtClean="0"/>
              <a:t>2022/11/14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FCE017D-44AE-4C31-A5BD-7ECD76EF1E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DC025B7-091A-4940-AA30-FA2BB6C955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108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414FA9-4A4F-4A1D-963F-855D63A47D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B1141530-F524-46C1-A343-120BA6FC510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90D7CB57-0A8C-4357-A1DD-C33917F88B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449E5AD-7207-4C56-83BB-9C314F5E0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CEF246-4475-4AD3-93FF-2813DA9E95A1}" type="datetime1">
              <a:rPr lang="zh-CN" altLang="en-US" smtClean="0"/>
              <a:t>2022/11/14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418F796-1063-4E4B-81EC-9A174A8B81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0020EE7-7B86-44E0-A765-49FDF6ADC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9688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7C25755-B6AC-46C3-83D1-CF2E46EE3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A5E038-DE98-4E1E-AD5B-61BF538A44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D82FEA-46C0-4355-A880-B5AB3F6EE7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893937-013A-4E18-B34D-7C3D660BACBD}" type="datetime1">
              <a:rPr lang="zh-CN" altLang="en-US" smtClean="0"/>
              <a:t>2022/11/14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9B65A19-D891-43ED-B249-FFB7A315A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A6639C-59F6-4977-82E6-6F5F9D66C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7456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D6AC94A-5094-4776-B040-89BD9FBDE39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817682E-98E5-4C9C-9DC3-3226B7B698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2477BD1-F76A-42DA-AB2C-DB4E361AF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202812-C468-4982-969F-67EAB02EFA21}" type="datetime1">
              <a:rPr lang="zh-CN" altLang="en-US" smtClean="0"/>
              <a:t>2022/11/14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FA5C914-0F0E-4130-8426-B25CF75C1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A7A6FA-BE7F-43BC-97DD-C3C02D919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32167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91A0B10D-77D4-44B2-A25B-5979E9957A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A219166-0438-4E22-9083-9E71F4D80D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3560F71-04DA-4D48-A53A-273AAD3252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DE96F8-0B3B-4E61-AA96-2CAD9F3DCF58}" type="datetime1">
              <a:rPr lang="zh-CN" altLang="en-US" smtClean="0"/>
              <a:t>2022/11/14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CFDB605-0230-42F4-BEFF-0A918678AB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648FCB4-EE66-4B68-A7B9-A4F75B88D1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FAEE7-31C4-4651-8074-E84314A39F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76497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st.com/zh/evaluation-tools/stm32f4discovery.html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t.com/resource/en/user_manual/um1725-description-of-stm32f4-hal-and-lowlayer-drivers-stmicroelectronics.pdf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idx="4294967295"/>
          </p:nvPr>
        </p:nvSpPr>
        <p:spPr>
          <a:xfrm>
            <a:off x="1137405" y="2370812"/>
            <a:ext cx="8224874" cy="945435"/>
          </a:xfrm>
        </p:spPr>
        <p:txBody>
          <a:bodyPr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GB" altLang="zh-CN" sz="4800" b="1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</a:t>
            </a:r>
            <a:r>
              <a:rPr lang="zh-CN" altLang="en-US" sz="4800" b="1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实验课</a:t>
            </a:r>
            <a:endParaRPr lang="zh-CN" altLang="en-US" sz="4000" dirty="0">
              <a:solidFill>
                <a:srgbClr val="0503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标题 1"/>
          <p:cNvSpPr txBox="1">
            <a:spLocks/>
          </p:cNvSpPr>
          <p:nvPr/>
        </p:nvSpPr>
        <p:spPr>
          <a:xfrm>
            <a:off x="1137405" y="3221023"/>
            <a:ext cx="9782446" cy="6118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70000"/>
              </a:lnSpc>
            </a:pPr>
            <a:endParaRPr lang="zh-CN" altLang="en-US" sz="2000" dirty="0">
              <a:solidFill>
                <a:srgbClr val="05035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92B75FB-FB13-F2DD-CDFE-DD1F98E94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35575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656382" y="394893"/>
            <a:ext cx="10439401" cy="623681"/>
          </a:xfrm>
          <a:prstGeom prst="rect">
            <a:avLst/>
          </a:prstGeom>
        </p:spPr>
        <p:txBody>
          <a:bodyPr/>
          <a:lstStyle/>
          <a:p>
            <a:pPr lvl="0" eaLnBrk="0" hangingPunct="0">
              <a:buClr>
                <a:schemeClr val="tx2"/>
              </a:buClr>
              <a:buSzPct val="90000"/>
              <a:defRPr/>
            </a:pPr>
            <a:r>
              <a:rPr lang="zh-CN" altLang="en-US" sz="3200" b="1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1298531" y="1161584"/>
            <a:ext cx="7956478" cy="4282700"/>
          </a:xfrm>
          <a:prstGeom prst="rect">
            <a:avLst/>
          </a:prstGeom>
          <a:noFill/>
          <a:ln/>
        </p:spPr>
        <p:txBody>
          <a:bodyPr/>
          <a:lstStyle/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GB" altLang="zh-CN" sz="2400" b="1" dirty="0">
                <a:solidFill>
                  <a:srgbClr val="0503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STM32F4Discovery</a:t>
            </a:r>
            <a:r>
              <a:rPr lang="zh-CN" altLang="en-US" sz="2400" b="1" dirty="0">
                <a:solidFill>
                  <a:srgbClr val="0503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介绍</a:t>
            </a:r>
            <a:endParaRPr lang="en-US" altLang="zh-CN" sz="2400" b="1" dirty="0">
              <a:solidFill>
                <a:srgbClr val="05035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342851" indent="-342851" eaLnBrk="0" hangingPunct="0">
              <a:lnSpc>
                <a:spcPct val="150000"/>
              </a:lnSpc>
              <a:buClr>
                <a:schemeClr val="bg2"/>
              </a:buClr>
              <a:buSzPct val="90000"/>
              <a:buFont typeface="Wingdings" pitchFamily="2" charset="2"/>
              <a:buChar char="Ø"/>
            </a:pPr>
            <a:r>
              <a:rPr lang="en-US" altLang="zh-CN" sz="2400" b="1" kern="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STM32F4Discovery</a:t>
            </a:r>
            <a:r>
              <a:rPr lang="zh-CN" altLang="en-US" sz="2400" b="1" kern="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开发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929303-9A5C-960E-0D17-8E0354535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065330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477470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介绍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了解开发板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3" y="1489473"/>
            <a:ext cx="10662465" cy="4768106"/>
          </a:xfrm>
          <a:prstGeom prst="rect">
            <a:avLst/>
          </a:prstGeom>
          <a:noFill/>
          <a:ln/>
        </p:spPr>
        <p:txBody>
          <a:bodyPr/>
          <a:lstStyle/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STM32F407VG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微控制器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ST-Link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调试器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LIS302DL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运动传感器，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轴数字输出加速器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MP45DT02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音频传感器，全向数字麦克风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CS43L22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音频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DAC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8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LED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灯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个按钮，分别为用户按键和复位键 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USB OTG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LQFP100 IO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口扩展头 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endParaRPr lang="zh-CN" altLang="en-US" sz="24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b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</a:br>
            <a:endParaRPr lang="zh-CN" altLang="en-US" sz="2400" kern="0" dirty="0"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5C4E35-5308-4305-B5B7-F0F31FBBA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499" y="1315003"/>
            <a:ext cx="3419313" cy="511704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E645BBC2-9265-68A7-DA47-C5D02197B0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69575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介绍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了解开发板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3" y="1489473"/>
            <a:ext cx="10662465" cy="4768106"/>
          </a:xfrm>
          <a:prstGeom prst="rect">
            <a:avLst/>
          </a:prstGeom>
          <a:noFill/>
          <a:ln/>
        </p:spPr>
        <p:txBody>
          <a:bodyPr/>
          <a:lstStyle/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I2C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SPI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6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USART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路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CAN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3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12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ADC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2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个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12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位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DAC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192KB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Data SRAM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1MB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的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FLASH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B5C4E35-5308-4305-B5B7-F0F31FBBA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61499" y="1315003"/>
            <a:ext cx="3419313" cy="5117046"/>
          </a:xfrm>
          <a:prstGeom prst="rect">
            <a:avLst/>
          </a:prstGeom>
        </p:spPr>
      </p:pic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9158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介绍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了解开发板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3" y="1489473"/>
            <a:ext cx="10662465" cy="4768106"/>
          </a:xfrm>
          <a:prstGeom prst="rect">
            <a:avLst/>
          </a:prstGeom>
          <a:noFill/>
          <a:ln/>
        </p:spPr>
        <p:txBody>
          <a:bodyPr/>
          <a:lstStyle/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官方网站：</a:t>
            </a:r>
            <a:r>
              <a:rPr lang="en-US" altLang="zh-CN" sz="2000" kern="0" dirty="0">
                <a:latin typeface="微软雅黑" pitchFamily="34" charset="-122"/>
                <a:ea typeface="微软雅黑" pitchFamily="34" charset="-122"/>
                <a:hlinkClick r:id="rId2"/>
              </a:rPr>
              <a:t>https://www.st.com/zh/evaluation-tools/stm32f4discovery.html</a:t>
            </a:r>
            <a:endParaRPr lang="en-US" altLang="zh-CN" sz="2000" kern="0" dirty="0">
              <a:latin typeface="微软雅黑" pitchFamily="34" charset="-122"/>
              <a:ea typeface="微软雅黑" pitchFamily="34" charset="-122"/>
            </a:endParaRP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给大家发的资料</a:t>
            </a:r>
            <a:endParaRPr lang="en-US" altLang="zh-CN" sz="24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5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D1F9B22-5F4E-1035-DB5E-2C9C021A73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1600" y="2053982"/>
            <a:ext cx="1635760" cy="170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79338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 txBox="1">
            <a:spLocks/>
          </p:cNvSpPr>
          <p:nvPr/>
        </p:nvSpPr>
        <p:spPr>
          <a:xfrm>
            <a:off x="656382" y="394893"/>
            <a:ext cx="10439401" cy="623681"/>
          </a:xfrm>
          <a:prstGeom prst="rect">
            <a:avLst/>
          </a:prstGeom>
        </p:spPr>
        <p:txBody>
          <a:bodyPr/>
          <a:lstStyle/>
          <a:p>
            <a:pPr lvl="0" eaLnBrk="0" hangingPunct="0">
              <a:buClr>
                <a:schemeClr val="tx2"/>
              </a:buClr>
              <a:buSzPct val="90000"/>
              <a:defRPr/>
            </a:pPr>
            <a:r>
              <a:rPr lang="zh-CN" altLang="en-US" sz="3200" b="1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</a:p>
        </p:txBody>
      </p:sp>
      <p:sp>
        <p:nvSpPr>
          <p:cNvPr id="3" name="Rectangle 5"/>
          <p:cNvSpPr txBox="1">
            <a:spLocks noChangeArrowheads="1"/>
          </p:cNvSpPr>
          <p:nvPr/>
        </p:nvSpPr>
        <p:spPr>
          <a:xfrm>
            <a:off x="1298531" y="1161584"/>
            <a:ext cx="7956478" cy="4282700"/>
          </a:xfrm>
          <a:prstGeom prst="rect">
            <a:avLst/>
          </a:prstGeom>
          <a:noFill/>
          <a:ln/>
        </p:spPr>
        <p:txBody>
          <a:bodyPr/>
          <a:lstStyle/>
          <a:p>
            <a:pPr marL="342851" indent="-342851" eaLnBrk="0" hangingPunct="0">
              <a:lnSpc>
                <a:spcPct val="150000"/>
              </a:lnSpc>
              <a:buClr>
                <a:schemeClr val="bg2"/>
              </a:buClr>
              <a:buSzPct val="90000"/>
              <a:buFont typeface="Wingdings" pitchFamily="2" charset="2"/>
              <a:buChar char="Ø"/>
            </a:pPr>
            <a:r>
              <a:rPr lang="en-GB" altLang="zh-CN" sz="2400" b="1" kern="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STM32F4Discovery</a:t>
            </a:r>
            <a:r>
              <a:rPr lang="zh-CN" altLang="en-US" sz="2400" b="1" kern="0" dirty="0">
                <a:solidFill>
                  <a:schemeClr val="bg1">
                    <a:lumMod val="75000"/>
                  </a:schemeClr>
                </a:solidFill>
                <a:latin typeface="微软雅黑" pitchFamily="34" charset="-122"/>
                <a:ea typeface="微软雅黑" pitchFamily="34" charset="-122"/>
              </a:rPr>
              <a:t>介绍</a:t>
            </a:r>
            <a:endParaRPr lang="en-US" altLang="zh-CN" sz="2400" b="1" dirty="0">
              <a:solidFill>
                <a:srgbClr val="05035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b="1" dirty="0">
                <a:solidFill>
                  <a:srgbClr val="0503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STM32F4Discovery</a:t>
            </a:r>
            <a:r>
              <a:rPr lang="zh-CN" altLang="en-US" sz="2400" b="1" dirty="0">
                <a:solidFill>
                  <a:srgbClr val="05035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开发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F929303-9A5C-960E-0D17-8E0354535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73605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开发环境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3" y="1489473"/>
            <a:ext cx="10662465" cy="4768106"/>
          </a:xfrm>
          <a:prstGeom prst="rect">
            <a:avLst/>
          </a:prstGeom>
          <a:noFill/>
          <a:ln/>
        </p:spPr>
        <p:txBody>
          <a:bodyPr/>
          <a:lstStyle/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VSCode PlatfromIO</a:t>
            </a:r>
            <a:endParaRPr lang="zh-CN" altLang="en-US" sz="2400" kern="0" dirty="0">
              <a:latin typeface="微软雅黑" pitchFamily="34" charset="-122"/>
              <a:ea typeface="微软雅黑" pitchFamily="34" charset="-122"/>
            </a:endParaRP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Keil MDK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（参考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Keil MDK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使用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.pptx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）</a:t>
            </a:r>
            <a:endParaRPr lang="en-US" altLang="zh-CN" sz="2400" kern="0" dirty="0">
              <a:latin typeface="微软雅黑" pitchFamily="34" charset="-122"/>
              <a:ea typeface="微软雅黑" pitchFamily="34" charset="-122"/>
            </a:endParaRP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endParaRPr lang="zh-CN" altLang="en-US" sz="24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7</a:t>
            </a:fld>
            <a:endParaRPr lang="zh-CN" alt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19018C-453D-C0D4-8D2E-B896C5B65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199" y="4009451"/>
            <a:ext cx="3556001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4">
            <a:extLst>
              <a:ext uri="{FF2B5EF4-FFF2-40B4-BE49-F238E27FC236}">
                <a16:creationId xmlns:a16="http://schemas.microsoft.com/office/drawing/2014/main" id="{C1C06526-6B9C-5181-D876-971A55BF0E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9427" y="4009451"/>
            <a:ext cx="2000250" cy="2000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13772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PlatfromIO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3" y="1489473"/>
            <a:ext cx="10662465" cy="4768106"/>
          </a:xfrm>
          <a:prstGeom prst="rect">
            <a:avLst/>
          </a:prstGeom>
          <a:noFill/>
          <a:ln/>
        </p:spPr>
        <p:txBody>
          <a:bodyPr/>
          <a:lstStyle/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新建一个项目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选择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ST STM32F4DISCOVERY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开发板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选择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STM32Cube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框架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8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EFF50798-E364-3BCC-151C-3E66E16BF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3704" y="2166874"/>
            <a:ext cx="4317108" cy="341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329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lang="en-US" altLang="zh-CN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PlatfromIO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3" y="1489473"/>
            <a:ext cx="10662465" cy="4768106"/>
          </a:xfrm>
          <a:prstGeom prst="rect">
            <a:avLst/>
          </a:prstGeom>
          <a:noFill/>
          <a:ln/>
        </p:spPr>
        <p:txBody>
          <a:bodyPr/>
          <a:lstStyle/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在</a:t>
            </a:r>
            <a:r>
              <a:rPr lang="en-US" altLang="zh-CN" sz="2400" kern="0" dirty="0" err="1">
                <a:latin typeface="微软雅黑" pitchFamily="34" charset="-122"/>
                <a:ea typeface="微软雅黑" pitchFamily="34" charset="-122"/>
              </a:rPr>
              <a:t>src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下新建</a:t>
            </a:r>
            <a:r>
              <a:rPr lang="en-US" altLang="zh-CN" sz="2400" kern="0" dirty="0" err="1">
                <a:latin typeface="微软雅黑" pitchFamily="34" charset="-122"/>
                <a:ea typeface="微软雅黑" pitchFamily="34" charset="-122"/>
              </a:rPr>
              <a:t>main.c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文件</a:t>
            </a:r>
            <a:endParaRPr lang="en-US" altLang="zh-CN" sz="2400" kern="0" dirty="0">
              <a:latin typeface="微软雅黑" pitchFamily="34" charset="-122"/>
              <a:ea typeface="微软雅黑" pitchFamily="34" charset="-122"/>
            </a:endParaRP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程序结构如下：</a:t>
            </a:r>
            <a:endParaRPr lang="en-US" altLang="zh-CN" sz="24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GB" altLang="zh-CN" kern="0" dirty="0">
                <a:latin typeface="微软雅黑" pitchFamily="34" charset="-122"/>
                <a:ea typeface="微软雅黑" pitchFamily="34" charset="-122"/>
              </a:rPr>
              <a:t>int main(void) {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GB" altLang="zh-CN" kern="0" dirty="0">
                <a:latin typeface="微软雅黑" pitchFamily="34" charset="-122"/>
                <a:ea typeface="微软雅黑" pitchFamily="34" charset="-122"/>
              </a:rPr>
              <a:t>    //1</a:t>
            </a:r>
            <a:r>
              <a:rPr lang="zh-CN" altLang="en-US" kern="0" dirty="0">
                <a:latin typeface="微软雅黑" pitchFamily="34" charset="-122"/>
                <a:ea typeface="微软雅黑" pitchFamily="34" charset="-122"/>
              </a:rPr>
              <a:t>初始化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kern="0" dirty="0">
                <a:latin typeface="微软雅黑" pitchFamily="34" charset="-122"/>
                <a:ea typeface="微软雅黑" pitchFamily="34" charset="-122"/>
              </a:rPr>
              <a:t>    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kern="0" dirty="0">
                <a:latin typeface="微软雅黑" pitchFamily="34" charset="-122"/>
                <a:ea typeface="微软雅黑" pitchFamily="34" charset="-122"/>
              </a:rPr>
              <a:t>//2</a:t>
            </a:r>
            <a:r>
              <a:rPr lang="zh-CN" altLang="en-US" kern="0" dirty="0">
                <a:latin typeface="微软雅黑" pitchFamily="34" charset="-122"/>
                <a:ea typeface="微软雅黑" pitchFamily="34" charset="-122"/>
              </a:rPr>
              <a:t>循环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GB" altLang="zh-CN" kern="0" dirty="0">
                <a:latin typeface="微软雅黑" pitchFamily="34" charset="-122"/>
                <a:ea typeface="微软雅黑" pitchFamily="34" charset="-122"/>
              </a:rPr>
              <a:t>while (1) {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endParaRPr lang="en-GB" altLang="zh-CN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GB" altLang="zh-CN" kern="0" dirty="0">
                <a:latin typeface="微软雅黑" pitchFamily="34" charset="-122"/>
                <a:ea typeface="微软雅黑" pitchFamily="34" charset="-122"/>
              </a:rPr>
              <a:t>    }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endParaRPr lang="en-GB" altLang="zh-CN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GB" altLang="zh-CN" kern="0" dirty="0">
                <a:latin typeface="微软雅黑" pitchFamily="34" charset="-122"/>
                <a:ea typeface="微软雅黑" pitchFamily="34" charset="-122"/>
              </a:rPr>
              <a:t>    return 0;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GB" altLang="zh-CN" sz="2400" kern="0" dirty="0">
                <a:latin typeface="微软雅黑" pitchFamily="34" charset="-122"/>
                <a:ea typeface="微软雅黑" pitchFamily="34" charset="-122"/>
              </a:rPr>
              <a:t>}</a:t>
            </a:r>
            <a:endParaRPr lang="zh-CN" altLang="en-US" sz="24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9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5ABB74B2-AACE-F6A4-646D-2A6A01BF43F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09" y="2287613"/>
            <a:ext cx="263842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06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亮灯（寄存器实现）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4" y="1489473"/>
            <a:ext cx="6536614" cy="4768106"/>
          </a:xfrm>
          <a:prstGeom prst="rect">
            <a:avLst/>
          </a:prstGeom>
          <a:noFill/>
          <a:ln/>
        </p:spPr>
        <p:txBody>
          <a:bodyPr numCol="2"/>
          <a:lstStyle/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#define NULL 0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typedef unsigned int u32;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b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</a:b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int main(void) {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    u32 *p = NULL;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b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</a:b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    p = (u32*)0x40023830;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    *p |= 0x00000008;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b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</a:b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    p = (u32*)0x40020C00;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    *p |= 0x01000000;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b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</a:b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    p = (u32*)0x40020C04;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    *p |= 0x00000000;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b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</a:b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    p = (u32*)0x40020C08;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    *p |= 0x03000000;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b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</a:b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    p = (u32*)0x40020C0C;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    *p |= 0x00000000;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b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</a:b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    p = (u32*)0x40020C18;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    *p |= 0x00001000;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b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</a:b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    while(1);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600" kern="0" dirty="0">
                <a:latin typeface="微软雅黑" pitchFamily="34" charset="-122"/>
                <a:ea typeface="微软雅黑" pitchFamily="34" charset="-122"/>
              </a:rPr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10</a:t>
            </a:fld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DEAEE0A6-AB77-4D2A-B2D7-8FF856096896}"/>
              </a:ext>
            </a:extLst>
          </p:cNvPr>
          <p:cNvGrpSpPr/>
          <p:nvPr/>
        </p:nvGrpSpPr>
        <p:grpSpPr>
          <a:xfrm>
            <a:off x="7759537" y="3329313"/>
            <a:ext cx="3473969" cy="2928266"/>
            <a:chOff x="4403002" y="1916431"/>
            <a:chExt cx="4055198" cy="3320321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4B382A11-524E-466E-BEB0-B3811A8CB88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0461" r="8130"/>
            <a:stretch/>
          </p:blipFill>
          <p:spPr>
            <a:xfrm rot="5400000">
              <a:off x="4770440" y="1548993"/>
              <a:ext cx="3320321" cy="4055198"/>
            </a:xfrm>
            <a:prstGeom prst="rect">
              <a:avLst/>
            </a:prstGeom>
          </p:spPr>
        </p:pic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09FB338-65A0-41F4-8B54-31E83CF4178F}"/>
                </a:ext>
              </a:extLst>
            </p:cNvPr>
            <p:cNvSpPr/>
            <p:nvPr/>
          </p:nvSpPr>
          <p:spPr bwMode="auto">
            <a:xfrm>
              <a:off x="6018551" y="3147934"/>
              <a:ext cx="786983" cy="771994"/>
            </a:xfrm>
            <a:prstGeom prst="ellipse">
              <a:avLst/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1" lang="zh-CN" altLang="en-US" sz="24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楷体" pitchFamily="49" charset="-122"/>
              </a:endParaRPr>
            </a:p>
          </p:txBody>
        </p:sp>
      </p:grpSp>
      <p:sp>
        <p:nvSpPr>
          <p:cNvPr id="13" name="文本框 12">
            <a:extLst>
              <a:ext uri="{FF2B5EF4-FFF2-40B4-BE49-F238E27FC236}">
                <a16:creationId xmlns:a16="http://schemas.microsoft.com/office/drawing/2014/main" id="{8192C61A-8BAC-4A3D-AD9F-53B737306F5D}"/>
              </a:ext>
            </a:extLst>
          </p:cNvPr>
          <p:cNvSpPr txBox="1"/>
          <p:nvPr/>
        </p:nvSpPr>
        <p:spPr>
          <a:xfrm>
            <a:off x="7843520" y="1719474"/>
            <a:ext cx="325797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寄存器使用方法见</a:t>
            </a:r>
            <a:r>
              <a:rPr kumimoji="1" lang="en-GB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Keil MDK</a:t>
            </a:r>
            <a:r>
              <a:rPr kumimoji="1" lang="zh-CN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使用</a:t>
            </a:r>
            <a:r>
              <a:rPr kumimoji="1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kumimoji="1" lang="en-GB" altLang="zh-CN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pptx P57</a:t>
            </a:r>
            <a:endParaRPr kumimoji="1" lang="en-US" altLang="zh-CN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272652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亮灯（库函数实现）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4" y="1489473"/>
            <a:ext cx="6536614" cy="4768106"/>
          </a:xfrm>
          <a:prstGeom prst="rect">
            <a:avLst/>
          </a:prstGeom>
          <a:noFill/>
          <a:ln/>
        </p:spPr>
        <p:txBody>
          <a:bodyPr numCol="1"/>
          <a:lstStyle/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查看开发板手册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P35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可以看到几个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LED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灯与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IO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口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PD12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～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PD15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相连。灯的另外一头接地，说明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IO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口给高电平亮灯。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endParaRPr lang="en-US" altLang="zh-CN" sz="16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11</a:t>
            </a:fld>
            <a:endParaRPr lang="zh-CN" altLang="en-US"/>
          </a:p>
        </p:txBody>
      </p:sp>
      <p:pic>
        <p:nvPicPr>
          <p:cNvPr id="14" name="内容占位符 4">
            <a:extLst>
              <a:ext uri="{FF2B5EF4-FFF2-40B4-BE49-F238E27FC236}">
                <a16:creationId xmlns:a16="http://schemas.microsoft.com/office/drawing/2014/main" id="{678440EF-71D0-49D7-82A7-9961E85F5994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7638485" y="3571240"/>
            <a:ext cx="3238500" cy="2638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301D857-8591-435D-886E-8C0E0A9BC5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9881" y="4218548"/>
            <a:ext cx="2858646" cy="1343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433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亮灯（库函数实现）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4" y="1489473"/>
            <a:ext cx="6536614" cy="4768106"/>
          </a:xfrm>
          <a:prstGeom prst="rect">
            <a:avLst/>
          </a:prstGeom>
          <a:noFill/>
          <a:ln/>
        </p:spPr>
        <p:txBody>
          <a:bodyPr numCol="1"/>
          <a:lstStyle/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查看开发板手册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P12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GPIO A~I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系列挂载到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AHB1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总线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（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P19-P28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有详细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GPIO 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表）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endParaRPr lang="zh-CN" altLang="en-US" sz="24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12</a:t>
            </a:fld>
            <a:endParaRPr lang="zh-CN" altLang="en-US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BECF8525-EDA3-F034-B1D9-A242BD5354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623" y="1300530"/>
            <a:ext cx="5145189" cy="4603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411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亮灯（库函数实现）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3" y="1489473"/>
            <a:ext cx="10554029" cy="4768106"/>
          </a:xfrm>
          <a:prstGeom prst="rect">
            <a:avLst/>
          </a:prstGeom>
          <a:noFill/>
          <a:ln/>
        </p:spPr>
        <p:txBody>
          <a:bodyPr numCol="1"/>
          <a:lstStyle/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点亮小灯的步骤：</a:t>
            </a:r>
            <a:endParaRPr lang="en-US" altLang="zh-CN" sz="2400" kern="0" dirty="0">
              <a:latin typeface="微软雅黑" pitchFamily="34" charset="-122"/>
              <a:ea typeface="微软雅黑" pitchFamily="34" charset="-122"/>
            </a:endParaRP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初始化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HAL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库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	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2400" kern="0" dirty="0" err="1">
                <a:latin typeface="微软雅黑" pitchFamily="34" charset="-122"/>
                <a:ea typeface="微软雅黑" pitchFamily="34" charset="-122"/>
              </a:rPr>
              <a:t>HAL_Init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()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时钟使能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		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	__HAL_RCC_GPIO</a:t>
            </a:r>
            <a:r>
              <a:rPr lang="en-US" altLang="zh-CN" sz="2400" kern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_CLK_ENABLE()</a:t>
            </a:r>
            <a:endParaRPr lang="zh-CN" altLang="en-US" sz="2400" kern="0" dirty="0">
              <a:latin typeface="微软雅黑" pitchFamily="34" charset="-122"/>
              <a:ea typeface="微软雅黑" pitchFamily="34" charset="-122"/>
            </a:endParaRP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初始化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GPIO		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2400" kern="0" dirty="0" err="1">
                <a:latin typeface="微软雅黑" pitchFamily="34" charset="-122"/>
                <a:ea typeface="微软雅黑" pitchFamily="34" charset="-122"/>
              </a:rPr>
              <a:t>HAL_GPIO_Init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(GPIO</a:t>
            </a:r>
            <a:r>
              <a:rPr lang="en-US" altLang="zh-CN" sz="2400" kern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, &amp;</a:t>
            </a:r>
            <a:r>
              <a:rPr lang="en-US" altLang="zh-CN" sz="2400" kern="0" dirty="0" err="1">
                <a:latin typeface="微软雅黑" pitchFamily="34" charset="-122"/>
                <a:ea typeface="微软雅黑" pitchFamily="34" charset="-122"/>
              </a:rPr>
              <a:t>GPIO_InitStruct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对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GPIO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进行操作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		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	HAL_GPIO_WritePin(GPIO</a:t>
            </a:r>
            <a:r>
              <a:rPr lang="en-US" altLang="zh-CN" sz="2400" kern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D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, GPIO_PIN_</a:t>
            </a:r>
            <a:r>
              <a:rPr lang="en-US" altLang="zh-CN" sz="2400" kern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13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, GPIO_PIN_</a:t>
            </a:r>
            <a:r>
              <a:rPr lang="en-US" altLang="zh-CN" sz="2400" kern="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SET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)</a:t>
            </a:r>
            <a:endParaRPr lang="zh-CN" altLang="en-US" sz="24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8734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亮灯（库函数实现）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3" y="1489473"/>
            <a:ext cx="10554029" cy="4768106"/>
          </a:xfrm>
          <a:prstGeom prst="rect">
            <a:avLst/>
          </a:prstGeom>
          <a:noFill/>
          <a:ln/>
        </p:spPr>
        <p:txBody>
          <a:bodyPr numCol="1"/>
          <a:lstStyle/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600" kern="0" dirty="0">
                <a:latin typeface="微软雅黑" pitchFamily="34" charset="-122"/>
                <a:ea typeface="微软雅黑" pitchFamily="34" charset="-122"/>
              </a:rPr>
              <a:t>官方文档：</a:t>
            </a:r>
            <a:r>
              <a:rPr lang="en-GB" altLang="zh-CN" sz="1600" kern="0" dirty="0">
                <a:latin typeface="微软雅黑" pitchFamily="34" charset="-122"/>
                <a:ea typeface="微软雅黑" pitchFamily="34" charset="-122"/>
                <a:hlinkClick r:id="rId3"/>
              </a:rPr>
              <a:t>https://www.st.com/resource/en/user_manual/um1725-description-of-stm32f4-hal-and-lowlayer-drivers-stmicroelectronics.pdf</a:t>
            </a:r>
            <a:endParaRPr lang="en-GB" altLang="zh-CN" sz="16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600" kern="0" dirty="0">
                <a:latin typeface="微软雅黑" pitchFamily="34" charset="-122"/>
                <a:ea typeface="微软雅黑" pitchFamily="34" charset="-122"/>
              </a:rPr>
              <a:t>结构体和宏定义在</a:t>
            </a:r>
            <a:r>
              <a:rPr lang="en-US" altLang="zh-CN" sz="1600" kern="0" dirty="0">
                <a:latin typeface="微软雅黑" pitchFamily="34" charset="-122"/>
                <a:ea typeface="微软雅黑" pitchFamily="34" charset="-122"/>
              </a:rPr>
              <a:t>stm32f4xx_hal_gpio.h</a:t>
            </a:r>
            <a:r>
              <a:rPr lang="zh-CN" altLang="en-US" sz="1600" kern="0" dirty="0">
                <a:latin typeface="微软雅黑" pitchFamily="34" charset="-122"/>
                <a:ea typeface="微软雅黑" pitchFamily="34" charset="-122"/>
              </a:rPr>
              <a:t>中（在编辑器里跳转查看源码）：</a:t>
            </a:r>
            <a:endParaRPr lang="en-US" altLang="zh-CN" sz="16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typedef struct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{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  uint32_t Pin;       /*!&lt; Specifies the GPIO pins to be configured.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                           This parameter can be any value of @ref </a:t>
            </a:r>
            <a:r>
              <a:rPr lang="en-US" altLang="zh-CN" sz="800" kern="0" dirty="0" err="1">
                <a:latin typeface="微软雅黑" pitchFamily="34" charset="-122"/>
                <a:ea typeface="微软雅黑" pitchFamily="34" charset="-122"/>
              </a:rPr>
              <a:t>GPIO_pins_define</a:t>
            </a: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 */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endParaRPr lang="en-US" altLang="zh-CN" sz="8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  uint32_t Mode;      /*!&lt; Specifies the operating mode for the selected pins.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                           This parameter can be a value of @ref </a:t>
            </a:r>
            <a:r>
              <a:rPr lang="en-US" altLang="zh-CN" sz="800" kern="0" dirty="0" err="1">
                <a:latin typeface="微软雅黑" pitchFamily="34" charset="-122"/>
                <a:ea typeface="微软雅黑" pitchFamily="34" charset="-122"/>
              </a:rPr>
              <a:t>GPIO_mode_define</a:t>
            </a: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 */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endParaRPr lang="en-US" altLang="zh-CN" sz="8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  uint32_t Pull;      /*!&lt; Specifies the Pull-up or Pull-Down activation for the selected pins.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                           This parameter can be a value of @ref </a:t>
            </a:r>
            <a:r>
              <a:rPr lang="en-US" altLang="zh-CN" sz="800" kern="0" dirty="0" err="1">
                <a:latin typeface="微软雅黑" pitchFamily="34" charset="-122"/>
                <a:ea typeface="微软雅黑" pitchFamily="34" charset="-122"/>
              </a:rPr>
              <a:t>GPIO_pull_define</a:t>
            </a: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 */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endParaRPr lang="en-US" altLang="zh-CN" sz="8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  uint32_t Speed;     /*!&lt; Specifies the speed for the selected pins.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                           This parameter can be a value of @ref </a:t>
            </a:r>
            <a:r>
              <a:rPr lang="en-US" altLang="zh-CN" sz="800" kern="0" dirty="0" err="1">
                <a:latin typeface="微软雅黑" pitchFamily="34" charset="-122"/>
                <a:ea typeface="微软雅黑" pitchFamily="34" charset="-122"/>
              </a:rPr>
              <a:t>GPIO_speed_define</a:t>
            </a: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 */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endParaRPr lang="en-US" altLang="zh-CN" sz="8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  uint32_t Alternate;  /*!&lt; Peripheral to be connected to the selected pins. 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                            This parameter can be a value of @ref </a:t>
            </a:r>
            <a:r>
              <a:rPr lang="en-US" altLang="zh-CN" sz="800" kern="0" dirty="0" err="1">
                <a:latin typeface="微软雅黑" pitchFamily="34" charset="-122"/>
                <a:ea typeface="微软雅黑" pitchFamily="34" charset="-122"/>
              </a:rPr>
              <a:t>GPIO_Alternate_function_selection</a:t>
            </a: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 */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}</a:t>
            </a:r>
            <a:r>
              <a:rPr lang="en-US" altLang="zh-CN" sz="800" kern="0" dirty="0" err="1">
                <a:latin typeface="微软雅黑" pitchFamily="34" charset="-122"/>
                <a:ea typeface="微软雅黑" pitchFamily="34" charset="-122"/>
              </a:rPr>
              <a:t>GPIO_InitTypeDef</a:t>
            </a:r>
            <a:r>
              <a:rPr lang="en-US" altLang="zh-CN" sz="800" kern="0" dirty="0">
                <a:latin typeface="微软雅黑" pitchFamily="34" charset="-122"/>
                <a:ea typeface="微软雅黑" pitchFamily="34" charset="-122"/>
              </a:rPr>
              <a:t>;</a:t>
            </a:r>
            <a:endParaRPr lang="zh-CN" altLang="en-US" sz="8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986501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案例：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亮灯（库函数实现）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4" y="1489473"/>
            <a:ext cx="10622318" cy="4768106"/>
          </a:xfrm>
          <a:prstGeom prst="rect">
            <a:avLst/>
          </a:prstGeom>
          <a:noFill/>
          <a:ln/>
        </p:spPr>
        <p:txBody>
          <a:bodyPr numCol="2"/>
          <a:lstStyle/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#include"stm32f4xx.h"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b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</a:b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int main(void) {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    //</a:t>
            </a:r>
            <a:r>
              <a:rPr lang="zh-CN" altLang="en-US" sz="1400" kern="0" dirty="0">
                <a:latin typeface="微软雅黑" pitchFamily="34" charset="-122"/>
                <a:ea typeface="微软雅黑" pitchFamily="34" charset="-122"/>
              </a:rPr>
              <a:t>初始化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400" kern="0" dirty="0">
                <a:latin typeface="微软雅黑" pitchFamily="34" charset="-122"/>
                <a:ea typeface="微软雅黑" pitchFamily="34" charset="-122"/>
              </a:rPr>
              <a:t>    </a:t>
            </a: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HAL_Init();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b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</a:b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    //</a:t>
            </a:r>
            <a:r>
              <a:rPr lang="zh-CN" altLang="en-US" sz="1400" kern="0" dirty="0">
                <a:latin typeface="微软雅黑" pitchFamily="34" charset="-122"/>
                <a:ea typeface="微软雅黑" pitchFamily="34" charset="-122"/>
              </a:rPr>
              <a:t>时钟使能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400" kern="0" dirty="0">
                <a:latin typeface="微软雅黑" pitchFamily="34" charset="-122"/>
                <a:ea typeface="微软雅黑" pitchFamily="34" charset="-122"/>
              </a:rPr>
              <a:t>    </a:t>
            </a:r>
            <a:r>
              <a:rPr lang="en-US" altLang="zh-CN" sz="1400" kern="0" dirty="0">
                <a:latin typeface="微软雅黑" pitchFamily="34" charset="-122"/>
                <a:ea typeface="微软雅黑" pitchFamily="34" charset="-122"/>
              </a:rPr>
              <a:t>__</a:t>
            </a: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HAL_RCC_GPIOD_CLK_ENABLE();</a:t>
            </a:r>
            <a:b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</a:b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    //</a:t>
            </a:r>
            <a:r>
              <a:rPr lang="zh-CN" altLang="en-US" sz="1400" kern="0" dirty="0">
                <a:latin typeface="微软雅黑" pitchFamily="34" charset="-122"/>
                <a:ea typeface="微软雅黑" pitchFamily="34" charset="-122"/>
              </a:rPr>
              <a:t>初始化</a:t>
            </a: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GPIO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    GPIO_InitTypeDef GPIO_InitStruct;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    GPIO_InitStruct.Pin = GPIO_PIN_13 | GPIO_PIN_15;// LED3/6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    GPIO_InitStruct.Mode = GPIO_MODE_OUTPUT_PP;//</a:t>
            </a:r>
            <a:r>
              <a:rPr lang="zh-CN" altLang="en-US" sz="1400" kern="0" dirty="0">
                <a:latin typeface="微软雅黑" pitchFamily="34" charset="-122"/>
                <a:ea typeface="微软雅黑" pitchFamily="34" charset="-122"/>
              </a:rPr>
              <a:t>正常输出模式：推挽输出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400" kern="0" dirty="0">
                <a:latin typeface="微软雅黑" pitchFamily="34" charset="-122"/>
                <a:ea typeface="微软雅黑" pitchFamily="34" charset="-122"/>
              </a:rPr>
              <a:t>    </a:t>
            </a: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GPIO_InitStruct.Pull = GPIO_NOPULL;//</a:t>
            </a:r>
            <a:r>
              <a:rPr lang="zh-CN" altLang="en-US" sz="1400" kern="0" dirty="0">
                <a:latin typeface="微软雅黑" pitchFamily="34" charset="-122"/>
                <a:ea typeface="微软雅黑" pitchFamily="34" charset="-122"/>
              </a:rPr>
              <a:t>不拉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400" kern="0" dirty="0">
                <a:latin typeface="微软雅黑" pitchFamily="34" charset="-122"/>
                <a:ea typeface="微软雅黑" pitchFamily="34" charset="-122"/>
              </a:rPr>
              <a:t>    </a:t>
            </a: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GPIO_InitStruct.Speed = </a:t>
            </a:r>
            <a:r>
              <a:rPr lang="en-US" altLang="zh-CN" sz="1400" kern="0" dirty="0">
                <a:latin typeface="微软雅黑" pitchFamily="34" charset="-122"/>
                <a:ea typeface="微软雅黑" pitchFamily="34" charset="-122"/>
              </a:rPr>
              <a:t>GPIO_SPEED_FREQ_LOW;//</a:t>
            </a:r>
            <a:r>
              <a:rPr lang="zh-CN" altLang="en-US" sz="1400" kern="0" dirty="0">
                <a:latin typeface="微软雅黑" pitchFamily="34" charset="-122"/>
                <a:ea typeface="微软雅黑" pitchFamily="34" charset="-122"/>
              </a:rPr>
              <a:t>低速模式即可</a:t>
            </a:r>
            <a:endParaRPr lang="nl-NL" altLang="zh-CN" sz="14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    HAL_GPIO_Init(GPIOD, &amp;GPIO_InitStruct);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b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</a:b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    //</a:t>
            </a:r>
            <a:r>
              <a:rPr lang="zh-CN" altLang="en-US" sz="1400" kern="0" dirty="0">
                <a:latin typeface="微软雅黑" pitchFamily="34" charset="-122"/>
                <a:ea typeface="微软雅黑" pitchFamily="34" charset="-122"/>
              </a:rPr>
              <a:t>点亮</a:t>
            </a: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LED3</a:t>
            </a:r>
            <a:r>
              <a:rPr lang="zh-CN" altLang="en-US" sz="1400" kern="0" dirty="0">
                <a:latin typeface="微软雅黑" pitchFamily="34" charset="-122"/>
                <a:ea typeface="微软雅黑" pitchFamily="34" charset="-122"/>
              </a:rPr>
              <a:t>和</a:t>
            </a: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LED6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    HAL_GPIO_WritePin(GPIOD, GPIO_PIN_13 | GPIO_PIN_15, GPIO_PIN_SET);// GPIO_PIN_RESET</a:t>
            </a:r>
            <a:r>
              <a:rPr lang="zh-CN" altLang="en-US" sz="1400" kern="0" dirty="0">
                <a:latin typeface="微软雅黑" pitchFamily="34" charset="-122"/>
                <a:ea typeface="微软雅黑" pitchFamily="34" charset="-122"/>
              </a:rPr>
              <a:t>为低电平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br>
              <a:rPr lang="zh-CN" altLang="en-US" sz="1400" kern="0" dirty="0">
                <a:latin typeface="微软雅黑" pitchFamily="34" charset="-122"/>
                <a:ea typeface="微软雅黑" pitchFamily="34" charset="-122"/>
              </a:rPr>
            </a:br>
            <a:r>
              <a:rPr lang="zh-CN" altLang="en-US" sz="1400" kern="0" dirty="0">
                <a:latin typeface="微软雅黑" pitchFamily="34" charset="-122"/>
                <a:ea typeface="微软雅黑" pitchFamily="34" charset="-122"/>
              </a:rPr>
              <a:t>    </a:t>
            </a: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while (1);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nl-NL" altLang="zh-CN" sz="1400" kern="0" dirty="0">
                <a:latin typeface="微软雅黑" pitchFamily="34" charset="-122"/>
                <a:ea typeface="微软雅黑" pitchFamily="34" charset="-122"/>
              </a:rPr>
              <a:t>}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endParaRPr lang="nl-NL" altLang="zh-CN" sz="14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2974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案例：通过按钮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亮灯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4" y="1489473"/>
            <a:ext cx="6536614" cy="4768106"/>
          </a:xfrm>
          <a:prstGeom prst="rect">
            <a:avLst/>
          </a:prstGeom>
          <a:noFill/>
          <a:ln/>
        </p:spPr>
        <p:txBody>
          <a:bodyPr numCol="1"/>
          <a:lstStyle/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查看开发板手册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P35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按钮连接到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PA0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，按下时为高电平</a:t>
            </a:r>
            <a:endParaRPr lang="en-US" altLang="zh-CN" sz="16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16</a:t>
            </a:fld>
            <a:endParaRPr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694112A-F867-2182-6F96-1C06BA0CCB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6751552" y="1291434"/>
            <a:ext cx="4408203" cy="5250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4920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案例：通过按钮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亮灯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3" y="1489473"/>
            <a:ext cx="10554029" cy="4768106"/>
          </a:xfrm>
          <a:prstGeom prst="rect">
            <a:avLst/>
          </a:prstGeom>
          <a:noFill/>
          <a:ln/>
        </p:spPr>
        <p:txBody>
          <a:bodyPr numCol="2"/>
          <a:lstStyle/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#include"stm32f4xx.h"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endParaRPr lang="en-US" altLang="zh-CN" sz="10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延时函数（毫秒）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void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delay_ms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(int32_t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nms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) {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int32_t temp; 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SysTick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-&gt;LOAD =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SystemCoreClock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/ 8000 *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nms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; 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SysTick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-&gt;VAL=0X00;//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清空计数器 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SysTick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-&gt;CTRL=0X01;//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使能，减到零是无动作，采用外部时钟源 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do { 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    temp=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SysTick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-&gt;CTRL;//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读取当前倒计数值 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} while((temp&amp;0x01)&amp;&amp;(!(temp&amp;(1&lt;&lt;16))));//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等待时间到达 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SysTick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-&gt;CTRL=0x00; 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关闭计数器 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SysTick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-&gt;VAL =0X00; 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清空计数器 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}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endParaRPr lang="en-US" altLang="zh-CN" sz="10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int main(void) {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初始化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HAL_Init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时钟使能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__HAL_RCC_GPIOA_CLK_ENABLE();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__HAL_RCC_GPIOD_CLK_ENABLE();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初始化按钮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GPIO_InitTypeDef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GPIO_InitStruct.Pin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= GPIO_PIN_0;// Button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GPIO_InitStruct.Mode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= GPIO_MODE_INPUT;//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输入模式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GPIO_InitStruct.Pull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= GPIO_NOPULL;//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不拉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HAL_GPIO_Init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(GPIOA, &amp;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初始化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LED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灯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GPIO_InitStruct.Pin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= GPIO_PIN_13;// LED3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GPIO_InitStruct.Mode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= GPIO_MODE_OUTPUT_PP;//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正常输出模式：推挽输出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GPIO_InitStruct.Pull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= GPIO_NOPULL;//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不拉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GPIO_InitStruct.Speed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= GPIO_SPEED_FREQ_LOW;//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低速模式即可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HAL_GPIO_Init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(GPIOD, &amp;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endParaRPr lang="en-US" altLang="zh-CN" sz="10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通过按钮控制小灯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while (1) {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    if (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HAL_GPIO_ReadPin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(GPIOA, GPIO_PIN_0) == GPIO_PIN_SET) {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        while(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HAL_GPIO_ReadPin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(GPIOA, GPIO_PIN_0) == GPIO_PIN_SET);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    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HAL_GPIO_TogglePin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(GPIOD, GPIO_PIN_13);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    }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    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消除抖动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delay_ms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(10);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}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5874626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配置中断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4" y="1489473"/>
            <a:ext cx="6536614" cy="4768106"/>
          </a:xfrm>
          <a:prstGeom prst="rect">
            <a:avLst/>
          </a:prstGeom>
          <a:noFill/>
          <a:ln/>
        </p:spPr>
        <p:txBody>
          <a:bodyPr numCol="1"/>
          <a:lstStyle/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程序查询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vs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中断</a:t>
            </a:r>
            <a:endParaRPr lang="en-US" altLang="zh-CN" sz="2400" kern="0" dirty="0">
              <a:latin typeface="微软雅黑" pitchFamily="34" charset="-122"/>
              <a:ea typeface="微软雅黑" pitchFamily="34" charset="-122"/>
            </a:endParaRP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添加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stm32f4xx_it.c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来管理中断</a:t>
            </a:r>
            <a:endParaRPr lang="en-US" altLang="zh-CN" sz="2400" kern="0" dirty="0">
              <a:latin typeface="微软雅黑" pitchFamily="34" charset="-122"/>
              <a:ea typeface="微软雅黑" pitchFamily="34" charset="-122"/>
            </a:endParaRP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中断文件可参考示例程序</a:t>
            </a:r>
            <a:endParaRPr lang="en-US" altLang="zh-CN" sz="2400" kern="0" dirty="0">
              <a:latin typeface="微软雅黑" pitchFamily="34" charset="-122"/>
              <a:ea typeface="微软雅黑" pitchFamily="34" charset="-122"/>
            </a:endParaRP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endParaRPr lang="en-US" altLang="zh-CN" sz="1600" kern="0" dirty="0"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18</a:t>
            </a:fld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A1C17DD-5788-4DCB-8CA2-B8B034E68F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3131" y="1475801"/>
            <a:ext cx="3000375" cy="453390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BB52537-EB4E-4181-BE38-1C9C5003A2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8117" y="2721331"/>
            <a:ext cx="1482964" cy="1415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950541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配置中断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4" y="1489473"/>
            <a:ext cx="6536614" cy="4768106"/>
          </a:xfrm>
          <a:prstGeom prst="rect">
            <a:avLst/>
          </a:prstGeom>
          <a:noFill/>
          <a:ln/>
        </p:spPr>
        <p:txBody>
          <a:bodyPr numCol="1"/>
          <a:lstStyle/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查看开发手册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P202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endParaRPr lang="en-US" altLang="zh-CN" sz="2400" kern="0" dirty="0">
              <a:latin typeface="微软雅黑" pitchFamily="34" charset="-122"/>
              <a:ea typeface="微软雅黑" pitchFamily="34" charset="-122"/>
            </a:endParaRP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可以看到按钮的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IO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口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PA0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与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0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号中断线相连</a:t>
            </a:r>
            <a:endParaRPr lang="en-US" altLang="zh-CN" sz="2400" kern="0" dirty="0">
              <a:latin typeface="微软雅黑" pitchFamily="34" charset="-122"/>
              <a:ea typeface="微软雅黑" pitchFamily="34" charset="-122"/>
            </a:endParaRP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因此在</a:t>
            </a:r>
            <a:r>
              <a:rPr lang="en-GB" altLang="zh-CN" sz="2400" kern="0" dirty="0">
                <a:latin typeface="微软雅黑" pitchFamily="34" charset="-122"/>
                <a:ea typeface="微软雅黑" pitchFamily="34" charset="-122"/>
              </a:rPr>
              <a:t>stm32f4xx_it.c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中添加以下函数：</a:t>
            </a:r>
            <a:endParaRPr lang="en-US" altLang="zh-CN" sz="2400" kern="0" dirty="0">
              <a:latin typeface="微软雅黑" pitchFamily="34" charset="-122"/>
              <a:ea typeface="微软雅黑" pitchFamily="34" charset="-122"/>
            </a:endParaRP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endParaRPr lang="en-US" altLang="zh-CN" sz="24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2000" kern="0" dirty="0">
                <a:latin typeface="微软雅黑" pitchFamily="34" charset="-122"/>
                <a:ea typeface="微软雅黑" pitchFamily="34" charset="-122"/>
              </a:rPr>
              <a:t>void EXTI0_IRQHandler(void)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2000" kern="0" dirty="0">
                <a:latin typeface="微软雅黑" pitchFamily="34" charset="-122"/>
                <a:ea typeface="微软雅黑" pitchFamily="34" charset="-122"/>
              </a:rPr>
              <a:t>{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2000" kern="0" dirty="0">
                <a:latin typeface="微软雅黑" pitchFamily="34" charset="-122"/>
                <a:ea typeface="微软雅黑" pitchFamily="34" charset="-122"/>
              </a:rPr>
              <a:t>	</a:t>
            </a:r>
            <a:r>
              <a:rPr lang="en-US" altLang="zh-CN" sz="2000" kern="0" dirty="0" err="1">
                <a:latin typeface="微软雅黑" pitchFamily="34" charset="-122"/>
                <a:ea typeface="微软雅黑" pitchFamily="34" charset="-122"/>
              </a:rPr>
              <a:t>HAL_GPIO_EXTI_IRQHandler</a:t>
            </a:r>
            <a:r>
              <a:rPr lang="en-US" altLang="zh-CN" sz="2000" kern="0" dirty="0">
                <a:latin typeface="微软雅黑" pitchFamily="34" charset="-122"/>
                <a:ea typeface="微软雅黑" pitchFamily="34" charset="-122"/>
              </a:rPr>
              <a:t>(GPIO_PIN_0);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2000" kern="0" dirty="0">
                <a:latin typeface="微软雅黑" pitchFamily="34" charset="-122"/>
                <a:ea typeface="微软雅黑" pitchFamily="34" charset="-122"/>
              </a:rPr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19</a:t>
            </a:fld>
            <a:endParaRPr lang="zh-CN" altLang="en-US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A8CE2275-93C0-41E6-B086-9B7E141831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8257" y="1222094"/>
            <a:ext cx="3543557" cy="1400812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A2B12E90-6090-4359-8BED-A8904C1F27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9667" y="1133170"/>
            <a:ext cx="4431145" cy="5149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11075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案例：通过按钮</a:t>
            </a:r>
            <a:r>
              <a:rPr lang="zh-CN" altLang="en-US" sz="240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亮灯（中断版本）</a:t>
            </a: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3" y="1489473"/>
            <a:ext cx="10554029" cy="4768106"/>
          </a:xfrm>
          <a:prstGeom prst="rect">
            <a:avLst/>
          </a:prstGeom>
          <a:noFill/>
          <a:ln/>
        </p:spPr>
        <p:txBody>
          <a:bodyPr numCol="2"/>
          <a:lstStyle/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#include"main.h"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endParaRPr lang="en-US" altLang="zh-CN" sz="10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初始化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LED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灯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void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led_init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() {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__HAL_RCC_GPIOD_CLK_ENABLE();//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时钟使能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GPIO_InitTypeDef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GPIO_InitStruct.Pin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= GPIO_PIN_13;// LED3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GPIO_InitStruct.Mode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= GPIO_MODE_OUTPUT_PP;//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正常输出模式：推挽输出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GPIO_InitStruct.Pull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= GPIO_NOPULL;//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不拉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GPIO_InitStruct.Speed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= GPIO_SPEED_FREQ_LOW;//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低速模式即可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HAL_GPIO_Init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(GPIOD, &amp;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}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endParaRPr lang="en-US" altLang="zh-CN" sz="10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初始化按钮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void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button_init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() {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__HAL_RCC_GPIOA_CLK_ENABLE(); 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时钟使能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GPIO_InitTypeDef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GPIO_InitStruct.Pin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= GPIO_PIN_0;// Button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GPIO_InitStruct.Mode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= GPIO_MODE_IT_FALLING;//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下降沿触发中断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GPIO_InitStruct.Pull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= GPIO_NOPULL;//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不拉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HAL_GPIO_Init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(GPIOA, &amp;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GPIO_InitStruct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);   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endParaRPr lang="en-US" altLang="zh-CN" sz="10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HAL_NVIC_SetPriority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(EXTI0_IRQn, 2, 0);//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设置最低中断优先级，避免阻塞其他中断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HAL_NVIC_EnableIRQ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(EXTI0_IRQn); 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启用中断线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0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}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endParaRPr lang="en-US" altLang="zh-CN" sz="10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中断回调函数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void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HAL_GPIO_EXTI_Callback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(uint16_t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GPIO_Pin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) {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if(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GPIO_Pin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== GPIO_PIN_0) {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HAL_GPIO_TogglePin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(GPIOD, GPIO_PIN_13);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}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}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endParaRPr lang="en-US" altLang="zh-CN" sz="10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int main(void) {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//</a:t>
            </a: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初始化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zh-CN" altLang="en-US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HAL_Init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led_init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</a:t>
            </a:r>
            <a:r>
              <a:rPr lang="en-US" altLang="zh-CN" sz="1000" kern="0" dirty="0" err="1">
                <a:latin typeface="微软雅黑" pitchFamily="34" charset="-122"/>
                <a:ea typeface="微软雅黑" pitchFamily="34" charset="-122"/>
              </a:rPr>
              <a:t>button_init</a:t>
            </a: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();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endParaRPr lang="en-US" altLang="zh-CN" sz="10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    while (1) {}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1000" kern="0" dirty="0">
                <a:latin typeface="微软雅黑" pitchFamily="34" charset="-122"/>
                <a:ea typeface="微软雅黑" pitchFamily="34" charset="-122"/>
              </a:rPr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2013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配置延时函数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3" y="1489473"/>
            <a:ext cx="10395307" cy="4768106"/>
          </a:xfrm>
          <a:prstGeom prst="rect">
            <a:avLst/>
          </a:prstGeom>
          <a:noFill/>
          <a:ln/>
        </p:spPr>
        <p:txBody>
          <a:bodyPr numCol="1"/>
          <a:lstStyle/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en-US" altLang="zh-CN" sz="2400" kern="0" dirty="0" err="1">
                <a:latin typeface="微软雅黑" pitchFamily="34" charset="-122"/>
                <a:ea typeface="微软雅黑" pitchFamily="34" charset="-122"/>
              </a:rPr>
              <a:t>HAL_Delay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(</a:t>
            </a:r>
            <a:r>
              <a:rPr lang="en-US" altLang="zh-CN" sz="2400" kern="0" dirty="0" err="1">
                <a:latin typeface="微软雅黑" pitchFamily="34" charset="-122"/>
                <a:ea typeface="微软雅黑" pitchFamily="34" charset="-122"/>
              </a:rPr>
              <a:t>ms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)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需要在</a:t>
            </a:r>
            <a:r>
              <a:rPr lang="en-GB" altLang="zh-CN" sz="2400" kern="0" dirty="0">
                <a:latin typeface="微软雅黑" pitchFamily="34" charset="-122"/>
                <a:ea typeface="微软雅黑" pitchFamily="34" charset="-122"/>
              </a:rPr>
              <a:t>stm32f4xx_it.c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中添加以下函数：</a:t>
            </a:r>
            <a:endParaRPr lang="en-US" altLang="zh-CN" sz="2400" kern="0" dirty="0">
              <a:latin typeface="微软雅黑" pitchFamily="34" charset="-122"/>
              <a:ea typeface="微软雅黑" pitchFamily="34" charset="-122"/>
            </a:endParaRP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endParaRPr lang="en-US" altLang="zh-CN" sz="2800" kern="0" dirty="0">
              <a:latin typeface="微软雅黑" pitchFamily="34" charset="-122"/>
              <a:ea typeface="微软雅黑" pitchFamily="34" charset="-122"/>
            </a:endParaRP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2000" kern="0" dirty="0">
                <a:latin typeface="微软雅黑" pitchFamily="34" charset="-122"/>
                <a:ea typeface="微软雅黑" pitchFamily="34" charset="-122"/>
              </a:rPr>
              <a:t>void </a:t>
            </a:r>
            <a:r>
              <a:rPr lang="en-US" altLang="zh-CN" sz="2000" kern="0" dirty="0" err="1">
                <a:latin typeface="微软雅黑" pitchFamily="34" charset="-122"/>
                <a:ea typeface="微软雅黑" pitchFamily="34" charset="-122"/>
              </a:rPr>
              <a:t>SysTick_Handler</a:t>
            </a:r>
            <a:r>
              <a:rPr lang="en-US" altLang="zh-CN" sz="2000" kern="0" dirty="0">
                <a:latin typeface="微软雅黑" pitchFamily="34" charset="-122"/>
                <a:ea typeface="微软雅黑" pitchFamily="34" charset="-122"/>
              </a:rPr>
              <a:t>(void)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2000" kern="0" dirty="0">
                <a:latin typeface="微软雅黑" pitchFamily="34" charset="-122"/>
                <a:ea typeface="微软雅黑" pitchFamily="34" charset="-122"/>
              </a:rPr>
              <a:t>{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2000" kern="0" dirty="0">
                <a:latin typeface="微软雅黑" pitchFamily="34" charset="-122"/>
                <a:ea typeface="微软雅黑" pitchFamily="34" charset="-122"/>
              </a:rPr>
              <a:t> 	</a:t>
            </a:r>
            <a:r>
              <a:rPr lang="en-US" altLang="zh-CN" sz="2000" kern="0" dirty="0" err="1">
                <a:latin typeface="微软雅黑" pitchFamily="34" charset="-122"/>
                <a:ea typeface="微软雅黑" pitchFamily="34" charset="-122"/>
              </a:rPr>
              <a:t>HAL_IncTick</a:t>
            </a:r>
            <a:r>
              <a:rPr lang="en-US" altLang="zh-CN" sz="2000" kern="0" dirty="0">
                <a:latin typeface="微软雅黑" pitchFamily="34" charset="-122"/>
                <a:ea typeface="微软雅黑" pitchFamily="34" charset="-122"/>
              </a:rPr>
              <a:t>();</a:t>
            </a:r>
          </a:p>
          <a:p>
            <a:pPr eaLnBrk="0" hangingPunct="0">
              <a:lnSpc>
                <a:spcPct val="150000"/>
              </a:lnSpc>
              <a:buClr>
                <a:schemeClr val="tx2"/>
              </a:buClr>
              <a:buSzPct val="90000"/>
            </a:pPr>
            <a:r>
              <a:rPr lang="en-US" altLang="zh-CN" sz="2000" kern="0" dirty="0">
                <a:latin typeface="微软雅黑" pitchFamily="34" charset="-122"/>
                <a:ea typeface="微软雅黑" pitchFamily="34" charset="-122"/>
              </a:rPr>
              <a:t>}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24350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058" name="Rectangle 2">
            <a:extLst>
              <a:ext uri="{FF2B5EF4-FFF2-40B4-BE49-F238E27FC236}">
                <a16:creationId xmlns:a16="http://schemas.microsoft.com/office/drawing/2014/main" id="{59D3A830-BB7A-4AF5-9627-77029B8447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8810" y="218278"/>
            <a:ext cx="5160789" cy="630021"/>
          </a:xfrm>
        </p:spPr>
        <p:txBody>
          <a:bodyPr>
            <a:normAutofit fontScale="90000"/>
          </a:bodyPr>
          <a:lstStyle/>
          <a:p>
            <a:r>
              <a:rPr lang="en-GB" altLang="zh-CN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STM32F4Discovery</a:t>
            </a:r>
            <a:r>
              <a:rPr lang="zh-CN" altLang="en-US" sz="3600" dirty="0">
                <a:solidFill>
                  <a:srgbClr val="050358"/>
                </a:solidFill>
                <a:effectDag name="">
                  <a:cont type="tree" name="">
                    <a:effect ref="fillLine"/>
                    <a:outerShdw dist="38100" dir="13500000" algn="br">
                      <a:srgbClr val="DDDDFF"/>
                    </a:outerShdw>
                  </a:cont>
                  <a:cont type="tree" name="">
                    <a:effect ref="fillLine"/>
                    <a:outerShdw dist="38100" dir="2700000" algn="tl">
                      <a:srgbClr val="7A7A99"/>
                    </a:outerShdw>
                  </a:cont>
                  <a:effect ref="fillLine"/>
                </a:effectDag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开发</a:t>
            </a:r>
            <a:endParaRPr lang="en-GB" altLang="zh-CN" sz="3600" dirty="0">
              <a:solidFill>
                <a:srgbClr val="050358"/>
              </a:solidFill>
              <a:effectDag name="">
                <a:cont type="tree" name="">
                  <a:effect ref="fillLine"/>
                  <a:outerShdw dist="38100" dir="13500000" algn="br">
                    <a:srgbClr val="DDDDFF"/>
                  </a:outerShdw>
                </a:cont>
                <a:cont type="tree" name="">
                  <a:effect ref="fillLine"/>
                  <a:outerShdw dist="38100" dir="2700000" algn="tl">
                    <a:srgbClr val="7A7A99"/>
                  </a:outerShdw>
                </a:cont>
                <a:effect ref="fillLine"/>
              </a:effectDag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7DF394A-6851-418C-9B0D-BCE923131210}"/>
              </a:ext>
            </a:extLst>
          </p:cNvPr>
          <p:cNvCxnSpPr/>
          <p:nvPr/>
        </p:nvCxnSpPr>
        <p:spPr bwMode="auto">
          <a:xfrm>
            <a:off x="528812" y="848299"/>
            <a:ext cx="11052000" cy="0"/>
          </a:xfrm>
          <a:prstGeom prst="line">
            <a:avLst/>
          </a:prstGeom>
          <a:noFill/>
          <a:ln w="60325" cmpd="thinThick">
            <a:solidFill>
              <a:srgbClr val="002060"/>
            </a:solidFill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0" name="Rectangle 2">
            <a:extLst>
              <a:ext uri="{FF2B5EF4-FFF2-40B4-BE49-F238E27FC236}">
                <a16:creationId xmlns:a16="http://schemas.microsoft.com/office/drawing/2014/main" id="{3CF2AAF2-0E99-47FC-ADBB-1D72361B2B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477" y="1057091"/>
            <a:ext cx="5697821" cy="446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6050" tIns="28024" rIns="56050" bIns="28024"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5pPr>
            <a:lvl6pPr marL="457162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6pPr>
            <a:lvl7pPr marL="914323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7pPr>
            <a:lvl8pPr marL="1371485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8pPr>
            <a:lvl9pPr marL="1828647" algn="l" rtl="0" fontAlgn="base">
              <a:spcBef>
                <a:spcPct val="0"/>
              </a:spcBef>
              <a:spcAft>
                <a:spcPct val="0"/>
              </a:spcAft>
              <a:defRPr sz="2600">
                <a:solidFill>
                  <a:schemeClr val="tx2"/>
                </a:solidFill>
                <a:latin typeface="Arial" pitchFamily="34" charset="0"/>
                <a:ea typeface="宋体" pitchFamily="2" charset="-122"/>
              </a:defRPr>
            </a:lvl9pPr>
          </a:lstStyle>
          <a:p>
            <a:pPr eaLnBrk="1" hangingPunct="1">
              <a:buClr>
                <a:schemeClr val="tx2"/>
              </a:buClr>
              <a:buFont typeface="Wingdings" pitchFamily="2" charset="2"/>
              <a:buChar char="p"/>
              <a:defRPr/>
            </a:pPr>
            <a:r>
              <a:rPr lang="en-US" altLang="zh-CN" sz="2294" kern="0" dirty="0">
                <a:solidFill>
                  <a:srgbClr val="A5002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2400" kern="0" dirty="0">
                <a:solidFill>
                  <a:srgbClr val="00206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作业</a:t>
            </a:r>
            <a:endParaRPr lang="zh-CN" altLang="en-US" sz="2400" dirty="0">
              <a:solidFill>
                <a:srgbClr val="00206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Rectangle 5">
            <a:extLst>
              <a:ext uri="{FF2B5EF4-FFF2-40B4-BE49-F238E27FC236}">
                <a16:creationId xmlns:a16="http://schemas.microsoft.com/office/drawing/2014/main" id="{89B8EC0B-D0CB-4128-ABC6-8DEBF7D78151}"/>
              </a:ext>
            </a:extLst>
          </p:cNvPr>
          <p:cNvSpPr txBox="1">
            <a:spLocks noChangeArrowheads="1"/>
          </p:cNvSpPr>
          <p:nvPr/>
        </p:nvSpPr>
        <p:spPr>
          <a:xfrm>
            <a:off x="958493" y="1489473"/>
            <a:ext cx="10554029" cy="4768106"/>
          </a:xfrm>
          <a:prstGeom prst="rect">
            <a:avLst/>
          </a:prstGeom>
          <a:noFill/>
          <a:ln/>
        </p:spPr>
        <p:txBody>
          <a:bodyPr numCol="1"/>
          <a:lstStyle/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实现</a:t>
            </a:r>
            <a:r>
              <a:rPr lang="en-GB" altLang="zh-CN" sz="2400" kern="0" dirty="0">
                <a:latin typeface="微软雅黑" pitchFamily="34" charset="-122"/>
                <a:ea typeface="微软雅黑" pitchFamily="34" charset="-122"/>
              </a:rPr>
              <a:t>LED3~6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1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秒为间隔循环闪灯，通过按钮改变闪灯顺序（使用中断）</a:t>
            </a:r>
            <a:endParaRPr lang="en-US" altLang="zh-CN" sz="2400" kern="0" dirty="0">
              <a:latin typeface="微软雅黑" pitchFamily="34" charset="-122"/>
              <a:ea typeface="微软雅黑" pitchFamily="34" charset="-122"/>
            </a:endParaRP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以</a:t>
            </a:r>
            <a:r>
              <a:rPr lang="en-GB" altLang="zh-CN" sz="2400" kern="0" dirty="0">
                <a:latin typeface="微软雅黑" pitchFamily="34" charset="-122"/>
                <a:ea typeface="微软雅黑" pitchFamily="34" charset="-122"/>
              </a:rPr>
              <a:t>word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文档形式提交，命名为“成员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1-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成员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2-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成员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3-</a:t>
            </a: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实验报告</a:t>
            </a:r>
            <a:r>
              <a:rPr lang="en-US" altLang="zh-CN" sz="2400" kern="0" dirty="0">
                <a:latin typeface="微软雅黑" pitchFamily="34" charset="-122"/>
                <a:ea typeface="微软雅黑" pitchFamily="34" charset="-122"/>
              </a:rPr>
              <a:t>4.</a:t>
            </a:r>
            <a:r>
              <a:rPr lang="en-GB" altLang="zh-CN" sz="2400" kern="0" dirty="0">
                <a:latin typeface="微软雅黑" pitchFamily="34" charset="-122"/>
                <a:ea typeface="微软雅黑" pitchFamily="34" charset="-122"/>
              </a:rPr>
              <a:t>docx”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内容为：程序代码、实验结果图片（最好是动图，避免使用视频）</a:t>
            </a:r>
          </a:p>
          <a:p>
            <a:pPr marL="342851" indent="-342851" eaLnBrk="0" hangingPunct="0">
              <a:lnSpc>
                <a:spcPct val="150000"/>
              </a:lnSpc>
              <a:buClr>
                <a:schemeClr val="tx2"/>
              </a:buClr>
              <a:buSzPct val="90000"/>
              <a:buFont typeface="Wingdings" pitchFamily="2" charset="2"/>
              <a:buChar char="Ø"/>
            </a:pPr>
            <a:r>
              <a:rPr lang="zh-CN" altLang="en-US" sz="2400" kern="0" dirty="0">
                <a:latin typeface="微软雅黑" pitchFamily="34" charset="-122"/>
                <a:ea typeface="微软雅黑" pitchFamily="34" charset="-122"/>
              </a:rPr>
              <a:t>下次课前发送到邮箱</a:t>
            </a:r>
            <a:r>
              <a:rPr lang="en-GB" altLang="zh-CN" sz="2400" kern="0" dirty="0">
                <a:latin typeface="微软雅黑" pitchFamily="34" charset="-122"/>
                <a:ea typeface="微软雅黑" pitchFamily="34" charset="-122"/>
              </a:rPr>
              <a:t>qiushitong@buaa.edu.cn</a:t>
            </a:r>
          </a:p>
        </p:txBody>
      </p:sp>
      <p:sp>
        <p:nvSpPr>
          <p:cNvPr id="2" name="灯片编号占位符 1">
            <a:extLst>
              <a:ext uri="{FF2B5EF4-FFF2-40B4-BE49-F238E27FC236}">
                <a16:creationId xmlns:a16="http://schemas.microsoft.com/office/drawing/2014/main" id="{FDFAF2D1-25EE-CD40-99ED-D384D43F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3FAEE7-31C4-4651-8074-E84314A39F1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19694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1020</TotalTime>
  <Words>2066</Words>
  <Application>Microsoft Office PowerPoint</Application>
  <PresentationFormat>宽屏</PresentationFormat>
  <Paragraphs>297</Paragraphs>
  <Slides>22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9" baseType="lpstr">
      <vt:lpstr>等线</vt:lpstr>
      <vt:lpstr>等线 Light</vt:lpstr>
      <vt:lpstr>微软雅黑</vt:lpstr>
      <vt:lpstr>Arial</vt:lpstr>
      <vt:lpstr>Times New Roman</vt:lpstr>
      <vt:lpstr>Wingdings</vt:lpstr>
      <vt:lpstr>Office 主题​​</vt:lpstr>
      <vt:lpstr>STM32实验课</vt:lpstr>
      <vt:lpstr>PowerPoint 演示文稿</vt:lpstr>
      <vt:lpstr>STM32F4Discovery介绍</vt:lpstr>
      <vt:lpstr>STM32F4Discovery介绍</vt:lpstr>
      <vt:lpstr>STM32F4Discovery介绍</vt:lpstr>
      <vt:lpstr>PowerPoint 演示文稿</vt:lpstr>
      <vt:lpstr>STM32F4Discovery开发</vt:lpstr>
      <vt:lpstr>STM32F4Discovery开发</vt:lpstr>
      <vt:lpstr>STM32F4Discovery开发</vt:lpstr>
      <vt:lpstr>STM32F4Discovery开发</vt:lpstr>
      <vt:lpstr>STM32F4Discovery开发</vt:lpstr>
      <vt:lpstr>STM32F4Discovery开发</vt:lpstr>
      <vt:lpstr>STM32F4Discovery开发</vt:lpstr>
      <vt:lpstr>STM32F4Discovery开发</vt:lpstr>
      <vt:lpstr>STM32F4Discovery开发</vt:lpstr>
      <vt:lpstr>STM32F4Discovery开发</vt:lpstr>
      <vt:lpstr>STM32F4Discovery开发</vt:lpstr>
      <vt:lpstr>STM32F4Discovery开发</vt:lpstr>
      <vt:lpstr>STM32F4Discovery开发</vt:lpstr>
      <vt:lpstr>STM32F4Discovery开发</vt:lpstr>
      <vt:lpstr>STM32F4Discovery开发</vt:lpstr>
      <vt:lpstr>STM32F4Discovery开发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Arduino实验课</dc:title>
  <dc:creator>qiu shitong</dc:creator>
  <cp:lastModifiedBy>qiu shitong</cp:lastModifiedBy>
  <cp:revision>119</cp:revision>
  <dcterms:created xsi:type="dcterms:W3CDTF">2022-11-05T08:16:56Z</dcterms:created>
  <dcterms:modified xsi:type="dcterms:W3CDTF">2022-11-14T02:52:58Z</dcterms:modified>
</cp:coreProperties>
</file>