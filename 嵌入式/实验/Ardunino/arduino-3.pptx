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50"/>
  </p:notesMasterIdLst>
  <p:sldIdLst>
    <p:sldId id="256" r:id="rId3"/>
    <p:sldId id="257" r:id="rId4"/>
    <p:sldId id="258" r:id="rId5"/>
    <p:sldId id="259" r:id="rId6"/>
    <p:sldId id="260" r:id="rId7"/>
    <p:sldId id="261" r:id="rId8"/>
    <p:sldId id="262" r:id="rId9"/>
    <p:sldId id="263" r:id="rId10"/>
    <p:sldId id="264" r:id="rId11"/>
    <p:sldId id="291" r:id="rId12"/>
    <p:sldId id="265" r:id="rId13"/>
    <p:sldId id="266" r:id="rId14"/>
    <p:sldId id="267" r:id="rId15"/>
    <p:sldId id="268" r:id="rId16"/>
    <p:sldId id="269" r:id="rId17"/>
    <p:sldId id="270" r:id="rId18"/>
    <p:sldId id="271" r:id="rId19"/>
    <p:sldId id="272" r:id="rId20"/>
    <p:sldId id="273" r:id="rId21"/>
    <p:sldId id="293" r:id="rId22"/>
    <p:sldId id="274" r:id="rId23"/>
    <p:sldId id="275" r:id="rId24"/>
    <p:sldId id="278" r:id="rId25"/>
    <p:sldId id="294" r:id="rId26"/>
    <p:sldId id="276" r:id="rId27"/>
    <p:sldId id="341" r:id="rId28"/>
    <p:sldId id="336" r:id="rId29"/>
    <p:sldId id="337" r:id="rId30"/>
    <p:sldId id="344" r:id="rId31"/>
    <p:sldId id="364" r:id="rId32"/>
    <p:sldId id="345" r:id="rId33"/>
    <p:sldId id="339" r:id="rId34"/>
    <p:sldId id="346" r:id="rId35"/>
    <p:sldId id="347" r:id="rId36"/>
    <p:sldId id="348" r:id="rId37"/>
    <p:sldId id="365" r:id="rId38"/>
    <p:sldId id="357" r:id="rId39"/>
    <p:sldId id="358" r:id="rId40"/>
    <p:sldId id="332" r:id="rId41"/>
    <p:sldId id="333" r:id="rId42"/>
    <p:sldId id="334" r:id="rId43"/>
    <p:sldId id="335" r:id="rId44"/>
    <p:sldId id="319" r:id="rId45"/>
    <p:sldId id="329" r:id="rId46"/>
    <p:sldId id="330" r:id="rId47"/>
    <p:sldId id="359" r:id="rId48"/>
    <p:sldId id="375" r:id="rId49"/>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8FEAC004-521B-48AA-9BC8-C200E81BC42C}">
          <p14:sldIdLst>
            <p14:sldId id="256"/>
            <p14:sldId id="257"/>
            <p14:sldId id="258"/>
            <p14:sldId id="259"/>
            <p14:sldId id="260"/>
            <p14:sldId id="261"/>
            <p14:sldId id="262"/>
            <p14:sldId id="263"/>
            <p14:sldId id="264"/>
            <p14:sldId id="291"/>
            <p14:sldId id="265"/>
            <p14:sldId id="266"/>
            <p14:sldId id="267"/>
            <p14:sldId id="268"/>
            <p14:sldId id="269"/>
            <p14:sldId id="270"/>
            <p14:sldId id="271"/>
            <p14:sldId id="272"/>
            <p14:sldId id="273"/>
            <p14:sldId id="293"/>
            <p14:sldId id="274"/>
            <p14:sldId id="275"/>
            <p14:sldId id="278"/>
            <p14:sldId id="294"/>
            <p14:sldId id="276"/>
            <p14:sldId id="341"/>
            <p14:sldId id="336"/>
            <p14:sldId id="337"/>
            <p14:sldId id="344"/>
            <p14:sldId id="364"/>
            <p14:sldId id="345"/>
            <p14:sldId id="339"/>
            <p14:sldId id="346"/>
            <p14:sldId id="347"/>
            <p14:sldId id="348"/>
            <p14:sldId id="365"/>
            <p14:sldId id="357"/>
            <p14:sldId id="358"/>
            <p14:sldId id="332"/>
            <p14:sldId id="333"/>
            <p14:sldId id="334"/>
            <p14:sldId id="335"/>
            <p14:sldId id="319"/>
            <p14:sldId id="329"/>
            <p14:sldId id="330"/>
            <p14:sldId id="359"/>
            <p14:sldId id="3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4" d="100"/>
          <a:sy n="94" d="100"/>
        </p:scale>
        <p:origin x="1560"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notesMaster" Target="notesMasters/notes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heme" Target="theme/theme1.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8" Type="http://schemas.openxmlformats.org/officeDocument/2006/relationships/slide" Target="slides/slide6.xml"/><Relationship Id="rId51"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2022/10/10</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20</a:t>
            </a:fld>
            <a:endParaRPr lang="zh-CN" altLang="en-US"/>
          </a:p>
        </p:txBody>
      </p:sp>
    </p:spTree>
    <p:extLst>
      <p:ext uri="{BB962C8B-B14F-4D97-AF65-F5344CB8AC3E}">
        <p14:creationId xmlns:p14="http://schemas.microsoft.com/office/powerpoint/2010/main" val="9797283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当你给变量赋值的时候，</a:t>
            </a:r>
            <a:r>
              <a:rPr lang="en-US" altLang="zh-CN" dirty="0" err="1"/>
              <a:t>Arduino</a:t>
            </a:r>
            <a:r>
              <a:rPr lang="zh-CN" altLang="en-US" dirty="0"/>
              <a:t>只会在电源接通的时候记得这些值。当你关闭电源或者按下重置按钮的时候，所有的数据都会丢失。本章介绍一些保存数据的方法。</a:t>
            </a:r>
          </a:p>
        </p:txBody>
      </p:sp>
      <p:sp>
        <p:nvSpPr>
          <p:cNvPr id="4" name="灯片编号占位符 3"/>
          <p:cNvSpPr>
            <a:spLocks noGrp="1"/>
          </p:cNvSpPr>
          <p:nvPr>
            <p:ph type="sldNum" sz="quarter" idx="10"/>
          </p:nvPr>
        </p:nvSpPr>
        <p:spPr/>
        <p:txBody>
          <a:bodyPr/>
          <a:lstStyle/>
          <a:p>
            <a:fld id="{2AB00908-A052-472D-8C9B-C4F81103C2DB}" type="slidenum">
              <a:rPr lang="zh-CN" altLang="en-US" smtClean="0"/>
              <a:t>26</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2AB00908-A052-472D-8C9B-C4F81103C2DB}" type="slidenum">
              <a:rPr lang="zh-CN" altLang="en-US" smtClean="0"/>
              <a:t>27</a:t>
            </a:fld>
            <a:endParaRPr lang="zh-CN" altLang="en-US"/>
          </a:p>
        </p:txBody>
      </p:sp>
    </p:spTree>
    <p:extLst>
      <p:ext uri="{BB962C8B-B14F-4D97-AF65-F5344CB8AC3E}">
        <p14:creationId xmlns:p14="http://schemas.microsoft.com/office/powerpoint/2010/main" val="1406288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2AB00908-A052-472D-8C9B-C4F81103C2DB}" type="slidenum">
              <a:rPr lang="zh-CN" altLang="en-US" smtClean="0"/>
              <a:t>28</a:t>
            </a:fld>
            <a:endParaRPr lang="zh-CN" altLang="en-US"/>
          </a:p>
        </p:txBody>
      </p:sp>
    </p:spTree>
    <p:extLst>
      <p:ext uri="{BB962C8B-B14F-4D97-AF65-F5344CB8AC3E}">
        <p14:creationId xmlns:p14="http://schemas.microsoft.com/office/powerpoint/2010/main" val="32075939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2AB00908-A052-472D-8C9B-C4F81103C2DB}" type="slidenum">
              <a:rPr lang="zh-CN" altLang="en-US" smtClean="0"/>
              <a:t>30</a:t>
            </a:fld>
            <a:endParaRPr lang="zh-CN" altLang="en-US"/>
          </a:p>
        </p:txBody>
      </p:sp>
    </p:spTree>
    <p:extLst>
      <p:ext uri="{BB962C8B-B14F-4D97-AF65-F5344CB8AC3E}">
        <p14:creationId xmlns:p14="http://schemas.microsoft.com/office/powerpoint/2010/main" val="15664919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2AB00908-A052-472D-8C9B-C4F81103C2DB}" type="slidenum">
              <a:rPr lang="zh-CN" altLang="en-US" smtClean="0"/>
              <a:t>32</a:t>
            </a:fld>
            <a:endParaRPr lang="zh-CN" altLang="en-US"/>
          </a:p>
        </p:txBody>
      </p:sp>
    </p:spTree>
    <p:extLst>
      <p:ext uri="{BB962C8B-B14F-4D97-AF65-F5344CB8AC3E}">
        <p14:creationId xmlns:p14="http://schemas.microsoft.com/office/powerpoint/2010/main" val="7270467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AB00908-A052-472D-8C9B-C4F81103C2DB}" type="slidenum">
              <a:rPr lang="zh-CN" altLang="en-US" smtClean="0"/>
              <a:t>39</a:t>
            </a:fld>
            <a:endParaRPr lang="zh-CN" altLang="en-US"/>
          </a:p>
        </p:txBody>
      </p:sp>
    </p:spTree>
    <p:extLst>
      <p:ext uri="{BB962C8B-B14F-4D97-AF65-F5344CB8AC3E}">
        <p14:creationId xmlns:p14="http://schemas.microsoft.com/office/powerpoint/2010/main" val="27717525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E119D40E-5853-4B43-99E9-AA5DF3C60FF2}" type="datetimeFigureOut">
              <a:rPr lang="zh-CN" altLang="en-US" smtClean="0"/>
              <a:t>2022/10/10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2F6D8D9-D9F3-432A-835D-F400C71AEC1C}"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E119D40E-5853-4B43-99E9-AA5DF3C60FF2}" type="datetimeFigureOut">
              <a:rPr lang="zh-CN" altLang="en-US" smtClean="0"/>
              <a:t>2022/10/10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2F6D8D9-D9F3-432A-835D-F400C71AEC1C}"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4"/>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E119D40E-5853-4B43-99E9-AA5DF3C60FF2}" type="datetimeFigureOut">
              <a:rPr lang="zh-CN" altLang="en-US" smtClean="0"/>
              <a:t>2022/10/10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2F6D8D9-D9F3-432A-835D-F400C71AEC1C}"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E119D40E-5853-4B43-99E9-AA5DF3C60FF2}" type="datetimeFigureOut">
              <a:rPr lang="zh-CN" altLang="en-US" smtClean="0"/>
              <a:t>2022/10/10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2F6D8D9-D9F3-432A-835D-F400C71AEC1C}"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E119D40E-5853-4B43-99E9-AA5DF3C60FF2}" type="datetimeFigureOut">
              <a:rPr lang="zh-CN" altLang="en-US" smtClean="0"/>
              <a:t>2022/10/10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2F6D8D9-D9F3-432A-835D-F400C71AEC1C}"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E119D40E-5853-4B43-99E9-AA5DF3C60FF2}" type="datetimeFigureOut">
              <a:rPr lang="zh-CN" altLang="en-US" smtClean="0"/>
              <a:t>2022/10/10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2F6D8D9-D9F3-432A-835D-F400C71AEC1C}"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119D40E-5853-4B43-99E9-AA5DF3C60FF2}" type="datetimeFigureOut">
              <a:rPr lang="zh-CN" altLang="en-US" smtClean="0"/>
              <a:t>2022/10/10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2F6D8D9-D9F3-432A-835D-F400C71AEC1C}"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119D40E-5853-4B43-99E9-AA5DF3C60FF2}" type="datetimeFigureOut">
              <a:rPr lang="zh-CN" altLang="en-US" smtClean="0"/>
              <a:t>2022/10/10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2F6D8D9-D9F3-432A-835D-F400C71AEC1C}"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391" y="987426"/>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119D40E-5853-4B43-99E9-AA5DF3C60FF2}" type="datetimeFigureOut">
              <a:rPr lang="zh-CN" altLang="en-US" smtClean="0"/>
              <a:t>2022/10/10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2F6D8D9-D9F3-432A-835D-F400C71AEC1C}"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E119D40E-5853-4B43-99E9-AA5DF3C60FF2}" type="datetimeFigureOut">
              <a:rPr lang="zh-CN" altLang="en-US" smtClean="0"/>
              <a:t>2022/10/10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2F6D8D9-D9F3-432A-835D-F400C71AEC1C}"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E119D40E-5853-4B43-99E9-AA5DF3C60FF2}" type="datetimeFigureOut">
              <a:rPr lang="zh-CN" altLang="en-US" smtClean="0"/>
              <a:t>2022/10/10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2F6D8D9-D9F3-432A-835D-F400C71AEC1C}"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9"/>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178C1384-3686-45C4-9274-264A95345C91}" type="slidenum">
              <a:rPr lang="en-US" altLang="zh-CN"/>
              <a:t>‹#›</a:t>
            </a:fld>
            <a:endParaRPr lang="en-US" altLang="zh-CN"/>
          </a:p>
        </p:txBody>
      </p:sp>
    </p:spTree>
  </p:cSld>
  <p:clrMapOvr>
    <a:masterClrMapping/>
  </p:clrMapOvr>
  <p:transition>
    <p:cover dir="d"/>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2C687883-A9F8-4324-BFDB-FCCC5C558AE8}" type="slidenum">
              <a:rPr lang="en-US" altLang="zh-CN"/>
              <a:t>‹#›</a:t>
            </a:fld>
            <a:endParaRPr lang="en-US" altLang="zh-CN"/>
          </a:p>
        </p:txBody>
      </p:sp>
    </p:spTree>
  </p:cSld>
  <p:clrMapOvr>
    <a:masterClrMapping/>
  </p:clrMapOvr>
  <p:transition>
    <p:cover dir="d"/>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4"/>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424A2B26-0FA3-473F-9174-F6D9E481BFA1}" type="slidenum">
              <a:rPr lang="en-US" altLang="zh-CN"/>
              <a:t>‹#›</a:t>
            </a:fld>
            <a:endParaRPr lang="en-US" altLang="zh-CN"/>
          </a:p>
        </p:txBody>
      </p:sp>
    </p:spTree>
  </p:cSld>
  <p:clrMapOvr>
    <a:masterClrMapping/>
  </p:clrMapOvr>
  <p:transition>
    <p:cover dir="d"/>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A0A41B2E-0564-49C7-AE47-7DBB17967741}" type="slidenum">
              <a:rPr lang="en-US" altLang="zh-CN"/>
              <a:t>‹#›</a:t>
            </a:fld>
            <a:endParaRPr lang="en-US" altLang="zh-CN"/>
          </a:p>
        </p:txBody>
      </p:sp>
    </p:spTree>
  </p:cSld>
  <p:clrMapOvr>
    <a:masterClrMapping/>
  </p:clrMapOvr>
  <p:transition>
    <p:cover dir="d"/>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7"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a:lvl1pPr>
          </a:lstStyle>
          <a:p>
            <a:pPr>
              <a:defRPr/>
            </a:pPr>
            <a:fld id="{0231B4C8-FC89-42E9-B91A-70FC8438C555}" type="slidenum">
              <a:rPr lang="en-US" altLang="zh-CN"/>
              <a:t>‹#›</a:t>
            </a:fld>
            <a:endParaRPr lang="en-US" altLang="zh-CN"/>
          </a:p>
        </p:txBody>
      </p:sp>
    </p:spTree>
  </p:cSld>
  <p:clrMapOvr>
    <a:masterClrMapping/>
  </p:clrMapOvr>
  <p:transition>
    <p:cover dir="d"/>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9E0CDD31-6EDA-4B63-885E-0EE493EA4FC2}" type="slidenum">
              <a:rPr lang="en-US" altLang="zh-CN"/>
              <a:t>‹#›</a:t>
            </a:fld>
            <a:endParaRPr lang="en-US" altLang="zh-CN"/>
          </a:p>
        </p:txBody>
      </p:sp>
    </p:spTree>
  </p:cSld>
  <p:clrMapOvr>
    <a:masterClrMapping/>
  </p:clrMapOvr>
  <p:transition>
    <p:cover dir="d"/>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p:txBody>
          <a:bodyPr/>
          <a:lstStyle>
            <a:lvl1pPr>
              <a:defRPr/>
            </a:lvl1pPr>
          </a:lstStyle>
          <a:p>
            <a:pPr>
              <a:defRPr/>
            </a:pPr>
            <a:fld id="{9B8D6B41-AAF5-4D7C-9630-46E39E52E699}" type="slidenum">
              <a:rPr lang="en-US" altLang="zh-CN"/>
              <a:t>‹#›</a:t>
            </a:fld>
            <a:endParaRPr lang="en-US" altLang="zh-CN"/>
          </a:p>
        </p:txBody>
      </p:sp>
    </p:spTree>
  </p:cSld>
  <p:clrMapOvr>
    <a:masterClrMapping/>
  </p:clrMapOvr>
  <p:transition>
    <p:cover dir="d"/>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2"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4"/>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2" y="1435103"/>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5AEBD598-5F9C-4349-AEB3-E05F3179A862}" type="slidenum">
              <a:rPr lang="en-US" altLang="zh-CN"/>
              <a:t>‹#›</a:t>
            </a:fld>
            <a:endParaRPr lang="en-US" altLang="zh-CN"/>
          </a:p>
        </p:txBody>
      </p:sp>
    </p:spTree>
  </p:cSld>
  <p:clrMapOvr>
    <a:masterClrMapping/>
  </p:clrMapOvr>
  <p:transition>
    <p:cover dir="d"/>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CA05A86F-E4C4-4AE8-BCC7-46675975EFC1}" type="slidenum">
              <a:rPr lang="en-US" altLang="zh-CN"/>
              <a:t>‹#›</a:t>
            </a:fld>
            <a:endParaRPr lang="en-US" altLang="zh-CN"/>
          </a:p>
        </p:txBody>
      </p:sp>
    </p:spTree>
  </p:cSld>
  <p:clrMapOvr>
    <a:masterClrMapping/>
  </p:clrMapOvr>
  <p:transition>
    <p:cover dir="d"/>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5E4AA024-4BD4-4C3E-9782-94B9F836E446}" type="slidenum">
              <a:rPr lang="en-US" altLang="zh-CN"/>
              <a:t>‹#›</a:t>
            </a:fld>
            <a:endParaRPr lang="en-US" altLang="zh-CN"/>
          </a:p>
        </p:txBody>
      </p:sp>
    </p:spTree>
  </p:cSld>
  <p:clrMapOvr>
    <a:masterClrMapping/>
  </p:clrMapOvr>
  <p:transition>
    <p:cover dir="d"/>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7A23B651-01C7-4ACB-A684-85A55AD844EF}" type="slidenum">
              <a:rPr lang="en-US" altLang="zh-CN"/>
              <a:t>‹#›</a:t>
            </a:fld>
            <a:endParaRPr lang="en-US" altLang="zh-CN"/>
          </a:p>
        </p:txBody>
      </p:sp>
    </p:spTree>
  </p:cSld>
  <p:clrMapOvr>
    <a:masterClrMapping/>
  </p:clrMapOvr>
  <p:transition>
    <p:cover di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119D40E-5853-4B43-99E9-AA5DF3C60FF2}" type="datetimeFigureOut">
              <a:rPr lang="zh-CN" altLang="en-US" smtClean="0"/>
              <a:t>2022/10/10</a:t>
            </a:fld>
            <a:endParaRPr lang="zh-CN" altLang="en-US"/>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2F6D8D9-D9F3-432A-835D-F400C71AEC1C}"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a:t>单击此处编辑母版标题样式</a:t>
            </a:r>
          </a:p>
        </p:txBody>
      </p:sp>
      <p:sp>
        <p:nvSpPr>
          <p:cNvPr id="2051" name="Rectangle 3"/>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400">
                <a:solidFill>
                  <a:srgbClr val="000000"/>
                </a:solidFill>
                <a:effectLst/>
                <a:ea typeface="+mn-ea"/>
              </a:defRPr>
            </a:lvl1pPr>
          </a:lstStyle>
          <a:p>
            <a:pPr fontAlgn="base">
              <a:spcBef>
                <a:spcPct val="0"/>
              </a:spcBef>
              <a:spcAft>
                <a:spcPct val="0"/>
              </a:spcAft>
              <a:defRPr/>
            </a:pPr>
            <a:endParaRPr kumimoji="1" lang="en-US" altLang="zh-CN"/>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400">
                <a:solidFill>
                  <a:srgbClr val="000000"/>
                </a:solidFill>
                <a:effectLst/>
                <a:ea typeface="+mn-ea"/>
              </a:defRPr>
            </a:lvl1pPr>
          </a:lstStyle>
          <a:p>
            <a:pPr fontAlgn="base">
              <a:spcBef>
                <a:spcPct val="0"/>
              </a:spcBef>
              <a:spcAft>
                <a:spcPct val="0"/>
              </a:spcAft>
              <a:defRPr/>
            </a:pPr>
            <a:endParaRPr kumimoji="1" lang="en-US" altLang="zh-CN"/>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400">
                <a:solidFill>
                  <a:srgbClr val="000000"/>
                </a:solidFill>
                <a:effectLst/>
                <a:ea typeface="宋体" panose="02010600030101010101" pitchFamily="2" charset="-122"/>
              </a:defRPr>
            </a:lvl1pPr>
          </a:lstStyle>
          <a:p>
            <a:pPr fontAlgn="base">
              <a:spcBef>
                <a:spcPct val="0"/>
              </a:spcBef>
              <a:spcAft>
                <a:spcPct val="0"/>
              </a:spcAft>
              <a:defRPr/>
            </a:pPr>
            <a:fld id="{913CEB95-6C5A-49F2-94B7-1C2B9AE0D82E}" type="slidenum">
              <a:rPr kumimoji="1" lang="en-US" altLang="zh-CN"/>
              <a:t>‹#›</a:t>
            </a:fld>
            <a:endParaRPr kumimoji="1" lang="en-US" altLang="zh-C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cover dir="d"/>
  </p:transition>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hyperlink" Target="mailto:&#19979;&#27425;&#35838;&#21069;&#21457;&#36865;&#21040;&#37038;&#31665;qiushitong@buaa.edu.cn" TargetMode="Externa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49941" y="2554941"/>
            <a:ext cx="7772400" cy="1143000"/>
          </a:xfrm>
        </p:spPr>
        <p:txBody>
          <a:bodyPr/>
          <a:lstStyle/>
          <a:p>
            <a:r>
              <a:rPr lang="en-US" altLang="zh-CN" sz="6000" dirty="0" err="1"/>
              <a:t>Arduino</a:t>
            </a:r>
            <a:r>
              <a:rPr lang="zh-CN" altLang="en-US" sz="6000" dirty="0"/>
              <a:t>核心</a:t>
            </a:r>
            <a:r>
              <a:rPr lang="en-US" altLang="zh-CN" sz="6000" dirty="0"/>
              <a:t>API</a:t>
            </a:r>
            <a:endParaRPr lang="zh-CN" altLang="en-US" sz="6000" dirty="0"/>
          </a:p>
        </p:txBody>
      </p:sp>
    </p:spTree>
  </p:cSld>
  <p:clrMapOvr>
    <a:masterClrMapping/>
  </p:clrMapOvr>
  <p:transition>
    <p:cover di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随机数</a:t>
            </a:r>
          </a:p>
        </p:txBody>
      </p:sp>
      <p:sp>
        <p:nvSpPr>
          <p:cNvPr id="3" name="内容占位符 2"/>
          <p:cNvSpPr>
            <a:spLocks noGrp="1"/>
          </p:cNvSpPr>
          <p:nvPr>
            <p:ph idx="1"/>
          </p:nvPr>
        </p:nvSpPr>
        <p:spPr/>
        <p:txBody>
          <a:bodyPr/>
          <a:lstStyle/>
          <a:p>
            <a:pPr marL="0" indent="0" algn="just">
              <a:buNone/>
            </a:pPr>
            <a:r>
              <a:rPr lang="zh-CN" altLang="en-US" sz="2800" dirty="0"/>
              <a:t>尽管在每个使用者的经验中，计算机实际上是非常有可预见的，偶尔我们也需要故意让你的</a:t>
            </a:r>
            <a:r>
              <a:rPr lang="en-US" altLang="zh-CN" sz="2800" dirty="0" err="1"/>
              <a:t>Arduino</a:t>
            </a:r>
            <a:r>
              <a:rPr lang="zh-CN" altLang="en-US" sz="2800" dirty="0"/>
              <a:t>变得不可预知。</a:t>
            </a:r>
            <a:endParaRPr lang="en-US" altLang="zh-CN" sz="2800" dirty="0"/>
          </a:p>
          <a:p>
            <a:pPr marL="0" indent="0" algn="just">
              <a:buNone/>
            </a:pPr>
            <a:r>
              <a:rPr lang="zh-CN" altLang="en-US" sz="2800" dirty="0"/>
              <a:t>标准</a:t>
            </a:r>
            <a:r>
              <a:rPr lang="en-US" altLang="zh-CN" sz="2800" dirty="0" err="1"/>
              <a:t>Arduino</a:t>
            </a:r>
            <a:r>
              <a:rPr lang="zh-CN" altLang="en-US" sz="2800" dirty="0"/>
              <a:t>库为做这些提供了方法，那就是</a:t>
            </a:r>
            <a:r>
              <a:rPr lang="en-US" altLang="zh-CN" sz="2800" dirty="0"/>
              <a:t>random</a:t>
            </a:r>
            <a:r>
              <a:rPr lang="zh-CN" altLang="en-US" sz="2800" dirty="0"/>
              <a:t>函数。</a:t>
            </a:r>
            <a:r>
              <a:rPr lang="en-US" altLang="zh-CN" sz="2800" dirty="0"/>
              <a:t>random</a:t>
            </a:r>
            <a:r>
              <a:rPr lang="zh-CN" altLang="en-US" sz="2800" dirty="0"/>
              <a:t>返回一个整数，而且它可以有</a:t>
            </a:r>
            <a:r>
              <a:rPr lang="en-US" altLang="zh-CN" sz="2800" dirty="0"/>
              <a:t>1</a:t>
            </a:r>
            <a:r>
              <a:rPr lang="zh-CN" altLang="en-US" sz="2800" dirty="0"/>
              <a:t>个或</a:t>
            </a:r>
            <a:r>
              <a:rPr lang="en-US" altLang="zh-CN" sz="2800" dirty="0"/>
              <a:t>2</a:t>
            </a:r>
            <a:r>
              <a:rPr lang="zh-CN" altLang="en-US" sz="2800" dirty="0"/>
              <a:t>个参数。如果他只有</a:t>
            </a:r>
            <a:r>
              <a:rPr lang="en-US" altLang="zh-CN" sz="2800" dirty="0"/>
              <a:t>1</a:t>
            </a:r>
            <a:r>
              <a:rPr lang="zh-CN" altLang="en-US" sz="2800" dirty="0"/>
              <a:t>个参数，则会返回一个</a:t>
            </a:r>
            <a:r>
              <a:rPr lang="en-US" altLang="zh-CN" sz="2800" dirty="0"/>
              <a:t>0</a:t>
            </a:r>
            <a:r>
              <a:rPr lang="zh-CN" altLang="en-US" sz="2800" dirty="0"/>
              <a:t>～（参数</a:t>
            </a:r>
            <a:r>
              <a:rPr lang="en-US" altLang="zh-CN" sz="2800" dirty="0"/>
              <a:t>-1</a:t>
            </a:r>
            <a:r>
              <a:rPr lang="zh-CN" altLang="en-US" sz="2800" dirty="0"/>
              <a:t>）之间的随机数；如果有</a:t>
            </a:r>
            <a:r>
              <a:rPr lang="en-US" altLang="zh-CN" sz="2800" dirty="0"/>
              <a:t>2</a:t>
            </a:r>
            <a:r>
              <a:rPr lang="zh-CN" altLang="en-US" sz="2800" dirty="0"/>
              <a:t>个参数，那么随机数将会从第</a:t>
            </a:r>
            <a:r>
              <a:rPr lang="en-US" altLang="zh-CN" sz="2800" dirty="0"/>
              <a:t>1</a:t>
            </a:r>
            <a:r>
              <a:rPr lang="zh-CN" altLang="en-US" sz="2800" dirty="0"/>
              <a:t>个参数（包含）～（第二个参数</a:t>
            </a:r>
            <a:r>
              <a:rPr lang="en-US" altLang="zh-CN" sz="2800" dirty="0"/>
              <a:t>-1</a:t>
            </a:r>
            <a:r>
              <a:rPr lang="zh-CN" altLang="en-US" sz="2800" dirty="0"/>
              <a:t>）之间抽取。</a:t>
            </a:r>
          </a:p>
        </p:txBody>
      </p:sp>
    </p:spTree>
  </p:cSld>
  <p:clrMapOvr>
    <a:masterClrMapping/>
  </p:clrMapOvr>
  <p:transition>
    <p:cover dir="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295835"/>
            <a:ext cx="7158318" cy="430306"/>
          </a:xfrm>
          <a:solidFill>
            <a:schemeClr val="bg1">
              <a:lumMod val="85000"/>
            </a:schemeClr>
          </a:solidFill>
        </p:spPr>
        <p:txBody>
          <a:bodyPr/>
          <a:lstStyle/>
          <a:p>
            <a:r>
              <a:rPr lang="zh-CN" altLang="en-US" sz="3200" b="1" dirty="0"/>
              <a:t>在串口监视器中随机出现</a:t>
            </a:r>
            <a:r>
              <a:rPr lang="en-US" altLang="zh-CN" sz="3200" b="1" dirty="0"/>
              <a:t>1</a:t>
            </a:r>
            <a:r>
              <a:rPr lang="zh-CN" altLang="en-US" sz="3200" b="1" dirty="0"/>
              <a:t>～</a:t>
            </a:r>
            <a:r>
              <a:rPr lang="en-US" altLang="zh-CN" sz="3200" b="1" dirty="0"/>
              <a:t>6</a:t>
            </a:r>
            <a:r>
              <a:rPr lang="zh-CN" altLang="en-US" sz="3200" b="1" dirty="0"/>
              <a:t>之间的数</a:t>
            </a:r>
          </a:p>
        </p:txBody>
      </p:sp>
      <p:sp>
        <p:nvSpPr>
          <p:cNvPr id="3" name="内容占位符 2"/>
          <p:cNvSpPr>
            <a:spLocks noGrp="1"/>
          </p:cNvSpPr>
          <p:nvPr>
            <p:ph idx="1"/>
          </p:nvPr>
        </p:nvSpPr>
        <p:spPr>
          <a:xfrm>
            <a:off x="685800" y="1281953"/>
            <a:ext cx="7772400" cy="4814047"/>
          </a:xfrm>
        </p:spPr>
        <p:txBody>
          <a:bodyPr/>
          <a:lstStyle/>
          <a:p>
            <a:pPr marL="0" indent="0">
              <a:spcBef>
                <a:spcPts val="0"/>
              </a:spcBef>
              <a:buNone/>
            </a:pPr>
            <a:r>
              <a:rPr lang="en-US" altLang="zh-CN" sz="2800" dirty="0"/>
              <a:t>void setup()</a:t>
            </a:r>
          </a:p>
          <a:p>
            <a:pPr marL="0" indent="0">
              <a:spcBef>
                <a:spcPts val="0"/>
              </a:spcBef>
              <a:buNone/>
            </a:pPr>
            <a:r>
              <a:rPr lang="en-US" altLang="zh-CN" sz="2800" dirty="0"/>
              <a:t>{</a:t>
            </a:r>
          </a:p>
          <a:p>
            <a:pPr marL="0" indent="0">
              <a:spcBef>
                <a:spcPts val="0"/>
              </a:spcBef>
              <a:buNone/>
            </a:pPr>
            <a:r>
              <a:rPr lang="en-US" altLang="zh-CN" sz="2800" dirty="0"/>
              <a:t>  </a:t>
            </a:r>
            <a:r>
              <a:rPr lang="en-US" altLang="zh-CN" sz="2800" dirty="0" err="1"/>
              <a:t>Serial.begin</a:t>
            </a:r>
            <a:r>
              <a:rPr lang="en-US" altLang="zh-CN" sz="2800" dirty="0"/>
              <a:t>(9600);</a:t>
            </a:r>
          </a:p>
          <a:p>
            <a:pPr marL="0" indent="0">
              <a:spcBef>
                <a:spcPts val="0"/>
              </a:spcBef>
              <a:buNone/>
            </a:pPr>
            <a:r>
              <a:rPr lang="en-US" altLang="zh-CN" sz="2800" dirty="0"/>
              <a:t>}</a:t>
            </a:r>
          </a:p>
          <a:p>
            <a:pPr marL="0" indent="0">
              <a:spcBef>
                <a:spcPts val="0"/>
              </a:spcBef>
              <a:buNone/>
            </a:pPr>
            <a:endParaRPr lang="en-US" altLang="zh-CN" sz="2800" dirty="0"/>
          </a:p>
          <a:p>
            <a:pPr marL="0" indent="0">
              <a:spcBef>
                <a:spcPts val="0"/>
              </a:spcBef>
              <a:buNone/>
            </a:pPr>
            <a:r>
              <a:rPr lang="en-US" altLang="zh-CN" sz="2800" dirty="0"/>
              <a:t>void loop()</a:t>
            </a:r>
          </a:p>
          <a:p>
            <a:pPr marL="0" indent="0">
              <a:spcBef>
                <a:spcPts val="0"/>
              </a:spcBef>
              <a:buNone/>
            </a:pPr>
            <a:r>
              <a:rPr lang="en-US" altLang="zh-CN" sz="2800" dirty="0"/>
              <a:t>{</a:t>
            </a:r>
          </a:p>
          <a:p>
            <a:pPr marL="0" indent="0">
              <a:spcBef>
                <a:spcPts val="0"/>
              </a:spcBef>
              <a:buNone/>
            </a:pPr>
            <a:r>
              <a:rPr lang="en-US" altLang="zh-CN" sz="2800" dirty="0"/>
              <a:t>  </a:t>
            </a:r>
            <a:r>
              <a:rPr lang="en-US" altLang="zh-CN" sz="2800" dirty="0" err="1"/>
              <a:t>int</a:t>
            </a:r>
            <a:r>
              <a:rPr lang="en-US" altLang="zh-CN" sz="2800" dirty="0"/>
              <a:t> number = random(1, 7);</a:t>
            </a:r>
          </a:p>
          <a:p>
            <a:pPr marL="0" indent="0">
              <a:spcBef>
                <a:spcPts val="0"/>
              </a:spcBef>
              <a:buNone/>
            </a:pPr>
            <a:r>
              <a:rPr lang="en-US" altLang="zh-CN" sz="2800" dirty="0"/>
              <a:t>  </a:t>
            </a:r>
            <a:r>
              <a:rPr lang="en-US" altLang="zh-CN" sz="2800" dirty="0" err="1"/>
              <a:t>Serial.println</a:t>
            </a:r>
            <a:r>
              <a:rPr lang="en-US" altLang="zh-CN" sz="2800" dirty="0"/>
              <a:t>(number);</a:t>
            </a:r>
          </a:p>
          <a:p>
            <a:pPr marL="0" indent="0">
              <a:spcBef>
                <a:spcPts val="0"/>
              </a:spcBef>
              <a:buNone/>
            </a:pPr>
            <a:r>
              <a:rPr lang="en-US" altLang="zh-CN" sz="2800" dirty="0"/>
              <a:t>  delay(500); </a:t>
            </a:r>
          </a:p>
          <a:p>
            <a:pPr marL="0" indent="0">
              <a:spcBef>
                <a:spcPts val="0"/>
              </a:spcBef>
              <a:buNone/>
            </a:pPr>
            <a:r>
              <a:rPr lang="en-US" altLang="zh-CN" sz="2800" dirty="0"/>
              <a:t>}</a:t>
            </a:r>
            <a:endParaRPr lang="zh-CN" altLang="en-US" sz="2800" dirty="0"/>
          </a:p>
        </p:txBody>
      </p:sp>
    </p:spTree>
  </p:cSld>
  <p:clrMapOvr>
    <a:masterClrMapping/>
  </p:clrMapOvr>
  <p:transition>
    <p:cover dir="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随机数</a:t>
            </a:r>
          </a:p>
        </p:txBody>
      </p:sp>
      <p:sp>
        <p:nvSpPr>
          <p:cNvPr id="3" name="内容占位符 2"/>
          <p:cNvSpPr>
            <a:spLocks noGrp="1"/>
          </p:cNvSpPr>
          <p:nvPr>
            <p:ph idx="1"/>
          </p:nvPr>
        </p:nvSpPr>
        <p:spPr>
          <a:xfrm>
            <a:off x="685800" y="1640541"/>
            <a:ext cx="7772400" cy="4455459"/>
          </a:xfrm>
        </p:spPr>
        <p:txBody>
          <a:bodyPr/>
          <a:lstStyle/>
          <a:p>
            <a:pPr marL="0" indent="0" algn="just">
              <a:buNone/>
            </a:pPr>
            <a:r>
              <a:rPr lang="zh-CN" altLang="en-US" dirty="0"/>
              <a:t>如果把刚才的代码运行几遍，你可能会惊讶地发现：每次都会出现同一串“随机”数。</a:t>
            </a:r>
            <a:endParaRPr lang="en-US" altLang="zh-CN" dirty="0"/>
          </a:p>
          <a:p>
            <a:pPr marL="0" indent="0" algn="just">
              <a:buNone/>
            </a:pPr>
            <a:r>
              <a:rPr lang="zh-CN" altLang="en-US" dirty="0"/>
              <a:t>其实输出并不是真的随机。这些数字被称为“伪随机”数，因为它们只是随机分布的。数字的随机并不旨在不可预见，实际上真正的随机是有悖于单片机工作原理的，它不可能在没有外界干预的情况下做到这一点。</a:t>
            </a:r>
          </a:p>
        </p:txBody>
      </p:sp>
    </p:spTree>
  </p:cSld>
  <p:clrMapOvr>
    <a:masterClrMapping/>
  </p:clrMapOvr>
  <p:transition>
    <p:cover dir="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随机数</a:t>
            </a:r>
          </a:p>
        </p:txBody>
      </p:sp>
      <p:sp>
        <p:nvSpPr>
          <p:cNvPr id="3" name="内容占位符 2"/>
          <p:cNvSpPr>
            <a:spLocks noGrp="1"/>
          </p:cNvSpPr>
          <p:nvPr>
            <p:ph idx="1"/>
          </p:nvPr>
        </p:nvSpPr>
        <p:spPr>
          <a:xfrm>
            <a:off x="685800" y="1550895"/>
            <a:ext cx="7772400" cy="4545106"/>
          </a:xfrm>
        </p:spPr>
        <p:txBody>
          <a:bodyPr/>
          <a:lstStyle/>
          <a:p>
            <a:pPr marL="0" indent="0" algn="just">
              <a:buNone/>
            </a:pPr>
            <a:r>
              <a:rPr lang="zh-CN" altLang="en-US" dirty="0"/>
              <a:t>我们可以主动提供这一干预，通过给随机数生成器“播种”来让随机数变得不那么可预见。这也就是说，为生成的序列提供一个起点。显然，我们不能简单地用“随机”来作为生成随机数的起点。一个常用的技巧是利用模拟输入的浮动，所以我们可以用读取到的模拟输入的值来为随机数生成器“播种”。</a:t>
            </a:r>
            <a:endParaRPr lang="en-US" altLang="zh-CN" dirty="0"/>
          </a:p>
          <a:p>
            <a:pPr marL="0" indent="0" algn="just">
              <a:buNone/>
            </a:pPr>
            <a:r>
              <a:rPr lang="zh-CN" altLang="en-US" dirty="0"/>
              <a:t>实现这一功能的函数名为</a:t>
            </a:r>
            <a:r>
              <a:rPr lang="en-US" altLang="zh-CN" dirty="0" err="1"/>
              <a:t>randomSeed</a:t>
            </a:r>
            <a:r>
              <a:rPr lang="zh-CN" altLang="en-US" dirty="0"/>
              <a:t>。</a:t>
            </a:r>
          </a:p>
        </p:txBody>
      </p:sp>
    </p:spTree>
  </p:cSld>
  <p:clrMapOvr>
    <a:masterClrMapping/>
  </p:clrMapOvr>
  <p:transition>
    <p:cover dir="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215154"/>
            <a:ext cx="1860974" cy="528918"/>
          </a:xfrm>
          <a:solidFill>
            <a:schemeClr val="bg1">
              <a:lumMod val="85000"/>
            </a:schemeClr>
          </a:solidFill>
        </p:spPr>
        <p:txBody>
          <a:bodyPr/>
          <a:lstStyle/>
          <a:p>
            <a:pPr algn="l"/>
            <a:r>
              <a:rPr lang="zh-CN" altLang="en-US" sz="3200" b="1" dirty="0"/>
              <a:t>随机种子</a:t>
            </a:r>
          </a:p>
        </p:txBody>
      </p:sp>
      <p:sp>
        <p:nvSpPr>
          <p:cNvPr id="3" name="内容占位符 2"/>
          <p:cNvSpPr>
            <a:spLocks noGrp="1"/>
          </p:cNvSpPr>
          <p:nvPr>
            <p:ph idx="1"/>
          </p:nvPr>
        </p:nvSpPr>
        <p:spPr>
          <a:xfrm>
            <a:off x="685800" y="887506"/>
            <a:ext cx="7772400" cy="5208494"/>
          </a:xfrm>
        </p:spPr>
        <p:txBody>
          <a:bodyPr/>
          <a:lstStyle/>
          <a:p>
            <a:pPr marL="0" indent="0">
              <a:spcBef>
                <a:spcPts val="0"/>
              </a:spcBef>
              <a:buNone/>
            </a:pPr>
            <a:r>
              <a:rPr lang="en-US" altLang="zh-CN" sz="2800" dirty="0"/>
              <a:t>void setup()</a:t>
            </a:r>
          </a:p>
          <a:p>
            <a:pPr marL="0" indent="0">
              <a:spcBef>
                <a:spcPts val="0"/>
              </a:spcBef>
              <a:buNone/>
            </a:pPr>
            <a:r>
              <a:rPr lang="en-US" altLang="zh-CN" sz="2800" dirty="0"/>
              <a:t>{</a:t>
            </a:r>
          </a:p>
          <a:p>
            <a:pPr marL="0" indent="0">
              <a:spcBef>
                <a:spcPts val="0"/>
              </a:spcBef>
              <a:buNone/>
            </a:pPr>
            <a:r>
              <a:rPr lang="en-US" altLang="zh-CN" sz="2800" dirty="0"/>
              <a:t>  </a:t>
            </a:r>
            <a:r>
              <a:rPr lang="en-US" altLang="zh-CN" sz="2800" dirty="0" err="1"/>
              <a:t>Serial.begin</a:t>
            </a:r>
            <a:r>
              <a:rPr lang="en-US" altLang="zh-CN" sz="2800" dirty="0"/>
              <a:t>(9600);</a:t>
            </a:r>
          </a:p>
          <a:p>
            <a:pPr marL="0" indent="0">
              <a:spcBef>
                <a:spcPts val="0"/>
              </a:spcBef>
              <a:buNone/>
            </a:pPr>
            <a:r>
              <a:rPr lang="en-US" altLang="zh-CN" sz="2800" dirty="0"/>
              <a:t>  </a:t>
            </a:r>
            <a:r>
              <a:rPr lang="en-US" altLang="zh-CN" sz="2800" dirty="0" err="1"/>
              <a:t>randomSeed</a:t>
            </a:r>
            <a:r>
              <a:rPr lang="en-US" altLang="zh-CN" sz="2800" dirty="0"/>
              <a:t>(</a:t>
            </a:r>
            <a:r>
              <a:rPr lang="en-US" altLang="zh-CN" sz="2800" dirty="0" err="1"/>
              <a:t>analogRead</a:t>
            </a:r>
            <a:r>
              <a:rPr lang="en-US" altLang="zh-CN" sz="2800" dirty="0"/>
              <a:t>(0));</a:t>
            </a:r>
          </a:p>
          <a:p>
            <a:pPr marL="0" indent="0">
              <a:spcBef>
                <a:spcPts val="0"/>
              </a:spcBef>
              <a:buNone/>
            </a:pPr>
            <a:r>
              <a:rPr lang="en-US" altLang="zh-CN" sz="2800" dirty="0"/>
              <a:t>}</a:t>
            </a:r>
          </a:p>
          <a:p>
            <a:pPr marL="0" indent="0">
              <a:spcBef>
                <a:spcPts val="0"/>
              </a:spcBef>
              <a:buNone/>
            </a:pPr>
            <a:endParaRPr lang="en-US" altLang="zh-CN" sz="2800" dirty="0"/>
          </a:p>
          <a:p>
            <a:pPr marL="0" indent="0">
              <a:spcBef>
                <a:spcPts val="0"/>
              </a:spcBef>
              <a:buNone/>
            </a:pPr>
            <a:r>
              <a:rPr lang="en-US" altLang="zh-CN" sz="2800" dirty="0"/>
              <a:t>void loop()</a:t>
            </a:r>
          </a:p>
          <a:p>
            <a:pPr marL="0" indent="0">
              <a:spcBef>
                <a:spcPts val="0"/>
              </a:spcBef>
              <a:buNone/>
            </a:pPr>
            <a:r>
              <a:rPr lang="en-US" altLang="zh-CN" sz="2800" dirty="0"/>
              <a:t>{</a:t>
            </a:r>
          </a:p>
          <a:p>
            <a:pPr marL="0" indent="0">
              <a:spcBef>
                <a:spcPts val="0"/>
              </a:spcBef>
              <a:buNone/>
            </a:pPr>
            <a:r>
              <a:rPr lang="en-US" altLang="zh-CN" sz="2800" dirty="0"/>
              <a:t>  </a:t>
            </a:r>
            <a:r>
              <a:rPr lang="en-US" altLang="zh-CN" sz="2800" dirty="0" err="1"/>
              <a:t>int</a:t>
            </a:r>
            <a:r>
              <a:rPr lang="en-US" altLang="zh-CN" sz="2800" dirty="0"/>
              <a:t> number = random(1, 7);</a:t>
            </a:r>
          </a:p>
          <a:p>
            <a:pPr marL="0" indent="0">
              <a:spcBef>
                <a:spcPts val="0"/>
              </a:spcBef>
              <a:buNone/>
            </a:pPr>
            <a:r>
              <a:rPr lang="en-US" altLang="zh-CN" sz="2800" dirty="0"/>
              <a:t>  </a:t>
            </a:r>
            <a:r>
              <a:rPr lang="en-US" altLang="zh-CN" sz="2800" dirty="0" err="1"/>
              <a:t>Serial.println</a:t>
            </a:r>
            <a:r>
              <a:rPr lang="en-US" altLang="zh-CN" sz="2800" dirty="0"/>
              <a:t>(number);</a:t>
            </a:r>
          </a:p>
          <a:p>
            <a:pPr marL="0" indent="0">
              <a:spcBef>
                <a:spcPts val="0"/>
              </a:spcBef>
              <a:buNone/>
            </a:pPr>
            <a:r>
              <a:rPr lang="en-US" altLang="zh-CN" sz="2800" dirty="0"/>
              <a:t>  delay(500); </a:t>
            </a:r>
          </a:p>
          <a:p>
            <a:pPr marL="0" indent="0">
              <a:spcBef>
                <a:spcPts val="0"/>
              </a:spcBef>
              <a:buNone/>
            </a:pPr>
            <a:r>
              <a:rPr lang="en-US" altLang="zh-CN" sz="2800" dirty="0"/>
              <a:t>}</a:t>
            </a:r>
            <a:endParaRPr lang="zh-CN" altLang="en-US" sz="2800" dirty="0"/>
          </a:p>
        </p:txBody>
      </p:sp>
    </p:spTree>
  </p:cSld>
  <p:clrMapOvr>
    <a:masterClrMapping/>
  </p:clrMapOvr>
  <p:transition>
    <p:cover dir="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数学函数</a:t>
            </a:r>
          </a:p>
        </p:txBody>
      </p:sp>
      <p:sp>
        <p:nvSpPr>
          <p:cNvPr id="3" name="内容占位符 2"/>
          <p:cNvSpPr>
            <a:spLocks noGrp="1"/>
          </p:cNvSpPr>
          <p:nvPr>
            <p:ph idx="1"/>
          </p:nvPr>
        </p:nvSpPr>
        <p:spPr/>
        <p:txBody>
          <a:bodyPr/>
          <a:lstStyle/>
          <a:p>
            <a:pPr marL="0" indent="0" algn="just">
              <a:buNone/>
            </a:pPr>
            <a:endParaRPr lang="en-US" altLang="zh-CN" dirty="0"/>
          </a:p>
          <a:p>
            <a:pPr marL="0" indent="0" algn="just">
              <a:buNone/>
            </a:pPr>
            <a:r>
              <a:rPr lang="zh-CN" altLang="en-US" dirty="0"/>
              <a:t>在极少数情况下，你可能需要在</a:t>
            </a:r>
            <a:r>
              <a:rPr lang="en-US" altLang="zh-CN" dirty="0" err="1"/>
              <a:t>Arduino</a:t>
            </a:r>
            <a:r>
              <a:rPr lang="zh-CN" altLang="en-US" dirty="0"/>
              <a:t>上做大量的数学运算，而不仅仅是那么一点点算术。但当你需要的时候，有一个巨大的数学函数库来供你使用。</a:t>
            </a:r>
          </a:p>
        </p:txBody>
      </p:sp>
    </p:spTree>
  </p:cSld>
  <p:clrMapOvr>
    <a:masterClrMapping/>
  </p:clrMapOvr>
  <p:transition>
    <p:cover dir="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常见数学函数</a:t>
            </a:r>
          </a:p>
        </p:txBody>
      </p:sp>
      <p:sp>
        <p:nvSpPr>
          <p:cNvPr id="3" name="内容占位符 2"/>
          <p:cNvSpPr>
            <a:spLocks noGrp="1"/>
          </p:cNvSpPr>
          <p:nvPr>
            <p:ph idx="1"/>
          </p:nvPr>
        </p:nvSpPr>
        <p:spPr/>
        <p:txBody>
          <a:bodyPr/>
          <a:lstStyle/>
          <a:p>
            <a:r>
              <a:rPr lang="en-US" altLang="zh-CN" dirty="0"/>
              <a:t>abs</a:t>
            </a:r>
            <a:r>
              <a:rPr lang="zh-CN" altLang="en-US" dirty="0"/>
              <a:t>：返回参数绝对值</a:t>
            </a:r>
            <a:endParaRPr lang="en-US" altLang="zh-CN" dirty="0"/>
          </a:p>
          <a:p>
            <a:pPr marL="457200" lvl="1" indent="0">
              <a:buNone/>
            </a:pPr>
            <a:r>
              <a:rPr lang="zh-CN" altLang="en-US" dirty="0"/>
              <a:t>例子：</a:t>
            </a:r>
            <a:r>
              <a:rPr lang="en-US" altLang="zh-CN" dirty="0"/>
              <a:t>abs(12) returns 12</a:t>
            </a:r>
          </a:p>
          <a:p>
            <a:pPr marL="457200" lvl="1" indent="0">
              <a:buNone/>
            </a:pPr>
            <a:r>
              <a:rPr lang="en-US" altLang="zh-CN" dirty="0"/>
              <a:t>	       abs(-12) returns 12</a:t>
            </a:r>
          </a:p>
          <a:p>
            <a:r>
              <a:rPr lang="en-US" altLang="zh-CN" dirty="0"/>
              <a:t>constrain</a:t>
            </a:r>
            <a:r>
              <a:rPr lang="zh-CN" altLang="en-US" dirty="0"/>
              <a:t>：压缩数字防止溢出范围，第一个参数为被压缩的数，后</a:t>
            </a:r>
            <a:r>
              <a:rPr lang="en-US" altLang="zh-CN" dirty="0"/>
              <a:t>2</a:t>
            </a:r>
            <a:r>
              <a:rPr lang="zh-CN" altLang="en-US" dirty="0"/>
              <a:t>个参数为范围</a:t>
            </a:r>
            <a:endParaRPr lang="en-US" altLang="zh-CN" dirty="0"/>
          </a:p>
          <a:p>
            <a:pPr marL="457200" lvl="1" indent="0">
              <a:buNone/>
            </a:pPr>
            <a:r>
              <a:rPr lang="zh-CN" altLang="en-US" dirty="0"/>
              <a:t>例子：</a:t>
            </a:r>
            <a:r>
              <a:rPr lang="en-US" altLang="zh-CN" dirty="0"/>
              <a:t>constrain(8,1,10) returns 8</a:t>
            </a:r>
          </a:p>
          <a:p>
            <a:pPr marL="457200" lvl="1" indent="0">
              <a:buNone/>
            </a:pPr>
            <a:r>
              <a:rPr lang="en-US" altLang="zh-CN" dirty="0"/>
              <a:t>	       constrain(11,1,10) return 10</a:t>
            </a:r>
            <a:endParaRPr lang="zh-CN" altLang="en-US" dirty="0"/>
          </a:p>
        </p:txBody>
      </p:sp>
    </p:spTree>
  </p:cSld>
  <p:clrMapOvr>
    <a:masterClrMapping/>
  </p:clrMapOvr>
  <p:transition>
    <p:cover dir="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常见数学函数</a:t>
            </a:r>
          </a:p>
        </p:txBody>
      </p:sp>
      <p:sp>
        <p:nvSpPr>
          <p:cNvPr id="3" name="内容占位符 2"/>
          <p:cNvSpPr>
            <a:spLocks noGrp="1"/>
          </p:cNvSpPr>
          <p:nvPr>
            <p:ph idx="1"/>
          </p:nvPr>
        </p:nvSpPr>
        <p:spPr/>
        <p:txBody>
          <a:bodyPr/>
          <a:lstStyle/>
          <a:p>
            <a:pPr algn="just"/>
            <a:r>
              <a:rPr lang="en-US" altLang="zh-CN" dirty="0"/>
              <a:t>Map</a:t>
            </a:r>
            <a:r>
              <a:rPr lang="zh-CN" altLang="en-US" dirty="0"/>
              <a:t>：将一个数所在的范围映射到另一个的范围，第</a:t>
            </a:r>
            <a:r>
              <a:rPr lang="en-US" altLang="zh-CN" dirty="0"/>
              <a:t>1</a:t>
            </a:r>
            <a:r>
              <a:rPr lang="zh-CN" altLang="en-US" dirty="0"/>
              <a:t>个参数是需要映射的数字，第</a:t>
            </a:r>
            <a:r>
              <a:rPr lang="en-US" altLang="zh-CN" dirty="0"/>
              <a:t>2</a:t>
            </a:r>
            <a:r>
              <a:rPr lang="zh-CN" altLang="en-US" dirty="0"/>
              <a:t>个、第</a:t>
            </a:r>
            <a:r>
              <a:rPr lang="en-US" altLang="zh-CN" dirty="0"/>
              <a:t>3</a:t>
            </a:r>
            <a:r>
              <a:rPr lang="zh-CN" altLang="en-US" dirty="0"/>
              <a:t>个参数是原本的范围（源范围），最后</a:t>
            </a:r>
            <a:r>
              <a:rPr lang="en-US" altLang="zh-CN" dirty="0"/>
              <a:t>2</a:t>
            </a:r>
            <a:r>
              <a:rPr lang="zh-CN" altLang="en-US" dirty="0"/>
              <a:t>个参数是被映射到的范围（目标范围）。这个函数用于重新映射模拟输入的值。</a:t>
            </a:r>
            <a:endParaRPr lang="en-US" altLang="zh-CN" dirty="0"/>
          </a:p>
          <a:p>
            <a:pPr marL="457200" lvl="1" indent="0">
              <a:buNone/>
            </a:pPr>
            <a:r>
              <a:rPr lang="zh-CN" altLang="en-US" dirty="0"/>
              <a:t>例子：</a:t>
            </a:r>
            <a:r>
              <a:rPr lang="en-US" altLang="zh-CN" dirty="0"/>
              <a:t>map(x,0,1023,0,5000)</a:t>
            </a:r>
          </a:p>
        </p:txBody>
      </p:sp>
    </p:spTree>
  </p:cSld>
  <p:clrMapOvr>
    <a:masterClrMapping/>
  </p:clrMapOvr>
  <p:transition>
    <p:cover dir="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215154"/>
            <a:ext cx="2673036" cy="546846"/>
          </a:xfrm>
          <a:solidFill>
            <a:schemeClr val="bg1">
              <a:lumMod val="85000"/>
            </a:schemeClr>
          </a:solidFill>
        </p:spPr>
        <p:txBody>
          <a:bodyPr/>
          <a:lstStyle/>
          <a:p>
            <a:pPr algn="l"/>
            <a:r>
              <a:rPr lang="en-US" altLang="zh-CN" sz="3200" b="1" dirty="0"/>
              <a:t>Map</a:t>
            </a:r>
            <a:r>
              <a:rPr lang="zh-CN" altLang="en-US" sz="3200" b="1" dirty="0"/>
              <a:t>函数应用</a:t>
            </a:r>
          </a:p>
        </p:txBody>
      </p:sp>
      <p:sp>
        <p:nvSpPr>
          <p:cNvPr id="3" name="内容占位符 2"/>
          <p:cNvSpPr>
            <a:spLocks noGrp="1"/>
          </p:cNvSpPr>
          <p:nvPr>
            <p:ph idx="1"/>
          </p:nvPr>
        </p:nvSpPr>
        <p:spPr>
          <a:xfrm>
            <a:off x="685800" y="887506"/>
            <a:ext cx="7772400" cy="5208494"/>
          </a:xfrm>
        </p:spPr>
        <p:txBody>
          <a:bodyPr/>
          <a:lstStyle/>
          <a:p>
            <a:pPr marL="0" indent="0">
              <a:spcBef>
                <a:spcPts val="0"/>
              </a:spcBef>
              <a:buNone/>
            </a:pPr>
            <a:r>
              <a:rPr lang="en-US" altLang="zh-CN" sz="2400" dirty="0"/>
              <a:t>void setup()</a:t>
            </a:r>
          </a:p>
          <a:p>
            <a:pPr marL="0" indent="0">
              <a:spcBef>
                <a:spcPts val="0"/>
              </a:spcBef>
              <a:buNone/>
            </a:pPr>
            <a:r>
              <a:rPr lang="en-US" altLang="zh-CN" sz="2400" dirty="0"/>
              <a:t>{</a:t>
            </a:r>
          </a:p>
          <a:p>
            <a:pPr marL="0" indent="0">
              <a:spcBef>
                <a:spcPts val="0"/>
              </a:spcBef>
              <a:buNone/>
            </a:pPr>
            <a:r>
              <a:rPr lang="en-US" altLang="zh-CN" sz="2400" dirty="0" err="1"/>
              <a:t>pinMode</a:t>
            </a:r>
            <a:r>
              <a:rPr lang="en-US" altLang="zh-CN" sz="2400" dirty="0"/>
              <a:t>(8,OUTPUT);//</a:t>
            </a:r>
            <a:r>
              <a:rPr lang="zh-CN" altLang="en-US" sz="2400" dirty="0"/>
              <a:t>设置</a:t>
            </a:r>
            <a:r>
              <a:rPr lang="en-US" altLang="zh-CN" sz="2400" dirty="0"/>
              <a:t>8</a:t>
            </a:r>
            <a:r>
              <a:rPr lang="zh-CN" altLang="en-US" sz="2400" dirty="0"/>
              <a:t>号引脚为输出引脚   </a:t>
            </a:r>
            <a:r>
              <a:rPr lang="en-US" altLang="zh-CN" sz="2400" dirty="0"/>
              <a:t>       </a:t>
            </a:r>
            <a:r>
              <a:rPr lang="en-US" altLang="zh-CN" sz="2400" dirty="0" err="1"/>
              <a:t>pinMode</a:t>
            </a:r>
            <a:r>
              <a:rPr lang="en-US" altLang="zh-CN" sz="2400" dirty="0"/>
              <a:t>(A1,INPUT);//</a:t>
            </a:r>
            <a:r>
              <a:rPr lang="zh-CN" altLang="en-US" sz="2400" dirty="0"/>
              <a:t>设置</a:t>
            </a:r>
            <a:r>
              <a:rPr lang="en-US" altLang="zh-CN" sz="2400" dirty="0"/>
              <a:t>A1</a:t>
            </a:r>
            <a:r>
              <a:rPr lang="zh-CN" altLang="en-US" sz="2400" dirty="0"/>
              <a:t>引脚为输入引脚</a:t>
            </a:r>
            <a:endParaRPr lang="en-US" altLang="zh-CN" sz="2400" dirty="0"/>
          </a:p>
          <a:p>
            <a:pPr marL="0" indent="0">
              <a:spcBef>
                <a:spcPts val="0"/>
              </a:spcBef>
              <a:buNone/>
            </a:pPr>
            <a:r>
              <a:rPr lang="en-US" altLang="zh-CN" sz="2400" dirty="0"/>
              <a:t>}</a:t>
            </a:r>
          </a:p>
          <a:p>
            <a:pPr marL="0" indent="0">
              <a:spcBef>
                <a:spcPts val="0"/>
              </a:spcBef>
              <a:buNone/>
            </a:pPr>
            <a:r>
              <a:rPr lang="en-US" altLang="zh-CN" sz="2400" dirty="0"/>
              <a:t>void loop()</a:t>
            </a:r>
          </a:p>
          <a:p>
            <a:pPr marL="0" indent="0">
              <a:spcBef>
                <a:spcPts val="0"/>
              </a:spcBef>
              <a:buNone/>
            </a:pPr>
            <a:r>
              <a:rPr lang="en-US" altLang="zh-CN" sz="2400" dirty="0"/>
              <a:t>{</a:t>
            </a:r>
          </a:p>
          <a:p>
            <a:pPr marL="0" indent="0">
              <a:spcBef>
                <a:spcPts val="0"/>
              </a:spcBef>
              <a:buNone/>
            </a:pPr>
            <a:r>
              <a:rPr lang="en-US" altLang="zh-CN" sz="2400" dirty="0"/>
              <a:t>int </a:t>
            </a:r>
            <a:r>
              <a:rPr lang="en-US" altLang="zh-CN" sz="2400" dirty="0" err="1"/>
              <a:t>in,out</a:t>
            </a:r>
            <a:r>
              <a:rPr lang="en-US" altLang="zh-CN" sz="2400" dirty="0"/>
              <a:t>;</a:t>
            </a:r>
          </a:p>
          <a:p>
            <a:pPr marL="0" indent="0">
              <a:spcBef>
                <a:spcPts val="0"/>
              </a:spcBef>
              <a:buNone/>
            </a:pPr>
            <a:r>
              <a:rPr lang="en-US" altLang="zh-CN" sz="2400" dirty="0"/>
              <a:t>in = </a:t>
            </a:r>
            <a:r>
              <a:rPr lang="en-US" altLang="zh-CN" sz="2400" dirty="0" err="1"/>
              <a:t>analogRead</a:t>
            </a:r>
            <a:r>
              <a:rPr lang="en-US" altLang="zh-CN" sz="2400" dirty="0"/>
              <a:t>(A1);//</a:t>
            </a:r>
            <a:r>
              <a:rPr lang="zh-CN" altLang="en-US" sz="2400" dirty="0"/>
              <a:t>将</a:t>
            </a:r>
            <a:r>
              <a:rPr lang="en-US" altLang="zh-CN" sz="2400" dirty="0"/>
              <a:t>A1</a:t>
            </a:r>
            <a:r>
              <a:rPr lang="zh-CN" altLang="en-US" sz="2400" dirty="0"/>
              <a:t>引脚模拟输入值存入</a:t>
            </a:r>
            <a:r>
              <a:rPr lang="en-US" altLang="zh-CN" sz="2400" dirty="0"/>
              <a:t>in</a:t>
            </a:r>
            <a:r>
              <a:rPr lang="zh-CN" altLang="en-US" sz="2400" dirty="0"/>
              <a:t>变量</a:t>
            </a:r>
            <a:endParaRPr lang="en-US" altLang="zh-CN" sz="2400" dirty="0"/>
          </a:p>
          <a:p>
            <a:pPr marL="0" indent="0">
              <a:spcBef>
                <a:spcPts val="0"/>
              </a:spcBef>
              <a:buNone/>
            </a:pPr>
            <a:r>
              <a:rPr lang="en-US" altLang="zh-CN" sz="2400" dirty="0"/>
              <a:t>out = map(in,0,1023,0,255);//</a:t>
            </a:r>
            <a:r>
              <a:rPr lang="zh-CN" altLang="en-US" sz="2400" dirty="0"/>
              <a:t>将</a:t>
            </a:r>
            <a:r>
              <a:rPr lang="en-US" altLang="zh-CN" sz="2400" dirty="0"/>
              <a:t>in</a:t>
            </a:r>
            <a:r>
              <a:rPr lang="zh-CN" altLang="en-US" sz="2400" dirty="0"/>
              <a:t>变量的值缩放至</a:t>
            </a:r>
            <a:r>
              <a:rPr lang="en-US" altLang="zh-CN" sz="2400" dirty="0"/>
              <a:t>out</a:t>
            </a:r>
            <a:r>
              <a:rPr lang="zh-CN" altLang="en-US" sz="2400" dirty="0"/>
              <a:t>变量以符合模拟输出取值范围 </a:t>
            </a:r>
            <a:endParaRPr lang="en-US" altLang="zh-CN" sz="2400" dirty="0"/>
          </a:p>
          <a:p>
            <a:pPr marL="0" indent="0">
              <a:spcBef>
                <a:spcPts val="0"/>
              </a:spcBef>
              <a:buNone/>
            </a:pPr>
            <a:r>
              <a:rPr lang="en-US" altLang="zh-CN" sz="2400" dirty="0" err="1"/>
              <a:t>analogWrite</a:t>
            </a:r>
            <a:r>
              <a:rPr lang="en-US" altLang="zh-CN" sz="2400" dirty="0"/>
              <a:t>(8,out);//</a:t>
            </a:r>
            <a:r>
              <a:rPr lang="zh-CN" altLang="en-US" sz="2400" dirty="0"/>
              <a:t>将</a:t>
            </a:r>
            <a:r>
              <a:rPr lang="en-US" altLang="zh-CN" sz="2400" dirty="0"/>
              <a:t>out</a:t>
            </a:r>
            <a:r>
              <a:rPr lang="zh-CN" altLang="en-US" sz="2400" dirty="0"/>
              <a:t>值转变为</a:t>
            </a:r>
            <a:r>
              <a:rPr lang="en-US" altLang="zh-CN" sz="2400" dirty="0"/>
              <a:t>PWM</a:t>
            </a:r>
            <a:r>
              <a:rPr lang="zh-CN" altLang="en-US" sz="2400" dirty="0"/>
              <a:t>波占空比从</a:t>
            </a:r>
            <a:r>
              <a:rPr lang="en-US" altLang="zh-CN" sz="2400" dirty="0"/>
              <a:t>8</a:t>
            </a:r>
            <a:r>
              <a:rPr lang="zh-CN" altLang="en-US" sz="2400" dirty="0"/>
              <a:t>号口输出。</a:t>
            </a:r>
            <a:endParaRPr lang="en-US" altLang="zh-CN" sz="2400" dirty="0"/>
          </a:p>
          <a:p>
            <a:pPr marL="0" indent="0">
              <a:spcBef>
                <a:spcPts val="0"/>
              </a:spcBef>
              <a:buNone/>
            </a:pPr>
            <a:r>
              <a:rPr lang="en-US" altLang="zh-CN" sz="2400" dirty="0"/>
              <a:t>}</a:t>
            </a:r>
            <a:endParaRPr lang="zh-CN" altLang="en-US" sz="2400" dirty="0"/>
          </a:p>
        </p:txBody>
      </p:sp>
    </p:spTree>
  </p:cSld>
  <p:clrMapOvr>
    <a:masterClrMapping/>
  </p:clrMapOvr>
  <p:transition>
    <p:cover dir="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常见数学函数</a:t>
            </a:r>
          </a:p>
        </p:txBody>
      </p:sp>
      <p:sp>
        <p:nvSpPr>
          <p:cNvPr id="3" name="内容占位符 2"/>
          <p:cNvSpPr>
            <a:spLocks noGrp="1"/>
          </p:cNvSpPr>
          <p:nvPr>
            <p:ph idx="1"/>
          </p:nvPr>
        </p:nvSpPr>
        <p:spPr/>
        <p:txBody>
          <a:bodyPr/>
          <a:lstStyle/>
          <a:p>
            <a:r>
              <a:rPr lang="en-US" altLang="zh-CN" dirty="0"/>
              <a:t>max</a:t>
            </a:r>
            <a:r>
              <a:rPr lang="zh-CN" altLang="en-US" dirty="0"/>
              <a:t>：返回</a:t>
            </a:r>
            <a:r>
              <a:rPr lang="en-US" altLang="zh-CN" dirty="0"/>
              <a:t>2</a:t>
            </a:r>
            <a:r>
              <a:rPr lang="zh-CN" altLang="en-US" dirty="0"/>
              <a:t>个参数中较大的那个</a:t>
            </a:r>
            <a:endParaRPr lang="en-US" altLang="zh-CN" dirty="0"/>
          </a:p>
          <a:p>
            <a:pPr marL="0" indent="0">
              <a:buNone/>
            </a:pPr>
            <a:r>
              <a:rPr lang="en-US" altLang="zh-CN" dirty="0"/>
              <a:t>	</a:t>
            </a:r>
            <a:r>
              <a:rPr lang="zh-CN" altLang="en-US" dirty="0"/>
              <a:t>例子：</a:t>
            </a:r>
            <a:r>
              <a:rPr lang="en-US" altLang="zh-CN" dirty="0"/>
              <a:t>max(10,11) returns 11</a:t>
            </a:r>
          </a:p>
          <a:p>
            <a:r>
              <a:rPr lang="en-US" altLang="zh-CN" dirty="0"/>
              <a:t>min</a:t>
            </a:r>
            <a:r>
              <a:rPr lang="zh-CN" altLang="en-US" dirty="0"/>
              <a:t>：返回</a:t>
            </a:r>
            <a:r>
              <a:rPr lang="en-US" altLang="zh-CN" dirty="0"/>
              <a:t>2</a:t>
            </a:r>
            <a:r>
              <a:rPr lang="zh-CN" altLang="en-US" dirty="0"/>
              <a:t>个参数中较小的那个</a:t>
            </a:r>
            <a:endParaRPr lang="en-US" altLang="zh-CN" dirty="0"/>
          </a:p>
          <a:p>
            <a:pPr marL="0" indent="0">
              <a:buNone/>
            </a:pPr>
            <a:r>
              <a:rPr lang="en-US" altLang="zh-CN" dirty="0"/>
              <a:t>	</a:t>
            </a:r>
            <a:r>
              <a:rPr lang="zh-CN" altLang="en-US" dirty="0"/>
              <a:t>例子：</a:t>
            </a:r>
            <a:r>
              <a:rPr lang="en-US" altLang="zh-CN" dirty="0"/>
              <a:t>min(10,11) returns 10</a:t>
            </a:r>
          </a:p>
          <a:p>
            <a:r>
              <a:rPr lang="en-US" altLang="zh-CN" dirty="0"/>
              <a:t>pow</a:t>
            </a:r>
            <a:r>
              <a:rPr lang="zh-CN" altLang="en-US" dirty="0"/>
              <a:t>：返回第</a:t>
            </a:r>
            <a:r>
              <a:rPr lang="en-US" altLang="zh-CN" dirty="0"/>
              <a:t>1</a:t>
            </a:r>
            <a:r>
              <a:rPr lang="zh-CN" altLang="en-US" dirty="0"/>
              <a:t>个参数的第</a:t>
            </a:r>
            <a:r>
              <a:rPr lang="en-US" altLang="zh-CN" dirty="0"/>
              <a:t>2</a:t>
            </a:r>
            <a:r>
              <a:rPr lang="zh-CN" altLang="en-US" dirty="0"/>
              <a:t>个参数幂方</a:t>
            </a:r>
            <a:endParaRPr lang="en-US" altLang="zh-CN" dirty="0"/>
          </a:p>
          <a:p>
            <a:pPr marL="0" indent="0">
              <a:buNone/>
            </a:pPr>
            <a:r>
              <a:rPr lang="en-US" altLang="zh-CN" dirty="0"/>
              <a:t>	</a:t>
            </a:r>
            <a:r>
              <a:rPr lang="zh-CN" altLang="en-US" dirty="0"/>
              <a:t>例子：</a:t>
            </a:r>
            <a:r>
              <a:rPr lang="en-US" altLang="zh-CN" dirty="0"/>
              <a:t>pow(2,5) returns 32</a:t>
            </a:r>
          </a:p>
        </p:txBody>
      </p:sp>
    </p:spTree>
  </p:cSld>
  <p:clrMapOvr>
    <a:masterClrMapping/>
  </p:clrMapOvr>
  <p:transition>
    <p:cover dir="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常见数学函数</a:t>
            </a:r>
          </a:p>
        </p:txBody>
      </p:sp>
      <p:sp>
        <p:nvSpPr>
          <p:cNvPr id="3" name="内容占位符 2"/>
          <p:cNvSpPr>
            <a:spLocks noGrp="1"/>
          </p:cNvSpPr>
          <p:nvPr>
            <p:ph idx="1"/>
          </p:nvPr>
        </p:nvSpPr>
        <p:spPr/>
        <p:txBody>
          <a:bodyPr/>
          <a:lstStyle/>
          <a:p>
            <a:r>
              <a:rPr lang="en-US" altLang="zh-CN" dirty="0" err="1"/>
              <a:t>sqrt</a:t>
            </a:r>
            <a:r>
              <a:rPr lang="zh-CN" altLang="en-US" dirty="0"/>
              <a:t>：返回参数的平方根</a:t>
            </a:r>
            <a:endParaRPr lang="en-US" altLang="zh-CN" dirty="0"/>
          </a:p>
          <a:p>
            <a:pPr marL="0" indent="0">
              <a:buNone/>
            </a:pPr>
            <a:r>
              <a:rPr lang="en-US" altLang="zh-CN" dirty="0"/>
              <a:t>	</a:t>
            </a:r>
            <a:r>
              <a:rPr lang="zh-CN" altLang="en-US" dirty="0"/>
              <a:t>例子：</a:t>
            </a:r>
            <a:r>
              <a:rPr lang="en-US" altLang="zh-CN" dirty="0" err="1"/>
              <a:t>sqrt</a:t>
            </a:r>
            <a:r>
              <a:rPr lang="en-US" altLang="zh-CN" dirty="0"/>
              <a:t>(16) returns 4</a:t>
            </a:r>
          </a:p>
          <a:p>
            <a:r>
              <a:rPr lang="en-US" altLang="zh-CN" dirty="0" err="1"/>
              <a:t>sin,cos,tan</a:t>
            </a:r>
            <a:r>
              <a:rPr lang="zh-CN" altLang="en-US" dirty="0"/>
              <a:t>：三角函数不常用</a:t>
            </a:r>
            <a:endParaRPr lang="en-US" altLang="zh-CN" dirty="0"/>
          </a:p>
          <a:p>
            <a:r>
              <a:rPr lang="en-US" altLang="zh-CN" dirty="0"/>
              <a:t>log</a:t>
            </a:r>
            <a:r>
              <a:rPr lang="zh-CN" altLang="en-US" dirty="0"/>
              <a:t>：例如：热敏电阻计算温度</a:t>
            </a:r>
          </a:p>
        </p:txBody>
      </p:sp>
    </p:spTree>
  </p:cSld>
  <p:clrMapOvr>
    <a:masterClrMapping/>
  </p:clrMapOvr>
  <p:transition>
    <p:cover dir="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位操作</a:t>
            </a:r>
          </a:p>
        </p:txBody>
      </p:sp>
      <p:sp>
        <p:nvSpPr>
          <p:cNvPr id="3" name="内容占位符 2"/>
          <p:cNvSpPr>
            <a:spLocks noGrp="1"/>
          </p:cNvSpPr>
          <p:nvPr>
            <p:ph idx="1"/>
          </p:nvPr>
        </p:nvSpPr>
        <p:spPr/>
        <p:txBody>
          <a:bodyPr/>
          <a:lstStyle/>
          <a:p>
            <a:pPr marL="0" indent="0" algn="just">
              <a:buNone/>
            </a:pPr>
            <a:r>
              <a:rPr lang="zh-CN" altLang="en-US" dirty="0"/>
              <a:t>位是</a:t>
            </a:r>
            <a:r>
              <a:rPr lang="en-US" altLang="zh-CN" dirty="0"/>
              <a:t>2</a:t>
            </a:r>
            <a:r>
              <a:rPr lang="zh-CN" altLang="en-US" dirty="0"/>
              <a:t>进制信息的最小数位，也就是</a:t>
            </a:r>
            <a:r>
              <a:rPr lang="en-US" altLang="zh-CN" dirty="0"/>
              <a:t>0</a:t>
            </a:r>
            <a:r>
              <a:rPr lang="zh-CN" altLang="en-US" dirty="0"/>
              <a:t>或</a:t>
            </a:r>
            <a:r>
              <a:rPr lang="en-US" altLang="zh-CN" dirty="0"/>
              <a:t>1</a:t>
            </a:r>
            <a:r>
              <a:rPr lang="zh-CN" altLang="en-US" dirty="0"/>
              <a:t>。单词</a:t>
            </a:r>
            <a:r>
              <a:rPr lang="en-US" altLang="zh-CN" dirty="0"/>
              <a:t>bit</a:t>
            </a:r>
            <a:r>
              <a:rPr lang="zh-CN" altLang="en-US" dirty="0"/>
              <a:t>是</a:t>
            </a:r>
            <a:r>
              <a:rPr lang="en-US" altLang="zh-CN" dirty="0"/>
              <a:t>2</a:t>
            </a:r>
            <a:r>
              <a:rPr lang="zh-CN" altLang="en-US" dirty="0"/>
              <a:t>进制位（</a:t>
            </a:r>
            <a:r>
              <a:rPr lang="en-US" altLang="zh-CN" dirty="0"/>
              <a:t>Binary digit</a:t>
            </a:r>
            <a:r>
              <a:rPr lang="zh-CN" altLang="en-US" dirty="0"/>
              <a:t>）的缩写。大部分时候</a:t>
            </a:r>
            <a:r>
              <a:rPr lang="en-US" altLang="zh-CN" dirty="0" err="1"/>
              <a:t>Arduino</a:t>
            </a:r>
            <a:r>
              <a:rPr lang="zh-CN" altLang="en-US" dirty="0"/>
              <a:t>所使用的整数变量实际上包含</a:t>
            </a:r>
            <a:r>
              <a:rPr lang="en-US" altLang="zh-CN" dirty="0"/>
              <a:t>16</a:t>
            </a:r>
            <a:r>
              <a:rPr lang="zh-CN" altLang="en-US" dirty="0"/>
              <a:t>位，如果你只需存储一个简单的真假值，就浪费了很多位。事实上，除非你的内存不够用了，与位相比较写一个难以理解的程序来说不算什么，但有些时候给你的程序瘦身也是相当有必要的。</a:t>
            </a:r>
          </a:p>
        </p:txBody>
      </p:sp>
    </p:spTree>
  </p:cSld>
  <p:clrMapOvr>
    <a:masterClrMapping/>
  </p:clrMapOvr>
  <p:transition>
    <p:cover dir="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位操作</a:t>
            </a:r>
          </a:p>
        </p:txBody>
      </p:sp>
      <p:sp>
        <p:nvSpPr>
          <p:cNvPr id="3" name="内容占位符 2"/>
          <p:cNvSpPr>
            <a:spLocks noGrp="1"/>
          </p:cNvSpPr>
          <p:nvPr>
            <p:ph idx="1"/>
          </p:nvPr>
        </p:nvSpPr>
        <p:spPr/>
        <p:txBody>
          <a:bodyPr/>
          <a:lstStyle/>
          <a:p>
            <a:pPr marL="0" indent="0">
              <a:buNone/>
            </a:pPr>
            <a:r>
              <a:rPr lang="zh-CN" altLang="en-US" dirty="0"/>
              <a:t>标准</a:t>
            </a:r>
            <a:r>
              <a:rPr lang="en-US" altLang="zh-CN" dirty="0" err="1"/>
              <a:t>Arduino</a:t>
            </a:r>
            <a:r>
              <a:rPr lang="zh-CN" altLang="en-US" dirty="0"/>
              <a:t>库提供了一些函数，让你可以单独操作一个整数中</a:t>
            </a:r>
            <a:r>
              <a:rPr lang="en-US" altLang="zh-CN" dirty="0"/>
              <a:t>16</a:t>
            </a:r>
            <a:r>
              <a:rPr lang="zh-CN" altLang="en-US" dirty="0"/>
              <a:t>位中的某一位。函数</a:t>
            </a:r>
            <a:r>
              <a:rPr lang="en-US" altLang="zh-CN" dirty="0" err="1"/>
              <a:t>bitRead</a:t>
            </a:r>
            <a:r>
              <a:rPr lang="zh-CN" altLang="en-US" dirty="0"/>
              <a:t>返回的是整数中</a:t>
            </a:r>
            <a:r>
              <a:rPr lang="en-US" altLang="zh-CN" dirty="0"/>
              <a:t>16</a:t>
            </a:r>
            <a:r>
              <a:rPr lang="zh-CN" altLang="en-US" dirty="0"/>
              <a:t>位的某一个指定的位的值。</a:t>
            </a:r>
            <a:endParaRPr lang="en-US" altLang="zh-CN" dirty="0"/>
          </a:p>
          <a:p>
            <a:pPr marL="0" indent="0">
              <a:buNone/>
            </a:pPr>
            <a:r>
              <a:rPr lang="en-US" altLang="zh-CN" dirty="0" err="1"/>
              <a:t>int</a:t>
            </a:r>
            <a:r>
              <a:rPr lang="en-US" altLang="zh-CN" dirty="0"/>
              <a:t> x=0x8c;	//10001100</a:t>
            </a:r>
          </a:p>
          <a:p>
            <a:pPr marL="0" indent="0">
              <a:buNone/>
            </a:pPr>
            <a:r>
              <a:rPr lang="en-US" altLang="zh-CN" dirty="0"/>
              <a:t>int bit=</a:t>
            </a:r>
            <a:r>
              <a:rPr lang="en-US" altLang="zh-CN" dirty="0" err="1"/>
              <a:t>bitRead</a:t>
            </a:r>
            <a:r>
              <a:rPr lang="en-US" altLang="zh-CN" dirty="0"/>
              <a:t>(x,0);</a:t>
            </a:r>
            <a:endParaRPr lang="zh-CN" altLang="en-US" dirty="0"/>
          </a:p>
        </p:txBody>
      </p:sp>
    </p:spTree>
  </p:cSld>
  <p:clrMapOvr>
    <a:masterClrMapping/>
  </p:clrMapOvr>
  <p:transition>
    <p:cover dir="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位操作</a:t>
            </a:r>
          </a:p>
        </p:txBody>
      </p:sp>
      <p:sp>
        <p:nvSpPr>
          <p:cNvPr id="3" name="内容占位符 2"/>
          <p:cNvSpPr>
            <a:spLocks noGrp="1"/>
          </p:cNvSpPr>
          <p:nvPr>
            <p:ph idx="1"/>
          </p:nvPr>
        </p:nvSpPr>
        <p:spPr/>
        <p:txBody>
          <a:bodyPr/>
          <a:lstStyle/>
          <a:p>
            <a:pPr marL="0" indent="0">
              <a:buNone/>
            </a:pPr>
            <a:r>
              <a:rPr lang="zh-CN" altLang="en-US" dirty="0"/>
              <a:t>对应</a:t>
            </a:r>
            <a:r>
              <a:rPr lang="en-US" altLang="zh-CN" dirty="0" err="1"/>
              <a:t>bitRead</a:t>
            </a:r>
            <a:r>
              <a:rPr lang="zh-CN" altLang="en-US" dirty="0"/>
              <a:t>还有一个</a:t>
            </a:r>
            <a:r>
              <a:rPr lang="en-US" altLang="zh-CN" dirty="0" err="1"/>
              <a:t>bitWrite</a:t>
            </a:r>
            <a:r>
              <a:rPr lang="zh-CN" altLang="en-US" dirty="0"/>
              <a:t>。它有</a:t>
            </a:r>
            <a:r>
              <a:rPr lang="en-US" altLang="zh-CN" dirty="0"/>
              <a:t>3</a:t>
            </a:r>
            <a:r>
              <a:rPr lang="zh-CN" altLang="en-US" dirty="0"/>
              <a:t>个参数，第</a:t>
            </a:r>
            <a:r>
              <a:rPr lang="en-US" altLang="zh-CN" dirty="0"/>
              <a:t>1</a:t>
            </a:r>
            <a:r>
              <a:rPr lang="zh-CN" altLang="en-US" dirty="0"/>
              <a:t>个为要操作的数，第</a:t>
            </a:r>
            <a:r>
              <a:rPr lang="en-US" altLang="zh-CN" dirty="0"/>
              <a:t>2</a:t>
            </a:r>
            <a:r>
              <a:rPr lang="zh-CN" altLang="en-US" dirty="0"/>
              <a:t>个是位编号，第</a:t>
            </a:r>
            <a:r>
              <a:rPr lang="en-US" altLang="zh-CN" dirty="0"/>
              <a:t>3</a:t>
            </a:r>
            <a:r>
              <a:rPr lang="zh-CN" altLang="en-US" dirty="0"/>
              <a:t>个为位的值。</a:t>
            </a:r>
            <a:endParaRPr lang="en-US" altLang="zh-CN" dirty="0"/>
          </a:p>
          <a:p>
            <a:pPr marL="0" indent="0">
              <a:buNone/>
            </a:pPr>
            <a:r>
              <a:rPr lang="en-US" altLang="zh-CN" dirty="0" err="1"/>
              <a:t>int</a:t>
            </a:r>
            <a:r>
              <a:rPr lang="en-US" altLang="zh-CN" dirty="0"/>
              <a:t> x=2;	//0010</a:t>
            </a:r>
          </a:p>
          <a:p>
            <a:pPr marL="0" indent="0">
              <a:buNone/>
            </a:pPr>
            <a:r>
              <a:rPr lang="en-US" altLang="zh-CN" dirty="0" err="1"/>
              <a:t>bitWrite</a:t>
            </a:r>
            <a:r>
              <a:rPr lang="en-US" altLang="zh-CN" dirty="0"/>
              <a:t>(x,0,1);</a:t>
            </a:r>
            <a:endParaRPr lang="zh-CN" altLang="en-US" dirty="0"/>
          </a:p>
        </p:txBody>
      </p:sp>
    </p:spTree>
  </p:cSld>
  <p:clrMapOvr>
    <a:masterClrMapping/>
  </p:clrMapOvr>
  <p:transition>
    <p:cover dir="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声音生成</a:t>
            </a:r>
          </a:p>
        </p:txBody>
      </p:sp>
      <p:sp>
        <p:nvSpPr>
          <p:cNvPr id="3" name="内容占位符 2"/>
          <p:cNvSpPr>
            <a:spLocks noGrp="1"/>
          </p:cNvSpPr>
          <p:nvPr>
            <p:ph idx="1"/>
          </p:nvPr>
        </p:nvSpPr>
        <p:spPr/>
        <p:txBody>
          <a:bodyPr/>
          <a:lstStyle/>
          <a:p>
            <a:pPr marL="0" indent="0" algn="just">
              <a:buNone/>
            </a:pPr>
            <a:r>
              <a:rPr lang="en-US" altLang="zh-CN" dirty="0"/>
              <a:t>tone</a:t>
            </a:r>
            <a:r>
              <a:rPr lang="zh-CN" altLang="en-US" dirty="0"/>
              <a:t>函数可以在一个针脚产生一个方波信号，这样做最常见的目的是用扬声器或者蜂鸣器来发出一个特定的声音。</a:t>
            </a:r>
            <a:endParaRPr lang="en-US" altLang="zh-CN" dirty="0"/>
          </a:p>
          <a:p>
            <a:pPr marL="0" indent="0" algn="just">
              <a:buNone/>
            </a:pPr>
            <a:r>
              <a:rPr lang="zh-CN" altLang="en-US" dirty="0"/>
              <a:t>函数有</a:t>
            </a:r>
            <a:r>
              <a:rPr lang="en-US" altLang="zh-CN" dirty="0"/>
              <a:t>2</a:t>
            </a:r>
            <a:r>
              <a:rPr lang="zh-CN" altLang="en-US" dirty="0"/>
              <a:t>个或者</a:t>
            </a:r>
            <a:r>
              <a:rPr lang="en-US" altLang="zh-CN" dirty="0"/>
              <a:t>3</a:t>
            </a:r>
            <a:r>
              <a:rPr lang="zh-CN" altLang="en-US" dirty="0"/>
              <a:t>个参数。第</a:t>
            </a:r>
            <a:r>
              <a:rPr lang="en-US" altLang="zh-CN" dirty="0"/>
              <a:t>1</a:t>
            </a:r>
            <a:r>
              <a:rPr lang="zh-CN" altLang="en-US" dirty="0"/>
              <a:t>个参数是发出声音的针脚；第</a:t>
            </a:r>
            <a:r>
              <a:rPr lang="en-US" altLang="zh-CN" dirty="0"/>
              <a:t>2</a:t>
            </a:r>
            <a:r>
              <a:rPr lang="zh-CN" altLang="en-US" dirty="0"/>
              <a:t>个为频率（</a:t>
            </a:r>
            <a:r>
              <a:rPr lang="en-US" altLang="zh-CN" dirty="0"/>
              <a:t>Hz</a:t>
            </a:r>
            <a:r>
              <a:rPr lang="zh-CN" altLang="en-US" dirty="0"/>
              <a:t>）；第</a:t>
            </a:r>
            <a:r>
              <a:rPr lang="en-US" altLang="zh-CN" dirty="0"/>
              <a:t>3</a:t>
            </a:r>
            <a:r>
              <a:rPr lang="zh-CN" altLang="en-US" dirty="0"/>
              <a:t>个可选的参数为声音的长度。如果不指定长度的话声音会一直响下去。</a:t>
            </a:r>
            <a:endParaRPr lang="en-US" altLang="zh-CN" dirty="0"/>
          </a:p>
          <a:p>
            <a:pPr marL="0" indent="0" algn="just">
              <a:buNone/>
            </a:pPr>
            <a:r>
              <a:rPr lang="zh-CN" altLang="en-US" dirty="0"/>
              <a:t>若要让声音停止则使用函数</a:t>
            </a:r>
            <a:r>
              <a:rPr lang="en-US" altLang="zh-CN" dirty="0" err="1"/>
              <a:t>noTone</a:t>
            </a:r>
            <a:r>
              <a:rPr lang="zh-CN" altLang="en-US" dirty="0"/>
              <a:t>。</a:t>
            </a:r>
          </a:p>
        </p:txBody>
      </p:sp>
    </p:spTree>
  </p:cSld>
  <p:clrMapOvr>
    <a:masterClrMapping/>
  </p:clrMapOvr>
  <p:transition>
    <p:cover dir="d"/>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声音生成</a:t>
            </a:r>
          </a:p>
        </p:txBody>
      </p:sp>
      <p:sp>
        <p:nvSpPr>
          <p:cNvPr id="3" name="内容占位符 2"/>
          <p:cNvSpPr>
            <a:spLocks noGrp="1"/>
          </p:cNvSpPr>
          <p:nvPr>
            <p:ph idx="1"/>
          </p:nvPr>
        </p:nvSpPr>
        <p:spPr>
          <a:xfrm>
            <a:off x="685800" y="1358020"/>
            <a:ext cx="7772400" cy="4737980"/>
          </a:xfrm>
        </p:spPr>
        <p:txBody>
          <a:bodyPr/>
          <a:lstStyle/>
          <a:p>
            <a:pPr marL="0" indent="0">
              <a:buNone/>
            </a:pPr>
            <a:r>
              <a:rPr lang="en-US" altLang="zh-CN" sz="2000" dirty="0"/>
              <a:t>void setup()</a:t>
            </a:r>
          </a:p>
          <a:p>
            <a:pPr marL="0" indent="0">
              <a:buNone/>
            </a:pPr>
            <a:r>
              <a:rPr lang="en-US" altLang="zh-CN" sz="2000" dirty="0"/>
              <a:t>{</a:t>
            </a:r>
          </a:p>
          <a:p>
            <a:pPr marL="0" indent="0">
              <a:buNone/>
            </a:pPr>
            <a:r>
              <a:rPr lang="en-US" altLang="zh-CN" sz="2000" dirty="0"/>
              <a:t>//tone(pin, frequency)</a:t>
            </a:r>
            <a:br>
              <a:rPr lang="en-US" altLang="zh-CN" sz="2000" dirty="0"/>
            </a:br>
            <a:r>
              <a:rPr lang="en-US" altLang="zh-CN" sz="2000" dirty="0"/>
              <a:t>//tone(pin, frequency, duration)</a:t>
            </a:r>
          </a:p>
          <a:p>
            <a:pPr marL="0" indent="0">
              <a:buNone/>
            </a:pPr>
            <a:r>
              <a:rPr lang="en-US" altLang="zh-CN" sz="2000" dirty="0"/>
              <a:t>}</a:t>
            </a:r>
          </a:p>
          <a:p>
            <a:pPr marL="0" indent="0">
              <a:buNone/>
            </a:pPr>
            <a:r>
              <a:rPr lang="en-US" altLang="zh-CN" sz="2000" dirty="0"/>
              <a:t>void loop() {</a:t>
            </a:r>
          </a:p>
          <a:p>
            <a:pPr marL="0" indent="0">
              <a:buNone/>
            </a:pPr>
            <a:r>
              <a:rPr lang="en-US" altLang="zh-CN" sz="2000" dirty="0"/>
              <a:t>  </a:t>
            </a:r>
            <a:r>
              <a:rPr lang="en-US" altLang="zh-CN" sz="2000" dirty="0" err="1"/>
              <a:t>noTone</a:t>
            </a:r>
            <a:r>
              <a:rPr lang="en-US" altLang="zh-CN" sz="2000" dirty="0"/>
              <a:t>(7);</a:t>
            </a:r>
            <a:r>
              <a:rPr lang="zh-CN" altLang="en-US" sz="2000" dirty="0"/>
              <a:t> </a:t>
            </a:r>
            <a:r>
              <a:rPr lang="en-US" altLang="zh-CN" sz="2000" dirty="0"/>
              <a:t>//</a:t>
            </a:r>
            <a:r>
              <a:rPr lang="zh-CN" altLang="en-US" sz="2000" dirty="0"/>
              <a:t>停止</a:t>
            </a:r>
            <a:r>
              <a:rPr lang="en-US" altLang="zh-CN" sz="2000" dirty="0"/>
              <a:t>7</a:t>
            </a:r>
            <a:r>
              <a:rPr lang="zh-CN" altLang="en-US" sz="2000" dirty="0"/>
              <a:t>号引脚发声</a:t>
            </a:r>
          </a:p>
          <a:p>
            <a:pPr marL="0" indent="0">
              <a:buNone/>
            </a:pPr>
            <a:r>
              <a:rPr lang="zh-CN" altLang="en-US" sz="2000" dirty="0"/>
              <a:t>  </a:t>
            </a:r>
            <a:r>
              <a:rPr lang="en-US" altLang="zh-CN" sz="2000" dirty="0"/>
              <a:t>tone(6,</a:t>
            </a:r>
            <a:r>
              <a:rPr lang="zh-CN" altLang="en-US" sz="2000" dirty="0"/>
              <a:t> </a:t>
            </a:r>
            <a:r>
              <a:rPr lang="en-US" altLang="zh-CN" sz="2000" dirty="0"/>
              <a:t>440,</a:t>
            </a:r>
            <a:r>
              <a:rPr lang="zh-CN" altLang="en-US" sz="2000" dirty="0"/>
              <a:t> </a:t>
            </a:r>
            <a:r>
              <a:rPr lang="en-US" altLang="zh-CN" sz="2000" dirty="0"/>
              <a:t>200);</a:t>
            </a:r>
            <a:r>
              <a:rPr lang="zh-CN" altLang="en-US" sz="2000" dirty="0"/>
              <a:t>  </a:t>
            </a:r>
            <a:r>
              <a:rPr lang="en-US" altLang="zh-CN" sz="2000" dirty="0"/>
              <a:t>//6</a:t>
            </a:r>
            <a:r>
              <a:rPr lang="zh-CN" altLang="en-US" sz="2000" dirty="0"/>
              <a:t>号引脚发声</a:t>
            </a:r>
            <a:r>
              <a:rPr lang="en-US" altLang="zh-CN" sz="2000" dirty="0"/>
              <a:t>200</a:t>
            </a:r>
            <a:r>
              <a:rPr lang="zh-CN" altLang="en-US" sz="2000" dirty="0"/>
              <a:t>毫秒</a:t>
            </a:r>
          </a:p>
          <a:p>
            <a:pPr marL="0" indent="0">
              <a:buNone/>
            </a:pPr>
            <a:r>
              <a:rPr lang="zh-CN" altLang="en-US" sz="2000" dirty="0"/>
              <a:t>  </a:t>
            </a:r>
            <a:r>
              <a:rPr lang="en-US" altLang="zh-CN" sz="2000" dirty="0"/>
              <a:t>delay(200);</a:t>
            </a:r>
            <a:endParaRPr lang="zh-CN" altLang="en-US" sz="2000" dirty="0"/>
          </a:p>
          <a:p>
            <a:pPr marL="0" indent="0">
              <a:buNone/>
            </a:pPr>
            <a:r>
              <a:rPr lang="zh-CN" altLang="en-US" sz="2000" dirty="0"/>
              <a:t> </a:t>
            </a:r>
          </a:p>
          <a:p>
            <a:pPr marL="0" indent="0">
              <a:buNone/>
            </a:pPr>
            <a:r>
              <a:rPr lang="zh-CN" altLang="en-US" sz="2000" dirty="0"/>
              <a:t>  </a:t>
            </a:r>
            <a:r>
              <a:rPr lang="en-US" altLang="zh-CN" sz="2000" dirty="0" err="1"/>
              <a:t>noTone</a:t>
            </a:r>
            <a:r>
              <a:rPr lang="en-US" altLang="zh-CN" sz="2000" dirty="0"/>
              <a:t>(6);</a:t>
            </a:r>
            <a:r>
              <a:rPr lang="zh-CN" altLang="en-US" sz="2000" dirty="0"/>
              <a:t>   </a:t>
            </a:r>
            <a:r>
              <a:rPr lang="en-US" altLang="zh-CN" sz="2000" dirty="0"/>
              <a:t>//</a:t>
            </a:r>
            <a:r>
              <a:rPr lang="zh-CN" altLang="en-US" sz="2000" dirty="0"/>
              <a:t>停止</a:t>
            </a:r>
            <a:r>
              <a:rPr lang="en-US" altLang="zh-CN" sz="2000" dirty="0"/>
              <a:t>6</a:t>
            </a:r>
            <a:r>
              <a:rPr lang="zh-CN" altLang="en-US" sz="2000" dirty="0"/>
              <a:t>号引脚发声</a:t>
            </a:r>
          </a:p>
          <a:p>
            <a:pPr marL="0" indent="0">
              <a:buNone/>
            </a:pPr>
            <a:r>
              <a:rPr lang="zh-CN" altLang="en-US" sz="2000" dirty="0"/>
              <a:t>  </a:t>
            </a:r>
            <a:r>
              <a:rPr lang="en-US" altLang="zh-CN" sz="2000" dirty="0"/>
              <a:t>tone(7,</a:t>
            </a:r>
            <a:r>
              <a:rPr lang="zh-CN" altLang="en-US" sz="2000" dirty="0"/>
              <a:t> </a:t>
            </a:r>
            <a:r>
              <a:rPr lang="en-US" altLang="zh-CN" sz="2000" dirty="0"/>
              <a:t>494,</a:t>
            </a:r>
            <a:r>
              <a:rPr lang="zh-CN" altLang="en-US" sz="2000" dirty="0"/>
              <a:t> </a:t>
            </a:r>
            <a:r>
              <a:rPr lang="en-US" altLang="zh-CN" sz="2000" dirty="0"/>
              <a:t>500);</a:t>
            </a:r>
            <a:r>
              <a:rPr lang="zh-CN" altLang="en-US" sz="2000" dirty="0"/>
              <a:t> </a:t>
            </a:r>
            <a:r>
              <a:rPr lang="en-US" altLang="zh-CN" sz="2000" dirty="0"/>
              <a:t>//7</a:t>
            </a:r>
            <a:r>
              <a:rPr lang="zh-CN" altLang="en-US" sz="2000" dirty="0"/>
              <a:t>号引脚发声</a:t>
            </a:r>
            <a:r>
              <a:rPr lang="en-US" altLang="zh-CN" sz="2000" dirty="0"/>
              <a:t>500</a:t>
            </a:r>
            <a:r>
              <a:rPr lang="zh-CN" altLang="en-US" sz="2000" dirty="0"/>
              <a:t>毫秒</a:t>
            </a:r>
          </a:p>
          <a:p>
            <a:pPr marL="0" indent="0">
              <a:buNone/>
            </a:pPr>
            <a:r>
              <a:rPr lang="zh-CN" altLang="en-US" sz="2000" dirty="0"/>
              <a:t>  </a:t>
            </a:r>
            <a:r>
              <a:rPr lang="en-US" altLang="zh-CN" sz="2000" dirty="0"/>
              <a:t>delay(500);</a:t>
            </a:r>
            <a:endParaRPr lang="zh-CN" altLang="en-US" sz="2000" dirty="0"/>
          </a:p>
          <a:p>
            <a:pPr marL="0" indent="0">
              <a:buNone/>
            </a:pPr>
            <a:r>
              <a:rPr lang="en-US" altLang="zh-CN" sz="2000" dirty="0"/>
              <a:t>}</a:t>
            </a:r>
            <a:endParaRPr lang="zh-CN" altLang="en-US" sz="2000" dirty="0"/>
          </a:p>
        </p:txBody>
      </p:sp>
    </p:spTree>
  </p:cSld>
  <p:clrMapOvr>
    <a:masterClrMapping/>
  </p:clrMapOvr>
  <p:transition>
    <p:cover dir="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读取移位寄存器</a:t>
            </a:r>
          </a:p>
        </p:txBody>
      </p:sp>
      <p:sp>
        <p:nvSpPr>
          <p:cNvPr id="3" name="内容占位符 2"/>
          <p:cNvSpPr>
            <a:spLocks noGrp="1"/>
          </p:cNvSpPr>
          <p:nvPr>
            <p:ph idx="1"/>
          </p:nvPr>
        </p:nvSpPr>
        <p:spPr/>
        <p:txBody>
          <a:bodyPr/>
          <a:lstStyle/>
          <a:p>
            <a:pPr marL="0" indent="0" algn="just">
              <a:buNone/>
            </a:pPr>
            <a:r>
              <a:rPr lang="zh-CN" altLang="en-US" dirty="0"/>
              <a:t>有时候</a:t>
            </a:r>
            <a:r>
              <a:rPr lang="en-US" altLang="zh-CN" dirty="0" err="1"/>
              <a:t>Arduino</a:t>
            </a:r>
            <a:r>
              <a:rPr lang="en-US" altLang="zh-CN" dirty="0"/>
              <a:t> UNO</a:t>
            </a:r>
            <a:r>
              <a:rPr lang="zh-CN" altLang="en-US" dirty="0"/>
              <a:t>的针脚不够用，如果需要驱动很多</a:t>
            </a:r>
            <a:r>
              <a:rPr lang="en-US" altLang="zh-CN" dirty="0"/>
              <a:t>LED</a:t>
            </a:r>
            <a:r>
              <a:rPr lang="zh-CN" altLang="en-US" dirty="0"/>
              <a:t>的时候。有一个简单的技术是使用移位寄存器芯片，这个芯片每次读取一位数据，当读取足够的时候，它将这些位全部锁存到输出针脚上。</a:t>
            </a:r>
          </a:p>
        </p:txBody>
      </p:sp>
      <p:pic>
        <p:nvPicPr>
          <p:cNvPr id="5" name="图片 4">
            <a:extLst>
              <a:ext uri="{FF2B5EF4-FFF2-40B4-BE49-F238E27FC236}">
                <a16:creationId xmlns:a16="http://schemas.microsoft.com/office/drawing/2014/main" id="{DFBE55CD-CCB8-40D5-B5C2-E1B2169447F3}"/>
              </a:ext>
            </a:extLst>
          </p:cNvPr>
          <p:cNvPicPr>
            <a:picLocks noChangeAspect="1"/>
          </p:cNvPicPr>
          <p:nvPr/>
        </p:nvPicPr>
        <p:blipFill rotWithShape="1">
          <a:blip r:embed="rId2"/>
          <a:srcRect t="18494" r="3037" b="9868"/>
          <a:stretch/>
        </p:blipFill>
        <p:spPr>
          <a:xfrm>
            <a:off x="880533" y="4617741"/>
            <a:ext cx="4714240" cy="1959165"/>
          </a:xfrm>
          <a:prstGeom prst="rect">
            <a:avLst/>
          </a:prstGeom>
        </p:spPr>
      </p:pic>
    </p:spTree>
  </p:cSld>
  <p:clrMapOvr>
    <a:masterClrMapping/>
  </p:clrMapOvr>
  <p:transition>
    <p:cover dir="d"/>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读取移位寄存器</a:t>
            </a:r>
          </a:p>
        </p:txBody>
      </p:sp>
      <p:sp>
        <p:nvSpPr>
          <p:cNvPr id="3" name="内容占位符 2"/>
          <p:cNvSpPr>
            <a:spLocks noGrp="1"/>
          </p:cNvSpPr>
          <p:nvPr>
            <p:ph idx="1"/>
          </p:nvPr>
        </p:nvSpPr>
        <p:spPr>
          <a:xfrm>
            <a:off x="685800" y="1981200"/>
            <a:ext cx="7772400" cy="4500282"/>
          </a:xfrm>
        </p:spPr>
        <p:txBody>
          <a:bodyPr/>
          <a:lstStyle/>
          <a:p>
            <a:pPr marL="0" indent="0">
              <a:buNone/>
            </a:pPr>
            <a:r>
              <a:rPr lang="en-US" altLang="zh-CN" sz="2000" dirty="0" err="1"/>
              <a:t>shiftOut</a:t>
            </a:r>
            <a:r>
              <a:rPr lang="en-US" altLang="zh-CN" sz="2000" dirty="0"/>
              <a:t>(</a:t>
            </a:r>
            <a:r>
              <a:rPr lang="en-US" altLang="zh-CN" sz="2000" dirty="0" err="1"/>
              <a:t>dataPin</a:t>
            </a:r>
            <a:r>
              <a:rPr lang="en-US" altLang="zh-CN" sz="2000" dirty="0"/>
              <a:t>, </a:t>
            </a:r>
            <a:r>
              <a:rPr lang="en-US" altLang="zh-CN" sz="2000" dirty="0" err="1"/>
              <a:t>clockPin</a:t>
            </a:r>
            <a:r>
              <a:rPr lang="en-US" altLang="zh-CN" sz="2000" dirty="0"/>
              <a:t>, </a:t>
            </a:r>
            <a:r>
              <a:rPr lang="en-US" altLang="zh-CN" sz="2000" dirty="0" err="1"/>
              <a:t>bitOrder</a:t>
            </a:r>
            <a:r>
              <a:rPr lang="en-US" altLang="zh-CN" sz="2000" dirty="0"/>
              <a:t>, value)</a:t>
            </a:r>
          </a:p>
          <a:p>
            <a:pPr marL="514350" indent="-514350">
              <a:buFont typeface="+mj-ea"/>
              <a:buAutoNum type="circleNumDbPlain"/>
            </a:pPr>
            <a:r>
              <a:rPr lang="en-US" altLang="zh-CN" sz="2000" dirty="0" err="1"/>
              <a:t>dataPin</a:t>
            </a:r>
            <a:r>
              <a:rPr lang="zh-CN" altLang="en-US" sz="2000" dirty="0"/>
              <a:t>：数据针脚号；</a:t>
            </a:r>
            <a:endParaRPr lang="en-US" altLang="zh-CN" sz="2000" dirty="0"/>
          </a:p>
          <a:p>
            <a:pPr marL="514350" indent="-514350">
              <a:buFont typeface="+mj-ea"/>
              <a:buAutoNum type="circleNumDbPlain"/>
            </a:pPr>
            <a:r>
              <a:rPr lang="en-US" altLang="zh-CN" sz="2000" dirty="0" err="1"/>
              <a:t>clockPin</a:t>
            </a:r>
            <a:r>
              <a:rPr lang="zh-CN" altLang="en-US" sz="2000" dirty="0"/>
              <a:t>：时钟针脚号；</a:t>
            </a:r>
            <a:endParaRPr lang="en-US" altLang="zh-CN" sz="2000" dirty="0"/>
          </a:p>
          <a:p>
            <a:pPr marL="514350" indent="-514350">
              <a:buFont typeface="+mj-ea"/>
              <a:buAutoNum type="circleNumDbPlain"/>
            </a:pPr>
            <a:r>
              <a:rPr lang="en-US" altLang="zh-CN" sz="2000" dirty="0" err="1"/>
              <a:t>bitOrder</a:t>
            </a:r>
            <a:r>
              <a:rPr lang="zh-CN" altLang="en-US" sz="2000" dirty="0"/>
              <a:t>：移位顺序 </a:t>
            </a:r>
            <a:r>
              <a:rPr lang="en-US" altLang="zh-CN" sz="2000" dirty="0"/>
              <a:t>( </a:t>
            </a:r>
            <a:r>
              <a:rPr lang="zh-CN" altLang="en-US" sz="2000" dirty="0"/>
              <a:t>高位先出</a:t>
            </a:r>
            <a:r>
              <a:rPr lang="en-GB" altLang="zh-CN" sz="2000" dirty="0"/>
              <a:t>MSBFIRST </a:t>
            </a:r>
            <a:r>
              <a:rPr lang="zh-CN" altLang="en-US" sz="2000" dirty="0"/>
              <a:t>或 低位先出</a:t>
            </a:r>
            <a:r>
              <a:rPr lang="en-GB" altLang="zh-CN" sz="2000" dirty="0"/>
              <a:t>LSBFIRST)</a:t>
            </a:r>
            <a:r>
              <a:rPr lang="zh-CN" altLang="en-US" sz="2000" dirty="0"/>
              <a:t>；</a:t>
            </a:r>
            <a:endParaRPr lang="en-US" altLang="zh-CN" sz="2000" dirty="0"/>
          </a:p>
          <a:p>
            <a:pPr marL="514350" indent="-514350">
              <a:buFont typeface="+mj-ea"/>
              <a:buAutoNum type="circleNumDbPlain"/>
            </a:pPr>
            <a:r>
              <a:rPr lang="en-US" altLang="zh-CN" sz="2000" dirty="0"/>
              <a:t>value</a:t>
            </a:r>
            <a:r>
              <a:rPr lang="zh-CN" altLang="en-US" sz="2000" dirty="0"/>
              <a:t>：发送的数据</a:t>
            </a:r>
            <a:r>
              <a:rPr lang="zh-CN" altLang="en-US" dirty="0"/>
              <a:t>。</a:t>
            </a:r>
          </a:p>
        </p:txBody>
      </p:sp>
      <p:pic>
        <p:nvPicPr>
          <p:cNvPr id="4" name="图片 3">
            <a:extLst>
              <a:ext uri="{FF2B5EF4-FFF2-40B4-BE49-F238E27FC236}">
                <a16:creationId xmlns:a16="http://schemas.microsoft.com/office/drawing/2014/main" id="{30563626-0FB7-463F-9EC7-DBAC0041B756}"/>
              </a:ext>
            </a:extLst>
          </p:cNvPr>
          <p:cNvPicPr>
            <a:picLocks noChangeAspect="1"/>
          </p:cNvPicPr>
          <p:nvPr/>
        </p:nvPicPr>
        <p:blipFill rotWithShape="1">
          <a:blip r:embed="rId2"/>
          <a:srcRect t="18494" r="3037" b="9868"/>
          <a:stretch/>
        </p:blipFill>
        <p:spPr>
          <a:xfrm>
            <a:off x="900854" y="4703255"/>
            <a:ext cx="4714240" cy="1959165"/>
          </a:xfrm>
          <a:prstGeom prst="rect">
            <a:avLst/>
          </a:prstGeom>
        </p:spPr>
      </p:pic>
      <p:graphicFrame>
        <p:nvGraphicFramePr>
          <p:cNvPr id="5" name="表格 4">
            <a:extLst>
              <a:ext uri="{FF2B5EF4-FFF2-40B4-BE49-F238E27FC236}">
                <a16:creationId xmlns:a16="http://schemas.microsoft.com/office/drawing/2014/main" id="{BA5E3769-110F-444D-997E-FECEA2F914BF}"/>
              </a:ext>
            </a:extLst>
          </p:cNvPr>
          <p:cNvGraphicFramePr>
            <a:graphicFrameLocks noGrp="1"/>
          </p:cNvGraphicFramePr>
          <p:nvPr>
            <p:extLst>
              <p:ext uri="{D42A27DB-BD31-4B8C-83A1-F6EECF244321}">
                <p14:modId xmlns:p14="http://schemas.microsoft.com/office/powerpoint/2010/main" val="910401407"/>
              </p:ext>
            </p:extLst>
          </p:nvPr>
        </p:nvGraphicFramePr>
        <p:xfrm>
          <a:off x="5926667" y="4712590"/>
          <a:ext cx="2926080" cy="1215577"/>
        </p:xfrm>
        <a:graphic>
          <a:graphicData uri="http://schemas.openxmlformats.org/drawingml/2006/table">
            <a:tbl>
              <a:tblPr>
                <a:tableStyleId>{5940675A-B579-460E-94D1-54222C63F5DA}</a:tableStyleId>
              </a:tblPr>
              <a:tblGrid>
                <a:gridCol w="1463040">
                  <a:extLst>
                    <a:ext uri="{9D8B030D-6E8A-4147-A177-3AD203B41FA5}">
                      <a16:colId xmlns:a16="http://schemas.microsoft.com/office/drawing/2014/main" val="1009102642"/>
                    </a:ext>
                  </a:extLst>
                </a:gridCol>
                <a:gridCol w="1463040">
                  <a:extLst>
                    <a:ext uri="{9D8B030D-6E8A-4147-A177-3AD203B41FA5}">
                      <a16:colId xmlns:a16="http://schemas.microsoft.com/office/drawing/2014/main" val="786756218"/>
                    </a:ext>
                  </a:extLst>
                </a:gridCol>
              </a:tblGrid>
              <a:tr h="268098">
                <a:tc>
                  <a:txBody>
                    <a:bodyPr/>
                    <a:lstStyle/>
                    <a:p>
                      <a:pPr fontAlgn="ctr" latinLnBrk="0"/>
                      <a:r>
                        <a:rPr lang="en-GB" b="0" dirty="0">
                          <a:solidFill>
                            <a:schemeClr val="tx1"/>
                          </a:solidFill>
                          <a:effectLst/>
                        </a:rPr>
                        <a:t>DS</a:t>
                      </a:r>
                    </a:p>
                  </a:txBody>
                  <a:tcPr marL="50800" marR="50800" marT="50800" marB="50800" anchor="ctr"/>
                </a:tc>
                <a:tc>
                  <a:txBody>
                    <a:bodyPr/>
                    <a:lstStyle/>
                    <a:p>
                      <a:pPr fontAlgn="ctr" latinLnBrk="0"/>
                      <a:r>
                        <a:rPr lang="zh-CN" altLang="en-US" b="0" dirty="0">
                          <a:solidFill>
                            <a:schemeClr val="tx1"/>
                          </a:solidFill>
                          <a:effectLst/>
                        </a:rPr>
                        <a:t>串行输入</a:t>
                      </a:r>
                    </a:p>
                  </a:txBody>
                  <a:tcPr marL="50800" marR="50800" marT="50800" marB="50800" anchor="ctr"/>
                </a:tc>
                <a:extLst>
                  <a:ext uri="{0D108BD9-81ED-4DB2-BD59-A6C34878D82A}">
                    <a16:rowId xmlns:a16="http://schemas.microsoft.com/office/drawing/2014/main" val="1570203412"/>
                  </a:ext>
                </a:extLst>
              </a:tr>
              <a:tr h="268098">
                <a:tc>
                  <a:txBody>
                    <a:bodyPr/>
                    <a:lstStyle/>
                    <a:p>
                      <a:pPr fontAlgn="ctr" latinLnBrk="0"/>
                      <a:r>
                        <a:rPr lang="en-GB" b="0" dirty="0">
                          <a:solidFill>
                            <a:schemeClr val="tx1"/>
                          </a:solidFill>
                          <a:effectLst/>
                        </a:rPr>
                        <a:t>SHCP</a:t>
                      </a:r>
                    </a:p>
                  </a:txBody>
                  <a:tcPr marL="50800" marR="50800" marT="50800" marB="50800" anchor="ctr"/>
                </a:tc>
                <a:tc>
                  <a:txBody>
                    <a:bodyPr/>
                    <a:lstStyle/>
                    <a:p>
                      <a:pPr fontAlgn="ctr" latinLnBrk="0"/>
                      <a:r>
                        <a:rPr lang="zh-CN" altLang="en-US" b="0" dirty="0">
                          <a:solidFill>
                            <a:schemeClr val="tx1"/>
                          </a:solidFill>
                          <a:effectLst/>
                        </a:rPr>
                        <a:t>串行时钟</a:t>
                      </a:r>
                    </a:p>
                  </a:txBody>
                  <a:tcPr marL="50800" marR="50800" marT="50800" marB="50800" anchor="ctr"/>
                </a:tc>
                <a:extLst>
                  <a:ext uri="{0D108BD9-81ED-4DB2-BD59-A6C34878D82A}">
                    <a16:rowId xmlns:a16="http://schemas.microsoft.com/office/drawing/2014/main" val="3455684184"/>
                  </a:ext>
                </a:extLst>
              </a:tr>
              <a:tr h="463737">
                <a:tc>
                  <a:txBody>
                    <a:bodyPr/>
                    <a:lstStyle/>
                    <a:p>
                      <a:pPr fontAlgn="ctr" latinLnBrk="0"/>
                      <a:r>
                        <a:rPr lang="en-GB" b="0" dirty="0">
                          <a:solidFill>
                            <a:schemeClr val="tx1"/>
                          </a:solidFill>
                          <a:effectLst/>
                        </a:rPr>
                        <a:t>STCP</a:t>
                      </a:r>
                    </a:p>
                  </a:txBody>
                  <a:tcPr marL="50800" marR="50800" marT="50800" marB="50800" anchor="ctr"/>
                </a:tc>
                <a:tc>
                  <a:txBody>
                    <a:bodyPr/>
                    <a:lstStyle/>
                    <a:p>
                      <a:pPr fontAlgn="ctr" latinLnBrk="0"/>
                      <a:r>
                        <a:rPr lang="zh-CN" altLang="en-US" b="0" dirty="0">
                          <a:solidFill>
                            <a:schemeClr val="tx1"/>
                          </a:solidFill>
                          <a:effectLst/>
                        </a:rPr>
                        <a:t>存储引脚</a:t>
                      </a:r>
                    </a:p>
                  </a:txBody>
                  <a:tcPr marL="50800" marR="50800" marT="50800" marB="50800" anchor="ctr"/>
                </a:tc>
                <a:extLst>
                  <a:ext uri="{0D108BD9-81ED-4DB2-BD59-A6C34878D82A}">
                    <a16:rowId xmlns:a16="http://schemas.microsoft.com/office/drawing/2014/main" val="193416657"/>
                  </a:ext>
                </a:extLst>
              </a:tr>
            </a:tbl>
          </a:graphicData>
        </a:graphic>
      </p:graphicFrame>
    </p:spTree>
  </p:cSld>
  <p:clrMapOvr>
    <a:masterClrMapping/>
  </p:clrMapOvr>
  <p:transition>
    <p:cover dir="d"/>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移位寄存器</a:t>
            </a:r>
            <a:r>
              <a:rPr lang="en-US" altLang="zh-CN" dirty="0"/>
              <a:t>-</a:t>
            </a:r>
            <a:r>
              <a:rPr lang="zh-CN" altLang="en-US" dirty="0"/>
              <a:t>交替闪灯程序</a:t>
            </a:r>
          </a:p>
        </p:txBody>
      </p:sp>
      <p:sp>
        <p:nvSpPr>
          <p:cNvPr id="3" name="内容占位符 2"/>
          <p:cNvSpPr>
            <a:spLocks noGrp="1"/>
          </p:cNvSpPr>
          <p:nvPr>
            <p:ph idx="1"/>
          </p:nvPr>
        </p:nvSpPr>
        <p:spPr>
          <a:xfrm>
            <a:off x="685800" y="1510420"/>
            <a:ext cx="7772400" cy="4737980"/>
          </a:xfrm>
        </p:spPr>
        <p:txBody>
          <a:bodyPr/>
          <a:lstStyle/>
          <a:p>
            <a:pPr marL="0" indent="0">
              <a:buNone/>
            </a:pPr>
            <a:r>
              <a:rPr lang="en-US" altLang="zh-CN" sz="1400" dirty="0"/>
              <a:t>const int </a:t>
            </a:r>
            <a:r>
              <a:rPr lang="en-US" altLang="zh-CN" sz="1400" dirty="0" err="1"/>
              <a:t>dataPin</a:t>
            </a:r>
            <a:r>
              <a:rPr lang="en-US" altLang="zh-CN" sz="1400" dirty="0"/>
              <a:t> = 2;   /* DS </a:t>
            </a:r>
            <a:r>
              <a:rPr lang="zh-CN" altLang="en-US" sz="1400" dirty="0"/>
              <a:t>数据引脚</a:t>
            </a:r>
            <a:r>
              <a:rPr lang="en-US" altLang="zh-CN" sz="1400" dirty="0"/>
              <a:t> */</a:t>
            </a:r>
          </a:p>
          <a:p>
            <a:pPr marL="0" indent="0">
              <a:buNone/>
            </a:pPr>
            <a:r>
              <a:rPr lang="en-US" altLang="zh-CN" sz="1400" dirty="0"/>
              <a:t>const int </a:t>
            </a:r>
            <a:r>
              <a:rPr lang="en-US" altLang="zh-CN" sz="1400" dirty="0" err="1"/>
              <a:t>clockPin</a:t>
            </a:r>
            <a:r>
              <a:rPr lang="en-US" altLang="zh-CN" sz="1400" dirty="0"/>
              <a:t> = 3;  /* SHCP </a:t>
            </a:r>
            <a:r>
              <a:rPr lang="zh-CN" altLang="en-US" sz="1400" dirty="0"/>
              <a:t>时钟引脚</a:t>
            </a:r>
            <a:r>
              <a:rPr lang="en-US" altLang="zh-CN" sz="1400" dirty="0"/>
              <a:t> */</a:t>
            </a:r>
          </a:p>
          <a:p>
            <a:pPr marL="0" indent="0">
              <a:buNone/>
            </a:pPr>
            <a:r>
              <a:rPr lang="en-US" altLang="zh-CN" sz="1400" dirty="0"/>
              <a:t>const int </a:t>
            </a:r>
            <a:r>
              <a:rPr lang="en-US" altLang="zh-CN" sz="1400" dirty="0" err="1"/>
              <a:t>latchPin</a:t>
            </a:r>
            <a:r>
              <a:rPr lang="en-US" altLang="zh-CN" sz="1400" dirty="0"/>
              <a:t> = 4;  /* STCP </a:t>
            </a:r>
            <a:r>
              <a:rPr lang="zh-CN" altLang="en-US" sz="1400" dirty="0"/>
              <a:t>存储引脚</a:t>
            </a:r>
            <a:r>
              <a:rPr lang="en-US" altLang="zh-CN" sz="1400" dirty="0"/>
              <a:t>*/</a:t>
            </a:r>
          </a:p>
          <a:p>
            <a:pPr marL="0" indent="0">
              <a:buNone/>
            </a:pPr>
            <a:endParaRPr lang="en-US" altLang="zh-CN" sz="1400" dirty="0"/>
          </a:p>
          <a:p>
            <a:pPr marL="0" indent="0">
              <a:buNone/>
            </a:pPr>
            <a:r>
              <a:rPr lang="en-US" altLang="zh-CN" sz="1400" dirty="0"/>
              <a:t>void setup() {</a:t>
            </a:r>
          </a:p>
          <a:p>
            <a:pPr marL="0" indent="0">
              <a:buNone/>
            </a:pPr>
            <a:r>
              <a:rPr lang="en-US" altLang="zh-CN" sz="1400" dirty="0"/>
              <a:t>  </a:t>
            </a:r>
            <a:r>
              <a:rPr lang="en-US" altLang="zh-CN" sz="1400" dirty="0" err="1"/>
              <a:t>pinMode</a:t>
            </a:r>
            <a:r>
              <a:rPr lang="en-US" altLang="zh-CN" sz="1400" dirty="0"/>
              <a:t>(</a:t>
            </a:r>
            <a:r>
              <a:rPr lang="en-US" altLang="zh-CN" sz="1400" dirty="0" err="1"/>
              <a:t>dataPin</a:t>
            </a:r>
            <a:r>
              <a:rPr lang="en-US" altLang="zh-CN" sz="1400" dirty="0"/>
              <a:t>, OUTPUT);</a:t>
            </a:r>
          </a:p>
          <a:p>
            <a:pPr marL="0" indent="0">
              <a:buNone/>
            </a:pPr>
            <a:r>
              <a:rPr lang="en-US" altLang="zh-CN" sz="1400" dirty="0"/>
              <a:t>  </a:t>
            </a:r>
            <a:r>
              <a:rPr lang="en-US" altLang="zh-CN" sz="1400" dirty="0" err="1"/>
              <a:t>pinMode</a:t>
            </a:r>
            <a:r>
              <a:rPr lang="en-US" altLang="zh-CN" sz="1400" dirty="0"/>
              <a:t>(</a:t>
            </a:r>
            <a:r>
              <a:rPr lang="en-US" altLang="zh-CN" sz="1400" dirty="0" err="1"/>
              <a:t>clockPin</a:t>
            </a:r>
            <a:r>
              <a:rPr lang="en-US" altLang="zh-CN" sz="1400" dirty="0"/>
              <a:t>, OUTPUT);</a:t>
            </a:r>
          </a:p>
          <a:p>
            <a:pPr marL="0" indent="0">
              <a:buNone/>
            </a:pPr>
            <a:r>
              <a:rPr lang="en-US" altLang="zh-CN" sz="1400" dirty="0"/>
              <a:t>  </a:t>
            </a:r>
            <a:r>
              <a:rPr lang="en-US" altLang="zh-CN" sz="1400" dirty="0" err="1"/>
              <a:t>pinMode</a:t>
            </a:r>
            <a:r>
              <a:rPr lang="en-US" altLang="zh-CN" sz="1400" dirty="0"/>
              <a:t>(</a:t>
            </a:r>
            <a:r>
              <a:rPr lang="en-US" altLang="zh-CN" sz="1400" dirty="0" err="1"/>
              <a:t>latchPin</a:t>
            </a:r>
            <a:r>
              <a:rPr lang="en-US" altLang="zh-CN" sz="1400" dirty="0"/>
              <a:t>, OUTPUT);</a:t>
            </a:r>
          </a:p>
          <a:p>
            <a:pPr marL="0" indent="0">
              <a:buNone/>
            </a:pPr>
            <a:r>
              <a:rPr lang="en-US" altLang="zh-CN" sz="1400" dirty="0"/>
              <a:t>}</a:t>
            </a:r>
          </a:p>
          <a:p>
            <a:pPr marL="0" indent="0">
              <a:buNone/>
            </a:pPr>
            <a:endParaRPr lang="en-US" altLang="zh-CN" sz="1400" dirty="0"/>
          </a:p>
          <a:p>
            <a:pPr marL="0" indent="0">
              <a:buNone/>
            </a:pPr>
            <a:r>
              <a:rPr lang="en-US" altLang="zh-CN" sz="1400" dirty="0"/>
              <a:t>int pattern = 0b10101010;//</a:t>
            </a:r>
            <a:r>
              <a:rPr lang="zh-CN" altLang="en-US" sz="1400" dirty="0"/>
              <a:t>交替亮灯</a:t>
            </a:r>
            <a:endParaRPr lang="en-US" altLang="zh-CN" sz="1400" dirty="0"/>
          </a:p>
          <a:p>
            <a:pPr marL="0" indent="0">
              <a:buNone/>
            </a:pPr>
            <a:r>
              <a:rPr lang="en-US" altLang="zh-CN" sz="1400" dirty="0"/>
              <a:t>void loop() {</a:t>
            </a:r>
          </a:p>
          <a:p>
            <a:pPr marL="0" indent="0">
              <a:buNone/>
            </a:pPr>
            <a:r>
              <a:rPr lang="en-US" altLang="zh-CN" sz="1400" dirty="0"/>
              <a:t>  </a:t>
            </a:r>
            <a:r>
              <a:rPr lang="en-US" altLang="zh-CN" sz="1400" dirty="0" err="1"/>
              <a:t>digitalWrite</a:t>
            </a:r>
            <a:r>
              <a:rPr lang="en-US" altLang="zh-CN" sz="1400" dirty="0"/>
              <a:t>(</a:t>
            </a:r>
            <a:r>
              <a:rPr lang="en-US" altLang="zh-CN" sz="1400" dirty="0" err="1"/>
              <a:t>latchPin</a:t>
            </a:r>
            <a:r>
              <a:rPr lang="en-US" altLang="zh-CN" sz="1400" dirty="0"/>
              <a:t>, LOW);</a:t>
            </a:r>
          </a:p>
          <a:p>
            <a:pPr marL="0" indent="0">
              <a:buNone/>
            </a:pPr>
            <a:r>
              <a:rPr lang="en-US" altLang="zh-CN" sz="1400" dirty="0"/>
              <a:t>  </a:t>
            </a:r>
            <a:r>
              <a:rPr lang="en-US" altLang="zh-CN" sz="1400" dirty="0" err="1"/>
              <a:t>shiftOut</a:t>
            </a:r>
            <a:r>
              <a:rPr lang="en-US" altLang="zh-CN" sz="1400" dirty="0"/>
              <a:t>(</a:t>
            </a:r>
            <a:r>
              <a:rPr lang="en-US" altLang="zh-CN" sz="1400" dirty="0" err="1"/>
              <a:t>dataPin</a:t>
            </a:r>
            <a:r>
              <a:rPr lang="en-US" altLang="zh-CN" sz="1400" dirty="0"/>
              <a:t>, </a:t>
            </a:r>
            <a:r>
              <a:rPr lang="en-US" altLang="zh-CN" sz="1400" dirty="0" err="1"/>
              <a:t>clockPin</a:t>
            </a:r>
            <a:r>
              <a:rPr lang="en-US" altLang="zh-CN" sz="1400" dirty="0"/>
              <a:t>, LSBFIRST, pattern);</a:t>
            </a:r>
          </a:p>
          <a:p>
            <a:pPr marL="0" indent="0">
              <a:buNone/>
            </a:pPr>
            <a:r>
              <a:rPr lang="en-US" altLang="zh-CN" sz="1400" dirty="0"/>
              <a:t>  </a:t>
            </a:r>
            <a:r>
              <a:rPr lang="en-US" altLang="zh-CN" sz="1400" dirty="0" err="1"/>
              <a:t>digitalWrite</a:t>
            </a:r>
            <a:r>
              <a:rPr lang="en-US" altLang="zh-CN" sz="1400" dirty="0"/>
              <a:t>(</a:t>
            </a:r>
            <a:r>
              <a:rPr lang="en-US" altLang="zh-CN" sz="1400" dirty="0" err="1"/>
              <a:t>latchPin</a:t>
            </a:r>
            <a:r>
              <a:rPr lang="en-US" altLang="zh-CN" sz="1400" dirty="0"/>
              <a:t>, HIGH);</a:t>
            </a:r>
          </a:p>
          <a:p>
            <a:pPr marL="0" indent="0">
              <a:buNone/>
            </a:pPr>
            <a:r>
              <a:rPr lang="en-US" altLang="zh-CN" sz="1400" dirty="0"/>
              <a:t>  delay(500);</a:t>
            </a:r>
          </a:p>
          <a:p>
            <a:pPr marL="0" indent="0">
              <a:buNone/>
            </a:pPr>
            <a:r>
              <a:rPr lang="en-US" altLang="zh-CN" sz="1400" dirty="0"/>
              <a:t>  pattern = ~pattern; // </a:t>
            </a:r>
            <a:r>
              <a:rPr lang="zh-CN" altLang="en-US" sz="1400" dirty="0"/>
              <a:t>反转</a:t>
            </a:r>
            <a:endParaRPr lang="en-US" altLang="zh-CN" sz="1400" dirty="0"/>
          </a:p>
          <a:p>
            <a:pPr marL="0" indent="0">
              <a:buNone/>
            </a:pPr>
            <a:r>
              <a:rPr lang="en-US" altLang="zh-CN" sz="1400" dirty="0"/>
              <a:t>}</a:t>
            </a:r>
          </a:p>
        </p:txBody>
      </p:sp>
      <p:pic>
        <p:nvPicPr>
          <p:cNvPr id="4" name="图片 3">
            <a:extLst>
              <a:ext uri="{FF2B5EF4-FFF2-40B4-BE49-F238E27FC236}">
                <a16:creationId xmlns:a16="http://schemas.microsoft.com/office/drawing/2014/main" id="{6362BBAF-D184-4DE0-A1C9-B919CC8ED194}"/>
              </a:ext>
            </a:extLst>
          </p:cNvPr>
          <p:cNvPicPr>
            <a:picLocks noChangeAspect="1"/>
          </p:cNvPicPr>
          <p:nvPr/>
        </p:nvPicPr>
        <p:blipFill rotWithShape="1">
          <a:blip r:embed="rId3"/>
          <a:srcRect t="18494" r="3037" b="9868"/>
          <a:stretch/>
        </p:blipFill>
        <p:spPr>
          <a:xfrm>
            <a:off x="3996267" y="2515468"/>
            <a:ext cx="4714240" cy="1959165"/>
          </a:xfrm>
          <a:prstGeom prst="rect">
            <a:avLst/>
          </a:prstGeom>
        </p:spPr>
      </p:pic>
    </p:spTree>
    <p:extLst>
      <p:ext uri="{BB962C8B-B14F-4D97-AF65-F5344CB8AC3E}">
        <p14:creationId xmlns:p14="http://schemas.microsoft.com/office/powerpoint/2010/main" val="969964381"/>
      </p:ext>
    </p:extLst>
  </p:cSld>
  <p:clrMapOvr>
    <a:masterClrMapping/>
  </p:clrMapOvr>
  <p:transition>
    <p:cover dir="d"/>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中断</a:t>
            </a:r>
          </a:p>
        </p:txBody>
      </p:sp>
      <p:sp>
        <p:nvSpPr>
          <p:cNvPr id="3" name="内容占位符 2"/>
          <p:cNvSpPr>
            <a:spLocks noGrp="1"/>
          </p:cNvSpPr>
          <p:nvPr>
            <p:ph idx="1"/>
          </p:nvPr>
        </p:nvSpPr>
        <p:spPr/>
        <p:txBody>
          <a:bodyPr/>
          <a:lstStyle/>
          <a:p>
            <a:pPr marL="0" indent="0" algn="just">
              <a:buNone/>
            </a:pPr>
            <a:r>
              <a:rPr lang="zh-CN" altLang="en-US" dirty="0"/>
              <a:t>一件可能让那些写“大程序”的程序员灰心的事情是，</a:t>
            </a:r>
            <a:r>
              <a:rPr lang="en-US" altLang="zh-CN" dirty="0"/>
              <a:t>Arduino</a:t>
            </a:r>
            <a:r>
              <a:rPr lang="zh-CN" altLang="en-US" dirty="0"/>
              <a:t>一次只能做一件事情，如果想在你程序中同时运行多个线程，是不行的。虽然有些人开发出了可以让</a:t>
            </a:r>
            <a:r>
              <a:rPr lang="en-US" altLang="zh-CN" dirty="0"/>
              <a:t>Arduino</a:t>
            </a:r>
            <a:r>
              <a:rPr lang="zh-CN" altLang="en-US" dirty="0"/>
              <a:t>在某些方面使用多线程的项目，但一般来说这种功能对于</a:t>
            </a:r>
            <a:r>
              <a:rPr lang="en-US" altLang="zh-CN" dirty="0"/>
              <a:t>Arduino</a:t>
            </a:r>
            <a:r>
              <a:rPr lang="zh-CN" altLang="en-US" dirty="0"/>
              <a:t>是没有必要的。</a:t>
            </a:r>
            <a:r>
              <a:rPr lang="en-US" altLang="zh-CN" dirty="0"/>
              <a:t>Arduino</a:t>
            </a:r>
            <a:r>
              <a:rPr lang="zh-CN" altLang="en-US" dirty="0"/>
              <a:t>所使用的近似方法是中断。</a:t>
            </a:r>
          </a:p>
        </p:txBody>
      </p:sp>
    </p:spTree>
  </p:cSld>
  <p:clrMapOvr>
    <a:masterClrMapping/>
  </p:clrMapOvr>
  <p:transition>
    <p:cover dir="d"/>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中断</a:t>
            </a:r>
          </a:p>
        </p:txBody>
      </p:sp>
      <p:sp>
        <p:nvSpPr>
          <p:cNvPr id="3" name="内容占位符 2"/>
          <p:cNvSpPr>
            <a:spLocks noGrp="1"/>
          </p:cNvSpPr>
          <p:nvPr>
            <p:ph idx="1"/>
          </p:nvPr>
        </p:nvSpPr>
        <p:spPr/>
        <p:txBody>
          <a:bodyPr/>
          <a:lstStyle/>
          <a:p>
            <a:pPr marL="0" indent="0" algn="just">
              <a:buNone/>
            </a:pPr>
            <a:r>
              <a:rPr lang="en-US" altLang="zh-CN" dirty="0"/>
              <a:t>Arduino</a:t>
            </a:r>
            <a:r>
              <a:rPr lang="zh-CN" altLang="en-US" dirty="0"/>
              <a:t>上的</a:t>
            </a:r>
            <a:r>
              <a:rPr lang="en-US" altLang="zh-CN" dirty="0"/>
              <a:t>2</a:t>
            </a:r>
            <a:r>
              <a:rPr lang="zh-CN" altLang="en-US" dirty="0"/>
              <a:t>个针脚（</a:t>
            </a:r>
            <a:r>
              <a:rPr lang="en-US" altLang="zh-CN" dirty="0"/>
              <a:t>D2</a:t>
            </a:r>
            <a:r>
              <a:rPr lang="zh-CN" altLang="en-US" dirty="0"/>
              <a:t>和</a:t>
            </a:r>
            <a:r>
              <a:rPr lang="en-US" altLang="zh-CN" dirty="0"/>
              <a:t>D3</a:t>
            </a:r>
            <a:r>
              <a:rPr lang="zh-CN" altLang="en-US" dirty="0"/>
              <a:t>）可以附加中断。如果这两个针脚作为输入使用，通过某个特殊的方式收到信号的时候，</a:t>
            </a:r>
            <a:r>
              <a:rPr lang="en-US" altLang="zh-CN" dirty="0"/>
              <a:t>Arduino</a:t>
            </a:r>
            <a:r>
              <a:rPr lang="zh-CN" altLang="en-US" dirty="0"/>
              <a:t>处理器会停止正在做的任何事情并执行中断函数。</a:t>
            </a:r>
          </a:p>
        </p:txBody>
      </p:sp>
    </p:spTree>
  </p:cSld>
  <p:clrMapOvr>
    <a:masterClrMapping/>
  </p:clrMapOvr>
  <p:transition>
    <p:cover dir="d"/>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中断</a:t>
            </a:r>
          </a:p>
        </p:txBody>
      </p:sp>
      <p:sp>
        <p:nvSpPr>
          <p:cNvPr id="3" name="内容占位符 2"/>
          <p:cNvSpPr>
            <a:spLocks noGrp="1"/>
          </p:cNvSpPr>
          <p:nvPr>
            <p:ph idx="1"/>
          </p:nvPr>
        </p:nvSpPr>
        <p:spPr>
          <a:xfrm>
            <a:off x="685800" y="1752600"/>
            <a:ext cx="7772400" cy="4419600"/>
          </a:xfrm>
        </p:spPr>
        <p:txBody>
          <a:bodyPr/>
          <a:lstStyle/>
          <a:p>
            <a:pPr marL="0" indent="0">
              <a:buNone/>
            </a:pPr>
            <a:r>
              <a:rPr lang="en-US" altLang="zh-CN" dirty="0" err="1"/>
              <a:t>attachInterrupt</a:t>
            </a:r>
            <a:r>
              <a:rPr lang="en-US" altLang="zh-CN" dirty="0"/>
              <a:t>(</a:t>
            </a:r>
            <a:r>
              <a:rPr lang="en-US" altLang="zh-CN" dirty="0" err="1"/>
              <a:t>pin,ISR,mode</a:t>
            </a:r>
            <a:r>
              <a:rPr lang="en-US" altLang="zh-CN" dirty="0"/>
              <a:t>);</a:t>
            </a:r>
          </a:p>
          <a:p>
            <a:r>
              <a:rPr lang="en-US" altLang="zh-CN" dirty="0"/>
              <a:t>Pin</a:t>
            </a:r>
            <a:r>
              <a:rPr lang="zh-CN" altLang="en-US" dirty="0"/>
              <a:t>：中断引脚号。</a:t>
            </a:r>
            <a:r>
              <a:rPr lang="en-US" altLang="zh-CN" dirty="0"/>
              <a:t>0</a:t>
            </a:r>
            <a:r>
              <a:rPr lang="zh-CN" altLang="en-US" dirty="0"/>
              <a:t>代表</a:t>
            </a:r>
            <a:r>
              <a:rPr lang="en-US" altLang="zh-CN" dirty="0"/>
              <a:t>D2</a:t>
            </a:r>
            <a:r>
              <a:rPr lang="zh-CN" altLang="en-US" dirty="0"/>
              <a:t>，</a:t>
            </a:r>
            <a:r>
              <a:rPr lang="en-US" altLang="zh-CN" dirty="0"/>
              <a:t>1</a:t>
            </a:r>
            <a:r>
              <a:rPr lang="zh-CN" altLang="en-US" dirty="0"/>
              <a:t>代表</a:t>
            </a:r>
            <a:r>
              <a:rPr lang="en-US" altLang="zh-CN" dirty="0"/>
              <a:t>D3</a:t>
            </a:r>
          </a:p>
          <a:p>
            <a:r>
              <a:rPr lang="en-US" altLang="zh-CN" dirty="0"/>
              <a:t>ISR</a:t>
            </a:r>
            <a:r>
              <a:rPr lang="zh-CN" altLang="en-US" dirty="0"/>
              <a:t>：中断时被调用的函数名</a:t>
            </a:r>
            <a:endParaRPr lang="en-US" altLang="zh-CN" dirty="0"/>
          </a:p>
          <a:p>
            <a:r>
              <a:rPr lang="en-US" altLang="zh-CN" dirty="0"/>
              <a:t>mode</a:t>
            </a:r>
            <a:r>
              <a:rPr lang="zh-CN" altLang="en-US" dirty="0"/>
              <a:t>：中断模式</a:t>
            </a:r>
          </a:p>
        </p:txBody>
      </p:sp>
      <p:graphicFrame>
        <p:nvGraphicFramePr>
          <p:cNvPr id="5" name="表格 4">
            <a:extLst>
              <a:ext uri="{FF2B5EF4-FFF2-40B4-BE49-F238E27FC236}">
                <a16:creationId xmlns:a16="http://schemas.microsoft.com/office/drawing/2014/main" id="{88C81DE3-1973-4545-B2AF-E594B277884F}"/>
              </a:ext>
            </a:extLst>
          </p:cNvPr>
          <p:cNvGraphicFramePr>
            <a:graphicFrameLocks noGrp="1"/>
          </p:cNvGraphicFramePr>
          <p:nvPr>
            <p:extLst>
              <p:ext uri="{D42A27DB-BD31-4B8C-83A1-F6EECF244321}">
                <p14:modId xmlns:p14="http://schemas.microsoft.com/office/powerpoint/2010/main" val="198386547"/>
              </p:ext>
            </p:extLst>
          </p:nvPr>
        </p:nvGraphicFramePr>
        <p:xfrm>
          <a:off x="1701800" y="4389120"/>
          <a:ext cx="6053666" cy="1609515"/>
        </p:xfrm>
        <a:graphic>
          <a:graphicData uri="http://schemas.openxmlformats.org/drawingml/2006/table">
            <a:tbl>
              <a:tblPr firstRow="1" bandRow="1">
                <a:tableStyleId>{5940675A-B579-460E-94D1-54222C63F5DA}</a:tableStyleId>
              </a:tblPr>
              <a:tblGrid>
                <a:gridCol w="1001031">
                  <a:extLst>
                    <a:ext uri="{9D8B030D-6E8A-4147-A177-3AD203B41FA5}">
                      <a16:colId xmlns:a16="http://schemas.microsoft.com/office/drawing/2014/main" val="2826943640"/>
                    </a:ext>
                  </a:extLst>
                </a:gridCol>
                <a:gridCol w="5052635">
                  <a:extLst>
                    <a:ext uri="{9D8B030D-6E8A-4147-A177-3AD203B41FA5}">
                      <a16:colId xmlns:a16="http://schemas.microsoft.com/office/drawing/2014/main" val="3299953043"/>
                    </a:ext>
                  </a:extLst>
                </a:gridCol>
              </a:tblGrid>
              <a:tr h="321903">
                <a:tc>
                  <a:txBody>
                    <a:bodyPr/>
                    <a:lstStyle/>
                    <a:p>
                      <a:pPr algn="just"/>
                      <a:r>
                        <a:rPr lang="zh-CN" altLang="en-US" sz="1050" kern="100" dirty="0">
                          <a:effectLst/>
                        </a:rPr>
                        <a:t>中断模式</a:t>
                      </a:r>
                      <a:endParaRPr lang="zh-CN" sz="1050" kern="100" dirty="0">
                        <a:effectLst/>
                        <a:latin typeface="Calibri" panose="020F0502020204030204" pitchFamily="34" charset="0"/>
                        <a:ea typeface="宋体" panose="02010600030101010101" pitchFamily="2" charset="-122"/>
                        <a:cs typeface="Times New Roman" panose="02020603050405020304" pitchFamily="18" charset="0"/>
                      </a:endParaRPr>
                    </a:p>
                  </a:txBody>
                  <a:tcPr/>
                </a:tc>
                <a:tc>
                  <a:txBody>
                    <a:bodyPr/>
                    <a:lstStyle/>
                    <a:p>
                      <a:pPr algn="just"/>
                      <a:r>
                        <a:rPr lang="zh-CN" altLang="en-US" sz="1050" kern="100" dirty="0">
                          <a:effectLst/>
                        </a:rPr>
                        <a:t>意义</a:t>
                      </a:r>
                      <a:endParaRPr lang="zh-CN" sz="1050" kern="100" dirty="0">
                        <a:effectLst/>
                        <a:latin typeface="Calibri" panose="020F0502020204030204" pitchFamily="34" charset="0"/>
                        <a:ea typeface="宋体" panose="02010600030101010101" pitchFamily="2" charset="-122"/>
                        <a:cs typeface="Times New Roman" panose="02020603050405020304" pitchFamily="18" charset="0"/>
                      </a:endParaRPr>
                    </a:p>
                  </a:txBody>
                  <a:tcPr/>
                </a:tc>
                <a:extLst>
                  <a:ext uri="{0D108BD9-81ED-4DB2-BD59-A6C34878D82A}">
                    <a16:rowId xmlns:a16="http://schemas.microsoft.com/office/drawing/2014/main" val="2334042407"/>
                  </a:ext>
                </a:extLst>
              </a:tr>
              <a:tr h="321903">
                <a:tc>
                  <a:txBody>
                    <a:bodyPr/>
                    <a:lstStyle/>
                    <a:p>
                      <a:pPr algn="just"/>
                      <a:r>
                        <a:rPr lang="en-US" sz="1050" kern="100" dirty="0">
                          <a:effectLst/>
                        </a:rPr>
                        <a:t>LOW</a:t>
                      </a:r>
                      <a:endParaRPr lang="zh-CN" sz="1050" kern="100" dirty="0">
                        <a:effectLst/>
                        <a:latin typeface="Calibri" panose="020F0502020204030204" pitchFamily="34" charset="0"/>
                        <a:ea typeface="宋体" panose="02010600030101010101" pitchFamily="2" charset="-122"/>
                        <a:cs typeface="Times New Roman" panose="02020603050405020304" pitchFamily="18" charset="0"/>
                      </a:endParaRPr>
                    </a:p>
                  </a:txBody>
                  <a:tcPr/>
                </a:tc>
                <a:tc>
                  <a:txBody>
                    <a:bodyPr/>
                    <a:lstStyle/>
                    <a:p>
                      <a:pPr algn="just"/>
                      <a:r>
                        <a:rPr lang="zh-CN" sz="1050" kern="100" dirty="0">
                          <a:effectLst/>
                        </a:rPr>
                        <a:t>当引脚为低电平时触发中断服务程序</a:t>
                      </a:r>
                      <a:endParaRPr lang="zh-CN" sz="1050" kern="100" dirty="0">
                        <a:effectLst/>
                        <a:latin typeface="Calibri" panose="020F0502020204030204" pitchFamily="34" charset="0"/>
                        <a:ea typeface="宋体" panose="02010600030101010101" pitchFamily="2" charset="-122"/>
                        <a:cs typeface="Times New Roman" panose="02020603050405020304" pitchFamily="18" charset="0"/>
                      </a:endParaRPr>
                    </a:p>
                  </a:txBody>
                  <a:tcPr/>
                </a:tc>
                <a:extLst>
                  <a:ext uri="{0D108BD9-81ED-4DB2-BD59-A6C34878D82A}">
                    <a16:rowId xmlns:a16="http://schemas.microsoft.com/office/drawing/2014/main" val="2192955114"/>
                  </a:ext>
                </a:extLst>
              </a:tr>
              <a:tr h="321903">
                <a:tc>
                  <a:txBody>
                    <a:bodyPr/>
                    <a:lstStyle/>
                    <a:p>
                      <a:pPr algn="just"/>
                      <a:r>
                        <a:rPr lang="en-US" sz="1050" kern="100">
                          <a:effectLst/>
                        </a:rPr>
                        <a:t>CHANGE</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a:tc>
                <a:tc>
                  <a:txBody>
                    <a:bodyPr/>
                    <a:lstStyle/>
                    <a:p>
                      <a:pPr algn="just"/>
                      <a:r>
                        <a:rPr lang="zh-CN" sz="1050" kern="100" dirty="0">
                          <a:effectLst/>
                        </a:rPr>
                        <a:t>当引脚电平发生变化时触发中断服务程序</a:t>
                      </a:r>
                      <a:endParaRPr lang="zh-CN" sz="1050" kern="100" dirty="0">
                        <a:effectLst/>
                        <a:latin typeface="Calibri" panose="020F0502020204030204" pitchFamily="34" charset="0"/>
                        <a:ea typeface="宋体" panose="02010600030101010101" pitchFamily="2" charset="-122"/>
                        <a:cs typeface="Times New Roman" panose="02020603050405020304" pitchFamily="18" charset="0"/>
                      </a:endParaRPr>
                    </a:p>
                  </a:txBody>
                  <a:tcPr/>
                </a:tc>
                <a:extLst>
                  <a:ext uri="{0D108BD9-81ED-4DB2-BD59-A6C34878D82A}">
                    <a16:rowId xmlns:a16="http://schemas.microsoft.com/office/drawing/2014/main" val="4253872622"/>
                  </a:ext>
                </a:extLst>
              </a:tr>
              <a:tr h="321903">
                <a:tc>
                  <a:txBody>
                    <a:bodyPr/>
                    <a:lstStyle/>
                    <a:p>
                      <a:pPr algn="just"/>
                      <a:r>
                        <a:rPr lang="en-US" sz="1050" kern="100">
                          <a:effectLst/>
                        </a:rPr>
                        <a:t>RISING</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a:tc>
                <a:tc>
                  <a:txBody>
                    <a:bodyPr/>
                    <a:lstStyle/>
                    <a:p>
                      <a:pPr algn="just"/>
                      <a:r>
                        <a:rPr lang="zh-CN" sz="1050" kern="100" dirty="0">
                          <a:effectLst/>
                        </a:rPr>
                        <a:t>当引脚电平由低电平变为高电平时触发中断服务程序</a:t>
                      </a:r>
                      <a:endParaRPr lang="zh-CN" sz="1050" kern="100" dirty="0">
                        <a:effectLst/>
                        <a:latin typeface="Calibri" panose="020F0502020204030204" pitchFamily="34" charset="0"/>
                        <a:ea typeface="宋体" panose="02010600030101010101" pitchFamily="2" charset="-122"/>
                        <a:cs typeface="Times New Roman" panose="02020603050405020304" pitchFamily="18" charset="0"/>
                      </a:endParaRPr>
                    </a:p>
                  </a:txBody>
                  <a:tcPr/>
                </a:tc>
                <a:extLst>
                  <a:ext uri="{0D108BD9-81ED-4DB2-BD59-A6C34878D82A}">
                    <a16:rowId xmlns:a16="http://schemas.microsoft.com/office/drawing/2014/main" val="440066268"/>
                  </a:ext>
                </a:extLst>
              </a:tr>
              <a:tr h="321903">
                <a:tc>
                  <a:txBody>
                    <a:bodyPr/>
                    <a:lstStyle/>
                    <a:p>
                      <a:pPr algn="just"/>
                      <a:r>
                        <a:rPr lang="en-US" sz="1050" kern="100">
                          <a:effectLst/>
                        </a:rPr>
                        <a:t>FALLING</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a:tc>
                <a:tc>
                  <a:txBody>
                    <a:bodyPr/>
                    <a:lstStyle/>
                    <a:p>
                      <a:pPr algn="just"/>
                      <a:r>
                        <a:rPr lang="zh-CN" sz="1050" kern="100" dirty="0">
                          <a:effectLst/>
                        </a:rPr>
                        <a:t>当引脚电平由高电平变为低电平时触发中断服务程序</a:t>
                      </a:r>
                      <a:endParaRPr lang="zh-CN" sz="1050" kern="100" dirty="0">
                        <a:effectLst/>
                        <a:latin typeface="Calibri" panose="020F0502020204030204" pitchFamily="34" charset="0"/>
                        <a:ea typeface="宋体" panose="02010600030101010101" pitchFamily="2" charset="-122"/>
                        <a:cs typeface="Times New Roman" panose="02020603050405020304" pitchFamily="18" charset="0"/>
                      </a:endParaRPr>
                    </a:p>
                  </a:txBody>
                  <a:tcPr/>
                </a:tc>
                <a:extLst>
                  <a:ext uri="{0D108BD9-81ED-4DB2-BD59-A6C34878D82A}">
                    <a16:rowId xmlns:a16="http://schemas.microsoft.com/office/drawing/2014/main" val="1587182833"/>
                  </a:ext>
                </a:extLst>
              </a:tr>
            </a:tbl>
          </a:graphicData>
        </a:graphic>
      </p:graphicFrame>
    </p:spTree>
  </p:cSld>
  <p:clrMapOvr>
    <a:masterClrMapping/>
  </p:clrMapOvr>
  <p:transition>
    <p:cover dir="d"/>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中断程序</a:t>
            </a:r>
            <a:r>
              <a:rPr lang="en-US" altLang="zh-CN" dirty="0"/>
              <a:t>ISR</a:t>
            </a:r>
            <a:endParaRPr lang="zh-CN" altLang="en-US" dirty="0"/>
          </a:p>
        </p:txBody>
      </p:sp>
      <p:sp>
        <p:nvSpPr>
          <p:cNvPr id="3" name="内容占位符 2"/>
          <p:cNvSpPr>
            <a:spLocks noGrp="1"/>
          </p:cNvSpPr>
          <p:nvPr>
            <p:ph idx="1"/>
          </p:nvPr>
        </p:nvSpPr>
        <p:spPr/>
        <p:txBody>
          <a:bodyPr/>
          <a:lstStyle/>
          <a:p>
            <a:pPr algn="just"/>
            <a:r>
              <a:rPr lang="zh-CN" altLang="en-US" dirty="0"/>
              <a:t>无参数和返回值</a:t>
            </a:r>
            <a:endParaRPr lang="en-US" altLang="zh-CN" dirty="0"/>
          </a:p>
          <a:p>
            <a:pPr algn="just"/>
            <a:r>
              <a:rPr lang="en-GB" altLang="zh-CN" dirty="0"/>
              <a:t>delay()</a:t>
            </a:r>
            <a:r>
              <a:rPr lang="zh-CN" altLang="en-US" dirty="0"/>
              <a:t>函数不工作</a:t>
            </a:r>
            <a:endParaRPr lang="en-US" altLang="zh-CN" dirty="0"/>
          </a:p>
          <a:p>
            <a:pPr algn="just"/>
            <a:r>
              <a:rPr lang="en-GB" altLang="zh-CN" dirty="0"/>
              <a:t>Arduino</a:t>
            </a:r>
            <a:r>
              <a:rPr lang="zh-CN" altLang="en-US" dirty="0"/>
              <a:t>接收到的串口数据可能会丢失</a:t>
            </a:r>
            <a:endParaRPr lang="en-US" altLang="zh-CN" dirty="0"/>
          </a:p>
          <a:p>
            <a:pPr algn="just"/>
            <a:r>
              <a:rPr lang="zh-CN" altLang="en-US" dirty="0"/>
              <a:t>变量应添加</a:t>
            </a:r>
            <a:r>
              <a:rPr lang="en-US" altLang="zh-CN" dirty="0"/>
              <a:t>volatile</a:t>
            </a:r>
            <a:r>
              <a:rPr lang="zh-CN" altLang="en-US" dirty="0"/>
              <a:t>关键字</a:t>
            </a:r>
            <a:endParaRPr lang="en-US" altLang="zh-CN" dirty="0"/>
          </a:p>
          <a:p>
            <a:pPr algn="just"/>
            <a:r>
              <a:rPr lang="zh-CN" altLang="en-US" dirty="0"/>
              <a:t>越短小精悍越好</a:t>
            </a:r>
            <a:endParaRPr lang="en-US" altLang="zh-CN" dirty="0"/>
          </a:p>
          <a:p>
            <a:pPr algn="just"/>
            <a:r>
              <a:rPr lang="zh-CN" altLang="en-US" dirty="0"/>
              <a:t>每次只能运行一个</a:t>
            </a:r>
            <a:r>
              <a:rPr lang="en-US" altLang="zh-CN" dirty="0"/>
              <a:t>ISR</a:t>
            </a:r>
            <a:r>
              <a:rPr lang="zh-CN" altLang="en-US" dirty="0"/>
              <a:t>函数</a:t>
            </a:r>
          </a:p>
        </p:txBody>
      </p:sp>
    </p:spTree>
    <p:extLst>
      <p:ext uri="{BB962C8B-B14F-4D97-AF65-F5344CB8AC3E}">
        <p14:creationId xmlns:p14="http://schemas.microsoft.com/office/powerpoint/2010/main" val="3444066259"/>
      </p:ext>
    </p:extLst>
  </p:cSld>
  <p:clrMapOvr>
    <a:masterClrMapping/>
  </p:clrMapOvr>
  <p:transition>
    <p:cover dir="d"/>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3467559" cy="525137"/>
          </a:xfrm>
          <a:solidFill>
            <a:schemeClr val="bg1">
              <a:lumMod val="85000"/>
            </a:schemeClr>
          </a:solidFill>
        </p:spPr>
        <p:txBody>
          <a:bodyPr/>
          <a:lstStyle/>
          <a:p>
            <a:pPr algn="l"/>
            <a:r>
              <a:rPr lang="zh-CN" altLang="en-US" sz="3200" b="1" dirty="0"/>
              <a:t>中断改变闪烁时长</a:t>
            </a:r>
          </a:p>
        </p:txBody>
      </p:sp>
      <p:sp>
        <p:nvSpPr>
          <p:cNvPr id="3" name="内容占位符 2"/>
          <p:cNvSpPr>
            <a:spLocks noGrp="1"/>
          </p:cNvSpPr>
          <p:nvPr>
            <p:ph idx="1"/>
          </p:nvPr>
        </p:nvSpPr>
        <p:spPr>
          <a:xfrm>
            <a:off x="264405" y="1287137"/>
            <a:ext cx="8758409" cy="4772140"/>
          </a:xfrm>
        </p:spPr>
        <p:txBody>
          <a:bodyPr numCol="2"/>
          <a:lstStyle/>
          <a:p>
            <a:pPr marL="0" indent="0">
              <a:spcBef>
                <a:spcPts val="0"/>
              </a:spcBef>
              <a:buNone/>
            </a:pPr>
            <a:r>
              <a:rPr lang="en-US" altLang="zh-CN" sz="2000" dirty="0" err="1"/>
              <a:t>int</a:t>
            </a:r>
            <a:r>
              <a:rPr lang="en-US" altLang="zh-CN" sz="2000" dirty="0"/>
              <a:t> </a:t>
            </a:r>
            <a:r>
              <a:rPr lang="en-US" altLang="zh-CN" sz="2000" dirty="0" err="1"/>
              <a:t>interruptPin</a:t>
            </a:r>
            <a:r>
              <a:rPr lang="en-US" altLang="zh-CN" sz="2000" dirty="0"/>
              <a:t> = 2;</a:t>
            </a:r>
          </a:p>
          <a:p>
            <a:pPr marL="0" indent="0">
              <a:spcBef>
                <a:spcPts val="0"/>
              </a:spcBef>
              <a:buNone/>
            </a:pPr>
            <a:r>
              <a:rPr lang="en-US" altLang="zh-CN" sz="2000" dirty="0" err="1"/>
              <a:t>int</a:t>
            </a:r>
            <a:r>
              <a:rPr lang="en-US" altLang="zh-CN" sz="2000" dirty="0"/>
              <a:t> </a:t>
            </a:r>
            <a:r>
              <a:rPr lang="en-US" altLang="zh-CN" sz="2000" dirty="0" err="1"/>
              <a:t>ledPin</a:t>
            </a:r>
            <a:r>
              <a:rPr lang="en-US" altLang="zh-CN" sz="2000" dirty="0"/>
              <a:t> = 13;</a:t>
            </a:r>
          </a:p>
          <a:p>
            <a:pPr marL="0" indent="0">
              <a:spcBef>
                <a:spcPts val="0"/>
              </a:spcBef>
              <a:buNone/>
            </a:pPr>
            <a:r>
              <a:rPr lang="en-US" altLang="zh-CN" sz="2000" dirty="0" err="1"/>
              <a:t>int</a:t>
            </a:r>
            <a:r>
              <a:rPr lang="en-US" altLang="zh-CN" sz="2000" dirty="0"/>
              <a:t> period = 500;</a:t>
            </a:r>
          </a:p>
          <a:p>
            <a:pPr marL="0" indent="0">
              <a:spcBef>
                <a:spcPts val="0"/>
              </a:spcBef>
              <a:buNone/>
            </a:pPr>
            <a:endParaRPr lang="en-US" altLang="zh-CN" sz="2000" dirty="0"/>
          </a:p>
          <a:p>
            <a:pPr marL="0" indent="0">
              <a:spcBef>
                <a:spcPts val="0"/>
              </a:spcBef>
              <a:buNone/>
            </a:pPr>
            <a:r>
              <a:rPr lang="en-US" altLang="zh-CN" sz="2000" dirty="0"/>
              <a:t>void setup()</a:t>
            </a:r>
          </a:p>
          <a:p>
            <a:pPr marL="0" indent="0">
              <a:spcBef>
                <a:spcPts val="0"/>
              </a:spcBef>
              <a:buNone/>
            </a:pPr>
            <a:r>
              <a:rPr lang="en-US" altLang="zh-CN" sz="2000" dirty="0"/>
              <a:t>{</a:t>
            </a:r>
          </a:p>
          <a:p>
            <a:pPr marL="0" indent="0">
              <a:spcBef>
                <a:spcPts val="0"/>
              </a:spcBef>
              <a:buNone/>
            </a:pPr>
            <a:r>
              <a:rPr lang="en-US" altLang="zh-CN" sz="2000" dirty="0"/>
              <a:t>  </a:t>
            </a:r>
            <a:r>
              <a:rPr lang="en-US" altLang="zh-CN" sz="2000" dirty="0" err="1"/>
              <a:t>pinMode</a:t>
            </a:r>
            <a:r>
              <a:rPr lang="en-US" altLang="zh-CN" sz="2000" dirty="0"/>
              <a:t>(</a:t>
            </a:r>
            <a:r>
              <a:rPr lang="en-US" altLang="zh-CN" sz="2000" dirty="0" err="1"/>
              <a:t>ledPin</a:t>
            </a:r>
            <a:r>
              <a:rPr lang="en-US" altLang="zh-CN" sz="2000" dirty="0"/>
              <a:t>, OUTPUT);</a:t>
            </a:r>
          </a:p>
          <a:p>
            <a:pPr marL="0" indent="0">
              <a:spcBef>
                <a:spcPts val="0"/>
              </a:spcBef>
              <a:buNone/>
            </a:pPr>
            <a:r>
              <a:rPr lang="en-US" altLang="zh-CN" sz="2000" dirty="0"/>
              <a:t>  </a:t>
            </a:r>
            <a:r>
              <a:rPr lang="en-US" altLang="zh-CN" sz="2000" dirty="0" err="1"/>
              <a:t>pinMode</a:t>
            </a:r>
            <a:r>
              <a:rPr lang="en-US" altLang="zh-CN" sz="2000" dirty="0"/>
              <a:t>(</a:t>
            </a:r>
            <a:r>
              <a:rPr lang="en-US" altLang="zh-CN" sz="2000" dirty="0" err="1"/>
              <a:t>interruptPin</a:t>
            </a:r>
            <a:r>
              <a:rPr lang="en-US" altLang="zh-CN" sz="2000" dirty="0"/>
              <a:t>, INPUT);</a:t>
            </a:r>
          </a:p>
          <a:p>
            <a:pPr marL="0" indent="0">
              <a:spcBef>
                <a:spcPts val="0"/>
              </a:spcBef>
              <a:buNone/>
            </a:pPr>
            <a:r>
              <a:rPr lang="en-US" altLang="zh-CN" sz="2000" dirty="0"/>
              <a:t>  // </a:t>
            </a:r>
            <a:r>
              <a:rPr lang="zh-CN" altLang="en-US" sz="2000" dirty="0"/>
              <a:t>使用内置电阻拉高电平</a:t>
            </a:r>
            <a:endParaRPr lang="en-US" altLang="zh-CN" sz="2000" dirty="0"/>
          </a:p>
          <a:p>
            <a:pPr marL="0" indent="0">
              <a:spcBef>
                <a:spcPts val="0"/>
              </a:spcBef>
              <a:buNone/>
            </a:pPr>
            <a:r>
              <a:rPr lang="en-US" altLang="zh-CN" sz="2000" dirty="0"/>
              <a:t>  </a:t>
            </a:r>
            <a:r>
              <a:rPr lang="en-US" altLang="zh-CN" sz="2000" dirty="0" err="1"/>
              <a:t>digitalWrite</a:t>
            </a:r>
            <a:r>
              <a:rPr lang="en-US" altLang="zh-CN" sz="2000" dirty="0"/>
              <a:t>(</a:t>
            </a:r>
            <a:r>
              <a:rPr lang="en-US" altLang="zh-CN" sz="2000" dirty="0" err="1"/>
              <a:t>interruptPin</a:t>
            </a:r>
            <a:r>
              <a:rPr lang="en-US" altLang="zh-CN" sz="2000" dirty="0"/>
              <a:t>, HIGH);                 </a:t>
            </a:r>
            <a:r>
              <a:rPr lang="en-US" altLang="zh-CN" sz="2000" dirty="0" err="1"/>
              <a:t>attachInterrupt</a:t>
            </a:r>
            <a:r>
              <a:rPr lang="en-US" altLang="zh-CN" sz="2000" dirty="0"/>
              <a:t>(0, </a:t>
            </a:r>
            <a:r>
              <a:rPr lang="en-US" altLang="zh-CN" sz="2000" dirty="0" err="1"/>
              <a:t>goFast</a:t>
            </a:r>
            <a:r>
              <a:rPr lang="en-US" altLang="zh-CN" sz="2000" dirty="0"/>
              <a:t>, FALLING);</a:t>
            </a:r>
          </a:p>
          <a:p>
            <a:pPr marL="0" indent="0">
              <a:spcBef>
                <a:spcPts val="0"/>
              </a:spcBef>
              <a:buNone/>
            </a:pPr>
            <a:r>
              <a:rPr lang="en-US" altLang="zh-CN" sz="2000" dirty="0"/>
              <a:t>}</a:t>
            </a:r>
          </a:p>
          <a:p>
            <a:pPr marL="0" indent="0">
              <a:spcBef>
                <a:spcPts val="0"/>
              </a:spcBef>
              <a:buNone/>
            </a:pPr>
            <a:endParaRPr lang="en-US" altLang="zh-CN" sz="2000" dirty="0"/>
          </a:p>
          <a:p>
            <a:pPr marL="0" indent="0">
              <a:spcBef>
                <a:spcPts val="0"/>
              </a:spcBef>
              <a:buNone/>
            </a:pPr>
            <a:r>
              <a:rPr lang="en-US" altLang="zh-CN" sz="2000" dirty="0"/>
              <a:t>void loop() </a:t>
            </a:r>
          </a:p>
          <a:p>
            <a:pPr marL="0" indent="0">
              <a:spcBef>
                <a:spcPts val="0"/>
              </a:spcBef>
              <a:buNone/>
            </a:pPr>
            <a:r>
              <a:rPr lang="en-US" altLang="zh-CN" sz="2000" dirty="0"/>
              <a:t>{</a:t>
            </a:r>
          </a:p>
          <a:p>
            <a:pPr marL="0" indent="0">
              <a:spcBef>
                <a:spcPts val="0"/>
              </a:spcBef>
              <a:buNone/>
            </a:pPr>
            <a:r>
              <a:rPr lang="en-US" altLang="zh-CN" sz="2000" dirty="0"/>
              <a:t>  </a:t>
            </a:r>
            <a:r>
              <a:rPr lang="en-US" altLang="zh-CN" sz="2000" dirty="0" err="1"/>
              <a:t>digitalWrite</a:t>
            </a:r>
            <a:r>
              <a:rPr lang="en-US" altLang="zh-CN" sz="2000" dirty="0"/>
              <a:t>(</a:t>
            </a:r>
            <a:r>
              <a:rPr lang="en-US" altLang="zh-CN" sz="2000" dirty="0" err="1"/>
              <a:t>ledPin</a:t>
            </a:r>
            <a:r>
              <a:rPr lang="en-US" altLang="zh-CN" sz="2000" dirty="0"/>
              <a:t>, HIGH);</a:t>
            </a:r>
          </a:p>
          <a:p>
            <a:pPr marL="0" indent="0">
              <a:spcBef>
                <a:spcPts val="0"/>
              </a:spcBef>
              <a:buNone/>
            </a:pPr>
            <a:r>
              <a:rPr lang="en-US" altLang="zh-CN" sz="2000" dirty="0"/>
              <a:t>  delay(period);</a:t>
            </a:r>
          </a:p>
          <a:p>
            <a:pPr marL="0" indent="0">
              <a:spcBef>
                <a:spcPts val="0"/>
              </a:spcBef>
              <a:buNone/>
            </a:pPr>
            <a:r>
              <a:rPr lang="en-US" altLang="zh-CN" sz="2000" dirty="0"/>
              <a:t>  </a:t>
            </a:r>
            <a:r>
              <a:rPr lang="en-US" altLang="zh-CN" sz="2000" dirty="0" err="1"/>
              <a:t>digitalWrite</a:t>
            </a:r>
            <a:r>
              <a:rPr lang="en-US" altLang="zh-CN" sz="2000" dirty="0"/>
              <a:t>(</a:t>
            </a:r>
            <a:r>
              <a:rPr lang="en-US" altLang="zh-CN" sz="2000" dirty="0" err="1"/>
              <a:t>ledPin</a:t>
            </a:r>
            <a:r>
              <a:rPr lang="en-US" altLang="zh-CN" sz="2000" dirty="0"/>
              <a:t>, LOW);</a:t>
            </a:r>
          </a:p>
          <a:p>
            <a:pPr marL="0" indent="0">
              <a:spcBef>
                <a:spcPts val="0"/>
              </a:spcBef>
              <a:buNone/>
            </a:pPr>
            <a:r>
              <a:rPr lang="en-US" altLang="zh-CN" sz="2000" dirty="0"/>
              <a:t>  delay(period);  </a:t>
            </a:r>
          </a:p>
          <a:p>
            <a:pPr marL="0" indent="0">
              <a:spcBef>
                <a:spcPts val="0"/>
              </a:spcBef>
              <a:buNone/>
            </a:pPr>
            <a:r>
              <a:rPr lang="en-US" altLang="zh-CN" sz="2000" dirty="0"/>
              <a:t>}</a:t>
            </a:r>
          </a:p>
          <a:p>
            <a:pPr marL="0" indent="0">
              <a:spcBef>
                <a:spcPts val="0"/>
              </a:spcBef>
              <a:buNone/>
            </a:pPr>
            <a:endParaRPr lang="en-US" altLang="zh-CN" sz="2000" dirty="0"/>
          </a:p>
          <a:p>
            <a:pPr marL="0" indent="0">
              <a:spcBef>
                <a:spcPts val="0"/>
              </a:spcBef>
              <a:buNone/>
            </a:pPr>
            <a:r>
              <a:rPr lang="en-US" altLang="zh-CN" sz="2000" dirty="0"/>
              <a:t>void </a:t>
            </a:r>
            <a:r>
              <a:rPr lang="en-US" altLang="zh-CN" sz="2000" dirty="0" err="1"/>
              <a:t>goFast</a:t>
            </a:r>
            <a:r>
              <a:rPr lang="en-US" altLang="zh-CN" sz="2000" dirty="0"/>
              <a:t>()</a:t>
            </a:r>
          </a:p>
          <a:p>
            <a:pPr marL="0" indent="0">
              <a:spcBef>
                <a:spcPts val="0"/>
              </a:spcBef>
              <a:buNone/>
            </a:pPr>
            <a:r>
              <a:rPr lang="en-US" altLang="zh-CN" sz="2000" dirty="0"/>
              <a:t>{</a:t>
            </a:r>
          </a:p>
          <a:p>
            <a:pPr marL="0" indent="0">
              <a:spcBef>
                <a:spcPts val="0"/>
              </a:spcBef>
              <a:buNone/>
            </a:pPr>
            <a:r>
              <a:rPr lang="en-US" altLang="zh-CN" sz="2000" dirty="0"/>
              <a:t>  period = 100;</a:t>
            </a:r>
          </a:p>
          <a:p>
            <a:pPr marL="0" indent="0">
              <a:spcBef>
                <a:spcPts val="0"/>
              </a:spcBef>
              <a:buNone/>
            </a:pPr>
            <a:r>
              <a:rPr lang="en-US" altLang="zh-CN" sz="2000" dirty="0"/>
              <a:t>}  </a:t>
            </a:r>
            <a:endParaRPr lang="zh-CN" altLang="en-US" sz="2000" dirty="0"/>
          </a:p>
        </p:txBody>
      </p:sp>
      <p:cxnSp>
        <p:nvCxnSpPr>
          <p:cNvPr id="5" name="直接连接符 4"/>
          <p:cNvCxnSpPr/>
          <p:nvPr/>
        </p:nvCxnSpPr>
        <p:spPr bwMode="auto">
          <a:xfrm>
            <a:off x="4351663" y="1277957"/>
            <a:ext cx="22033" cy="4781320"/>
          </a:xfrm>
          <a:prstGeom prst="line">
            <a:avLst/>
          </a:prstGeom>
          <a:solidFill>
            <a:schemeClr val="accent1"/>
          </a:solidFill>
          <a:ln w="19050" cap="flat" cmpd="sng" algn="ctr">
            <a:solidFill>
              <a:srgbClr val="FF000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内容占位符 2">
            <a:extLst>
              <a:ext uri="{FF2B5EF4-FFF2-40B4-BE49-F238E27FC236}">
                <a16:creationId xmlns:a16="http://schemas.microsoft.com/office/drawing/2014/main" id="{6DC97794-661A-44D2-B5B0-C28E274261FD}"/>
              </a:ext>
            </a:extLst>
          </p:cNvPr>
          <p:cNvSpPr txBox="1">
            <a:spLocks/>
          </p:cNvSpPr>
          <p:nvPr/>
        </p:nvSpPr>
        <p:spPr bwMode="auto">
          <a:xfrm>
            <a:off x="2189236" y="4891327"/>
            <a:ext cx="6615852" cy="679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marL="0" indent="0" algn="just">
              <a:buFontTx/>
              <a:buNone/>
            </a:pPr>
            <a:r>
              <a:rPr lang="zh-CN" altLang="en-US" kern="0" dirty="0"/>
              <a:t>把</a:t>
            </a:r>
            <a:r>
              <a:rPr lang="en-US" altLang="zh-CN" kern="0" dirty="0"/>
              <a:t>D2</a:t>
            </a:r>
            <a:r>
              <a:rPr lang="zh-CN" altLang="en-US" kern="0" dirty="0"/>
              <a:t>和</a:t>
            </a:r>
            <a:r>
              <a:rPr lang="en-US" altLang="zh-CN" kern="0" dirty="0"/>
              <a:t>GND</a:t>
            </a:r>
            <a:r>
              <a:rPr lang="zh-CN" altLang="en-US" kern="0" dirty="0"/>
              <a:t>用导线连起来模拟中断，也可以用按钮或开关来实现</a:t>
            </a:r>
          </a:p>
        </p:txBody>
      </p:sp>
    </p:spTree>
  </p:cSld>
  <p:clrMapOvr>
    <a:masterClrMapping/>
  </p:clrMapOvr>
  <p:transition>
    <p:cover dir="d"/>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29867" y="2460434"/>
            <a:ext cx="7772400" cy="1143000"/>
          </a:xfrm>
        </p:spPr>
        <p:txBody>
          <a:bodyPr/>
          <a:lstStyle/>
          <a:p>
            <a:r>
              <a:rPr lang="zh-CN" altLang="en-US" sz="6000" dirty="0"/>
              <a:t>数据存储</a:t>
            </a:r>
          </a:p>
        </p:txBody>
      </p:sp>
    </p:spTree>
  </p:cSld>
  <p:clrMapOvr>
    <a:masterClrMapping/>
  </p:clrMapOvr>
  <p:transition>
    <p:cover dir="d"/>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AVR</a:t>
            </a:r>
            <a:r>
              <a:rPr lang="zh-CN" altLang="en-US" dirty="0"/>
              <a:t>存储器</a:t>
            </a:r>
          </a:p>
        </p:txBody>
      </p:sp>
      <p:sp>
        <p:nvSpPr>
          <p:cNvPr id="3" name="内容占位符 2"/>
          <p:cNvSpPr>
            <a:spLocks noGrp="1"/>
          </p:cNvSpPr>
          <p:nvPr>
            <p:ph idx="1"/>
          </p:nvPr>
        </p:nvSpPr>
        <p:spPr>
          <a:xfrm>
            <a:off x="685799" y="1981200"/>
            <a:ext cx="7907357" cy="4114800"/>
          </a:xfrm>
        </p:spPr>
        <p:txBody>
          <a:bodyPr/>
          <a:lstStyle/>
          <a:p>
            <a:pPr marL="0" indent="0">
              <a:buNone/>
            </a:pPr>
            <a:r>
              <a:rPr lang="en" altLang="zh-CN" dirty="0"/>
              <a:t>AVR </a:t>
            </a:r>
            <a:r>
              <a:rPr lang="zh-CN" altLang="en-US" dirty="0"/>
              <a:t>系列单片机内部有三种类型的独立编址的存储器，它们分别为：</a:t>
            </a:r>
            <a:br>
              <a:rPr lang="zh-CN" altLang="en-US" dirty="0"/>
            </a:br>
            <a:r>
              <a:rPr lang="en-US" altLang="zh-CN" dirty="0"/>
              <a:t>1</a:t>
            </a:r>
            <a:r>
              <a:rPr lang="zh-CN" altLang="en-US" dirty="0"/>
              <a:t>、</a:t>
            </a:r>
            <a:r>
              <a:rPr lang="en" altLang="zh-CN" dirty="0"/>
              <a:t>Flash </a:t>
            </a:r>
            <a:r>
              <a:rPr lang="zh-CN" altLang="en-US" dirty="0"/>
              <a:t>程序存储器（即：程序存储空间、闪存）</a:t>
            </a:r>
            <a:br>
              <a:rPr lang="zh-CN" altLang="en-US" dirty="0"/>
            </a:br>
            <a:r>
              <a:rPr lang="en-US" altLang="zh-CN" dirty="0"/>
              <a:t>2</a:t>
            </a:r>
            <a:r>
              <a:rPr lang="zh-CN" altLang="en-US" dirty="0"/>
              <a:t>、</a:t>
            </a:r>
            <a:r>
              <a:rPr lang="en" altLang="zh-CN" dirty="0"/>
              <a:t>SRAM </a:t>
            </a:r>
            <a:r>
              <a:rPr lang="zh-CN" altLang="en-US" dirty="0"/>
              <a:t>数据存储器（即：动态内存）</a:t>
            </a:r>
            <a:br>
              <a:rPr lang="zh-CN" altLang="en-US" dirty="0"/>
            </a:br>
            <a:r>
              <a:rPr lang="en-US" altLang="zh-CN" dirty="0"/>
              <a:t>3</a:t>
            </a:r>
            <a:r>
              <a:rPr lang="zh-CN" altLang="en-US" dirty="0"/>
              <a:t>、</a:t>
            </a:r>
            <a:r>
              <a:rPr lang="en" altLang="zh-CN" dirty="0"/>
              <a:t>EEPROM </a:t>
            </a:r>
            <a:r>
              <a:rPr lang="zh-CN" altLang="en-US" dirty="0"/>
              <a:t>数据存储器（永久保存）</a:t>
            </a:r>
          </a:p>
        </p:txBody>
      </p:sp>
    </p:spTree>
    <p:extLst>
      <p:ext uri="{BB962C8B-B14F-4D97-AF65-F5344CB8AC3E}">
        <p14:creationId xmlns:p14="http://schemas.microsoft.com/office/powerpoint/2010/main" val="1710731142"/>
      </p:ext>
    </p:extLst>
  </p:cSld>
  <p:clrMapOvr>
    <a:masterClrMapping/>
  </p:clrMapOvr>
  <p:transition>
    <p:cover dir="d"/>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Flash</a:t>
            </a:r>
            <a:r>
              <a:rPr lang="zh-CN" altLang="en-US" dirty="0"/>
              <a:t>程序存储器</a:t>
            </a:r>
          </a:p>
        </p:txBody>
      </p:sp>
      <p:sp>
        <p:nvSpPr>
          <p:cNvPr id="3" name="内容占位符 2"/>
          <p:cNvSpPr>
            <a:spLocks noGrp="1"/>
          </p:cNvSpPr>
          <p:nvPr>
            <p:ph idx="1"/>
          </p:nvPr>
        </p:nvSpPr>
        <p:spPr>
          <a:xfrm>
            <a:off x="685799" y="1981200"/>
            <a:ext cx="7907357" cy="4114800"/>
          </a:xfrm>
        </p:spPr>
        <p:txBody>
          <a:bodyPr/>
          <a:lstStyle/>
          <a:p>
            <a:pPr marL="0" indent="0" algn="just">
              <a:buNone/>
            </a:pPr>
            <a:r>
              <a:rPr lang="zh-CN" altLang="en-US" dirty="0"/>
              <a:t>编译</a:t>
            </a:r>
            <a:r>
              <a:rPr lang="en" altLang="zh-CN" dirty="0"/>
              <a:t>Arduino</a:t>
            </a:r>
            <a:r>
              <a:rPr lang="zh-CN" altLang="en-US" dirty="0"/>
              <a:t>程序时，会提示：</a:t>
            </a:r>
            <a:endParaRPr lang="en-US" altLang="zh-CN" dirty="0"/>
          </a:p>
          <a:p>
            <a:pPr marL="0" indent="0" algn="just">
              <a:buNone/>
            </a:pPr>
            <a:r>
              <a:rPr lang="zh-CN" altLang="en-US" sz="2400" dirty="0"/>
              <a:t>项目使用了 </a:t>
            </a:r>
            <a:r>
              <a:rPr lang="en-US" altLang="zh-CN" sz="2400" dirty="0"/>
              <a:t>656 </a:t>
            </a:r>
            <a:r>
              <a:rPr lang="zh-CN" altLang="en-US" sz="2400" dirty="0"/>
              <a:t>字节，占用了 </a:t>
            </a:r>
            <a:r>
              <a:rPr lang="en-US" altLang="zh-CN" sz="2400" dirty="0"/>
              <a:t>(0%) </a:t>
            </a:r>
            <a:r>
              <a:rPr lang="zh-CN" altLang="en-US" sz="2400" dirty="0"/>
              <a:t>程序存储空间。最大为 </a:t>
            </a:r>
            <a:r>
              <a:rPr lang="en-US" altLang="zh-CN" sz="2400" dirty="0"/>
              <a:t>253952 </a:t>
            </a:r>
            <a:r>
              <a:rPr lang="zh-CN" altLang="en-US" sz="2400" dirty="0"/>
              <a:t>字节。 全局变量使用了</a:t>
            </a:r>
            <a:r>
              <a:rPr lang="en-US" altLang="zh-CN" sz="2400" dirty="0"/>
              <a:t>9</a:t>
            </a:r>
            <a:r>
              <a:rPr lang="zh-CN" altLang="en-US" sz="2400" dirty="0"/>
              <a:t>字节，</a:t>
            </a:r>
            <a:r>
              <a:rPr lang="en-US" altLang="zh-CN" sz="2400" dirty="0"/>
              <a:t>(0%)</a:t>
            </a:r>
            <a:r>
              <a:rPr lang="zh-CN" altLang="en-US" sz="2400" dirty="0"/>
              <a:t>的动态内存，余留</a:t>
            </a:r>
            <a:r>
              <a:rPr lang="en-US" altLang="zh-CN" sz="2400" dirty="0"/>
              <a:t>8183</a:t>
            </a:r>
            <a:r>
              <a:rPr lang="zh-CN" altLang="en-US" sz="2400" dirty="0"/>
              <a:t>字节局部变量。最大为</a:t>
            </a:r>
            <a:r>
              <a:rPr lang="en-US" altLang="zh-CN" sz="2400" dirty="0"/>
              <a:t>8192</a:t>
            </a:r>
            <a:r>
              <a:rPr lang="zh-CN" altLang="en-US" sz="2400" dirty="0"/>
              <a:t>字节。</a:t>
            </a:r>
            <a:endParaRPr lang="en-US" altLang="zh-CN" sz="2400" dirty="0"/>
          </a:p>
          <a:p>
            <a:pPr marL="0" indent="0" algn="just">
              <a:buNone/>
            </a:pPr>
            <a:r>
              <a:rPr lang="zh-CN" altLang="en-US" dirty="0"/>
              <a:t>而编译时经常遇到的问题是：</a:t>
            </a:r>
            <a:endParaRPr lang="en-US" altLang="zh-CN" sz="2400" dirty="0"/>
          </a:p>
          <a:p>
            <a:pPr marL="0" indent="0" algn="just">
              <a:buNone/>
            </a:pPr>
            <a:r>
              <a:rPr lang="zh-CN" altLang="en-US" sz="2400" dirty="0"/>
              <a:t>项目使用了 </a:t>
            </a:r>
            <a:r>
              <a:rPr lang="en-US" altLang="zh-CN" sz="2400" dirty="0"/>
              <a:t>4756 </a:t>
            </a:r>
            <a:r>
              <a:rPr lang="zh-CN" altLang="en-US" sz="2400" dirty="0"/>
              <a:t>字节，占用了 </a:t>
            </a:r>
            <a:r>
              <a:rPr lang="en-US" altLang="zh-CN" sz="2400" dirty="0"/>
              <a:t>(15%) </a:t>
            </a:r>
            <a:r>
              <a:rPr lang="zh-CN" altLang="en-US" sz="2400" dirty="0"/>
              <a:t>程序存储空间。最大为 </a:t>
            </a:r>
            <a:r>
              <a:rPr lang="en-US" altLang="zh-CN" sz="2400" dirty="0"/>
              <a:t>30720 </a:t>
            </a:r>
            <a:r>
              <a:rPr lang="zh-CN" altLang="en-US" sz="2400" dirty="0"/>
              <a:t>字节。 全局变量使用了</a:t>
            </a:r>
            <a:r>
              <a:rPr lang="en-US" altLang="zh-CN" sz="2400" dirty="0"/>
              <a:t>2246</a:t>
            </a:r>
            <a:r>
              <a:rPr lang="zh-CN" altLang="en-US" sz="2400" dirty="0"/>
              <a:t>字节，</a:t>
            </a:r>
            <a:r>
              <a:rPr lang="en-US" altLang="zh-CN" sz="2400" dirty="0"/>
              <a:t>(109%)</a:t>
            </a:r>
            <a:r>
              <a:rPr lang="zh-CN" altLang="en-US" sz="2400" dirty="0"/>
              <a:t>的动态内存，余留</a:t>
            </a:r>
            <a:r>
              <a:rPr lang="en-US" altLang="zh-CN" sz="2400" dirty="0"/>
              <a:t>-198</a:t>
            </a:r>
            <a:r>
              <a:rPr lang="zh-CN" altLang="en-US" sz="2400" dirty="0"/>
              <a:t>字节局部变量。最大为</a:t>
            </a:r>
            <a:r>
              <a:rPr lang="en-US" altLang="zh-CN" sz="2400" dirty="0"/>
              <a:t>2048</a:t>
            </a:r>
            <a:r>
              <a:rPr lang="zh-CN" altLang="en-US" sz="2400" dirty="0"/>
              <a:t>字节。 没有足够的内存； 编译时出错。</a:t>
            </a:r>
            <a:endParaRPr lang="en-US" altLang="zh-CN" sz="2400" dirty="0"/>
          </a:p>
          <a:p>
            <a:pPr marL="0" indent="0" algn="just">
              <a:buNone/>
            </a:pPr>
            <a:endParaRPr lang="zh-CN" altLang="en-US" sz="2400" dirty="0"/>
          </a:p>
        </p:txBody>
      </p:sp>
    </p:spTree>
    <p:extLst>
      <p:ext uri="{BB962C8B-B14F-4D97-AF65-F5344CB8AC3E}">
        <p14:creationId xmlns:p14="http://schemas.microsoft.com/office/powerpoint/2010/main" val="2049804906"/>
      </p:ext>
    </p:extLst>
  </p:cSld>
  <p:clrMapOvr>
    <a:masterClrMapping/>
  </p:clrMapOvr>
  <p:transition>
    <p:cover dir="d"/>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Flash</a:t>
            </a:r>
            <a:r>
              <a:rPr lang="zh-CN" altLang="en-US" dirty="0"/>
              <a:t>程序存储器</a:t>
            </a:r>
          </a:p>
        </p:txBody>
      </p:sp>
      <p:sp>
        <p:nvSpPr>
          <p:cNvPr id="3" name="内容占位符 2"/>
          <p:cNvSpPr>
            <a:spLocks noGrp="1"/>
          </p:cNvSpPr>
          <p:nvPr>
            <p:ph idx="1"/>
          </p:nvPr>
        </p:nvSpPr>
        <p:spPr/>
        <p:txBody>
          <a:bodyPr/>
          <a:lstStyle/>
          <a:p>
            <a:pPr marL="0" indent="0">
              <a:buNone/>
            </a:pPr>
            <a:r>
              <a:rPr lang="zh-CN" altLang="en-US" dirty="0"/>
              <a:t>如果需要你的数据存储在闪存中，就必须引入</a:t>
            </a:r>
            <a:r>
              <a:rPr lang="en-US" altLang="zh-CN" dirty="0" err="1"/>
              <a:t>pgmspace</a:t>
            </a:r>
            <a:r>
              <a:rPr lang="zh-CN" altLang="en-US" dirty="0"/>
              <a:t>库：</a:t>
            </a:r>
            <a:endParaRPr lang="en-US" altLang="zh-CN" dirty="0"/>
          </a:p>
          <a:p>
            <a:pPr marL="0" indent="0">
              <a:buNone/>
            </a:pPr>
            <a:endParaRPr lang="en-US" altLang="zh-CN" dirty="0"/>
          </a:p>
          <a:p>
            <a:pPr marL="0" indent="0">
              <a:buNone/>
            </a:pPr>
            <a:r>
              <a:rPr lang="en-US" altLang="zh-CN" dirty="0"/>
              <a:t>#include &lt;</a:t>
            </a:r>
            <a:r>
              <a:rPr lang="en-US" altLang="zh-CN" dirty="0" err="1"/>
              <a:t>avr</a:t>
            </a:r>
            <a:r>
              <a:rPr lang="en-US" altLang="zh-CN" dirty="0"/>
              <a:t>/</a:t>
            </a:r>
            <a:r>
              <a:rPr lang="en-US" altLang="zh-CN" dirty="0" err="1"/>
              <a:t>pgmspace.h</a:t>
            </a:r>
            <a:r>
              <a:rPr lang="en-US" altLang="zh-CN" dirty="0"/>
              <a:t>&gt;</a:t>
            </a:r>
          </a:p>
          <a:p>
            <a:pPr marL="0" indent="0">
              <a:buNone/>
            </a:pPr>
            <a:endParaRPr lang="en-US" altLang="zh-CN" dirty="0"/>
          </a:p>
          <a:p>
            <a:pPr marL="0" indent="0">
              <a:buNone/>
            </a:pPr>
            <a:r>
              <a:rPr lang="zh-CN" altLang="en-US" dirty="0"/>
              <a:t>使用了这个库以后，关键字</a:t>
            </a:r>
            <a:r>
              <a:rPr lang="en-US" altLang="zh-CN" dirty="0"/>
              <a:t>PROGMEM</a:t>
            </a:r>
            <a:r>
              <a:rPr lang="zh-CN" altLang="en-US" dirty="0"/>
              <a:t>和函数</a:t>
            </a:r>
            <a:r>
              <a:rPr lang="en-US" altLang="zh-CN" dirty="0" err="1"/>
              <a:t>pgm_read_word</a:t>
            </a:r>
            <a:r>
              <a:rPr lang="zh-CN" altLang="en-US" dirty="0"/>
              <a:t>就可以使用了。</a:t>
            </a:r>
          </a:p>
        </p:txBody>
      </p:sp>
    </p:spTree>
  </p:cSld>
  <p:clrMapOvr>
    <a:masterClrMapping/>
  </p:clrMapOvr>
  <p:transition>
    <p:cover dir="d"/>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Flash</a:t>
            </a:r>
            <a:r>
              <a:rPr lang="zh-CN" altLang="en-US" dirty="0"/>
              <a:t>程序存储器</a:t>
            </a:r>
          </a:p>
        </p:txBody>
      </p:sp>
      <p:sp>
        <p:nvSpPr>
          <p:cNvPr id="3" name="内容占位符 2"/>
          <p:cNvSpPr>
            <a:spLocks noGrp="1"/>
          </p:cNvSpPr>
          <p:nvPr>
            <p:ph idx="1"/>
          </p:nvPr>
        </p:nvSpPr>
        <p:spPr>
          <a:xfrm>
            <a:off x="685799" y="1981200"/>
            <a:ext cx="7907357" cy="4114800"/>
          </a:xfrm>
        </p:spPr>
        <p:txBody>
          <a:bodyPr/>
          <a:lstStyle/>
          <a:p>
            <a:pPr marL="0" indent="0" algn="just">
              <a:buNone/>
            </a:pPr>
            <a:r>
              <a:rPr lang="zh-CN" altLang="en-US" dirty="0"/>
              <a:t>保存莫尔斯码翻译器中的字母数组：</a:t>
            </a:r>
          </a:p>
        </p:txBody>
      </p:sp>
      <p:pic>
        <p:nvPicPr>
          <p:cNvPr id="4" name="图片 3"/>
          <p:cNvPicPr>
            <a:picLocks noChangeAspect="1"/>
          </p:cNvPicPr>
          <p:nvPr/>
        </p:nvPicPr>
        <p:blipFill>
          <a:blip r:embed="rId3"/>
          <a:stretch>
            <a:fillRect/>
          </a:stretch>
        </p:blipFill>
        <p:spPr>
          <a:xfrm>
            <a:off x="234164" y="3215257"/>
            <a:ext cx="8810625" cy="1781175"/>
          </a:xfrm>
          <a:prstGeom prst="rect">
            <a:avLst/>
          </a:prstGeom>
        </p:spPr>
      </p:pic>
    </p:spTree>
  </p:cSld>
  <p:clrMapOvr>
    <a:masterClrMapping/>
  </p:clrMapOvr>
  <p:transition>
    <p:cover dir="d"/>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Flash</a:t>
            </a:r>
            <a:r>
              <a:rPr lang="zh-CN" altLang="en-US" dirty="0"/>
              <a:t>程序存储器</a:t>
            </a:r>
          </a:p>
        </p:txBody>
      </p:sp>
      <p:sp>
        <p:nvSpPr>
          <p:cNvPr id="3" name="内容占位符 2"/>
          <p:cNvSpPr>
            <a:spLocks noGrp="1"/>
          </p:cNvSpPr>
          <p:nvPr>
            <p:ph idx="1"/>
          </p:nvPr>
        </p:nvSpPr>
        <p:spPr/>
        <p:txBody>
          <a:bodyPr/>
          <a:lstStyle/>
          <a:p>
            <a:pPr marL="0" indent="0" algn="just">
              <a:buNone/>
            </a:pPr>
            <a:r>
              <a:rPr lang="zh-CN" altLang="en-US" dirty="0"/>
              <a:t>使用</a:t>
            </a:r>
            <a:r>
              <a:rPr lang="en-US" altLang="zh-CN" dirty="0"/>
              <a:t>PROGMEM</a:t>
            </a:r>
            <a:r>
              <a:rPr lang="zh-CN" altLang="en-US" dirty="0"/>
              <a:t>的时候，必须确保你在使用</a:t>
            </a:r>
            <a:r>
              <a:rPr lang="en-US" altLang="zh-CN" dirty="0"/>
              <a:t>PROGMEM</a:t>
            </a:r>
            <a:r>
              <a:rPr lang="zh-CN" altLang="en-US" dirty="0"/>
              <a:t>可以支持的数据类型。不幸的是，其中并不包括</a:t>
            </a:r>
            <a:r>
              <a:rPr lang="en-US" altLang="zh-CN" dirty="0"/>
              <a:t>char</a:t>
            </a:r>
            <a:r>
              <a:rPr lang="zh-CN" altLang="en-US" dirty="0"/>
              <a:t>的字符串。所以就需要使用</a:t>
            </a:r>
            <a:r>
              <a:rPr lang="en-US" altLang="zh-CN" dirty="0"/>
              <a:t>PROGMEM</a:t>
            </a:r>
            <a:r>
              <a:rPr lang="zh-CN" altLang="en-US" dirty="0"/>
              <a:t>字符串类型来为每个字符串定义变量，然后把它们放到一个</a:t>
            </a:r>
            <a:r>
              <a:rPr lang="en-US" altLang="zh-CN" dirty="0"/>
              <a:t>PROGMEM</a:t>
            </a:r>
            <a:r>
              <a:rPr lang="zh-CN" altLang="en-US" dirty="0"/>
              <a:t>类型的数组中。</a:t>
            </a:r>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1752600"/>
            <a:ext cx="8027670" cy="3733800"/>
          </a:xfrm>
          <a:prstGeom prst="rect">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1000"/>
                                        <p:tgtEl>
                                          <p:spTgt spid="6"/>
                                        </p:tgtEl>
                                      </p:cBhvr>
                                    </p:animEffect>
                                    <p:anim calcmode="lin" valueType="num">
                                      <p:cBhvr>
                                        <p:cTn id="12" dur="1000" fill="hold"/>
                                        <p:tgtEl>
                                          <p:spTgt spid="6"/>
                                        </p:tgtEl>
                                        <p:attrNameLst>
                                          <p:attrName>ppt_x</p:attrName>
                                        </p:attrNameLst>
                                      </p:cBhvr>
                                      <p:tavLst>
                                        <p:tav tm="0">
                                          <p:val>
                                            <p:strVal val="#ppt_x"/>
                                          </p:val>
                                        </p:tav>
                                        <p:tav tm="100000">
                                          <p:val>
                                            <p:strVal val="#ppt_x"/>
                                          </p:val>
                                        </p:tav>
                                      </p:tavLst>
                                    </p:anim>
                                    <p:anim calcmode="lin" valueType="num">
                                      <p:cBhvr>
                                        <p:cTn id="1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Flash</a:t>
            </a:r>
            <a:r>
              <a:rPr lang="zh-CN" altLang="en-US" dirty="0"/>
              <a:t>程序存储器</a:t>
            </a:r>
          </a:p>
        </p:txBody>
      </p:sp>
      <p:sp>
        <p:nvSpPr>
          <p:cNvPr id="3" name="内容占位符 2"/>
          <p:cNvSpPr>
            <a:spLocks noGrp="1"/>
          </p:cNvSpPr>
          <p:nvPr>
            <p:ph idx="1"/>
          </p:nvPr>
        </p:nvSpPr>
        <p:spPr/>
        <p:txBody>
          <a:bodyPr/>
          <a:lstStyle/>
          <a:p>
            <a:pPr marL="0" indent="0">
              <a:buNone/>
            </a:pPr>
            <a:r>
              <a:rPr lang="zh-CN" altLang="en-US" dirty="0"/>
              <a:t>作为全局常量时，直接使用 </a:t>
            </a:r>
            <a:r>
              <a:rPr lang="en" altLang="zh-CN" dirty="0"/>
              <a:t>PROGMEM </a:t>
            </a:r>
            <a:r>
              <a:rPr lang="zh-CN" altLang="en-US" dirty="0"/>
              <a:t>关键字即可， </a:t>
            </a:r>
            <a:r>
              <a:rPr lang="en" altLang="zh-CN" dirty="0"/>
              <a:t>PROGMEM </a:t>
            </a:r>
            <a:r>
              <a:rPr lang="zh-CN" altLang="en-US" dirty="0"/>
              <a:t>关键字的位置比较随意，但为了</a:t>
            </a:r>
            <a:r>
              <a:rPr lang="en" altLang="zh-CN" dirty="0"/>
              <a:t>Arduino</a:t>
            </a:r>
            <a:r>
              <a:rPr lang="zh-CN" altLang="en-US" dirty="0"/>
              <a:t>早期版本的兼容性，推荐放到后面。</a:t>
            </a:r>
            <a:endParaRPr lang="en-US" altLang="zh-CN" dirty="0"/>
          </a:p>
          <a:p>
            <a:pPr marL="0" indent="0">
              <a:buNone/>
            </a:pPr>
            <a:r>
              <a:rPr lang="en-US" altLang="zh-CN" sz="2400" dirty="0"/>
              <a:t>const char str1[] PROGMEM = "Hi, I would like to tell you a bit about myself.\n"</a:t>
            </a:r>
          </a:p>
          <a:p>
            <a:pPr marL="0" indent="0">
              <a:buNone/>
            </a:pPr>
            <a:r>
              <a:rPr lang="en-US" altLang="zh-CN" sz="2400" dirty="0"/>
              <a:t>const PROGMEM char str2[] = "Hi, I would like to tell you a bit about myself.\n"</a:t>
            </a:r>
          </a:p>
          <a:p>
            <a:pPr marL="0" indent="0">
              <a:buNone/>
            </a:pPr>
            <a:r>
              <a:rPr lang="en-US" altLang="zh-CN" sz="2400" dirty="0"/>
              <a:t>PROGMEM const char str3[] = "Hi, I would like to tell you a bit about myself.\n"</a:t>
            </a:r>
          </a:p>
          <a:p>
            <a:pPr marL="0" indent="0">
              <a:buNone/>
            </a:pPr>
            <a:endParaRPr lang="en-US" altLang="zh-CN" dirty="0"/>
          </a:p>
          <a:p>
            <a:pPr marL="0" indent="0">
              <a:buNone/>
            </a:pPr>
            <a:endParaRPr lang="zh-CN" altLang="en-US" dirty="0"/>
          </a:p>
        </p:txBody>
      </p:sp>
    </p:spTree>
    <p:extLst>
      <p:ext uri="{BB962C8B-B14F-4D97-AF65-F5344CB8AC3E}">
        <p14:creationId xmlns:p14="http://schemas.microsoft.com/office/powerpoint/2010/main" val="3176842384"/>
      </p:ext>
    </p:extLst>
  </p:cSld>
  <p:clrMapOvr>
    <a:masterClrMapping/>
  </p:clrMapOvr>
  <p:transition>
    <p:cover dir="d"/>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Flash</a:t>
            </a:r>
            <a:r>
              <a:rPr lang="zh-CN" altLang="en-US" dirty="0"/>
              <a:t>程序存储器</a:t>
            </a:r>
          </a:p>
        </p:txBody>
      </p:sp>
      <p:sp>
        <p:nvSpPr>
          <p:cNvPr id="3" name="内容占位符 2"/>
          <p:cNvSpPr>
            <a:spLocks noGrp="1"/>
          </p:cNvSpPr>
          <p:nvPr>
            <p:ph idx="1"/>
          </p:nvPr>
        </p:nvSpPr>
        <p:spPr/>
        <p:txBody>
          <a:bodyPr/>
          <a:lstStyle/>
          <a:p>
            <a:pPr marL="0" indent="0">
              <a:buNone/>
            </a:pPr>
            <a:r>
              <a:rPr lang="zh-CN" altLang="en-US" dirty="0"/>
              <a:t>除了用特殊的方式来创建数据意外，也必须使用特殊的方式来读取它们：</a:t>
            </a:r>
            <a:endParaRPr lang="en-US" altLang="zh-CN" dirty="0"/>
          </a:p>
          <a:p>
            <a:pPr marL="0" indent="0">
              <a:buNone/>
            </a:pPr>
            <a:endParaRPr lang="en-US" altLang="zh-CN" dirty="0"/>
          </a:p>
          <a:p>
            <a:pPr marL="0" indent="0">
              <a:buNone/>
            </a:pPr>
            <a:r>
              <a:rPr lang="zh-CN" altLang="en-US" dirty="0"/>
              <a:t>方法中使用了</a:t>
            </a:r>
            <a:r>
              <a:rPr lang="en-US" altLang="zh-CN" dirty="0"/>
              <a:t>buffer</a:t>
            </a:r>
            <a:r>
              <a:rPr lang="zh-CN" altLang="en-US" dirty="0"/>
              <a:t>变量，这样就可以像普通</a:t>
            </a:r>
            <a:r>
              <a:rPr lang="en-US" altLang="zh-CN" dirty="0"/>
              <a:t>char</a:t>
            </a:r>
            <a:r>
              <a:rPr lang="zh-CN" altLang="en-US" dirty="0"/>
              <a:t>数组一样使用了。当需要定义一个全局变量：</a:t>
            </a:r>
            <a:endParaRPr lang="en-US" altLang="zh-CN" dirty="0"/>
          </a:p>
          <a:p>
            <a:pPr marL="0" indent="0">
              <a:buNone/>
            </a:pPr>
            <a:endParaRPr lang="zh-CN" altLang="en-US" dirty="0"/>
          </a:p>
        </p:txBody>
      </p:sp>
      <p:pic>
        <p:nvPicPr>
          <p:cNvPr id="4" name="图片 3"/>
          <p:cNvPicPr>
            <a:picLocks noChangeAspect="1"/>
          </p:cNvPicPr>
          <p:nvPr/>
        </p:nvPicPr>
        <p:blipFill>
          <a:blip r:embed="rId2"/>
          <a:stretch>
            <a:fillRect/>
          </a:stretch>
        </p:blipFill>
        <p:spPr>
          <a:xfrm>
            <a:off x="685800" y="3153633"/>
            <a:ext cx="8350336" cy="415831"/>
          </a:xfrm>
          <a:prstGeom prst="rect">
            <a:avLst/>
          </a:prstGeom>
        </p:spPr>
      </p:pic>
      <p:pic>
        <p:nvPicPr>
          <p:cNvPr id="5" name="图片 4"/>
          <p:cNvPicPr>
            <a:picLocks noChangeAspect="1"/>
          </p:cNvPicPr>
          <p:nvPr/>
        </p:nvPicPr>
        <p:blipFill>
          <a:blip r:embed="rId3"/>
          <a:stretch>
            <a:fillRect/>
          </a:stretch>
        </p:blipFill>
        <p:spPr>
          <a:xfrm>
            <a:off x="685799" y="5257855"/>
            <a:ext cx="3008513" cy="592101"/>
          </a:xfrm>
          <a:prstGeom prst="rect">
            <a:avLst/>
          </a:prstGeom>
        </p:spPr>
      </p:pic>
    </p:spTree>
  </p:cSld>
  <p:clrMapOvr>
    <a:masterClrMapping/>
  </p:clrMapOvr>
  <p:transition>
    <p:cover dir="d"/>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EEPROM</a:t>
            </a:r>
            <a:endParaRPr lang="zh-CN" altLang="en-US" dirty="0"/>
          </a:p>
        </p:txBody>
      </p:sp>
      <p:sp>
        <p:nvSpPr>
          <p:cNvPr id="3" name="内容占位符 2"/>
          <p:cNvSpPr>
            <a:spLocks noGrp="1"/>
          </p:cNvSpPr>
          <p:nvPr>
            <p:ph idx="1"/>
          </p:nvPr>
        </p:nvSpPr>
        <p:spPr/>
        <p:txBody>
          <a:bodyPr/>
          <a:lstStyle/>
          <a:p>
            <a:pPr marL="0" indent="0" algn="just">
              <a:buNone/>
            </a:pPr>
            <a:r>
              <a:rPr lang="en-US" altLang="zh-CN" dirty="0"/>
              <a:t>Arduino UNO</a:t>
            </a:r>
            <a:r>
              <a:rPr lang="zh-CN" altLang="en-US" dirty="0"/>
              <a:t>核心部位的</a:t>
            </a:r>
            <a:r>
              <a:rPr lang="en-US" altLang="zh-CN" dirty="0"/>
              <a:t>ATMEGA328</a:t>
            </a:r>
            <a:r>
              <a:rPr lang="zh-CN" altLang="en-US" dirty="0"/>
              <a:t>有</a:t>
            </a:r>
            <a:r>
              <a:rPr lang="en-US" altLang="zh-CN" dirty="0"/>
              <a:t>1KB</a:t>
            </a:r>
            <a:r>
              <a:rPr lang="zh-CN" altLang="en-US" dirty="0"/>
              <a:t>的</a:t>
            </a:r>
            <a:r>
              <a:rPr lang="en-US" altLang="zh-CN" dirty="0"/>
              <a:t>EEPROM</a:t>
            </a:r>
            <a:r>
              <a:rPr lang="zh-CN" altLang="en-US" dirty="0"/>
              <a:t>。</a:t>
            </a:r>
            <a:r>
              <a:rPr lang="en-US" altLang="zh-CN" dirty="0"/>
              <a:t>EEPROM</a:t>
            </a:r>
            <a:r>
              <a:rPr lang="zh-CN" altLang="en-US" dirty="0"/>
              <a:t>被设计用来数以年计地存储它其中的数据。尽管它名字中含有“只读”，其实并不是“只读”的，你也可以往里头写东西。</a:t>
            </a:r>
            <a:endParaRPr lang="en-US" altLang="zh-CN" dirty="0"/>
          </a:p>
        </p:txBody>
      </p:sp>
    </p:spTree>
  </p:cSld>
  <p:clrMapOvr>
    <a:masterClrMapping/>
  </p:clrMapOvr>
  <p:transition>
    <p:cover dir="d"/>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157908"/>
            <a:ext cx="2817564" cy="448019"/>
          </a:xfrm>
          <a:solidFill>
            <a:schemeClr val="bg1">
              <a:lumMod val="85000"/>
            </a:schemeClr>
          </a:solidFill>
        </p:spPr>
        <p:txBody>
          <a:bodyPr/>
          <a:lstStyle/>
          <a:p>
            <a:pPr algn="l"/>
            <a:r>
              <a:rPr lang="zh-CN" altLang="en-US" sz="3200" b="1" dirty="0"/>
              <a:t>读写单个字节</a:t>
            </a:r>
          </a:p>
        </p:txBody>
      </p:sp>
      <p:sp>
        <p:nvSpPr>
          <p:cNvPr id="3" name="内容占位符 2"/>
          <p:cNvSpPr>
            <a:spLocks noGrp="1"/>
          </p:cNvSpPr>
          <p:nvPr>
            <p:ph idx="1"/>
          </p:nvPr>
        </p:nvSpPr>
        <p:spPr>
          <a:xfrm>
            <a:off x="685800" y="690391"/>
            <a:ext cx="7772400" cy="5401937"/>
          </a:xfrm>
        </p:spPr>
        <p:txBody>
          <a:bodyPr numCol="2"/>
          <a:lstStyle/>
          <a:p>
            <a:pPr marL="0" indent="0">
              <a:buNone/>
            </a:pPr>
            <a:r>
              <a:rPr lang="en-US" altLang="zh-CN" sz="2000" dirty="0"/>
              <a:t>#include &lt;</a:t>
            </a:r>
            <a:r>
              <a:rPr lang="en-US" altLang="zh-CN" sz="2000" dirty="0" err="1"/>
              <a:t>EEPROM.h</a:t>
            </a:r>
            <a:r>
              <a:rPr lang="en-US" altLang="zh-CN" sz="2000" dirty="0"/>
              <a:t>&gt;</a:t>
            </a:r>
          </a:p>
          <a:p>
            <a:pPr marL="0" indent="0">
              <a:buNone/>
            </a:pPr>
            <a:endParaRPr lang="en-US" altLang="zh-CN" sz="2000" dirty="0"/>
          </a:p>
          <a:p>
            <a:pPr marL="0" indent="0">
              <a:buNone/>
            </a:pPr>
            <a:r>
              <a:rPr lang="en-US" altLang="zh-CN" sz="2000" dirty="0"/>
              <a:t>int </a:t>
            </a:r>
            <a:r>
              <a:rPr lang="en-US" altLang="zh-CN" sz="2000" dirty="0" err="1"/>
              <a:t>addr</a:t>
            </a:r>
            <a:r>
              <a:rPr lang="en-US" altLang="zh-CN" sz="2000" dirty="0"/>
              <a:t> = 0;</a:t>
            </a:r>
          </a:p>
          <a:p>
            <a:pPr marL="0" indent="0">
              <a:buNone/>
            </a:pPr>
            <a:r>
              <a:rPr lang="en-US" altLang="zh-CN" sz="2000" dirty="0"/>
              <a:t>byte </a:t>
            </a:r>
            <a:r>
              <a:rPr lang="en-US" altLang="zh-CN" sz="2000" dirty="0" err="1"/>
              <a:t>ch</a:t>
            </a:r>
            <a:r>
              <a:rPr lang="en-US" altLang="zh-CN" sz="2000" dirty="0"/>
              <a:t>;</a:t>
            </a:r>
          </a:p>
          <a:p>
            <a:pPr marL="0" indent="0">
              <a:buNone/>
            </a:pPr>
            <a:endParaRPr lang="en-US" altLang="zh-CN" sz="2000" dirty="0"/>
          </a:p>
          <a:p>
            <a:pPr marL="0" indent="0">
              <a:buNone/>
            </a:pPr>
            <a:r>
              <a:rPr lang="en-US" altLang="zh-CN" sz="2000" dirty="0"/>
              <a:t>void setup()                 </a:t>
            </a:r>
          </a:p>
          <a:p>
            <a:pPr marL="0" indent="0">
              <a:buNone/>
            </a:pPr>
            <a:r>
              <a:rPr lang="en-US" altLang="zh-CN" sz="2000" dirty="0"/>
              <a:t>{</a:t>
            </a:r>
          </a:p>
          <a:p>
            <a:pPr marL="0" indent="0">
              <a:buNone/>
            </a:pPr>
            <a:r>
              <a:rPr lang="en-US" altLang="zh-CN" sz="2000" dirty="0"/>
              <a:t>  </a:t>
            </a:r>
            <a:r>
              <a:rPr lang="en-US" altLang="zh-CN" sz="2000" dirty="0" err="1"/>
              <a:t>Serial.begin</a:t>
            </a:r>
            <a:r>
              <a:rPr lang="en-US" altLang="zh-CN" sz="2000" dirty="0"/>
              <a:t>(9600);</a:t>
            </a:r>
          </a:p>
          <a:p>
            <a:pPr marL="0" indent="0">
              <a:buNone/>
            </a:pPr>
            <a:r>
              <a:rPr lang="en-US" altLang="zh-CN" sz="2000" dirty="0"/>
              <a:t>  </a:t>
            </a:r>
            <a:r>
              <a:rPr lang="en-US" altLang="zh-CN" sz="2000" dirty="0" err="1"/>
              <a:t>ch</a:t>
            </a:r>
            <a:r>
              <a:rPr lang="en-US" altLang="zh-CN" sz="2000" dirty="0"/>
              <a:t> = </a:t>
            </a:r>
            <a:r>
              <a:rPr lang="en-US" altLang="zh-CN" sz="2000" dirty="0" err="1"/>
              <a:t>EEPROM.read</a:t>
            </a:r>
            <a:r>
              <a:rPr lang="en-US" altLang="zh-CN" sz="2000" dirty="0"/>
              <a:t>(</a:t>
            </a:r>
            <a:r>
              <a:rPr lang="en-US" altLang="zh-CN" sz="2000" dirty="0" err="1"/>
              <a:t>addr</a:t>
            </a:r>
            <a:r>
              <a:rPr lang="en-US" altLang="zh-CN" sz="2000" dirty="0"/>
              <a:t>);</a:t>
            </a:r>
          </a:p>
          <a:p>
            <a:pPr marL="0" indent="0">
              <a:buNone/>
            </a:pPr>
            <a:r>
              <a:rPr lang="en-US" altLang="zh-CN" sz="2000" dirty="0"/>
              <a:t>  </a:t>
            </a:r>
            <a:r>
              <a:rPr lang="en-US" altLang="zh-CN" sz="2000" dirty="0" err="1"/>
              <a:t>Serial.print</a:t>
            </a:r>
            <a:r>
              <a:rPr lang="en-US" altLang="zh-CN" sz="2000" dirty="0"/>
              <a:t>("</a:t>
            </a:r>
            <a:r>
              <a:rPr lang="en-US" altLang="zh-CN" sz="2000" dirty="0" err="1"/>
              <a:t>ch</a:t>
            </a:r>
            <a:r>
              <a:rPr lang="en-US" altLang="zh-CN" sz="2000" dirty="0"/>
              <a:t> = ");</a:t>
            </a:r>
          </a:p>
          <a:p>
            <a:pPr marL="0" indent="0">
              <a:buNone/>
            </a:pPr>
            <a:r>
              <a:rPr lang="en-US" altLang="zh-CN" sz="2000" dirty="0"/>
              <a:t>  </a:t>
            </a:r>
            <a:r>
              <a:rPr lang="en-US" altLang="zh-CN" sz="2000" dirty="0" err="1"/>
              <a:t>Serial.println</a:t>
            </a:r>
            <a:r>
              <a:rPr lang="en-US" altLang="zh-CN" sz="2000" dirty="0"/>
              <a:t>(char(</a:t>
            </a:r>
            <a:r>
              <a:rPr lang="en-US" altLang="zh-CN" sz="2000" dirty="0" err="1"/>
              <a:t>ch</a:t>
            </a:r>
            <a:r>
              <a:rPr lang="en-US" altLang="zh-CN" sz="2000" dirty="0"/>
              <a:t>));</a:t>
            </a:r>
          </a:p>
          <a:p>
            <a:pPr marL="0" indent="0">
              <a:buNone/>
            </a:pPr>
            <a:r>
              <a:rPr lang="en-US" altLang="zh-CN" sz="2000" dirty="0"/>
              <a:t>}</a:t>
            </a:r>
          </a:p>
          <a:p>
            <a:pPr marL="0" indent="0">
              <a:buNone/>
            </a:pPr>
            <a:endParaRPr lang="en-US" altLang="zh-CN" sz="2000" dirty="0"/>
          </a:p>
          <a:p>
            <a:pPr marL="0" indent="0">
              <a:buNone/>
            </a:pPr>
            <a:r>
              <a:rPr lang="en-US" altLang="zh-CN" sz="2000" dirty="0"/>
              <a:t>void loop()                    </a:t>
            </a:r>
          </a:p>
          <a:p>
            <a:pPr marL="0" indent="0">
              <a:buNone/>
            </a:pPr>
            <a:r>
              <a:rPr lang="en-US" altLang="zh-CN" sz="2000" dirty="0"/>
              <a:t>{</a:t>
            </a:r>
          </a:p>
          <a:p>
            <a:pPr marL="0" indent="0">
              <a:buNone/>
            </a:pPr>
            <a:r>
              <a:rPr lang="en-US" altLang="zh-CN" sz="2000" dirty="0"/>
              <a:t>  if (</a:t>
            </a:r>
            <a:r>
              <a:rPr lang="en-US" altLang="zh-CN" sz="2000" dirty="0" err="1"/>
              <a:t>Serial.available</a:t>
            </a:r>
            <a:r>
              <a:rPr lang="en-US" altLang="zh-CN" sz="2000" dirty="0"/>
              <a:t>() &gt; 0)</a:t>
            </a:r>
          </a:p>
          <a:p>
            <a:pPr marL="0" indent="0">
              <a:buNone/>
            </a:pPr>
            <a:r>
              <a:rPr lang="en-US" altLang="zh-CN" sz="2000" dirty="0"/>
              <a:t>  {</a:t>
            </a:r>
          </a:p>
          <a:p>
            <a:pPr marL="0" indent="0">
              <a:buNone/>
            </a:pPr>
            <a:r>
              <a:rPr lang="en-US" altLang="zh-CN" sz="2000" dirty="0"/>
              <a:t>    </a:t>
            </a:r>
            <a:r>
              <a:rPr lang="en-US" altLang="zh-CN" sz="2000" dirty="0" err="1"/>
              <a:t>ch</a:t>
            </a:r>
            <a:r>
              <a:rPr lang="en-US" altLang="zh-CN" sz="2000" dirty="0"/>
              <a:t> = </a:t>
            </a:r>
            <a:r>
              <a:rPr lang="en-US" altLang="zh-CN" sz="2000" dirty="0" err="1"/>
              <a:t>Serial.read</a:t>
            </a:r>
            <a:r>
              <a:rPr lang="en-US" altLang="zh-CN" sz="2000" dirty="0"/>
              <a:t>();</a:t>
            </a:r>
          </a:p>
          <a:p>
            <a:pPr marL="0" indent="0">
              <a:buNone/>
            </a:pPr>
            <a:r>
              <a:rPr lang="en-US" altLang="zh-CN" sz="2000" dirty="0"/>
              <a:t>    </a:t>
            </a:r>
            <a:r>
              <a:rPr lang="en-US" altLang="zh-CN" sz="2000" dirty="0" err="1"/>
              <a:t>EEPROM.write</a:t>
            </a:r>
            <a:r>
              <a:rPr lang="en-US" altLang="zh-CN" sz="2000" dirty="0"/>
              <a:t>(</a:t>
            </a:r>
            <a:r>
              <a:rPr lang="en-US" altLang="zh-CN" sz="2000" dirty="0" err="1"/>
              <a:t>addr</a:t>
            </a:r>
            <a:r>
              <a:rPr lang="en-US" altLang="zh-CN" sz="2000" dirty="0"/>
              <a:t>, </a:t>
            </a:r>
            <a:r>
              <a:rPr lang="en-US" altLang="zh-CN" sz="2000" dirty="0" err="1"/>
              <a:t>ch</a:t>
            </a:r>
            <a:r>
              <a:rPr lang="en-US" altLang="zh-CN" sz="2000" dirty="0"/>
              <a:t>);</a:t>
            </a:r>
          </a:p>
          <a:p>
            <a:pPr marL="0" indent="0">
              <a:buNone/>
            </a:pPr>
            <a:r>
              <a:rPr lang="en-US" altLang="zh-CN" sz="2000" dirty="0"/>
              <a:t>    </a:t>
            </a:r>
            <a:r>
              <a:rPr lang="en-US" altLang="zh-CN" sz="2000" dirty="0" err="1"/>
              <a:t>Serial.print</a:t>
            </a:r>
            <a:r>
              <a:rPr lang="en-US" altLang="zh-CN" sz="2000" dirty="0"/>
              <a:t>("saved: ");</a:t>
            </a:r>
          </a:p>
          <a:p>
            <a:pPr marL="0" indent="0">
              <a:buNone/>
            </a:pPr>
            <a:r>
              <a:rPr lang="en-US" altLang="zh-CN" sz="2000" dirty="0"/>
              <a:t>    </a:t>
            </a:r>
            <a:r>
              <a:rPr lang="en-US" altLang="zh-CN" sz="2000" dirty="0" err="1"/>
              <a:t>Serial.println</a:t>
            </a:r>
            <a:r>
              <a:rPr lang="en-US" altLang="zh-CN" sz="2000" dirty="0"/>
              <a:t>(char(</a:t>
            </a:r>
            <a:r>
              <a:rPr lang="en-US" altLang="zh-CN" sz="2000" dirty="0" err="1"/>
              <a:t>ch</a:t>
            </a:r>
            <a:r>
              <a:rPr lang="en-US" altLang="zh-CN" sz="2000" dirty="0"/>
              <a:t>));</a:t>
            </a:r>
          </a:p>
          <a:p>
            <a:pPr marL="0" indent="0">
              <a:buNone/>
            </a:pPr>
            <a:r>
              <a:rPr lang="en-US" altLang="zh-CN" sz="2000" dirty="0"/>
              <a:t>  }</a:t>
            </a:r>
          </a:p>
          <a:p>
            <a:pPr marL="0" indent="0">
              <a:buNone/>
            </a:pPr>
            <a:endParaRPr lang="en-US" altLang="zh-CN" sz="2000" dirty="0"/>
          </a:p>
          <a:p>
            <a:pPr marL="0" indent="0">
              <a:buNone/>
            </a:pPr>
            <a:r>
              <a:rPr lang="en-US" altLang="zh-CN" sz="2000" dirty="0"/>
              <a:t>  while (</a:t>
            </a:r>
            <a:r>
              <a:rPr lang="en-US" altLang="zh-CN" sz="2000" dirty="0" err="1"/>
              <a:t>Serial.available</a:t>
            </a:r>
            <a:r>
              <a:rPr lang="en-US" altLang="zh-CN" sz="2000" dirty="0"/>
              <a:t>() &gt; 0) {</a:t>
            </a:r>
          </a:p>
          <a:p>
            <a:pPr marL="0" indent="0">
              <a:buNone/>
            </a:pPr>
            <a:r>
              <a:rPr lang="en-US" altLang="zh-CN" sz="2000" dirty="0"/>
              <a:t>    </a:t>
            </a:r>
            <a:r>
              <a:rPr lang="en-US" altLang="zh-CN" sz="2000" dirty="0" err="1"/>
              <a:t>Serial.read</a:t>
            </a:r>
            <a:r>
              <a:rPr lang="en-US" altLang="zh-CN" sz="2000" dirty="0"/>
              <a:t>();</a:t>
            </a:r>
          </a:p>
          <a:p>
            <a:pPr marL="0" indent="0">
              <a:buNone/>
            </a:pPr>
            <a:r>
              <a:rPr lang="en-US" altLang="zh-CN" sz="2000" dirty="0"/>
              <a:t>  }</a:t>
            </a:r>
          </a:p>
          <a:p>
            <a:pPr marL="0" indent="0">
              <a:buNone/>
            </a:pPr>
            <a:r>
              <a:rPr lang="en-US" altLang="zh-CN" sz="2000" dirty="0"/>
              <a:t>  </a:t>
            </a:r>
          </a:p>
          <a:p>
            <a:pPr marL="0" indent="0">
              <a:buNone/>
            </a:pPr>
            <a:r>
              <a:rPr lang="en-US" altLang="zh-CN" sz="2000" dirty="0"/>
              <a:t>  delay(1000);</a:t>
            </a:r>
          </a:p>
          <a:p>
            <a:pPr marL="0" indent="0">
              <a:buNone/>
            </a:pPr>
            <a:r>
              <a:rPr lang="en-US" altLang="zh-CN" sz="2000" dirty="0"/>
              <a:t>}</a:t>
            </a:r>
            <a:endParaRPr lang="zh-CN" altLang="en-US" sz="2000" dirty="0"/>
          </a:p>
        </p:txBody>
      </p:sp>
      <p:cxnSp>
        <p:nvCxnSpPr>
          <p:cNvPr id="5" name="直接连接符 4"/>
          <p:cNvCxnSpPr/>
          <p:nvPr/>
        </p:nvCxnSpPr>
        <p:spPr bwMode="auto">
          <a:xfrm>
            <a:off x="4406747" y="605927"/>
            <a:ext cx="22034" cy="5486401"/>
          </a:xfrm>
          <a:prstGeom prst="line">
            <a:avLst/>
          </a:prstGeom>
          <a:solidFill>
            <a:schemeClr val="accent1"/>
          </a:solidFill>
          <a:ln w="19050" cap="flat" cmpd="sng" algn="ctr">
            <a:solidFill>
              <a:srgbClr val="FF000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ransition>
    <p:cover dir="d"/>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157908"/>
            <a:ext cx="2817564" cy="448019"/>
          </a:xfrm>
          <a:solidFill>
            <a:schemeClr val="bg1">
              <a:lumMod val="85000"/>
            </a:schemeClr>
          </a:solidFill>
        </p:spPr>
        <p:txBody>
          <a:bodyPr/>
          <a:lstStyle/>
          <a:p>
            <a:pPr algn="l"/>
            <a:r>
              <a:rPr lang="zh-CN" altLang="en-US" sz="3200" b="1" dirty="0"/>
              <a:t>读写多个字节</a:t>
            </a:r>
          </a:p>
        </p:txBody>
      </p:sp>
      <p:sp>
        <p:nvSpPr>
          <p:cNvPr id="3" name="内容占位符 2"/>
          <p:cNvSpPr>
            <a:spLocks noGrp="1"/>
          </p:cNvSpPr>
          <p:nvPr>
            <p:ph idx="1"/>
          </p:nvPr>
        </p:nvSpPr>
        <p:spPr>
          <a:xfrm>
            <a:off x="685800" y="690391"/>
            <a:ext cx="7772400" cy="5401937"/>
          </a:xfrm>
        </p:spPr>
        <p:txBody>
          <a:bodyPr numCol="2"/>
          <a:lstStyle/>
          <a:p>
            <a:pPr marL="0" indent="0">
              <a:buNone/>
            </a:pPr>
            <a:r>
              <a:rPr lang="en-US" altLang="zh-CN" sz="1800" dirty="0"/>
              <a:t>#include &lt;</a:t>
            </a:r>
            <a:r>
              <a:rPr lang="en-US" altLang="zh-CN" sz="1800" dirty="0" err="1"/>
              <a:t>EEPROM.h</a:t>
            </a:r>
            <a:r>
              <a:rPr lang="en-US" altLang="zh-CN" sz="1800" dirty="0"/>
              <a:t>&gt;</a:t>
            </a:r>
          </a:p>
          <a:p>
            <a:pPr marL="0" indent="0">
              <a:buNone/>
            </a:pPr>
            <a:endParaRPr lang="en-US" altLang="zh-CN" sz="1800" dirty="0"/>
          </a:p>
          <a:p>
            <a:pPr marL="0" indent="0">
              <a:buNone/>
            </a:pPr>
            <a:r>
              <a:rPr lang="en-US" altLang="zh-CN" sz="1800" dirty="0"/>
              <a:t>int </a:t>
            </a:r>
            <a:r>
              <a:rPr lang="en-US" altLang="zh-CN" sz="1800" dirty="0" err="1"/>
              <a:t>addr</a:t>
            </a:r>
            <a:r>
              <a:rPr lang="en-US" altLang="zh-CN" sz="1800" dirty="0"/>
              <a:t> = 0;</a:t>
            </a:r>
          </a:p>
          <a:p>
            <a:pPr marL="0" indent="0">
              <a:buNone/>
            </a:pPr>
            <a:endParaRPr lang="en-US" altLang="zh-CN" sz="1800" dirty="0"/>
          </a:p>
          <a:p>
            <a:pPr marL="0" indent="0">
              <a:buNone/>
            </a:pPr>
            <a:r>
              <a:rPr lang="en-US" altLang="zh-CN" sz="1800" dirty="0"/>
              <a:t>struct </a:t>
            </a:r>
            <a:r>
              <a:rPr lang="en-US" altLang="zh-CN" sz="1800" dirty="0" err="1"/>
              <a:t>MyObject</a:t>
            </a:r>
            <a:r>
              <a:rPr lang="en-US" altLang="zh-CN" sz="1800" dirty="0"/>
              <a:t> {</a:t>
            </a:r>
          </a:p>
          <a:p>
            <a:pPr marL="0" indent="0">
              <a:buNone/>
            </a:pPr>
            <a:r>
              <a:rPr lang="en-US" altLang="zh-CN" sz="1800" dirty="0"/>
              <a:t>  float field1;</a:t>
            </a:r>
          </a:p>
          <a:p>
            <a:pPr marL="0" indent="0">
              <a:buNone/>
            </a:pPr>
            <a:r>
              <a:rPr lang="en-US" altLang="zh-CN" sz="1800" dirty="0"/>
              <a:t>  byte field2;</a:t>
            </a:r>
          </a:p>
          <a:p>
            <a:pPr marL="0" indent="0">
              <a:buNone/>
            </a:pPr>
            <a:r>
              <a:rPr lang="en-US" altLang="zh-CN" sz="1800" dirty="0"/>
              <a:t>  char name[10];</a:t>
            </a:r>
          </a:p>
          <a:p>
            <a:pPr marL="0" indent="0">
              <a:buNone/>
            </a:pPr>
            <a:r>
              <a:rPr lang="en-US" altLang="zh-CN" sz="1800" dirty="0"/>
              <a:t>};</a:t>
            </a:r>
          </a:p>
          <a:p>
            <a:pPr marL="0" indent="0">
              <a:buNone/>
            </a:pPr>
            <a:endParaRPr lang="en-US" altLang="zh-CN" sz="1800" dirty="0"/>
          </a:p>
          <a:p>
            <a:pPr marL="0" indent="0">
              <a:buNone/>
            </a:pPr>
            <a:r>
              <a:rPr lang="en-US" altLang="zh-CN" sz="1800" dirty="0" err="1"/>
              <a:t>MyObject</a:t>
            </a:r>
            <a:r>
              <a:rPr lang="en-US" altLang="zh-CN" sz="1800" dirty="0"/>
              <a:t> </a:t>
            </a:r>
            <a:r>
              <a:rPr lang="en-US" altLang="zh-CN" sz="1800" dirty="0" err="1"/>
              <a:t>customVar</a:t>
            </a:r>
            <a:r>
              <a:rPr lang="en-US" altLang="zh-CN" sz="1800" dirty="0"/>
              <a:t>;</a:t>
            </a:r>
          </a:p>
          <a:p>
            <a:pPr marL="0" indent="0">
              <a:buNone/>
            </a:pPr>
            <a:endParaRPr lang="en-US" altLang="zh-CN" sz="1800" dirty="0"/>
          </a:p>
          <a:p>
            <a:pPr marL="0" indent="0">
              <a:buNone/>
            </a:pPr>
            <a:r>
              <a:rPr lang="en-US" altLang="zh-CN" sz="1800" dirty="0"/>
              <a:t>void setup()                 </a:t>
            </a:r>
          </a:p>
          <a:p>
            <a:pPr marL="0" indent="0">
              <a:buNone/>
            </a:pPr>
            <a:r>
              <a:rPr lang="en-US" altLang="zh-CN" sz="1800" dirty="0"/>
              <a:t>{</a:t>
            </a:r>
          </a:p>
          <a:p>
            <a:pPr marL="0" indent="0">
              <a:buNone/>
            </a:pPr>
            <a:r>
              <a:rPr lang="en-US" altLang="zh-CN" sz="1800" dirty="0"/>
              <a:t>  </a:t>
            </a:r>
            <a:r>
              <a:rPr lang="en-US" altLang="zh-CN" sz="1800" dirty="0" err="1"/>
              <a:t>Serial.begin</a:t>
            </a:r>
            <a:r>
              <a:rPr lang="en-US" altLang="zh-CN" sz="1800" dirty="0"/>
              <a:t>(9600);</a:t>
            </a:r>
          </a:p>
          <a:p>
            <a:pPr marL="0" indent="0">
              <a:buNone/>
            </a:pPr>
            <a:r>
              <a:rPr lang="en-US" altLang="zh-CN" sz="1800" dirty="0"/>
              <a:t>  </a:t>
            </a:r>
            <a:r>
              <a:rPr lang="en-US" altLang="zh-CN" sz="1800" dirty="0" err="1"/>
              <a:t>EEPROM.get</a:t>
            </a:r>
            <a:r>
              <a:rPr lang="en-US" altLang="zh-CN" sz="1800" dirty="0"/>
              <a:t>(</a:t>
            </a:r>
            <a:r>
              <a:rPr lang="en-US" altLang="zh-CN" sz="1800" dirty="0" err="1"/>
              <a:t>addr</a:t>
            </a:r>
            <a:r>
              <a:rPr lang="en-US" altLang="zh-CN" sz="1800" dirty="0"/>
              <a:t>, </a:t>
            </a:r>
            <a:r>
              <a:rPr lang="en-US" altLang="zh-CN" sz="1800" dirty="0" err="1"/>
              <a:t>customVar</a:t>
            </a:r>
            <a:r>
              <a:rPr lang="en-US" altLang="zh-CN" sz="1800" dirty="0"/>
              <a:t>);</a:t>
            </a:r>
          </a:p>
          <a:p>
            <a:pPr marL="0" indent="0">
              <a:buNone/>
            </a:pPr>
            <a:r>
              <a:rPr lang="en-US" altLang="zh-CN" sz="1800" dirty="0"/>
              <a:t>  </a:t>
            </a:r>
            <a:r>
              <a:rPr lang="en-US" altLang="zh-CN" sz="1800" dirty="0" err="1"/>
              <a:t>Serial.println</a:t>
            </a:r>
            <a:r>
              <a:rPr lang="en-US" altLang="zh-CN" sz="1800" dirty="0"/>
              <a:t>("</a:t>
            </a:r>
            <a:r>
              <a:rPr lang="en-US" altLang="zh-CN" sz="1800" dirty="0" err="1"/>
              <a:t>customVar</a:t>
            </a:r>
            <a:r>
              <a:rPr lang="en-US" altLang="zh-CN" sz="1800" dirty="0"/>
              <a:t> = ");</a:t>
            </a:r>
          </a:p>
          <a:p>
            <a:pPr marL="0" indent="0">
              <a:buNone/>
            </a:pPr>
            <a:r>
              <a:rPr lang="en-US" altLang="zh-CN" sz="1800" dirty="0"/>
              <a:t>  </a:t>
            </a:r>
            <a:r>
              <a:rPr lang="en-US" altLang="zh-CN" sz="1800" dirty="0" err="1"/>
              <a:t>Serial.println</a:t>
            </a:r>
            <a:r>
              <a:rPr lang="en-US" altLang="zh-CN" sz="1800" dirty="0"/>
              <a:t>(customVar.field1);</a:t>
            </a:r>
          </a:p>
          <a:p>
            <a:pPr marL="0" indent="0">
              <a:buNone/>
            </a:pPr>
            <a:r>
              <a:rPr lang="en-US" altLang="zh-CN" sz="1800" dirty="0"/>
              <a:t>  </a:t>
            </a:r>
            <a:r>
              <a:rPr lang="en-US" altLang="zh-CN" sz="1800" dirty="0" err="1"/>
              <a:t>Serial.println</a:t>
            </a:r>
            <a:r>
              <a:rPr lang="en-US" altLang="zh-CN" sz="1800" dirty="0"/>
              <a:t>(customVar.field2);</a:t>
            </a:r>
          </a:p>
          <a:p>
            <a:pPr marL="0" indent="0">
              <a:buNone/>
            </a:pPr>
            <a:r>
              <a:rPr lang="en-US" altLang="zh-CN" sz="1800" dirty="0"/>
              <a:t>  </a:t>
            </a:r>
            <a:r>
              <a:rPr lang="en-US" altLang="zh-CN" sz="1800" dirty="0" err="1"/>
              <a:t>Serial.println</a:t>
            </a:r>
            <a:r>
              <a:rPr lang="en-US" altLang="zh-CN" sz="1800" dirty="0"/>
              <a:t>(customVar.name);</a:t>
            </a:r>
          </a:p>
          <a:p>
            <a:pPr marL="0" indent="0">
              <a:buNone/>
            </a:pPr>
            <a:endParaRPr lang="en-US" altLang="zh-CN" sz="1800" dirty="0"/>
          </a:p>
          <a:p>
            <a:pPr marL="0" indent="0">
              <a:buNone/>
            </a:pPr>
            <a:r>
              <a:rPr lang="en-US" altLang="zh-CN" sz="1800" dirty="0"/>
              <a:t>  customVar.field1 = 123.123;</a:t>
            </a:r>
          </a:p>
          <a:p>
            <a:pPr marL="0" indent="0">
              <a:buNone/>
            </a:pPr>
            <a:r>
              <a:rPr lang="en-US" altLang="zh-CN" sz="1800" dirty="0"/>
              <a:t>  customVar.field2 = 'c';</a:t>
            </a:r>
          </a:p>
          <a:p>
            <a:pPr marL="0" indent="0">
              <a:buNone/>
            </a:pPr>
            <a:r>
              <a:rPr lang="en-US" altLang="zh-CN" sz="1800" dirty="0"/>
              <a:t>  </a:t>
            </a:r>
            <a:r>
              <a:rPr lang="en-US" altLang="zh-CN" sz="1800" dirty="0" err="1"/>
              <a:t>strcpy</a:t>
            </a:r>
            <a:r>
              <a:rPr lang="en-US" altLang="zh-CN" sz="1800" dirty="0"/>
              <a:t>(customVar.name, "hello");</a:t>
            </a:r>
          </a:p>
          <a:p>
            <a:pPr marL="0" indent="0">
              <a:buNone/>
            </a:pPr>
            <a:endParaRPr lang="en-US" altLang="zh-CN" sz="1800" dirty="0"/>
          </a:p>
          <a:p>
            <a:pPr marL="0" indent="0">
              <a:buNone/>
            </a:pPr>
            <a:r>
              <a:rPr lang="en-US" altLang="zh-CN" sz="1800" dirty="0"/>
              <a:t>  </a:t>
            </a:r>
            <a:r>
              <a:rPr lang="en-US" altLang="zh-CN" sz="1800" dirty="0" err="1"/>
              <a:t>EEPROM.put</a:t>
            </a:r>
            <a:r>
              <a:rPr lang="en-US" altLang="zh-CN" sz="1800" dirty="0"/>
              <a:t>(</a:t>
            </a:r>
            <a:r>
              <a:rPr lang="en-US" altLang="zh-CN" sz="1800" dirty="0" err="1"/>
              <a:t>addr</a:t>
            </a:r>
            <a:r>
              <a:rPr lang="en-US" altLang="zh-CN" sz="1800" dirty="0"/>
              <a:t>, </a:t>
            </a:r>
            <a:r>
              <a:rPr lang="en-US" altLang="zh-CN" sz="1800" dirty="0" err="1"/>
              <a:t>customVar</a:t>
            </a:r>
            <a:r>
              <a:rPr lang="en-US" altLang="zh-CN" sz="1800" dirty="0"/>
              <a:t>);</a:t>
            </a:r>
          </a:p>
          <a:p>
            <a:pPr marL="0" indent="0">
              <a:buNone/>
            </a:pPr>
            <a:r>
              <a:rPr lang="en-US" altLang="zh-CN" sz="1800" dirty="0"/>
              <a:t>}</a:t>
            </a:r>
          </a:p>
          <a:p>
            <a:pPr marL="0" indent="0">
              <a:buNone/>
            </a:pPr>
            <a:endParaRPr lang="en-US" altLang="zh-CN" sz="1800" dirty="0"/>
          </a:p>
          <a:p>
            <a:pPr marL="0" indent="0">
              <a:buNone/>
            </a:pPr>
            <a:r>
              <a:rPr lang="en-US" altLang="zh-CN" sz="1800" dirty="0"/>
              <a:t>void loop()                    </a:t>
            </a:r>
          </a:p>
          <a:p>
            <a:pPr marL="0" indent="0">
              <a:buNone/>
            </a:pPr>
            <a:r>
              <a:rPr lang="en-US" altLang="zh-CN" sz="1800" dirty="0"/>
              <a:t>{</a:t>
            </a:r>
          </a:p>
          <a:p>
            <a:pPr marL="0" indent="0">
              <a:buNone/>
            </a:pPr>
            <a:r>
              <a:rPr lang="en-US" altLang="zh-CN" sz="1800" dirty="0"/>
              <a:t>}</a:t>
            </a:r>
            <a:endParaRPr lang="zh-CN" altLang="en-US" sz="1800" dirty="0"/>
          </a:p>
        </p:txBody>
      </p:sp>
      <p:cxnSp>
        <p:nvCxnSpPr>
          <p:cNvPr id="5" name="直接连接符 4"/>
          <p:cNvCxnSpPr/>
          <p:nvPr/>
        </p:nvCxnSpPr>
        <p:spPr bwMode="auto">
          <a:xfrm>
            <a:off x="4406747" y="605927"/>
            <a:ext cx="22034" cy="5486401"/>
          </a:xfrm>
          <a:prstGeom prst="line">
            <a:avLst/>
          </a:prstGeom>
          <a:solidFill>
            <a:schemeClr val="accent1"/>
          </a:solidFill>
          <a:ln w="19050" cap="flat" cmpd="sng" algn="ctr">
            <a:solidFill>
              <a:srgbClr val="FF000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87865253"/>
      </p:ext>
    </p:extLst>
  </p:cSld>
  <p:clrMapOvr>
    <a:masterClrMapping/>
  </p:clrMapOvr>
  <p:transition>
    <p:cover dir="d"/>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84094" y="515471"/>
            <a:ext cx="7772400" cy="1143000"/>
          </a:xfrm>
        </p:spPr>
        <p:txBody>
          <a:bodyPr/>
          <a:lstStyle/>
          <a:p>
            <a:pPr algn="l"/>
            <a:r>
              <a:rPr lang="zh-CN" altLang="en-US" dirty="0"/>
              <a:t>清空</a:t>
            </a:r>
            <a:r>
              <a:rPr lang="en-US" altLang="zh-CN" dirty="0"/>
              <a:t>EEPROM</a:t>
            </a:r>
            <a:r>
              <a:rPr lang="zh-CN" altLang="en-US" dirty="0"/>
              <a:t>的内容</a:t>
            </a:r>
          </a:p>
        </p:txBody>
      </p:sp>
      <p:sp>
        <p:nvSpPr>
          <p:cNvPr id="3" name="内容占位符 2"/>
          <p:cNvSpPr>
            <a:spLocks noGrp="1"/>
          </p:cNvSpPr>
          <p:nvPr>
            <p:ph idx="1"/>
          </p:nvPr>
        </p:nvSpPr>
        <p:spPr>
          <a:xfrm>
            <a:off x="484094" y="1658471"/>
            <a:ext cx="8166847" cy="4437529"/>
          </a:xfrm>
        </p:spPr>
        <p:txBody>
          <a:bodyPr/>
          <a:lstStyle/>
          <a:p>
            <a:pPr marL="0" indent="0" algn="just">
              <a:buNone/>
            </a:pPr>
            <a:r>
              <a:rPr lang="zh-CN" altLang="en-US" dirty="0"/>
              <a:t>往</a:t>
            </a:r>
            <a:r>
              <a:rPr lang="en-US" altLang="zh-CN" dirty="0"/>
              <a:t>EEPROM</a:t>
            </a:r>
            <a:r>
              <a:rPr lang="zh-CN" altLang="en-US" dirty="0"/>
              <a:t>中写的时候需要注意，即使你上传新的程序也不会清空</a:t>
            </a:r>
            <a:r>
              <a:rPr lang="en-US" altLang="zh-CN" dirty="0"/>
              <a:t>EEPROM</a:t>
            </a:r>
            <a:r>
              <a:rPr lang="zh-CN" altLang="en-US" dirty="0"/>
              <a:t>，所以可能会有在其中遗留一些以前的项目的数据。</a:t>
            </a:r>
            <a:endParaRPr lang="en-US" altLang="zh-CN" dirty="0"/>
          </a:p>
          <a:p>
            <a:pPr marL="0" indent="0" algn="just">
              <a:buNone/>
            </a:pPr>
            <a:r>
              <a:rPr lang="zh-CN" altLang="en-US" dirty="0"/>
              <a:t>还需要注意的是，</a:t>
            </a:r>
            <a:r>
              <a:rPr lang="en-US" altLang="zh-CN" dirty="0"/>
              <a:t>EEPROM</a:t>
            </a:r>
            <a:r>
              <a:rPr lang="zh-CN" altLang="en-US" dirty="0"/>
              <a:t>的同一个位置只能被读写</a:t>
            </a:r>
            <a:r>
              <a:rPr lang="en-US" altLang="zh-CN" dirty="0"/>
              <a:t>10</a:t>
            </a:r>
            <a:r>
              <a:rPr lang="zh-CN" altLang="en-US" dirty="0"/>
              <a:t>万次，之后就变得不再可靠了，所以最好只在其中写一些真正需要写入的东西。而且</a:t>
            </a:r>
            <a:r>
              <a:rPr lang="en-US" altLang="zh-CN" dirty="0"/>
              <a:t>EEPROM</a:t>
            </a:r>
            <a:r>
              <a:rPr lang="zh-CN" altLang="en-US" dirty="0"/>
              <a:t>还很慢，需要</a:t>
            </a:r>
            <a:r>
              <a:rPr lang="en-US" altLang="zh-CN" dirty="0"/>
              <a:t>3ms</a:t>
            </a:r>
            <a:r>
              <a:rPr lang="zh-CN" altLang="en-US" dirty="0"/>
              <a:t>才能写入</a:t>
            </a:r>
            <a:r>
              <a:rPr lang="en-US" altLang="zh-CN" dirty="0"/>
              <a:t>1</a:t>
            </a:r>
            <a:r>
              <a:rPr lang="zh-CN" altLang="en-US" dirty="0"/>
              <a:t>字节。</a:t>
            </a:r>
          </a:p>
        </p:txBody>
      </p:sp>
    </p:spTree>
  </p:cSld>
  <p:clrMapOvr>
    <a:masterClrMapping/>
  </p:clrMapOvr>
  <p:transition>
    <p:cover dir="d"/>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179294"/>
            <a:ext cx="2792506" cy="421341"/>
          </a:xfrm>
          <a:solidFill>
            <a:schemeClr val="bg1">
              <a:lumMod val="85000"/>
            </a:schemeClr>
          </a:solidFill>
        </p:spPr>
        <p:txBody>
          <a:bodyPr/>
          <a:lstStyle/>
          <a:p>
            <a:pPr algn="l"/>
            <a:r>
              <a:rPr lang="zh-CN" altLang="en-US" sz="3200" b="1" dirty="0"/>
              <a:t>清空</a:t>
            </a:r>
            <a:r>
              <a:rPr lang="en-US" altLang="zh-CN" sz="3200" b="1" dirty="0"/>
              <a:t>EEPROM</a:t>
            </a:r>
            <a:endParaRPr lang="zh-CN" altLang="en-US" sz="3200" b="1" dirty="0"/>
          </a:p>
        </p:txBody>
      </p:sp>
      <p:sp>
        <p:nvSpPr>
          <p:cNvPr id="3" name="内容占位符 2"/>
          <p:cNvSpPr>
            <a:spLocks noGrp="1"/>
          </p:cNvSpPr>
          <p:nvPr>
            <p:ph idx="1"/>
          </p:nvPr>
        </p:nvSpPr>
        <p:spPr>
          <a:xfrm>
            <a:off x="685800" y="753035"/>
            <a:ext cx="7772400" cy="5342965"/>
          </a:xfrm>
        </p:spPr>
        <p:txBody>
          <a:bodyPr/>
          <a:lstStyle/>
          <a:p>
            <a:pPr marL="0" indent="0">
              <a:spcBef>
                <a:spcPts val="0"/>
              </a:spcBef>
              <a:buNone/>
            </a:pPr>
            <a:r>
              <a:rPr lang="en-US" altLang="zh-CN" sz="2400" dirty="0"/>
              <a:t>#include &lt;</a:t>
            </a:r>
            <a:r>
              <a:rPr lang="en-US" altLang="zh-CN" sz="2400" dirty="0" err="1"/>
              <a:t>EEPROM.h</a:t>
            </a:r>
            <a:r>
              <a:rPr lang="en-US" altLang="zh-CN" sz="2400" dirty="0"/>
              <a:t>&gt;</a:t>
            </a:r>
          </a:p>
          <a:p>
            <a:pPr marL="0" indent="0">
              <a:spcBef>
                <a:spcPts val="0"/>
              </a:spcBef>
              <a:buNone/>
            </a:pPr>
            <a:endParaRPr lang="en-US" altLang="zh-CN" sz="2400" dirty="0"/>
          </a:p>
          <a:p>
            <a:pPr marL="0" indent="0">
              <a:spcBef>
                <a:spcPts val="0"/>
              </a:spcBef>
              <a:buNone/>
            </a:pPr>
            <a:r>
              <a:rPr lang="en-US" altLang="zh-CN" sz="2400" dirty="0"/>
              <a:t>void setup()                 </a:t>
            </a:r>
          </a:p>
          <a:p>
            <a:pPr marL="0" indent="0">
              <a:spcBef>
                <a:spcPts val="0"/>
              </a:spcBef>
              <a:buNone/>
            </a:pPr>
            <a:r>
              <a:rPr lang="en-US" altLang="zh-CN" sz="2400" dirty="0"/>
              <a:t>{</a:t>
            </a:r>
          </a:p>
          <a:p>
            <a:pPr marL="0" indent="0">
              <a:spcBef>
                <a:spcPts val="0"/>
              </a:spcBef>
              <a:buNone/>
            </a:pPr>
            <a:r>
              <a:rPr lang="en-US" altLang="zh-CN" sz="2400" dirty="0"/>
              <a:t>  </a:t>
            </a:r>
            <a:r>
              <a:rPr lang="en-US" altLang="zh-CN" sz="2400" dirty="0" err="1"/>
              <a:t>Serial.begin</a:t>
            </a:r>
            <a:r>
              <a:rPr lang="en-US" altLang="zh-CN" sz="2400" dirty="0"/>
              <a:t>(9600);</a:t>
            </a:r>
          </a:p>
          <a:p>
            <a:pPr marL="0" indent="0">
              <a:spcBef>
                <a:spcPts val="0"/>
              </a:spcBef>
              <a:buNone/>
            </a:pPr>
            <a:r>
              <a:rPr lang="en-US" altLang="zh-CN" sz="2400" dirty="0"/>
              <a:t>  </a:t>
            </a:r>
            <a:r>
              <a:rPr lang="en-US" altLang="zh-CN" sz="2400" dirty="0" err="1"/>
              <a:t>Serial.println</a:t>
            </a:r>
            <a:r>
              <a:rPr lang="en-US" altLang="zh-CN" sz="2400" dirty="0"/>
              <a:t>("Clearing EEPROM");</a:t>
            </a:r>
          </a:p>
          <a:p>
            <a:pPr marL="0" indent="0">
              <a:spcBef>
                <a:spcPts val="0"/>
              </a:spcBef>
              <a:buNone/>
            </a:pPr>
            <a:r>
              <a:rPr lang="en-US" altLang="zh-CN" sz="2400" dirty="0"/>
              <a:t>  for (int </a:t>
            </a:r>
            <a:r>
              <a:rPr lang="en-US" altLang="zh-CN" sz="2400" dirty="0" err="1"/>
              <a:t>i</a:t>
            </a:r>
            <a:r>
              <a:rPr lang="en-US" altLang="zh-CN" sz="2400" dirty="0"/>
              <a:t> = 0; </a:t>
            </a:r>
            <a:r>
              <a:rPr lang="en-US" altLang="zh-CN" sz="2400" dirty="0" err="1"/>
              <a:t>i</a:t>
            </a:r>
            <a:r>
              <a:rPr lang="en-US" altLang="zh-CN" sz="2400" dirty="0"/>
              <a:t> &lt; </a:t>
            </a:r>
            <a:r>
              <a:rPr lang="en-US" altLang="zh-CN" sz="2400" dirty="0" err="1"/>
              <a:t>EEPROM.length</a:t>
            </a:r>
            <a:r>
              <a:rPr lang="en-US" altLang="zh-CN" sz="2400" dirty="0"/>
              <a:t>(); </a:t>
            </a:r>
            <a:r>
              <a:rPr lang="en-US" altLang="zh-CN" sz="2400" dirty="0" err="1"/>
              <a:t>i</a:t>
            </a:r>
            <a:r>
              <a:rPr lang="en-US" altLang="zh-CN" sz="2400" dirty="0"/>
              <a:t>++)</a:t>
            </a:r>
          </a:p>
          <a:p>
            <a:pPr marL="0" indent="0">
              <a:spcBef>
                <a:spcPts val="0"/>
              </a:spcBef>
              <a:buNone/>
            </a:pPr>
            <a:r>
              <a:rPr lang="en-US" altLang="zh-CN" sz="2400" dirty="0"/>
              <a:t>  {</a:t>
            </a:r>
          </a:p>
          <a:p>
            <a:pPr marL="0" indent="0">
              <a:spcBef>
                <a:spcPts val="0"/>
              </a:spcBef>
              <a:buNone/>
            </a:pPr>
            <a:r>
              <a:rPr lang="en-US" altLang="zh-CN" sz="2400" dirty="0"/>
              <a:t>    </a:t>
            </a:r>
            <a:r>
              <a:rPr lang="en-US" altLang="zh-CN" sz="2400" dirty="0" err="1"/>
              <a:t>EEPROM.write</a:t>
            </a:r>
            <a:r>
              <a:rPr lang="en-US" altLang="zh-CN" sz="2400" dirty="0"/>
              <a:t>(</a:t>
            </a:r>
            <a:r>
              <a:rPr lang="en-US" altLang="zh-CN" sz="2400" dirty="0" err="1"/>
              <a:t>i</a:t>
            </a:r>
            <a:r>
              <a:rPr lang="en-US" altLang="zh-CN" sz="2400" dirty="0"/>
              <a:t>, 0);</a:t>
            </a:r>
          </a:p>
          <a:p>
            <a:pPr marL="0" indent="0">
              <a:spcBef>
                <a:spcPts val="0"/>
              </a:spcBef>
              <a:buNone/>
            </a:pPr>
            <a:r>
              <a:rPr lang="en-US" altLang="zh-CN" sz="2400" dirty="0"/>
              <a:t>  }</a:t>
            </a:r>
          </a:p>
          <a:p>
            <a:pPr marL="0" indent="0">
              <a:spcBef>
                <a:spcPts val="0"/>
              </a:spcBef>
              <a:buNone/>
            </a:pPr>
            <a:r>
              <a:rPr lang="en-US" altLang="zh-CN" sz="2400" dirty="0"/>
              <a:t>  </a:t>
            </a:r>
            <a:r>
              <a:rPr lang="en-US" altLang="zh-CN" sz="2400" dirty="0" err="1"/>
              <a:t>Serial.println</a:t>
            </a:r>
            <a:r>
              <a:rPr lang="en-US" altLang="zh-CN" sz="2400" dirty="0"/>
              <a:t>("EEPROM Cleared");</a:t>
            </a:r>
          </a:p>
          <a:p>
            <a:pPr marL="0" indent="0">
              <a:spcBef>
                <a:spcPts val="0"/>
              </a:spcBef>
              <a:buNone/>
            </a:pPr>
            <a:r>
              <a:rPr lang="en-US" altLang="zh-CN" sz="2400" dirty="0"/>
              <a:t>}</a:t>
            </a:r>
          </a:p>
          <a:p>
            <a:pPr marL="0" indent="0">
              <a:spcBef>
                <a:spcPts val="0"/>
              </a:spcBef>
              <a:buNone/>
            </a:pPr>
            <a:endParaRPr lang="en-US" altLang="zh-CN" sz="2400" dirty="0"/>
          </a:p>
          <a:p>
            <a:pPr marL="0" indent="0">
              <a:spcBef>
                <a:spcPts val="0"/>
              </a:spcBef>
              <a:buNone/>
            </a:pPr>
            <a:r>
              <a:rPr lang="en-US" altLang="zh-CN" sz="2400" dirty="0"/>
              <a:t>void loop(){}</a:t>
            </a:r>
            <a:endParaRPr lang="zh-CN" altLang="en-US" sz="2400" dirty="0"/>
          </a:p>
        </p:txBody>
      </p:sp>
    </p:spTree>
  </p:cSld>
  <p:clrMapOvr>
    <a:masterClrMapping/>
  </p:clrMapOvr>
  <p:transition>
    <p:cover dir="d"/>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29867" y="2460434"/>
            <a:ext cx="7772400" cy="1143000"/>
          </a:xfrm>
        </p:spPr>
        <p:txBody>
          <a:bodyPr/>
          <a:lstStyle/>
          <a:p>
            <a:r>
              <a:rPr lang="zh-CN" altLang="en-US" sz="6000" dirty="0"/>
              <a:t>温湿度传感器</a:t>
            </a:r>
          </a:p>
        </p:txBody>
      </p:sp>
    </p:spTree>
    <p:extLst>
      <p:ext uri="{BB962C8B-B14F-4D97-AF65-F5344CB8AC3E}">
        <p14:creationId xmlns:p14="http://schemas.microsoft.com/office/powerpoint/2010/main" val="3054448071"/>
      </p:ext>
    </p:extLst>
  </p:cSld>
  <p:clrMapOvr>
    <a:masterClrMapping/>
  </p:clrMapOvr>
  <p:transition>
    <p:cover dir="d"/>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传感器</a:t>
            </a:r>
          </a:p>
        </p:txBody>
      </p:sp>
      <p:sp>
        <p:nvSpPr>
          <p:cNvPr id="3" name="内容占位符 2"/>
          <p:cNvSpPr>
            <a:spLocks noGrp="1"/>
          </p:cNvSpPr>
          <p:nvPr>
            <p:ph idx="1"/>
          </p:nvPr>
        </p:nvSpPr>
        <p:spPr/>
        <p:txBody>
          <a:bodyPr/>
          <a:lstStyle/>
          <a:p>
            <a:pPr marL="0" indent="0">
              <a:buNone/>
            </a:pPr>
            <a:r>
              <a:rPr lang="zh-CN" altLang="zh-CN" dirty="0"/>
              <a:t>传感器在嵌入式开发中应用广泛，其作用是将非电信号转换成电信号，使得嵌入式设备可以通过处理转换后的电信号得到非电信号所包含的信息。常见的传感器包括：温度传感器、湿度传感器、可见光传感器、红外线传感器、压力传感器、电磁传感器、气体传感器、超声波传感器等。</a:t>
            </a:r>
          </a:p>
          <a:p>
            <a:endParaRPr lang="zh-CN" altLang="en-US" dirty="0"/>
          </a:p>
          <a:p>
            <a:endParaRPr lang="zh-CN" altLang="en-US" dirty="0"/>
          </a:p>
        </p:txBody>
      </p:sp>
    </p:spTree>
    <p:extLst>
      <p:ext uri="{BB962C8B-B14F-4D97-AF65-F5344CB8AC3E}">
        <p14:creationId xmlns:p14="http://schemas.microsoft.com/office/powerpoint/2010/main" val="2503569697"/>
      </p:ext>
    </p:extLst>
  </p:cSld>
  <p:clrMapOvr>
    <a:masterClrMapping/>
  </p:clrMapOvr>
  <p:transition>
    <p:cover dir="d"/>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温湿度传感器</a:t>
            </a:r>
          </a:p>
        </p:txBody>
      </p:sp>
      <p:sp>
        <p:nvSpPr>
          <p:cNvPr id="3" name="内容占位符 2"/>
          <p:cNvSpPr>
            <a:spLocks noGrp="1"/>
          </p:cNvSpPr>
          <p:nvPr>
            <p:ph idx="1"/>
          </p:nvPr>
        </p:nvSpPr>
        <p:spPr>
          <a:xfrm>
            <a:off x="685799" y="1965278"/>
            <a:ext cx="8076063" cy="4130722"/>
          </a:xfrm>
        </p:spPr>
        <p:txBody>
          <a:bodyPr/>
          <a:lstStyle/>
          <a:p>
            <a:pPr marL="0" indent="0">
              <a:buNone/>
            </a:pPr>
            <a:r>
              <a:rPr lang="zh-CN" altLang="en-US" dirty="0"/>
              <a:t>温湿度传感器是一种装有湿敏和热敏元件，能够用来测量温度和湿度的传感器装置。</a:t>
            </a:r>
            <a:endParaRPr lang="en-US" altLang="zh-CN" dirty="0"/>
          </a:p>
          <a:p>
            <a:pPr marL="0" indent="0">
              <a:buNone/>
            </a:pPr>
            <a:r>
              <a:rPr lang="zh-CN" altLang="en-US" dirty="0"/>
              <a:t>特点：</a:t>
            </a:r>
            <a:endParaRPr lang="en-US" altLang="zh-CN" dirty="0"/>
          </a:p>
          <a:p>
            <a:pPr marL="0" indent="0">
              <a:buNone/>
            </a:pPr>
            <a:r>
              <a:rPr lang="zh-CN" altLang="en-US" dirty="0"/>
              <a:t>（</a:t>
            </a:r>
            <a:r>
              <a:rPr lang="en-US" altLang="zh-CN" dirty="0"/>
              <a:t>1</a:t>
            </a:r>
            <a:r>
              <a:rPr lang="zh-CN" altLang="en-US" dirty="0"/>
              <a:t>）体积小</a:t>
            </a:r>
            <a:endParaRPr lang="en-US" altLang="zh-CN" dirty="0"/>
          </a:p>
          <a:p>
            <a:pPr marL="0" indent="0">
              <a:buNone/>
            </a:pPr>
            <a:r>
              <a:rPr lang="zh-CN" altLang="en-US" dirty="0"/>
              <a:t>（</a:t>
            </a:r>
            <a:r>
              <a:rPr lang="en-US" altLang="zh-CN" dirty="0"/>
              <a:t>2</a:t>
            </a:r>
            <a:r>
              <a:rPr lang="zh-CN" altLang="en-US" dirty="0"/>
              <a:t>）性能稳定</a:t>
            </a:r>
            <a:endParaRPr lang="en-US" altLang="zh-CN" dirty="0"/>
          </a:p>
          <a:p>
            <a:pPr marL="0" indent="0">
              <a:buNone/>
            </a:pPr>
            <a:endParaRPr lang="en-US" altLang="zh-CN" dirty="0"/>
          </a:p>
          <a:p>
            <a:pPr marL="0" indent="0">
              <a:buNone/>
            </a:pPr>
            <a:endParaRPr lang="zh-CN" altLang="en-US" dirty="0"/>
          </a:p>
          <a:p>
            <a:endParaRPr lang="zh-CN" altLang="en-US" dirty="0"/>
          </a:p>
        </p:txBody>
      </p:sp>
    </p:spTree>
    <p:extLst>
      <p:ext uri="{BB962C8B-B14F-4D97-AF65-F5344CB8AC3E}">
        <p14:creationId xmlns:p14="http://schemas.microsoft.com/office/powerpoint/2010/main" val="2826949434"/>
      </p:ext>
    </p:extLst>
  </p:cSld>
  <p:clrMapOvr>
    <a:masterClrMapping/>
  </p:clrMapOvr>
  <p:transition>
    <p:cover dir="d"/>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温湿度传感器</a:t>
            </a:r>
            <a:r>
              <a:rPr lang="en-US" altLang="zh-CN" dirty="0"/>
              <a:t>DHT11</a:t>
            </a:r>
            <a:endParaRPr lang="zh-CN" altLang="en-US" dirty="0"/>
          </a:p>
        </p:txBody>
      </p:sp>
      <p:sp>
        <p:nvSpPr>
          <p:cNvPr id="3" name="内容占位符 2"/>
          <p:cNvSpPr>
            <a:spLocks noGrp="1"/>
          </p:cNvSpPr>
          <p:nvPr>
            <p:ph idx="1"/>
          </p:nvPr>
        </p:nvSpPr>
        <p:spPr>
          <a:xfrm>
            <a:off x="685800" y="1965278"/>
            <a:ext cx="4177454" cy="4130722"/>
          </a:xfrm>
        </p:spPr>
        <p:txBody>
          <a:bodyPr/>
          <a:lstStyle/>
          <a:p>
            <a:pPr marL="0" indent="0">
              <a:buNone/>
            </a:pPr>
            <a:r>
              <a:rPr lang="en" altLang="zh-CN" dirty="0"/>
              <a:t>DHT11</a:t>
            </a:r>
            <a:r>
              <a:rPr lang="zh-CN" altLang="en-US" dirty="0"/>
              <a:t>是一款有已校准数字信号输出的温湿度传感器。 </a:t>
            </a:r>
            <a:endParaRPr lang="en-US" altLang="zh-CN" dirty="0"/>
          </a:p>
          <a:p>
            <a:pPr marL="0" indent="0">
              <a:buNone/>
            </a:pPr>
            <a:r>
              <a:rPr lang="zh-CN" altLang="en-US" dirty="0"/>
              <a:t>精度</a:t>
            </a:r>
            <a:r>
              <a:rPr lang="en-US" altLang="zh-CN" dirty="0"/>
              <a:t>:</a:t>
            </a:r>
            <a:r>
              <a:rPr lang="zh-CN" altLang="en-US" dirty="0"/>
              <a:t>湿度</a:t>
            </a:r>
            <a:r>
              <a:rPr lang="en-US" altLang="zh-CN" dirty="0"/>
              <a:t>±5%</a:t>
            </a:r>
            <a:r>
              <a:rPr lang="en" altLang="zh-CN" dirty="0"/>
              <a:t>RH</a:t>
            </a:r>
            <a:r>
              <a:rPr lang="zh-CN" altLang="en" dirty="0"/>
              <a:t>， </a:t>
            </a:r>
            <a:r>
              <a:rPr lang="zh-CN" altLang="en-US" dirty="0"/>
              <a:t>温度</a:t>
            </a:r>
            <a:r>
              <a:rPr lang="en-US" altLang="zh-CN" dirty="0"/>
              <a:t>±2℃</a:t>
            </a:r>
          </a:p>
          <a:p>
            <a:pPr marL="0" indent="0">
              <a:buNone/>
            </a:pPr>
            <a:r>
              <a:rPr lang="zh-CN" altLang="en-US" dirty="0"/>
              <a:t>量程</a:t>
            </a:r>
            <a:r>
              <a:rPr lang="en-US" altLang="zh-CN" dirty="0"/>
              <a:t>:</a:t>
            </a:r>
            <a:r>
              <a:rPr lang="zh-CN" altLang="en-US" dirty="0"/>
              <a:t>湿度</a:t>
            </a:r>
            <a:r>
              <a:rPr lang="en-US" altLang="zh-CN" dirty="0"/>
              <a:t>5~95%</a:t>
            </a:r>
            <a:r>
              <a:rPr lang="en" altLang="zh-CN" dirty="0"/>
              <a:t>RH</a:t>
            </a:r>
            <a:r>
              <a:rPr lang="zh-CN" altLang="en" dirty="0"/>
              <a:t>， </a:t>
            </a:r>
            <a:r>
              <a:rPr lang="zh-CN" altLang="en-US" dirty="0"/>
              <a:t>温度</a:t>
            </a:r>
            <a:r>
              <a:rPr lang="en-US" altLang="zh-CN" dirty="0"/>
              <a:t>-20~+60℃</a:t>
            </a:r>
            <a:r>
              <a:rPr lang="zh-CN" altLang="en-US" dirty="0"/>
              <a:t>。</a:t>
            </a:r>
            <a:endParaRPr lang="en-US" altLang="zh-CN" dirty="0"/>
          </a:p>
          <a:p>
            <a:pPr marL="0" indent="0">
              <a:buNone/>
            </a:pPr>
            <a:endParaRPr lang="zh-CN" altLang="en-US" dirty="0"/>
          </a:p>
          <a:p>
            <a:endParaRPr lang="zh-CN" altLang="en-US" dirty="0"/>
          </a:p>
        </p:txBody>
      </p:sp>
      <p:pic>
        <p:nvPicPr>
          <p:cNvPr id="4" name="内容占位符 6">
            <a:extLst>
              <a:ext uri="{FF2B5EF4-FFF2-40B4-BE49-F238E27FC236}">
                <a16:creationId xmlns:a16="http://schemas.microsoft.com/office/drawing/2014/main" id="{EE851C48-0E7F-433E-B7F9-BF2EFF254E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5103950" y="2133599"/>
            <a:ext cx="3229463" cy="35221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87910114"/>
      </p:ext>
    </p:extLst>
  </p:cSld>
  <p:clrMapOvr>
    <a:masterClrMapping/>
  </p:clrMapOvr>
  <p:transition>
    <p:cover dir="d"/>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温湿度传感器</a:t>
            </a:r>
          </a:p>
        </p:txBody>
      </p:sp>
      <p:sp>
        <p:nvSpPr>
          <p:cNvPr id="3" name="内容占位符 2"/>
          <p:cNvSpPr>
            <a:spLocks noGrp="1"/>
          </p:cNvSpPr>
          <p:nvPr>
            <p:ph idx="1"/>
          </p:nvPr>
        </p:nvSpPr>
        <p:spPr/>
        <p:txBody>
          <a:bodyPr/>
          <a:lstStyle/>
          <a:p>
            <a:r>
              <a:rPr lang="zh-CN" altLang="en-US" dirty="0"/>
              <a:t>接线</a:t>
            </a:r>
            <a:endParaRPr lang="en-US" altLang="zh-CN" dirty="0"/>
          </a:p>
          <a:p>
            <a:endParaRPr lang="en-US" altLang="zh-CN" dirty="0"/>
          </a:p>
          <a:p>
            <a:endParaRPr lang="zh-CN" altLang="en-US" dirty="0"/>
          </a:p>
          <a:p>
            <a:endParaRPr lang="zh-CN" altLang="en-US" dirty="0"/>
          </a:p>
        </p:txBody>
      </p:sp>
      <p:graphicFrame>
        <p:nvGraphicFramePr>
          <p:cNvPr id="4" name="表格 4">
            <a:extLst>
              <a:ext uri="{FF2B5EF4-FFF2-40B4-BE49-F238E27FC236}">
                <a16:creationId xmlns:a16="http://schemas.microsoft.com/office/drawing/2014/main" id="{9E1AD7D9-2A66-45F4-A5D6-01E8A0C95807}"/>
              </a:ext>
            </a:extLst>
          </p:cNvPr>
          <p:cNvGraphicFramePr>
            <a:graphicFrameLocks noGrp="1"/>
          </p:cNvGraphicFramePr>
          <p:nvPr>
            <p:extLst>
              <p:ext uri="{D42A27DB-BD31-4B8C-83A1-F6EECF244321}">
                <p14:modId xmlns:p14="http://schemas.microsoft.com/office/powerpoint/2010/main" val="4125560554"/>
              </p:ext>
            </p:extLst>
          </p:nvPr>
        </p:nvGraphicFramePr>
        <p:xfrm>
          <a:off x="1146628" y="2654301"/>
          <a:ext cx="6560458" cy="2317950"/>
        </p:xfrm>
        <a:graphic>
          <a:graphicData uri="http://schemas.openxmlformats.org/drawingml/2006/table">
            <a:tbl>
              <a:tblPr firstRow="1" bandRow="1">
                <a:tableStyleId>{21E4AEA4-8DFA-4A89-87EB-49C32662AFE0}</a:tableStyleId>
              </a:tblPr>
              <a:tblGrid>
                <a:gridCol w="3280229">
                  <a:extLst>
                    <a:ext uri="{9D8B030D-6E8A-4147-A177-3AD203B41FA5}">
                      <a16:colId xmlns:a16="http://schemas.microsoft.com/office/drawing/2014/main" val="536707793"/>
                    </a:ext>
                  </a:extLst>
                </a:gridCol>
                <a:gridCol w="3280229">
                  <a:extLst>
                    <a:ext uri="{9D8B030D-6E8A-4147-A177-3AD203B41FA5}">
                      <a16:colId xmlns:a16="http://schemas.microsoft.com/office/drawing/2014/main" val="1459893703"/>
                    </a:ext>
                  </a:extLst>
                </a:gridCol>
              </a:tblGrid>
              <a:tr h="559290">
                <a:tc>
                  <a:txBody>
                    <a:bodyPr/>
                    <a:lstStyle/>
                    <a:p>
                      <a:pPr algn="ctr"/>
                      <a:r>
                        <a:rPr lang="zh-CN" altLang="en-US" dirty="0"/>
                        <a:t>传感器</a:t>
                      </a:r>
                    </a:p>
                  </a:txBody>
                  <a:tcPr/>
                </a:tc>
                <a:tc>
                  <a:txBody>
                    <a:bodyPr/>
                    <a:lstStyle/>
                    <a:p>
                      <a:pPr algn="ctr"/>
                      <a:r>
                        <a:rPr lang="en-US" altLang="zh-CN" dirty="0"/>
                        <a:t>Arduino</a:t>
                      </a:r>
                      <a:endParaRPr lang="zh-CN" altLang="en-US" dirty="0"/>
                    </a:p>
                  </a:txBody>
                  <a:tcPr/>
                </a:tc>
                <a:extLst>
                  <a:ext uri="{0D108BD9-81ED-4DB2-BD59-A6C34878D82A}">
                    <a16:rowId xmlns:a16="http://schemas.microsoft.com/office/drawing/2014/main" val="1952554193"/>
                  </a:ext>
                </a:extLst>
              </a:tr>
              <a:tr h="544630">
                <a:tc>
                  <a:txBody>
                    <a:bodyPr/>
                    <a:lstStyle/>
                    <a:p>
                      <a:pPr algn="ctr"/>
                      <a:r>
                        <a:rPr lang="en-US" altLang="zh-CN" dirty="0"/>
                        <a:t>+</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3.3V/5V</a:t>
                      </a:r>
                      <a:endParaRPr lang="zh-CN" altLang="en-US" dirty="0"/>
                    </a:p>
                    <a:p>
                      <a:pPr algn="ctr"/>
                      <a:endParaRPr lang="zh-CN" altLang="en-US" dirty="0"/>
                    </a:p>
                  </a:txBody>
                  <a:tcPr/>
                </a:tc>
                <a:extLst>
                  <a:ext uri="{0D108BD9-81ED-4DB2-BD59-A6C34878D82A}">
                    <a16:rowId xmlns:a16="http://schemas.microsoft.com/office/drawing/2014/main" val="660069145"/>
                  </a:ext>
                </a:extLst>
              </a:tr>
              <a:tr h="559290">
                <a:tc>
                  <a:txBody>
                    <a:bodyPr/>
                    <a:lstStyle/>
                    <a:p>
                      <a:pPr algn="ctr"/>
                      <a:r>
                        <a:rPr lang="en-US" altLang="zh-CN" dirty="0"/>
                        <a:t>out</a:t>
                      </a:r>
                      <a:endParaRPr lang="zh-CN" altLang="en-US" dirty="0"/>
                    </a:p>
                  </a:txBody>
                  <a:tcPr/>
                </a:tc>
                <a:tc>
                  <a:txBody>
                    <a:bodyPr/>
                    <a:lstStyle/>
                    <a:p>
                      <a:pPr algn="ctr"/>
                      <a:r>
                        <a:rPr lang="zh-CN" altLang="en-US" dirty="0"/>
                        <a:t>根据代码设置选择</a:t>
                      </a:r>
                    </a:p>
                  </a:txBody>
                  <a:tcPr/>
                </a:tc>
                <a:extLst>
                  <a:ext uri="{0D108BD9-81ED-4DB2-BD59-A6C34878D82A}">
                    <a16:rowId xmlns:a16="http://schemas.microsoft.com/office/drawing/2014/main" val="2349607304"/>
                  </a:ext>
                </a:extLst>
              </a:tr>
              <a:tr h="559290">
                <a:tc>
                  <a:txBody>
                    <a:bodyPr/>
                    <a:lstStyle/>
                    <a:p>
                      <a:pPr algn="ctr"/>
                      <a:r>
                        <a:rPr lang="en-US" altLang="zh-CN" dirty="0"/>
                        <a:t>-</a:t>
                      </a:r>
                      <a:endParaRPr lang="zh-CN" altLang="en-US" dirty="0"/>
                    </a:p>
                  </a:txBody>
                  <a:tcPr/>
                </a:tc>
                <a:tc>
                  <a:txBody>
                    <a:bodyPr/>
                    <a:lstStyle/>
                    <a:p>
                      <a:pPr algn="ctr"/>
                      <a:r>
                        <a:rPr lang="en-US" altLang="zh-CN" dirty="0"/>
                        <a:t>GND</a:t>
                      </a:r>
                      <a:endParaRPr lang="zh-CN" altLang="en-US" dirty="0"/>
                    </a:p>
                  </a:txBody>
                  <a:tcPr/>
                </a:tc>
                <a:extLst>
                  <a:ext uri="{0D108BD9-81ED-4DB2-BD59-A6C34878D82A}">
                    <a16:rowId xmlns:a16="http://schemas.microsoft.com/office/drawing/2014/main" val="2474584485"/>
                  </a:ext>
                </a:extLst>
              </a:tr>
            </a:tbl>
          </a:graphicData>
        </a:graphic>
      </p:graphicFrame>
      <p:pic>
        <p:nvPicPr>
          <p:cNvPr id="5" name="图片 4">
            <a:extLst>
              <a:ext uri="{FF2B5EF4-FFF2-40B4-BE49-F238E27FC236}">
                <a16:creationId xmlns:a16="http://schemas.microsoft.com/office/drawing/2014/main" id="{F8113438-E4CB-4B1D-ABE1-C1AF52D4A316}"/>
              </a:ext>
            </a:extLst>
          </p:cNvPr>
          <p:cNvPicPr/>
          <p:nvPr/>
        </p:nvPicPr>
        <p:blipFill rotWithShape="1">
          <a:blip r:embed="rId2" cstate="print">
            <a:extLst>
              <a:ext uri="{28A0092B-C50C-407E-A947-70E740481C1C}">
                <a14:useLocalDpi xmlns:a14="http://schemas.microsoft.com/office/drawing/2010/main" val="0"/>
              </a:ext>
            </a:extLst>
          </a:blip>
          <a:srcRect l="15335" t="36074" r="3097" b="24196"/>
          <a:stretch/>
        </p:blipFill>
        <p:spPr bwMode="auto">
          <a:xfrm>
            <a:off x="742421" y="5001038"/>
            <a:ext cx="4299585" cy="156972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622878650"/>
      </p:ext>
    </p:extLst>
  </p:cSld>
  <p:clrMapOvr>
    <a:masterClrMapping/>
  </p:clrMapOvr>
  <p:transition>
    <p:cover dir="d"/>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温湿度传感器库函数安装</a:t>
            </a:r>
          </a:p>
        </p:txBody>
      </p:sp>
      <p:sp>
        <p:nvSpPr>
          <p:cNvPr id="3" name="内容占位符 2"/>
          <p:cNvSpPr>
            <a:spLocks noGrp="1"/>
          </p:cNvSpPr>
          <p:nvPr>
            <p:ph idx="1"/>
          </p:nvPr>
        </p:nvSpPr>
        <p:spPr/>
        <p:txBody>
          <a:bodyPr/>
          <a:lstStyle/>
          <a:p>
            <a:r>
              <a:rPr lang="zh-CN" altLang="en-US" dirty="0"/>
              <a:t>（</a:t>
            </a:r>
            <a:r>
              <a:rPr lang="en-US" altLang="zh-CN" dirty="0"/>
              <a:t>1</a:t>
            </a:r>
            <a:r>
              <a:rPr lang="zh-CN" altLang="en-US" dirty="0"/>
              <a:t>）下载库函数</a:t>
            </a:r>
            <a:endParaRPr lang="en-US" altLang="zh-CN" dirty="0"/>
          </a:p>
          <a:p>
            <a:r>
              <a:rPr lang="zh-CN" altLang="en-US" dirty="0"/>
              <a:t>（</a:t>
            </a:r>
            <a:r>
              <a:rPr lang="en-US" altLang="zh-CN" dirty="0"/>
              <a:t>2</a:t>
            </a:r>
            <a:r>
              <a:rPr lang="zh-CN" altLang="en-US" dirty="0"/>
              <a:t>）解压后将其放在</a:t>
            </a:r>
            <a:r>
              <a:rPr lang="en-US" altLang="zh-CN" dirty="0"/>
              <a:t>Arduino IDE</a:t>
            </a:r>
            <a:r>
              <a:rPr lang="zh-CN" altLang="en-US" dirty="0"/>
              <a:t>的</a:t>
            </a:r>
            <a:r>
              <a:rPr lang="en-US" altLang="zh-CN" dirty="0"/>
              <a:t>libraries</a:t>
            </a:r>
            <a:r>
              <a:rPr lang="zh-CN" altLang="en-US" dirty="0"/>
              <a:t>文件夹下。</a:t>
            </a:r>
            <a:endParaRPr lang="en-US" altLang="zh-CN" dirty="0"/>
          </a:p>
          <a:p>
            <a:endParaRPr lang="zh-CN" altLang="en-US" dirty="0"/>
          </a:p>
          <a:p>
            <a:endParaRPr lang="zh-CN" altLang="en-US" dirty="0"/>
          </a:p>
        </p:txBody>
      </p:sp>
      <p:pic>
        <p:nvPicPr>
          <p:cNvPr id="5" name="图片 4">
            <a:extLst>
              <a:ext uri="{FF2B5EF4-FFF2-40B4-BE49-F238E27FC236}">
                <a16:creationId xmlns:a16="http://schemas.microsoft.com/office/drawing/2014/main" id="{EBB036A9-C5C1-490E-9600-E30E06F61F8B}"/>
              </a:ext>
            </a:extLst>
          </p:cNvPr>
          <p:cNvPicPr>
            <a:picLocks noChangeAspect="1"/>
          </p:cNvPicPr>
          <p:nvPr/>
        </p:nvPicPr>
        <p:blipFill>
          <a:blip r:embed="rId2"/>
          <a:stretch>
            <a:fillRect/>
          </a:stretch>
        </p:blipFill>
        <p:spPr>
          <a:xfrm>
            <a:off x="5996052" y="1981200"/>
            <a:ext cx="2735579" cy="666359"/>
          </a:xfrm>
          <a:prstGeom prst="rect">
            <a:avLst/>
          </a:prstGeom>
        </p:spPr>
      </p:pic>
      <p:pic>
        <p:nvPicPr>
          <p:cNvPr id="7" name="图片 6">
            <a:extLst>
              <a:ext uri="{FF2B5EF4-FFF2-40B4-BE49-F238E27FC236}">
                <a16:creationId xmlns:a16="http://schemas.microsoft.com/office/drawing/2014/main" id="{62F3CB22-6605-44EF-B543-81F2103194B2}"/>
              </a:ext>
            </a:extLst>
          </p:cNvPr>
          <p:cNvPicPr>
            <a:picLocks noChangeAspect="1"/>
          </p:cNvPicPr>
          <p:nvPr/>
        </p:nvPicPr>
        <p:blipFill>
          <a:blip r:embed="rId3"/>
          <a:stretch>
            <a:fillRect/>
          </a:stretch>
        </p:blipFill>
        <p:spPr>
          <a:xfrm>
            <a:off x="1033462" y="3731304"/>
            <a:ext cx="7077075" cy="2124075"/>
          </a:xfrm>
          <a:prstGeom prst="rect">
            <a:avLst/>
          </a:prstGeom>
        </p:spPr>
      </p:pic>
    </p:spTree>
    <p:extLst>
      <p:ext uri="{BB962C8B-B14F-4D97-AF65-F5344CB8AC3E}">
        <p14:creationId xmlns:p14="http://schemas.microsoft.com/office/powerpoint/2010/main" val="1570615954"/>
      </p:ext>
    </p:extLst>
  </p:cSld>
  <p:clrMapOvr>
    <a:masterClrMapping/>
  </p:clrMapOvr>
  <p:transition>
    <p:cover dir="d"/>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温湿度传感器库函数安装</a:t>
            </a:r>
          </a:p>
        </p:txBody>
      </p:sp>
      <p:sp>
        <p:nvSpPr>
          <p:cNvPr id="3" name="内容占位符 2"/>
          <p:cNvSpPr>
            <a:spLocks noGrp="1"/>
          </p:cNvSpPr>
          <p:nvPr>
            <p:ph idx="1"/>
          </p:nvPr>
        </p:nvSpPr>
        <p:spPr/>
        <p:txBody>
          <a:bodyPr/>
          <a:lstStyle/>
          <a:p>
            <a:r>
              <a:rPr lang="zh-CN" altLang="en-US" dirty="0"/>
              <a:t>（</a:t>
            </a:r>
            <a:r>
              <a:rPr lang="en-US" altLang="zh-CN" dirty="0"/>
              <a:t>3</a:t>
            </a:r>
            <a:r>
              <a:rPr lang="zh-CN" altLang="en-US" dirty="0"/>
              <a:t>）重启</a:t>
            </a:r>
            <a:r>
              <a:rPr lang="en-US" altLang="zh-CN" dirty="0"/>
              <a:t>IDE</a:t>
            </a:r>
            <a:r>
              <a:rPr lang="zh-CN" altLang="en-US" dirty="0"/>
              <a:t>可看到</a:t>
            </a:r>
          </a:p>
          <a:p>
            <a:endParaRPr lang="zh-CN" altLang="en-US" dirty="0"/>
          </a:p>
        </p:txBody>
      </p:sp>
      <p:pic>
        <p:nvPicPr>
          <p:cNvPr id="6" name="图片 5">
            <a:extLst>
              <a:ext uri="{FF2B5EF4-FFF2-40B4-BE49-F238E27FC236}">
                <a16:creationId xmlns:a16="http://schemas.microsoft.com/office/drawing/2014/main" id="{625278DF-17E0-47AE-97DF-BDEA2432E64B}"/>
              </a:ext>
            </a:extLst>
          </p:cNvPr>
          <p:cNvPicPr>
            <a:picLocks noChangeAspect="1"/>
          </p:cNvPicPr>
          <p:nvPr/>
        </p:nvPicPr>
        <p:blipFill>
          <a:blip r:embed="rId2"/>
          <a:stretch>
            <a:fillRect/>
          </a:stretch>
        </p:blipFill>
        <p:spPr>
          <a:xfrm>
            <a:off x="2237014" y="2440752"/>
            <a:ext cx="4381500" cy="3992180"/>
          </a:xfrm>
          <a:prstGeom prst="rect">
            <a:avLst/>
          </a:prstGeom>
        </p:spPr>
      </p:pic>
    </p:spTree>
    <p:extLst>
      <p:ext uri="{BB962C8B-B14F-4D97-AF65-F5344CB8AC3E}">
        <p14:creationId xmlns:p14="http://schemas.microsoft.com/office/powerpoint/2010/main" val="2994726310"/>
      </p:ext>
    </p:extLst>
  </p:cSld>
  <p:clrMapOvr>
    <a:masterClrMapping/>
  </p:clrMapOvr>
  <p:transition>
    <p:cover dir="d"/>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作业</a:t>
            </a:r>
          </a:p>
        </p:txBody>
      </p:sp>
      <p:sp>
        <p:nvSpPr>
          <p:cNvPr id="3" name="内容占位符 2"/>
          <p:cNvSpPr>
            <a:spLocks noGrp="1"/>
          </p:cNvSpPr>
          <p:nvPr>
            <p:ph idx="1"/>
          </p:nvPr>
        </p:nvSpPr>
        <p:spPr/>
        <p:txBody>
          <a:bodyPr/>
          <a:lstStyle/>
          <a:p>
            <a:r>
              <a:rPr lang="zh-CN" altLang="en-US" sz="2800" dirty="0"/>
              <a:t>利用</a:t>
            </a:r>
            <a:r>
              <a:rPr lang="en-US" altLang="zh-CN" sz="2800" dirty="0"/>
              <a:t>ESP8266</a:t>
            </a:r>
            <a:r>
              <a:rPr lang="zh-CN" altLang="en-US" sz="2800" dirty="0"/>
              <a:t>和</a:t>
            </a:r>
            <a:r>
              <a:rPr lang="en-US" altLang="zh-CN" sz="2800" dirty="0"/>
              <a:t>DHT11</a:t>
            </a:r>
            <a:r>
              <a:rPr lang="zh-CN" altLang="en-US" sz="2800" dirty="0"/>
              <a:t>，将温湿度数据通过网页展示。可参考“实验指导书”</a:t>
            </a:r>
            <a:endParaRPr lang="en-US" altLang="zh-CN" sz="2800" dirty="0"/>
          </a:p>
          <a:p>
            <a:r>
              <a:rPr lang="zh-CN" altLang="en-US" sz="2800" dirty="0"/>
              <a:t>以</a:t>
            </a:r>
            <a:r>
              <a:rPr lang="en-US" altLang="zh-CN" sz="2800" dirty="0"/>
              <a:t>word</a:t>
            </a:r>
            <a:r>
              <a:rPr lang="zh-CN" altLang="en-US" sz="2800" dirty="0"/>
              <a:t>文档形式提交，命名为“成员</a:t>
            </a:r>
            <a:r>
              <a:rPr lang="en-US" altLang="zh-CN" sz="2800" dirty="0"/>
              <a:t>1-</a:t>
            </a:r>
            <a:r>
              <a:rPr lang="zh-CN" altLang="en-US" sz="2800" dirty="0"/>
              <a:t>成员</a:t>
            </a:r>
            <a:r>
              <a:rPr lang="en-US" altLang="zh-CN" sz="2800" dirty="0"/>
              <a:t>2-</a:t>
            </a:r>
            <a:r>
              <a:rPr lang="zh-CN" altLang="en-US" sz="2800" dirty="0"/>
              <a:t>成员</a:t>
            </a:r>
            <a:r>
              <a:rPr lang="en-US" altLang="zh-CN" sz="2800" dirty="0"/>
              <a:t>3-</a:t>
            </a:r>
            <a:r>
              <a:rPr lang="zh-CN" altLang="en-US" sz="2800" dirty="0"/>
              <a:t>实验报告</a:t>
            </a:r>
            <a:r>
              <a:rPr lang="en-US" altLang="zh-CN" sz="2800" dirty="0"/>
              <a:t>3.docx</a:t>
            </a:r>
            <a:r>
              <a:rPr lang="zh-CN" altLang="en-US" sz="2800" dirty="0"/>
              <a:t>”</a:t>
            </a:r>
            <a:endParaRPr lang="en-US" altLang="zh-CN" sz="2800" dirty="0"/>
          </a:p>
          <a:p>
            <a:r>
              <a:rPr lang="zh-CN" altLang="en-US" sz="2800" dirty="0"/>
              <a:t>内容为：程序代码、实验结果图片</a:t>
            </a:r>
            <a:endParaRPr lang="en-US" altLang="zh-CN" sz="2800" dirty="0"/>
          </a:p>
          <a:p>
            <a:r>
              <a:rPr lang="zh-CN" altLang="en-US" sz="2800" dirty="0">
                <a:hlinkClick r:id="rId2"/>
              </a:rPr>
              <a:t>下次课前发送到邮箱</a:t>
            </a:r>
            <a:r>
              <a:rPr lang="en-US" altLang="zh-CN" sz="2800" dirty="0">
                <a:hlinkClick r:id="rId2"/>
              </a:rPr>
              <a:t>qiushitong@buaa.edu.cn</a:t>
            </a:r>
            <a:endParaRPr lang="en-US" altLang="zh-CN" sz="2800" dirty="0"/>
          </a:p>
        </p:txBody>
      </p:sp>
    </p:spTree>
    <p:extLst>
      <p:ext uri="{BB962C8B-B14F-4D97-AF65-F5344CB8AC3E}">
        <p14:creationId xmlns:p14="http://schemas.microsoft.com/office/powerpoint/2010/main" val="670215440"/>
      </p:ext>
    </p:extLst>
  </p:cSld>
  <p:clrMapOvr>
    <a:masterClrMapping/>
  </p:clrMapOvr>
  <p:transition>
    <p:cover dir="d"/>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器材领取</a:t>
            </a:r>
          </a:p>
        </p:txBody>
      </p:sp>
      <p:sp>
        <p:nvSpPr>
          <p:cNvPr id="3" name="内容占位符 2"/>
          <p:cNvSpPr>
            <a:spLocks noGrp="1"/>
          </p:cNvSpPr>
          <p:nvPr>
            <p:ph idx="1"/>
          </p:nvPr>
        </p:nvSpPr>
        <p:spPr/>
        <p:txBody>
          <a:bodyPr/>
          <a:lstStyle/>
          <a:p>
            <a:r>
              <a:rPr lang="en-US" altLang="zh-CN" sz="2800" dirty="0"/>
              <a:t>1</a:t>
            </a:r>
            <a:r>
              <a:rPr lang="zh-CN" altLang="en-US" sz="2800" dirty="0"/>
              <a:t>*</a:t>
            </a:r>
            <a:r>
              <a:rPr lang="en-US" altLang="zh-CN" sz="2800" dirty="0"/>
              <a:t>DHT11</a:t>
            </a:r>
          </a:p>
          <a:p>
            <a:pPr marL="0" indent="0">
              <a:buNone/>
            </a:pPr>
            <a:endParaRPr lang="en-US" altLang="zh-CN" sz="2800" dirty="0"/>
          </a:p>
          <a:p>
            <a:pPr marL="0" indent="0">
              <a:buNone/>
            </a:pPr>
            <a:endParaRPr lang="en-US" altLang="zh-CN" sz="2800" dirty="0"/>
          </a:p>
          <a:p>
            <a:pPr marL="0" indent="0">
              <a:buNone/>
            </a:pPr>
            <a:endParaRPr lang="en-US" altLang="zh-CN" sz="2800" dirty="0"/>
          </a:p>
          <a:p>
            <a:pPr marL="0" indent="0">
              <a:buNone/>
            </a:pPr>
            <a:endParaRPr lang="en-US" altLang="zh-CN" sz="2800" dirty="0"/>
          </a:p>
          <a:p>
            <a:r>
              <a:rPr lang="zh-CN" altLang="en-US" sz="2800" dirty="0"/>
              <a:t>上节课未领到</a:t>
            </a:r>
            <a:r>
              <a:rPr lang="en-US" altLang="zh-CN" sz="2800" dirty="0"/>
              <a:t>ESP8266</a:t>
            </a:r>
            <a:r>
              <a:rPr lang="zh-CN" altLang="en-US" sz="2800" dirty="0"/>
              <a:t>的同学，领取</a:t>
            </a:r>
            <a:r>
              <a:rPr lang="en-US" altLang="zh-CN" sz="2800" dirty="0"/>
              <a:t>ESP8266</a:t>
            </a:r>
          </a:p>
          <a:p>
            <a:r>
              <a:rPr lang="zh-CN" altLang="en-US" sz="2800" dirty="0"/>
              <a:t>缺少杜邦线的同学，领取杜邦线</a:t>
            </a:r>
            <a:endParaRPr lang="en-US" altLang="zh-CN" sz="2800" dirty="0"/>
          </a:p>
        </p:txBody>
      </p:sp>
    </p:spTree>
    <p:extLst>
      <p:ext uri="{BB962C8B-B14F-4D97-AF65-F5344CB8AC3E}">
        <p14:creationId xmlns:p14="http://schemas.microsoft.com/office/powerpoint/2010/main" val="927656247"/>
      </p:ext>
    </p:extLst>
  </p:cSld>
  <p:clrMapOvr>
    <a:masterClrMapping/>
  </p:clrMapOvr>
  <p:transition>
    <p:cover dir="d"/>
  </p:transition>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889</TotalTime>
  <Words>3020</Words>
  <Application>Microsoft Office PowerPoint</Application>
  <PresentationFormat>全屏显示(4:3)</PresentationFormat>
  <Paragraphs>344</Paragraphs>
  <Slides>47</Slides>
  <Notes>7</Notes>
  <HiddenSlides>0</HiddenSlides>
  <MMClips>0</MMClips>
  <ScaleCrop>false</ScaleCrop>
  <HeadingPairs>
    <vt:vector size="6" baseType="variant">
      <vt:variant>
        <vt:lpstr>已用的字体</vt:lpstr>
      </vt:variant>
      <vt:variant>
        <vt:i4>4</vt:i4>
      </vt:variant>
      <vt:variant>
        <vt:lpstr>主题</vt:lpstr>
      </vt:variant>
      <vt:variant>
        <vt:i4>2</vt:i4>
      </vt:variant>
      <vt:variant>
        <vt:lpstr>幻灯片标题</vt:lpstr>
      </vt:variant>
      <vt:variant>
        <vt:i4>47</vt:i4>
      </vt:variant>
    </vt:vector>
  </HeadingPairs>
  <TitlesOfParts>
    <vt:vector size="53" baseType="lpstr">
      <vt:lpstr>Arial</vt:lpstr>
      <vt:lpstr>Calibri</vt:lpstr>
      <vt:lpstr>Calibri Light</vt:lpstr>
      <vt:lpstr>Times New Roman</vt:lpstr>
      <vt:lpstr>Office 主题</vt:lpstr>
      <vt:lpstr>1_默认设计模板</vt:lpstr>
      <vt:lpstr>Arduino核心API</vt:lpstr>
      <vt:lpstr>随机数</vt:lpstr>
      <vt:lpstr>在串口监视器中随机出现1～6之间的数</vt:lpstr>
      <vt:lpstr>随机数</vt:lpstr>
      <vt:lpstr>随机数</vt:lpstr>
      <vt:lpstr>随机种子</vt:lpstr>
      <vt:lpstr>数学函数</vt:lpstr>
      <vt:lpstr>常见数学函数</vt:lpstr>
      <vt:lpstr>常见数学函数</vt:lpstr>
      <vt:lpstr>Map函数应用</vt:lpstr>
      <vt:lpstr>常见数学函数</vt:lpstr>
      <vt:lpstr>常见数学函数</vt:lpstr>
      <vt:lpstr>位操作</vt:lpstr>
      <vt:lpstr>位操作</vt:lpstr>
      <vt:lpstr>位操作</vt:lpstr>
      <vt:lpstr>声音生成</vt:lpstr>
      <vt:lpstr>声音生成</vt:lpstr>
      <vt:lpstr>读取移位寄存器</vt:lpstr>
      <vt:lpstr>读取移位寄存器</vt:lpstr>
      <vt:lpstr>移位寄存器-交替闪灯程序</vt:lpstr>
      <vt:lpstr>中断</vt:lpstr>
      <vt:lpstr>中断</vt:lpstr>
      <vt:lpstr>中断</vt:lpstr>
      <vt:lpstr>中断程序ISR</vt:lpstr>
      <vt:lpstr>中断改变闪烁时长</vt:lpstr>
      <vt:lpstr>数据存储</vt:lpstr>
      <vt:lpstr>AVR存储器</vt:lpstr>
      <vt:lpstr>Flash程序存储器</vt:lpstr>
      <vt:lpstr>Flash程序存储器</vt:lpstr>
      <vt:lpstr>Flash程序存储器</vt:lpstr>
      <vt:lpstr>Flash程序存储器</vt:lpstr>
      <vt:lpstr>Flash程序存储器</vt:lpstr>
      <vt:lpstr>Flash程序存储器</vt:lpstr>
      <vt:lpstr>EEPROM</vt:lpstr>
      <vt:lpstr>读写单个字节</vt:lpstr>
      <vt:lpstr>读写多个字节</vt:lpstr>
      <vt:lpstr>清空EEPROM的内容</vt:lpstr>
      <vt:lpstr>清空EEPROM</vt:lpstr>
      <vt:lpstr>温湿度传感器</vt:lpstr>
      <vt:lpstr>传感器</vt:lpstr>
      <vt:lpstr>温湿度传感器</vt:lpstr>
      <vt:lpstr>温湿度传感器DHT11</vt:lpstr>
      <vt:lpstr>温湿度传感器</vt:lpstr>
      <vt:lpstr>温湿度传感器库函数安装</vt:lpstr>
      <vt:lpstr>温湿度传感器库函数安装</vt:lpstr>
      <vt:lpstr>作业</vt:lpstr>
      <vt:lpstr>器材领取</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Arduino核心API</dc:title>
  <dc:creator>Gredo</dc:creator>
  <cp:lastModifiedBy>Administrator</cp:lastModifiedBy>
  <cp:revision>224</cp:revision>
  <dcterms:created xsi:type="dcterms:W3CDTF">2015-10-18T11:08:00Z</dcterms:created>
  <dcterms:modified xsi:type="dcterms:W3CDTF">2022-10-10T04:52:04Z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2052-11.3.0.9221</vt:lpwstr>
  </property>
</Properties>
</file>