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75"/>
  </p:notesMasterIdLst>
  <p:sldIdLst>
    <p:sldId id="256" r:id="rId2"/>
    <p:sldId id="261" r:id="rId3"/>
    <p:sldId id="278" r:id="rId4"/>
    <p:sldId id="257" r:id="rId5"/>
    <p:sldId id="258" r:id="rId6"/>
    <p:sldId id="259" r:id="rId7"/>
    <p:sldId id="263" r:id="rId8"/>
    <p:sldId id="264" r:id="rId9"/>
    <p:sldId id="265" r:id="rId10"/>
    <p:sldId id="266" r:id="rId11"/>
    <p:sldId id="272" r:id="rId12"/>
    <p:sldId id="281" r:id="rId13"/>
    <p:sldId id="282" r:id="rId14"/>
    <p:sldId id="283" r:id="rId15"/>
    <p:sldId id="284" r:id="rId16"/>
    <p:sldId id="300" r:id="rId17"/>
    <p:sldId id="285" r:id="rId18"/>
    <p:sldId id="286" r:id="rId19"/>
    <p:sldId id="287" r:id="rId20"/>
    <p:sldId id="288" r:id="rId21"/>
    <p:sldId id="289" r:id="rId22"/>
    <p:sldId id="291" r:id="rId23"/>
    <p:sldId id="292" r:id="rId24"/>
    <p:sldId id="293" r:id="rId25"/>
    <p:sldId id="294" r:id="rId26"/>
    <p:sldId id="295" r:id="rId27"/>
    <p:sldId id="296" r:id="rId28"/>
    <p:sldId id="297" r:id="rId29"/>
    <p:sldId id="298" r:id="rId30"/>
    <p:sldId id="299" r:id="rId31"/>
    <p:sldId id="301" r:id="rId32"/>
    <p:sldId id="302" r:id="rId33"/>
    <p:sldId id="358" r:id="rId34"/>
    <p:sldId id="303" r:id="rId35"/>
    <p:sldId id="304" r:id="rId36"/>
    <p:sldId id="374" r:id="rId37"/>
    <p:sldId id="308" r:id="rId38"/>
    <p:sldId id="359" r:id="rId39"/>
    <p:sldId id="309" r:id="rId40"/>
    <p:sldId id="360" r:id="rId41"/>
    <p:sldId id="361" r:id="rId42"/>
    <p:sldId id="362" r:id="rId43"/>
    <p:sldId id="363" r:id="rId44"/>
    <p:sldId id="364" r:id="rId45"/>
    <p:sldId id="314" r:id="rId46"/>
    <p:sldId id="315" r:id="rId47"/>
    <p:sldId id="316" r:id="rId48"/>
    <p:sldId id="318" r:id="rId49"/>
    <p:sldId id="319" r:id="rId50"/>
    <p:sldId id="365" r:id="rId51"/>
    <p:sldId id="328" r:id="rId52"/>
    <p:sldId id="329" r:id="rId53"/>
    <p:sldId id="375" r:id="rId54"/>
    <p:sldId id="326" r:id="rId55"/>
    <p:sldId id="335" r:id="rId56"/>
    <p:sldId id="330" r:id="rId57"/>
    <p:sldId id="331" r:id="rId58"/>
    <p:sldId id="332" r:id="rId59"/>
    <p:sldId id="377" r:id="rId60"/>
    <p:sldId id="366" r:id="rId61"/>
    <p:sldId id="367" r:id="rId62"/>
    <p:sldId id="368" r:id="rId63"/>
    <p:sldId id="369" r:id="rId64"/>
    <p:sldId id="370" r:id="rId65"/>
    <p:sldId id="371" r:id="rId66"/>
    <p:sldId id="372" r:id="rId67"/>
    <p:sldId id="373" r:id="rId68"/>
    <p:sldId id="381" r:id="rId69"/>
    <p:sldId id="380" r:id="rId70"/>
    <p:sldId id="383" r:id="rId71"/>
    <p:sldId id="384" r:id="rId72"/>
    <p:sldId id="385" r:id="rId73"/>
    <p:sldId id="386" r:id="rId74"/>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940"/>
    <p:restoredTop sz="94674"/>
  </p:normalViewPr>
  <p:slideViewPr>
    <p:cSldViewPr snapToGrid="0">
      <p:cViewPr varScale="1">
        <p:scale>
          <a:sx n="63" d="100"/>
          <a:sy n="63" d="100"/>
        </p:scale>
        <p:origin x="1176"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ABB070F-A9B7-4DCB-A487-CFDC8B0F56F9}" type="datetimeFigureOut">
              <a:rPr lang="zh-CN" altLang="en-US" smtClean="0"/>
              <a:t>2022/9/18</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07F81FF-C0A8-4BAA-BB8D-31A1833CE24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7"/>
          <p:cNvSpPr>
            <a:spLocks noGrp="1" noChangeArrowheads="1"/>
          </p:cNvSpPr>
          <p:nvPr>
            <p:ph type="sldNum" sz="quarter" idx="5"/>
          </p:nvPr>
        </p:nvSpPr>
        <p:spPr>
          <a:noFill/>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D536DB5F-655E-4AAB-9929-7798F315D9F0}" type="slidenum">
              <a:rPr lang="en-US" altLang="zh-CN" smtClean="0">
                <a:solidFill>
                  <a:srgbClr val="000000"/>
                </a:solidFill>
              </a:rPr>
              <a:t>1</a:t>
            </a:fld>
            <a:endParaRPr lang="en-US" altLang="zh-CN">
              <a:solidFill>
                <a:srgbClr val="000000"/>
              </a:solidFill>
            </a:endParaRPr>
          </a:p>
        </p:txBody>
      </p:sp>
      <p:sp>
        <p:nvSpPr>
          <p:cNvPr id="7171" name="Rectangle 2"/>
          <p:cNvSpPr>
            <a:spLocks noGrp="1" noRot="1" noChangeAspect="1" noChangeArrowheads="1" noTextEdit="1"/>
          </p:cNvSpPr>
          <p:nvPr>
            <p:ph type="sldImg"/>
          </p:nvPr>
        </p:nvSpPr>
        <p:spPr/>
      </p:sp>
      <p:sp>
        <p:nvSpPr>
          <p:cNvPr id="7172" name="Rectangle 3"/>
          <p:cNvSpPr>
            <a:spLocks noGrp="1" noChangeArrowheads="1"/>
          </p:cNvSpPr>
          <p:nvPr>
            <p:ph type="body" idx="1"/>
          </p:nvPr>
        </p:nvSpPr>
        <p:spPr>
          <a:noFill/>
        </p:spPr>
        <p:txBody>
          <a:bodyPr/>
          <a:lstStyle/>
          <a:p>
            <a:pPr eaLnBrk="1" hangingPunct="1"/>
            <a:endParaRPr lang="zh-CN" alt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7"/>
          <p:cNvSpPr>
            <a:spLocks noGrp="1" noChangeArrowheads="1"/>
          </p:cNvSpPr>
          <p:nvPr>
            <p:ph type="sldNum" sz="quarter" idx="5"/>
          </p:nvPr>
        </p:nvSpPr>
        <p:spPr>
          <a:noFill/>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D536DB5F-655E-4AAB-9929-7798F315D9F0}" type="slidenum">
              <a:rPr lang="en-US" altLang="zh-CN">
                <a:solidFill>
                  <a:srgbClr val="000000"/>
                </a:solidFill>
              </a:rPr>
              <a:t>2</a:t>
            </a:fld>
            <a:endParaRPr lang="en-US" altLang="zh-CN">
              <a:solidFill>
                <a:srgbClr val="000000"/>
              </a:solidFill>
            </a:endParaRPr>
          </a:p>
        </p:txBody>
      </p:sp>
      <p:sp>
        <p:nvSpPr>
          <p:cNvPr id="7171" name="Rectangle 2"/>
          <p:cNvSpPr>
            <a:spLocks noGrp="1" noRot="1" noChangeAspect="1" noChangeArrowheads="1" noTextEdit="1"/>
          </p:cNvSpPr>
          <p:nvPr>
            <p:ph type="sldImg"/>
          </p:nvPr>
        </p:nvSpPr>
        <p:spPr/>
      </p:sp>
      <p:sp>
        <p:nvSpPr>
          <p:cNvPr id="7172" name="Rectangle 3"/>
          <p:cNvSpPr>
            <a:spLocks noGrp="1" noChangeArrowheads="1"/>
          </p:cNvSpPr>
          <p:nvPr>
            <p:ph type="body" idx="1"/>
          </p:nvPr>
        </p:nvSpPr>
        <p:spPr>
          <a:noFill/>
        </p:spPr>
        <p:txBody>
          <a:bodyPr/>
          <a:lstStyle/>
          <a:p>
            <a:pPr eaLnBrk="1" hangingPunct="1"/>
            <a:endParaRPr lang="zh-CN" altLang="zh-CN"/>
          </a:p>
        </p:txBody>
      </p:sp>
    </p:spTree>
    <p:extLst>
      <p:ext uri="{BB962C8B-B14F-4D97-AF65-F5344CB8AC3E}">
        <p14:creationId xmlns:p14="http://schemas.microsoft.com/office/powerpoint/2010/main" val="41063507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7"/>
          <p:cNvSpPr>
            <a:spLocks noGrp="1" noChangeArrowheads="1"/>
          </p:cNvSpPr>
          <p:nvPr>
            <p:ph type="sldNum" sz="quarter" idx="5"/>
          </p:nvPr>
        </p:nvSpPr>
        <p:spPr>
          <a:noFill/>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D536DB5F-655E-4AAB-9929-7798F315D9F0}" type="slidenum">
              <a:rPr lang="en-US" altLang="zh-CN">
                <a:solidFill>
                  <a:srgbClr val="000000"/>
                </a:solidFill>
              </a:rPr>
              <a:t>4</a:t>
            </a:fld>
            <a:endParaRPr lang="en-US" altLang="zh-CN">
              <a:solidFill>
                <a:srgbClr val="000000"/>
              </a:solidFill>
            </a:endParaRPr>
          </a:p>
        </p:txBody>
      </p:sp>
      <p:sp>
        <p:nvSpPr>
          <p:cNvPr id="7171" name="Rectangle 2"/>
          <p:cNvSpPr>
            <a:spLocks noGrp="1" noRot="1" noChangeAspect="1" noChangeArrowheads="1" noTextEdit="1"/>
          </p:cNvSpPr>
          <p:nvPr>
            <p:ph type="sldImg"/>
          </p:nvPr>
        </p:nvSpPr>
        <p:spPr/>
      </p:sp>
      <p:sp>
        <p:nvSpPr>
          <p:cNvPr id="7172" name="Rectangle 3"/>
          <p:cNvSpPr>
            <a:spLocks noGrp="1" noChangeArrowheads="1"/>
          </p:cNvSpPr>
          <p:nvPr>
            <p:ph type="body" idx="1"/>
          </p:nvPr>
        </p:nvSpPr>
        <p:spPr>
          <a:noFill/>
        </p:spPr>
        <p:txBody>
          <a:bodyPr/>
          <a:lstStyle/>
          <a:p>
            <a:pPr eaLnBrk="1" hangingPunct="1"/>
            <a:endParaRPr lang="zh-CN"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7"/>
          <p:cNvSpPr>
            <a:spLocks noGrp="1" noChangeArrowheads="1"/>
          </p:cNvSpPr>
          <p:nvPr>
            <p:ph type="sldNum" sz="quarter" idx="5"/>
          </p:nvPr>
        </p:nvSpPr>
        <p:spPr>
          <a:noFill/>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D536DB5F-655E-4AAB-9929-7798F315D9F0}" type="slidenum">
              <a:rPr lang="en-US" altLang="zh-CN">
                <a:solidFill>
                  <a:srgbClr val="000000"/>
                </a:solidFill>
              </a:rPr>
              <a:t>5</a:t>
            </a:fld>
            <a:endParaRPr lang="en-US" altLang="zh-CN">
              <a:solidFill>
                <a:srgbClr val="000000"/>
              </a:solidFill>
            </a:endParaRPr>
          </a:p>
        </p:txBody>
      </p:sp>
      <p:sp>
        <p:nvSpPr>
          <p:cNvPr id="7171" name="Rectangle 2"/>
          <p:cNvSpPr>
            <a:spLocks noGrp="1" noRot="1" noChangeAspect="1" noChangeArrowheads="1" noTextEdit="1"/>
          </p:cNvSpPr>
          <p:nvPr>
            <p:ph type="sldImg"/>
          </p:nvPr>
        </p:nvSpPr>
        <p:spPr/>
      </p:sp>
      <p:sp>
        <p:nvSpPr>
          <p:cNvPr id="7172" name="Rectangle 3"/>
          <p:cNvSpPr>
            <a:spLocks noGrp="1" noChangeArrowheads="1"/>
          </p:cNvSpPr>
          <p:nvPr>
            <p:ph type="body" idx="1"/>
          </p:nvPr>
        </p:nvSpPr>
        <p:spPr>
          <a:noFill/>
        </p:spPr>
        <p:txBody>
          <a:bodyPr/>
          <a:lstStyle/>
          <a:p>
            <a:pPr eaLnBrk="1" hangingPunct="1"/>
            <a:endParaRPr lang="zh-CN"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7"/>
          <p:cNvSpPr>
            <a:spLocks noGrp="1" noChangeArrowheads="1"/>
          </p:cNvSpPr>
          <p:nvPr>
            <p:ph type="sldNum" sz="quarter" idx="5"/>
          </p:nvPr>
        </p:nvSpPr>
        <p:spPr>
          <a:noFill/>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D536DB5F-655E-4AAB-9929-7798F315D9F0}" type="slidenum">
              <a:rPr lang="en-US" altLang="zh-CN">
                <a:solidFill>
                  <a:srgbClr val="000000"/>
                </a:solidFill>
              </a:rPr>
              <a:t>6</a:t>
            </a:fld>
            <a:endParaRPr lang="en-US" altLang="zh-CN">
              <a:solidFill>
                <a:srgbClr val="000000"/>
              </a:solidFill>
            </a:endParaRPr>
          </a:p>
        </p:txBody>
      </p:sp>
      <p:sp>
        <p:nvSpPr>
          <p:cNvPr id="7171" name="Rectangle 2"/>
          <p:cNvSpPr>
            <a:spLocks noGrp="1" noRot="1" noChangeAspect="1" noChangeArrowheads="1" noTextEdit="1"/>
          </p:cNvSpPr>
          <p:nvPr>
            <p:ph type="sldImg"/>
          </p:nvPr>
        </p:nvSpPr>
        <p:spPr/>
      </p:sp>
      <p:sp>
        <p:nvSpPr>
          <p:cNvPr id="7172" name="Rectangle 3"/>
          <p:cNvSpPr>
            <a:spLocks noGrp="1" noChangeArrowheads="1"/>
          </p:cNvSpPr>
          <p:nvPr>
            <p:ph type="body" idx="1"/>
          </p:nvPr>
        </p:nvSpPr>
        <p:spPr>
          <a:noFill/>
        </p:spPr>
        <p:txBody>
          <a:bodyPr/>
          <a:lstStyle/>
          <a:p>
            <a:pPr eaLnBrk="1" hangingPunct="1"/>
            <a:endParaRPr lang="zh-CN" altLang="zh-C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7"/>
          <p:cNvSpPr>
            <a:spLocks noGrp="1" noChangeArrowheads="1"/>
          </p:cNvSpPr>
          <p:nvPr>
            <p:ph type="sldNum" sz="quarter" idx="5"/>
          </p:nvPr>
        </p:nvSpPr>
        <p:spPr>
          <a:noFill/>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D536DB5F-655E-4AAB-9929-7798F315D9F0}" type="slidenum">
              <a:rPr lang="en-US" altLang="zh-CN">
                <a:solidFill>
                  <a:srgbClr val="000000"/>
                </a:solidFill>
              </a:rPr>
              <a:t>7</a:t>
            </a:fld>
            <a:endParaRPr lang="en-US" altLang="zh-CN">
              <a:solidFill>
                <a:srgbClr val="000000"/>
              </a:solidFill>
            </a:endParaRPr>
          </a:p>
        </p:txBody>
      </p:sp>
      <p:sp>
        <p:nvSpPr>
          <p:cNvPr id="7171" name="Rectangle 2"/>
          <p:cNvSpPr>
            <a:spLocks noGrp="1" noRot="1" noChangeAspect="1" noChangeArrowheads="1" noTextEdit="1"/>
          </p:cNvSpPr>
          <p:nvPr>
            <p:ph type="sldImg"/>
          </p:nvPr>
        </p:nvSpPr>
        <p:spPr/>
      </p:sp>
      <p:sp>
        <p:nvSpPr>
          <p:cNvPr id="7172" name="Rectangle 3"/>
          <p:cNvSpPr>
            <a:spLocks noGrp="1" noChangeArrowheads="1"/>
          </p:cNvSpPr>
          <p:nvPr>
            <p:ph type="body" idx="1"/>
          </p:nvPr>
        </p:nvSpPr>
        <p:spPr>
          <a:noFill/>
        </p:spPr>
        <p:txBody>
          <a:bodyPr/>
          <a:lstStyle/>
          <a:p>
            <a:pPr eaLnBrk="1" hangingPunct="1"/>
            <a:endParaRPr lang="zh-CN" altLang="zh-C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7"/>
          <p:cNvSpPr>
            <a:spLocks noGrp="1" noChangeArrowheads="1"/>
          </p:cNvSpPr>
          <p:nvPr>
            <p:ph type="sldNum" sz="quarter" idx="5"/>
          </p:nvPr>
        </p:nvSpPr>
        <p:spPr>
          <a:noFill/>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D536DB5F-655E-4AAB-9929-7798F315D9F0}" type="slidenum">
              <a:rPr lang="en-US" altLang="zh-CN">
                <a:solidFill>
                  <a:srgbClr val="000000"/>
                </a:solidFill>
              </a:rPr>
              <a:t>8</a:t>
            </a:fld>
            <a:endParaRPr lang="en-US" altLang="zh-CN">
              <a:solidFill>
                <a:srgbClr val="000000"/>
              </a:solidFill>
            </a:endParaRPr>
          </a:p>
        </p:txBody>
      </p:sp>
      <p:sp>
        <p:nvSpPr>
          <p:cNvPr id="7171" name="Rectangle 2"/>
          <p:cNvSpPr>
            <a:spLocks noGrp="1" noRot="1" noChangeAspect="1" noChangeArrowheads="1" noTextEdit="1"/>
          </p:cNvSpPr>
          <p:nvPr>
            <p:ph type="sldImg"/>
          </p:nvPr>
        </p:nvSpPr>
        <p:spPr/>
      </p:sp>
      <p:sp>
        <p:nvSpPr>
          <p:cNvPr id="7172" name="Rectangle 3"/>
          <p:cNvSpPr>
            <a:spLocks noGrp="1" noChangeArrowheads="1"/>
          </p:cNvSpPr>
          <p:nvPr>
            <p:ph type="body" idx="1"/>
          </p:nvPr>
        </p:nvSpPr>
        <p:spPr>
          <a:noFill/>
        </p:spPr>
        <p:txBody>
          <a:bodyPr/>
          <a:lstStyle/>
          <a:p>
            <a:pPr eaLnBrk="1" hangingPunct="1"/>
            <a:endParaRPr lang="zh-CN" altLang="zh-C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7"/>
          <p:cNvSpPr>
            <a:spLocks noGrp="1" noChangeArrowheads="1"/>
          </p:cNvSpPr>
          <p:nvPr>
            <p:ph type="sldNum" sz="quarter" idx="5"/>
          </p:nvPr>
        </p:nvSpPr>
        <p:spPr>
          <a:noFill/>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D536DB5F-655E-4AAB-9929-7798F315D9F0}" type="slidenum">
              <a:rPr lang="en-US" altLang="zh-CN">
                <a:solidFill>
                  <a:srgbClr val="000000"/>
                </a:solidFill>
              </a:rPr>
              <a:t>9</a:t>
            </a:fld>
            <a:endParaRPr lang="en-US" altLang="zh-CN">
              <a:solidFill>
                <a:srgbClr val="000000"/>
              </a:solidFill>
            </a:endParaRPr>
          </a:p>
        </p:txBody>
      </p:sp>
      <p:sp>
        <p:nvSpPr>
          <p:cNvPr id="7171" name="Rectangle 2"/>
          <p:cNvSpPr>
            <a:spLocks noGrp="1" noRot="1" noChangeAspect="1" noChangeArrowheads="1" noTextEdit="1"/>
          </p:cNvSpPr>
          <p:nvPr>
            <p:ph type="sldImg"/>
          </p:nvPr>
        </p:nvSpPr>
        <p:spPr/>
      </p:sp>
      <p:sp>
        <p:nvSpPr>
          <p:cNvPr id="7172" name="Rectangle 3"/>
          <p:cNvSpPr>
            <a:spLocks noGrp="1" noChangeArrowheads="1"/>
          </p:cNvSpPr>
          <p:nvPr>
            <p:ph type="body" idx="1"/>
          </p:nvPr>
        </p:nvSpPr>
        <p:spPr>
          <a:noFill/>
        </p:spPr>
        <p:txBody>
          <a:bodyPr/>
          <a:lstStyle/>
          <a:p>
            <a:pPr eaLnBrk="1" hangingPunct="1"/>
            <a:endParaRPr lang="zh-CN" altLang="zh-C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7"/>
          <p:cNvSpPr>
            <a:spLocks noGrp="1" noChangeArrowheads="1"/>
          </p:cNvSpPr>
          <p:nvPr>
            <p:ph type="sldNum" sz="quarter" idx="5"/>
          </p:nvPr>
        </p:nvSpPr>
        <p:spPr>
          <a:noFill/>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D536DB5F-655E-4AAB-9929-7798F315D9F0}" type="slidenum">
              <a:rPr lang="en-US" altLang="zh-CN">
                <a:solidFill>
                  <a:srgbClr val="000000"/>
                </a:solidFill>
              </a:rPr>
              <a:t>10</a:t>
            </a:fld>
            <a:endParaRPr lang="en-US" altLang="zh-CN">
              <a:solidFill>
                <a:srgbClr val="000000"/>
              </a:solidFill>
            </a:endParaRPr>
          </a:p>
        </p:txBody>
      </p:sp>
      <p:sp>
        <p:nvSpPr>
          <p:cNvPr id="7171" name="Rectangle 2"/>
          <p:cNvSpPr>
            <a:spLocks noGrp="1" noRot="1" noChangeAspect="1" noChangeArrowheads="1" noTextEdit="1"/>
          </p:cNvSpPr>
          <p:nvPr>
            <p:ph type="sldImg"/>
          </p:nvPr>
        </p:nvSpPr>
        <p:spPr/>
      </p:sp>
      <p:sp>
        <p:nvSpPr>
          <p:cNvPr id="7172" name="Rectangle 3"/>
          <p:cNvSpPr>
            <a:spLocks noGrp="1" noChangeArrowheads="1"/>
          </p:cNvSpPr>
          <p:nvPr>
            <p:ph type="body" idx="1"/>
          </p:nvPr>
        </p:nvSpPr>
        <p:spPr>
          <a:noFill/>
        </p:spPr>
        <p:txBody>
          <a:bodyPr/>
          <a:lstStyle/>
          <a:p>
            <a:pPr eaLnBrk="1" hangingPunct="1"/>
            <a:endParaRPr lang="zh-CN" altLang="zh-C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7"/>
          <p:cNvSpPr>
            <a:spLocks noGrp="1" noChangeArrowheads="1"/>
          </p:cNvSpPr>
          <p:nvPr>
            <p:ph type="sldNum" sz="quarter" idx="5"/>
          </p:nvPr>
        </p:nvSpPr>
        <p:spPr>
          <a:noFill/>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D536DB5F-655E-4AAB-9929-7798F315D9F0}" type="slidenum">
              <a:rPr lang="en-US" altLang="zh-CN">
                <a:solidFill>
                  <a:srgbClr val="000000"/>
                </a:solidFill>
              </a:rPr>
              <a:t>11</a:t>
            </a:fld>
            <a:endParaRPr lang="en-US" altLang="zh-CN">
              <a:solidFill>
                <a:srgbClr val="000000"/>
              </a:solidFill>
            </a:endParaRPr>
          </a:p>
        </p:txBody>
      </p:sp>
      <p:sp>
        <p:nvSpPr>
          <p:cNvPr id="7171" name="Rectangle 2"/>
          <p:cNvSpPr>
            <a:spLocks noGrp="1" noRot="1" noChangeAspect="1" noChangeArrowheads="1" noTextEdit="1"/>
          </p:cNvSpPr>
          <p:nvPr>
            <p:ph type="sldImg"/>
          </p:nvPr>
        </p:nvSpPr>
        <p:spPr/>
      </p:sp>
      <p:sp>
        <p:nvSpPr>
          <p:cNvPr id="7172" name="Rectangle 3"/>
          <p:cNvSpPr>
            <a:spLocks noGrp="1" noChangeArrowheads="1"/>
          </p:cNvSpPr>
          <p:nvPr>
            <p:ph type="body" idx="1"/>
          </p:nvPr>
        </p:nvSpPr>
        <p:spPr>
          <a:noFill/>
        </p:spPr>
        <p:txBody>
          <a:bodyPr/>
          <a:lstStyle/>
          <a:p>
            <a:pPr eaLnBrk="1" hangingPunct="1"/>
            <a:endParaRPr lang="zh-CN" altLang="zh-CN"/>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07F81FF-C0A8-4BAA-BB8D-31A1833CE24D}" type="slidenum">
              <a:rPr lang="zh-CN" altLang="en-US" smtClean="0"/>
              <a:t>25</a:t>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07F81FF-C0A8-4BAA-BB8D-31A1833CE24D}" type="slidenum">
              <a:rPr lang="zh-CN" altLang="en-US" smtClean="0"/>
              <a:t>44</a:t>
            </a:fld>
            <a:endParaRPr lang="zh-CN" altLang="en-US"/>
          </a:p>
        </p:txBody>
      </p:sp>
    </p:spTree>
    <p:extLst>
      <p:ext uri="{BB962C8B-B14F-4D97-AF65-F5344CB8AC3E}">
        <p14:creationId xmlns:p14="http://schemas.microsoft.com/office/powerpoint/2010/main" val="16939474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178C1384-3686-45C4-9274-264A95345C91}" type="slidenum">
              <a:rPr lang="en-US" altLang="zh-CN"/>
              <a:t>‹#›</a:t>
            </a:fld>
            <a:endParaRPr lang="en-US" altLang="zh-CN"/>
          </a:p>
        </p:txBody>
      </p:sp>
    </p:spTree>
  </p:cSld>
  <p:clrMapOvr>
    <a:masterClrMapping/>
  </p:clrMapOvr>
  <p:transition>
    <p:cover dir="d"/>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2C687883-A9F8-4324-BFDB-FCCC5C558AE8}" type="slidenum">
              <a:rPr lang="en-US" altLang="zh-CN"/>
              <a:t>‹#›</a:t>
            </a:fld>
            <a:endParaRPr lang="en-US" altLang="zh-CN"/>
          </a:p>
        </p:txBody>
      </p:sp>
    </p:spTree>
  </p:cSld>
  <p:clrMapOvr>
    <a:masterClrMapping/>
  </p:clrMapOvr>
  <p:transition>
    <p:cover dir="d"/>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424A2B26-0FA3-473F-9174-F6D9E481BFA1}" type="slidenum">
              <a:rPr lang="en-US" altLang="zh-CN"/>
              <a:t>‹#›</a:t>
            </a:fld>
            <a:endParaRPr lang="en-US" altLang="zh-CN"/>
          </a:p>
        </p:txBody>
      </p:sp>
    </p:spTree>
  </p:cSld>
  <p:clrMapOvr>
    <a:masterClrMapping/>
  </p:clrMapOvr>
  <p:transition>
    <p:cover dir="d"/>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p:cNvSpPr>
            <a:spLocks noGrp="1" noChangeArrowheads="1"/>
          </p:cNvSpPr>
          <p:nvPr>
            <p:ph type="dt" sz="half" idx="10"/>
          </p:nvPr>
        </p:nvSpPr>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p:txBody>
          <a:bodyPr/>
          <a:lstStyle>
            <a:lvl1pPr>
              <a:defRPr/>
            </a:lvl1pPr>
          </a:lstStyle>
          <a:p>
            <a:pPr>
              <a:defRPr/>
            </a:pPr>
            <a:fld id="{A0A41B2E-0564-49C7-AE47-7DBB17967741}" type="slidenum">
              <a:rPr lang="en-US" altLang="zh-CN"/>
              <a:t>‹#›</a:t>
            </a:fld>
            <a:endParaRPr lang="en-US" altLang="zh-CN"/>
          </a:p>
        </p:txBody>
      </p:sp>
    </p:spTree>
  </p:cSld>
  <p:clrMapOvr>
    <a:masterClrMapping/>
  </p:clrMapOvr>
  <p:transition>
    <p:cover dir="d"/>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p:cNvSpPr>
            <a:spLocks noGrp="1" noChangeArrowheads="1"/>
          </p:cNvSpPr>
          <p:nvPr>
            <p:ph type="dt" sz="half" idx="10"/>
          </p:nvPr>
        </p:nvSpPr>
        <p:spPr/>
        <p:txBody>
          <a:bodyPr/>
          <a:lstStyle>
            <a:lvl1pPr>
              <a:defRPr/>
            </a:lvl1pPr>
          </a:lstStyle>
          <a:p>
            <a:pPr>
              <a:defRPr/>
            </a:pPr>
            <a:endParaRPr lang="en-US" altLang="zh-CN"/>
          </a:p>
        </p:txBody>
      </p:sp>
      <p:sp>
        <p:nvSpPr>
          <p:cNvPr id="8" name="Rectangle 5"/>
          <p:cNvSpPr>
            <a:spLocks noGrp="1" noChangeArrowheads="1"/>
          </p:cNvSpPr>
          <p:nvPr>
            <p:ph type="ftr" sz="quarter" idx="11"/>
          </p:nvPr>
        </p:nvSpPr>
        <p:spPr/>
        <p:txBody>
          <a:bodyPr/>
          <a:lstStyle>
            <a:lvl1pPr>
              <a:defRPr/>
            </a:lvl1pPr>
          </a:lstStyle>
          <a:p>
            <a:pPr>
              <a:defRPr/>
            </a:pPr>
            <a:endParaRPr lang="en-US" altLang="zh-CN"/>
          </a:p>
        </p:txBody>
      </p:sp>
      <p:sp>
        <p:nvSpPr>
          <p:cNvPr id="9" name="Rectangle 6"/>
          <p:cNvSpPr>
            <a:spLocks noGrp="1" noChangeArrowheads="1"/>
          </p:cNvSpPr>
          <p:nvPr>
            <p:ph type="sldNum" sz="quarter" idx="12"/>
          </p:nvPr>
        </p:nvSpPr>
        <p:spPr/>
        <p:txBody>
          <a:bodyPr/>
          <a:lstStyle>
            <a:lvl1pPr>
              <a:defRPr/>
            </a:lvl1pPr>
          </a:lstStyle>
          <a:p>
            <a:pPr>
              <a:defRPr/>
            </a:pPr>
            <a:fld id="{0231B4C8-FC89-42E9-B91A-70FC8438C555}" type="slidenum">
              <a:rPr lang="en-US" altLang="zh-CN"/>
              <a:t>‹#›</a:t>
            </a:fld>
            <a:endParaRPr lang="en-US" altLang="zh-CN"/>
          </a:p>
        </p:txBody>
      </p:sp>
    </p:spTree>
  </p:cSld>
  <p:clrMapOvr>
    <a:masterClrMapping/>
  </p:clrMapOvr>
  <p:transition>
    <p:cover dir="d"/>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4"/>
          <p:cNvSpPr>
            <a:spLocks noGrp="1" noChangeArrowheads="1"/>
          </p:cNvSpPr>
          <p:nvPr>
            <p:ph type="dt" sz="half" idx="10"/>
          </p:nvPr>
        </p:nvSpPr>
        <p:spPr/>
        <p:txBody>
          <a:bodyPr/>
          <a:lstStyle>
            <a:lvl1pPr>
              <a:defRPr/>
            </a:lvl1pPr>
          </a:lstStyle>
          <a:p>
            <a:pPr>
              <a:defRPr/>
            </a:pPr>
            <a:endParaRPr lang="en-US" altLang="zh-CN"/>
          </a:p>
        </p:txBody>
      </p:sp>
      <p:sp>
        <p:nvSpPr>
          <p:cNvPr id="4" name="Rectangle 5"/>
          <p:cNvSpPr>
            <a:spLocks noGrp="1" noChangeArrowheads="1"/>
          </p:cNvSpPr>
          <p:nvPr>
            <p:ph type="ftr" sz="quarter" idx="11"/>
          </p:nvPr>
        </p:nvSpPr>
        <p:spPr/>
        <p:txBody>
          <a:bodyPr/>
          <a:lstStyle>
            <a:lvl1pPr>
              <a:defRPr/>
            </a:lvl1pPr>
          </a:lstStyle>
          <a:p>
            <a:pPr>
              <a:defRPr/>
            </a:pPr>
            <a:endParaRPr lang="en-US" altLang="zh-CN"/>
          </a:p>
        </p:txBody>
      </p:sp>
      <p:sp>
        <p:nvSpPr>
          <p:cNvPr id="5" name="Rectangle 6"/>
          <p:cNvSpPr>
            <a:spLocks noGrp="1" noChangeArrowheads="1"/>
          </p:cNvSpPr>
          <p:nvPr>
            <p:ph type="sldNum" sz="quarter" idx="12"/>
          </p:nvPr>
        </p:nvSpPr>
        <p:spPr/>
        <p:txBody>
          <a:bodyPr/>
          <a:lstStyle>
            <a:lvl1pPr>
              <a:defRPr/>
            </a:lvl1pPr>
          </a:lstStyle>
          <a:p>
            <a:pPr>
              <a:defRPr/>
            </a:pPr>
            <a:fld id="{9E0CDD31-6EDA-4B63-885E-0EE493EA4FC2}" type="slidenum">
              <a:rPr lang="en-US" altLang="zh-CN"/>
              <a:t>‹#›</a:t>
            </a:fld>
            <a:endParaRPr lang="en-US" altLang="zh-CN"/>
          </a:p>
        </p:txBody>
      </p:sp>
    </p:spTree>
  </p:cSld>
  <p:clrMapOvr>
    <a:masterClrMapping/>
  </p:clrMapOvr>
  <p:transition>
    <p:cover dir="d"/>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p:txBody>
          <a:bodyPr/>
          <a:lstStyle>
            <a:lvl1pPr>
              <a:defRPr/>
            </a:lvl1pPr>
          </a:lstStyle>
          <a:p>
            <a:pPr>
              <a:defRPr/>
            </a:pPr>
            <a:endParaRPr lang="en-US" altLang="zh-CN"/>
          </a:p>
        </p:txBody>
      </p:sp>
      <p:sp>
        <p:nvSpPr>
          <p:cNvPr id="3" name="Rectangle 5"/>
          <p:cNvSpPr>
            <a:spLocks noGrp="1" noChangeArrowheads="1"/>
          </p:cNvSpPr>
          <p:nvPr>
            <p:ph type="ftr" sz="quarter" idx="11"/>
          </p:nvPr>
        </p:nvSpPr>
        <p:spPr/>
        <p:txBody>
          <a:bodyPr/>
          <a:lstStyle>
            <a:lvl1pPr>
              <a:defRPr/>
            </a:lvl1pPr>
          </a:lstStyle>
          <a:p>
            <a:pPr>
              <a:defRPr/>
            </a:pPr>
            <a:endParaRPr lang="en-US" altLang="zh-CN"/>
          </a:p>
        </p:txBody>
      </p:sp>
      <p:sp>
        <p:nvSpPr>
          <p:cNvPr id="4" name="Rectangle 6"/>
          <p:cNvSpPr>
            <a:spLocks noGrp="1" noChangeArrowheads="1"/>
          </p:cNvSpPr>
          <p:nvPr>
            <p:ph type="sldNum" sz="quarter" idx="12"/>
          </p:nvPr>
        </p:nvSpPr>
        <p:spPr/>
        <p:txBody>
          <a:bodyPr/>
          <a:lstStyle>
            <a:lvl1pPr>
              <a:defRPr/>
            </a:lvl1pPr>
          </a:lstStyle>
          <a:p>
            <a:pPr>
              <a:defRPr/>
            </a:pPr>
            <a:fld id="{9B8D6B41-AAF5-4D7C-9630-46E39E52E699}" type="slidenum">
              <a:rPr lang="en-US" altLang="zh-CN"/>
              <a:t>‹#›</a:t>
            </a:fld>
            <a:endParaRPr lang="en-US" altLang="zh-CN"/>
          </a:p>
        </p:txBody>
      </p:sp>
    </p:spTree>
  </p:cSld>
  <p:clrMapOvr>
    <a:masterClrMapping/>
  </p:clrMapOvr>
  <p:transition>
    <p:cover dir="d"/>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dt" sz="half" idx="10"/>
          </p:nvPr>
        </p:nvSpPr>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p:txBody>
          <a:bodyPr/>
          <a:lstStyle>
            <a:lvl1pPr>
              <a:defRPr/>
            </a:lvl1pPr>
          </a:lstStyle>
          <a:p>
            <a:pPr>
              <a:defRPr/>
            </a:pPr>
            <a:fld id="{5AEBD598-5F9C-4349-AEB3-E05F3179A862}" type="slidenum">
              <a:rPr lang="en-US" altLang="zh-CN"/>
              <a:t>‹#›</a:t>
            </a:fld>
            <a:endParaRPr lang="en-US" altLang="zh-CN"/>
          </a:p>
        </p:txBody>
      </p:sp>
    </p:spTree>
  </p:cSld>
  <p:clrMapOvr>
    <a:masterClrMapping/>
  </p:clrMapOvr>
  <p:transition>
    <p:cover dir="d"/>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dt" sz="half" idx="10"/>
          </p:nvPr>
        </p:nvSpPr>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p:txBody>
          <a:bodyPr/>
          <a:lstStyle>
            <a:lvl1pPr>
              <a:defRPr/>
            </a:lvl1pPr>
          </a:lstStyle>
          <a:p>
            <a:pPr>
              <a:defRPr/>
            </a:pPr>
            <a:fld id="{CA05A86F-E4C4-4AE8-BCC7-46675975EFC1}" type="slidenum">
              <a:rPr lang="en-US" altLang="zh-CN"/>
              <a:t>‹#›</a:t>
            </a:fld>
            <a:endParaRPr lang="en-US" altLang="zh-CN"/>
          </a:p>
        </p:txBody>
      </p:sp>
    </p:spTree>
  </p:cSld>
  <p:clrMapOvr>
    <a:masterClrMapping/>
  </p:clrMapOvr>
  <p:transition>
    <p:cover dir="d"/>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5E4AA024-4BD4-4C3E-9782-94B9F836E446}" type="slidenum">
              <a:rPr lang="en-US" altLang="zh-CN"/>
              <a:t>‹#›</a:t>
            </a:fld>
            <a:endParaRPr lang="en-US" altLang="zh-CN"/>
          </a:p>
        </p:txBody>
      </p:sp>
    </p:spTree>
  </p:cSld>
  <p:clrMapOvr>
    <a:masterClrMapping/>
  </p:clrMapOvr>
  <p:transition>
    <p:cover dir="d"/>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15100" y="609600"/>
            <a:ext cx="1943100" cy="54864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85800" y="609600"/>
            <a:ext cx="5676900" cy="54864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7A23B651-01C7-4ACB-A684-85A55AD844EF}" type="slidenum">
              <a:rPr lang="en-US" altLang="zh-CN"/>
              <a:t>‹#›</a:t>
            </a:fld>
            <a:endParaRPr lang="en-US" altLang="zh-CN"/>
          </a:p>
        </p:txBody>
      </p:sp>
    </p:spTree>
  </p:cSld>
  <p:clrMapOvr>
    <a:masterClrMapping/>
  </p:clrMapOvr>
  <p:transition>
    <p:cover dir="d"/>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title"/>
          </p:nvPr>
        </p:nvSpPr>
        <p:spPr bwMode="auto">
          <a:xfrm>
            <a:off x="685800" y="609600"/>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p>
            <a:pPr lvl="0"/>
            <a:r>
              <a:rPr lang="zh-CN" altLang="en-US"/>
              <a:t>单击此处编辑母版标题样式</a:t>
            </a:r>
          </a:p>
        </p:txBody>
      </p:sp>
      <p:sp>
        <p:nvSpPr>
          <p:cNvPr id="2051" name="Rectangle 3"/>
          <p:cNvSpPr>
            <a:spLocks noGrp="1" noChangeArrowheads="1"/>
          </p:cNvSpPr>
          <p:nvPr>
            <p:ph type="body" idx="1"/>
          </p:nvPr>
        </p:nvSpPr>
        <p:spPr bwMode="auto">
          <a:xfrm>
            <a:off x="685800" y="1981200"/>
            <a:ext cx="7772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28" name="Rectangle 4"/>
          <p:cNvSpPr>
            <a:spLocks noGrp="1" noChangeArrowheads="1"/>
          </p:cNvSpPr>
          <p:nvPr>
            <p:ph type="dt" sz="half" idx="2"/>
          </p:nvPr>
        </p:nvSpPr>
        <p:spPr bwMode="auto">
          <a:xfrm>
            <a:off x="685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eaLnBrk="1" hangingPunct="1">
              <a:defRPr sz="1400">
                <a:solidFill>
                  <a:srgbClr val="000000"/>
                </a:solidFill>
                <a:effectLst/>
                <a:ea typeface="+mn-ea"/>
              </a:defRPr>
            </a:lvl1pPr>
          </a:lstStyle>
          <a:p>
            <a:pPr fontAlgn="base">
              <a:spcBef>
                <a:spcPct val="0"/>
              </a:spcBef>
              <a:spcAft>
                <a:spcPct val="0"/>
              </a:spcAft>
              <a:defRPr/>
            </a:pPr>
            <a:endParaRPr kumimoji="1" lang="en-US" altLang="zh-CN"/>
          </a:p>
        </p:txBody>
      </p:sp>
      <p:sp>
        <p:nvSpPr>
          <p:cNvPr id="1029" name="Rectangle 5"/>
          <p:cNvSpPr>
            <a:spLocks noGrp="1" noChangeArrowheads="1"/>
          </p:cNvSpPr>
          <p:nvPr>
            <p:ph type="ftr" sz="quarter" idx="3"/>
          </p:nvPr>
        </p:nvSpPr>
        <p:spPr bwMode="auto">
          <a:xfrm>
            <a:off x="3124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eaLnBrk="1" hangingPunct="1">
              <a:defRPr sz="1400">
                <a:solidFill>
                  <a:srgbClr val="000000"/>
                </a:solidFill>
                <a:effectLst/>
                <a:ea typeface="+mn-ea"/>
              </a:defRPr>
            </a:lvl1pPr>
          </a:lstStyle>
          <a:p>
            <a:pPr fontAlgn="base">
              <a:spcBef>
                <a:spcPct val="0"/>
              </a:spcBef>
              <a:spcAft>
                <a:spcPct val="0"/>
              </a:spcAft>
              <a:defRPr/>
            </a:pPr>
            <a:endParaRPr kumimoji="1" lang="en-US" altLang="zh-CN"/>
          </a:p>
        </p:txBody>
      </p:sp>
      <p:sp>
        <p:nvSpPr>
          <p:cNvPr id="1030" name="Rectangle 6"/>
          <p:cNvSpPr>
            <a:spLocks noGrp="1" noChangeArrowheads="1"/>
          </p:cNvSpPr>
          <p:nvPr>
            <p:ph type="sldNum" sz="quarter" idx="4"/>
          </p:nvPr>
        </p:nvSpPr>
        <p:spPr bwMode="auto">
          <a:xfrm>
            <a:off x="65532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1" hangingPunct="1">
              <a:defRPr sz="1400">
                <a:solidFill>
                  <a:srgbClr val="000000"/>
                </a:solidFill>
                <a:effectLst/>
                <a:ea typeface="宋体" panose="02010600030101010101" pitchFamily="2" charset="-122"/>
              </a:defRPr>
            </a:lvl1pPr>
          </a:lstStyle>
          <a:p>
            <a:pPr fontAlgn="base">
              <a:spcBef>
                <a:spcPct val="0"/>
              </a:spcBef>
              <a:spcAft>
                <a:spcPct val="0"/>
              </a:spcAft>
              <a:defRPr/>
            </a:pPr>
            <a:fld id="{913CEB95-6C5A-49F2-94B7-1C2B9AE0D82E}" type="slidenum">
              <a:rPr kumimoji="1" lang="en-US" altLang="zh-CN"/>
              <a:t>‹#›</a:t>
            </a:fld>
            <a:endParaRPr kumimoji="1" lang="en-US" altLang="zh-C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cover dir="d"/>
  </p:transition>
  <p:txStyles>
    <p:title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p:titleStyle>
    <p:bodyStyle>
      <a:lvl1pPr marL="342900" indent="-342900" algn="l" rtl="0" eaLnBrk="0" fontAlgn="base"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3.jpe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28.png"/><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51.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hyperlink" Target="https://www.arduino.cc/en/software" TargetMode="Externa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37.jpe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hyperlink" Target="mailto:&#19979;&#27425;&#35838;&#21069;&#21457;&#36865;&#21040;&#37038;&#31665;qiushitong@buaa.edu.cn" TargetMode="Externa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20090" y="2484120"/>
            <a:ext cx="7772400" cy="1143000"/>
          </a:xfrm>
        </p:spPr>
        <p:txBody>
          <a:bodyPr/>
          <a:lstStyle/>
          <a:p>
            <a:r>
              <a:rPr lang="zh-CN" altLang="en-US" sz="6000" dirty="0"/>
              <a:t>进入</a:t>
            </a:r>
            <a:r>
              <a:rPr lang="en-US" altLang="zh-CN" sz="6000" dirty="0"/>
              <a:t>Arduino</a:t>
            </a:r>
            <a:r>
              <a:rPr lang="zh-CN" altLang="en-US" sz="6000" dirty="0"/>
              <a:t>的世界</a:t>
            </a:r>
          </a:p>
        </p:txBody>
      </p:sp>
    </p:spTree>
  </p:cSld>
  <p:clrMapOvr>
    <a:masterClrMapping/>
  </p:clrMapOvr>
  <p:transition>
    <p:strips dir="ru"/>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6641" y="1783109"/>
            <a:ext cx="3381163" cy="2535872"/>
          </a:xfrm>
          <a:prstGeom prst="rect">
            <a:avLst/>
          </a:prstGeom>
        </p:spPr>
      </p:pic>
      <p:sp>
        <p:nvSpPr>
          <p:cNvPr id="3" name="文本框 2"/>
          <p:cNvSpPr txBox="1"/>
          <p:nvPr/>
        </p:nvSpPr>
        <p:spPr>
          <a:xfrm>
            <a:off x="1237911" y="4694081"/>
            <a:ext cx="3018621" cy="646331"/>
          </a:xfrm>
          <a:prstGeom prst="rect">
            <a:avLst/>
          </a:prstGeom>
          <a:noFill/>
        </p:spPr>
        <p:txBody>
          <a:bodyPr wrap="square" rtlCol="0">
            <a:spAutoFit/>
          </a:bodyPr>
          <a:lstStyle/>
          <a:p>
            <a:r>
              <a:rPr lang="en-US" altLang="zh-CN" sz="3600" dirty="0"/>
              <a:t>Arduino UNO</a:t>
            </a:r>
            <a:endParaRPr lang="zh-CN" altLang="en-US" sz="3600" dirty="0"/>
          </a:p>
        </p:txBody>
      </p:sp>
      <p:pic>
        <p:nvPicPr>
          <p:cNvPr id="4" name="图片 3">
            <a:extLst>
              <a:ext uri="{FF2B5EF4-FFF2-40B4-BE49-F238E27FC236}">
                <a16:creationId xmlns:a16="http://schemas.microsoft.com/office/drawing/2014/main" id="{DBE445E6-CC0C-463B-9DB0-4293DB276DF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007507" y="1841331"/>
            <a:ext cx="3225903" cy="2419427"/>
          </a:xfrm>
          <a:prstGeom prst="rect">
            <a:avLst/>
          </a:prstGeom>
        </p:spPr>
      </p:pic>
      <p:sp>
        <p:nvSpPr>
          <p:cNvPr id="5" name="文本框 4">
            <a:extLst>
              <a:ext uri="{FF2B5EF4-FFF2-40B4-BE49-F238E27FC236}">
                <a16:creationId xmlns:a16="http://schemas.microsoft.com/office/drawing/2014/main" id="{3E250F1B-E527-49DB-BCB2-63DA84F0A62C}"/>
              </a:ext>
            </a:extLst>
          </p:cNvPr>
          <p:cNvSpPr txBox="1"/>
          <p:nvPr/>
        </p:nvSpPr>
        <p:spPr>
          <a:xfrm>
            <a:off x="4651118" y="4694080"/>
            <a:ext cx="3938680" cy="646331"/>
          </a:xfrm>
          <a:prstGeom prst="rect">
            <a:avLst/>
          </a:prstGeom>
          <a:noFill/>
        </p:spPr>
        <p:txBody>
          <a:bodyPr wrap="square" rtlCol="0">
            <a:spAutoFit/>
          </a:bodyPr>
          <a:lstStyle/>
          <a:p>
            <a:r>
              <a:rPr lang="en-US" altLang="zh-CN" sz="3600" dirty="0"/>
              <a:t>Arduino Mega 2560</a:t>
            </a:r>
            <a:endParaRPr lang="zh-CN" altLang="en-US" sz="3600" dirty="0"/>
          </a:p>
        </p:txBody>
      </p:sp>
    </p:spTree>
    <p:extLst>
      <p:ext uri="{BB962C8B-B14F-4D97-AF65-F5344CB8AC3E}">
        <p14:creationId xmlns:p14="http://schemas.microsoft.com/office/powerpoint/2010/main" val="1367904923"/>
      </p:ext>
    </p:extLst>
  </p:cSld>
  <p:clrMapOvr>
    <a:masterClrMapping/>
  </p:clrMapOvr>
  <p:transition>
    <p:strips dir="ru"/>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pPr algn="l"/>
            <a:r>
              <a:rPr lang="zh-CN" altLang="en-US" dirty="0"/>
              <a:t>什么是</a:t>
            </a:r>
            <a:r>
              <a:rPr lang="en-US" altLang="zh-CN" dirty="0"/>
              <a:t>Arduino</a:t>
            </a:r>
            <a:r>
              <a:rPr lang="zh-CN" altLang="en-US" dirty="0"/>
              <a:t>？</a:t>
            </a:r>
          </a:p>
        </p:txBody>
      </p:sp>
      <p:sp>
        <p:nvSpPr>
          <p:cNvPr id="5" name="内容占位符 4"/>
          <p:cNvSpPr>
            <a:spLocks noGrp="1"/>
          </p:cNvSpPr>
          <p:nvPr>
            <p:ph idx="1"/>
          </p:nvPr>
        </p:nvSpPr>
        <p:spPr/>
        <p:txBody>
          <a:bodyPr/>
          <a:lstStyle/>
          <a:p>
            <a:pPr marL="0" indent="0">
              <a:buNone/>
            </a:pPr>
            <a:r>
              <a:rPr lang="en-US" altLang="zh-CN" dirty="0"/>
              <a:t>Arduino</a:t>
            </a:r>
            <a:r>
              <a:rPr lang="zh-CN" altLang="en-US" dirty="0"/>
              <a:t>发轫于意大利的伊夫雷亚（</a:t>
            </a:r>
            <a:r>
              <a:rPr lang="en-US" altLang="zh-CN" dirty="0"/>
              <a:t>Ivrea</a:t>
            </a:r>
            <a:r>
              <a:rPr lang="zh-CN" altLang="en-US" dirty="0"/>
              <a:t>）。伊夫雷亚的阿尔杜伊（</a:t>
            </a:r>
            <a:r>
              <a:rPr lang="en-US" altLang="zh-CN" dirty="0" err="1"/>
              <a:t>Arduin</a:t>
            </a:r>
            <a:r>
              <a:rPr lang="zh-CN" altLang="en-US" dirty="0"/>
              <a:t>）是约</a:t>
            </a:r>
            <a:r>
              <a:rPr lang="en-US" altLang="zh-CN" dirty="0"/>
              <a:t>1000</a:t>
            </a:r>
            <a:r>
              <a:rPr lang="zh-CN" altLang="en-US" dirty="0"/>
              <a:t>年前的意大利国王，在当地声明卓著。焦贝蒂广场（</a:t>
            </a:r>
            <a:r>
              <a:rPr lang="en-US" altLang="zh-CN" dirty="0"/>
              <a:t>Piazza </a:t>
            </a:r>
            <a:r>
              <a:rPr lang="en-US" altLang="zh-CN" dirty="0" err="1"/>
              <a:t>Gioberti</a:t>
            </a:r>
            <a:r>
              <a:rPr lang="zh-CN" altLang="en-US" dirty="0"/>
              <a:t>）上有一间酒馆以此国王的名字命名。</a:t>
            </a:r>
          </a:p>
        </p:txBody>
      </p:sp>
    </p:spTree>
  </p:cSld>
  <p:clrMapOvr>
    <a:masterClrMapping/>
  </p:clrMapOvr>
  <p:transition>
    <p:cover dir="d"/>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en-US" dirty="0"/>
              <a:t>什么是</a:t>
            </a:r>
            <a:r>
              <a:rPr lang="en-US" altLang="zh-CN" dirty="0"/>
              <a:t>Arduino</a:t>
            </a:r>
            <a:r>
              <a:rPr lang="zh-CN" altLang="en-US" dirty="0"/>
              <a:t>？</a:t>
            </a:r>
          </a:p>
        </p:txBody>
      </p:sp>
      <p:sp>
        <p:nvSpPr>
          <p:cNvPr id="3" name="内容占位符 2"/>
          <p:cNvSpPr>
            <a:spLocks noGrp="1"/>
          </p:cNvSpPr>
          <p:nvPr>
            <p:ph idx="1"/>
          </p:nvPr>
        </p:nvSpPr>
        <p:spPr/>
        <p:txBody>
          <a:bodyPr/>
          <a:lstStyle/>
          <a:p>
            <a:pPr marL="0" indent="0">
              <a:buNone/>
            </a:pPr>
            <a:r>
              <a:rPr lang="en-US" altLang="zh-CN" dirty="0"/>
              <a:t>Arduino</a:t>
            </a:r>
            <a:r>
              <a:rPr lang="zh-CN" altLang="en-US" dirty="0"/>
              <a:t>是意大利语中的男性用名，意思是“强壮的朋友”。关于</a:t>
            </a:r>
            <a:r>
              <a:rPr lang="en-US" altLang="zh-CN" dirty="0"/>
              <a:t>Arduino</a:t>
            </a:r>
            <a:r>
              <a:rPr lang="zh-CN" altLang="en-US" dirty="0"/>
              <a:t>的历史和传承，还有很多堆积成山的有趣信息资料，请参见</a:t>
            </a:r>
            <a:r>
              <a:rPr lang="en-US" altLang="zh-CN" dirty="0"/>
              <a:t>Arduino</a:t>
            </a:r>
            <a:r>
              <a:rPr lang="zh-CN" altLang="en-US" dirty="0"/>
              <a:t>网站（</a:t>
            </a:r>
            <a:r>
              <a:rPr lang="en-US" altLang="zh-CN" dirty="0"/>
              <a:t>http://arduino.cc</a:t>
            </a:r>
            <a:r>
              <a:rPr lang="zh-CN" altLang="en-US" dirty="0"/>
              <a:t>）。</a:t>
            </a:r>
          </a:p>
        </p:txBody>
      </p:sp>
    </p:spTree>
  </p:cSld>
  <p:clrMapOvr>
    <a:masterClrMapping/>
  </p:clrMapOvr>
  <p:transition>
    <p:strips dir="ru"/>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en-US" dirty="0"/>
              <a:t>什么是</a:t>
            </a:r>
            <a:r>
              <a:rPr lang="en-US" altLang="zh-CN" dirty="0"/>
              <a:t>Arduino</a:t>
            </a:r>
            <a:r>
              <a:rPr lang="zh-CN" altLang="en-US" dirty="0"/>
              <a:t>？</a:t>
            </a:r>
          </a:p>
        </p:txBody>
      </p:sp>
      <p:sp>
        <p:nvSpPr>
          <p:cNvPr id="3" name="内容占位符 2"/>
          <p:cNvSpPr>
            <a:spLocks noGrp="1"/>
          </p:cNvSpPr>
          <p:nvPr>
            <p:ph idx="1"/>
          </p:nvPr>
        </p:nvSpPr>
        <p:spPr/>
        <p:txBody>
          <a:bodyPr/>
          <a:lstStyle/>
          <a:p>
            <a:pPr marL="0" indent="0">
              <a:buNone/>
            </a:pPr>
            <a:r>
              <a:rPr lang="en-US" altLang="zh-CN" dirty="0"/>
              <a:t>Arduino I/O</a:t>
            </a:r>
            <a:r>
              <a:rPr lang="zh-CN" altLang="en-US" dirty="0"/>
              <a:t>电路板传统上是基于</a:t>
            </a:r>
            <a:r>
              <a:rPr lang="en-US" altLang="zh-CN" dirty="0"/>
              <a:t>Atmel</a:t>
            </a:r>
            <a:r>
              <a:rPr lang="zh-CN" altLang="en-US" dirty="0"/>
              <a:t>的</a:t>
            </a:r>
            <a:r>
              <a:rPr lang="en-US" altLang="zh-CN" dirty="0"/>
              <a:t>AVR ATmega8</a:t>
            </a:r>
            <a:r>
              <a:rPr lang="zh-CN" altLang="en-US" dirty="0"/>
              <a:t>及其后续型号的，</a:t>
            </a:r>
            <a:r>
              <a:rPr lang="en-US" altLang="zh-CN" dirty="0"/>
              <a:t>I/O</a:t>
            </a:r>
            <a:r>
              <a:rPr lang="zh-CN" altLang="en-US" dirty="0"/>
              <a:t>电路板上有串口、电源电路、扩展插座和其他一些必要的元件。官方</a:t>
            </a:r>
            <a:r>
              <a:rPr lang="en-US" altLang="zh-CN" dirty="0"/>
              <a:t>Arduino FAQ</a:t>
            </a:r>
            <a:r>
              <a:rPr lang="zh-CN" altLang="en-US" dirty="0"/>
              <a:t>说：“这不只是一块</a:t>
            </a:r>
            <a:r>
              <a:rPr lang="en-US" altLang="zh-CN" dirty="0"/>
              <a:t>AVR</a:t>
            </a:r>
            <a:r>
              <a:rPr lang="zh-CN" altLang="en-US" dirty="0"/>
              <a:t>开发板。”</a:t>
            </a:r>
          </a:p>
        </p:txBody>
      </p:sp>
    </p:spTree>
  </p:cSld>
  <p:clrMapOvr>
    <a:masterClrMapping/>
  </p:clrMapOvr>
  <p:transition>
    <p:strips dir="ru"/>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en-US" altLang="zh-CN" dirty="0"/>
              <a:t>Arduino</a:t>
            </a:r>
            <a:r>
              <a:rPr lang="zh-CN" altLang="en-US" dirty="0"/>
              <a:t>不只是电路板</a:t>
            </a:r>
          </a:p>
        </p:txBody>
      </p:sp>
      <p:sp>
        <p:nvSpPr>
          <p:cNvPr id="3" name="内容占位符 2"/>
          <p:cNvSpPr>
            <a:spLocks noGrp="1"/>
          </p:cNvSpPr>
          <p:nvPr>
            <p:ph idx="1"/>
          </p:nvPr>
        </p:nvSpPr>
        <p:spPr/>
        <p:txBody>
          <a:bodyPr/>
          <a:lstStyle/>
          <a:p>
            <a:pPr marL="0" indent="0">
              <a:buNone/>
            </a:pPr>
            <a:r>
              <a:rPr lang="en-US" altLang="zh-CN" dirty="0"/>
              <a:t>Arduino</a:t>
            </a:r>
            <a:r>
              <a:rPr lang="zh-CN" altLang="en-US" dirty="0"/>
              <a:t>是一种开源的电子平台，该平台最初主要基于</a:t>
            </a:r>
            <a:r>
              <a:rPr lang="en-US" altLang="zh-CN" dirty="0"/>
              <a:t>AVR</a:t>
            </a:r>
            <a:r>
              <a:rPr lang="zh-CN" altLang="en-US" dirty="0"/>
              <a:t>单片机的微控制器和相应的开发软件，目前在国内正受到电子发烧友的广泛关注。自从</a:t>
            </a:r>
            <a:r>
              <a:rPr lang="en-US" altLang="zh-CN" dirty="0"/>
              <a:t>2005</a:t>
            </a:r>
            <a:r>
              <a:rPr lang="zh-CN" altLang="en-US" dirty="0"/>
              <a:t>年</a:t>
            </a:r>
            <a:r>
              <a:rPr lang="en-US" altLang="zh-CN" dirty="0"/>
              <a:t>Arduino</a:t>
            </a:r>
            <a:r>
              <a:rPr lang="zh-CN" altLang="en-US" dirty="0"/>
              <a:t>腾空出世以来，其硬件和开发环境一直进行着更新迭代。</a:t>
            </a:r>
          </a:p>
        </p:txBody>
      </p:sp>
    </p:spTree>
  </p:cSld>
  <p:clrMapOvr>
    <a:masterClrMapping/>
  </p:clrMapOvr>
  <p:transition>
    <p:strips dir="ru"/>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en-US" altLang="zh-CN" dirty="0"/>
              <a:t>Arduino</a:t>
            </a:r>
            <a:r>
              <a:rPr lang="zh-CN" altLang="en-US" dirty="0"/>
              <a:t>不只是电路板</a:t>
            </a:r>
          </a:p>
        </p:txBody>
      </p:sp>
      <p:sp>
        <p:nvSpPr>
          <p:cNvPr id="3" name="内容占位符 2"/>
          <p:cNvSpPr>
            <a:spLocks noGrp="1"/>
          </p:cNvSpPr>
          <p:nvPr>
            <p:ph idx="1"/>
          </p:nvPr>
        </p:nvSpPr>
        <p:spPr/>
        <p:txBody>
          <a:bodyPr/>
          <a:lstStyle/>
          <a:p>
            <a:pPr marL="0" indent="0">
              <a:buNone/>
            </a:pPr>
            <a:r>
              <a:rPr lang="en-US" altLang="zh-CN" dirty="0"/>
              <a:t>Arduino</a:t>
            </a:r>
            <a:r>
              <a:rPr lang="zh-CN" altLang="en-US" dirty="0"/>
              <a:t>最初是为一些非电子工程专业的学生设计的。设计者最初为了寻求一个廉价好用的微控制器开发板从而决定自己动手制作开发板，</a:t>
            </a:r>
            <a:r>
              <a:rPr lang="en-US" altLang="zh-CN" dirty="0"/>
              <a:t>Arduino</a:t>
            </a:r>
            <a:r>
              <a:rPr lang="zh-CN" altLang="en-US" dirty="0"/>
              <a:t>一经推出，因其开源、廉价、简单易懂的特性迅速受到了广大电子迷的喜爱和推崇。</a:t>
            </a:r>
          </a:p>
        </p:txBody>
      </p:sp>
    </p:spTree>
  </p:cSld>
  <p:clrMapOvr>
    <a:masterClrMapping/>
  </p:clrMapOvr>
  <p:transition>
    <p:strips dir="ru"/>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85800" y="609600"/>
            <a:ext cx="7772400" cy="943778"/>
          </a:xfrm>
        </p:spPr>
        <p:txBody>
          <a:bodyPr/>
          <a:lstStyle/>
          <a:p>
            <a:pPr algn="l"/>
            <a:r>
              <a:rPr lang="en-US" altLang="zh-CN" dirty="0"/>
              <a:t>Arduino</a:t>
            </a:r>
            <a:r>
              <a:rPr lang="zh-CN" altLang="en-US" dirty="0"/>
              <a:t>不只是电路板</a:t>
            </a:r>
          </a:p>
        </p:txBody>
      </p:sp>
      <p:sp>
        <p:nvSpPr>
          <p:cNvPr id="3" name="内容占位符 2"/>
          <p:cNvSpPr>
            <a:spLocks noGrp="1"/>
          </p:cNvSpPr>
          <p:nvPr>
            <p:ph idx="1"/>
          </p:nvPr>
        </p:nvSpPr>
        <p:spPr>
          <a:xfrm>
            <a:off x="685800" y="1652530"/>
            <a:ext cx="7772400" cy="4443470"/>
          </a:xfrm>
        </p:spPr>
        <p:txBody>
          <a:bodyPr/>
          <a:lstStyle/>
          <a:p>
            <a:pPr marL="0" indent="0">
              <a:buNone/>
            </a:pPr>
            <a:r>
              <a:rPr lang="en-US" altLang="zh-CN" dirty="0"/>
              <a:t>Arduino</a:t>
            </a:r>
            <a:r>
              <a:rPr lang="zh-CN" altLang="en-US" dirty="0"/>
              <a:t>的硬件设计电路和软件都可以在官方网站上获得，正式的制作商是意大利的</a:t>
            </a:r>
            <a:r>
              <a:rPr lang="en-US" altLang="zh-CN" dirty="0" err="1"/>
              <a:t>SmartProjects</a:t>
            </a:r>
            <a:r>
              <a:rPr lang="en-US" altLang="zh-CN" dirty="0"/>
              <a:t>, </a:t>
            </a:r>
            <a:r>
              <a:rPr lang="zh-CN" altLang="en-US" dirty="0"/>
              <a:t>许多制造商也在生产和销售他们自己的与</a:t>
            </a:r>
            <a:r>
              <a:rPr lang="en-US" altLang="zh-CN" dirty="0"/>
              <a:t>Arduino</a:t>
            </a:r>
            <a:r>
              <a:rPr lang="zh-CN" altLang="en-US" dirty="0"/>
              <a:t>兼容的电路板和扩展板，但是由</a:t>
            </a:r>
            <a:r>
              <a:rPr lang="en-US" altLang="zh-CN" dirty="0"/>
              <a:t>Arduino</a:t>
            </a:r>
            <a:r>
              <a:rPr lang="zh-CN" altLang="en-US" dirty="0"/>
              <a:t>团队设计和支持的产品需要始终保留着</a:t>
            </a:r>
            <a:r>
              <a:rPr lang="en-US" altLang="zh-CN" dirty="0"/>
              <a:t>Arduino</a:t>
            </a:r>
            <a:r>
              <a:rPr lang="zh-CN" altLang="en-US" dirty="0"/>
              <a:t>的名字。所以，</a:t>
            </a:r>
            <a:r>
              <a:rPr lang="en-US" altLang="zh-CN" dirty="0"/>
              <a:t>Arduino</a:t>
            </a:r>
            <a:r>
              <a:rPr lang="zh-CN" altLang="en-US" dirty="0"/>
              <a:t>更加准确的说法是一个包含硬件和软件的电子开发平台，具有互助和奉献的开源精神以及团队力量。</a:t>
            </a:r>
          </a:p>
          <a:p>
            <a:pPr marL="0" indent="0">
              <a:buNone/>
            </a:pPr>
            <a:endParaRPr lang="zh-CN" altLang="en-US" dirty="0"/>
          </a:p>
        </p:txBody>
      </p:sp>
    </p:spTree>
  </p:cSld>
  <p:clrMapOvr>
    <a:masterClrMapping/>
  </p:clrMapOvr>
  <p:transition>
    <p:strips dir="ru"/>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en-US" dirty="0"/>
              <a:t>为什么要使用</a:t>
            </a:r>
            <a:r>
              <a:rPr lang="en-US" altLang="zh-CN" dirty="0"/>
              <a:t>Arduino</a:t>
            </a:r>
            <a:r>
              <a:rPr lang="zh-CN" altLang="en-US" dirty="0"/>
              <a:t>？</a:t>
            </a:r>
          </a:p>
        </p:txBody>
      </p:sp>
      <p:sp>
        <p:nvSpPr>
          <p:cNvPr id="3" name="内容占位符 2"/>
          <p:cNvSpPr>
            <a:spLocks noGrp="1"/>
          </p:cNvSpPr>
          <p:nvPr>
            <p:ph idx="1"/>
          </p:nvPr>
        </p:nvSpPr>
        <p:spPr/>
        <p:txBody>
          <a:bodyPr/>
          <a:lstStyle/>
          <a:p>
            <a:r>
              <a:rPr lang="en-US" altLang="zh-CN" dirty="0"/>
              <a:t>Arduino</a:t>
            </a:r>
            <a:r>
              <a:rPr lang="zh-CN" altLang="en-US" dirty="0"/>
              <a:t>无论是硬件还是软件都是开源的，这就意味着所有人都可以查看和下载其源码、图表、设计等资源，并且用来做任何开发都可以。</a:t>
            </a:r>
          </a:p>
        </p:txBody>
      </p:sp>
    </p:spTree>
  </p:cSld>
  <p:clrMapOvr>
    <a:masterClrMapping/>
  </p:clrMapOvr>
  <p:transition>
    <p:strips dir="ru"/>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en-US" dirty="0"/>
              <a:t>为什么要使用</a:t>
            </a:r>
            <a:r>
              <a:rPr lang="en-US" altLang="zh-CN" dirty="0"/>
              <a:t>Arduino</a:t>
            </a:r>
            <a:r>
              <a:rPr lang="zh-CN" altLang="en-US" dirty="0"/>
              <a:t>？</a:t>
            </a:r>
          </a:p>
        </p:txBody>
      </p:sp>
      <p:sp>
        <p:nvSpPr>
          <p:cNvPr id="3" name="内容占位符 2"/>
          <p:cNvSpPr>
            <a:spLocks noGrp="1"/>
          </p:cNvSpPr>
          <p:nvPr>
            <p:ph idx="1"/>
          </p:nvPr>
        </p:nvSpPr>
        <p:spPr/>
        <p:txBody>
          <a:bodyPr/>
          <a:lstStyle/>
          <a:p>
            <a:r>
              <a:rPr lang="zh-CN" altLang="en-US" dirty="0"/>
              <a:t>如同</a:t>
            </a:r>
            <a:r>
              <a:rPr lang="en-US" altLang="zh-CN" dirty="0"/>
              <a:t>Linux</a:t>
            </a:r>
            <a:r>
              <a:rPr lang="zh-CN" altLang="en-US" dirty="0"/>
              <a:t>操作系统一样，开源还意味着所有人可以下载使用并且参与研究和改进</a:t>
            </a:r>
            <a:r>
              <a:rPr lang="en-US" altLang="zh-CN" dirty="0"/>
              <a:t>Arduino</a:t>
            </a:r>
            <a:r>
              <a:rPr lang="zh-CN" altLang="en-US" dirty="0"/>
              <a:t>，这也是</a:t>
            </a:r>
            <a:r>
              <a:rPr lang="en-US" altLang="zh-CN" dirty="0"/>
              <a:t>Arduino</a:t>
            </a:r>
            <a:r>
              <a:rPr lang="zh-CN" altLang="en-US" dirty="0"/>
              <a:t>更新换代如此迅速的原因。</a:t>
            </a:r>
          </a:p>
        </p:txBody>
      </p:sp>
    </p:spTree>
  </p:cSld>
  <p:clrMapOvr>
    <a:masterClrMapping/>
  </p:clrMapOvr>
  <p:transition>
    <p:strips dir="ru"/>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en-US" altLang="zh-CN" dirty="0"/>
              <a:t>Arduino</a:t>
            </a:r>
            <a:r>
              <a:rPr lang="zh-CN" altLang="en-US" dirty="0"/>
              <a:t>与创客文化</a:t>
            </a:r>
          </a:p>
        </p:txBody>
      </p:sp>
      <p:sp>
        <p:nvSpPr>
          <p:cNvPr id="3" name="内容占位符 2"/>
          <p:cNvSpPr>
            <a:spLocks noGrp="1"/>
          </p:cNvSpPr>
          <p:nvPr>
            <p:ph idx="1"/>
          </p:nvPr>
        </p:nvSpPr>
        <p:spPr/>
        <p:txBody>
          <a:bodyPr/>
          <a:lstStyle/>
          <a:p>
            <a:r>
              <a:rPr lang="en-US" altLang="zh-CN" dirty="0"/>
              <a:t>Arduino</a:t>
            </a:r>
            <a:r>
              <a:rPr lang="zh-CN" altLang="en-US" dirty="0"/>
              <a:t>作为一款开源硬件平台，一开始被设计的目标人群就是非电子专业尤其是艺术家学习使用的，让他们更容易实现自己的创意。</a:t>
            </a:r>
            <a:endParaRPr lang="en-US" altLang="zh-CN" dirty="0"/>
          </a:p>
          <a:p>
            <a:r>
              <a:rPr lang="en-US" altLang="zh-CN" dirty="0"/>
              <a:t>Arduino</a:t>
            </a:r>
            <a:r>
              <a:rPr lang="zh-CN" altLang="en-US" dirty="0"/>
              <a:t>内部封装了很多函数和大量的传感器函数库，即使不懂软件开发和电子设计的人也可以借助</a:t>
            </a:r>
            <a:r>
              <a:rPr lang="en-US" altLang="zh-CN" dirty="0"/>
              <a:t>Arduino</a:t>
            </a:r>
            <a:r>
              <a:rPr lang="zh-CN" altLang="en-US" dirty="0"/>
              <a:t>很快创作出属于自己的作品。</a:t>
            </a:r>
          </a:p>
          <a:p>
            <a:pPr marL="0" indent="0">
              <a:buNone/>
            </a:pPr>
            <a:endParaRPr lang="zh-CN" altLang="en-US" dirty="0"/>
          </a:p>
        </p:txBody>
      </p:sp>
    </p:spTree>
  </p:cSld>
  <p:clrMapOvr>
    <a:masterClrMapping/>
  </p:clrMapOvr>
  <p:transition>
    <p:strips dir="ru"/>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5790" y="2552700"/>
            <a:ext cx="7772400" cy="1143000"/>
          </a:xfrm>
        </p:spPr>
        <p:txBody>
          <a:bodyPr/>
          <a:lstStyle/>
          <a:p>
            <a:r>
              <a:rPr lang="en-US" altLang="zh-CN" sz="6000" dirty="0"/>
              <a:t>Arduino</a:t>
            </a:r>
            <a:r>
              <a:rPr lang="zh-CN" altLang="en-US" sz="6000" dirty="0"/>
              <a:t>硬件介绍</a:t>
            </a:r>
          </a:p>
        </p:txBody>
      </p:sp>
    </p:spTree>
  </p:cSld>
  <p:clrMapOvr>
    <a:masterClrMapping/>
  </p:clrMapOvr>
  <p:transition>
    <p:cover dir="d"/>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en-US" dirty="0"/>
              <a:t>常见</a:t>
            </a:r>
            <a:r>
              <a:rPr lang="en-US" altLang="zh-CN" dirty="0"/>
              <a:t>Arduino</a:t>
            </a:r>
            <a:r>
              <a:rPr lang="zh-CN" altLang="en-US" dirty="0"/>
              <a:t>型号</a:t>
            </a:r>
          </a:p>
        </p:txBody>
      </p:sp>
      <p:pic>
        <p:nvPicPr>
          <p:cNvPr id="4" name="内容占位符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85800" y="2037207"/>
            <a:ext cx="7772400" cy="4002786"/>
          </a:xfrm>
        </p:spPr>
      </p:pic>
    </p:spTree>
  </p:cSld>
  <p:clrMapOvr>
    <a:masterClrMapping/>
  </p:clrMapOvr>
  <p:transition>
    <p:cover dir="d"/>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en-US" altLang="zh-CN" dirty="0"/>
              <a:t>Arduino </a:t>
            </a:r>
            <a:r>
              <a:rPr lang="en-US" altLang="zh-CN" dirty="0" err="1"/>
              <a:t>Duemilanove</a:t>
            </a:r>
            <a:endParaRPr lang="zh-CN" altLang="en-US" dirty="0"/>
          </a:p>
        </p:txBody>
      </p:sp>
      <p:pic>
        <p:nvPicPr>
          <p:cNvPr id="4" name="内容占位符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451610" y="1913572"/>
            <a:ext cx="5715000" cy="4067175"/>
          </a:xfrm>
        </p:spPr>
      </p:pic>
    </p:spTree>
  </p:cSld>
  <p:clrMapOvr>
    <a:masterClrMapping/>
  </p:clrMapOvr>
  <p:transition>
    <p:cover dir="d"/>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en-US" altLang="zh-CN" dirty="0"/>
              <a:t>Arduino Uno R3</a:t>
            </a:r>
            <a:endParaRPr lang="zh-CN" altLang="en-US" dirty="0"/>
          </a:p>
        </p:txBody>
      </p:sp>
      <p:pic>
        <p:nvPicPr>
          <p:cNvPr id="4" name="内容占位符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828800" y="1981200"/>
            <a:ext cx="5486400" cy="4114800"/>
          </a:xfrm>
        </p:spPr>
      </p:pic>
    </p:spTree>
  </p:cSld>
  <p:clrMapOvr>
    <a:masterClrMapping/>
  </p:clrMapOvr>
  <p:transition>
    <p:cover dir="d"/>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en-US" altLang="zh-CN" dirty="0"/>
              <a:t>Arduino Uno SMD</a:t>
            </a:r>
            <a:endParaRPr lang="zh-CN" altLang="en-US" dirty="0"/>
          </a:p>
        </p:txBody>
      </p:sp>
      <p:pic>
        <p:nvPicPr>
          <p:cNvPr id="4" name="内容占位符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2030729" y="2245994"/>
            <a:ext cx="4427912" cy="3126106"/>
          </a:xfrm>
        </p:spPr>
      </p:pic>
    </p:spTree>
  </p:cSld>
  <p:clrMapOvr>
    <a:masterClrMapping/>
  </p:clrMapOvr>
  <p:transition>
    <p:cover dir="d"/>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en-US" altLang="zh-CN" dirty="0"/>
              <a:t>Arduino Nano</a:t>
            </a:r>
            <a:endParaRPr lang="zh-CN" altLang="en-US" dirty="0"/>
          </a:p>
        </p:txBody>
      </p:sp>
      <p:pic>
        <p:nvPicPr>
          <p:cNvPr id="4" name="内容占位符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514600" y="1981200"/>
            <a:ext cx="4114800" cy="4114800"/>
          </a:xfrm>
        </p:spPr>
      </p:pic>
    </p:spTree>
  </p:cSld>
  <p:clrMapOvr>
    <a:masterClrMapping/>
  </p:clrMapOvr>
  <p:transition>
    <p:cover dir="d"/>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en-US" altLang="zh-CN" dirty="0"/>
              <a:t>Arduino mini</a:t>
            </a:r>
            <a:endParaRPr lang="zh-CN" altLang="en-US" dirty="0"/>
          </a:p>
        </p:txBody>
      </p:sp>
      <p:pic>
        <p:nvPicPr>
          <p:cNvPr id="4" name="内容占位符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714500" y="2133600"/>
            <a:ext cx="5715000" cy="3810000"/>
          </a:xfrm>
        </p:spPr>
      </p:pic>
    </p:spTree>
  </p:cSld>
  <p:clrMapOvr>
    <a:masterClrMapping/>
  </p:clrMapOvr>
  <p:transition>
    <p:cover dir="d"/>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en-US" altLang="zh-CN" dirty="0"/>
              <a:t>Arduino Leonardo</a:t>
            </a:r>
            <a:endParaRPr lang="zh-CN" altLang="en-US" dirty="0"/>
          </a:p>
        </p:txBody>
      </p:sp>
      <p:pic>
        <p:nvPicPr>
          <p:cNvPr id="4" name="内容占位符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803567" y="1981200"/>
            <a:ext cx="5536866" cy="4114800"/>
          </a:xfrm>
        </p:spPr>
      </p:pic>
    </p:spTree>
  </p:cSld>
  <p:clrMapOvr>
    <a:masterClrMapping/>
  </p:clrMapOvr>
  <p:transition>
    <p:cover dir="d"/>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en-US" altLang="zh-CN" dirty="0"/>
              <a:t>Arduino mega 2560</a:t>
            </a:r>
            <a:endParaRPr lang="zh-CN" altLang="en-US" dirty="0"/>
          </a:p>
        </p:txBody>
      </p:sp>
      <p:pic>
        <p:nvPicPr>
          <p:cNvPr id="4" name="内容占位符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190750" y="2252662"/>
            <a:ext cx="4762500" cy="3571875"/>
          </a:xfrm>
        </p:spPr>
      </p:pic>
    </p:spTree>
  </p:cSld>
  <p:clrMapOvr>
    <a:masterClrMapping/>
  </p:clrMapOvr>
  <p:transition>
    <p:cover dir="d"/>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en-US" altLang="zh-CN" dirty="0"/>
              <a:t>Arduino Due</a:t>
            </a:r>
            <a:endParaRPr lang="zh-CN" altLang="en-US" dirty="0"/>
          </a:p>
        </p:txBody>
      </p:sp>
      <p:pic>
        <p:nvPicPr>
          <p:cNvPr id="4" name="内容占位符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035834" y="1981200"/>
            <a:ext cx="5072332" cy="4114800"/>
          </a:xfrm>
        </p:spPr>
      </p:pic>
    </p:spTree>
  </p:cSld>
  <p:clrMapOvr>
    <a:masterClrMapping/>
  </p:clrMapOvr>
  <p:transition>
    <p:cover dir="d"/>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en-US" dirty="0"/>
              <a:t>之前的硬件</a:t>
            </a:r>
          </a:p>
        </p:txBody>
      </p:sp>
      <p:sp>
        <p:nvSpPr>
          <p:cNvPr id="3" name="内容占位符 2"/>
          <p:cNvSpPr>
            <a:spLocks noGrp="1"/>
          </p:cNvSpPr>
          <p:nvPr>
            <p:ph idx="1"/>
          </p:nvPr>
        </p:nvSpPr>
        <p:spPr/>
        <p:txBody>
          <a:bodyPr/>
          <a:lstStyle/>
          <a:p>
            <a:r>
              <a:rPr lang="en-US" altLang="zh-CN" dirty="0"/>
              <a:t>Arduino Serial</a:t>
            </a:r>
            <a:r>
              <a:rPr lang="zh-CN" altLang="en-US" dirty="0"/>
              <a:t>（</a:t>
            </a:r>
            <a:r>
              <a:rPr lang="en-US" altLang="zh-CN" dirty="0"/>
              <a:t>RS232</a:t>
            </a:r>
            <a:r>
              <a:rPr lang="zh-CN" altLang="en-US" dirty="0"/>
              <a:t>串口、</a:t>
            </a:r>
            <a:r>
              <a:rPr lang="en-US" altLang="zh-CN" dirty="0"/>
              <a:t>ATmega8</a:t>
            </a:r>
            <a:r>
              <a:rPr lang="zh-CN" altLang="en-US" dirty="0"/>
              <a:t>）</a:t>
            </a:r>
            <a:endParaRPr lang="en-US" altLang="zh-CN" dirty="0"/>
          </a:p>
          <a:p>
            <a:r>
              <a:rPr lang="en-US" altLang="zh-CN" dirty="0"/>
              <a:t>Arduino USB</a:t>
            </a:r>
            <a:r>
              <a:rPr lang="zh-CN" altLang="en-US" dirty="0"/>
              <a:t>（</a:t>
            </a:r>
            <a:r>
              <a:rPr lang="en-US" altLang="zh-CN" dirty="0"/>
              <a:t>FTDI</a:t>
            </a:r>
            <a:r>
              <a:rPr lang="zh-CN" altLang="en-US" dirty="0"/>
              <a:t>的</a:t>
            </a:r>
            <a:r>
              <a:rPr lang="en-US" altLang="zh-CN" dirty="0"/>
              <a:t>USB</a:t>
            </a:r>
            <a:r>
              <a:rPr lang="zh-CN" altLang="en-US" dirty="0"/>
              <a:t>接口芯片）</a:t>
            </a:r>
            <a:endParaRPr lang="en-US" altLang="zh-CN" dirty="0"/>
          </a:p>
          <a:p>
            <a:r>
              <a:rPr lang="en-US" altLang="zh-CN" dirty="0"/>
              <a:t>Arduino Extreme </a:t>
            </a:r>
            <a:r>
              <a:rPr lang="zh-CN" altLang="en-US" dirty="0"/>
              <a:t>（插孔、串口灯）</a:t>
            </a:r>
            <a:endParaRPr lang="en-US" altLang="zh-CN" dirty="0"/>
          </a:p>
          <a:p>
            <a:r>
              <a:rPr lang="en-US" altLang="zh-CN" dirty="0"/>
              <a:t>Arduino Nuova </a:t>
            </a:r>
            <a:r>
              <a:rPr lang="en-US" altLang="zh-CN" dirty="0" err="1"/>
              <a:t>Generazine</a:t>
            </a:r>
            <a:r>
              <a:rPr lang="zh-CN" altLang="en-US" dirty="0"/>
              <a:t>（新一代）</a:t>
            </a:r>
            <a:endParaRPr lang="en-US" altLang="zh-CN" dirty="0"/>
          </a:p>
          <a:p>
            <a:r>
              <a:rPr lang="en-US" altLang="zh-CN" dirty="0"/>
              <a:t>Arduino </a:t>
            </a:r>
            <a:r>
              <a:rPr lang="en-US" altLang="zh-CN" dirty="0" err="1"/>
              <a:t>Diecimila</a:t>
            </a:r>
            <a:r>
              <a:rPr lang="zh-CN" altLang="en-US" dirty="0"/>
              <a:t>（</a:t>
            </a:r>
            <a:r>
              <a:rPr lang="en-US" altLang="zh-CN" dirty="0"/>
              <a:t>10000</a:t>
            </a:r>
            <a:r>
              <a:rPr lang="zh-CN" altLang="en-US" dirty="0"/>
              <a:t>个、自重启）</a:t>
            </a:r>
            <a:endParaRPr lang="en-US" altLang="zh-CN" dirty="0"/>
          </a:p>
          <a:p>
            <a:r>
              <a:rPr lang="en-US" altLang="zh-CN" dirty="0"/>
              <a:t>Arduino </a:t>
            </a:r>
            <a:r>
              <a:rPr lang="en-US" altLang="zh-CN" dirty="0" err="1"/>
              <a:t>Duemilanove</a:t>
            </a:r>
            <a:r>
              <a:rPr lang="zh-CN" altLang="en-US" dirty="0"/>
              <a:t>（</a:t>
            </a:r>
            <a:r>
              <a:rPr lang="en-US" altLang="zh-CN" dirty="0"/>
              <a:t>2009</a:t>
            </a:r>
            <a:r>
              <a:rPr lang="zh-CN" altLang="en-US" dirty="0"/>
              <a:t>、</a:t>
            </a:r>
            <a:r>
              <a:rPr lang="en-US" altLang="zh-CN" dirty="0"/>
              <a:t>328</a:t>
            </a:r>
            <a:r>
              <a:rPr lang="zh-CN" altLang="en-US" dirty="0"/>
              <a:t>）</a:t>
            </a:r>
            <a:endParaRPr lang="en-US" altLang="zh-CN" dirty="0"/>
          </a:p>
          <a:p>
            <a:r>
              <a:rPr lang="en-US" altLang="zh-CN" dirty="0"/>
              <a:t>Arduino Mega </a:t>
            </a:r>
            <a:r>
              <a:rPr lang="zh-CN" altLang="en-US" dirty="0"/>
              <a:t>（</a:t>
            </a:r>
            <a:r>
              <a:rPr lang="en-US" altLang="zh-CN" dirty="0"/>
              <a:t> ATmega1280</a:t>
            </a:r>
            <a:r>
              <a:rPr lang="zh-CN" altLang="en-US" dirty="0"/>
              <a:t>）</a:t>
            </a:r>
          </a:p>
        </p:txBody>
      </p:sp>
    </p:spTree>
  </p:cSld>
  <p:clrMapOvr>
    <a:masterClrMapping/>
  </p:clrMapOvr>
  <p:transition>
    <p:cover dir="d"/>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en-US" altLang="zh-CN" dirty="0"/>
              <a:t>Arduino Serial</a:t>
            </a:r>
            <a:endParaRPr lang="zh-CN" altLang="en-US" dirty="0"/>
          </a:p>
        </p:txBody>
      </p:sp>
      <p:pic>
        <p:nvPicPr>
          <p:cNvPr id="4" name="内容占位符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938337" y="2076450"/>
            <a:ext cx="5267325" cy="3924300"/>
          </a:xfrm>
        </p:spPr>
      </p:pic>
    </p:spTree>
  </p:cSld>
  <p:clrMapOvr>
    <a:masterClrMapping/>
  </p:clrMapOvr>
  <p:transition>
    <p:cover dir="d"/>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en-US" altLang="zh-CN" dirty="0"/>
              <a:t>Arduino USB</a:t>
            </a:r>
            <a:endParaRPr lang="zh-CN" altLang="en-US" dirty="0"/>
          </a:p>
        </p:txBody>
      </p:sp>
      <p:pic>
        <p:nvPicPr>
          <p:cNvPr id="4" name="内容占位符 3"/>
          <p:cNvPicPr>
            <a:picLocks noGrp="1" noChangeAspect="1"/>
          </p:cNvPicPr>
          <p:nvPr>
            <p:ph idx="1"/>
          </p:nvPr>
        </p:nvPicPr>
        <p:blipFill>
          <a:blip r:embed="rId2"/>
          <a:stretch>
            <a:fillRect/>
          </a:stretch>
        </p:blipFill>
        <p:spPr>
          <a:xfrm>
            <a:off x="2353627" y="2306954"/>
            <a:ext cx="5034852" cy="3213735"/>
          </a:xfrm>
          <a:prstGeom prst="rect">
            <a:avLst/>
          </a:prstGeom>
        </p:spPr>
      </p:pic>
    </p:spTree>
  </p:cSld>
  <p:clrMapOvr>
    <a:masterClrMapping/>
  </p:clrMapOvr>
  <p:transition>
    <p:cover dir="d"/>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en-US" altLang="zh-CN" dirty="0"/>
              <a:t>Arduino Extreme</a:t>
            </a:r>
            <a:endParaRPr lang="zh-CN" altLang="en-US" dirty="0"/>
          </a:p>
        </p:txBody>
      </p:sp>
      <p:pic>
        <p:nvPicPr>
          <p:cNvPr id="4" name="内容占位符 3"/>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755322" y="1981200"/>
            <a:ext cx="5633356" cy="4114800"/>
          </a:xfrm>
        </p:spPr>
      </p:pic>
    </p:spTree>
  </p:cSld>
  <p:clrMapOvr>
    <a:masterClrMapping/>
  </p:clrMapOvr>
  <p:transition>
    <p:cover dir="d"/>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en-US" altLang="zh-CN" dirty="0"/>
              <a:t>Arduino Nuova </a:t>
            </a:r>
            <a:r>
              <a:rPr lang="en-US" altLang="zh-CN" dirty="0" err="1"/>
              <a:t>Generazine</a:t>
            </a:r>
            <a:endParaRPr lang="zh-CN" altLang="en-US" dirty="0"/>
          </a:p>
        </p:txBody>
      </p:sp>
      <p:pic>
        <p:nvPicPr>
          <p:cNvPr id="4" name="内容占位符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286000" y="2309812"/>
            <a:ext cx="4572000" cy="3457575"/>
          </a:xfrm>
        </p:spPr>
      </p:pic>
    </p:spTree>
  </p:cSld>
  <p:clrMapOvr>
    <a:masterClrMapping/>
  </p:clrMapOvr>
  <p:transition>
    <p:cover dir="d"/>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en-US" altLang="zh-CN" dirty="0"/>
              <a:t>Arduino </a:t>
            </a:r>
            <a:r>
              <a:rPr lang="en-US" altLang="zh-CN" dirty="0" err="1"/>
              <a:t>Diecimila</a:t>
            </a:r>
            <a:endParaRPr lang="zh-CN" altLang="en-US" dirty="0"/>
          </a:p>
        </p:txBody>
      </p:sp>
      <p:pic>
        <p:nvPicPr>
          <p:cNvPr id="4" name="内容占位符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952625" y="2076450"/>
            <a:ext cx="5238750" cy="3924300"/>
          </a:xfrm>
        </p:spPr>
      </p:pic>
    </p:spTree>
  </p:cSld>
  <p:clrMapOvr>
    <a:masterClrMapping/>
  </p:clrMapOvr>
  <p:transition>
    <p:cover dir="d"/>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en-US" altLang="zh-CN" dirty="0"/>
              <a:t>Arduino </a:t>
            </a:r>
            <a:r>
              <a:rPr lang="en-US" altLang="zh-CN" dirty="0" err="1"/>
              <a:t>Duemilanove</a:t>
            </a:r>
            <a:endParaRPr lang="zh-CN" altLang="en-US" dirty="0"/>
          </a:p>
        </p:txBody>
      </p:sp>
      <p:pic>
        <p:nvPicPr>
          <p:cNvPr id="4" name="内容占位符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714500" y="2005012"/>
            <a:ext cx="5715000" cy="4067175"/>
          </a:xfrm>
        </p:spPr>
      </p:pic>
    </p:spTree>
  </p:cSld>
  <p:clrMapOvr>
    <a:masterClrMapping/>
  </p:clrMapOvr>
  <p:transition>
    <p:cover dir="d"/>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en-US" altLang="zh-CN" dirty="0"/>
              <a:t>Arduino Mega 1280</a:t>
            </a:r>
            <a:endParaRPr lang="zh-CN" altLang="en-US" dirty="0"/>
          </a:p>
        </p:txBody>
      </p:sp>
      <p:pic>
        <p:nvPicPr>
          <p:cNvPr id="4" name="内容占位符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85800" y="2029747"/>
            <a:ext cx="7772400" cy="4017705"/>
          </a:xfrm>
        </p:spPr>
      </p:pic>
    </p:spTree>
  </p:cSld>
  <p:clrMapOvr>
    <a:masterClrMapping/>
  </p:clrMapOvr>
  <p:transition>
    <p:cover dir="d"/>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en-US" dirty="0"/>
              <a:t>其他许可产品</a:t>
            </a:r>
          </a:p>
        </p:txBody>
      </p:sp>
      <p:pic>
        <p:nvPicPr>
          <p:cNvPr id="4" name="内容占位符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41070" y="1752600"/>
            <a:ext cx="2727960" cy="2727960"/>
          </a:xfrm>
        </p:spPr>
      </p:pic>
      <p:pic>
        <p:nvPicPr>
          <p:cNvPr id="5" name="图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094480" y="1752600"/>
            <a:ext cx="4064000" cy="2705100"/>
          </a:xfrm>
          <a:prstGeom prst="rect">
            <a:avLst/>
          </a:prstGeom>
        </p:spPr>
      </p:pic>
      <p:sp>
        <p:nvSpPr>
          <p:cNvPr id="6" name="文本框 5"/>
          <p:cNvSpPr txBox="1"/>
          <p:nvPr/>
        </p:nvSpPr>
        <p:spPr>
          <a:xfrm>
            <a:off x="1097280" y="4789170"/>
            <a:ext cx="7061200" cy="1200329"/>
          </a:xfrm>
          <a:prstGeom prst="rect">
            <a:avLst/>
          </a:prstGeom>
          <a:noFill/>
        </p:spPr>
        <p:txBody>
          <a:bodyPr wrap="square" rtlCol="0">
            <a:spAutoFit/>
          </a:bodyPr>
          <a:lstStyle/>
          <a:p>
            <a:r>
              <a:rPr lang="en-US" altLang="zh-CN" sz="2400" dirty="0" err="1"/>
              <a:t>LilyPad</a:t>
            </a:r>
            <a:r>
              <a:rPr lang="en-US" altLang="zh-CN" sz="2400" dirty="0"/>
              <a:t> Arduino</a:t>
            </a:r>
            <a:r>
              <a:rPr lang="zh-CN" altLang="en-US" sz="2400" dirty="0"/>
              <a:t>由</a:t>
            </a:r>
            <a:r>
              <a:rPr lang="en-US" altLang="zh-CN" sz="2400" dirty="0"/>
              <a:t>MIT</a:t>
            </a:r>
            <a:r>
              <a:rPr lang="zh-CN" altLang="en-US" sz="2400" dirty="0"/>
              <a:t>媒体实验室的</a:t>
            </a:r>
            <a:r>
              <a:rPr lang="en-US" altLang="zh-CN" sz="2400" dirty="0"/>
              <a:t>Leah </a:t>
            </a:r>
            <a:r>
              <a:rPr lang="en-US" altLang="zh-CN" sz="2400" dirty="0" err="1"/>
              <a:t>Buechley</a:t>
            </a:r>
            <a:r>
              <a:rPr lang="zh-CN" altLang="en-US" sz="2400" dirty="0"/>
              <a:t>开发，可以缝纫到带有导电纤维的布料中做成电子纺织产品，这又叫做可穿戴的计算机。</a:t>
            </a:r>
          </a:p>
        </p:txBody>
      </p:sp>
    </p:spTree>
  </p:cSld>
  <p:clrMapOvr>
    <a:masterClrMapping/>
  </p:clrMapOvr>
  <p:transition>
    <p:cover dir="d"/>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en-US" dirty="0"/>
              <a:t>第三方兼容产品</a:t>
            </a:r>
          </a:p>
        </p:txBody>
      </p:sp>
      <p:pic>
        <p:nvPicPr>
          <p:cNvPr id="4" name="内容占位符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834390" y="1855470"/>
            <a:ext cx="4114800" cy="4114800"/>
          </a:xfrm>
        </p:spPr>
      </p:pic>
      <p:sp>
        <p:nvSpPr>
          <p:cNvPr id="5" name="文本框 4"/>
          <p:cNvSpPr txBox="1"/>
          <p:nvPr/>
        </p:nvSpPr>
        <p:spPr>
          <a:xfrm>
            <a:off x="1943100" y="5549920"/>
            <a:ext cx="1531620" cy="523220"/>
          </a:xfrm>
          <a:prstGeom prst="rect">
            <a:avLst/>
          </a:prstGeom>
          <a:noFill/>
        </p:spPr>
        <p:txBody>
          <a:bodyPr wrap="square" rtlCol="0">
            <a:spAutoFit/>
          </a:bodyPr>
          <a:lstStyle/>
          <a:p>
            <a:r>
              <a:rPr lang="en-US" altLang="zh-CN" sz="2800" dirty="0" err="1"/>
              <a:t>pcDuino</a:t>
            </a:r>
            <a:endParaRPr lang="zh-CN" altLang="en-US" sz="2800" dirty="0"/>
          </a:p>
        </p:txBody>
      </p:sp>
      <p:sp>
        <p:nvSpPr>
          <p:cNvPr id="6" name="文本框 5"/>
          <p:cNvSpPr txBox="1"/>
          <p:nvPr/>
        </p:nvSpPr>
        <p:spPr>
          <a:xfrm>
            <a:off x="5543550" y="2263140"/>
            <a:ext cx="2914650" cy="2246769"/>
          </a:xfrm>
          <a:prstGeom prst="rect">
            <a:avLst/>
          </a:prstGeom>
          <a:noFill/>
        </p:spPr>
        <p:txBody>
          <a:bodyPr wrap="square" rtlCol="0">
            <a:spAutoFit/>
          </a:bodyPr>
          <a:lstStyle/>
          <a:p>
            <a:pPr algn="just"/>
            <a:r>
              <a:rPr lang="en-US" altLang="zh-CN" sz="2800" dirty="0" err="1"/>
              <a:t>pcDuino</a:t>
            </a:r>
            <a:r>
              <a:rPr lang="zh-CN" altLang="en-US" sz="2800" dirty="0"/>
              <a:t>既能运行完整的</a:t>
            </a:r>
            <a:r>
              <a:rPr lang="en-US" altLang="zh-CN" sz="2800" dirty="0"/>
              <a:t>PC</a:t>
            </a:r>
            <a:r>
              <a:rPr lang="zh-CN" altLang="en-US" sz="2800" dirty="0"/>
              <a:t>操作系统，又能兼容</a:t>
            </a:r>
            <a:r>
              <a:rPr lang="en-US" altLang="zh-CN" sz="2800" dirty="0"/>
              <a:t>Arduino</a:t>
            </a:r>
            <a:r>
              <a:rPr lang="zh-CN" altLang="en-US" sz="2800" dirty="0"/>
              <a:t>开放的生态环境。</a:t>
            </a:r>
          </a:p>
        </p:txBody>
      </p:sp>
    </p:spTree>
  </p:cSld>
  <p:clrMapOvr>
    <a:masterClrMapping/>
  </p:clrMapOvr>
  <p:transition>
    <p:cover dir="d"/>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85800" y="289560"/>
            <a:ext cx="7772400" cy="1143000"/>
          </a:xfrm>
        </p:spPr>
        <p:txBody>
          <a:bodyPr/>
          <a:lstStyle/>
          <a:p>
            <a:pPr algn="l"/>
            <a:r>
              <a:rPr lang="zh-CN" altLang="en-US" dirty="0"/>
              <a:t>第三方兼容产品</a:t>
            </a:r>
          </a:p>
        </p:txBody>
      </p:sp>
      <p:pic>
        <p:nvPicPr>
          <p:cNvPr id="4" name="内容占位符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54377" y="1439608"/>
            <a:ext cx="3253742" cy="1626871"/>
          </a:xfrm>
        </p:spPr>
      </p:pic>
      <p:pic>
        <p:nvPicPr>
          <p:cNvPr id="5" name="图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008119" y="1424940"/>
            <a:ext cx="4505805" cy="2865692"/>
          </a:xfrm>
          <a:prstGeom prst="rect">
            <a:avLst/>
          </a:prstGeom>
        </p:spPr>
      </p:pic>
      <p:sp>
        <p:nvSpPr>
          <p:cNvPr id="7" name="文本框 6"/>
          <p:cNvSpPr txBox="1"/>
          <p:nvPr/>
        </p:nvSpPr>
        <p:spPr>
          <a:xfrm>
            <a:off x="685800" y="4297680"/>
            <a:ext cx="8084820" cy="1569660"/>
          </a:xfrm>
          <a:prstGeom prst="rect">
            <a:avLst/>
          </a:prstGeom>
          <a:noFill/>
        </p:spPr>
        <p:txBody>
          <a:bodyPr wrap="square" rtlCol="0">
            <a:spAutoFit/>
          </a:bodyPr>
          <a:lstStyle/>
          <a:p>
            <a:r>
              <a:rPr lang="zh-CN" altLang="en-US" sz="2400" dirty="0"/>
              <a:t>处理器是双核</a:t>
            </a:r>
            <a:r>
              <a:rPr lang="en-US" altLang="zh-CN" sz="2400" dirty="0"/>
              <a:t>Quark</a:t>
            </a:r>
            <a:r>
              <a:rPr lang="zh-CN" altLang="en-US" sz="2400" dirty="0"/>
              <a:t>、</a:t>
            </a:r>
            <a:r>
              <a:rPr lang="en-US" altLang="zh-CN" sz="2400" dirty="0"/>
              <a:t>22nm</a:t>
            </a:r>
            <a:r>
              <a:rPr lang="zh-CN" altLang="en-US" sz="2400" dirty="0"/>
              <a:t>、</a:t>
            </a:r>
            <a:r>
              <a:rPr lang="en-US" altLang="zh-CN" sz="2400" dirty="0"/>
              <a:t>500MHz</a:t>
            </a:r>
            <a:r>
              <a:rPr lang="zh-CN" altLang="en-US" sz="2400" dirty="0"/>
              <a:t>、集成</a:t>
            </a:r>
            <a:r>
              <a:rPr lang="en-US" altLang="zh-CN" sz="2400" dirty="0" err="1"/>
              <a:t>WiFi</a:t>
            </a:r>
            <a:r>
              <a:rPr lang="zh-CN" altLang="en-US" sz="2400" dirty="0"/>
              <a:t>及蓝牙。</a:t>
            </a:r>
            <a:r>
              <a:rPr lang="en-US" altLang="zh-CN" sz="2400" dirty="0"/>
              <a:t>Quark</a:t>
            </a:r>
            <a:r>
              <a:rPr lang="zh-CN" altLang="en-US" sz="2400" dirty="0"/>
              <a:t>内部集成有一个</a:t>
            </a:r>
            <a:r>
              <a:rPr lang="en-US" altLang="zh-CN" sz="2400" dirty="0"/>
              <a:t>X86</a:t>
            </a:r>
            <a:r>
              <a:rPr lang="zh-CN" altLang="en-US" sz="2400" dirty="0"/>
              <a:t>处理器和一个微控制器内核，可编程的微控制器内核，可以帮助系统管理</a:t>
            </a:r>
            <a:r>
              <a:rPr lang="en-US" altLang="zh-CN" sz="2400" dirty="0"/>
              <a:t>I/O</a:t>
            </a:r>
            <a:r>
              <a:rPr lang="zh-CN" altLang="en-US" sz="2400" dirty="0"/>
              <a:t>和其他总线功能。</a:t>
            </a:r>
            <a:r>
              <a:rPr lang="en-US" altLang="zh-CN" sz="2400" dirty="0"/>
              <a:t>X86</a:t>
            </a:r>
            <a:r>
              <a:rPr lang="zh-CN" altLang="en-US" sz="2400" dirty="0"/>
              <a:t>处理器则负责支持</a:t>
            </a:r>
            <a:r>
              <a:rPr lang="en-US" altLang="zh-CN" sz="2400" dirty="0"/>
              <a:t>Linux</a:t>
            </a:r>
            <a:r>
              <a:rPr lang="zh-CN" altLang="en-US" sz="2400" dirty="0"/>
              <a:t>及其他操作系统。</a:t>
            </a:r>
          </a:p>
        </p:txBody>
      </p:sp>
      <p:sp>
        <p:nvSpPr>
          <p:cNvPr id="8" name="文本框 7"/>
          <p:cNvSpPr txBox="1"/>
          <p:nvPr/>
        </p:nvSpPr>
        <p:spPr>
          <a:xfrm>
            <a:off x="1508760" y="3280410"/>
            <a:ext cx="1543050" cy="400110"/>
          </a:xfrm>
          <a:prstGeom prst="rect">
            <a:avLst/>
          </a:prstGeom>
          <a:noFill/>
        </p:spPr>
        <p:txBody>
          <a:bodyPr wrap="square" rtlCol="0">
            <a:spAutoFit/>
          </a:bodyPr>
          <a:lstStyle/>
          <a:p>
            <a:r>
              <a:rPr lang="en-US" altLang="zh-CN" sz="2000" dirty="0"/>
              <a:t>Intel Edison</a:t>
            </a:r>
            <a:endParaRPr lang="zh-CN" altLang="en-US" sz="2000" dirty="0"/>
          </a:p>
        </p:txBody>
      </p:sp>
    </p:spTree>
  </p:cSld>
  <p:clrMapOvr>
    <a:masterClrMapping/>
  </p:clrMapOvr>
  <p:transition>
    <p:cover dir="d"/>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en-US" altLang="zh-CN" dirty="0"/>
              <a:t>Arduino Uno</a:t>
            </a:r>
            <a:r>
              <a:rPr lang="zh-CN" altLang="en-US" dirty="0"/>
              <a:t>的</a:t>
            </a:r>
            <a:r>
              <a:rPr lang="en-US" altLang="zh-CN" dirty="0"/>
              <a:t>I/O</a:t>
            </a:r>
            <a:r>
              <a:rPr lang="zh-CN" altLang="en-US" dirty="0"/>
              <a:t>板方框图</a:t>
            </a:r>
          </a:p>
        </p:txBody>
      </p:sp>
      <p:pic>
        <p:nvPicPr>
          <p:cNvPr id="5" name="内容占位符 4"/>
          <p:cNvPicPr>
            <a:picLocks noGrp="1" noChangeAspect="1"/>
          </p:cNvPicPr>
          <p:nvPr>
            <p:ph idx="1"/>
          </p:nvPr>
        </p:nvPicPr>
        <p:blipFill>
          <a:blip r:embed="rId2"/>
          <a:stretch>
            <a:fillRect/>
          </a:stretch>
        </p:blipFill>
        <p:spPr>
          <a:xfrm>
            <a:off x="1426845" y="1586230"/>
            <a:ext cx="5749925" cy="3685540"/>
          </a:xfrm>
          <a:prstGeom prst="rect">
            <a:avLst/>
          </a:prstGeom>
        </p:spPr>
      </p:pic>
    </p:spTree>
  </p:cSld>
  <p:clrMapOvr>
    <a:masterClrMapping/>
  </p:clrMapOvr>
  <p:transition>
    <p:cover dir="d"/>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en-US" altLang="zh-CN" dirty="0"/>
              <a:t>Arduino Uno</a:t>
            </a:r>
            <a:r>
              <a:rPr lang="zh-CN" altLang="en-US" dirty="0"/>
              <a:t>版上硬件</a:t>
            </a:r>
          </a:p>
        </p:txBody>
      </p:sp>
      <p:pic>
        <p:nvPicPr>
          <p:cNvPr id="4" name="内容占位符 3"/>
          <p:cNvPicPr>
            <a:picLocks noGrp="1" noChangeAspect="1"/>
          </p:cNvPicPr>
          <p:nvPr>
            <p:ph idx="1"/>
          </p:nvPr>
        </p:nvPicPr>
        <p:blipFill>
          <a:blip r:embed="rId2"/>
          <a:stretch>
            <a:fillRect/>
          </a:stretch>
        </p:blipFill>
        <p:spPr>
          <a:xfrm>
            <a:off x="1212037" y="1832610"/>
            <a:ext cx="6263183" cy="4044973"/>
          </a:xfrm>
          <a:prstGeom prst="rect">
            <a:avLst/>
          </a:prstGeom>
        </p:spPr>
      </p:pic>
    </p:spTree>
  </p:cSld>
  <p:clrMapOvr>
    <a:masterClrMapping/>
  </p:clrMapOvr>
  <p:transition>
    <p:cover dir="d"/>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4" name="内容占位符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1" y="0"/>
            <a:ext cx="9148657" cy="6469380"/>
          </a:xfrm>
        </p:spPr>
      </p:pic>
    </p:spTree>
  </p:cSld>
  <p:clrMapOvr>
    <a:masterClrMapping/>
  </p:clrMapOvr>
  <p:transition>
    <p:cover dir="d"/>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en-US" dirty="0"/>
              <a:t>串口通信</a:t>
            </a:r>
          </a:p>
        </p:txBody>
      </p:sp>
      <p:sp>
        <p:nvSpPr>
          <p:cNvPr id="3" name="内容占位符 2"/>
          <p:cNvSpPr>
            <a:spLocks noGrp="1"/>
          </p:cNvSpPr>
          <p:nvPr>
            <p:ph idx="1"/>
          </p:nvPr>
        </p:nvSpPr>
        <p:spPr/>
        <p:txBody>
          <a:bodyPr/>
          <a:lstStyle/>
          <a:p>
            <a:r>
              <a:rPr lang="zh-CN" altLang="zh-CN" dirty="0"/>
              <a:t>串口是串行接口（</a:t>
            </a:r>
            <a:r>
              <a:rPr lang="en-US" altLang="zh-CN" dirty="0"/>
              <a:t>serial port</a:t>
            </a:r>
            <a:r>
              <a:rPr lang="zh-CN" altLang="zh-CN" dirty="0"/>
              <a:t>）的简称，也称</a:t>
            </a:r>
            <a:r>
              <a:rPr lang="en-US" altLang="zh-CN" dirty="0"/>
              <a:t>COM</a:t>
            </a:r>
            <a:r>
              <a:rPr lang="zh-CN" altLang="zh-CN" dirty="0"/>
              <a:t>接口。</a:t>
            </a:r>
            <a:endParaRPr lang="en-US" altLang="zh-CN" dirty="0"/>
          </a:p>
          <a:p>
            <a:r>
              <a:rPr lang="zh-CN" altLang="zh-CN" dirty="0"/>
              <a:t>串口通信是指采用串行通信协议（</a:t>
            </a:r>
            <a:r>
              <a:rPr lang="en-US" altLang="zh-CN" dirty="0"/>
              <a:t>serial communication</a:t>
            </a:r>
            <a:r>
              <a:rPr lang="zh-CN" altLang="zh-CN" dirty="0"/>
              <a:t>）在一条信号线上将数据一个比特一个比特地逐位进行传输的通信模式。</a:t>
            </a:r>
          </a:p>
          <a:p>
            <a:pPr marL="0" indent="0">
              <a:buNone/>
            </a:pPr>
            <a:endParaRPr lang="zh-CN" altLang="en-US" dirty="0"/>
          </a:p>
        </p:txBody>
      </p:sp>
    </p:spTree>
    <p:extLst>
      <p:ext uri="{BB962C8B-B14F-4D97-AF65-F5344CB8AC3E}">
        <p14:creationId xmlns:p14="http://schemas.microsoft.com/office/powerpoint/2010/main" val="3544192925"/>
      </p:ext>
    </p:extLst>
  </p:cSld>
  <p:clrMapOvr>
    <a:masterClrMapping/>
  </p:clrMapOvr>
  <p:transition>
    <p:cover dir="d"/>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en-US" dirty="0"/>
              <a:t>串口用处</a:t>
            </a:r>
          </a:p>
        </p:txBody>
      </p:sp>
      <p:sp>
        <p:nvSpPr>
          <p:cNvPr id="3" name="内容占位符 2"/>
          <p:cNvSpPr>
            <a:spLocks noGrp="1"/>
          </p:cNvSpPr>
          <p:nvPr>
            <p:ph idx="1"/>
          </p:nvPr>
        </p:nvSpPr>
        <p:spPr/>
        <p:txBody>
          <a:bodyPr/>
          <a:lstStyle/>
          <a:p>
            <a:r>
              <a:rPr lang="zh-CN" altLang="en-US" dirty="0"/>
              <a:t>在开发</a:t>
            </a:r>
            <a:r>
              <a:rPr lang="en-US" altLang="zh-CN" dirty="0"/>
              <a:t>Arduino</a:t>
            </a:r>
            <a:r>
              <a:rPr lang="zh-CN" altLang="en-US" dirty="0"/>
              <a:t>作品时（上传程序）</a:t>
            </a:r>
            <a:endParaRPr lang="en-US" altLang="zh-CN" dirty="0"/>
          </a:p>
          <a:p>
            <a:r>
              <a:rPr lang="zh-CN" altLang="en-US" dirty="0"/>
              <a:t>应用或部署</a:t>
            </a:r>
            <a:r>
              <a:rPr lang="en-US" altLang="zh-CN" dirty="0"/>
              <a:t>Arduino</a:t>
            </a:r>
            <a:r>
              <a:rPr lang="zh-CN" altLang="en-US" dirty="0"/>
              <a:t>作品时（与</a:t>
            </a:r>
            <a:r>
              <a:rPr lang="en-US" altLang="zh-CN" dirty="0"/>
              <a:t>PC</a:t>
            </a:r>
            <a:r>
              <a:rPr lang="zh-CN" altLang="en-US" dirty="0"/>
              <a:t>或与其他串行设备通信）</a:t>
            </a:r>
            <a:endParaRPr lang="en-US" altLang="zh-CN" dirty="0"/>
          </a:p>
        </p:txBody>
      </p:sp>
    </p:spTree>
  </p:cSld>
  <p:clrMapOvr>
    <a:masterClrMapping/>
  </p:clrMapOvr>
  <p:transition>
    <p:cover dir="d"/>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en-US" dirty="0"/>
              <a:t>串口调试工具</a:t>
            </a:r>
          </a:p>
        </p:txBody>
      </p:sp>
      <p:sp>
        <p:nvSpPr>
          <p:cNvPr id="3" name="内容占位符 2"/>
          <p:cNvSpPr>
            <a:spLocks noGrp="1"/>
          </p:cNvSpPr>
          <p:nvPr>
            <p:ph idx="1"/>
          </p:nvPr>
        </p:nvSpPr>
        <p:spPr/>
        <p:txBody>
          <a:bodyPr/>
          <a:lstStyle/>
          <a:p>
            <a:r>
              <a:rPr lang="en-US" altLang="zh-CN" dirty="0"/>
              <a:t>Arduino</a:t>
            </a:r>
            <a:r>
              <a:rPr lang="zh-CN" altLang="en-US" dirty="0"/>
              <a:t> </a:t>
            </a:r>
            <a:r>
              <a:rPr lang="en-US" altLang="zh-CN" dirty="0"/>
              <a:t>IDE</a:t>
            </a:r>
          </a:p>
          <a:p>
            <a:r>
              <a:rPr lang="en-US" altLang="zh-CN" dirty="0"/>
              <a:t>MINICOM</a:t>
            </a:r>
          </a:p>
          <a:p>
            <a:r>
              <a:rPr lang="en-US" altLang="zh-CN" dirty="0" err="1"/>
              <a:t>SecureCRT</a:t>
            </a:r>
            <a:endParaRPr lang="en-US" altLang="zh-CN" dirty="0"/>
          </a:p>
        </p:txBody>
      </p:sp>
    </p:spTree>
    <p:extLst>
      <p:ext uri="{BB962C8B-B14F-4D97-AF65-F5344CB8AC3E}">
        <p14:creationId xmlns:p14="http://schemas.microsoft.com/office/powerpoint/2010/main" val="954841335"/>
      </p:ext>
    </p:extLst>
  </p:cSld>
  <p:clrMapOvr>
    <a:masterClrMapping/>
  </p:clrMapOvr>
  <p:transition>
    <p:cover dir="d"/>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en-US" dirty="0"/>
              <a:t>串口工作模式</a:t>
            </a:r>
          </a:p>
        </p:txBody>
      </p:sp>
      <p:sp>
        <p:nvSpPr>
          <p:cNvPr id="3" name="内容占位符 2"/>
          <p:cNvSpPr>
            <a:spLocks noGrp="1"/>
          </p:cNvSpPr>
          <p:nvPr>
            <p:ph idx="1"/>
          </p:nvPr>
        </p:nvSpPr>
        <p:spPr>
          <a:xfrm>
            <a:off x="685800" y="1946910"/>
            <a:ext cx="7772400" cy="4114800"/>
          </a:xfrm>
        </p:spPr>
        <p:txBody>
          <a:bodyPr/>
          <a:lstStyle/>
          <a:p>
            <a:r>
              <a:rPr lang="zh-CN" altLang="en-US" dirty="0"/>
              <a:t>异步模式：不需要一个分离的时钟信号，和大多数</a:t>
            </a:r>
            <a:r>
              <a:rPr lang="en-US" altLang="zh-CN" dirty="0"/>
              <a:t>PC</a:t>
            </a:r>
            <a:r>
              <a:rPr lang="zh-CN" altLang="en-US" dirty="0"/>
              <a:t>的串口工作模式是一样的</a:t>
            </a:r>
            <a:endParaRPr lang="en-US" altLang="zh-CN" dirty="0"/>
          </a:p>
          <a:p>
            <a:r>
              <a:rPr lang="zh-CN" altLang="en-US" dirty="0"/>
              <a:t>同步模式：需要专用的时钟信号来表示时钟信息</a:t>
            </a:r>
            <a:endParaRPr lang="en-US" altLang="zh-CN" dirty="0"/>
          </a:p>
          <a:p>
            <a:endParaRPr lang="en-US" altLang="zh-CN" dirty="0"/>
          </a:p>
          <a:p>
            <a:pPr marL="0" indent="0" algn="just">
              <a:buNone/>
            </a:pPr>
            <a:r>
              <a:rPr lang="zh-CN" altLang="en-US" sz="2400" dirty="0">
                <a:solidFill>
                  <a:srgbClr val="FF0000"/>
                </a:solidFill>
              </a:rPr>
              <a:t>警告：不要把</a:t>
            </a:r>
            <a:r>
              <a:rPr lang="en-US" altLang="zh-CN" sz="2400" dirty="0">
                <a:solidFill>
                  <a:srgbClr val="FF0000"/>
                </a:solidFill>
              </a:rPr>
              <a:t>RS-232</a:t>
            </a:r>
            <a:r>
              <a:rPr lang="zh-CN" altLang="en-US" sz="2400" dirty="0">
                <a:solidFill>
                  <a:srgbClr val="FF0000"/>
                </a:solidFill>
              </a:rPr>
              <a:t>信号线直接接到</a:t>
            </a:r>
            <a:r>
              <a:rPr lang="en-US" altLang="zh-CN" sz="2400" dirty="0">
                <a:solidFill>
                  <a:srgbClr val="FF0000"/>
                </a:solidFill>
              </a:rPr>
              <a:t>Arduino</a:t>
            </a:r>
            <a:r>
              <a:rPr lang="zh-CN" altLang="en-US" sz="2400" dirty="0">
                <a:solidFill>
                  <a:srgbClr val="FF0000"/>
                </a:solidFill>
              </a:rPr>
              <a:t>电路板上，一般的</a:t>
            </a:r>
            <a:r>
              <a:rPr lang="en-US" altLang="zh-CN" sz="2400" dirty="0">
                <a:solidFill>
                  <a:srgbClr val="FF0000"/>
                </a:solidFill>
              </a:rPr>
              <a:t>RS-232</a:t>
            </a:r>
            <a:r>
              <a:rPr lang="zh-CN" altLang="en-US" sz="2400" dirty="0">
                <a:solidFill>
                  <a:srgbClr val="FF0000"/>
                </a:solidFill>
              </a:rPr>
              <a:t>信号上较高的电压可能会损坏电路板上的电路，包括处理器。</a:t>
            </a:r>
          </a:p>
        </p:txBody>
      </p:sp>
    </p:spTree>
  </p:cSld>
  <p:clrMapOvr>
    <a:masterClrMapping/>
  </p:clrMapOvr>
  <p:transition>
    <p:cover dir="d"/>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en-US" dirty="0"/>
              <a:t>串口通信原理</a:t>
            </a:r>
          </a:p>
        </p:txBody>
      </p:sp>
      <p:sp>
        <p:nvSpPr>
          <p:cNvPr id="3" name="内容占位符 2"/>
          <p:cNvSpPr>
            <a:spLocks noGrp="1"/>
          </p:cNvSpPr>
          <p:nvPr>
            <p:ph idx="1"/>
          </p:nvPr>
        </p:nvSpPr>
        <p:spPr>
          <a:xfrm>
            <a:off x="685800" y="1638688"/>
            <a:ext cx="7772400" cy="4114800"/>
          </a:xfrm>
        </p:spPr>
        <p:txBody>
          <a:bodyPr/>
          <a:lstStyle/>
          <a:p>
            <a:r>
              <a:rPr lang="zh-CN" altLang="zh-CN" dirty="0"/>
              <a:t>串行通信是指采用串行通信协议在一条信号线上将数据一个比特一个比特地逐位进行传输的通信模式。使用串行通信时，一个字符实际上都是一次一位传送的，每一位为</a:t>
            </a:r>
            <a:r>
              <a:rPr lang="en-US" altLang="zh-CN" dirty="0"/>
              <a:t>1</a:t>
            </a:r>
            <a:r>
              <a:rPr lang="zh-CN" altLang="zh-CN" dirty="0"/>
              <a:t>或者为</a:t>
            </a:r>
            <a:r>
              <a:rPr lang="en-US" altLang="zh-CN" dirty="0"/>
              <a:t>0</a:t>
            </a:r>
            <a:r>
              <a:rPr lang="zh-CN" altLang="zh-CN" dirty="0"/>
              <a:t>。所以一个字节的传送需要八次，并且从低到高依次传送。</a:t>
            </a:r>
            <a:r>
              <a:rPr lang="zh-CN" altLang="en-US" dirty="0"/>
              <a:t>但是</a:t>
            </a:r>
            <a:r>
              <a:rPr lang="zh-CN" altLang="zh-CN" dirty="0"/>
              <a:t>要正确</a:t>
            </a:r>
            <a:r>
              <a:rPr lang="zh-CN" altLang="en-US" dirty="0"/>
              <a:t>传输想表达的信息</a:t>
            </a:r>
            <a:r>
              <a:rPr lang="zh-CN" altLang="zh-CN" dirty="0"/>
              <a:t>，收发双方事先要进行约定。</a:t>
            </a:r>
          </a:p>
        </p:txBody>
      </p:sp>
    </p:spTree>
    <p:extLst>
      <p:ext uri="{BB962C8B-B14F-4D97-AF65-F5344CB8AC3E}">
        <p14:creationId xmlns:p14="http://schemas.microsoft.com/office/powerpoint/2010/main" val="151893858"/>
      </p:ext>
    </p:extLst>
  </p:cSld>
  <p:clrMapOvr>
    <a:masterClrMapping/>
  </p:clrMapOvr>
  <p:transition>
    <p:cover dir="d"/>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en-US" dirty="0"/>
              <a:t>串口通信原理</a:t>
            </a:r>
          </a:p>
        </p:txBody>
      </p:sp>
      <p:sp>
        <p:nvSpPr>
          <p:cNvPr id="3" name="内容占位符 2"/>
          <p:cNvSpPr>
            <a:spLocks noGrp="1"/>
          </p:cNvSpPr>
          <p:nvPr>
            <p:ph idx="1"/>
          </p:nvPr>
        </p:nvSpPr>
        <p:spPr>
          <a:xfrm>
            <a:off x="685800" y="1638688"/>
            <a:ext cx="7772400" cy="4114800"/>
          </a:xfrm>
        </p:spPr>
        <p:txBody>
          <a:bodyPr/>
          <a:lstStyle/>
          <a:p>
            <a:r>
              <a:rPr lang="zh-CN" altLang="zh-CN" dirty="0"/>
              <a:t>在串行通信中，约定包含两个方面，一方面是通信的速率要保持一致，另一方面是字符的编码要一致。</a:t>
            </a:r>
          </a:p>
          <a:p>
            <a:r>
              <a:rPr lang="zh-CN" altLang="en-US" dirty="0"/>
              <a:t>（</a:t>
            </a:r>
            <a:r>
              <a:rPr lang="en-US" altLang="zh-CN" dirty="0"/>
              <a:t>1</a:t>
            </a:r>
            <a:r>
              <a:rPr lang="zh-CN" altLang="en-US" dirty="0"/>
              <a:t>）波特率：每秒传输的符号数，若每个符号所含的信息量为</a:t>
            </a:r>
            <a:r>
              <a:rPr lang="en-US" altLang="zh-CN" dirty="0"/>
              <a:t>1</a:t>
            </a:r>
            <a:r>
              <a:rPr lang="zh-CN" altLang="en-US" dirty="0"/>
              <a:t>比特，则波特率等于比特率</a:t>
            </a:r>
            <a:endParaRPr lang="en-US" altLang="zh-CN" dirty="0"/>
          </a:p>
          <a:p>
            <a:r>
              <a:rPr lang="zh-CN" altLang="en-US" dirty="0"/>
              <a:t>（</a:t>
            </a:r>
            <a:r>
              <a:rPr lang="en-US" altLang="zh-CN" dirty="0"/>
              <a:t>2</a:t>
            </a:r>
            <a:r>
              <a:rPr lang="zh-CN" altLang="en-US" dirty="0"/>
              <a:t>）</a:t>
            </a:r>
            <a:r>
              <a:rPr lang="en-US" altLang="zh-CN" dirty="0"/>
              <a:t>ASCII</a:t>
            </a:r>
            <a:r>
              <a:rPr lang="zh-CN" altLang="en-US" dirty="0"/>
              <a:t>码</a:t>
            </a:r>
            <a:endParaRPr lang="zh-CN" altLang="zh-CN" dirty="0"/>
          </a:p>
        </p:txBody>
      </p:sp>
    </p:spTree>
    <p:extLst>
      <p:ext uri="{BB962C8B-B14F-4D97-AF65-F5344CB8AC3E}">
        <p14:creationId xmlns:p14="http://schemas.microsoft.com/office/powerpoint/2010/main" val="3914097816"/>
      </p:ext>
    </p:extLst>
  </p:cSld>
  <p:clrMapOvr>
    <a:masterClrMapping/>
  </p:clrMapOvr>
  <p:transition>
    <p:cover dir="d"/>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en-US" dirty="0"/>
              <a:t>串口通信原理</a:t>
            </a:r>
          </a:p>
        </p:txBody>
      </p:sp>
      <p:sp>
        <p:nvSpPr>
          <p:cNvPr id="3" name="内容占位符 2"/>
          <p:cNvSpPr>
            <a:spLocks noGrp="1"/>
          </p:cNvSpPr>
          <p:nvPr>
            <p:ph idx="1"/>
          </p:nvPr>
        </p:nvSpPr>
        <p:spPr>
          <a:xfrm>
            <a:off x="685800" y="1638688"/>
            <a:ext cx="7772400" cy="4114800"/>
          </a:xfrm>
        </p:spPr>
        <p:txBody>
          <a:bodyPr/>
          <a:lstStyle/>
          <a:p>
            <a:r>
              <a:rPr lang="zh-CN" altLang="zh-CN" dirty="0"/>
              <a:t>单片机是基于微控制器（下称</a:t>
            </a:r>
            <a:r>
              <a:rPr lang="en-US" altLang="zh-CN" dirty="0"/>
              <a:t>MCU</a:t>
            </a:r>
            <a:r>
              <a:rPr lang="zh-CN" altLang="zh-CN" dirty="0"/>
              <a:t>）搭建的电子系统。单片机的所有功能其实都是由板载的</a:t>
            </a:r>
            <a:r>
              <a:rPr lang="en-US" altLang="zh-CN" dirty="0"/>
              <a:t>MCU</a:t>
            </a:r>
            <a:r>
              <a:rPr lang="zh-CN" altLang="zh-CN" dirty="0"/>
              <a:t>提供的，</a:t>
            </a:r>
            <a:r>
              <a:rPr lang="en-US" altLang="zh-CN" dirty="0"/>
              <a:t>Arduino</a:t>
            </a:r>
            <a:r>
              <a:rPr lang="zh-CN" altLang="zh-CN" dirty="0"/>
              <a:t>开发板当然也不例外。</a:t>
            </a:r>
            <a:r>
              <a:rPr lang="en-US" altLang="zh-CN" dirty="0"/>
              <a:t>Arduino Uno</a:t>
            </a:r>
            <a:r>
              <a:rPr lang="zh-CN" altLang="zh-CN" dirty="0"/>
              <a:t>的板载</a:t>
            </a:r>
            <a:r>
              <a:rPr lang="en-US" altLang="zh-CN" dirty="0"/>
              <a:t>MCU</a:t>
            </a:r>
            <a:r>
              <a:rPr lang="zh-CN" altLang="zh-CN" dirty="0"/>
              <a:t>为</a:t>
            </a:r>
            <a:r>
              <a:rPr lang="en-US" altLang="zh-CN" dirty="0"/>
              <a:t>ATmega328</a:t>
            </a:r>
            <a:r>
              <a:rPr lang="zh-CN" altLang="zh-CN" dirty="0"/>
              <a:t>。在</a:t>
            </a:r>
            <a:r>
              <a:rPr lang="en-US" altLang="zh-CN" dirty="0"/>
              <a:t>ATmega328</a:t>
            </a:r>
            <a:r>
              <a:rPr lang="zh-CN" altLang="zh-CN" dirty="0"/>
              <a:t>内部集成了硬件串口</a:t>
            </a:r>
            <a:r>
              <a:rPr lang="en-US" altLang="zh-CN" dirty="0"/>
              <a:t>UART</a:t>
            </a:r>
            <a:r>
              <a:rPr lang="zh-CN" altLang="zh-CN" dirty="0"/>
              <a:t>（</a:t>
            </a:r>
            <a:r>
              <a:rPr lang="en-US" altLang="zh-CN" dirty="0"/>
              <a:t>Universal Asynchronous Receiver / Transmitter, </a:t>
            </a:r>
            <a:r>
              <a:rPr lang="zh-CN" altLang="zh-CN" dirty="0"/>
              <a:t>通用异步收发传输器）。</a:t>
            </a:r>
          </a:p>
        </p:txBody>
      </p:sp>
    </p:spTree>
    <p:extLst>
      <p:ext uri="{BB962C8B-B14F-4D97-AF65-F5344CB8AC3E}">
        <p14:creationId xmlns:p14="http://schemas.microsoft.com/office/powerpoint/2010/main" val="3033795366"/>
      </p:ext>
    </p:extLst>
  </p:cSld>
  <p:clrMapOvr>
    <a:masterClrMapping/>
  </p:clrMapOvr>
  <p:transition>
    <p:cover dir="d"/>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en-US" dirty="0"/>
              <a:t>串口通信原理</a:t>
            </a:r>
          </a:p>
        </p:txBody>
      </p:sp>
      <p:sp>
        <p:nvSpPr>
          <p:cNvPr id="3" name="内容占位符 2"/>
          <p:cNvSpPr>
            <a:spLocks noGrp="1"/>
          </p:cNvSpPr>
          <p:nvPr>
            <p:ph idx="1"/>
          </p:nvPr>
        </p:nvSpPr>
        <p:spPr>
          <a:xfrm>
            <a:off x="685800" y="1638688"/>
            <a:ext cx="7772400" cy="4114800"/>
          </a:xfrm>
        </p:spPr>
        <p:txBody>
          <a:bodyPr/>
          <a:lstStyle/>
          <a:p>
            <a:r>
              <a:rPr lang="zh-CN" altLang="zh-CN" dirty="0"/>
              <a:t>在</a:t>
            </a:r>
            <a:r>
              <a:rPr lang="en-US" altLang="zh-CN" dirty="0"/>
              <a:t>Arduino Uno R3</a:t>
            </a:r>
            <a:r>
              <a:rPr lang="zh-CN" altLang="zh-CN" dirty="0"/>
              <a:t>开发板及其他使用</a:t>
            </a:r>
            <a:r>
              <a:rPr lang="en-US" altLang="zh-CN" dirty="0"/>
              <a:t>ATmega328</a:t>
            </a:r>
            <a:r>
              <a:rPr lang="zh-CN" altLang="zh-CN" dirty="0"/>
              <a:t>芯片的</a:t>
            </a:r>
            <a:r>
              <a:rPr lang="en-US" altLang="zh-CN" dirty="0"/>
              <a:t>Arduino</a:t>
            </a:r>
            <a:r>
              <a:rPr lang="zh-CN" altLang="zh-CN" dirty="0"/>
              <a:t>控制器中，硬件串口位于</a:t>
            </a:r>
            <a:r>
              <a:rPr lang="en-US" altLang="zh-CN" dirty="0"/>
              <a:t>Rx(0)</a:t>
            </a:r>
            <a:r>
              <a:rPr lang="zh-CN" altLang="zh-CN" dirty="0"/>
              <a:t>和</a:t>
            </a:r>
            <a:r>
              <a:rPr lang="en-US" altLang="zh-CN" dirty="0"/>
              <a:t>Tx(1)</a:t>
            </a:r>
            <a:r>
              <a:rPr lang="zh-CN" altLang="zh-CN" dirty="0"/>
              <a:t>引脚上，</a:t>
            </a:r>
            <a:r>
              <a:rPr lang="en-US" altLang="zh-CN" dirty="0"/>
              <a:t>Arduino</a:t>
            </a:r>
            <a:r>
              <a:rPr lang="zh-CN" altLang="zh-CN" dirty="0"/>
              <a:t>的</a:t>
            </a:r>
            <a:r>
              <a:rPr lang="en-US" altLang="zh-CN" dirty="0"/>
              <a:t>USB</a:t>
            </a:r>
            <a:r>
              <a:rPr lang="zh-CN" altLang="zh-CN" dirty="0"/>
              <a:t>口通过转换芯片与这两个引脚连接。该转换芯片会通过</a:t>
            </a:r>
            <a:r>
              <a:rPr lang="en-US" altLang="zh-CN" dirty="0"/>
              <a:t>USB</a:t>
            </a:r>
            <a:r>
              <a:rPr lang="zh-CN" altLang="zh-CN" dirty="0"/>
              <a:t>接口在</a:t>
            </a:r>
            <a:r>
              <a:rPr lang="en-US" altLang="zh-CN" dirty="0"/>
              <a:t>PC</a:t>
            </a:r>
            <a:r>
              <a:rPr lang="zh-CN" altLang="zh-CN" dirty="0"/>
              <a:t>机上虚拟出一个用于</a:t>
            </a:r>
            <a:r>
              <a:rPr lang="en-US" altLang="zh-CN" dirty="0"/>
              <a:t>Arduino</a:t>
            </a:r>
            <a:r>
              <a:rPr lang="zh-CN" altLang="zh-CN" dirty="0"/>
              <a:t>通讯的串口（</a:t>
            </a:r>
            <a:r>
              <a:rPr lang="en-US" altLang="zh-CN" dirty="0"/>
              <a:t>COM</a:t>
            </a:r>
            <a:r>
              <a:rPr lang="zh-CN" altLang="zh-CN" dirty="0"/>
              <a:t>接口），使用</a:t>
            </a:r>
            <a:r>
              <a:rPr lang="en-US" altLang="zh-CN" dirty="0"/>
              <a:t>Arduino IDE</a:t>
            </a:r>
            <a:r>
              <a:rPr lang="zh-CN" altLang="zh-CN" dirty="0"/>
              <a:t>烧写程序也是通过串口进行的。 </a:t>
            </a:r>
          </a:p>
        </p:txBody>
      </p:sp>
    </p:spTree>
    <p:extLst>
      <p:ext uri="{BB962C8B-B14F-4D97-AF65-F5344CB8AC3E}">
        <p14:creationId xmlns:p14="http://schemas.microsoft.com/office/powerpoint/2010/main" val="1693558447"/>
      </p:ext>
    </p:extLst>
  </p:cSld>
  <p:clrMapOvr>
    <a:masterClrMapping/>
  </p:clrMapOvr>
  <p:transition>
    <p:cover dir="d"/>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en-US" dirty="0"/>
              <a:t>串口通信原理</a:t>
            </a:r>
          </a:p>
        </p:txBody>
      </p:sp>
      <p:sp>
        <p:nvSpPr>
          <p:cNvPr id="3" name="内容占位符 2"/>
          <p:cNvSpPr>
            <a:spLocks noGrp="1"/>
          </p:cNvSpPr>
          <p:nvPr>
            <p:ph idx="1"/>
          </p:nvPr>
        </p:nvSpPr>
        <p:spPr>
          <a:xfrm>
            <a:off x="685800" y="1638688"/>
            <a:ext cx="7772400" cy="4114800"/>
          </a:xfrm>
        </p:spPr>
        <p:txBody>
          <a:bodyPr/>
          <a:lstStyle/>
          <a:p>
            <a:pPr lvl="0"/>
            <a:r>
              <a:rPr lang="zh-CN" altLang="zh-CN" dirty="0"/>
              <a:t>当</a:t>
            </a:r>
            <a:r>
              <a:rPr lang="zh-CN" altLang="en-US" dirty="0"/>
              <a:t>使用</a:t>
            </a:r>
            <a:r>
              <a:rPr lang="en-US" altLang="zh-CN" dirty="0" err="1"/>
              <a:t>Serial.print</a:t>
            </a:r>
            <a:r>
              <a:rPr lang="en-US" altLang="zh-CN" dirty="0"/>
              <a:t>('A')</a:t>
            </a:r>
            <a:r>
              <a:rPr lang="zh-CN" altLang="zh-CN" dirty="0"/>
              <a:t>语句发送数据时，实际发送的数据帧格式如图所示： </a:t>
            </a:r>
            <a:endParaRPr lang="en-US" altLang="zh-CN" dirty="0"/>
          </a:p>
          <a:p>
            <a:pPr lvl="0"/>
            <a:endParaRPr lang="en-US" altLang="zh-CN" dirty="0"/>
          </a:p>
          <a:p>
            <a:pPr lvl="0"/>
            <a:endParaRPr lang="en-US" altLang="zh-CN" dirty="0"/>
          </a:p>
          <a:p>
            <a:pPr lvl="0"/>
            <a:r>
              <a:rPr lang="zh-CN" altLang="zh-CN" dirty="0"/>
              <a:t>起始位</a:t>
            </a:r>
          </a:p>
          <a:p>
            <a:pPr lvl="0"/>
            <a:r>
              <a:rPr lang="zh-CN" altLang="zh-CN" dirty="0"/>
              <a:t>数据位</a:t>
            </a:r>
          </a:p>
          <a:p>
            <a:pPr lvl="0"/>
            <a:r>
              <a:rPr lang="zh-CN" altLang="zh-CN" dirty="0"/>
              <a:t>校验位</a:t>
            </a:r>
          </a:p>
          <a:p>
            <a:pPr lvl="0"/>
            <a:r>
              <a:rPr lang="zh-CN" altLang="zh-CN" dirty="0"/>
              <a:t>停止位</a:t>
            </a:r>
          </a:p>
          <a:p>
            <a:endParaRPr lang="zh-CN" altLang="zh-CN" dirty="0"/>
          </a:p>
        </p:txBody>
      </p:sp>
      <p:pic>
        <p:nvPicPr>
          <p:cNvPr id="5" name="图片 4">
            <a:extLst>
              <a:ext uri="{FF2B5EF4-FFF2-40B4-BE49-F238E27FC236}">
                <a16:creationId xmlns:a16="http://schemas.microsoft.com/office/drawing/2014/main" id="{1775B747-B926-E043-88C5-9D40425BF6B8}"/>
              </a:ext>
            </a:extLst>
          </p:cNvPr>
          <p:cNvPicPr>
            <a:picLocks noChangeAspect="1"/>
          </p:cNvPicPr>
          <p:nvPr/>
        </p:nvPicPr>
        <p:blipFill>
          <a:blip r:embed="rId3"/>
          <a:stretch>
            <a:fillRect/>
          </a:stretch>
        </p:blipFill>
        <p:spPr>
          <a:xfrm>
            <a:off x="788668" y="2604391"/>
            <a:ext cx="7566664" cy="1280863"/>
          </a:xfrm>
          <a:prstGeom prst="rect">
            <a:avLst/>
          </a:prstGeom>
        </p:spPr>
      </p:pic>
    </p:spTree>
    <p:extLst>
      <p:ext uri="{BB962C8B-B14F-4D97-AF65-F5344CB8AC3E}">
        <p14:creationId xmlns:p14="http://schemas.microsoft.com/office/powerpoint/2010/main" val="2757097366"/>
      </p:ext>
    </p:extLst>
  </p:cSld>
  <p:clrMapOvr>
    <a:masterClrMapping/>
  </p:clrMapOvr>
  <p:transition>
    <p:cover dir="d"/>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en-US" dirty="0"/>
              <a:t>盾板</a:t>
            </a:r>
          </a:p>
        </p:txBody>
      </p:sp>
      <p:sp>
        <p:nvSpPr>
          <p:cNvPr id="3" name="内容占位符 2"/>
          <p:cNvSpPr>
            <a:spLocks noGrp="1"/>
          </p:cNvSpPr>
          <p:nvPr>
            <p:ph idx="1"/>
          </p:nvPr>
        </p:nvSpPr>
        <p:spPr/>
        <p:txBody>
          <a:bodyPr/>
          <a:lstStyle/>
          <a:p>
            <a:pPr marL="0" indent="0" algn="just">
              <a:buNone/>
            </a:pPr>
            <a:r>
              <a:rPr lang="zh-CN" altLang="en-US" dirty="0"/>
              <a:t>与</a:t>
            </a:r>
            <a:r>
              <a:rPr lang="en-US" altLang="zh-CN" dirty="0"/>
              <a:t>Arduino</a:t>
            </a:r>
            <a:r>
              <a:rPr lang="zh-CN" altLang="en-US" dirty="0"/>
              <a:t>相关的硬件除了核心开发板外，各种扩展板也是重要的组成部分。</a:t>
            </a:r>
            <a:r>
              <a:rPr lang="en-US" altLang="zh-CN" dirty="0"/>
              <a:t>Arduino</a:t>
            </a:r>
            <a:r>
              <a:rPr lang="zh-CN" altLang="en-US" dirty="0"/>
              <a:t>可以安装扩展板，即盾板进行扩展。它们是一些电路板，包含其他的元件，如网络模块、</a:t>
            </a:r>
            <a:r>
              <a:rPr lang="en-US" altLang="zh-CN" dirty="0"/>
              <a:t>GPRS</a:t>
            </a:r>
            <a:r>
              <a:rPr lang="zh-CN" altLang="en-US" dirty="0"/>
              <a:t>模块、语音模块等。</a:t>
            </a:r>
          </a:p>
        </p:txBody>
      </p:sp>
    </p:spTree>
  </p:cSld>
  <p:clrMapOvr>
    <a:masterClrMapping/>
  </p:clrMapOvr>
  <p:transition>
    <p:cover dir="d"/>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628650" y="3303270"/>
            <a:ext cx="7829550" cy="3046988"/>
          </a:xfrm>
          <a:prstGeom prst="rect">
            <a:avLst/>
          </a:prstGeom>
          <a:noFill/>
        </p:spPr>
        <p:txBody>
          <a:bodyPr wrap="square" rtlCol="0">
            <a:spAutoFit/>
          </a:bodyPr>
          <a:lstStyle/>
          <a:p>
            <a:pPr algn="just"/>
            <a:r>
              <a:rPr lang="zh-CN" altLang="en-US" sz="2400" dirty="0"/>
              <a:t>有些（但不是所有的）盾板具有和主</a:t>
            </a:r>
            <a:r>
              <a:rPr lang="en-US" altLang="zh-CN" sz="2400" dirty="0"/>
              <a:t>I/O</a:t>
            </a:r>
            <a:r>
              <a:rPr lang="zh-CN" altLang="en-US" sz="2400" dirty="0"/>
              <a:t>电路板一样的外形，一旦插上，它们的全尺寸电路板就会完全盖住（像盾牌一样保护）下面的</a:t>
            </a:r>
            <a:r>
              <a:rPr lang="en-US" altLang="zh-CN" sz="2400" dirty="0"/>
              <a:t>I/O</a:t>
            </a:r>
            <a:r>
              <a:rPr lang="zh-CN" altLang="en-US" sz="2400" dirty="0"/>
              <a:t>电路板。</a:t>
            </a:r>
            <a:r>
              <a:rPr lang="en-US" altLang="zh-CN" sz="2400" dirty="0"/>
              <a:t>Maker Shield</a:t>
            </a:r>
            <a:r>
              <a:rPr lang="zh-CN" altLang="en-US" sz="2400" dirty="0"/>
              <a:t>是一个多功能原型盾板，它使用堆叠的接插件，不仅能连接到</a:t>
            </a:r>
            <a:r>
              <a:rPr lang="en-US" altLang="zh-CN" sz="2400" dirty="0"/>
              <a:t>Arduino I/O</a:t>
            </a:r>
            <a:r>
              <a:rPr lang="zh-CN" altLang="en-US" sz="2400" dirty="0"/>
              <a:t>电路板，还复制了相同的扩展插座，使得它上面的盾板可以和其下的</a:t>
            </a:r>
            <a:r>
              <a:rPr lang="en-US" altLang="zh-CN" sz="2400" dirty="0"/>
              <a:t>Arduino I/O</a:t>
            </a:r>
            <a:r>
              <a:rPr lang="zh-CN" altLang="en-US" sz="2400" dirty="0"/>
              <a:t>电路板保持机械和电气连接。创客盾板中央的原型区域可以焊一些元件来扩展</a:t>
            </a:r>
            <a:r>
              <a:rPr lang="en-US" altLang="zh-CN" sz="2400" dirty="0"/>
              <a:t>Arduino</a:t>
            </a:r>
            <a:r>
              <a:rPr lang="zh-CN" altLang="en-US" sz="2400" dirty="0"/>
              <a:t>的功能。</a:t>
            </a:r>
          </a:p>
        </p:txBody>
      </p:sp>
      <p:pic>
        <p:nvPicPr>
          <p:cNvPr id="7" name="图片 6"/>
          <p:cNvPicPr>
            <a:picLocks noChangeAspect="1"/>
          </p:cNvPicPr>
          <p:nvPr/>
        </p:nvPicPr>
        <p:blipFill>
          <a:blip r:embed="rId2"/>
          <a:stretch>
            <a:fillRect/>
          </a:stretch>
        </p:blipFill>
        <p:spPr>
          <a:xfrm>
            <a:off x="2234565" y="460682"/>
            <a:ext cx="4286250" cy="2524125"/>
          </a:xfrm>
          <a:prstGeom prst="rect">
            <a:avLst/>
          </a:prstGeom>
        </p:spPr>
      </p:pic>
    </p:spTree>
  </p:cSld>
  <p:clrMapOvr>
    <a:masterClrMapping/>
  </p:clrMapOvr>
  <p:transition>
    <p:cover dir="d"/>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2"/>
          <a:stretch>
            <a:fillRect/>
          </a:stretch>
        </p:blipFill>
        <p:spPr>
          <a:xfrm>
            <a:off x="2454592" y="923924"/>
            <a:ext cx="4097300" cy="2813685"/>
          </a:xfrm>
          <a:prstGeom prst="rect">
            <a:avLst/>
          </a:prstGeom>
        </p:spPr>
      </p:pic>
      <p:sp>
        <p:nvSpPr>
          <p:cNvPr id="5" name="文本框 4"/>
          <p:cNvSpPr txBox="1"/>
          <p:nvPr/>
        </p:nvSpPr>
        <p:spPr>
          <a:xfrm>
            <a:off x="937260" y="4149090"/>
            <a:ext cx="7406640" cy="1569660"/>
          </a:xfrm>
          <a:prstGeom prst="rect">
            <a:avLst/>
          </a:prstGeom>
          <a:noFill/>
        </p:spPr>
        <p:txBody>
          <a:bodyPr wrap="square" rtlCol="0">
            <a:spAutoFit/>
          </a:bodyPr>
          <a:lstStyle/>
          <a:p>
            <a:pPr algn="just"/>
            <a:r>
              <a:rPr lang="zh-CN" altLang="en-US" sz="2400" dirty="0"/>
              <a:t>对于不需要那么多空间的盾板，或是只需要几个靠得很近的电气引脚的盾板，就可以使用较小的盾板形式。如果用智能的查理复用（</a:t>
            </a:r>
            <a:r>
              <a:rPr lang="en-US" altLang="zh-CN" sz="2400" dirty="0" err="1"/>
              <a:t>charlie-plexing</a:t>
            </a:r>
            <a:r>
              <a:rPr lang="zh-CN" altLang="en-US" sz="2400" dirty="0"/>
              <a:t>）技术连线，只要</a:t>
            </a:r>
            <a:r>
              <a:rPr lang="en-US" altLang="zh-CN" sz="2400" dirty="0"/>
              <a:t>4</a:t>
            </a:r>
            <a:r>
              <a:rPr lang="zh-CN" altLang="en-US" sz="2400" dirty="0"/>
              <a:t>个输出引脚就可以驱动一个</a:t>
            </a:r>
            <a:r>
              <a:rPr lang="en-US" altLang="zh-CN" sz="2400" dirty="0"/>
              <a:t>12</a:t>
            </a:r>
            <a:r>
              <a:rPr lang="zh-CN" altLang="en-US" sz="2400" dirty="0"/>
              <a:t>个</a:t>
            </a:r>
            <a:r>
              <a:rPr lang="en-US" altLang="zh-CN" sz="2400" dirty="0"/>
              <a:t>LED</a:t>
            </a:r>
            <a:r>
              <a:rPr lang="zh-CN" altLang="en-US" sz="2400" dirty="0"/>
              <a:t>的阵列。</a:t>
            </a:r>
          </a:p>
        </p:txBody>
      </p:sp>
    </p:spTree>
  </p:cSld>
  <p:clrMapOvr>
    <a:masterClrMapping/>
  </p:clrMapOvr>
  <p:transition>
    <p:cover dir="d"/>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08660" y="2472690"/>
            <a:ext cx="7772400" cy="1143000"/>
          </a:xfrm>
        </p:spPr>
        <p:txBody>
          <a:bodyPr/>
          <a:lstStyle/>
          <a:p>
            <a:r>
              <a:rPr lang="zh-CN" altLang="en-US" sz="6000" dirty="0"/>
              <a:t>开始</a:t>
            </a:r>
            <a:r>
              <a:rPr lang="en-US" altLang="zh-CN" sz="6000" dirty="0"/>
              <a:t>Arduino</a:t>
            </a:r>
            <a:r>
              <a:rPr lang="zh-CN" altLang="en-US" sz="6000" dirty="0"/>
              <a:t>之旅</a:t>
            </a:r>
          </a:p>
        </p:txBody>
      </p:sp>
    </p:spTree>
  </p:cSld>
  <p:clrMapOvr>
    <a:masterClrMapping/>
  </p:clrMapOvr>
  <p:transition>
    <p:cover dir="d"/>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en-US" dirty="0"/>
              <a:t>交叉编译</a:t>
            </a:r>
          </a:p>
        </p:txBody>
      </p:sp>
      <p:sp>
        <p:nvSpPr>
          <p:cNvPr id="3" name="内容占位符 2"/>
          <p:cNvSpPr>
            <a:spLocks noGrp="1"/>
          </p:cNvSpPr>
          <p:nvPr>
            <p:ph idx="1"/>
          </p:nvPr>
        </p:nvSpPr>
        <p:spPr/>
        <p:txBody>
          <a:bodyPr/>
          <a:lstStyle/>
          <a:p>
            <a:pPr marL="0" indent="0" algn="just">
              <a:buNone/>
            </a:pPr>
            <a:r>
              <a:rPr lang="zh-CN" altLang="en-US" dirty="0"/>
              <a:t>很多嵌入式系统需要从一台计算机上编程，将写好的程序下载到开发板中进行测试和实际运行。因此跨平台开发在嵌入式系统软件开发中很常见。所谓交叉编译，就是在一个平台上生成另一个平台上可以执行的代码。开发人员在电脑上将程序写好，编译生成单片机执行的程序，就是一个交叉编译的过程。</a:t>
            </a:r>
          </a:p>
        </p:txBody>
      </p:sp>
    </p:spTree>
  </p:cSld>
  <p:clrMapOvr>
    <a:masterClrMapping/>
  </p:clrMapOvr>
  <p:transition>
    <p:cover dir="d"/>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en-US" altLang="zh-CN" dirty="0"/>
              <a:t>Arduino</a:t>
            </a:r>
            <a:r>
              <a:rPr lang="zh-CN" altLang="en-US" dirty="0"/>
              <a:t>开发环境</a:t>
            </a:r>
          </a:p>
        </p:txBody>
      </p:sp>
      <p:pic>
        <p:nvPicPr>
          <p:cNvPr id="9" name="内容占位符 8">
            <a:extLst>
              <a:ext uri="{FF2B5EF4-FFF2-40B4-BE49-F238E27FC236}">
                <a16:creationId xmlns:a16="http://schemas.microsoft.com/office/drawing/2014/main" id="{7E107E45-8719-F4A6-2A13-F6F9DE510F13}"/>
              </a:ext>
            </a:extLst>
          </p:cNvPr>
          <p:cNvPicPr>
            <a:picLocks noGrp="1" noChangeAspect="1"/>
          </p:cNvPicPr>
          <p:nvPr>
            <p:ph idx="1"/>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bwMode="auto">
          <a:xfrm>
            <a:off x="1430655" y="2607944"/>
            <a:ext cx="2120265" cy="2120265"/>
          </a:xfrm>
          <a:prstGeom prst="rect">
            <a:avLst/>
          </a:prstGeom>
          <a:noFill/>
          <a:extLst>
            <a:ext uri="{909E8E84-426E-40DD-AFC4-6F175D3DCCD1}">
              <a14:hiddenFill xmlns:a14="http://schemas.microsoft.com/office/drawing/2010/main">
                <a:solidFill>
                  <a:srgbClr val="FFFFFF"/>
                </a:solidFill>
              </a14:hiddenFill>
            </a:ext>
          </a:extLst>
        </p:spPr>
      </p:pic>
      <p:sp>
        <p:nvSpPr>
          <p:cNvPr id="10" name="文本框 9">
            <a:extLst>
              <a:ext uri="{FF2B5EF4-FFF2-40B4-BE49-F238E27FC236}">
                <a16:creationId xmlns:a16="http://schemas.microsoft.com/office/drawing/2014/main" id="{9C3D4D8B-8AF3-25EC-BE71-92E0F9873B77}"/>
              </a:ext>
            </a:extLst>
          </p:cNvPr>
          <p:cNvSpPr txBox="1"/>
          <p:nvPr/>
        </p:nvSpPr>
        <p:spPr>
          <a:xfrm>
            <a:off x="1532572" y="4971793"/>
            <a:ext cx="1916429" cy="461665"/>
          </a:xfrm>
          <a:prstGeom prst="rect">
            <a:avLst/>
          </a:prstGeom>
          <a:noFill/>
        </p:spPr>
        <p:txBody>
          <a:bodyPr wrap="square" rtlCol="0">
            <a:spAutoFit/>
          </a:bodyPr>
          <a:lstStyle/>
          <a:p>
            <a:r>
              <a:rPr lang="en-US" altLang="zh-CN" sz="2400" dirty="0"/>
              <a:t>Arduino IDE</a:t>
            </a:r>
            <a:endParaRPr lang="zh-CN" altLang="en-US" sz="2400" dirty="0"/>
          </a:p>
        </p:txBody>
      </p:sp>
      <p:pic>
        <p:nvPicPr>
          <p:cNvPr id="1028" name="Picture 4">
            <a:extLst>
              <a:ext uri="{FF2B5EF4-FFF2-40B4-BE49-F238E27FC236}">
                <a16:creationId xmlns:a16="http://schemas.microsoft.com/office/drawing/2014/main" id="{F11EB680-4C07-05F4-0E07-B74A1019CD1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07635" y="2667951"/>
            <a:ext cx="2000250" cy="2000250"/>
          </a:xfrm>
          <a:prstGeom prst="rect">
            <a:avLst/>
          </a:prstGeom>
          <a:noFill/>
          <a:extLst>
            <a:ext uri="{909E8E84-426E-40DD-AFC4-6F175D3DCCD1}">
              <a14:hiddenFill xmlns:a14="http://schemas.microsoft.com/office/drawing/2010/main">
                <a:solidFill>
                  <a:srgbClr val="FFFFFF"/>
                </a:solidFill>
              </a14:hiddenFill>
            </a:ext>
          </a:extLst>
        </p:spPr>
      </p:pic>
      <p:sp>
        <p:nvSpPr>
          <p:cNvPr id="12" name="文本框 11">
            <a:extLst>
              <a:ext uri="{FF2B5EF4-FFF2-40B4-BE49-F238E27FC236}">
                <a16:creationId xmlns:a16="http://schemas.microsoft.com/office/drawing/2014/main" id="{1CD2BDF4-FC6A-0B7E-7FCA-366D483102C1}"/>
              </a:ext>
            </a:extLst>
          </p:cNvPr>
          <p:cNvSpPr txBox="1"/>
          <p:nvPr/>
        </p:nvSpPr>
        <p:spPr>
          <a:xfrm>
            <a:off x="4793932" y="4971792"/>
            <a:ext cx="2827655" cy="461665"/>
          </a:xfrm>
          <a:prstGeom prst="rect">
            <a:avLst/>
          </a:prstGeom>
          <a:noFill/>
        </p:spPr>
        <p:txBody>
          <a:bodyPr wrap="square" rtlCol="0">
            <a:spAutoFit/>
          </a:bodyPr>
          <a:lstStyle/>
          <a:p>
            <a:r>
              <a:rPr lang="en-US" altLang="zh-CN" sz="2400" dirty="0" err="1"/>
              <a:t>VSCode+PlatfromIO</a:t>
            </a:r>
            <a:endParaRPr lang="zh-CN" altLang="en-US" sz="2400" dirty="0"/>
          </a:p>
        </p:txBody>
      </p:sp>
    </p:spTree>
    <p:extLst>
      <p:ext uri="{BB962C8B-B14F-4D97-AF65-F5344CB8AC3E}">
        <p14:creationId xmlns:p14="http://schemas.microsoft.com/office/powerpoint/2010/main" val="1714205789"/>
      </p:ext>
    </p:extLst>
  </p:cSld>
  <p:clrMapOvr>
    <a:masterClrMapping/>
  </p:clrMapOvr>
  <p:transition>
    <p:cover dir="d"/>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en-US" dirty="0"/>
              <a:t>第三方软件</a:t>
            </a:r>
          </a:p>
        </p:txBody>
      </p:sp>
      <p:pic>
        <p:nvPicPr>
          <p:cNvPr id="4" name="内容占位符 3"/>
          <p:cNvPicPr>
            <a:picLocks noGrp="1" noChangeAspect="1"/>
          </p:cNvPicPr>
          <p:nvPr>
            <p:ph idx="1"/>
          </p:nvPr>
        </p:nvPicPr>
        <p:blipFill>
          <a:blip r:embed="rId2"/>
          <a:stretch>
            <a:fillRect/>
          </a:stretch>
        </p:blipFill>
        <p:spPr>
          <a:xfrm>
            <a:off x="824124" y="2449830"/>
            <a:ext cx="3380952" cy="2504762"/>
          </a:xfrm>
          <a:prstGeom prst="rect">
            <a:avLst/>
          </a:prstGeom>
        </p:spPr>
      </p:pic>
      <p:sp>
        <p:nvSpPr>
          <p:cNvPr id="5" name="文本框 4"/>
          <p:cNvSpPr txBox="1"/>
          <p:nvPr/>
        </p:nvSpPr>
        <p:spPr>
          <a:xfrm>
            <a:off x="1245870" y="5097780"/>
            <a:ext cx="2720340" cy="369332"/>
          </a:xfrm>
          <a:prstGeom prst="rect">
            <a:avLst/>
          </a:prstGeom>
          <a:noFill/>
        </p:spPr>
        <p:txBody>
          <a:bodyPr wrap="square" rtlCol="0">
            <a:spAutoFit/>
          </a:bodyPr>
          <a:lstStyle/>
          <a:p>
            <a:r>
              <a:rPr lang="en-US" altLang="zh-CN" dirty="0" err="1"/>
              <a:t>ArduBlock</a:t>
            </a:r>
            <a:r>
              <a:rPr lang="zh-CN" altLang="zh-CN" dirty="0"/>
              <a:t>软件界面截图</a:t>
            </a:r>
            <a:endParaRPr lang="zh-CN" altLang="en-US" dirty="0"/>
          </a:p>
        </p:txBody>
      </p:sp>
      <p:sp>
        <p:nvSpPr>
          <p:cNvPr id="6" name="文本框 5"/>
          <p:cNvSpPr txBox="1"/>
          <p:nvPr/>
        </p:nvSpPr>
        <p:spPr>
          <a:xfrm>
            <a:off x="4732020" y="1809385"/>
            <a:ext cx="4069080" cy="3785652"/>
          </a:xfrm>
          <a:prstGeom prst="rect">
            <a:avLst/>
          </a:prstGeom>
          <a:noFill/>
        </p:spPr>
        <p:txBody>
          <a:bodyPr wrap="square" rtlCol="0">
            <a:spAutoFit/>
          </a:bodyPr>
          <a:lstStyle/>
          <a:p>
            <a:pPr algn="just"/>
            <a:r>
              <a:rPr lang="en-US" altLang="zh-CN" sz="2400" dirty="0" err="1"/>
              <a:t>ArduBlock</a:t>
            </a:r>
            <a:r>
              <a:rPr lang="zh-CN" altLang="zh-CN" sz="2400" dirty="0"/>
              <a:t>是一款专门为</a:t>
            </a:r>
            <a:r>
              <a:rPr lang="en-US" altLang="zh-CN" sz="2400" dirty="0"/>
              <a:t>Arduino</a:t>
            </a:r>
            <a:r>
              <a:rPr lang="zh-CN" altLang="zh-CN" sz="2400" dirty="0"/>
              <a:t>设计的图形化编程软件，由上海新车间创客研制开发。这是一款第三方</a:t>
            </a:r>
            <a:r>
              <a:rPr lang="en-US" altLang="zh-CN" sz="2400" dirty="0"/>
              <a:t>Arduino</a:t>
            </a:r>
            <a:r>
              <a:rPr lang="zh-CN" altLang="zh-CN" sz="2400" dirty="0"/>
              <a:t>官方编程环境软件，目前必须在</a:t>
            </a:r>
            <a:r>
              <a:rPr lang="en-US" altLang="zh-CN" sz="2400" dirty="0"/>
              <a:t>Arduino IDE</a:t>
            </a:r>
            <a:r>
              <a:rPr lang="zh-CN" altLang="zh-CN" sz="2400" dirty="0"/>
              <a:t>的软件下运行。但是区别于官方文本编辑环境，</a:t>
            </a:r>
            <a:r>
              <a:rPr lang="en-US" altLang="zh-CN" sz="2400" dirty="0" err="1"/>
              <a:t>ArduBlock</a:t>
            </a:r>
            <a:r>
              <a:rPr lang="zh-CN" altLang="zh-CN" sz="2400" dirty="0"/>
              <a:t>是以图形化积木搭建的方式进行编程的。</a:t>
            </a:r>
            <a:endParaRPr lang="zh-CN" altLang="en-US" sz="2400" dirty="0"/>
          </a:p>
        </p:txBody>
      </p:sp>
    </p:spTree>
    <p:extLst>
      <p:ext uri="{BB962C8B-B14F-4D97-AF65-F5344CB8AC3E}">
        <p14:creationId xmlns:p14="http://schemas.microsoft.com/office/powerpoint/2010/main" val="1821404578"/>
      </p:ext>
    </p:extLst>
  </p:cSld>
  <p:clrMapOvr>
    <a:masterClrMapping/>
  </p:clrMapOvr>
  <p:transition>
    <p:cover dir="d"/>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en-US" dirty="0"/>
              <a:t>第三方软件</a:t>
            </a:r>
          </a:p>
        </p:txBody>
      </p:sp>
      <p:pic>
        <p:nvPicPr>
          <p:cNvPr id="4" name="内容占位符 3"/>
          <p:cNvPicPr>
            <a:picLocks noGrp="1" noChangeAspect="1"/>
          </p:cNvPicPr>
          <p:nvPr>
            <p:ph idx="1"/>
          </p:nvPr>
        </p:nvPicPr>
        <p:blipFill>
          <a:blip r:embed="rId2"/>
          <a:stretch>
            <a:fillRect/>
          </a:stretch>
        </p:blipFill>
        <p:spPr>
          <a:xfrm>
            <a:off x="685800" y="1958340"/>
            <a:ext cx="4634857" cy="2693670"/>
          </a:xfrm>
          <a:prstGeom prst="rect">
            <a:avLst/>
          </a:prstGeom>
        </p:spPr>
      </p:pic>
      <p:sp>
        <p:nvSpPr>
          <p:cNvPr id="5" name="文本框 4"/>
          <p:cNvSpPr txBox="1"/>
          <p:nvPr/>
        </p:nvSpPr>
        <p:spPr>
          <a:xfrm>
            <a:off x="1108711" y="4857750"/>
            <a:ext cx="3623310" cy="369332"/>
          </a:xfrm>
          <a:prstGeom prst="rect">
            <a:avLst/>
          </a:prstGeom>
          <a:noFill/>
        </p:spPr>
        <p:txBody>
          <a:bodyPr wrap="square" rtlCol="0">
            <a:spAutoFit/>
          </a:bodyPr>
          <a:lstStyle/>
          <a:p>
            <a:r>
              <a:rPr lang="en-US" altLang="zh-CN" dirty="0"/>
              <a:t>Arduino</a:t>
            </a:r>
            <a:r>
              <a:rPr lang="zh-CN" altLang="zh-CN" dirty="0"/>
              <a:t>仿真软件</a:t>
            </a:r>
            <a:r>
              <a:rPr lang="en-US" altLang="zh-CN" dirty="0"/>
              <a:t>Virtual breadboard</a:t>
            </a:r>
            <a:endParaRPr lang="zh-CN" altLang="en-US" dirty="0"/>
          </a:p>
        </p:txBody>
      </p:sp>
      <p:sp>
        <p:nvSpPr>
          <p:cNvPr id="6" name="文本框 5"/>
          <p:cNvSpPr txBox="1"/>
          <p:nvPr/>
        </p:nvSpPr>
        <p:spPr>
          <a:xfrm>
            <a:off x="5772150" y="1466850"/>
            <a:ext cx="3017520" cy="4093428"/>
          </a:xfrm>
          <a:prstGeom prst="rect">
            <a:avLst/>
          </a:prstGeom>
          <a:noFill/>
        </p:spPr>
        <p:txBody>
          <a:bodyPr wrap="square" rtlCol="0">
            <a:spAutoFit/>
          </a:bodyPr>
          <a:lstStyle/>
          <a:p>
            <a:pPr algn="just"/>
            <a:r>
              <a:rPr lang="en-US" altLang="zh-CN" sz="2000" dirty="0"/>
              <a:t>Virtual breadboard</a:t>
            </a:r>
            <a:r>
              <a:rPr lang="zh-CN" altLang="zh-CN" sz="2000" dirty="0"/>
              <a:t>是一款专门的</a:t>
            </a:r>
            <a:r>
              <a:rPr lang="en-US" altLang="zh-CN" sz="2000" dirty="0"/>
              <a:t>Arduino</a:t>
            </a:r>
            <a:r>
              <a:rPr lang="zh-CN" altLang="zh-CN" sz="2000" dirty="0"/>
              <a:t>仿真软件</a:t>
            </a:r>
            <a:r>
              <a:rPr lang="zh-CN" altLang="en-US" sz="2000" dirty="0"/>
              <a:t>，</a:t>
            </a:r>
            <a:r>
              <a:rPr lang="zh-CN" altLang="zh-CN" sz="2000" dirty="0"/>
              <a:t>它不但包括了所有</a:t>
            </a:r>
            <a:r>
              <a:rPr lang="en-US" altLang="zh-CN" sz="2000" dirty="0"/>
              <a:t>Arduino</a:t>
            </a:r>
            <a:r>
              <a:rPr lang="zh-CN" altLang="zh-CN" sz="2000" dirty="0"/>
              <a:t>的样例电路，可以实现对面包板电路的设计和布置，非常直观地显示出面包板电路，还可实现对程序的仿真调试。</a:t>
            </a:r>
            <a:r>
              <a:rPr lang="en-US" altLang="zh-CN" sz="2000" dirty="0"/>
              <a:t>VBB</a:t>
            </a:r>
            <a:r>
              <a:rPr lang="zh-CN" altLang="zh-CN" sz="2000" dirty="0"/>
              <a:t>可以模拟</a:t>
            </a:r>
            <a:r>
              <a:rPr lang="en-US" altLang="zh-CN" sz="2000" dirty="0"/>
              <a:t>Arduino</a:t>
            </a:r>
            <a:r>
              <a:rPr lang="zh-CN" altLang="zh-CN" sz="2000" dirty="0"/>
              <a:t>连接各种电子模块，例如液晶屏、舵机、逻辑数字电路、各种传感器以及其他的输入</a:t>
            </a:r>
            <a:r>
              <a:rPr lang="en-US" altLang="zh-CN" sz="2000" dirty="0"/>
              <a:t>/</a:t>
            </a:r>
            <a:r>
              <a:rPr lang="zh-CN" altLang="zh-CN" sz="2000" dirty="0"/>
              <a:t>输出设备。</a:t>
            </a:r>
            <a:endParaRPr lang="zh-CN" altLang="en-US" sz="2000" dirty="0"/>
          </a:p>
        </p:txBody>
      </p:sp>
    </p:spTree>
    <p:extLst>
      <p:ext uri="{BB962C8B-B14F-4D97-AF65-F5344CB8AC3E}">
        <p14:creationId xmlns:p14="http://schemas.microsoft.com/office/powerpoint/2010/main" val="2198932858"/>
      </p:ext>
    </p:extLst>
  </p:cSld>
  <p:clrMapOvr>
    <a:masterClrMapping/>
  </p:clrMapOvr>
  <p:transition>
    <p:cover dir="d"/>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en-US" altLang="zh-CN" dirty="0" err="1"/>
              <a:t>ArduinoIDE</a:t>
            </a:r>
            <a:r>
              <a:rPr lang="zh-CN" altLang="en-US" dirty="0"/>
              <a:t>安装</a:t>
            </a:r>
          </a:p>
        </p:txBody>
      </p:sp>
      <p:sp>
        <p:nvSpPr>
          <p:cNvPr id="3" name="内容占位符 2">
            <a:extLst>
              <a:ext uri="{FF2B5EF4-FFF2-40B4-BE49-F238E27FC236}">
                <a16:creationId xmlns:a16="http://schemas.microsoft.com/office/drawing/2014/main" id="{E01AAA39-B293-EF97-A859-825A34B21A5B}"/>
              </a:ext>
            </a:extLst>
          </p:cNvPr>
          <p:cNvSpPr>
            <a:spLocks noGrp="1"/>
          </p:cNvSpPr>
          <p:nvPr>
            <p:ph idx="1"/>
          </p:nvPr>
        </p:nvSpPr>
        <p:spPr/>
        <p:txBody>
          <a:bodyPr/>
          <a:lstStyle/>
          <a:p>
            <a:pPr marL="0" indent="0">
              <a:buNone/>
            </a:pPr>
            <a:r>
              <a:rPr lang="zh-CN" altLang="en-US" dirty="0"/>
              <a:t>官网下载地址：</a:t>
            </a:r>
            <a:r>
              <a:rPr lang="en-US" altLang="zh-CN" dirty="0">
                <a:hlinkClick r:id="rId2"/>
              </a:rPr>
              <a:t>https://www.arduino.cc/en/software</a:t>
            </a:r>
            <a:endParaRPr lang="en-US" altLang="zh-CN" dirty="0"/>
          </a:p>
          <a:p>
            <a:pPr marL="0" indent="0">
              <a:buNone/>
            </a:pPr>
            <a:endParaRPr lang="zh-CN" altLang="en-US" dirty="0"/>
          </a:p>
        </p:txBody>
      </p:sp>
      <p:pic>
        <p:nvPicPr>
          <p:cNvPr id="5" name="图片 4">
            <a:extLst>
              <a:ext uri="{FF2B5EF4-FFF2-40B4-BE49-F238E27FC236}">
                <a16:creationId xmlns:a16="http://schemas.microsoft.com/office/drawing/2014/main" id="{7E05559C-8622-3B80-8510-8BF341ABD17C}"/>
              </a:ext>
            </a:extLst>
          </p:cNvPr>
          <p:cNvPicPr>
            <a:picLocks noChangeAspect="1"/>
          </p:cNvPicPr>
          <p:nvPr/>
        </p:nvPicPr>
        <p:blipFill>
          <a:blip r:embed="rId3"/>
          <a:stretch>
            <a:fillRect/>
          </a:stretch>
        </p:blipFill>
        <p:spPr>
          <a:xfrm>
            <a:off x="762000" y="3072965"/>
            <a:ext cx="6258560" cy="3175435"/>
          </a:xfrm>
          <a:prstGeom prst="rect">
            <a:avLst/>
          </a:prstGeom>
        </p:spPr>
      </p:pic>
    </p:spTree>
    <p:extLst>
      <p:ext uri="{BB962C8B-B14F-4D97-AF65-F5344CB8AC3E}">
        <p14:creationId xmlns:p14="http://schemas.microsoft.com/office/powerpoint/2010/main" val="3195683821"/>
      </p:ext>
    </p:extLst>
  </p:cSld>
  <p:clrMapOvr>
    <a:masterClrMapping/>
  </p:clrMapOvr>
  <p:transition>
    <p:cover dir="d"/>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en-US" altLang="zh-CN" dirty="0"/>
              <a:t>Arduino IDE</a:t>
            </a:r>
            <a:r>
              <a:rPr lang="zh-CN" altLang="en-US" dirty="0"/>
              <a:t>介绍</a:t>
            </a:r>
          </a:p>
        </p:txBody>
      </p:sp>
      <p:pic>
        <p:nvPicPr>
          <p:cNvPr id="5" name="图片 4">
            <a:extLst>
              <a:ext uri="{FF2B5EF4-FFF2-40B4-BE49-F238E27FC236}">
                <a16:creationId xmlns:a16="http://schemas.microsoft.com/office/drawing/2014/main" id="{9D7301C8-5052-9E25-0040-BFC777455A32}"/>
              </a:ext>
            </a:extLst>
          </p:cNvPr>
          <p:cNvPicPr>
            <a:picLocks noChangeAspect="1"/>
          </p:cNvPicPr>
          <p:nvPr/>
        </p:nvPicPr>
        <p:blipFill>
          <a:blip r:embed="rId2"/>
          <a:stretch>
            <a:fillRect/>
          </a:stretch>
        </p:blipFill>
        <p:spPr>
          <a:xfrm>
            <a:off x="2919850" y="1752600"/>
            <a:ext cx="5770880" cy="4173706"/>
          </a:xfrm>
          <a:prstGeom prst="rect">
            <a:avLst/>
          </a:prstGeom>
        </p:spPr>
      </p:pic>
      <p:cxnSp>
        <p:nvCxnSpPr>
          <p:cNvPr id="7" name="直接箭头连接符 6">
            <a:extLst>
              <a:ext uri="{FF2B5EF4-FFF2-40B4-BE49-F238E27FC236}">
                <a16:creationId xmlns:a16="http://schemas.microsoft.com/office/drawing/2014/main" id="{86E48298-963A-EDAB-6020-FA23EDE65E62}"/>
              </a:ext>
            </a:extLst>
          </p:cNvPr>
          <p:cNvCxnSpPr/>
          <p:nvPr/>
        </p:nvCxnSpPr>
        <p:spPr bwMode="auto">
          <a:xfrm flipV="1">
            <a:off x="3078480" y="2346960"/>
            <a:ext cx="0" cy="751840"/>
          </a:xfrm>
          <a:prstGeom prst="straightConnector1">
            <a:avLst/>
          </a:prstGeom>
          <a:solidFill>
            <a:schemeClr val="accent1"/>
          </a:solidFill>
          <a:ln w="9525" cap="flat" cmpd="sng" algn="ctr">
            <a:solidFill>
              <a:srgbClr val="FF0000"/>
            </a:solidFill>
            <a:prstDash val="solid"/>
            <a:round/>
            <a:headEnd type="none" w="med" len="med"/>
            <a:tailEnd type="triangle"/>
          </a:ln>
        </p:spPr>
      </p:cxnSp>
      <p:sp>
        <p:nvSpPr>
          <p:cNvPr id="8" name="文本框 7">
            <a:extLst>
              <a:ext uri="{FF2B5EF4-FFF2-40B4-BE49-F238E27FC236}">
                <a16:creationId xmlns:a16="http://schemas.microsoft.com/office/drawing/2014/main" id="{B961EB32-19CA-4B2A-40E6-7104423D80E1}"/>
              </a:ext>
            </a:extLst>
          </p:cNvPr>
          <p:cNvSpPr txBox="1"/>
          <p:nvPr/>
        </p:nvSpPr>
        <p:spPr>
          <a:xfrm>
            <a:off x="2755314" y="3124200"/>
            <a:ext cx="646331" cy="369332"/>
          </a:xfrm>
          <a:prstGeom prst="rect">
            <a:avLst/>
          </a:prstGeom>
          <a:noFill/>
        </p:spPr>
        <p:txBody>
          <a:bodyPr wrap="none" rtlCol="0">
            <a:spAutoFit/>
          </a:bodyPr>
          <a:lstStyle/>
          <a:p>
            <a:r>
              <a:rPr lang="zh-CN" altLang="en-US" dirty="0">
                <a:solidFill>
                  <a:srgbClr val="FF0000"/>
                </a:solidFill>
              </a:rPr>
              <a:t>编译</a:t>
            </a:r>
          </a:p>
        </p:txBody>
      </p:sp>
      <p:cxnSp>
        <p:nvCxnSpPr>
          <p:cNvPr id="9" name="直接箭头连接符 8">
            <a:extLst>
              <a:ext uri="{FF2B5EF4-FFF2-40B4-BE49-F238E27FC236}">
                <a16:creationId xmlns:a16="http://schemas.microsoft.com/office/drawing/2014/main" id="{90BC246C-9830-B672-6488-0E7286D40B88}"/>
              </a:ext>
            </a:extLst>
          </p:cNvPr>
          <p:cNvCxnSpPr>
            <a:cxnSpLocks/>
          </p:cNvCxnSpPr>
          <p:nvPr/>
        </p:nvCxnSpPr>
        <p:spPr bwMode="auto">
          <a:xfrm flipH="1" flipV="1">
            <a:off x="3340685" y="2346960"/>
            <a:ext cx="10160" cy="1330960"/>
          </a:xfrm>
          <a:prstGeom prst="straightConnector1">
            <a:avLst/>
          </a:prstGeom>
          <a:solidFill>
            <a:schemeClr val="accent1"/>
          </a:solidFill>
          <a:ln w="9525" cap="flat" cmpd="sng" algn="ctr">
            <a:solidFill>
              <a:srgbClr val="FF0000"/>
            </a:solidFill>
            <a:prstDash val="solid"/>
            <a:round/>
            <a:headEnd type="none" w="med" len="med"/>
            <a:tailEnd type="triangle"/>
          </a:ln>
        </p:spPr>
      </p:cxnSp>
      <p:sp>
        <p:nvSpPr>
          <p:cNvPr id="11" name="文本框 10">
            <a:extLst>
              <a:ext uri="{FF2B5EF4-FFF2-40B4-BE49-F238E27FC236}">
                <a16:creationId xmlns:a16="http://schemas.microsoft.com/office/drawing/2014/main" id="{A571B3FC-456F-A19A-5FE9-227736849D57}"/>
              </a:ext>
            </a:extLst>
          </p:cNvPr>
          <p:cNvSpPr txBox="1"/>
          <p:nvPr/>
        </p:nvSpPr>
        <p:spPr>
          <a:xfrm>
            <a:off x="3027679" y="3713961"/>
            <a:ext cx="646331" cy="369332"/>
          </a:xfrm>
          <a:prstGeom prst="rect">
            <a:avLst/>
          </a:prstGeom>
          <a:noFill/>
        </p:spPr>
        <p:txBody>
          <a:bodyPr wrap="none" rtlCol="0">
            <a:spAutoFit/>
          </a:bodyPr>
          <a:lstStyle/>
          <a:p>
            <a:r>
              <a:rPr lang="zh-CN" altLang="en-US" dirty="0">
                <a:solidFill>
                  <a:srgbClr val="FF0000"/>
                </a:solidFill>
              </a:rPr>
              <a:t>上传</a:t>
            </a:r>
          </a:p>
        </p:txBody>
      </p:sp>
      <p:cxnSp>
        <p:nvCxnSpPr>
          <p:cNvPr id="12" name="直接箭头连接符 11">
            <a:extLst>
              <a:ext uri="{FF2B5EF4-FFF2-40B4-BE49-F238E27FC236}">
                <a16:creationId xmlns:a16="http://schemas.microsoft.com/office/drawing/2014/main" id="{A7538251-133E-AFAD-9B75-D7380E67C7FB}"/>
              </a:ext>
            </a:extLst>
          </p:cNvPr>
          <p:cNvCxnSpPr>
            <a:cxnSpLocks/>
          </p:cNvCxnSpPr>
          <p:nvPr/>
        </p:nvCxnSpPr>
        <p:spPr bwMode="auto">
          <a:xfrm flipV="1">
            <a:off x="3590755" y="2346960"/>
            <a:ext cx="0" cy="696853"/>
          </a:xfrm>
          <a:prstGeom prst="straightConnector1">
            <a:avLst/>
          </a:prstGeom>
          <a:solidFill>
            <a:schemeClr val="accent1"/>
          </a:solidFill>
          <a:ln w="9525" cap="flat" cmpd="sng" algn="ctr">
            <a:solidFill>
              <a:srgbClr val="FF0000"/>
            </a:solidFill>
            <a:prstDash val="solid"/>
            <a:round/>
            <a:headEnd type="none" w="med" len="med"/>
            <a:tailEnd type="triangle"/>
          </a:ln>
        </p:spPr>
      </p:cxnSp>
      <p:sp>
        <p:nvSpPr>
          <p:cNvPr id="14" name="文本框 13">
            <a:extLst>
              <a:ext uri="{FF2B5EF4-FFF2-40B4-BE49-F238E27FC236}">
                <a16:creationId xmlns:a16="http://schemas.microsoft.com/office/drawing/2014/main" id="{E203CA3F-6CC5-22E8-CC8A-E55CDF8BE4E2}"/>
              </a:ext>
            </a:extLst>
          </p:cNvPr>
          <p:cNvSpPr txBox="1"/>
          <p:nvPr/>
        </p:nvSpPr>
        <p:spPr>
          <a:xfrm>
            <a:off x="3308229" y="3136761"/>
            <a:ext cx="646331" cy="369332"/>
          </a:xfrm>
          <a:prstGeom prst="rect">
            <a:avLst/>
          </a:prstGeom>
          <a:noFill/>
        </p:spPr>
        <p:txBody>
          <a:bodyPr wrap="none" rtlCol="0">
            <a:spAutoFit/>
          </a:bodyPr>
          <a:lstStyle/>
          <a:p>
            <a:r>
              <a:rPr lang="zh-CN" altLang="en-US" dirty="0">
                <a:solidFill>
                  <a:srgbClr val="FF0000"/>
                </a:solidFill>
              </a:rPr>
              <a:t>调试</a:t>
            </a:r>
          </a:p>
        </p:txBody>
      </p:sp>
      <p:cxnSp>
        <p:nvCxnSpPr>
          <p:cNvPr id="16" name="直接箭头连接符 15">
            <a:extLst>
              <a:ext uri="{FF2B5EF4-FFF2-40B4-BE49-F238E27FC236}">
                <a16:creationId xmlns:a16="http://schemas.microsoft.com/office/drawing/2014/main" id="{04479EF3-5C7A-8A1F-DF26-5E20CE355D7C}"/>
              </a:ext>
            </a:extLst>
          </p:cNvPr>
          <p:cNvCxnSpPr>
            <a:cxnSpLocks/>
          </p:cNvCxnSpPr>
          <p:nvPr/>
        </p:nvCxnSpPr>
        <p:spPr bwMode="auto">
          <a:xfrm flipV="1">
            <a:off x="4606755" y="2401947"/>
            <a:ext cx="0" cy="696853"/>
          </a:xfrm>
          <a:prstGeom prst="straightConnector1">
            <a:avLst/>
          </a:prstGeom>
          <a:solidFill>
            <a:schemeClr val="accent1"/>
          </a:solidFill>
          <a:ln w="9525" cap="flat" cmpd="sng" algn="ctr">
            <a:solidFill>
              <a:srgbClr val="FF0000"/>
            </a:solidFill>
            <a:prstDash val="solid"/>
            <a:round/>
            <a:headEnd type="none" w="med" len="med"/>
            <a:tailEnd type="triangle"/>
          </a:ln>
        </p:spPr>
      </p:cxnSp>
      <p:sp>
        <p:nvSpPr>
          <p:cNvPr id="17" name="文本框 16">
            <a:extLst>
              <a:ext uri="{FF2B5EF4-FFF2-40B4-BE49-F238E27FC236}">
                <a16:creationId xmlns:a16="http://schemas.microsoft.com/office/drawing/2014/main" id="{697B876C-F826-6D5C-8D2F-17D09A763B2D}"/>
              </a:ext>
            </a:extLst>
          </p:cNvPr>
          <p:cNvSpPr txBox="1"/>
          <p:nvPr/>
        </p:nvSpPr>
        <p:spPr>
          <a:xfrm>
            <a:off x="3989462" y="3098800"/>
            <a:ext cx="2031325" cy="369332"/>
          </a:xfrm>
          <a:prstGeom prst="rect">
            <a:avLst/>
          </a:prstGeom>
          <a:noFill/>
        </p:spPr>
        <p:txBody>
          <a:bodyPr wrap="none" rtlCol="0">
            <a:spAutoFit/>
          </a:bodyPr>
          <a:lstStyle/>
          <a:p>
            <a:r>
              <a:rPr lang="zh-CN" altLang="en-US" dirty="0">
                <a:solidFill>
                  <a:srgbClr val="FF0000"/>
                </a:solidFill>
              </a:rPr>
              <a:t>选择开发板和串口</a:t>
            </a:r>
          </a:p>
        </p:txBody>
      </p:sp>
      <p:cxnSp>
        <p:nvCxnSpPr>
          <p:cNvPr id="18" name="直接箭头连接符 17">
            <a:extLst>
              <a:ext uri="{FF2B5EF4-FFF2-40B4-BE49-F238E27FC236}">
                <a16:creationId xmlns:a16="http://schemas.microsoft.com/office/drawing/2014/main" id="{9F3E50F7-DCBB-98B5-5F3A-EA4B663BCC28}"/>
              </a:ext>
            </a:extLst>
          </p:cNvPr>
          <p:cNvCxnSpPr>
            <a:cxnSpLocks/>
          </p:cNvCxnSpPr>
          <p:nvPr/>
        </p:nvCxnSpPr>
        <p:spPr bwMode="auto">
          <a:xfrm flipV="1">
            <a:off x="8508195" y="2346960"/>
            <a:ext cx="0" cy="1492493"/>
          </a:xfrm>
          <a:prstGeom prst="straightConnector1">
            <a:avLst/>
          </a:prstGeom>
          <a:solidFill>
            <a:schemeClr val="accent1"/>
          </a:solidFill>
          <a:ln w="9525" cap="flat" cmpd="sng" algn="ctr">
            <a:solidFill>
              <a:srgbClr val="FF0000"/>
            </a:solidFill>
            <a:prstDash val="solid"/>
            <a:round/>
            <a:headEnd type="none" w="med" len="med"/>
            <a:tailEnd type="triangle"/>
          </a:ln>
        </p:spPr>
      </p:cxnSp>
      <p:sp>
        <p:nvSpPr>
          <p:cNvPr id="19" name="文本框 18">
            <a:extLst>
              <a:ext uri="{FF2B5EF4-FFF2-40B4-BE49-F238E27FC236}">
                <a16:creationId xmlns:a16="http://schemas.microsoft.com/office/drawing/2014/main" id="{30A66BD7-6D06-DC15-ABAD-B5BCD19173A2}"/>
              </a:ext>
            </a:extLst>
          </p:cNvPr>
          <p:cNvSpPr txBox="1"/>
          <p:nvPr/>
        </p:nvSpPr>
        <p:spPr>
          <a:xfrm>
            <a:off x="7838781" y="4002147"/>
            <a:ext cx="1338828" cy="369332"/>
          </a:xfrm>
          <a:prstGeom prst="rect">
            <a:avLst/>
          </a:prstGeom>
          <a:noFill/>
        </p:spPr>
        <p:txBody>
          <a:bodyPr wrap="none" rtlCol="0">
            <a:spAutoFit/>
          </a:bodyPr>
          <a:lstStyle/>
          <a:p>
            <a:r>
              <a:rPr lang="zh-CN" altLang="en-US" dirty="0">
                <a:solidFill>
                  <a:srgbClr val="FF0000"/>
                </a:solidFill>
              </a:rPr>
              <a:t>串口监视器</a:t>
            </a:r>
          </a:p>
        </p:txBody>
      </p:sp>
      <p:sp>
        <p:nvSpPr>
          <p:cNvPr id="24" name="文本框 23">
            <a:extLst>
              <a:ext uri="{FF2B5EF4-FFF2-40B4-BE49-F238E27FC236}">
                <a16:creationId xmlns:a16="http://schemas.microsoft.com/office/drawing/2014/main" id="{FF0F591B-2B8B-5620-0D7F-4C33F28DAD4A}"/>
              </a:ext>
            </a:extLst>
          </p:cNvPr>
          <p:cNvSpPr txBox="1"/>
          <p:nvPr/>
        </p:nvSpPr>
        <p:spPr>
          <a:xfrm>
            <a:off x="966630" y="1680448"/>
            <a:ext cx="877163" cy="369332"/>
          </a:xfrm>
          <a:prstGeom prst="rect">
            <a:avLst/>
          </a:prstGeom>
          <a:noFill/>
        </p:spPr>
        <p:txBody>
          <a:bodyPr wrap="none" rtlCol="0">
            <a:spAutoFit/>
          </a:bodyPr>
          <a:lstStyle/>
          <a:p>
            <a:r>
              <a:rPr lang="zh-CN" altLang="en-US" dirty="0">
                <a:solidFill>
                  <a:srgbClr val="FF0000"/>
                </a:solidFill>
              </a:rPr>
              <a:t>菜单栏</a:t>
            </a:r>
          </a:p>
        </p:txBody>
      </p:sp>
      <p:cxnSp>
        <p:nvCxnSpPr>
          <p:cNvPr id="25" name="直接箭头连接符 24">
            <a:extLst>
              <a:ext uri="{FF2B5EF4-FFF2-40B4-BE49-F238E27FC236}">
                <a16:creationId xmlns:a16="http://schemas.microsoft.com/office/drawing/2014/main" id="{6F5B7FB4-88A4-6AF7-8DD0-A7927F5F3A1E}"/>
              </a:ext>
            </a:extLst>
          </p:cNvPr>
          <p:cNvCxnSpPr>
            <a:cxnSpLocks/>
          </p:cNvCxnSpPr>
          <p:nvPr/>
        </p:nvCxnSpPr>
        <p:spPr bwMode="auto">
          <a:xfrm>
            <a:off x="1918843" y="2028874"/>
            <a:ext cx="925957" cy="0"/>
          </a:xfrm>
          <a:prstGeom prst="straightConnector1">
            <a:avLst/>
          </a:prstGeom>
          <a:solidFill>
            <a:schemeClr val="accent1"/>
          </a:solidFill>
          <a:ln w="9525" cap="flat" cmpd="sng" algn="ctr">
            <a:solidFill>
              <a:srgbClr val="FF0000"/>
            </a:solidFill>
            <a:prstDash val="solid"/>
            <a:round/>
            <a:headEnd type="none" w="med" len="med"/>
            <a:tailEnd type="triangle"/>
          </a:ln>
        </p:spPr>
      </p:cxnSp>
      <p:cxnSp>
        <p:nvCxnSpPr>
          <p:cNvPr id="28" name="直接箭头连接符 27">
            <a:extLst>
              <a:ext uri="{FF2B5EF4-FFF2-40B4-BE49-F238E27FC236}">
                <a16:creationId xmlns:a16="http://schemas.microsoft.com/office/drawing/2014/main" id="{74FA2432-274B-CB0D-4CE2-875A99686292}"/>
              </a:ext>
            </a:extLst>
          </p:cNvPr>
          <p:cNvCxnSpPr>
            <a:cxnSpLocks/>
          </p:cNvCxnSpPr>
          <p:nvPr/>
        </p:nvCxnSpPr>
        <p:spPr bwMode="auto">
          <a:xfrm>
            <a:off x="1918843" y="2229534"/>
            <a:ext cx="925957" cy="0"/>
          </a:xfrm>
          <a:prstGeom prst="straightConnector1">
            <a:avLst/>
          </a:prstGeom>
          <a:solidFill>
            <a:schemeClr val="accent1"/>
          </a:solidFill>
          <a:ln w="9525" cap="flat" cmpd="sng" algn="ctr">
            <a:solidFill>
              <a:srgbClr val="FF0000"/>
            </a:solidFill>
            <a:prstDash val="solid"/>
            <a:round/>
            <a:headEnd type="none" w="med" len="med"/>
            <a:tailEnd type="triangle"/>
          </a:ln>
        </p:spPr>
      </p:cxnSp>
      <p:sp>
        <p:nvSpPr>
          <p:cNvPr id="29" name="文本框 28">
            <a:extLst>
              <a:ext uri="{FF2B5EF4-FFF2-40B4-BE49-F238E27FC236}">
                <a16:creationId xmlns:a16="http://schemas.microsoft.com/office/drawing/2014/main" id="{C8C6CA29-5117-9DB8-8842-FB237AD2A2C3}"/>
              </a:ext>
            </a:extLst>
          </p:cNvPr>
          <p:cNvSpPr txBox="1"/>
          <p:nvPr/>
        </p:nvSpPr>
        <p:spPr>
          <a:xfrm>
            <a:off x="966630" y="2162294"/>
            <a:ext cx="877163" cy="369332"/>
          </a:xfrm>
          <a:prstGeom prst="rect">
            <a:avLst/>
          </a:prstGeom>
          <a:noFill/>
        </p:spPr>
        <p:txBody>
          <a:bodyPr wrap="none" rtlCol="0">
            <a:spAutoFit/>
          </a:bodyPr>
          <a:lstStyle/>
          <a:p>
            <a:r>
              <a:rPr lang="zh-CN" altLang="en-US" dirty="0">
                <a:solidFill>
                  <a:srgbClr val="FF0000"/>
                </a:solidFill>
              </a:rPr>
              <a:t>工具栏</a:t>
            </a:r>
          </a:p>
        </p:txBody>
      </p:sp>
      <p:cxnSp>
        <p:nvCxnSpPr>
          <p:cNvPr id="30" name="直接箭头连接符 29">
            <a:extLst>
              <a:ext uri="{FF2B5EF4-FFF2-40B4-BE49-F238E27FC236}">
                <a16:creationId xmlns:a16="http://schemas.microsoft.com/office/drawing/2014/main" id="{925C2D80-5DE3-C155-8251-817BA61D68DD}"/>
              </a:ext>
            </a:extLst>
          </p:cNvPr>
          <p:cNvCxnSpPr>
            <a:cxnSpLocks/>
          </p:cNvCxnSpPr>
          <p:nvPr/>
        </p:nvCxnSpPr>
        <p:spPr bwMode="auto">
          <a:xfrm>
            <a:off x="1918843" y="2875280"/>
            <a:ext cx="2240872" cy="0"/>
          </a:xfrm>
          <a:prstGeom prst="straightConnector1">
            <a:avLst/>
          </a:prstGeom>
          <a:solidFill>
            <a:schemeClr val="accent1"/>
          </a:solidFill>
          <a:ln w="9525" cap="flat" cmpd="sng" algn="ctr">
            <a:solidFill>
              <a:srgbClr val="FF0000"/>
            </a:solidFill>
            <a:prstDash val="solid"/>
            <a:round/>
            <a:headEnd type="none" w="med" len="med"/>
            <a:tailEnd type="triangle"/>
          </a:ln>
        </p:spPr>
      </p:cxnSp>
      <p:sp>
        <p:nvSpPr>
          <p:cNvPr id="33" name="文本框 32">
            <a:extLst>
              <a:ext uri="{FF2B5EF4-FFF2-40B4-BE49-F238E27FC236}">
                <a16:creationId xmlns:a16="http://schemas.microsoft.com/office/drawing/2014/main" id="{143A0444-2A55-BE7D-7F35-7B0CDD99FDC5}"/>
              </a:ext>
            </a:extLst>
          </p:cNvPr>
          <p:cNvSpPr txBox="1"/>
          <p:nvPr/>
        </p:nvSpPr>
        <p:spPr>
          <a:xfrm>
            <a:off x="995713" y="2722294"/>
            <a:ext cx="877163" cy="369332"/>
          </a:xfrm>
          <a:prstGeom prst="rect">
            <a:avLst/>
          </a:prstGeom>
          <a:noFill/>
        </p:spPr>
        <p:txBody>
          <a:bodyPr wrap="none" rtlCol="0">
            <a:spAutoFit/>
          </a:bodyPr>
          <a:lstStyle/>
          <a:p>
            <a:r>
              <a:rPr lang="zh-CN" altLang="en-US" dirty="0">
                <a:solidFill>
                  <a:srgbClr val="FF0000"/>
                </a:solidFill>
              </a:rPr>
              <a:t>编辑区</a:t>
            </a:r>
          </a:p>
        </p:txBody>
      </p:sp>
      <p:cxnSp>
        <p:nvCxnSpPr>
          <p:cNvPr id="34" name="直接箭头连接符 33">
            <a:extLst>
              <a:ext uri="{FF2B5EF4-FFF2-40B4-BE49-F238E27FC236}">
                <a16:creationId xmlns:a16="http://schemas.microsoft.com/office/drawing/2014/main" id="{7F3DFA48-7F4C-3F45-D1DE-447873EE108D}"/>
              </a:ext>
            </a:extLst>
          </p:cNvPr>
          <p:cNvCxnSpPr>
            <a:cxnSpLocks/>
          </p:cNvCxnSpPr>
          <p:nvPr/>
        </p:nvCxnSpPr>
        <p:spPr bwMode="auto">
          <a:xfrm>
            <a:off x="1958043" y="4947920"/>
            <a:ext cx="2240872" cy="0"/>
          </a:xfrm>
          <a:prstGeom prst="straightConnector1">
            <a:avLst/>
          </a:prstGeom>
          <a:solidFill>
            <a:schemeClr val="accent1"/>
          </a:solidFill>
          <a:ln w="9525" cap="flat" cmpd="sng" algn="ctr">
            <a:solidFill>
              <a:srgbClr val="FF0000"/>
            </a:solidFill>
            <a:prstDash val="solid"/>
            <a:round/>
            <a:headEnd type="none" w="med" len="med"/>
            <a:tailEnd type="triangle"/>
          </a:ln>
        </p:spPr>
      </p:cxnSp>
      <p:sp>
        <p:nvSpPr>
          <p:cNvPr id="35" name="文本框 34">
            <a:extLst>
              <a:ext uri="{FF2B5EF4-FFF2-40B4-BE49-F238E27FC236}">
                <a16:creationId xmlns:a16="http://schemas.microsoft.com/office/drawing/2014/main" id="{FDCBA73D-0A74-30B0-D439-20DD91FC7240}"/>
              </a:ext>
            </a:extLst>
          </p:cNvPr>
          <p:cNvSpPr txBox="1"/>
          <p:nvPr/>
        </p:nvSpPr>
        <p:spPr>
          <a:xfrm>
            <a:off x="1036147" y="4763254"/>
            <a:ext cx="1107996" cy="369332"/>
          </a:xfrm>
          <a:prstGeom prst="rect">
            <a:avLst/>
          </a:prstGeom>
          <a:noFill/>
        </p:spPr>
        <p:txBody>
          <a:bodyPr wrap="none" rtlCol="0">
            <a:spAutoFit/>
          </a:bodyPr>
          <a:lstStyle/>
          <a:p>
            <a:r>
              <a:rPr lang="zh-CN" altLang="en-US" dirty="0">
                <a:solidFill>
                  <a:srgbClr val="FF0000"/>
                </a:solidFill>
              </a:rPr>
              <a:t>底部窗口</a:t>
            </a:r>
          </a:p>
        </p:txBody>
      </p:sp>
      <p:cxnSp>
        <p:nvCxnSpPr>
          <p:cNvPr id="36" name="直接箭头连接符 35">
            <a:extLst>
              <a:ext uri="{FF2B5EF4-FFF2-40B4-BE49-F238E27FC236}">
                <a16:creationId xmlns:a16="http://schemas.microsoft.com/office/drawing/2014/main" id="{DB9465B7-5A2E-856B-F6A6-F83B18783C94}"/>
              </a:ext>
            </a:extLst>
          </p:cNvPr>
          <p:cNvCxnSpPr>
            <a:cxnSpLocks/>
          </p:cNvCxnSpPr>
          <p:nvPr/>
        </p:nvCxnSpPr>
        <p:spPr bwMode="auto">
          <a:xfrm flipV="1">
            <a:off x="8244035" y="2346960"/>
            <a:ext cx="0" cy="696853"/>
          </a:xfrm>
          <a:prstGeom prst="straightConnector1">
            <a:avLst/>
          </a:prstGeom>
          <a:solidFill>
            <a:schemeClr val="accent1"/>
          </a:solidFill>
          <a:ln w="9525" cap="flat" cmpd="sng" algn="ctr">
            <a:solidFill>
              <a:srgbClr val="FF0000"/>
            </a:solidFill>
            <a:prstDash val="solid"/>
            <a:round/>
            <a:headEnd type="none" w="med" len="med"/>
            <a:tailEnd type="triangle"/>
          </a:ln>
        </p:spPr>
      </p:cxnSp>
      <p:sp>
        <p:nvSpPr>
          <p:cNvPr id="39" name="文本框 38">
            <a:extLst>
              <a:ext uri="{FF2B5EF4-FFF2-40B4-BE49-F238E27FC236}">
                <a16:creationId xmlns:a16="http://schemas.microsoft.com/office/drawing/2014/main" id="{6FFEFE19-1725-0761-ECE4-7413A088CAA1}"/>
              </a:ext>
            </a:extLst>
          </p:cNvPr>
          <p:cNvSpPr txBox="1"/>
          <p:nvPr/>
        </p:nvSpPr>
        <p:spPr>
          <a:xfrm>
            <a:off x="7276697" y="3043813"/>
            <a:ext cx="1338828" cy="369332"/>
          </a:xfrm>
          <a:prstGeom prst="rect">
            <a:avLst/>
          </a:prstGeom>
          <a:noFill/>
        </p:spPr>
        <p:txBody>
          <a:bodyPr wrap="none" rtlCol="0">
            <a:spAutoFit/>
          </a:bodyPr>
          <a:lstStyle/>
          <a:p>
            <a:r>
              <a:rPr lang="zh-CN" altLang="en-US" dirty="0">
                <a:solidFill>
                  <a:srgbClr val="FF0000"/>
                </a:solidFill>
              </a:rPr>
              <a:t>波形绘制器</a:t>
            </a:r>
          </a:p>
        </p:txBody>
      </p:sp>
    </p:spTree>
  </p:cSld>
  <p:clrMapOvr>
    <a:masterClrMapping/>
  </p:clrMapOvr>
  <p:transition>
    <p:cover dir="d"/>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en-US" altLang="zh-CN" dirty="0"/>
              <a:t>Arduino</a:t>
            </a:r>
            <a:r>
              <a:rPr lang="zh-CN" altLang="en-US" dirty="0"/>
              <a:t>开发</a:t>
            </a:r>
          </a:p>
        </p:txBody>
      </p:sp>
      <p:sp>
        <p:nvSpPr>
          <p:cNvPr id="3" name="内容占位符 2"/>
          <p:cNvSpPr>
            <a:spLocks noGrp="1"/>
          </p:cNvSpPr>
          <p:nvPr>
            <p:ph idx="1"/>
          </p:nvPr>
        </p:nvSpPr>
        <p:spPr/>
        <p:txBody>
          <a:bodyPr/>
          <a:lstStyle/>
          <a:p>
            <a:r>
              <a:rPr lang="zh-CN" altLang="en-US" dirty="0"/>
              <a:t>通过</a:t>
            </a:r>
            <a:r>
              <a:rPr lang="en-US" altLang="zh-CN" dirty="0"/>
              <a:t>USB</a:t>
            </a:r>
            <a:r>
              <a:rPr lang="zh-CN" altLang="en-US" dirty="0"/>
              <a:t>连接电脑</a:t>
            </a:r>
            <a:endParaRPr lang="en-US" altLang="zh-CN" dirty="0"/>
          </a:p>
          <a:p>
            <a:r>
              <a:rPr lang="zh-CN" altLang="en-US" dirty="0"/>
              <a:t>在</a:t>
            </a:r>
            <a:r>
              <a:rPr lang="en-US" altLang="zh-CN" dirty="0"/>
              <a:t>Arduino IDE</a:t>
            </a:r>
            <a:r>
              <a:rPr lang="zh-CN" altLang="en-US" dirty="0"/>
              <a:t>上选择正确开发板和串口</a:t>
            </a:r>
            <a:endParaRPr lang="en-US" altLang="zh-CN" dirty="0"/>
          </a:p>
          <a:p>
            <a:r>
              <a:rPr lang="zh-CN" altLang="en-US" dirty="0"/>
              <a:t>编写代码</a:t>
            </a:r>
            <a:endParaRPr lang="en-US" altLang="zh-CN" dirty="0"/>
          </a:p>
          <a:p>
            <a:r>
              <a:rPr lang="zh-CN" altLang="en-US" dirty="0"/>
              <a:t>编译上传</a:t>
            </a:r>
            <a:endParaRPr lang="en-US" altLang="zh-CN" dirty="0"/>
          </a:p>
          <a:p>
            <a:endParaRPr lang="zh-CN" altLang="en-US" dirty="0"/>
          </a:p>
        </p:txBody>
      </p:sp>
    </p:spTree>
  </p:cSld>
  <p:clrMapOvr>
    <a:masterClrMapping/>
  </p:clrMapOvr>
  <p:transition>
    <p:cover dir="d"/>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en-US" dirty="0"/>
              <a:t>加载第一个程序</a:t>
            </a:r>
          </a:p>
        </p:txBody>
      </p:sp>
      <p:sp>
        <p:nvSpPr>
          <p:cNvPr id="3" name="内容占位符 2"/>
          <p:cNvSpPr>
            <a:spLocks noGrp="1"/>
          </p:cNvSpPr>
          <p:nvPr>
            <p:ph idx="1"/>
          </p:nvPr>
        </p:nvSpPr>
        <p:spPr/>
        <p:txBody>
          <a:bodyPr/>
          <a:lstStyle/>
          <a:p>
            <a:pPr marL="0" indent="0">
              <a:buNone/>
            </a:pPr>
            <a:endParaRPr lang="en-US" altLang="zh-CN" sz="2000" dirty="0"/>
          </a:p>
          <a:p>
            <a:pPr marL="0" indent="0">
              <a:buNone/>
            </a:pPr>
            <a:r>
              <a:rPr lang="en-US" altLang="zh-CN" sz="2000" dirty="0"/>
              <a:t>void setup() {</a:t>
            </a:r>
          </a:p>
          <a:p>
            <a:pPr marL="0" indent="0">
              <a:buNone/>
            </a:pPr>
            <a:r>
              <a:rPr lang="en-US" altLang="zh-CN" sz="2000" dirty="0"/>
              <a:t>  // put your setup code here, to run once:</a:t>
            </a:r>
          </a:p>
          <a:p>
            <a:pPr marL="0" indent="0">
              <a:buNone/>
            </a:pPr>
            <a:endParaRPr lang="en-US" altLang="zh-CN" sz="2000" dirty="0"/>
          </a:p>
          <a:p>
            <a:pPr marL="0" indent="0">
              <a:buNone/>
            </a:pPr>
            <a:r>
              <a:rPr lang="en-US" altLang="zh-CN" sz="2000" dirty="0"/>
              <a:t>}</a:t>
            </a:r>
          </a:p>
          <a:p>
            <a:pPr marL="0" indent="0">
              <a:buNone/>
            </a:pPr>
            <a:r>
              <a:rPr lang="en-US" altLang="zh-CN" sz="2000" dirty="0"/>
              <a:t>void loop() {</a:t>
            </a:r>
          </a:p>
          <a:p>
            <a:pPr marL="0" indent="0">
              <a:buNone/>
            </a:pPr>
            <a:r>
              <a:rPr lang="en-US" altLang="zh-CN" sz="2000" dirty="0"/>
              <a:t>  // put your main code here, to run repeatedly:</a:t>
            </a:r>
          </a:p>
          <a:p>
            <a:pPr marL="0" indent="0">
              <a:buNone/>
            </a:pPr>
            <a:endParaRPr lang="en-US" altLang="zh-CN" sz="2000" dirty="0"/>
          </a:p>
          <a:p>
            <a:pPr marL="0" indent="0">
              <a:buNone/>
            </a:pPr>
            <a:r>
              <a:rPr lang="en-US" altLang="zh-CN" sz="2000" dirty="0"/>
              <a:t>}</a:t>
            </a:r>
            <a:endParaRPr lang="zh-CN" altLang="en-US" sz="2000" dirty="0"/>
          </a:p>
        </p:txBody>
      </p:sp>
      <p:sp>
        <p:nvSpPr>
          <p:cNvPr id="4" name="文本框 3"/>
          <p:cNvSpPr txBox="1"/>
          <p:nvPr/>
        </p:nvSpPr>
        <p:spPr>
          <a:xfrm>
            <a:off x="685800" y="1971794"/>
            <a:ext cx="2423160" cy="400110"/>
          </a:xfrm>
          <a:prstGeom prst="rect">
            <a:avLst/>
          </a:prstGeom>
          <a:solidFill>
            <a:schemeClr val="bg1">
              <a:lumMod val="85000"/>
            </a:schemeClr>
          </a:solidFill>
        </p:spPr>
        <p:txBody>
          <a:bodyPr wrap="square" rtlCol="0">
            <a:spAutoFit/>
          </a:bodyPr>
          <a:lstStyle/>
          <a:p>
            <a:r>
              <a:rPr lang="zh-CN" altLang="en-US" sz="2000" b="1" dirty="0"/>
              <a:t>最小的</a:t>
            </a:r>
            <a:r>
              <a:rPr lang="en-US" altLang="zh-CN" sz="2000" b="1" dirty="0"/>
              <a:t>Arduino</a:t>
            </a:r>
            <a:r>
              <a:rPr lang="zh-CN" altLang="en-US" sz="2000" b="1" dirty="0"/>
              <a:t>程序</a:t>
            </a:r>
            <a:endParaRPr lang="en-US" altLang="zh-CN" sz="2000" b="1" dirty="0"/>
          </a:p>
        </p:txBody>
      </p:sp>
    </p:spTree>
  </p:cSld>
  <p:clrMapOvr>
    <a:masterClrMapping/>
  </p:clrMapOvr>
  <p:transition>
    <p:cover dir="d"/>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en-US" dirty="0"/>
              <a:t>加载第一个程序</a:t>
            </a:r>
          </a:p>
        </p:txBody>
      </p:sp>
      <p:sp>
        <p:nvSpPr>
          <p:cNvPr id="3" name="内容占位符 2"/>
          <p:cNvSpPr>
            <a:spLocks noGrp="1"/>
          </p:cNvSpPr>
          <p:nvPr>
            <p:ph idx="1"/>
          </p:nvPr>
        </p:nvSpPr>
        <p:spPr/>
        <p:txBody>
          <a:bodyPr/>
          <a:lstStyle/>
          <a:p>
            <a:pPr marL="0" indent="0">
              <a:buNone/>
            </a:pPr>
            <a:endParaRPr lang="en-US" altLang="zh-CN" sz="1800" dirty="0"/>
          </a:p>
          <a:p>
            <a:pPr marL="0" indent="0">
              <a:buNone/>
            </a:pPr>
            <a:r>
              <a:rPr lang="en-US" altLang="zh-CN" sz="1800" dirty="0"/>
              <a:t>void setup(void); //setup()</a:t>
            </a:r>
            <a:r>
              <a:rPr lang="zh-CN" altLang="en-US" sz="1800" dirty="0"/>
              <a:t>函数原型</a:t>
            </a:r>
          </a:p>
          <a:p>
            <a:pPr marL="0" indent="0">
              <a:buNone/>
            </a:pPr>
            <a:r>
              <a:rPr lang="en-US" altLang="zh-CN" sz="1800" dirty="0"/>
              <a:t>void loop(void); //loop()</a:t>
            </a:r>
            <a:r>
              <a:rPr lang="zh-CN" altLang="en-US" sz="1800" dirty="0"/>
              <a:t>函数原型</a:t>
            </a:r>
          </a:p>
          <a:p>
            <a:pPr marL="0" indent="0">
              <a:buNone/>
            </a:pPr>
            <a:endParaRPr lang="zh-CN" altLang="en-US" sz="1800" dirty="0"/>
          </a:p>
          <a:p>
            <a:pPr marL="0" indent="0">
              <a:buNone/>
            </a:pPr>
            <a:r>
              <a:rPr lang="en-US" altLang="zh-CN" sz="1800" dirty="0" err="1"/>
              <a:t>int</a:t>
            </a:r>
            <a:r>
              <a:rPr lang="en-US" altLang="zh-CN" sz="1800" dirty="0"/>
              <a:t> main(void) {</a:t>
            </a:r>
          </a:p>
          <a:p>
            <a:pPr marL="0" indent="0">
              <a:buNone/>
            </a:pPr>
            <a:r>
              <a:rPr lang="en-US" altLang="zh-CN" sz="1800" dirty="0"/>
              <a:t>	setup(); //</a:t>
            </a:r>
            <a:r>
              <a:rPr lang="zh-CN" altLang="en-US" sz="1800" dirty="0"/>
              <a:t>按需执行一次的初始化</a:t>
            </a:r>
          </a:p>
          <a:p>
            <a:pPr marL="0" indent="0">
              <a:buNone/>
            </a:pPr>
            <a:r>
              <a:rPr lang="zh-CN" altLang="en-US" sz="1800" dirty="0"/>
              <a:t>	</a:t>
            </a:r>
            <a:r>
              <a:rPr lang="en-US" altLang="zh-CN" sz="1800" dirty="0"/>
              <a:t>while(1) {</a:t>
            </a:r>
          </a:p>
          <a:p>
            <a:pPr marL="0" indent="0">
              <a:buNone/>
            </a:pPr>
            <a:r>
              <a:rPr lang="en-US" altLang="zh-CN" sz="1800" dirty="0"/>
              <a:t>		loop(); //</a:t>
            </a:r>
            <a:r>
              <a:rPr lang="zh-CN" altLang="en-US" sz="1800" dirty="0"/>
              <a:t>不断地重复执行</a:t>
            </a:r>
          </a:p>
          <a:p>
            <a:pPr marL="0" indent="0">
              <a:buNone/>
            </a:pPr>
            <a:r>
              <a:rPr lang="zh-CN" altLang="en-US" sz="1800" dirty="0"/>
              <a:t>	</a:t>
            </a:r>
            <a:r>
              <a:rPr lang="en-US" altLang="zh-CN" sz="1800" dirty="0"/>
              <a:t>}</a:t>
            </a:r>
          </a:p>
          <a:p>
            <a:pPr marL="0" indent="0">
              <a:buNone/>
            </a:pPr>
            <a:r>
              <a:rPr lang="en-US" altLang="zh-CN" sz="1800" dirty="0"/>
              <a:t>	return 0</a:t>
            </a:r>
            <a:r>
              <a:rPr lang="zh-CN" altLang="en-US" sz="1800" dirty="0"/>
              <a:t>； </a:t>
            </a:r>
            <a:r>
              <a:rPr lang="en-US" altLang="zh-CN" sz="1800" dirty="0"/>
              <a:t>//</a:t>
            </a:r>
            <a:r>
              <a:rPr lang="zh-CN" altLang="en-US" sz="1800" dirty="0"/>
              <a:t>这句永远不会发生</a:t>
            </a:r>
          </a:p>
          <a:p>
            <a:pPr marL="0" indent="0">
              <a:buNone/>
            </a:pPr>
            <a:r>
              <a:rPr lang="en-US" altLang="zh-CN" sz="1800" dirty="0"/>
              <a:t>}</a:t>
            </a:r>
            <a:endParaRPr lang="zh-CN" altLang="en-US" sz="1800" dirty="0"/>
          </a:p>
        </p:txBody>
      </p:sp>
      <p:sp>
        <p:nvSpPr>
          <p:cNvPr id="4" name="文本框 3"/>
          <p:cNvSpPr txBox="1"/>
          <p:nvPr/>
        </p:nvSpPr>
        <p:spPr>
          <a:xfrm>
            <a:off x="685800" y="1897380"/>
            <a:ext cx="4423410" cy="400110"/>
          </a:xfrm>
          <a:prstGeom prst="rect">
            <a:avLst/>
          </a:prstGeom>
          <a:solidFill>
            <a:schemeClr val="bg1">
              <a:lumMod val="85000"/>
            </a:schemeClr>
          </a:solidFill>
        </p:spPr>
        <p:txBody>
          <a:bodyPr wrap="square" rtlCol="0">
            <a:spAutoFit/>
          </a:bodyPr>
          <a:lstStyle/>
          <a:p>
            <a:r>
              <a:rPr lang="zh-CN" altLang="en-US" sz="2000" b="1" dirty="0"/>
              <a:t>设想的每个</a:t>
            </a:r>
            <a:r>
              <a:rPr lang="en-US" altLang="zh-CN" sz="2000" b="1" dirty="0"/>
              <a:t>Arduino</a:t>
            </a:r>
            <a:r>
              <a:rPr lang="zh-CN" altLang="en-US" sz="2000" b="1" dirty="0"/>
              <a:t>程序背后的</a:t>
            </a:r>
            <a:r>
              <a:rPr lang="en-US" altLang="zh-CN" sz="2000" b="1" dirty="0"/>
              <a:t>C</a:t>
            </a:r>
            <a:r>
              <a:rPr lang="zh-CN" altLang="en-US" sz="2000" b="1" dirty="0"/>
              <a:t>代码</a:t>
            </a:r>
          </a:p>
        </p:txBody>
      </p:sp>
    </p:spTree>
  </p:cSld>
  <p:clrMapOvr>
    <a:masterClrMapping/>
  </p:clrMapOvr>
  <p:transition>
    <p:cover dir="d"/>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en-US" dirty="0"/>
              <a:t>加载第一个程序</a:t>
            </a:r>
          </a:p>
        </p:txBody>
      </p:sp>
      <p:sp>
        <p:nvSpPr>
          <p:cNvPr id="3" name="内容占位符 2"/>
          <p:cNvSpPr>
            <a:spLocks noGrp="1"/>
          </p:cNvSpPr>
          <p:nvPr>
            <p:ph idx="1"/>
          </p:nvPr>
        </p:nvSpPr>
        <p:spPr/>
        <p:txBody>
          <a:bodyPr/>
          <a:lstStyle/>
          <a:p>
            <a:pPr marL="0" indent="0">
              <a:buNone/>
            </a:pPr>
            <a:endParaRPr lang="en-US" altLang="zh-CN" sz="1800" dirty="0"/>
          </a:p>
          <a:p>
            <a:pPr marL="0" indent="0">
              <a:buNone/>
            </a:pPr>
            <a:endParaRPr lang="en-US" altLang="zh-CN" sz="1800" dirty="0"/>
          </a:p>
          <a:p>
            <a:pPr marL="0" indent="0">
              <a:buNone/>
            </a:pPr>
            <a:r>
              <a:rPr lang="en-US" altLang="zh-CN" sz="1800" dirty="0"/>
              <a:t>#include &lt;</a:t>
            </a:r>
            <a:r>
              <a:rPr lang="en-US" altLang="zh-CN" sz="1800" dirty="0" err="1"/>
              <a:t>stdio.h</a:t>
            </a:r>
            <a:r>
              <a:rPr lang="en-US" altLang="zh-CN" sz="1800" dirty="0"/>
              <a:t>&gt;</a:t>
            </a:r>
          </a:p>
          <a:p>
            <a:pPr marL="0" indent="0">
              <a:buNone/>
            </a:pPr>
            <a:endParaRPr lang="zh-CN" altLang="zh-CN" sz="1800" dirty="0"/>
          </a:p>
          <a:p>
            <a:pPr marL="0" indent="0">
              <a:buNone/>
            </a:pPr>
            <a:r>
              <a:rPr lang="en-US" altLang="zh-CN" sz="1800" dirty="0"/>
              <a:t>main()</a:t>
            </a:r>
            <a:endParaRPr lang="zh-CN" altLang="zh-CN" sz="1800" dirty="0"/>
          </a:p>
          <a:p>
            <a:pPr marL="0" indent="0">
              <a:buNone/>
            </a:pPr>
            <a:r>
              <a:rPr lang="en-US" altLang="zh-CN" sz="1800" dirty="0"/>
              <a:t>{</a:t>
            </a:r>
            <a:endParaRPr lang="zh-CN" altLang="zh-CN" sz="1800" dirty="0"/>
          </a:p>
          <a:p>
            <a:pPr marL="0" indent="0">
              <a:buNone/>
            </a:pPr>
            <a:r>
              <a:rPr lang="en-US" altLang="zh-CN" sz="1800" dirty="0"/>
              <a:t>	</a:t>
            </a:r>
            <a:r>
              <a:rPr lang="en-US" altLang="zh-CN" sz="1800" dirty="0" err="1"/>
              <a:t>printf</a:t>
            </a:r>
            <a:r>
              <a:rPr lang="en-US" altLang="zh-CN" sz="1800" dirty="0"/>
              <a:t>(“hello world\n”);</a:t>
            </a:r>
            <a:endParaRPr lang="zh-CN" altLang="zh-CN" sz="1800" dirty="0"/>
          </a:p>
          <a:p>
            <a:pPr marL="0" indent="0">
              <a:buNone/>
            </a:pPr>
            <a:r>
              <a:rPr lang="en-US" altLang="zh-CN" sz="1800" dirty="0"/>
              <a:t>}</a:t>
            </a:r>
            <a:endParaRPr lang="zh-CN" altLang="zh-CN" sz="1800" dirty="0"/>
          </a:p>
          <a:p>
            <a:pPr marL="0" indent="0">
              <a:buNone/>
            </a:pPr>
            <a:endParaRPr lang="zh-CN" altLang="en-US" dirty="0"/>
          </a:p>
        </p:txBody>
      </p:sp>
      <p:sp>
        <p:nvSpPr>
          <p:cNvPr id="4" name="文本框 3"/>
          <p:cNvSpPr txBox="1"/>
          <p:nvPr/>
        </p:nvSpPr>
        <p:spPr>
          <a:xfrm>
            <a:off x="777240" y="1981200"/>
            <a:ext cx="2217420" cy="400110"/>
          </a:xfrm>
          <a:prstGeom prst="rect">
            <a:avLst/>
          </a:prstGeom>
          <a:solidFill>
            <a:schemeClr val="bg1">
              <a:lumMod val="85000"/>
            </a:schemeClr>
          </a:solidFill>
        </p:spPr>
        <p:txBody>
          <a:bodyPr wrap="square" rtlCol="0">
            <a:spAutoFit/>
          </a:bodyPr>
          <a:lstStyle/>
          <a:p>
            <a:r>
              <a:rPr lang="en-US" altLang="zh-CN" sz="2000" b="1" dirty="0"/>
              <a:t>C</a:t>
            </a:r>
            <a:r>
              <a:rPr lang="zh-CN" altLang="en-US" sz="2000" b="1" dirty="0"/>
              <a:t>语言向世界问好</a:t>
            </a:r>
          </a:p>
        </p:txBody>
      </p:sp>
    </p:spTree>
  </p:cSld>
  <p:clrMapOvr>
    <a:masterClrMapping/>
  </p:clrMapOvr>
  <p:transition>
    <p:cover dir="d"/>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en-US" dirty="0"/>
              <a:t>加载第一个程序</a:t>
            </a:r>
          </a:p>
        </p:txBody>
      </p:sp>
      <p:sp>
        <p:nvSpPr>
          <p:cNvPr id="3" name="内容占位符 2"/>
          <p:cNvSpPr>
            <a:spLocks noGrp="1"/>
          </p:cNvSpPr>
          <p:nvPr>
            <p:ph idx="1"/>
          </p:nvPr>
        </p:nvSpPr>
        <p:spPr/>
        <p:txBody>
          <a:bodyPr/>
          <a:lstStyle/>
          <a:p>
            <a:pPr marL="0" indent="0">
              <a:buNone/>
            </a:pPr>
            <a:endParaRPr lang="en-US" altLang="zh-CN" sz="1800" dirty="0"/>
          </a:p>
          <a:p>
            <a:pPr marL="0" indent="0">
              <a:buNone/>
            </a:pPr>
            <a:endParaRPr lang="en-US" altLang="zh-CN" sz="1800" dirty="0"/>
          </a:p>
          <a:p>
            <a:pPr marL="0" indent="0">
              <a:buNone/>
            </a:pPr>
            <a:r>
              <a:rPr lang="en-US" altLang="zh-CN" sz="1800" dirty="0"/>
              <a:t>void setup() {</a:t>
            </a:r>
          </a:p>
          <a:p>
            <a:pPr marL="0" indent="0">
              <a:buNone/>
            </a:pPr>
            <a:r>
              <a:rPr lang="en-US" altLang="zh-CN" sz="1800" dirty="0"/>
              <a:t>  </a:t>
            </a:r>
            <a:r>
              <a:rPr lang="en-US" altLang="zh-CN" sz="1800" dirty="0" err="1"/>
              <a:t>Serial.begin</a:t>
            </a:r>
            <a:r>
              <a:rPr lang="en-US" altLang="zh-CN" sz="1800" dirty="0"/>
              <a:t>(9600);//</a:t>
            </a:r>
            <a:r>
              <a:rPr lang="zh-CN" altLang="en-US" sz="1800" dirty="0"/>
              <a:t>开启串口，设定波特率为</a:t>
            </a:r>
            <a:r>
              <a:rPr lang="en-US" altLang="zh-CN" sz="1800" dirty="0"/>
              <a:t>9600</a:t>
            </a:r>
          </a:p>
          <a:p>
            <a:pPr marL="0" indent="0">
              <a:buNone/>
            </a:pPr>
            <a:r>
              <a:rPr lang="en-US" altLang="zh-CN" sz="1800" dirty="0"/>
              <a:t>  </a:t>
            </a:r>
            <a:r>
              <a:rPr lang="en-US" altLang="zh-CN" sz="1800" dirty="0" err="1"/>
              <a:t>Serial.println</a:t>
            </a:r>
            <a:r>
              <a:rPr lang="en-US" altLang="zh-CN" sz="1800" dirty="0"/>
              <a:t>("Hello, world!"); //</a:t>
            </a:r>
            <a:r>
              <a:rPr lang="zh-CN" altLang="en-US" sz="1800" dirty="0"/>
              <a:t>打印</a:t>
            </a:r>
          </a:p>
          <a:p>
            <a:pPr marL="0" indent="0">
              <a:buNone/>
            </a:pPr>
            <a:r>
              <a:rPr lang="en-US" altLang="zh-CN" sz="1800" dirty="0"/>
              <a:t>}</a:t>
            </a:r>
          </a:p>
          <a:p>
            <a:pPr marL="0" indent="0">
              <a:buNone/>
            </a:pPr>
            <a:r>
              <a:rPr lang="en-US" altLang="zh-CN" sz="1800" dirty="0"/>
              <a:t>void loop() {</a:t>
            </a:r>
          </a:p>
          <a:p>
            <a:pPr marL="0" indent="0">
              <a:buNone/>
            </a:pPr>
            <a:r>
              <a:rPr lang="en-US" altLang="zh-CN" sz="1800" dirty="0"/>
              <a:t>}</a:t>
            </a:r>
          </a:p>
          <a:p>
            <a:pPr marL="0" indent="0">
              <a:buNone/>
            </a:pPr>
            <a:endParaRPr lang="zh-CN" altLang="en-US" dirty="0"/>
          </a:p>
        </p:txBody>
      </p:sp>
      <p:sp>
        <p:nvSpPr>
          <p:cNvPr id="4" name="文本框 3"/>
          <p:cNvSpPr txBox="1"/>
          <p:nvPr/>
        </p:nvSpPr>
        <p:spPr>
          <a:xfrm>
            <a:off x="685800" y="1567934"/>
            <a:ext cx="2171700" cy="369332"/>
          </a:xfrm>
          <a:prstGeom prst="rect">
            <a:avLst/>
          </a:prstGeom>
          <a:solidFill>
            <a:schemeClr val="bg1">
              <a:lumMod val="85000"/>
            </a:schemeClr>
          </a:solidFill>
        </p:spPr>
        <p:txBody>
          <a:bodyPr wrap="square" rtlCol="0">
            <a:spAutoFit/>
          </a:bodyPr>
          <a:lstStyle/>
          <a:p>
            <a:r>
              <a:rPr lang="zh-CN" altLang="en-US" b="1" dirty="0"/>
              <a:t>新的“</a:t>
            </a:r>
            <a:r>
              <a:rPr lang="en-US" altLang="zh-CN" b="1" dirty="0"/>
              <a:t>Hello, world</a:t>
            </a:r>
            <a:r>
              <a:rPr lang="zh-CN" altLang="en-US" b="1" dirty="0"/>
              <a:t>”</a:t>
            </a:r>
            <a:endParaRPr lang="en-US" altLang="zh-CN" b="1" dirty="0"/>
          </a:p>
        </p:txBody>
      </p:sp>
      <p:pic>
        <p:nvPicPr>
          <p:cNvPr id="6" name="图片 5">
            <a:extLst>
              <a:ext uri="{FF2B5EF4-FFF2-40B4-BE49-F238E27FC236}">
                <a16:creationId xmlns:a16="http://schemas.microsoft.com/office/drawing/2014/main" id="{0393BB33-CEA4-0A3B-1CB6-0B3DC56A0A13}"/>
              </a:ext>
            </a:extLst>
          </p:cNvPr>
          <p:cNvPicPr>
            <a:picLocks noChangeAspect="1"/>
          </p:cNvPicPr>
          <p:nvPr/>
        </p:nvPicPr>
        <p:blipFill>
          <a:blip r:embed="rId2"/>
          <a:stretch>
            <a:fillRect/>
          </a:stretch>
        </p:blipFill>
        <p:spPr>
          <a:xfrm>
            <a:off x="685800" y="1981200"/>
            <a:ext cx="6065519" cy="4386800"/>
          </a:xfrm>
          <a:prstGeom prst="rect">
            <a:avLst/>
          </a:prstGeom>
        </p:spPr>
      </p:pic>
    </p:spTree>
    <p:extLst>
      <p:ext uri="{BB962C8B-B14F-4D97-AF65-F5344CB8AC3E}">
        <p14:creationId xmlns:p14="http://schemas.microsoft.com/office/powerpoint/2010/main" val="1654294509"/>
      </p:ext>
    </p:extLst>
  </p:cSld>
  <p:clrMapOvr>
    <a:masterClrMapping/>
  </p:clrMapOvr>
  <p:transition>
    <p:cover dir="d"/>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97114" y="217715"/>
            <a:ext cx="7772400" cy="1143000"/>
          </a:xfrm>
        </p:spPr>
        <p:txBody>
          <a:bodyPr/>
          <a:lstStyle/>
          <a:p>
            <a:pPr algn="l"/>
            <a:r>
              <a:rPr lang="zh-CN" altLang="en-US" dirty="0"/>
              <a:t>常用串口通信函数</a:t>
            </a:r>
          </a:p>
        </p:txBody>
      </p:sp>
      <p:sp>
        <p:nvSpPr>
          <p:cNvPr id="3" name="内容占位符 2"/>
          <p:cNvSpPr>
            <a:spLocks noGrp="1"/>
          </p:cNvSpPr>
          <p:nvPr>
            <p:ph idx="1"/>
          </p:nvPr>
        </p:nvSpPr>
        <p:spPr>
          <a:xfrm>
            <a:off x="146756" y="1360715"/>
            <a:ext cx="8997243" cy="5141685"/>
          </a:xfrm>
        </p:spPr>
        <p:txBody>
          <a:bodyPr/>
          <a:lstStyle/>
          <a:p>
            <a:pPr lvl="0"/>
            <a:r>
              <a:rPr lang="en-US" altLang="zh-CN" dirty="0" err="1"/>
              <a:t>Serial.beigin</a:t>
            </a:r>
            <a:r>
              <a:rPr lang="en-US" altLang="zh-CN" dirty="0"/>
              <a:t>()</a:t>
            </a:r>
            <a:endParaRPr lang="zh-CN" altLang="zh-CN" dirty="0"/>
          </a:p>
          <a:p>
            <a:r>
              <a:rPr lang="zh-CN" altLang="zh-CN" dirty="0"/>
              <a:t>函数描述：开启串口，通常置于</a:t>
            </a:r>
            <a:r>
              <a:rPr lang="en-US" altLang="zh-CN" dirty="0"/>
              <a:t>setup()</a:t>
            </a:r>
            <a:r>
              <a:rPr lang="zh-CN" altLang="zh-CN" dirty="0"/>
              <a:t>函数中。</a:t>
            </a:r>
          </a:p>
          <a:p>
            <a:r>
              <a:rPr lang="zh-CN" altLang="zh-CN" dirty="0"/>
              <a:t>原型：</a:t>
            </a:r>
          </a:p>
          <a:p>
            <a:r>
              <a:rPr lang="en-US" altLang="zh-CN" dirty="0"/>
              <a:t># </a:t>
            </a:r>
            <a:r>
              <a:rPr lang="en-US" altLang="zh-CN" dirty="0" err="1"/>
              <a:t>Serial.begin</a:t>
            </a:r>
            <a:r>
              <a:rPr lang="en-US" altLang="zh-CN" dirty="0"/>
              <a:t>(speed);</a:t>
            </a:r>
            <a:endParaRPr lang="zh-CN" altLang="zh-CN" dirty="0"/>
          </a:p>
          <a:p>
            <a:r>
              <a:rPr lang="en-US" altLang="zh-CN" dirty="0"/>
              <a:t># </a:t>
            </a:r>
            <a:r>
              <a:rPr lang="en-US" altLang="zh-CN" dirty="0" err="1"/>
              <a:t>Serial.begin</a:t>
            </a:r>
            <a:r>
              <a:rPr lang="en-US" altLang="zh-CN" dirty="0"/>
              <a:t>(speed, config);</a:t>
            </a:r>
          </a:p>
          <a:p>
            <a:r>
              <a:rPr lang="en-US" altLang="zh-CN" dirty="0"/>
              <a:t>speed: </a:t>
            </a:r>
            <a:r>
              <a:rPr lang="zh-CN" altLang="en-US" dirty="0"/>
              <a:t>波特率，一般为</a:t>
            </a:r>
            <a:r>
              <a:rPr lang="en-US" altLang="zh-CN" dirty="0"/>
              <a:t>9600</a:t>
            </a:r>
            <a:r>
              <a:rPr lang="zh-CN" altLang="en-US" dirty="0"/>
              <a:t>，</a:t>
            </a:r>
            <a:r>
              <a:rPr lang="en-US" altLang="zh-CN" dirty="0"/>
              <a:t>57600</a:t>
            </a:r>
            <a:r>
              <a:rPr lang="zh-CN" altLang="en-US" dirty="0"/>
              <a:t>和</a:t>
            </a:r>
            <a:r>
              <a:rPr lang="en-US" altLang="zh-CN" dirty="0"/>
              <a:t>115200</a:t>
            </a:r>
          </a:p>
          <a:p>
            <a:r>
              <a:rPr lang="en-US" altLang="zh-CN" dirty="0"/>
              <a:t>config:</a:t>
            </a:r>
            <a:r>
              <a:rPr lang="zh-CN" altLang="en-US" dirty="0"/>
              <a:t>设置数据位、校验位和停止位。默认为</a:t>
            </a:r>
            <a:r>
              <a:rPr lang="en-US" altLang="zh-CN" dirty="0"/>
              <a:t>SERIAL_8N1</a:t>
            </a:r>
            <a:r>
              <a:rPr lang="zh-CN" altLang="en-US" dirty="0"/>
              <a:t>，其中</a:t>
            </a:r>
            <a:r>
              <a:rPr lang="en-US" altLang="zh-CN" dirty="0"/>
              <a:t>8</a:t>
            </a:r>
            <a:r>
              <a:rPr lang="zh-CN" altLang="en-US" dirty="0"/>
              <a:t>表示</a:t>
            </a:r>
            <a:r>
              <a:rPr lang="en-US" altLang="zh-CN" dirty="0"/>
              <a:t>8</a:t>
            </a:r>
            <a:r>
              <a:rPr lang="zh-CN" altLang="en-US" dirty="0"/>
              <a:t>个数据位，</a:t>
            </a:r>
            <a:r>
              <a:rPr lang="en-US" altLang="zh-CN" dirty="0"/>
              <a:t>N</a:t>
            </a:r>
            <a:r>
              <a:rPr lang="zh-CN" altLang="en-US" dirty="0"/>
              <a:t>表示无校验位，</a:t>
            </a:r>
            <a:r>
              <a:rPr lang="en-US" altLang="zh-CN" dirty="0"/>
              <a:t>1</a:t>
            </a:r>
            <a:r>
              <a:rPr lang="zh-CN" altLang="en-US" dirty="0"/>
              <a:t>表示有</a:t>
            </a:r>
            <a:r>
              <a:rPr lang="en-US" altLang="zh-CN" dirty="0"/>
              <a:t>1</a:t>
            </a:r>
            <a:r>
              <a:rPr lang="zh-CN" altLang="en-US" dirty="0"/>
              <a:t>个停止位。</a:t>
            </a:r>
            <a:endParaRPr lang="zh-CN" altLang="zh-CN" dirty="0"/>
          </a:p>
        </p:txBody>
      </p:sp>
    </p:spTree>
  </p:cSld>
  <p:clrMapOvr>
    <a:masterClrMapping/>
  </p:clrMapOvr>
  <p:transition>
    <p:cover dir="d"/>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97114" y="217715"/>
            <a:ext cx="7772400" cy="1143000"/>
          </a:xfrm>
        </p:spPr>
        <p:txBody>
          <a:bodyPr/>
          <a:lstStyle/>
          <a:p>
            <a:pPr algn="l"/>
            <a:r>
              <a:rPr lang="zh-CN" altLang="en-US" dirty="0"/>
              <a:t>常用串口通信函数</a:t>
            </a:r>
          </a:p>
        </p:txBody>
      </p:sp>
      <p:sp>
        <p:nvSpPr>
          <p:cNvPr id="3" name="内容占位符 2"/>
          <p:cNvSpPr>
            <a:spLocks noGrp="1"/>
          </p:cNvSpPr>
          <p:nvPr>
            <p:ph idx="1"/>
          </p:nvPr>
        </p:nvSpPr>
        <p:spPr>
          <a:xfrm>
            <a:off x="146756" y="1360715"/>
            <a:ext cx="8997243" cy="5141685"/>
          </a:xfrm>
        </p:spPr>
        <p:txBody>
          <a:bodyPr/>
          <a:lstStyle/>
          <a:p>
            <a:pPr lvl="0"/>
            <a:r>
              <a:rPr lang="en-US" altLang="zh-CN" dirty="0" err="1"/>
              <a:t>Serial.print</a:t>
            </a:r>
            <a:r>
              <a:rPr lang="en-US" altLang="zh-CN" dirty="0"/>
              <a:t>()</a:t>
            </a:r>
            <a:endParaRPr lang="zh-CN" altLang="zh-CN" dirty="0"/>
          </a:p>
          <a:p>
            <a:r>
              <a:rPr lang="zh-CN" altLang="zh-CN" dirty="0"/>
              <a:t>函数描述：用于串口输出数据，写入字符数据到串口。</a:t>
            </a:r>
          </a:p>
          <a:p>
            <a:r>
              <a:rPr lang="zh-CN" altLang="zh-CN" dirty="0"/>
              <a:t>原型：</a:t>
            </a:r>
          </a:p>
          <a:p>
            <a:r>
              <a:rPr lang="en-US" altLang="zh-CN" dirty="0"/>
              <a:t># </a:t>
            </a:r>
            <a:r>
              <a:rPr lang="en-US" altLang="zh-CN" dirty="0" err="1"/>
              <a:t>Serial.print</a:t>
            </a:r>
            <a:r>
              <a:rPr lang="en-US" altLang="zh-CN" dirty="0"/>
              <a:t>(</a:t>
            </a:r>
            <a:r>
              <a:rPr lang="en-US" altLang="zh-CN" dirty="0" err="1"/>
              <a:t>val</a:t>
            </a:r>
            <a:r>
              <a:rPr lang="en-US" altLang="zh-CN" dirty="0"/>
              <a:t>);</a:t>
            </a:r>
            <a:endParaRPr lang="zh-CN" altLang="zh-CN" dirty="0"/>
          </a:p>
          <a:p>
            <a:r>
              <a:rPr lang="en-US" altLang="zh-CN" dirty="0"/>
              <a:t># </a:t>
            </a:r>
            <a:r>
              <a:rPr lang="en-US" altLang="zh-CN" dirty="0" err="1"/>
              <a:t>Serial.print</a:t>
            </a:r>
            <a:r>
              <a:rPr lang="en-US" altLang="zh-CN" dirty="0"/>
              <a:t>(</a:t>
            </a:r>
            <a:r>
              <a:rPr lang="en-US" altLang="zh-CN" dirty="0" err="1"/>
              <a:t>val</a:t>
            </a:r>
            <a:r>
              <a:rPr lang="en-US" altLang="zh-CN" dirty="0"/>
              <a:t>, format);</a:t>
            </a:r>
          </a:p>
          <a:p>
            <a:r>
              <a:rPr lang="zh-CN" altLang="en-US" dirty="0"/>
              <a:t>例子：</a:t>
            </a:r>
            <a:endParaRPr lang="en-US" altLang="zh-CN" dirty="0"/>
          </a:p>
          <a:p>
            <a:r>
              <a:rPr lang="en-US" altLang="zh-CN" dirty="0"/>
              <a:t># </a:t>
            </a:r>
            <a:r>
              <a:rPr lang="en-US" altLang="zh-CN" dirty="0" err="1"/>
              <a:t>Serial.print</a:t>
            </a:r>
            <a:r>
              <a:rPr lang="en-US" altLang="zh-CN" dirty="0"/>
              <a:t>(78, BIN);		// </a:t>
            </a:r>
            <a:r>
              <a:rPr lang="zh-CN" altLang="zh-CN" dirty="0"/>
              <a:t>输出</a:t>
            </a:r>
            <a:r>
              <a:rPr lang="en-US" altLang="zh-CN" dirty="0"/>
              <a:t>"1001110"</a:t>
            </a:r>
            <a:endParaRPr lang="zh-CN" altLang="zh-CN" dirty="0"/>
          </a:p>
          <a:p>
            <a:r>
              <a:rPr lang="en-US" altLang="zh-CN" dirty="0"/>
              <a:t># </a:t>
            </a:r>
            <a:r>
              <a:rPr lang="en-US" altLang="zh-CN" dirty="0" err="1"/>
              <a:t>Serial.print</a:t>
            </a:r>
            <a:r>
              <a:rPr lang="en-US" altLang="zh-CN" dirty="0"/>
              <a:t>(1.23456, 2); 	// </a:t>
            </a:r>
            <a:r>
              <a:rPr lang="zh-CN" altLang="en-US" dirty="0"/>
              <a:t>输出</a:t>
            </a:r>
            <a:r>
              <a:rPr lang="en-US" altLang="zh-CN" dirty="0"/>
              <a:t>"1.23"</a:t>
            </a:r>
            <a:endParaRPr lang="zh-CN" altLang="zh-CN" dirty="0"/>
          </a:p>
        </p:txBody>
      </p:sp>
    </p:spTree>
    <p:extLst>
      <p:ext uri="{BB962C8B-B14F-4D97-AF65-F5344CB8AC3E}">
        <p14:creationId xmlns:p14="http://schemas.microsoft.com/office/powerpoint/2010/main" val="788859646"/>
      </p:ext>
    </p:extLst>
  </p:cSld>
  <p:clrMapOvr>
    <a:masterClrMapping/>
  </p:clrMapOvr>
  <p:transition>
    <p:cover dir="d"/>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97114" y="217715"/>
            <a:ext cx="7772400" cy="1143000"/>
          </a:xfrm>
        </p:spPr>
        <p:txBody>
          <a:bodyPr/>
          <a:lstStyle/>
          <a:p>
            <a:pPr algn="l"/>
            <a:r>
              <a:rPr lang="zh-CN" altLang="en-US" dirty="0"/>
              <a:t>常用串口通信函数</a:t>
            </a:r>
          </a:p>
        </p:txBody>
      </p:sp>
      <p:sp>
        <p:nvSpPr>
          <p:cNvPr id="3" name="内容占位符 2"/>
          <p:cNvSpPr>
            <a:spLocks noGrp="1"/>
          </p:cNvSpPr>
          <p:nvPr>
            <p:ph idx="1"/>
          </p:nvPr>
        </p:nvSpPr>
        <p:spPr>
          <a:xfrm>
            <a:off x="146756" y="1360715"/>
            <a:ext cx="8997243" cy="5141685"/>
          </a:xfrm>
        </p:spPr>
        <p:txBody>
          <a:bodyPr/>
          <a:lstStyle/>
          <a:p>
            <a:pPr lvl="0"/>
            <a:r>
              <a:rPr lang="en-US" altLang="zh-CN" dirty="0" err="1"/>
              <a:t>Serial.end</a:t>
            </a:r>
            <a:r>
              <a:rPr lang="en-US" altLang="zh-CN" dirty="0"/>
              <a:t>()</a:t>
            </a:r>
            <a:endParaRPr lang="zh-CN" altLang="zh-CN" dirty="0"/>
          </a:p>
          <a:p>
            <a:r>
              <a:rPr lang="zh-CN" altLang="zh-CN" dirty="0"/>
              <a:t>函数描述：禁止串口传输。此时串口</a:t>
            </a:r>
            <a:r>
              <a:rPr lang="en-US" altLang="zh-CN" dirty="0"/>
              <a:t>Rx</a:t>
            </a:r>
            <a:r>
              <a:rPr lang="zh-CN" altLang="zh-CN" dirty="0"/>
              <a:t>和</a:t>
            </a:r>
            <a:r>
              <a:rPr lang="en-US" altLang="zh-CN" dirty="0"/>
              <a:t>Tx</a:t>
            </a:r>
            <a:r>
              <a:rPr lang="zh-CN" altLang="zh-CN" dirty="0"/>
              <a:t>可以作为数字</a:t>
            </a:r>
            <a:r>
              <a:rPr lang="en-US" altLang="zh-CN" dirty="0"/>
              <a:t>IO</a:t>
            </a:r>
            <a:r>
              <a:rPr lang="zh-CN" altLang="zh-CN" dirty="0"/>
              <a:t>引脚使用。</a:t>
            </a:r>
          </a:p>
          <a:p>
            <a:r>
              <a:rPr lang="zh-CN" altLang="zh-CN" dirty="0"/>
              <a:t>原型：</a:t>
            </a:r>
          </a:p>
          <a:p>
            <a:r>
              <a:rPr lang="en-US" altLang="zh-CN" dirty="0"/>
              <a:t># </a:t>
            </a:r>
            <a:r>
              <a:rPr lang="en-US" altLang="zh-CN" dirty="0" err="1"/>
              <a:t>Serial.end</a:t>
            </a:r>
            <a:r>
              <a:rPr lang="en-US" altLang="zh-CN" dirty="0"/>
              <a:t>();</a:t>
            </a:r>
            <a:endParaRPr lang="zh-CN" altLang="zh-CN" dirty="0"/>
          </a:p>
          <a:p>
            <a:endParaRPr lang="zh-CN" altLang="zh-CN" dirty="0"/>
          </a:p>
        </p:txBody>
      </p:sp>
    </p:spTree>
    <p:extLst>
      <p:ext uri="{BB962C8B-B14F-4D97-AF65-F5344CB8AC3E}">
        <p14:creationId xmlns:p14="http://schemas.microsoft.com/office/powerpoint/2010/main" val="4070901571"/>
      </p:ext>
    </p:extLst>
  </p:cSld>
  <p:clrMapOvr>
    <a:masterClrMapping/>
  </p:clrMapOvr>
  <p:transition>
    <p:cover dir="d"/>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97114" y="217715"/>
            <a:ext cx="7772400" cy="1143000"/>
          </a:xfrm>
        </p:spPr>
        <p:txBody>
          <a:bodyPr/>
          <a:lstStyle/>
          <a:p>
            <a:pPr algn="l"/>
            <a:r>
              <a:rPr lang="zh-CN" altLang="en-US" dirty="0"/>
              <a:t>常用串口通信函数</a:t>
            </a:r>
          </a:p>
        </p:txBody>
      </p:sp>
      <p:sp>
        <p:nvSpPr>
          <p:cNvPr id="3" name="内容占位符 2"/>
          <p:cNvSpPr>
            <a:spLocks noGrp="1"/>
          </p:cNvSpPr>
          <p:nvPr>
            <p:ph idx="1"/>
          </p:nvPr>
        </p:nvSpPr>
        <p:spPr>
          <a:xfrm>
            <a:off x="146756" y="1360715"/>
            <a:ext cx="8997243" cy="5141685"/>
          </a:xfrm>
        </p:spPr>
        <p:txBody>
          <a:bodyPr/>
          <a:lstStyle/>
          <a:p>
            <a:pPr lvl="0"/>
            <a:r>
              <a:rPr lang="en-US" altLang="zh-CN" dirty="0" err="1"/>
              <a:t>Serial.available</a:t>
            </a:r>
            <a:r>
              <a:rPr lang="en-US" altLang="zh-CN" dirty="0"/>
              <a:t>()</a:t>
            </a:r>
            <a:endParaRPr lang="zh-CN" altLang="zh-CN" dirty="0"/>
          </a:p>
          <a:p>
            <a:r>
              <a:rPr lang="zh-CN" altLang="zh-CN" dirty="0"/>
              <a:t>函数描述：用于判断串口缓冲区的状态，返回从串口缓冲区读取的字节数。注意使用时通常用</a:t>
            </a:r>
            <a:r>
              <a:rPr lang="en-US" altLang="zh-CN" dirty="0"/>
              <a:t>delay(100)</a:t>
            </a:r>
            <a:r>
              <a:rPr lang="zh-CN" altLang="zh-CN" dirty="0"/>
              <a:t>以保证串口字符接收完毕，即保证</a:t>
            </a:r>
            <a:r>
              <a:rPr lang="en-US" altLang="zh-CN" dirty="0" err="1"/>
              <a:t>Serial.available</a:t>
            </a:r>
            <a:r>
              <a:rPr lang="en-US" altLang="zh-CN" dirty="0"/>
              <a:t>()</a:t>
            </a:r>
            <a:r>
              <a:rPr lang="zh-CN" altLang="zh-CN" dirty="0"/>
              <a:t>返回的是缓冲区准确的可读字节数。</a:t>
            </a:r>
          </a:p>
          <a:p>
            <a:r>
              <a:rPr lang="zh-CN" altLang="zh-CN" dirty="0"/>
              <a:t>原型：</a:t>
            </a:r>
          </a:p>
          <a:p>
            <a:r>
              <a:rPr lang="en-US" altLang="zh-CN" dirty="0"/>
              <a:t># </a:t>
            </a:r>
            <a:r>
              <a:rPr lang="en-US" altLang="zh-CN" dirty="0" err="1"/>
              <a:t>Serial.available</a:t>
            </a:r>
            <a:r>
              <a:rPr lang="en-US" altLang="zh-CN" dirty="0"/>
              <a:t>();</a:t>
            </a:r>
            <a:endParaRPr lang="zh-CN" altLang="zh-CN" dirty="0"/>
          </a:p>
          <a:p>
            <a:endParaRPr lang="zh-CN" altLang="zh-CN" dirty="0"/>
          </a:p>
        </p:txBody>
      </p:sp>
    </p:spTree>
    <p:extLst>
      <p:ext uri="{BB962C8B-B14F-4D97-AF65-F5344CB8AC3E}">
        <p14:creationId xmlns:p14="http://schemas.microsoft.com/office/powerpoint/2010/main" val="1112664826"/>
      </p:ext>
    </p:extLst>
  </p:cSld>
  <p:clrMapOvr>
    <a:masterClrMapping/>
  </p:clrMapOvr>
  <p:transition>
    <p:cover dir="d"/>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97114" y="217715"/>
            <a:ext cx="7772400" cy="1143000"/>
          </a:xfrm>
        </p:spPr>
        <p:txBody>
          <a:bodyPr/>
          <a:lstStyle/>
          <a:p>
            <a:pPr algn="l"/>
            <a:r>
              <a:rPr lang="zh-CN" altLang="en-US" dirty="0"/>
              <a:t>常用串口通信函数</a:t>
            </a:r>
          </a:p>
        </p:txBody>
      </p:sp>
      <p:sp>
        <p:nvSpPr>
          <p:cNvPr id="3" name="内容占位符 2"/>
          <p:cNvSpPr>
            <a:spLocks noGrp="1"/>
          </p:cNvSpPr>
          <p:nvPr>
            <p:ph idx="1"/>
          </p:nvPr>
        </p:nvSpPr>
        <p:spPr>
          <a:xfrm>
            <a:off x="146756" y="1360715"/>
            <a:ext cx="8997243" cy="5141685"/>
          </a:xfrm>
        </p:spPr>
        <p:txBody>
          <a:bodyPr/>
          <a:lstStyle/>
          <a:p>
            <a:pPr lvl="0"/>
            <a:r>
              <a:rPr lang="en-US" altLang="zh-CN" dirty="0" err="1"/>
              <a:t>Serial.read</a:t>
            </a:r>
            <a:r>
              <a:rPr lang="en-US" altLang="zh-CN" dirty="0"/>
              <a:t>()</a:t>
            </a:r>
            <a:endParaRPr lang="zh-CN" altLang="zh-CN" dirty="0"/>
          </a:p>
          <a:p>
            <a:r>
              <a:rPr lang="zh-CN" altLang="zh-CN" dirty="0"/>
              <a:t>函数描述：用于读取串口数据，一次读一个字符，读完后删除已读数据。</a:t>
            </a:r>
          </a:p>
          <a:p>
            <a:r>
              <a:rPr lang="zh-CN" altLang="zh-CN" dirty="0"/>
              <a:t>原型：</a:t>
            </a:r>
          </a:p>
          <a:p>
            <a:r>
              <a:rPr lang="en-US" altLang="zh-CN" dirty="0"/>
              <a:t># </a:t>
            </a:r>
            <a:r>
              <a:rPr lang="en-US" altLang="zh-CN" dirty="0" err="1"/>
              <a:t>Serial.read</a:t>
            </a:r>
            <a:r>
              <a:rPr lang="en-US" altLang="zh-CN" dirty="0"/>
              <a:t>();</a:t>
            </a:r>
            <a:endParaRPr lang="zh-CN" altLang="zh-CN" dirty="0"/>
          </a:p>
          <a:p>
            <a:endParaRPr lang="zh-CN" altLang="zh-CN" dirty="0"/>
          </a:p>
        </p:txBody>
      </p:sp>
    </p:spTree>
    <p:extLst>
      <p:ext uri="{BB962C8B-B14F-4D97-AF65-F5344CB8AC3E}">
        <p14:creationId xmlns:p14="http://schemas.microsoft.com/office/powerpoint/2010/main" val="3194370158"/>
      </p:ext>
    </p:extLst>
  </p:cSld>
  <p:clrMapOvr>
    <a:masterClrMapping/>
  </p:clrMapOvr>
  <p:transition>
    <p:cover dir="d"/>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97114" y="217715"/>
            <a:ext cx="7772400" cy="1143000"/>
          </a:xfrm>
        </p:spPr>
        <p:txBody>
          <a:bodyPr/>
          <a:lstStyle/>
          <a:p>
            <a:pPr algn="l"/>
            <a:r>
              <a:rPr lang="zh-CN" altLang="en-US" dirty="0"/>
              <a:t>读取串口输入示例</a:t>
            </a:r>
          </a:p>
        </p:txBody>
      </p:sp>
      <p:sp>
        <p:nvSpPr>
          <p:cNvPr id="3" name="内容占位符 2"/>
          <p:cNvSpPr>
            <a:spLocks noGrp="1"/>
          </p:cNvSpPr>
          <p:nvPr>
            <p:ph idx="1"/>
          </p:nvPr>
        </p:nvSpPr>
        <p:spPr>
          <a:xfrm>
            <a:off x="146756" y="1360715"/>
            <a:ext cx="8997243" cy="5141685"/>
          </a:xfrm>
        </p:spPr>
        <p:txBody>
          <a:bodyPr/>
          <a:lstStyle/>
          <a:p>
            <a:pPr marL="0" lvl="0" indent="0">
              <a:buNone/>
            </a:pPr>
            <a:r>
              <a:rPr lang="en-US" altLang="zh-CN" sz="1800" dirty="0"/>
              <a:t>String str = "";</a:t>
            </a:r>
          </a:p>
          <a:p>
            <a:pPr marL="0" lvl="0" indent="0">
              <a:buNone/>
            </a:pPr>
            <a:r>
              <a:rPr lang="en-US" altLang="zh-CN" sz="1800" dirty="0"/>
              <a:t>void setup() {</a:t>
            </a:r>
          </a:p>
          <a:p>
            <a:pPr marL="0" lvl="0" indent="0">
              <a:buNone/>
            </a:pPr>
            <a:r>
              <a:rPr lang="en-US" altLang="zh-CN" sz="1800" dirty="0"/>
              <a:t>  </a:t>
            </a:r>
            <a:r>
              <a:rPr lang="en-US" altLang="zh-CN" sz="1800" dirty="0" err="1"/>
              <a:t>Serial.begin</a:t>
            </a:r>
            <a:r>
              <a:rPr lang="en-US" altLang="zh-CN" sz="1800" dirty="0"/>
              <a:t>(9600);//</a:t>
            </a:r>
            <a:r>
              <a:rPr lang="zh-CN" altLang="en-US" sz="1800" dirty="0"/>
              <a:t>开启串口，设定波特率为</a:t>
            </a:r>
            <a:r>
              <a:rPr lang="en-US" altLang="zh-CN" sz="1800" dirty="0"/>
              <a:t>9600</a:t>
            </a:r>
          </a:p>
          <a:p>
            <a:pPr marL="0" lvl="0" indent="0">
              <a:buNone/>
            </a:pPr>
            <a:r>
              <a:rPr lang="en-US" altLang="zh-CN" sz="1800" dirty="0"/>
              <a:t>}</a:t>
            </a:r>
          </a:p>
          <a:p>
            <a:pPr marL="0" lvl="0" indent="0">
              <a:buNone/>
            </a:pPr>
            <a:endParaRPr lang="en-US" altLang="zh-CN" sz="200" dirty="0"/>
          </a:p>
          <a:p>
            <a:pPr marL="0" lvl="0" indent="0">
              <a:buNone/>
            </a:pPr>
            <a:r>
              <a:rPr lang="en-US" altLang="zh-CN" sz="1800" dirty="0"/>
              <a:t>void loop() {</a:t>
            </a:r>
          </a:p>
          <a:p>
            <a:pPr marL="0" lvl="0" indent="0">
              <a:buNone/>
            </a:pPr>
            <a:r>
              <a:rPr lang="en-US" altLang="zh-CN" sz="1800" dirty="0"/>
              <a:t>  </a:t>
            </a:r>
            <a:r>
              <a:rPr lang="en-US" altLang="zh-CN" sz="1800" dirty="0" err="1"/>
              <a:t>Serial.println</a:t>
            </a:r>
            <a:r>
              <a:rPr lang="en-US" altLang="zh-CN" sz="1800" dirty="0"/>
              <a:t>("input: ");</a:t>
            </a:r>
          </a:p>
          <a:p>
            <a:pPr marL="0" lvl="0" indent="0">
              <a:buNone/>
            </a:pPr>
            <a:r>
              <a:rPr lang="en-US" altLang="zh-CN" sz="1800" dirty="0"/>
              <a:t>  while (</a:t>
            </a:r>
            <a:r>
              <a:rPr lang="en-US" altLang="zh-CN" sz="1800" dirty="0" err="1"/>
              <a:t>Serial.available</a:t>
            </a:r>
            <a:r>
              <a:rPr lang="en-US" altLang="zh-CN" sz="1800" dirty="0"/>
              <a:t>() == 0) {}//</a:t>
            </a:r>
            <a:r>
              <a:rPr lang="zh-CN" altLang="en-US" sz="1800" dirty="0"/>
              <a:t>等待数据</a:t>
            </a:r>
          </a:p>
          <a:p>
            <a:pPr marL="0" lvl="0" indent="0">
              <a:buNone/>
            </a:pPr>
            <a:r>
              <a:rPr lang="zh-CN" altLang="en-US" sz="1800" dirty="0"/>
              <a:t>  </a:t>
            </a:r>
            <a:r>
              <a:rPr lang="en-US" altLang="zh-CN" sz="1800" dirty="0"/>
              <a:t>delay(100);//</a:t>
            </a:r>
            <a:r>
              <a:rPr lang="zh-CN" altLang="en-US" sz="1800" dirty="0"/>
              <a:t>等待数据传输完毕</a:t>
            </a:r>
          </a:p>
          <a:p>
            <a:pPr marL="0" lvl="0" indent="0">
              <a:buNone/>
            </a:pPr>
            <a:r>
              <a:rPr lang="zh-CN" altLang="en-US" sz="1800" dirty="0"/>
              <a:t>  </a:t>
            </a:r>
            <a:r>
              <a:rPr lang="en-US" altLang="zh-CN" sz="1800" dirty="0"/>
              <a:t>while (</a:t>
            </a:r>
            <a:r>
              <a:rPr lang="en-US" altLang="zh-CN" sz="1800" dirty="0" err="1"/>
              <a:t>Serial.available</a:t>
            </a:r>
            <a:r>
              <a:rPr lang="en-US" altLang="zh-CN" sz="1800" dirty="0"/>
              <a:t>() &gt; 0) {</a:t>
            </a:r>
          </a:p>
          <a:p>
            <a:pPr marL="0" lvl="0" indent="0">
              <a:buNone/>
            </a:pPr>
            <a:r>
              <a:rPr lang="en-US" altLang="zh-CN" sz="1800" dirty="0"/>
              <a:t>    str += char(</a:t>
            </a:r>
            <a:r>
              <a:rPr lang="en-US" altLang="zh-CN" sz="1800" dirty="0" err="1"/>
              <a:t>Serial.read</a:t>
            </a:r>
            <a:r>
              <a:rPr lang="en-US" altLang="zh-CN" sz="1800" dirty="0"/>
              <a:t>()); //</a:t>
            </a:r>
            <a:r>
              <a:rPr lang="zh-CN" altLang="en-US" sz="1800" dirty="0"/>
              <a:t>读取字符拼接成字符串</a:t>
            </a:r>
          </a:p>
          <a:p>
            <a:pPr marL="0" lvl="0" indent="0">
              <a:buNone/>
            </a:pPr>
            <a:r>
              <a:rPr lang="zh-CN" altLang="en-US" sz="1800" dirty="0"/>
              <a:t>  </a:t>
            </a:r>
            <a:r>
              <a:rPr lang="en-US" altLang="zh-CN" sz="1800" dirty="0"/>
              <a:t>}</a:t>
            </a:r>
          </a:p>
          <a:p>
            <a:pPr marL="0" lvl="0" indent="0">
              <a:buNone/>
            </a:pPr>
            <a:r>
              <a:rPr lang="en-US" altLang="zh-CN" sz="1800" dirty="0"/>
              <a:t>  </a:t>
            </a:r>
            <a:r>
              <a:rPr lang="en-US" altLang="zh-CN" sz="1800" dirty="0" err="1"/>
              <a:t>Serial.print</a:t>
            </a:r>
            <a:r>
              <a:rPr lang="en-US" altLang="zh-CN" sz="1800" dirty="0"/>
              <a:t>("received: ");</a:t>
            </a:r>
          </a:p>
          <a:p>
            <a:pPr marL="0" lvl="0" indent="0">
              <a:buNone/>
            </a:pPr>
            <a:r>
              <a:rPr lang="en-US" altLang="zh-CN" sz="1800" dirty="0"/>
              <a:t>  </a:t>
            </a:r>
            <a:r>
              <a:rPr lang="en-US" altLang="zh-CN" sz="1800" dirty="0" err="1"/>
              <a:t>Serial.println</a:t>
            </a:r>
            <a:r>
              <a:rPr lang="en-US" altLang="zh-CN" sz="1800" dirty="0"/>
              <a:t>(str);//</a:t>
            </a:r>
            <a:r>
              <a:rPr lang="zh-CN" altLang="en-US" sz="1800" dirty="0"/>
              <a:t>输出接收到的字符串</a:t>
            </a:r>
          </a:p>
          <a:p>
            <a:pPr marL="0" lvl="0" indent="0">
              <a:buNone/>
            </a:pPr>
            <a:r>
              <a:rPr lang="zh-CN" altLang="en-US" sz="1800" dirty="0"/>
              <a:t>  </a:t>
            </a:r>
            <a:r>
              <a:rPr lang="en-US" altLang="zh-CN" sz="1800" dirty="0"/>
              <a:t>str = "";//</a:t>
            </a:r>
            <a:r>
              <a:rPr lang="zh-CN" altLang="en-US" sz="1800" dirty="0"/>
              <a:t>清空字符串</a:t>
            </a:r>
          </a:p>
          <a:p>
            <a:pPr marL="0" lvl="0" indent="0">
              <a:buNone/>
            </a:pPr>
            <a:r>
              <a:rPr lang="en-US" altLang="zh-CN" sz="1800" dirty="0"/>
              <a:t>}</a:t>
            </a:r>
          </a:p>
          <a:p>
            <a:pPr marL="0" lvl="0" indent="0">
              <a:buNone/>
            </a:pPr>
            <a:endParaRPr lang="zh-CN" altLang="zh-CN" sz="1600" dirty="0"/>
          </a:p>
        </p:txBody>
      </p:sp>
      <p:pic>
        <p:nvPicPr>
          <p:cNvPr id="7" name="图片 6">
            <a:extLst>
              <a:ext uri="{FF2B5EF4-FFF2-40B4-BE49-F238E27FC236}">
                <a16:creationId xmlns:a16="http://schemas.microsoft.com/office/drawing/2014/main" id="{3628C525-3482-165D-29F7-AB7E7930B2F6}"/>
              </a:ext>
            </a:extLst>
          </p:cNvPr>
          <p:cNvPicPr>
            <a:picLocks noChangeAspect="1"/>
          </p:cNvPicPr>
          <p:nvPr/>
        </p:nvPicPr>
        <p:blipFill>
          <a:blip r:embed="rId2"/>
          <a:stretch>
            <a:fillRect/>
          </a:stretch>
        </p:blipFill>
        <p:spPr>
          <a:xfrm>
            <a:off x="5267325" y="1781175"/>
            <a:ext cx="3876675" cy="3295650"/>
          </a:xfrm>
          <a:prstGeom prst="rect">
            <a:avLst/>
          </a:prstGeom>
        </p:spPr>
      </p:pic>
    </p:spTree>
    <p:extLst>
      <p:ext uri="{BB962C8B-B14F-4D97-AF65-F5344CB8AC3E}">
        <p14:creationId xmlns:p14="http://schemas.microsoft.com/office/powerpoint/2010/main" val="653903250"/>
      </p:ext>
    </p:extLst>
  </p:cSld>
  <p:clrMapOvr>
    <a:masterClrMapping/>
  </p:clrMapOvr>
  <p:transition>
    <p:cover dir="d"/>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97114" y="217715"/>
            <a:ext cx="7772400" cy="1143000"/>
          </a:xfrm>
        </p:spPr>
        <p:txBody>
          <a:bodyPr/>
          <a:lstStyle/>
          <a:p>
            <a:pPr algn="l"/>
            <a:r>
              <a:rPr lang="zh-CN" altLang="en-US" dirty="0"/>
              <a:t>常用串口通信函数</a:t>
            </a:r>
          </a:p>
        </p:txBody>
      </p:sp>
      <p:sp>
        <p:nvSpPr>
          <p:cNvPr id="3" name="内容占位符 2"/>
          <p:cNvSpPr>
            <a:spLocks noGrp="1"/>
          </p:cNvSpPr>
          <p:nvPr>
            <p:ph idx="1"/>
          </p:nvPr>
        </p:nvSpPr>
        <p:spPr>
          <a:xfrm>
            <a:off x="146756" y="1360715"/>
            <a:ext cx="8997243" cy="5141685"/>
          </a:xfrm>
        </p:spPr>
        <p:txBody>
          <a:bodyPr/>
          <a:lstStyle/>
          <a:p>
            <a:pPr lvl="0"/>
            <a:r>
              <a:rPr lang="en-US" altLang="zh-CN" dirty="0" err="1"/>
              <a:t>Serial.peek</a:t>
            </a:r>
            <a:r>
              <a:rPr lang="en-US" altLang="zh-CN" dirty="0"/>
              <a:t>()</a:t>
            </a:r>
            <a:endParaRPr lang="zh-CN" altLang="zh-CN" dirty="0"/>
          </a:p>
          <a:p>
            <a:r>
              <a:rPr lang="zh-CN" altLang="zh-CN" dirty="0"/>
              <a:t>函数描述：读串口缓存中下一字节的数据（字符型），但不从内部缓存中删除该数据。即连续的调用</a:t>
            </a:r>
            <a:r>
              <a:rPr lang="en-US" altLang="zh-CN" dirty="0"/>
              <a:t>peek()</a:t>
            </a:r>
            <a:r>
              <a:rPr lang="zh-CN" altLang="zh-CN" dirty="0"/>
              <a:t>将返回同一个字符。而调用</a:t>
            </a:r>
            <a:r>
              <a:rPr lang="en-US" altLang="zh-CN" dirty="0"/>
              <a:t>read()</a:t>
            </a:r>
            <a:r>
              <a:rPr lang="zh-CN" altLang="zh-CN" dirty="0"/>
              <a:t>则会返回下一个字符。</a:t>
            </a:r>
          </a:p>
          <a:p>
            <a:r>
              <a:rPr lang="zh-CN" altLang="zh-CN" dirty="0"/>
              <a:t>原型：</a:t>
            </a:r>
          </a:p>
          <a:p>
            <a:r>
              <a:rPr lang="en-US" altLang="zh-CN" dirty="0"/>
              <a:t># </a:t>
            </a:r>
            <a:r>
              <a:rPr lang="en-US" altLang="zh-CN" dirty="0" err="1"/>
              <a:t>Serial.peek</a:t>
            </a:r>
            <a:r>
              <a:rPr lang="en-US" altLang="zh-CN" dirty="0"/>
              <a:t>();</a:t>
            </a:r>
            <a:endParaRPr lang="zh-CN" altLang="zh-CN" dirty="0"/>
          </a:p>
          <a:p>
            <a:pPr lvl="0"/>
            <a:endParaRPr lang="zh-CN" altLang="zh-CN" dirty="0"/>
          </a:p>
        </p:txBody>
      </p:sp>
    </p:spTree>
    <p:extLst>
      <p:ext uri="{BB962C8B-B14F-4D97-AF65-F5344CB8AC3E}">
        <p14:creationId xmlns:p14="http://schemas.microsoft.com/office/powerpoint/2010/main" val="805477628"/>
      </p:ext>
    </p:extLst>
  </p:cSld>
  <p:clrMapOvr>
    <a:masterClrMapping/>
  </p:clrMapOvr>
  <p:transition>
    <p:cover dir="d"/>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97114" y="217715"/>
            <a:ext cx="7772400" cy="1143000"/>
          </a:xfrm>
        </p:spPr>
        <p:txBody>
          <a:bodyPr/>
          <a:lstStyle/>
          <a:p>
            <a:pPr algn="l"/>
            <a:r>
              <a:rPr lang="zh-CN" altLang="en-US" dirty="0"/>
              <a:t>常用串口通信函数</a:t>
            </a:r>
          </a:p>
        </p:txBody>
      </p:sp>
      <p:sp>
        <p:nvSpPr>
          <p:cNvPr id="3" name="内容占位符 2"/>
          <p:cNvSpPr>
            <a:spLocks noGrp="1"/>
          </p:cNvSpPr>
          <p:nvPr>
            <p:ph idx="1"/>
          </p:nvPr>
        </p:nvSpPr>
        <p:spPr>
          <a:xfrm>
            <a:off x="146756" y="1360715"/>
            <a:ext cx="8997243" cy="5141685"/>
          </a:xfrm>
        </p:spPr>
        <p:txBody>
          <a:bodyPr/>
          <a:lstStyle/>
          <a:p>
            <a:pPr lvl="0"/>
            <a:r>
              <a:rPr lang="en-US" altLang="zh-CN" dirty="0" err="1"/>
              <a:t>Serial.parseInt</a:t>
            </a:r>
            <a:r>
              <a:rPr lang="en-US" altLang="zh-CN" dirty="0"/>
              <a:t>()</a:t>
            </a:r>
            <a:endParaRPr lang="zh-CN" altLang="zh-CN" dirty="0"/>
          </a:p>
          <a:p>
            <a:r>
              <a:rPr lang="zh-CN" altLang="zh-CN" dirty="0"/>
              <a:t>函数描述：从串口接收数据流中读取第一个有效整数（包括负数）。其中，非数字的首字符或者负号将被跳过；当可配置的超时值没有读到有效字符时，或者读不到有效整数时，分析停止；如果超时且读不到有效整数时，返回</a:t>
            </a:r>
            <a:r>
              <a:rPr lang="en-US" altLang="zh-CN" dirty="0"/>
              <a:t>0</a:t>
            </a:r>
            <a:r>
              <a:rPr lang="zh-CN" altLang="zh-CN" dirty="0"/>
              <a:t>。</a:t>
            </a:r>
          </a:p>
          <a:p>
            <a:r>
              <a:rPr lang="zh-CN" altLang="zh-CN" dirty="0"/>
              <a:t>原型：</a:t>
            </a:r>
          </a:p>
          <a:p>
            <a:r>
              <a:rPr lang="en-US" altLang="zh-CN" dirty="0"/>
              <a:t># </a:t>
            </a:r>
            <a:r>
              <a:rPr lang="en-US" altLang="zh-CN" dirty="0" err="1"/>
              <a:t>Serial.parseInt</a:t>
            </a:r>
            <a:r>
              <a:rPr lang="en-US" altLang="zh-CN" dirty="0"/>
              <a:t>();</a:t>
            </a:r>
            <a:endParaRPr lang="zh-CN" altLang="zh-CN" dirty="0"/>
          </a:p>
          <a:p>
            <a:r>
              <a:rPr lang="en-US" altLang="zh-CN" dirty="0"/>
              <a:t># </a:t>
            </a:r>
            <a:r>
              <a:rPr lang="en-US" altLang="zh-CN" dirty="0" err="1"/>
              <a:t>Serial.parseInt</a:t>
            </a:r>
            <a:r>
              <a:rPr lang="en-US" altLang="zh-CN" dirty="0"/>
              <a:t>(char </a:t>
            </a:r>
            <a:r>
              <a:rPr lang="en-US" altLang="zh-CN" dirty="0" err="1"/>
              <a:t>skipChar</a:t>
            </a:r>
            <a:r>
              <a:rPr lang="en-US" altLang="zh-CN" dirty="0"/>
              <a:t>);</a:t>
            </a:r>
            <a:endParaRPr lang="zh-CN" altLang="zh-CN" dirty="0"/>
          </a:p>
          <a:p>
            <a:pPr lvl="0"/>
            <a:endParaRPr lang="zh-CN" altLang="zh-CN" dirty="0"/>
          </a:p>
        </p:txBody>
      </p:sp>
    </p:spTree>
    <p:extLst>
      <p:ext uri="{BB962C8B-B14F-4D97-AF65-F5344CB8AC3E}">
        <p14:creationId xmlns:p14="http://schemas.microsoft.com/office/powerpoint/2010/main" val="3984259482"/>
      </p:ext>
    </p:extLst>
  </p:cSld>
  <p:clrMapOvr>
    <a:masterClrMapping/>
  </p:clrMapOvr>
  <p:transition>
    <p:cover dir="d"/>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97114" y="217715"/>
            <a:ext cx="7772400" cy="1143000"/>
          </a:xfrm>
        </p:spPr>
        <p:txBody>
          <a:bodyPr/>
          <a:lstStyle/>
          <a:p>
            <a:pPr algn="l"/>
            <a:r>
              <a:rPr lang="zh-CN" altLang="en-US" dirty="0"/>
              <a:t>点亮小灯示例</a:t>
            </a:r>
          </a:p>
        </p:txBody>
      </p:sp>
      <p:pic>
        <p:nvPicPr>
          <p:cNvPr id="9" name="内容占位符 8">
            <a:extLst>
              <a:ext uri="{FF2B5EF4-FFF2-40B4-BE49-F238E27FC236}">
                <a16:creationId xmlns:a16="http://schemas.microsoft.com/office/drawing/2014/main" id="{7EA03544-E23B-281B-24EF-FFB7D9DC64B5}"/>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3669983" y="1709976"/>
            <a:ext cx="5140325" cy="3855243"/>
          </a:xfrm>
        </p:spPr>
      </p:pic>
      <p:sp>
        <p:nvSpPr>
          <p:cNvPr id="10" name="文本框 9">
            <a:extLst>
              <a:ext uri="{FF2B5EF4-FFF2-40B4-BE49-F238E27FC236}">
                <a16:creationId xmlns:a16="http://schemas.microsoft.com/office/drawing/2014/main" id="{5E20EA83-0D94-EAF3-8216-485785B45676}"/>
              </a:ext>
            </a:extLst>
          </p:cNvPr>
          <p:cNvSpPr txBox="1"/>
          <p:nvPr/>
        </p:nvSpPr>
        <p:spPr>
          <a:xfrm>
            <a:off x="833438" y="2402840"/>
            <a:ext cx="2529522" cy="1446550"/>
          </a:xfrm>
          <a:prstGeom prst="rect">
            <a:avLst/>
          </a:prstGeom>
          <a:noFill/>
        </p:spPr>
        <p:txBody>
          <a:bodyPr wrap="square" rtlCol="0">
            <a:spAutoFit/>
          </a:bodyPr>
          <a:lstStyle/>
          <a:p>
            <a:pPr algn="ctr"/>
            <a:r>
              <a:rPr lang="zh-CN" altLang="en-US" sz="2200" dirty="0"/>
              <a:t>小灯接线</a:t>
            </a:r>
            <a:endParaRPr lang="en-US" altLang="zh-CN" sz="2200" dirty="0"/>
          </a:p>
          <a:p>
            <a:endParaRPr lang="en-US" altLang="zh-CN" sz="2200" dirty="0"/>
          </a:p>
          <a:p>
            <a:r>
              <a:rPr lang="en-US" altLang="zh-CN" sz="2200" dirty="0"/>
              <a:t>IN</a:t>
            </a:r>
            <a:r>
              <a:rPr lang="zh-CN" altLang="en-US" sz="2200" dirty="0"/>
              <a:t>：接数字引脚</a:t>
            </a:r>
            <a:endParaRPr lang="en-US" altLang="zh-CN" sz="2200" dirty="0"/>
          </a:p>
          <a:p>
            <a:r>
              <a:rPr lang="en-US" altLang="zh-CN" sz="2200" dirty="0"/>
              <a:t>GND</a:t>
            </a:r>
            <a:r>
              <a:rPr lang="zh-CN" altLang="en-US" sz="2200" dirty="0"/>
              <a:t>：接</a:t>
            </a:r>
            <a:r>
              <a:rPr lang="en-US" altLang="zh-CN" sz="2200" dirty="0"/>
              <a:t>GND</a:t>
            </a:r>
          </a:p>
        </p:txBody>
      </p:sp>
    </p:spTree>
    <p:extLst>
      <p:ext uri="{BB962C8B-B14F-4D97-AF65-F5344CB8AC3E}">
        <p14:creationId xmlns:p14="http://schemas.microsoft.com/office/powerpoint/2010/main" val="2074352482"/>
      </p:ext>
    </p:extLst>
  </p:cSld>
  <p:clrMapOvr>
    <a:masterClrMapping/>
  </p:clrMapOvr>
  <p:transition>
    <p:cover dir="d"/>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59337" y="647700"/>
            <a:ext cx="1895373" cy="647700"/>
          </a:xfrm>
          <a:solidFill>
            <a:schemeClr val="bg1">
              <a:lumMod val="85000"/>
            </a:schemeClr>
          </a:solidFill>
        </p:spPr>
        <p:txBody>
          <a:bodyPr/>
          <a:lstStyle/>
          <a:p>
            <a:pPr algn="l"/>
            <a:r>
              <a:rPr lang="zh-CN" altLang="en-US" sz="3200" b="1" dirty="0"/>
              <a:t>亮灯程序</a:t>
            </a:r>
          </a:p>
        </p:txBody>
      </p:sp>
      <p:sp>
        <p:nvSpPr>
          <p:cNvPr id="4" name="文本框 3"/>
          <p:cNvSpPr txBox="1"/>
          <p:nvPr/>
        </p:nvSpPr>
        <p:spPr>
          <a:xfrm>
            <a:off x="641350" y="1295400"/>
            <a:ext cx="8312150" cy="3816429"/>
          </a:xfrm>
          <a:prstGeom prst="rect">
            <a:avLst/>
          </a:prstGeom>
          <a:noFill/>
        </p:spPr>
        <p:txBody>
          <a:bodyPr wrap="square" rtlCol="0">
            <a:spAutoFit/>
          </a:bodyPr>
          <a:lstStyle/>
          <a:p>
            <a:r>
              <a:rPr lang="en-US" altLang="zh-CN" sz="2200" dirty="0"/>
              <a:t>int </a:t>
            </a:r>
            <a:r>
              <a:rPr lang="en-US" altLang="zh-CN" sz="2200" dirty="0" err="1"/>
              <a:t>LEDPin</a:t>
            </a:r>
            <a:r>
              <a:rPr lang="en-US" altLang="zh-CN" sz="2200" dirty="0"/>
              <a:t> = 3; </a:t>
            </a:r>
          </a:p>
          <a:p>
            <a:r>
              <a:rPr lang="en-US" altLang="zh-CN" sz="2200" dirty="0"/>
              <a:t>void setup()</a:t>
            </a:r>
          </a:p>
          <a:p>
            <a:r>
              <a:rPr lang="en-US" altLang="zh-CN" sz="2200" dirty="0"/>
              <a:t>{</a:t>
            </a:r>
          </a:p>
          <a:p>
            <a:r>
              <a:rPr lang="en-US" altLang="zh-CN" sz="2200" dirty="0"/>
              <a:t>  </a:t>
            </a:r>
            <a:r>
              <a:rPr lang="en-US" altLang="zh-CN" sz="2200" dirty="0" err="1"/>
              <a:t>pinMode</a:t>
            </a:r>
            <a:r>
              <a:rPr lang="en-US" altLang="zh-CN" sz="2200" dirty="0"/>
              <a:t>(</a:t>
            </a:r>
            <a:r>
              <a:rPr lang="en-US" altLang="zh-CN" sz="2200" dirty="0" err="1"/>
              <a:t>LEDPin</a:t>
            </a:r>
            <a:r>
              <a:rPr lang="en-US" altLang="zh-CN" sz="2200" dirty="0"/>
              <a:t>, OUTPUT);	//</a:t>
            </a:r>
            <a:r>
              <a:rPr lang="zh-CN" altLang="en-US" sz="2200" dirty="0"/>
              <a:t>将</a:t>
            </a:r>
            <a:r>
              <a:rPr lang="en-US" altLang="zh-CN" sz="2200" dirty="0"/>
              <a:t>3</a:t>
            </a:r>
            <a:r>
              <a:rPr lang="zh-CN" altLang="en-US" sz="2200" dirty="0"/>
              <a:t>引脚设置为输出引脚</a:t>
            </a:r>
          </a:p>
          <a:p>
            <a:r>
              <a:rPr lang="zh-CN" altLang="en-US" sz="2200" dirty="0"/>
              <a:t>  </a:t>
            </a:r>
            <a:r>
              <a:rPr lang="en-US" altLang="zh-CN" sz="2200" dirty="0" err="1"/>
              <a:t>digitalWrite</a:t>
            </a:r>
            <a:r>
              <a:rPr lang="en-US" altLang="zh-CN" sz="2200" dirty="0"/>
              <a:t>(</a:t>
            </a:r>
            <a:r>
              <a:rPr lang="en-US" altLang="zh-CN" sz="2200" dirty="0" err="1"/>
              <a:t>LEDPin</a:t>
            </a:r>
            <a:r>
              <a:rPr lang="en-US" altLang="zh-CN" sz="2200" dirty="0"/>
              <a:t>, HIGH);  //3</a:t>
            </a:r>
            <a:r>
              <a:rPr lang="zh-CN" altLang="en-US" sz="2200" dirty="0"/>
              <a:t>引脚输出高电平，将小灯点亮</a:t>
            </a:r>
          </a:p>
          <a:p>
            <a:r>
              <a:rPr lang="en-US" altLang="zh-CN" sz="2200" dirty="0"/>
              <a:t>} </a:t>
            </a:r>
          </a:p>
          <a:p>
            <a:endParaRPr lang="en-US" altLang="zh-CN" sz="2200" dirty="0"/>
          </a:p>
          <a:p>
            <a:r>
              <a:rPr lang="en-US" altLang="zh-CN" sz="2200" dirty="0"/>
              <a:t>void loop()</a:t>
            </a:r>
          </a:p>
          <a:p>
            <a:r>
              <a:rPr lang="en-US" altLang="zh-CN" sz="2200" dirty="0"/>
              <a:t>{</a:t>
            </a:r>
          </a:p>
          <a:p>
            <a:endParaRPr lang="en-US" altLang="zh-CN" sz="2200" dirty="0"/>
          </a:p>
          <a:p>
            <a:r>
              <a:rPr lang="en-US" altLang="zh-CN" sz="2200" dirty="0"/>
              <a:t>}</a:t>
            </a:r>
          </a:p>
        </p:txBody>
      </p:sp>
    </p:spTree>
    <p:extLst>
      <p:ext uri="{BB962C8B-B14F-4D97-AF65-F5344CB8AC3E}">
        <p14:creationId xmlns:p14="http://schemas.microsoft.com/office/powerpoint/2010/main" val="1997162836"/>
      </p:ext>
    </p:extLst>
  </p:cSld>
  <p:clrMapOvr>
    <a:masterClrMapping/>
  </p:clrMapOvr>
  <p:transition>
    <p:cover dir="d"/>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97114" y="217715"/>
            <a:ext cx="7772400" cy="1143000"/>
          </a:xfrm>
        </p:spPr>
        <p:txBody>
          <a:bodyPr/>
          <a:lstStyle/>
          <a:p>
            <a:pPr algn="l"/>
            <a:r>
              <a:rPr lang="zh-CN" altLang="en-US" dirty="0"/>
              <a:t>引脚函数</a:t>
            </a:r>
          </a:p>
        </p:txBody>
      </p:sp>
      <p:sp>
        <p:nvSpPr>
          <p:cNvPr id="3" name="内容占位符 2"/>
          <p:cNvSpPr>
            <a:spLocks noGrp="1"/>
          </p:cNvSpPr>
          <p:nvPr>
            <p:ph idx="1"/>
          </p:nvPr>
        </p:nvSpPr>
        <p:spPr>
          <a:xfrm>
            <a:off x="146756" y="1360715"/>
            <a:ext cx="8997243" cy="5141685"/>
          </a:xfrm>
        </p:spPr>
        <p:txBody>
          <a:bodyPr/>
          <a:lstStyle/>
          <a:p>
            <a:pPr lvl="0"/>
            <a:r>
              <a:rPr lang="en-US" altLang="zh-CN" dirty="0" err="1"/>
              <a:t>pinMode</a:t>
            </a:r>
            <a:r>
              <a:rPr lang="en-US" altLang="zh-CN" dirty="0"/>
              <a:t>()</a:t>
            </a:r>
            <a:endParaRPr lang="zh-CN" altLang="zh-CN" dirty="0"/>
          </a:p>
          <a:p>
            <a:r>
              <a:rPr lang="zh-CN" altLang="zh-CN" dirty="0"/>
              <a:t>函数描述：</a:t>
            </a:r>
            <a:r>
              <a:rPr lang="zh-CN" altLang="en-US" dirty="0"/>
              <a:t>将指定的引脚配置为充当输入或输出。</a:t>
            </a:r>
            <a:endParaRPr lang="en-US" altLang="zh-CN" dirty="0"/>
          </a:p>
          <a:p>
            <a:r>
              <a:rPr lang="zh-CN" altLang="zh-CN" dirty="0"/>
              <a:t>原型：</a:t>
            </a:r>
          </a:p>
          <a:p>
            <a:r>
              <a:rPr lang="en-US" altLang="zh-CN" dirty="0"/>
              <a:t># </a:t>
            </a:r>
            <a:r>
              <a:rPr lang="en-US" altLang="zh-CN" dirty="0" err="1"/>
              <a:t>pinMode</a:t>
            </a:r>
            <a:r>
              <a:rPr lang="en-US" altLang="zh-CN" dirty="0"/>
              <a:t>(pin, mode);</a:t>
            </a:r>
            <a:endParaRPr lang="zh-CN" altLang="zh-CN" dirty="0"/>
          </a:p>
          <a:p>
            <a:endParaRPr lang="en-US" altLang="zh-CN" dirty="0"/>
          </a:p>
          <a:p>
            <a:r>
              <a:rPr lang="en-US" altLang="zh-CN" dirty="0"/>
              <a:t>pin:</a:t>
            </a:r>
            <a:r>
              <a:rPr lang="zh-CN" altLang="en-US" dirty="0"/>
              <a:t>引脚号</a:t>
            </a:r>
            <a:endParaRPr lang="en-US" altLang="zh-CN" dirty="0"/>
          </a:p>
          <a:p>
            <a:r>
              <a:rPr lang="en-US" altLang="zh-CN" dirty="0" err="1"/>
              <a:t>mode:INPUT</a:t>
            </a:r>
            <a:r>
              <a:rPr lang="zh-CN" altLang="en-US" dirty="0"/>
              <a:t>、</a:t>
            </a:r>
            <a:r>
              <a:rPr lang="en-US" altLang="zh-CN" dirty="0"/>
              <a:t>OUTPUT</a:t>
            </a:r>
            <a:r>
              <a:rPr lang="zh-CN" altLang="en-US" dirty="0"/>
              <a:t>、</a:t>
            </a:r>
            <a:r>
              <a:rPr lang="en-US" altLang="zh-CN" dirty="0"/>
              <a:t>INPUT_PULLUP</a:t>
            </a:r>
            <a:endParaRPr lang="zh-CN" altLang="zh-CN" dirty="0"/>
          </a:p>
        </p:txBody>
      </p:sp>
    </p:spTree>
    <p:extLst>
      <p:ext uri="{BB962C8B-B14F-4D97-AF65-F5344CB8AC3E}">
        <p14:creationId xmlns:p14="http://schemas.microsoft.com/office/powerpoint/2010/main" val="1483391800"/>
      </p:ext>
    </p:extLst>
  </p:cSld>
  <p:clrMapOvr>
    <a:masterClrMapping/>
  </p:clrMapOvr>
  <p:transition>
    <p:cover dir="d"/>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97114" y="217715"/>
            <a:ext cx="7772400" cy="1143000"/>
          </a:xfrm>
        </p:spPr>
        <p:txBody>
          <a:bodyPr/>
          <a:lstStyle/>
          <a:p>
            <a:pPr algn="l"/>
            <a:r>
              <a:rPr lang="zh-CN" altLang="en-US" dirty="0"/>
              <a:t>引脚函数</a:t>
            </a:r>
          </a:p>
        </p:txBody>
      </p:sp>
      <p:sp>
        <p:nvSpPr>
          <p:cNvPr id="3" name="内容占位符 2"/>
          <p:cNvSpPr>
            <a:spLocks noGrp="1"/>
          </p:cNvSpPr>
          <p:nvPr>
            <p:ph idx="1"/>
          </p:nvPr>
        </p:nvSpPr>
        <p:spPr>
          <a:xfrm>
            <a:off x="146756" y="1360715"/>
            <a:ext cx="8997243" cy="5141685"/>
          </a:xfrm>
        </p:spPr>
        <p:txBody>
          <a:bodyPr/>
          <a:lstStyle/>
          <a:p>
            <a:pPr lvl="0"/>
            <a:r>
              <a:rPr lang="en-US" altLang="zh-CN" dirty="0" err="1"/>
              <a:t>digitalWrite</a:t>
            </a:r>
            <a:r>
              <a:rPr lang="en-US" altLang="zh-CN" dirty="0"/>
              <a:t>()</a:t>
            </a:r>
            <a:endParaRPr lang="zh-CN" altLang="zh-CN" dirty="0"/>
          </a:p>
          <a:p>
            <a:r>
              <a:rPr lang="zh-CN" altLang="zh-CN" dirty="0"/>
              <a:t>函数描述：</a:t>
            </a:r>
            <a:r>
              <a:rPr lang="zh-CN" altLang="en-US" dirty="0"/>
              <a:t>将</a:t>
            </a:r>
            <a:r>
              <a:rPr lang="en-US" altLang="zh-CN" dirty="0"/>
              <a:t>HIGH</a:t>
            </a:r>
            <a:r>
              <a:rPr lang="zh-CN" altLang="en-US" dirty="0"/>
              <a:t>或</a:t>
            </a:r>
            <a:r>
              <a:rPr lang="en-US" altLang="zh-CN" dirty="0"/>
              <a:t>LOW</a:t>
            </a:r>
            <a:r>
              <a:rPr lang="zh-CN" altLang="en-US" dirty="0"/>
              <a:t>值写入数字引脚。</a:t>
            </a:r>
            <a:endParaRPr lang="en-US" altLang="zh-CN" dirty="0"/>
          </a:p>
          <a:p>
            <a:r>
              <a:rPr lang="zh-CN" altLang="zh-CN" dirty="0"/>
              <a:t>原型：</a:t>
            </a:r>
          </a:p>
          <a:p>
            <a:r>
              <a:rPr lang="en-US" altLang="zh-CN" dirty="0"/>
              <a:t># </a:t>
            </a:r>
            <a:r>
              <a:rPr lang="en-US" altLang="zh-CN" dirty="0" err="1"/>
              <a:t>digitalWrite</a:t>
            </a:r>
            <a:r>
              <a:rPr lang="en-US" altLang="zh-CN" dirty="0"/>
              <a:t>(pin, value);</a:t>
            </a:r>
            <a:endParaRPr lang="zh-CN" altLang="zh-CN" dirty="0"/>
          </a:p>
          <a:p>
            <a:endParaRPr lang="en-US" altLang="zh-CN" dirty="0"/>
          </a:p>
          <a:p>
            <a:r>
              <a:rPr lang="en-US" altLang="zh-CN" dirty="0"/>
              <a:t>pin:</a:t>
            </a:r>
            <a:r>
              <a:rPr lang="zh-CN" altLang="en-US" dirty="0"/>
              <a:t>引脚号</a:t>
            </a:r>
            <a:endParaRPr lang="en-US" altLang="zh-CN" dirty="0"/>
          </a:p>
          <a:p>
            <a:r>
              <a:rPr lang="en-US" altLang="zh-CN" dirty="0"/>
              <a:t>value: HIGH</a:t>
            </a:r>
            <a:r>
              <a:rPr lang="zh-CN" altLang="en-US" dirty="0"/>
              <a:t>、</a:t>
            </a:r>
            <a:r>
              <a:rPr lang="en-US" altLang="zh-CN" dirty="0"/>
              <a:t>LOW</a:t>
            </a:r>
            <a:endParaRPr lang="zh-CN" altLang="zh-CN" dirty="0"/>
          </a:p>
        </p:txBody>
      </p:sp>
    </p:spTree>
    <p:extLst>
      <p:ext uri="{BB962C8B-B14F-4D97-AF65-F5344CB8AC3E}">
        <p14:creationId xmlns:p14="http://schemas.microsoft.com/office/powerpoint/2010/main" val="1088331630"/>
      </p:ext>
    </p:extLst>
  </p:cSld>
  <p:clrMapOvr>
    <a:masterClrMapping/>
  </p:clrMapOvr>
  <p:transition>
    <p:cover dir="d"/>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97114" y="217715"/>
            <a:ext cx="7772400" cy="1143000"/>
          </a:xfrm>
        </p:spPr>
        <p:txBody>
          <a:bodyPr/>
          <a:lstStyle/>
          <a:p>
            <a:pPr algn="l"/>
            <a:r>
              <a:rPr lang="zh-CN" altLang="en-US" dirty="0"/>
              <a:t>小组作业</a:t>
            </a:r>
          </a:p>
        </p:txBody>
      </p:sp>
      <p:sp>
        <p:nvSpPr>
          <p:cNvPr id="3" name="内容占位符 2"/>
          <p:cNvSpPr>
            <a:spLocks noGrp="1"/>
          </p:cNvSpPr>
          <p:nvPr>
            <p:ph idx="1"/>
          </p:nvPr>
        </p:nvSpPr>
        <p:spPr>
          <a:xfrm>
            <a:off x="146756" y="1360715"/>
            <a:ext cx="8997243" cy="5141685"/>
          </a:xfrm>
        </p:spPr>
        <p:txBody>
          <a:bodyPr/>
          <a:lstStyle/>
          <a:p>
            <a:pPr marL="514350" lvl="0" indent="-514350">
              <a:buFont typeface="+mj-lt"/>
              <a:buAutoNum type="arabicPeriod"/>
            </a:pPr>
            <a:r>
              <a:rPr lang="zh-CN" altLang="en-US" dirty="0"/>
              <a:t>实现读取输入程序，输出读入的字符串，要求输入三个人的学号</a:t>
            </a:r>
            <a:endParaRPr lang="en-US" altLang="zh-CN" dirty="0"/>
          </a:p>
          <a:p>
            <a:pPr marL="514350" lvl="0" indent="-514350">
              <a:buFont typeface="+mj-lt"/>
              <a:buAutoNum type="arabicPeriod"/>
            </a:pPr>
            <a:r>
              <a:rPr lang="zh-CN" altLang="en-US" dirty="0"/>
              <a:t>实现闪灯程序，要求小灯以</a:t>
            </a:r>
            <a:r>
              <a:rPr lang="en-US" altLang="zh-CN" dirty="0"/>
              <a:t>1</a:t>
            </a:r>
            <a:r>
              <a:rPr lang="zh-CN" altLang="en-US" dirty="0"/>
              <a:t>秒为间隔亮灭</a:t>
            </a:r>
            <a:endParaRPr lang="en-US" altLang="zh-CN" dirty="0"/>
          </a:p>
          <a:p>
            <a:pPr marL="0" lvl="0" indent="0">
              <a:buNone/>
            </a:pPr>
            <a:endParaRPr lang="en-US" altLang="zh-CN" dirty="0"/>
          </a:p>
          <a:p>
            <a:r>
              <a:rPr lang="zh-CN" altLang="en-US" dirty="0"/>
              <a:t>以</a:t>
            </a:r>
            <a:r>
              <a:rPr lang="en-US" altLang="zh-CN" dirty="0"/>
              <a:t>word</a:t>
            </a:r>
            <a:r>
              <a:rPr lang="zh-CN" altLang="en-US" dirty="0"/>
              <a:t>文档形式提交，命名为“成员</a:t>
            </a:r>
            <a:r>
              <a:rPr lang="en-US" altLang="zh-CN" dirty="0"/>
              <a:t>1-</a:t>
            </a:r>
            <a:r>
              <a:rPr lang="zh-CN" altLang="en-US" dirty="0"/>
              <a:t>成员</a:t>
            </a:r>
            <a:r>
              <a:rPr lang="en-US" altLang="zh-CN" dirty="0"/>
              <a:t>2-</a:t>
            </a:r>
            <a:r>
              <a:rPr lang="zh-CN" altLang="en-US" dirty="0"/>
              <a:t>成员</a:t>
            </a:r>
            <a:r>
              <a:rPr lang="en-US" altLang="zh-CN" dirty="0"/>
              <a:t>3-</a:t>
            </a:r>
            <a:r>
              <a:rPr lang="zh-CN" altLang="en-US" dirty="0"/>
              <a:t>实验报告</a:t>
            </a:r>
            <a:r>
              <a:rPr lang="en-US" altLang="zh-CN" dirty="0"/>
              <a:t>1.docx</a:t>
            </a:r>
            <a:r>
              <a:rPr lang="zh-CN" altLang="en-US" dirty="0"/>
              <a:t>”</a:t>
            </a:r>
            <a:endParaRPr lang="en-US" altLang="zh-CN" dirty="0"/>
          </a:p>
          <a:p>
            <a:r>
              <a:rPr lang="zh-CN" altLang="en-US" dirty="0"/>
              <a:t>内容为：程序代码、实验结果图片</a:t>
            </a:r>
            <a:endParaRPr lang="en-US" altLang="zh-CN" dirty="0"/>
          </a:p>
          <a:p>
            <a:r>
              <a:rPr lang="zh-CN" altLang="en-US" dirty="0">
                <a:hlinkClick r:id="rId2"/>
              </a:rPr>
              <a:t>下次课前发送到邮箱</a:t>
            </a:r>
            <a:r>
              <a:rPr lang="en-US" altLang="zh-CN" dirty="0">
                <a:hlinkClick r:id="rId2"/>
              </a:rPr>
              <a:t>qiushitong@buaa.edu.cn</a:t>
            </a:r>
            <a:endParaRPr lang="en-US" altLang="zh-CN" dirty="0"/>
          </a:p>
          <a:p>
            <a:pPr marL="0" lvl="0" indent="0">
              <a:buNone/>
            </a:pPr>
            <a:endParaRPr lang="en-US" altLang="zh-CN" dirty="0"/>
          </a:p>
        </p:txBody>
      </p:sp>
    </p:spTree>
    <p:extLst>
      <p:ext uri="{BB962C8B-B14F-4D97-AF65-F5344CB8AC3E}">
        <p14:creationId xmlns:p14="http://schemas.microsoft.com/office/powerpoint/2010/main" val="4055089111"/>
      </p:ext>
    </p:extLst>
  </p:cSld>
  <p:clrMapOvr>
    <a:masterClrMapping/>
  </p:clrMapOvr>
  <p:transition>
    <p:cover dir="d"/>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97114" y="217715"/>
            <a:ext cx="7772400" cy="1143000"/>
          </a:xfrm>
        </p:spPr>
        <p:txBody>
          <a:bodyPr/>
          <a:lstStyle/>
          <a:p>
            <a:pPr algn="l"/>
            <a:r>
              <a:rPr lang="zh-CN" altLang="en-US" dirty="0"/>
              <a:t>领取器材</a:t>
            </a:r>
          </a:p>
        </p:txBody>
      </p:sp>
      <p:sp>
        <p:nvSpPr>
          <p:cNvPr id="3" name="内容占位符 2"/>
          <p:cNvSpPr>
            <a:spLocks noGrp="1"/>
          </p:cNvSpPr>
          <p:nvPr>
            <p:ph idx="1"/>
          </p:nvPr>
        </p:nvSpPr>
        <p:spPr>
          <a:xfrm>
            <a:off x="146756" y="1360715"/>
            <a:ext cx="8997243" cy="5141685"/>
          </a:xfrm>
        </p:spPr>
        <p:txBody>
          <a:bodyPr/>
          <a:lstStyle/>
          <a:p>
            <a:r>
              <a:rPr lang="zh-CN" altLang="en-US" dirty="0"/>
              <a:t>每组同学派</a:t>
            </a:r>
            <a:r>
              <a:rPr lang="en-US" altLang="zh-CN" dirty="0"/>
              <a:t>1</a:t>
            </a:r>
            <a:r>
              <a:rPr lang="zh-CN" altLang="en-US" dirty="0"/>
              <a:t>个人来领取</a:t>
            </a:r>
            <a:endParaRPr lang="en-US" altLang="zh-CN" dirty="0"/>
          </a:p>
          <a:p>
            <a:r>
              <a:rPr lang="en-US" altLang="zh-CN" dirty="0"/>
              <a:t>1*Arduino</a:t>
            </a:r>
            <a:r>
              <a:rPr lang="zh-CN" altLang="en-US" dirty="0"/>
              <a:t>板子</a:t>
            </a:r>
            <a:r>
              <a:rPr lang="en-US" altLang="zh-CN" dirty="0"/>
              <a:t>+ 1*USB</a:t>
            </a:r>
            <a:r>
              <a:rPr lang="zh-CN" altLang="en-US" dirty="0"/>
              <a:t>线</a:t>
            </a:r>
            <a:endParaRPr lang="en-US" altLang="zh-CN" dirty="0"/>
          </a:p>
          <a:p>
            <a:r>
              <a:rPr lang="en-US" altLang="zh-CN" dirty="0"/>
              <a:t>1*</a:t>
            </a:r>
            <a:r>
              <a:rPr lang="zh-CN" altLang="en-US" dirty="0"/>
              <a:t>小灯</a:t>
            </a:r>
            <a:endParaRPr lang="en-US" altLang="zh-CN" dirty="0"/>
          </a:p>
          <a:p>
            <a:r>
              <a:rPr lang="en-US" altLang="zh-CN" dirty="0"/>
              <a:t>4</a:t>
            </a:r>
            <a:r>
              <a:rPr lang="zh-CN" altLang="en-US"/>
              <a:t>*公对母杜邦线 </a:t>
            </a:r>
            <a:endParaRPr lang="en-US" altLang="zh-CN" dirty="0"/>
          </a:p>
          <a:p>
            <a:pPr marL="0" lvl="0" indent="0">
              <a:buNone/>
            </a:pPr>
            <a:endParaRPr lang="en-US" altLang="zh-CN" dirty="0"/>
          </a:p>
        </p:txBody>
      </p:sp>
    </p:spTree>
    <p:extLst>
      <p:ext uri="{BB962C8B-B14F-4D97-AF65-F5344CB8AC3E}">
        <p14:creationId xmlns:p14="http://schemas.microsoft.com/office/powerpoint/2010/main" val="1027365779"/>
      </p:ext>
    </p:extLst>
  </p:cSld>
  <p:clrMapOvr>
    <a:masterClrMapping/>
  </p:clrMapOvr>
  <p:transition>
    <p:cover dir="d"/>
  </p:transition>
</p:sld>
</file>

<file path=ppt/theme/theme1.xml><?xml version="1.0" encoding="utf-8"?>
<a:theme xmlns:a="http://schemas.openxmlformats.org/drawingml/2006/main" name="1_默认设计模板">
  <a:themeElements>
    <a:clrScheme name="默认设计模板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默认设计模板">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400" b="0" i="0" u="none" strike="noStrike" cap="none" normalizeH="0" baseline="0" smtClean="0">
            <a:ln>
              <a:noFill/>
            </a:ln>
            <a:solidFill>
              <a:schemeClr val="tx1"/>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400" b="0" i="0" u="none" strike="noStrike" cap="none" normalizeH="0" baseline="0" smtClean="0">
            <a:ln>
              <a:noFill/>
            </a:ln>
            <a:solidFill>
              <a:schemeClr val="tx1"/>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defRPr>
        </a:defPPr>
      </a:lstStyle>
    </a:lnDef>
  </a:objectDefaults>
  <a:extraClrSchemeLst>
    <a:extraClrScheme>
      <a:clrScheme name="默认设计模板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默认设计模板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默认设计模板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1161</TotalTime>
  <Words>2817</Words>
  <Application>Microsoft Office PowerPoint</Application>
  <PresentationFormat>全屏显示(4:3)</PresentationFormat>
  <Paragraphs>285</Paragraphs>
  <Slides>73</Slides>
  <Notes>12</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73</vt:i4>
      </vt:variant>
    </vt:vector>
  </HeadingPairs>
  <TitlesOfParts>
    <vt:vector size="77" baseType="lpstr">
      <vt:lpstr>Arial</vt:lpstr>
      <vt:lpstr>Calibri</vt:lpstr>
      <vt:lpstr>Times New Roman</vt:lpstr>
      <vt:lpstr>1_默认设计模板</vt:lpstr>
      <vt:lpstr>进入Arduino的世界</vt:lpstr>
      <vt:lpstr>PowerPoint 演示文稿</vt:lpstr>
      <vt:lpstr>什么是Arduino？</vt:lpstr>
      <vt:lpstr>什么是Arduino？</vt:lpstr>
      <vt:lpstr>什么是Arduino？</vt:lpstr>
      <vt:lpstr>Arduino不只是电路板</vt:lpstr>
      <vt:lpstr>Arduino不只是电路板</vt:lpstr>
      <vt:lpstr>Arduino不只是电路板</vt:lpstr>
      <vt:lpstr>为什么要使用Arduino？</vt:lpstr>
      <vt:lpstr>为什么要使用Arduino？</vt:lpstr>
      <vt:lpstr>Arduino与创客文化</vt:lpstr>
      <vt:lpstr>Arduino硬件介绍</vt:lpstr>
      <vt:lpstr>常见Arduino型号</vt:lpstr>
      <vt:lpstr>Arduino Duemilanove</vt:lpstr>
      <vt:lpstr>Arduino Uno R3</vt:lpstr>
      <vt:lpstr>Arduino Uno SMD</vt:lpstr>
      <vt:lpstr>Arduino Nano</vt:lpstr>
      <vt:lpstr>Arduino mini</vt:lpstr>
      <vt:lpstr>Arduino Leonardo</vt:lpstr>
      <vt:lpstr>Arduino mega 2560</vt:lpstr>
      <vt:lpstr>Arduino Due</vt:lpstr>
      <vt:lpstr>之前的硬件</vt:lpstr>
      <vt:lpstr>Arduino Serial</vt:lpstr>
      <vt:lpstr>Arduino USB</vt:lpstr>
      <vt:lpstr>Arduino Extreme</vt:lpstr>
      <vt:lpstr>Arduino Nuova Generazine</vt:lpstr>
      <vt:lpstr>Arduino Diecimila</vt:lpstr>
      <vt:lpstr>Arduino Duemilanove</vt:lpstr>
      <vt:lpstr>Arduino Mega 1280</vt:lpstr>
      <vt:lpstr>其他许可产品</vt:lpstr>
      <vt:lpstr>第三方兼容产品</vt:lpstr>
      <vt:lpstr>第三方兼容产品</vt:lpstr>
      <vt:lpstr>Arduino Uno的I/O板方框图</vt:lpstr>
      <vt:lpstr>Arduino Uno版上硬件</vt:lpstr>
      <vt:lpstr>PowerPoint 演示文稿</vt:lpstr>
      <vt:lpstr>串口通信</vt:lpstr>
      <vt:lpstr>串口用处</vt:lpstr>
      <vt:lpstr>串口调试工具</vt:lpstr>
      <vt:lpstr>串口工作模式</vt:lpstr>
      <vt:lpstr>串口通信原理</vt:lpstr>
      <vt:lpstr>串口通信原理</vt:lpstr>
      <vt:lpstr>串口通信原理</vt:lpstr>
      <vt:lpstr>串口通信原理</vt:lpstr>
      <vt:lpstr>串口通信原理</vt:lpstr>
      <vt:lpstr>盾板</vt:lpstr>
      <vt:lpstr>PowerPoint 演示文稿</vt:lpstr>
      <vt:lpstr>PowerPoint 演示文稿</vt:lpstr>
      <vt:lpstr>开始Arduino之旅</vt:lpstr>
      <vt:lpstr>交叉编译</vt:lpstr>
      <vt:lpstr>Arduino开发环境</vt:lpstr>
      <vt:lpstr>第三方软件</vt:lpstr>
      <vt:lpstr>第三方软件</vt:lpstr>
      <vt:lpstr>ArduinoIDE安装</vt:lpstr>
      <vt:lpstr>Arduino IDE介绍</vt:lpstr>
      <vt:lpstr>Arduino开发</vt:lpstr>
      <vt:lpstr>加载第一个程序</vt:lpstr>
      <vt:lpstr>加载第一个程序</vt:lpstr>
      <vt:lpstr>加载第一个程序</vt:lpstr>
      <vt:lpstr>加载第一个程序</vt:lpstr>
      <vt:lpstr>常用串口通信函数</vt:lpstr>
      <vt:lpstr>常用串口通信函数</vt:lpstr>
      <vt:lpstr>常用串口通信函数</vt:lpstr>
      <vt:lpstr>常用串口通信函数</vt:lpstr>
      <vt:lpstr>常用串口通信函数</vt:lpstr>
      <vt:lpstr>读取串口输入示例</vt:lpstr>
      <vt:lpstr>常用串口通信函数</vt:lpstr>
      <vt:lpstr>常用串口通信函数</vt:lpstr>
      <vt:lpstr>点亮小灯示例</vt:lpstr>
      <vt:lpstr>亮灯程序</vt:lpstr>
      <vt:lpstr>引脚函数</vt:lpstr>
      <vt:lpstr>引脚函数</vt:lpstr>
      <vt:lpstr>小组作业</vt:lpstr>
      <vt:lpstr>领取器材</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徐贤</dc:creator>
  <cp:lastModifiedBy>Administrator</cp:lastModifiedBy>
  <cp:revision>247</cp:revision>
  <dcterms:created xsi:type="dcterms:W3CDTF">2015-09-22T01:44:00Z</dcterms:created>
  <dcterms:modified xsi:type="dcterms:W3CDTF">2022-09-18T11:04:01Z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2052-11.3.0.9221</vt:lpwstr>
  </property>
</Properties>
</file>