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8"/>
  </p:notesMasterIdLst>
  <p:sldIdLst>
    <p:sldId id="256" r:id="rId2"/>
    <p:sldId id="278"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4" r:id="rId20"/>
    <p:sldId id="275" r:id="rId21"/>
    <p:sldId id="276" r:id="rId22"/>
    <p:sldId id="277" r:id="rId23"/>
    <p:sldId id="279" r:id="rId24"/>
    <p:sldId id="280" r:id="rId25"/>
    <p:sldId id="281" r:id="rId26"/>
    <p:sldId id="282" r:id="rId27"/>
    <p:sldId id="283" r:id="rId28"/>
    <p:sldId id="284" r:id="rId29"/>
    <p:sldId id="300" r:id="rId30"/>
    <p:sldId id="285" r:id="rId31"/>
    <p:sldId id="286" r:id="rId32"/>
    <p:sldId id="287" r:id="rId33"/>
    <p:sldId id="288" r:id="rId34"/>
    <p:sldId id="289" r:id="rId35"/>
    <p:sldId id="291" r:id="rId36"/>
    <p:sldId id="292" r:id="rId37"/>
    <p:sldId id="293" r:id="rId38"/>
    <p:sldId id="294" r:id="rId39"/>
    <p:sldId id="295" r:id="rId40"/>
    <p:sldId id="296" r:id="rId41"/>
    <p:sldId id="297" r:id="rId42"/>
    <p:sldId id="298" r:id="rId43"/>
    <p:sldId id="299" r:id="rId44"/>
    <p:sldId id="301" r:id="rId45"/>
    <p:sldId id="302" r:id="rId46"/>
    <p:sldId id="303" r:id="rId47"/>
    <p:sldId id="358" r:id="rId48"/>
    <p:sldId id="304" r:id="rId49"/>
    <p:sldId id="305" r:id="rId50"/>
    <p:sldId id="306" r:id="rId51"/>
    <p:sldId id="308" r:id="rId52"/>
    <p:sldId id="359" r:id="rId53"/>
    <p:sldId id="309" r:id="rId54"/>
    <p:sldId id="360" r:id="rId55"/>
    <p:sldId id="361" r:id="rId56"/>
    <p:sldId id="362" r:id="rId57"/>
    <p:sldId id="363" r:id="rId58"/>
    <p:sldId id="364" r:id="rId59"/>
    <p:sldId id="310" r:id="rId60"/>
    <p:sldId id="311" r:id="rId61"/>
    <p:sldId id="312" r:id="rId62"/>
    <p:sldId id="313" r:id="rId63"/>
    <p:sldId id="314" r:id="rId64"/>
    <p:sldId id="315" r:id="rId65"/>
    <p:sldId id="316" r:id="rId66"/>
    <p:sldId id="317" r:id="rId67"/>
    <p:sldId id="318" r:id="rId68"/>
    <p:sldId id="319" r:id="rId69"/>
    <p:sldId id="365" r:id="rId70"/>
    <p:sldId id="326" r:id="rId71"/>
    <p:sldId id="327" r:id="rId72"/>
    <p:sldId id="328" r:id="rId73"/>
    <p:sldId id="329" r:id="rId74"/>
    <p:sldId id="335" r:id="rId75"/>
    <p:sldId id="330" r:id="rId76"/>
    <p:sldId id="331" r:id="rId77"/>
    <p:sldId id="332" r:id="rId78"/>
    <p:sldId id="334" r:id="rId79"/>
    <p:sldId id="366" r:id="rId80"/>
    <p:sldId id="367" r:id="rId81"/>
    <p:sldId id="368" r:id="rId82"/>
    <p:sldId id="369" r:id="rId83"/>
    <p:sldId id="370" r:id="rId84"/>
    <p:sldId id="371" r:id="rId85"/>
    <p:sldId id="372" r:id="rId86"/>
    <p:sldId id="373" r:id="rId87"/>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940"/>
    <p:restoredTop sz="94674"/>
  </p:normalViewPr>
  <p:slideViewPr>
    <p:cSldViewPr snapToGrid="0">
      <p:cViewPr varScale="1">
        <p:scale>
          <a:sx n="113" d="100"/>
          <a:sy n="113" d="100"/>
        </p:scale>
        <p:origin x="184" y="4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viewProps" Target="viewProp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notesMaster" Target="notesMasters/notesMaster1.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ableStyles" Target="tableStyle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ABB070F-A9B7-4DCB-A487-CFDC8B0F56F9}" type="datetimeFigureOut">
              <a:rPr lang="zh-CN" altLang="en-US" smtClean="0"/>
              <a:t>2021/10/12</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7F81FF-C0A8-4BAA-BB8D-31A1833CE24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a:spLocks noGrp="1" noChangeArrowheads="1"/>
          </p:cNvSpPr>
          <p:nvPr>
            <p:ph type="sldNum" sz="quarter" idx="5"/>
          </p:nvPr>
        </p:nvSpPr>
        <p:spPr>
          <a:noFill/>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D536DB5F-655E-4AAB-9929-7798F315D9F0}" type="slidenum">
              <a:rPr lang="en-US" altLang="zh-CN" smtClean="0">
                <a:solidFill>
                  <a:srgbClr val="000000"/>
                </a:solidFill>
              </a:rPr>
              <a:t>1</a:t>
            </a:fld>
            <a:endParaRPr lang="en-US" altLang="zh-CN">
              <a:solidFill>
                <a:srgbClr val="000000"/>
              </a:solidFill>
            </a:endParaRPr>
          </a:p>
        </p:txBody>
      </p:sp>
      <p:sp>
        <p:nvSpPr>
          <p:cNvPr id="7171" name="Rectangle 2"/>
          <p:cNvSpPr>
            <a:spLocks noGrp="1" noRot="1" noChangeAspect="1" noChangeArrowheads="1" noTextEdit="1"/>
          </p:cNvSpPr>
          <p:nvPr>
            <p:ph type="sldImg"/>
          </p:nvPr>
        </p:nvSpPr>
        <p:spPr/>
      </p:sp>
      <p:sp>
        <p:nvSpPr>
          <p:cNvPr id="7172"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a:spLocks noGrp="1" noChangeArrowheads="1"/>
          </p:cNvSpPr>
          <p:nvPr>
            <p:ph type="sldNum" sz="quarter" idx="5"/>
          </p:nvPr>
        </p:nvSpPr>
        <p:spPr>
          <a:noFill/>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D536DB5F-655E-4AAB-9929-7798F315D9F0}" type="slidenum">
              <a:rPr lang="en-US" altLang="zh-CN">
                <a:solidFill>
                  <a:srgbClr val="000000"/>
                </a:solidFill>
              </a:rPr>
              <a:t>3</a:t>
            </a:fld>
            <a:endParaRPr lang="en-US" altLang="zh-CN">
              <a:solidFill>
                <a:srgbClr val="000000"/>
              </a:solidFill>
            </a:endParaRPr>
          </a:p>
        </p:txBody>
      </p:sp>
      <p:sp>
        <p:nvSpPr>
          <p:cNvPr id="7171" name="Rectangle 2"/>
          <p:cNvSpPr>
            <a:spLocks noGrp="1" noRot="1" noChangeAspect="1" noChangeArrowheads="1" noTextEdit="1"/>
          </p:cNvSpPr>
          <p:nvPr>
            <p:ph type="sldImg"/>
          </p:nvPr>
        </p:nvSpPr>
        <p:spPr/>
      </p:sp>
      <p:sp>
        <p:nvSpPr>
          <p:cNvPr id="7172"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a:spLocks noGrp="1" noChangeArrowheads="1"/>
          </p:cNvSpPr>
          <p:nvPr>
            <p:ph type="sldNum" sz="quarter" idx="5"/>
          </p:nvPr>
        </p:nvSpPr>
        <p:spPr>
          <a:noFill/>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D536DB5F-655E-4AAB-9929-7798F315D9F0}" type="slidenum">
              <a:rPr lang="en-US" altLang="zh-CN">
                <a:solidFill>
                  <a:srgbClr val="000000"/>
                </a:solidFill>
              </a:rPr>
              <a:t>4</a:t>
            </a:fld>
            <a:endParaRPr lang="en-US" altLang="zh-CN">
              <a:solidFill>
                <a:srgbClr val="000000"/>
              </a:solidFill>
            </a:endParaRPr>
          </a:p>
        </p:txBody>
      </p:sp>
      <p:sp>
        <p:nvSpPr>
          <p:cNvPr id="7171" name="Rectangle 2"/>
          <p:cNvSpPr>
            <a:spLocks noGrp="1" noRot="1" noChangeAspect="1" noChangeArrowheads="1" noTextEdit="1"/>
          </p:cNvSpPr>
          <p:nvPr>
            <p:ph type="sldImg"/>
          </p:nvPr>
        </p:nvSpPr>
        <p:spPr/>
      </p:sp>
      <p:sp>
        <p:nvSpPr>
          <p:cNvPr id="7172"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a:spLocks noGrp="1" noChangeArrowheads="1"/>
          </p:cNvSpPr>
          <p:nvPr>
            <p:ph type="sldNum" sz="quarter" idx="5"/>
          </p:nvPr>
        </p:nvSpPr>
        <p:spPr>
          <a:noFill/>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D536DB5F-655E-4AAB-9929-7798F315D9F0}" type="slidenum">
              <a:rPr lang="en-US" altLang="zh-CN">
                <a:solidFill>
                  <a:srgbClr val="000000"/>
                </a:solidFill>
              </a:rPr>
              <a:t>5</a:t>
            </a:fld>
            <a:endParaRPr lang="en-US" altLang="zh-CN">
              <a:solidFill>
                <a:srgbClr val="000000"/>
              </a:solidFill>
            </a:endParaRPr>
          </a:p>
        </p:txBody>
      </p:sp>
      <p:sp>
        <p:nvSpPr>
          <p:cNvPr id="7171" name="Rectangle 2"/>
          <p:cNvSpPr>
            <a:spLocks noGrp="1" noRot="1" noChangeAspect="1" noChangeArrowheads="1" noTextEdit="1"/>
          </p:cNvSpPr>
          <p:nvPr>
            <p:ph type="sldImg"/>
          </p:nvPr>
        </p:nvSpPr>
        <p:spPr/>
      </p:sp>
      <p:sp>
        <p:nvSpPr>
          <p:cNvPr id="7172"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a:spLocks noGrp="1" noChangeArrowheads="1"/>
          </p:cNvSpPr>
          <p:nvPr>
            <p:ph type="sldNum" sz="quarter" idx="5"/>
          </p:nvPr>
        </p:nvSpPr>
        <p:spPr>
          <a:noFill/>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D536DB5F-655E-4AAB-9929-7798F315D9F0}" type="slidenum">
              <a:rPr lang="en-US" altLang="zh-CN">
                <a:solidFill>
                  <a:srgbClr val="000000"/>
                </a:solidFill>
              </a:rPr>
              <a:t>6</a:t>
            </a:fld>
            <a:endParaRPr lang="en-US" altLang="zh-CN">
              <a:solidFill>
                <a:srgbClr val="000000"/>
              </a:solidFill>
            </a:endParaRPr>
          </a:p>
        </p:txBody>
      </p:sp>
      <p:sp>
        <p:nvSpPr>
          <p:cNvPr id="7171" name="Rectangle 2"/>
          <p:cNvSpPr>
            <a:spLocks noGrp="1" noRot="1" noChangeAspect="1" noChangeArrowheads="1" noTextEdit="1"/>
          </p:cNvSpPr>
          <p:nvPr>
            <p:ph type="sldImg"/>
          </p:nvPr>
        </p:nvSpPr>
        <p:spPr/>
      </p:sp>
      <p:sp>
        <p:nvSpPr>
          <p:cNvPr id="7172"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a:spLocks noGrp="1" noChangeArrowheads="1"/>
          </p:cNvSpPr>
          <p:nvPr>
            <p:ph type="sldNum" sz="quarter" idx="5"/>
          </p:nvPr>
        </p:nvSpPr>
        <p:spPr>
          <a:noFill/>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D536DB5F-655E-4AAB-9929-7798F315D9F0}" type="slidenum">
              <a:rPr lang="en-US" altLang="zh-CN">
                <a:solidFill>
                  <a:srgbClr val="000000"/>
                </a:solidFill>
              </a:rPr>
              <a:t>7</a:t>
            </a:fld>
            <a:endParaRPr lang="en-US" altLang="zh-CN">
              <a:solidFill>
                <a:srgbClr val="000000"/>
              </a:solidFill>
            </a:endParaRPr>
          </a:p>
        </p:txBody>
      </p:sp>
      <p:sp>
        <p:nvSpPr>
          <p:cNvPr id="7171" name="Rectangle 2"/>
          <p:cNvSpPr>
            <a:spLocks noGrp="1" noRot="1" noChangeAspect="1" noChangeArrowheads="1" noTextEdit="1"/>
          </p:cNvSpPr>
          <p:nvPr>
            <p:ph type="sldImg"/>
          </p:nvPr>
        </p:nvSpPr>
        <p:spPr/>
      </p:sp>
      <p:sp>
        <p:nvSpPr>
          <p:cNvPr id="7172"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a:spLocks noGrp="1" noChangeArrowheads="1"/>
          </p:cNvSpPr>
          <p:nvPr>
            <p:ph type="sldNum" sz="quarter" idx="5"/>
          </p:nvPr>
        </p:nvSpPr>
        <p:spPr>
          <a:noFill/>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D536DB5F-655E-4AAB-9929-7798F315D9F0}" type="slidenum">
              <a:rPr lang="en-US" altLang="zh-CN">
                <a:solidFill>
                  <a:srgbClr val="000000"/>
                </a:solidFill>
              </a:rPr>
              <a:t>8</a:t>
            </a:fld>
            <a:endParaRPr lang="en-US" altLang="zh-CN">
              <a:solidFill>
                <a:srgbClr val="000000"/>
              </a:solidFill>
            </a:endParaRPr>
          </a:p>
        </p:txBody>
      </p:sp>
      <p:sp>
        <p:nvSpPr>
          <p:cNvPr id="7171" name="Rectangle 2"/>
          <p:cNvSpPr>
            <a:spLocks noGrp="1" noRot="1" noChangeAspect="1" noChangeArrowheads="1" noTextEdit="1"/>
          </p:cNvSpPr>
          <p:nvPr>
            <p:ph type="sldImg"/>
          </p:nvPr>
        </p:nvSpPr>
        <p:spPr/>
      </p:sp>
      <p:sp>
        <p:nvSpPr>
          <p:cNvPr id="7172"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a:spLocks noGrp="1" noChangeArrowheads="1"/>
          </p:cNvSpPr>
          <p:nvPr>
            <p:ph type="sldNum" sz="quarter" idx="5"/>
          </p:nvPr>
        </p:nvSpPr>
        <p:spPr>
          <a:noFill/>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D536DB5F-655E-4AAB-9929-7798F315D9F0}" type="slidenum">
              <a:rPr lang="en-US" altLang="zh-CN">
                <a:solidFill>
                  <a:srgbClr val="000000"/>
                </a:solidFill>
              </a:rPr>
              <a:t>9</a:t>
            </a:fld>
            <a:endParaRPr lang="en-US" altLang="zh-CN">
              <a:solidFill>
                <a:srgbClr val="000000"/>
              </a:solidFill>
            </a:endParaRPr>
          </a:p>
        </p:txBody>
      </p:sp>
      <p:sp>
        <p:nvSpPr>
          <p:cNvPr id="7171" name="Rectangle 2"/>
          <p:cNvSpPr>
            <a:spLocks noGrp="1" noRot="1" noChangeAspect="1" noChangeArrowheads="1" noTextEdit="1"/>
          </p:cNvSpPr>
          <p:nvPr>
            <p:ph type="sldImg"/>
          </p:nvPr>
        </p:nvSpPr>
        <p:spPr/>
      </p:sp>
      <p:sp>
        <p:nvSpPr>
          <p:cNvPr id="7172"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a:spLocks noGrp="1" noChangeArrowheads="1"/>
          </p:cNvSpPr>
          <p:nvPr>
            <p:ph type="sldNum" sz="quarter" idx="5"/>
          </p:nvPr>
        </p:nvSpPr>
        <p:spPr>
          <a:noFill/>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D536DB5F-655E-4AAB-9929-7798F315D9F0}" type="slidenum">
              <a:rPr lang="en-US" altLang="zh-CN">
                <a:solidFill>
                  <a:srgbClr val="000000"/>
                </a:solidFill>
              </a:rPr>
              <a:t>10</a:t>
            </a:fld>
            <a:endParaRPr lang="en-US" altLang="zh-CN">
              <a:solidFill>
                <a:srgbClr val="000000"/>
              </a:solidFill>
            </a:endParaRPr>
          </a:p>
        </p:txBody>
      </p:sp>
      <p:sp>
        <p:nvSpPr>
          <p:cNvPr id="7171" name="Rectangle 2"/>
          <p:cNvSpPr>
            <a:spLocks noGrp="1" noRot="1" noChangeAspect="1" noChangeArrowheads="1" noTextEdit="1"/>
          </p:cNvSpPr>
          <p:nvPr>
            <p:ph type="sldImg"/>
          </p:nvPr>
        </p:nvSpPr>
        <p:spPr/>
      </p:sp>
      <p:sp>
        <p:nvSpPr>
          <p:cNvPr id="7172"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a:spLocks noGrp="1" noChangeArrowheads="1"/>
          </p:cNvSpPr>
          <p:nvPr>
            <p:ph type="sldNum" sz="quarter" idx="5"/>
          </p:nvPr>
        </p:nvSpPr>
        <p:spPr>
          <a:noFill/>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D536DB5F-655E-4AAB-9929-7798F315D9F0}" type="slidenum">
              <a:rPr lang="en-US" altLang="zh-CN">
                <a:solidFill>
                  <a:srgbClr val="000000"/>
                </a:solidFill>
              </a:rPr>
              <a:t>11</a:t>
            </a:fld>
            <a:endParaRPr lang="en-US" altLang="zh-CN">
              <a:solidFill>
                <a:srgbClr val="000000"/>
              </a:solidFill>
            </a:endParaRPr>
          </a:p>
        </p:txBody>
      </p:sp>
      <p:sp>
        <p:nvSpPr>
          <p:cNvPr id="7171" name="Rectangle 2"/>
          <p:cNvSpPr>
            <a:spLocks noGrp="1" noRot="1" noChangeAspect="1" noChangeArrowheads="1" noTextEdit="1"/>
          </p:cNvSpPr>
          <p:nvPr>
            <p:ph type="sldImg"/>
          </p:nvPr>
        </p:nvSpPr>
        <p:spPr/>
      </p:sp>
      <p:sp>
        <p:nvSpPr>
          <p:cNvPr id="7172"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a:spLocks noGrp="1" noChangeArrowheads="1"/>
          </p:cNvSpPr>
          <p:nvPr>
            <p:ph type="sldNum" sz="quarter" idx="5"/>
          </p:nvPr>
        </p:nvSpPr>
        <p:spPr>
          <a:noFill/>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D536DB5F-655E-4AAB-9929-7798F315D9F0}" type="slidenum">
              <a:rPr lang="en-US" altLang="zh-CN">
                <a:solidFill>
                  <a:srgbClr val="000000"/>
                </a:solidFill>
              </a:rPr>
              <a:t>12</a:t>
            </a:fld>
            <a:endParaRPr lang="en-US" altLang="zh-CN">
              <a:solidFill>
                <a:srgbClr val="000000"/>
              </a:solidFill>
            </a:endParaRPr>
          </a:p>
        </p:txBody>
      </p:sp>
      <p:sp>
        <p:nvSpPr>
          <p:cNvPr id="7171" name="Rectangle 2"/>
          <p:cNvSpPr>
            <a:spLocks noGrp="1" noRot="1" noChangeAspect="1" noChangeArrowheads="1" noTextEdit="1"/>
          </p:cNvSpPr>
          <p:nvPr>
            <p:ph type="sldImg"/>
          </p:nvPr>
        </p:nvSpPr>
        <p:spPr/>
      </p:sp>
      <p:sp>
        <p:nvSpPr>
          <p:cNvPr id="7172"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a:spLocks noGrp="1" noChangeArrowheads="1"/>
          </p:cNvSpPr>
          <p:nvPr>
            <p:ph type="sldNum" sz="quarter" idx="5"/>
          </p:nvPr>
        </p:nvSpPr>
        <p:spPr>
          <a:noFill/>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D536DB5F-655E-4AAB-9929-7798F315D9F0}" type="slidenum">
              <a:rPr lang="en-US" altLang="zh-CN">
                <a:solidFill>
                  <a:srgbClr val="000000"/>
                </a:solidFill>
              </a:rPr>
              <a:t>13</a:t>
            </a:fld>
            <a:endParaRPr lang="en-US" altLang="zh-CN">
              <a:solidFill>
                <a:srgbClr val="000000"/>
              </a:solidFill>
            </a:endParaRPr>
          </a:p>
        </p:txBody>
      </p:sp>
      <p:sp>
        <p:nvSpPr>
          <p:cNvPr id="7171" name="Rectangle 2"/>
          <p:cNvSpPr>
            <a:spLocks noGrp="1" noRot="1" noChangeAspect="1" noChangeArrowheads="1" noTextEdit="1"/>
          </p:cNvSpPr>
          <p:nvPr>
            <p:ph type="sldImg"/>
          </p:nvPr>
        </p:nvSpPr>
        <p:spPr/>
      </p:sp>
      <p:sp>
        <p:nvSpPr>
          <p:cNvPr id="7172"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a:spLocks noGrp="1" noChangeArrowheads="1"/>
          </p:cNvSpPr>
          <p:nvPr>
            <p:ph type="sldNum" sz="quarter" idx="5"/>
          </p:nvPr>
        </p:nvSpPr>
        <p:spPr>
          <a:noFill/>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D536DB5F-655E-4AAB-9929-7798F315D9F0}" type="slidenum">
              <a:rPr lang="en-US" altLang="zh-CN">
                <a:solidFill>
                  <a:srgbClr val="000000"/>
                </a:solidFill>
              </a:rPr>
              <a:t>14</a:t>
            </a:fld>
            <a:endParaRPr lang="en-US" altLang="zh-CN">
              <a:solidFill>
                <a:srgbClr val="000000"/>
              </a:solidFill>
            </a:endParaRPr>
          </a:p>
        </p:txBody>
      </p:sp>
      <p:sp>
        <p:nvSpPr>
          <p:cNvPr id="7171" name="Rectangle 2"/>
          <p:cNvSpPr>
            <a:spLocks noGrp="1" noRot="1" noChangeAspect="1" noChangeArrowheads="1" noTextEdit="1"/>
          </p:cNvSpPr>
          <p:nvPr>
            <p:ph type="sldImg"/>
          </p:nvPr>
        </p:nvSpPr>
        <p:spPr/>
      </p:sp>
      <p:sp>
        <p:nvSpPr>
          <p:cNvPr id="7172"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a:spLocks noGrp="1" noChangeArrowheads="1"/>
          </p:cNvSpPr>
          <p:nvPr>
            <p:ph type="sldNum" sz="quarter" idx="5"/>
          </p:nvPr>
        </p:nvSpPr>
        <p:spPr>
          <a:noFill/>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D536DB5F-655E-4AAB-9929-7798F315D9F0}" type="slidenum">
              <a:rPr lang="en-US" altLang="zh-CN">
                <a:solidFill>
                  <a:srgbClr val="000000"/>
                </a:solidFill>
              </a:rPr>
              <a:t>15</a:t>
            </a:fld>
            <a:endParaRPr lang="en-US" altLang="zh-CN">
              <a:solidFill>
                <a:srgbClr val="000000"/>
              </a:solidFill>
            </a:endParaRPr>
          </a:p>
        </p:txBody>
      </p:sp>
      <p:sp>
        <p:nvSpPr>
          <p:cNvPr id="7171" name="Rectangle 2"/>
          <p:cNvSpPr>
            <a:spLocks noGrp="1" noRot="1" noChangeAspect="1" noChangeArrowheads="1" noTextEdit="1"/>
          </p:cNvSpPr>
          <p:nvPr>
            <p:ph type="sldImg"/>
          </p:nvPr>
        </p:nvSpPr>
        <p:spPr/>
      </p:sp>
      <p:sp>
        <p:nvSpPr>
          <p:cNvPr id="7172"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a:spLocks noGrp="1" noChangeArrowheads="1"/>
          </p:cNvSpPr>
          <p:nvPr>
            <p:ph type="sldNum" sz="quarter" idx="5"/>
          </p:nvPr>
        </p:nvSpPr>
        <p:spPr>
          <a:noFill/>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D536DB5F-655E-4AAB-9929-7798F315D9F0}" type="slidenum">
              <a:rPr lang="en-US" altLang="zh-CN">
                <a:solidFill>
                  <a:srgbClr val="000000"/>
                </a:solidFill>
              </a:rPr>
              <a:t>16</a:t>
            </a:fld>
            <a:endParaRPr lang="en-US" altLang="zh-CN">
              <a:solidFill>
                <a:srgbClr val="000000"/>
              </a:solidFill>
            </a:endParaRPr>
          </a:p>
        </p:txBody>
      </p:sp>
      <p:sp>
        <p:nvSpPr>
          <p:cNvPr id="7171" name="Rectangle 2"/>
          <p:cNvSpPr>
            <a:spLocks noGrp="1" noRot="1" noChangeAspect="1" noChangeArrowheads="1" noTextEdit="1"/>
          </p:cNvSpPr>
          <p:nvPr>
            <p:ph type="sldImg"/>
          </p:nvPr>
        </p:nvSpPr>
        <p:spPr/>
      </p:sp>
      <p:sp>
        <p:nvSpPr>
          <p:cNvPr id="7172"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a:spLocks noGrp="1" noChangeArrowheads="1"/>
          </p:cNvSpPr>
          <p:nvPr>
            <p:ph type="sldNum" sz="quarter" idx="5"/>
          </p:nvPr>
        </p:nvSpPr>
        <p:spPr>
          <a:noFill/>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D536DB5F-655E-4AAB-9929-7798F315D9F0}" type="slidenum">
              <a:rPr lang="en-US" altLang="zh-CN">
                <a:solidFill>
                  <a:srgbClr val="000000"/>
                </a:solidFill>
              </a:rPr>
              <a:t>17</a:t>
            </a:fld>
            <a:endParaRPr lang="en-US" altLang="zh-CN">
              <a:solidFill>
                <a:srgbClr val="000000"/>
              </a:solidFill>
            </a:endParaRPr>
          </a:p>
        </p:txBody>
      </p:sp>
      <p:sp>
        <p:nvSpPr>
          <p:cNvPr id="7171" name="Rectangle 2"/>
          <p:cNvSpPr>
            <a:spLocks noGrp="1" noRot="1" noChangeAspect="1" noChangeArrowheads="1" noTextEdit="1"/>
          </p:cNvSpPr>
          <p:nvPr>
            <p:ph type="sldImg"/>
          </p:nvPr>
        </p:nvSpPr>
        <p:spPr/>
      </p:sp>
      <p:sp>
        <p:nvSpPr>
          <p:cNvPr id="7172"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a:spLocks noGrp="1" noChangeArrowheads="1"/>
          </p:cNvSpPr>
          <p:nvPr>
            <p:ph type="sldNum" sz="quarter" idx="5"/>
          </p:nvPr>
        </p:nvSpPr>
        <p:spPr>
          <a:noFill/>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D536DB5F-655E-4AAB-9929-7798F315D9F0}" type="slidenum">
              <a:rPr lang="en-US" altLang="zh-CN">
                <a:solidFill>
                  <a:srgbClr val="000000"/>
                </a:solidFill>
              </a:rPr>
              <a:t>18</a:t>
            </a:fld>
            <a:endParaRPr lang="en-US" altLang="zh-CN">
              <a:solidFill>
                <a:srgbClr val="000000"/>
              </a:solidFill>
            </a:endParaRPr>
          </a:p>
        </p:txBody>
      </p:sp>
      <p:sp>
        <p:nvSpPr>
          <p:cNvPr id="7171" name="Rectangle 2"/>
          <p:cNvSpPr>
            <a:spLocks noGrp="1" noRot="1" noChangeAspect="1" noChangeArrowheads="1" noTextEdit="1"/>
          </p:cNvSpPr>
          <p:nvPr>
            <p:ph type="sldImg"/>
          </p:nvPr>
        </p:nvSpPr>
        <p:spPr/>
      </p:sp>
      <p:sp>
        <p:nvSpPr>
          <p:cNvPr id="7172"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a:spLocks noGrp="1" noChangeArrowheads="1"/>
          </p:cNvSpPr>
          <p:nvPr>
            <p:ph type="sldNum" sz="quarter" idx="5"/>
          </p:nvPr>
        </p:nvSpPr>
        <p:spPr>
          <a:noFill/>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D536DB5F-655E-4AAB-9929-7798F315D9F0}" type="slidenum">
              <a:rPr lang="en-US" altLang="zh-CN">
                <a:solidFill>
                  <a:srgbClr val="000000"/>
                </a:solidFill>
              </a:rPr>
              <a:t>19</a:t>
            </a:fld>
            <a:endParaRPr lang="en-US" altLang="zh-CN">
              <a:solidFill>
                <a:srgbClr val="000000"/>
              </a:solidFill>
            </a:endParaRPr>
          </a:p>
        </p:txBody>
      </p:sp>
      <p:sp>
        <p:nvSpPr>
          <p:cNvPr id="7171" name="Rectangle 2"/>
          <p:cNvSpPr>
            <a:spLocks noGrp="1" noRot="1" noChangeAspect="1" noChangeArrowheads="1" noTextEdit="1"/>
          </p:cNvSpPr>
          <p:nvPr>
            <p:ph type="sldImg"/>
          </p:nvPr>
        </p:nvSpPr>
        <p:spPr/>
      </p:sp>
      <p:sp>
        <p:nvSpPr>
          <p:cNvPr id="7172"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a:spLocks noGrp="1" noChangeArrowheads="1"/>
          </p:cNvSpPr>
          <p:nvPr>
            <p:ph type="sldNum" sz="quarter" idx="5"/>
          </p:nvPr>
        </p:nvSpPr>
        <p:spPr>
          <a:noFill/>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D536DB5F-655E-4AAB-9929-7798F315D9F0}" type="slidenum">
              <a:rPr lang="en-US" altLang="zh-CN">
                <a:solidFill>
                  <a:srgbClr val="000000"/>
                </a:solidFill>
              </a:rPr>
              <a:t>20</a:t>
            </a:fld>
            <a:endParaRPr lang="en-US" altLang="zh-CN">
              <a:solidFill>
                <a:srgbClr val="000000"/>
              </a:solidFill>
            </a:endParaRPr>
          </a:p>
        </p:txBody>
      </p:sp>
      <p:sp>
        <p:nvSpPr>
          <p:cNvPr id="7171" name="Rectangle 2"/>
          <p:cNvSpPr>
            <a:spLocks noGrp="1" noRot="1" noChangeAspect="1" noChangeArrowheads="1" noTextEdit="1"/>
          </p:cNvSpPr>
          <p:nvPr>
            <p:ph type="sldImg"/>
          </p:nvPr>
        </p:nvSpPr>
        <p:spPr/>
      </p:sp>
      <p:sp>
        <p:nvSpPr>
          <p:cNvPr id="7172"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a:spLocks noGrp="1" noChangeArrowheads="1"/>
          </p:cNvSpPr>
          <p:nvPr>
            <p:ph type="sldNum" sz="quarter" idx="5"/>
          </p:nvPr>
        </p:nvSpPr>
        <p:spPr>
          <a:noFill/>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D536DB5F-655E-4AAB-9929-7798F315D9F0}" type="slidenum">
              <a:rPr lang="en-US" altLang="zh-CN">
                <a:solidFill>
                  <a:srgbClr val="000000"/>
                </a:solidFill>
              </a:rPr>
              <a:t>21</a:t>
            </a:fld>
            <a:endParaRPr lang="en-US" altLang="zh-CN">
              <a:solidFill>
                <a:srgbClr val="000000"/>
              </a:solidFill>
            </a:endParaRPr>
          </a:p>
        </p:txBody>
      </p:sp>
      <p:sp>
        <p:nvSpPr>
          <p:cNvPr id="7171" name="Rectangle 2"/>
          <p:cNvSpPr>
            <a:spLocks noGrp="1" noRot="1" noChangeAspect="1" noChangeArrowheads="1" noTextEdit="1"/>
          </p:cNvSpPr>
          <p:nvPr>
            <p:ph type="sldImg"/>
          </p:nvPr>
        </p:nvSpPr>
        <p:spPr/>
      </p:sp>
      <p:sp>
        <p:nvSpPr>
          <p:cNvPr id="7172"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a:spLocks noGrp="1" noChangeArrowheads="1"/>
          </p:cNvSpPr>
          <p:nvPr>
            <p:ph type="sldNum" sz="quarter" idx="5"/>
          </p:nvPr>
        </p:nvSpPr>
        <p:spPr>
          <a:noFill/>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D536DB5F-655E-4AAB-9929-7798F315D9F0}" type="slidenum">
              <a:rPr lang="en-US" altLang="zh-CN">
                <a:solidFill>
                  <a:srgbClr val="000000"/>
                </a:solidFill>
              </a:rPr>
              <a:t>22</a:t>
            </a:fld>
            <a:endParaRPr lang="en-US" altLang="zh-CN">
              <a:solidFill>
                <a:srgbClr val="000000"/>
              </a:solidFill>
            </a:endParaRPr>
          </a:p>
        </p:txBody>
      </p:sp>
      <p:sp>
        <p:nvSpPr>
          <p:cNvPr id="7171" name="Rectangle 2"/>
          <p:cNvSpPr>
            <a:spLocks noGrp="1" noRot="1" noChangeAspect="1" noChangeArrowheads="1" noTextEdit="1"/>
          </p:cNvSpPr>
          <p:nvPr>
            <p:ph type="sldImg"/>
          </p:nvPr>
        </p:nvSpPr>
        <p:spPr/>
      </p:sp>
      <p:sp>
        <p:nvSpPr>
          <p:cNvPr id="7172"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7F81FF-C0A8-4BAA-BB8D-31A1833CE24D}" type="slidenum">
              <a:rPr lang="zh-CN" altLang="en-US" smtClean="0"/>
              <a:t>38</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178C1384-3686-45C4-9274-264A95345C91}" type="slidenum">
              <a:rPr lang="en-US" altLang="zh-CN"/>
              <a:t>‹#›</a:t>
            </a:fld>
            <a:endParaRPr lang="en-US" altLang="zh-CN"/>
          </a:p>
        </p:txBody>
      </p:sp>
    </p:spTree>
  </p:cSld>
  <p:clrMapOvr>
    <a:masterClrMapping/>
  </p:clrMapOvr>
  <p:transition>
    <p:cover dir="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2C687883-A9F8-4324-BFDB-FCCC5C558AE8}" type="slidenum">
              <a:rPr lang="en-US" altLang="zh-CN"/>
              <a:t>‹#›</a:t>
            </a:fld>
            <a:endParaRPr lang="en-US" altLang="zh-CN"/>
          </a:p>
        </p:txBody>
      </p:sp>
    </p:spTree>
  </p:cSld>
  <p:clrMapOvr>
    <a:masterClrMapping/>
  </p:clrMapOvr>
  <p:transition>
    <p:cover dir="d"/>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424A2B26-0FA3-473F-9174-F6D9E481BFA1}" type="slidenum">
              <a:rPr lang="en-US" altLang="zh-CN"/>
              <a:t>‹#›</a:t>
            </a:fld>
            <a:endParaRPr lang="en-US" altLang="zh-CN"/>
          </a:p>
        </p:txBody>
      </p:sp>
    </p:spTree>
  </p:cSld>
  <p:clrMapOvr>
    <a:masterClrMapping/>
  </p:clrMapOvr>
  <p:transition>
    <p:cover dir="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A0A41B2E-0564-49C7-AE47-7DBB17967741}" type="slidenum">
              <a:rPr lang="en-US" altLang="zh-CN"/>
              <a:t>‹#›</a:t>
            </a:fld>
            <a:endParaRPr lang="en-US" altLang="zh-CN"/>
          </a:p>
        </p:txBody>
      </p:sp>
    </p:spTree>
  </p:cSld>
  <p:clrMapOvr>
    <a:masterClrMapping/>
  </p:clrMapOvr>
  <p:transition>
    <p:cover dir="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p:txBody>
          <a:bodyPr/>
          <a:lstStyle>
            <a:lvl1pPr>
              <a:defRPr/>
            </a:lvl1pPr>
          </a:lstStyle>
          <a:p>
            <a:pPr>
              <a:defRPr/>
            </a:pPr>
            <a:fld id="{0231B4C8-FC89-42E9-B91A-70FC8438C555}" type="slidenum">
              <a:rPr lang="en-US" altLang="zh-CN"/>
              <a:t>‹#›</a:t>
            </a:fld>
            <a:endParaRPr lang="en-US" altLang="zh-CN"/>
          </a:p>
        </p:txBody>
      </p:sp>
    </p:spTree>
  </p:cSld>
  <p:clrMapOvr>
    <a:masterClrMapping/>
  </p:clrMapOvr>
  <p:transition>
    <p:cover dir="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p:txBody>
          <a:bodyPr/>
          <a:lstStyle>
            <a:lvl1pPr>
              <a:defRPr/>
            </a:lvl1pPr>
          </a:lstStyle>
          <a:p>
            <a:pPr>
              <a:defRPr/>
            </a:pPr>
            <a:fld id="{9E0CDD31-6EDA-4B63-885E-0EE493EA4FC2}" type="slidenum">
              <a:rPr lang="en-US" altLang="zh-CN"/>
              <a:t>‹#›</a:t>
            </a:fld>
            <a:endParaRPr lang="en-US" altLang="zh-CN"/>
          </a:p>
        </p:txBody>
      </p:sp>
    </p:spTree>
  </p:cSld>
  <p:clrMapOvr>
    <a:masterClrMapping/>
  </p:clrMapOvr>
  <p:transition>
    <p:cover dir="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p:txBody>
          <a:bodyPr/>
          <a:lstStyle>
            <a:lvl1pPr>
              <a:defRPr/>
            </a:lvl1pPr>
          </a:lstStyle>
          <a:p>
            <a:pPr>
              <a:defRPr/>
            </a:pPr>
            <a:fld id="{9B8D6B41-AAF5-4D7C-9630-46E39E52E699}" type="slidenum">
              <a:rPr lang="en-US" altLang="zh-CN"/>
              <a:t>‹#›</a:t>
            </a:fld>
            <a:endParaRPr lang="en-US" altLang="zh-CN"/>
          </a:p>
        </p:txBody>
      </p:sp>
    </p:spTree>
  </p:cSld>
  <p:clrMapOvr>
    <a:masterClrMapping/>
  </p:clrMapOvr>
  <p:transition>
    <p:cover dir="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5AEBD598-5F9C-4349-AEB3-E05F3179A862}" type="slidenum">
              <a:rPr lang="en-US" altLang="zh-CN"/>
              <a:t>‹#›</a:t>
            </a:fld>
            <a:endParaRPr lang="en-US" altLang="zh-CN"/>
          </a:p>
        </p:txBody>
      </p:sp>
    </p:spTree>
  </p:cSld>
  <p:clrMapOvr>
    <a:masterClrMapping/>
  </p:clrMapOvr>
  <p:transition>
    <p:cover dir="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CA05A86F-E4C4-4AE8-BCC7-46675975EFC1}" type="slidenum">
              <a:rPr lang="en-US" altLang="zh-CN"/>
              <a:t>‹#›</a:t>
            </a:fld>
            <a:endParaRPr lang="en-US" altLang="zh-CN"/>
          </a:p>
        </p:txBody>
      </p:sp>
    </p:spTree>
  </p:cSld>
  <p:clrMapOvr>
    <a:masterClrMapping/>
  </p:clrMapOvr>
  <p:transition>
    <p:cover dir="d"/>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5E4AA024-4BD4-4C3E-9782-94B9F836E446}" type="slidenum">
              <a:rPr lang="en-US" altLang="zh-CN"/>
              <a:t>‹#›</a:t>
            </a:fld>
            <a:endParaRPr lang="en-US" altLang="zh-CN"/>
          </a:p>
        </p:txBody>
      </p:sp>
    </p:spTree>
  </p:cSld>
  <p:clrMapOvr>
    <a:masterClrMapping/>
  </p:clrMapOvr>
  <p:transition>
    <p:cover dir="d"/>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7A23B651-01C7-4ACB-A684-85A55AD844EF}" type="slidenum">
              <a:rPr lang="en-US" altLang="zh-CN"/>
              <a:t>‹#›</a:t>
            </a:fld>
            <a:endParaRPr lang="en-US" altLang="zh-CN"/>
          </a:p>
        </p:txBody>
      </p:sp>
    </p:spTree>
  </p:cSld>
  <p:clrMapOvr>
    <a:masterClrMapping/>
  </p:clrMapOvr>
  <p:transition>
    <p:cover dir="d"/>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a:t>单击此处编辑母版标题样式</a:t>
            </a:r>
          </a:p>
        </p:txBody>
      </p:sp>
      <p:sp>
        <p:nvSpPr>
          <p:cNvPr id="2051" name="Rectangle 3"/>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400">
                <a:solidFill>
                  <a:srgbClr val="000000"/>
                </a:solidFill>
                <a:effectLst/>
                <a:ea typeface="+mn-ea"/>
              </a:defRPr>
            </a:lvl1pPr>
          </a:lstStyle>
          <a:p>
            <a:pPr fontAlgn="base">
              <a:spcBef>
                <a:spcPct val="0"/>
              </a:spcBef>
              <a:spcAft>
                <a:spcPct val="0"/>
              </a:spcAft>
              <a:defRPr/>
            </a:pPr>
            <a:endParaRPr kumimoji="1" lang="en-US" altLang="zh-CN"/>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defRPr sz="1400">
                <a:solidFill>
                  <a:srgbClr val="000000"/>
                </a:solidFill>
                <a:effectLst/>
                <a:ea typeface="+mn-ea"/>
              </a:defRPr>
            </a:lvl1pPr>
          </a:lstStyle>
          <a:p>
            <a:pPr fontAlgn="base">
              <a:spcBef>
                <a:spcPct val="0"/>
              </a:spcBef>
              <a:spcAft>
                <a:spcPct val="0"/>
              </a:spcAft>
              <a:defRPr/>
            </a:pPr>
            <a:endParaRPr kumimoji="1" lang="en-US" altLang="zh-CN"/>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400">
                <a:solidFill>
                  <a:srgbClr val="000000"/>
                </a:solidFill>
                <a:effectLst/>
                <a:ea typeface="宋体" panose="02010600030101010101" pitchFamily="2" charset="-122"/>
              </a:defRPr>
            </a:lvl1pPr>
          </a:lstStyle>
          <a:p>
            <a:pPr fontAlgn="base">
              <a:spcBef>
                <a:spcPct val="0"/>
              </a:spcBef>
              <a:spcAft>
                <a:spcPct val="0"/>
              </a:spcAft>
              <a:defRPr/>
            </a:pPr>
            <a:fld id="{913CEB95-6C5A-49F2-94B7-1C2B9AE0D82E}" type="slidenum">
              <a:rPr kumimoji="1" lang="en-US" altLang="zh-CN"/>
              <a:t>‹#›</a:t>
            </a:fld>
            <a:endParaRPr kumimoji="1"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cover dir="d"/>
  </p:transition>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20090" y="2484120"/>
            <a:ext cx="7772400" cy="1143000"/>
          </a:xfrm>
        </p:spPr>
        <p:txBody>
          <a:bodyPr/>
          <a:lstStyle/>
          <a:p>
            <a:r>
              <a:rPr lang="zh-CN" altLang="en-US" sz="6000" dirty="0"/>
              <a:t>进入</a:t>
            </a:r>
            <a:r>
              <a:rPr lang="en-US" altLang="zh-CN" sz="6000" dirty="0"/>
              <a:t>Arduino</a:t>
            </a:r>
            <a:r>
              <a:rPr lang="zh-CN" altLang="en-US" sz="6000" dirty="0"/>
              <a:t>的世界</a:t>
            </a:r>
          </a:p>
        </p:txBody>
      </p:sp>
    </p:spTree>
  </p:cSld>
  <p:clrMapOvr>
    <a:masterClrMapping/>
  </p:clrMapOvr>
  <p:transition>
    <p:strips dir="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pPr algn="l"/>
            <a:r>
              <a:rPr lang="zh-CN" altLang="en-US" dirty="0"/>
              <a:t>什么是</a:t>
            </a:r>
            <a:r>
              <a:rPr lang="en-US" altLang="zh-CN" dirty="0"/>
              <a:t>Arduino</a:t>
            </a:r>
            <a:r>
              <a:rPr lang="zh-CN" altLang="en-US" dirty="0"/>
              <a:t>？</a:t>
            </a:r>
          </a:p>
        </p:txBody>
      </p:sp>
      <p:sp>
        <p:nvSpPr>
          <p:cNvPr id="5" name="内容占位符 4"/>
          <p:cNvSpPr>
            <a:spLocks noGrp="1"/>
          </p:cNvSpPr>
          <p:nvPr>
            <p:ph idx="1"/>
          </p:nvPr>
        </p:nvSpPr>
        <p:spPr/>
        <p:txBody>
          <a:bodyPr/>
          <a:lstStyle/>
          <a:p>
            <a:pPr marL="0" indent="0">
              <a:buNone/>
            </a:pPr>
            <a:r>
              <a:rPr lang="en-US" altLang="zh-CN" dirty="0"/>
              <a:t>Arduino</a:t>
            </a:r>
            <a:r>
              <a:rPr lang="zh-CN" altLang="en-US" dirty="0"/>
              <a:t>发轫于意大利的伊夫雷亚（</a:t>
            </a:r>
            <a:r>
              <a:rPr lang="en-US" altLang="zh-CN" dirty="0"/>
              <a:t>Ivrea</a:t>
            </a:r>
            <a:r>
              <a:rPr lang="zh-CN" altLang="en-US" dirty="0"/>
              <a:t>）。伊夫雷亚的阿尔杜伊（</a:t>
            </a:r>
            <a:r>
              <a:rPr lang="en-US" altLang="zh-CN" dirty="0" err="1"/>
              <a:t>Arduin</a:t>
            </a:r>
            <a:r>
              <a:rPr lang="zh-CN" altLang="en-US" dirty="0"/>
              <a:t>）是约</a:t>
            </a:r>
            <a:r>
              <a:rPr lang="en-US" altLang="zh-CN" dirty="0"/>
              <a:t>1000</a:t>
            </a:r>
            <a:r>
              <a:rPr lang="zh-CN" altLang="en-US" dirty="0"/>
              <a:t>年前的意大利国王，在当地声明卓著。焦贝蒂广场（</a:t>
            </a:r>
            <a:r>
              <a:rPr lang="en-US" altLang="zh-CN" dirty="0"/>
              <a:t>Piazza </a:t>
            </a:r>
            <a:r>
              <a:rPr lang="en-US" altLang="zh-CN" dirty="0" err="1"/>
              <a:t>Gioberti</a:t>
            </a:r>
            <a:r>
              <a:rPr lang="zh-CN" altLang="en-US" dirty="0"/>
              <a:t>）上有一间酒馆以此国王的名字命名。</a:t>
            </a:r>
          </a:p>
        </p:txBody>
      </p:sp>
    </p:spTree>
  </p:cSld>
  <p:clrMapOvr>
    <a:masterClrMapping/>
  </p:clrMapOvr>
  <p:transition>
    <p:cover dir="d"/>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什么是</a:t>
            </a:r>
            <a:r>
              <a:rPr lang="en-US" altLang="zh-CN" dirty="0"/>
              <a:t>Arduino</a:t>
            </a:r>
            <a:r>
              <a:rPr lang="zh-CN" altLang="en-US" dirty="0"/>
              <a:t>？</a:t>
            </a:r>
          </a:p>
        </p:txBody>
      </p:sp>
      <p:sp>
        <p:nvSpPr>
          <p:cNvPr id="3" name="内容占位符 2"/>
          <p:cNvSpPr>
            <a:spLocks noGrp="1"/>
          </p:cNvSpPr>
          <p:nvPr>
            <p:ph idx="1"/>
          </p:nvPr>
        </p:nvSpPr>
        <p:spPr/>
        <p:txBody>
          <a:bodyPr/>
          <a:lstStyle/>
          <a:p>
            <a:pPr marL="0" indent="0">
              <a:buNone/>
            </a:pPr>
            <a:r>
              <a:rPr lang="en-US" altLang="zh-CN" dirty="0"/>
              <a:t>Arduino</a:t>
            </a:r>
            <a:r>
              <a:rPr lang="zh-CN" altLang="en-US" dirty="0"/>
              <a:t>是意大利语中的男性用名，意思是“强壮的朋友”。关于</a:t>
            </a:r>
            <a:r>
              <a:rPr lang="en-US" altLang="zh-CN" dirty="0"/>
              <a:t>Arduino</a:t>
            </a:r>
            <a:r>
              <a:rPr lang="zh-CN" altLang="en-US" dirty="0"/>
              <a:t>的历史和传承，还有很多堆积成山的有趣信息资料，请参见</a:t>
            </a:r>
            <a:r>
              <a:rPr lang="en-US" altLang="zh-CN" dirty="0"/>
              <a:t>Arduino</a:t>
            </a:r>
            <a:r>
              <a:rPr lang="zh-CN" altLang="en-US" dirty="0"/>
              <a:t>网站（</a:t>
            </a:r>
            <a:r>
              <a:rPr lang="en-US" altLang="zh-CN" dirty="0"/>
              <a:t>http://arduino.cc</a:t>
            </a:r>
            <a:r>
              <a:rPr lang="zh-CN" altLang="en-US" dirty="0"/>
              <a:t>）。</a:t>
            </a:r>
          </a:p>
        </p:txBody>
      </p:sp>
    </p:spTree>
  </p:cSld>
  <p:clrMapOvr>
    <a:masterClrMapping/>
  </p:clrMapOvr>
  <p:transition>
    <p:strips dir="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什么是</a:t>
            </a:r>
            <a:r>
              <a:rPr lang="en-US" altLang="zh-CN" dirty="0"/>
              <a:t>Arduino</a:t>
            </a:r>
            <a:r>
              <a:rPr lang="zh-CN" altLang="en-US" dirty="0"/>
              <a:t>？</a:t>
            </a:r>
          </a:p>
        </p:txBody>
      </p:sp>
      <p:sp>
        <p:nvSpPr>
          <p:cNvPr id="3" name="内容占位符 2"/>
          <p:cNvSpPr>
            <a:spLocks noGrp="1"/>
          </p:cNvSpPr>
          <p:nvPr>
            <p:ph idx="1"/>
          </p:nvPr>
        </p:nvSpPr>
        <p:spPr/>
        <p:txBody>
          <a:bodyPr/>
          <a:lstStyle/>
          <a:p>
            <a:pPr marL="0" indent="0">
              <a:buNone/>
            </a:pPr>
            <a:r>
              <a:rPr lang="en-US" altLang="zh-CN" dirty="0"/>
              <a:t>Arduino I/O</a:t>
            </a:r>
            <a:r>
              <a:rPr lang="zh-CN" altLang="en-US" dirty="0"/>
              <a:t>电路板传统上是基于</a:t>
            </a:r>
            <a:r>
              <a:rPr lang="en-US" altLang="zh-CN" dirty="0"/>
              <a:t>Atmel</a:t>
            </a:r>
            <a:r>
              <a:rPr lang="zh-CN" altLang="en-US" dirty="0"/>
              <a:t>的</a:t>
            </a:r>
            <a:r>
              <a:rPr lang="en-US" altLang="zh-CN" dirty="0"/>
              <a:t>AVR ATmega8</a:t>
            </a:r>
            <a:r>
              <a:rPr lang="zh-CN" altLang="en-US" dirty="0"/>
              <a:t>及其后续型号的，</a:t>
            </a:r>
            <a:r>
              <a:rPr lang="en-US" altLang="zh-CN" dirty="0"/>
              <a:t>I/O</a:t>
            </a:r>
            <a:r>
              <a:rPr lang="zh-CN" altLang="en-US" dirty="0"/>
              <a:t>电路板上有串口、电源电路、扩展插座和其他一些必要的元件。官方</a:t>
            </a:r>
            <a:r>
              <a:rPr lang="en-US" altLang="zh-CN" dirty="0"/>
              <a:t>Arduino FAQ</a:t>
            </a:r>
            <a:r>
              <a:rPr lang="zh-CN" altLang="en-US" dirty="0"/>
              <a:t>说：“这不只是一块</a:t>
            </a:r>
            <a:r>
              <a:rPr lang="en-US" altLang="zh-CN" dirty="0"/>
              <a:t>AVR</a:t>
            </a:r>
            <a:r>
              <a:rPr lang="zh-CN" altLang="en-US" dirty="0"/>
              <a:t>开发板。”</a:t>
            </a:r>
          </a:p>
        </p:txBody>
      </p:sp>
    </p:spTree>
  </p:cSld>
  <p:clrMapOvr>
    <a:masterClrMapping/>
  </p:clrMapOvr>
  <p:transition>
    <p:strips dir="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Arduino</a:t>
            </a:r>
            <a:r>
              <a:rPr lang="zh-CN" altLang="en-US" dirty="0"/>
              <a:t>不只是电路板</a:t>
            </a:r>
          </a:p>
        </p:txBody>
      </p:sp>
      <p:sp>
        <p:nvSpPr>
          <p:cNvPr id="3" name="内容占位符 2"/>
          <p:cNvSpPr>
            <a:spLocks noGrp="1"/>
          </p:cNvSpPr>
          <p:nvPr>
            <p:ph idx="1"/>
          </p:nvPr>
        </p:nvSpPr>
        <p:spPr/>
        <p:txBody>
          <a:bodyPr/>
          <a:lstStyle/>
          <a:p>
            <a:pPr marL="0" indent="0">
              <a:buNone/>
            </a:pPr>
            <a:r>
              <a:rPr lang="en-US" altLang="zh-CN" dirty="0"/>
              <a:t>Arduino</a:t>
            </a:r>
            <a:r>
              <a:rPr lang="zh-CN" altLang="en-US" dirty="0"/>
              <a:t>是一种开源的电子平台，该平台最初主要基于</a:t>
            </a:r>
            <a:r>
              <a:rPr lang="en-US" altLang="zh-CN" dirty="0"/>
              <a:t>AVR</a:t>
            </a:r>
            <a:r>
              <a:rPr lang="zh-CN" altLang="en-US" dirty="0"/>
              <a:t>单片机的微控制器和相应的开发软件，目前在国内正受到电子发烧友的广泛关注。自从</a:t>
            </a:r>
            <a:r>
              <a:rPr lang="en-US" altLang="zh-CN" dirty="0"/>
              <a:t>2005</a:t>
            </a:r>
            <a:r>
              <a:rPr lang="zh-CN" altLang="en-US" dirty="0"/>
              <a:t>年</a:t>
            </a:r>
            <a:r>
              <a:rPr lang="en-US" altLang="zh-CN" dirty="0"/>
              <a:t>Arduino</a:t>
            </a:r>
            <a:r>
              <a:rPr lang="zh-CN" altLang="en-US" dirty="0"/>
              <a:t>腾空出世以来，其硬件和开发环境一直进行着更新迭代。</a:t>
            </a:r>
          </a:p>
        </p:txBody>
      </p:sp>
    </p:spTree>
  </p:cSld>
  <p:clrMapOvr>
    <a:masterClrMapping/>
  </p:clrMapOvr>
  <p:transition>
    <p:strips dir="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Arduino</a:t>
            </a:r>
            <a:r>
              <a:rPr lang="zh-CN" altLang="en-US" dirty="0"/>
              <a:t>不只是电路板</a:t>
            </a:r>
          </a:p>
        </p:txBody>
      </p:sp>
      <p:sp>
        <p:nvSpPr>
          <p:cNvPr id="3" name="内容占位符 2"/>
          <p:cNvSpPr>
            <a:spLocks noGrp="1"/>
          </p:cNvSpPr>
          <p:nvPr>
            <p:ph idx="1"/>
          </p:nvPr>
        </p:nvSpPr>
        <p:spPr/>
        <p:txBody>
          <a:bodyPr/>
          <a:lstStyle/>
          <a:p>
            <a:pPr marL="0" indent="0">
              <a:buNone/>
            </a:pPr>
            <a:r>
              <a:rPr lang="zh-CN" altLang="en-US" dirty="0"/>
              <a:t>现在</a:t>
            </a:r>
            <a:r>
              <a:rPr lang="en-US" altLang="zh-CN" dirty="0"/>
              <a:t>Arduino</a:t>
            </a:r>
            <a:r>
              <a:rPr lang="zh-CN" altLang="en-US" dirty="0"/>
              <a:t>已经有将近十年的发展历史，因此市场上称为</a:t>
            </a:r>
            <a:r>
              <a:rPr lang="en-US" altLang="zh-CN" dirty="0"/>
              <a:t>Arduino</a:t>
            </a:r>
            <a:r>
              <a:rPr lang="zh-CN" altLang="en-US" dirty="0"/>
              <a:t>的电路板已经有各式各样的版本了。</a:t>
            </a:r>
            <a:r>
              <a:rPr lang="en-US" altLang="zh-CN" dirty="0"/>
              <a:t>Arduino</a:t>
            </a:r>
            <a:r>
              <a:rPr lang="zh-CN" altLang="en-US" dirty="0"/>
              <a:t>开发团队正式发布的是</a:t>
            </a:r>
            <a:r>
              <a:rPr lang="en-US" altLang="zh-CN" dirty="0"/>
              <a:t>Arduino Uno</a:t>
            </a:r>
            <a:r>
              <a:rPr lang="zh-CN" altLang="en-US" dirty="0"/>
              <a:t>和</a:t>
            </a:r>
            <a:r>
              <a:rPr lang="en-US" altLang="zh-CN" dirty="0"/>
              <a:t>Arduino Mega 2560</a:t>
            </a:r>
            <a:r>
              <a:rPr lang="zh-CN" altLang="en-US" dirty="0"/>
              <a:t>。</a:t>
            </a:r>
          </a:p>
        </p:txBody>
      </p:sp>
    </p:spTree>
  </p:cSld>
  <p:clrMapOvr>
    <a:masterClrMapping/>
  </p:clrMapOvr>
  <p:transition>
    <p:strips dir="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38250" y="686319"/>
            <a:ext cx="6667500" cy="5000625"/>
          </a:xfrm>
          <a:prstGeom prst="rect">
            <a:avLst/>
          </a:prstGeom>
        </p:spPr>
      </p:pic>
      <p:sp>
        <p:nvSpPr>
          <p:cNvPr id="3" name="文本框 2"/>
          <p:cNvSpPr txBox="1"/>
          <p:nvPr/>
        </p:nvSpPr>
        <p:spPr>
          <a:xfrm>
            <a:off x="3536414" y="5664907"/>
            <a:ext cx="3018621" cy="646331"/>
          </a:xfrm>
          <a:prstGeom prst="rect">
            <a:avLst/>
          </a:prstGeom>
          <a:noFill/>
        </p:spPr>
        <p:txBody>
          <a:bodyPr wrap="square" rtlCol="0">
            <a:spAutoFit/>
          </a:bodyPr>
          <a:lstStyle/>
          <a:p>
            <a:r>
              <a:rPr lang="en-US" altLang="zh-CN" sz="3600" dirty="0"/>
              <a:t>Arduino UNO</a:t>
            </a:r>
            <a:endParaRPr lang="zh-CN" altLang="en-US" sz="3600" dirty="0"/>
          </a:p>
        </p:txBody>
      </p:sp>
    </p:spTree>
  </p:cSld>
  <p:clrMapOvr>
    <a:masterClrMapping/>
  </p:clrMapOvr>
  <p:transition>
    <p:strips dir="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90750" y="926966"/>
            <a:ext cx="4762500" cy="3571875"/>
          </a:xfrm>
          <a:prstGeom prst="rect">
            <a:avLst/>
          </a:prstGeom>
        </p:spPr>
      </p:pic>
      <p:sp>
        <p:nvSpPr>
          <p:cNvPr id="3" name="文本框 2"/>
          <p:cNvSpPr txBox="1"/>
          <p:nvPr/>
        </p:nvSpPr>
        <p:spPr>
          <a:xfrm>
            <a:off x="2908453" y="4748269"/>
            <a:ext cx="4428781" cy="646331"/>
          </a:xfrm>
          <a:prstGeom prst="rect">
            <a:avLst/>
          </a:prstGeom>
          <a:noFill/>
        </p:spPr>
        <p:txBody>
          <a:bodyPr wrap="square" rtlCol="0">
            <a:spAutoFit/>
          </a:bodyPr>
          <a:lstStyle/>
          <a:p>
            <a:r>
              <a:rPr lang="en-US" altLang="zh-CN" sz="3600" dirty="0"/>
              <a:t>Arduino Mega 2560</a:t>
            </a:r>
            <a:endParaRPr lang="zh-CN" altLang="en-US" sz="3600" dirty="0"/>
          </a:p>
        </p:txBody>
      </p:sp>
    </p:spTree>
  </p:cSld>
  <p:clrMapOvr>
    <a:masterClrMapping/>
  </p:clrMapOvr>
  <p:transition>
    <p:strips dir="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Arduino</a:t>
            </a:r>
            <a:r>
              <a:rPr lang="zh-CN" altLang="en-US" dirty="0"/>
              <a:t>不只是电路板</a:t>
            </a:r>
          </a:p>
        </p:txBody>
      </p:sp>
      <p:sp>
        <p:nvSpPr>
          <p:cNvPr id="3" name="内容占位符 2"/>
          <p:cNvSpPr>
            <a:spLocks noGrp="1"/>
          </p:cNvSpPr>
          <p:nvPr>
            <p:ph idx="1"/>
          </p:nvPr>
        </p:nvSpPr>
        <p:spPr/>
        <p:txBody>
          <a:bodyPr/>
          <a:lstStyle/>
          <a:p>
            <a:pPr marL="0" indent="0">
              <a:buNone/>
            </a:pPr>
            <a:r>
              <a:rPr lang="en-US" altLang="zh-CN" dirty="0"/>
              <a:t>Arduino</a:t>
            </a:r>
            <a:r>
              <a:rPr lang="zh-CN" altLang="en-US" dirty="0"/>
              <a:t>最初是为一些非电子工程专业的学生设计的。设计者最初为了寻求一个廉价好用的微控制器开发板从而决定自己动手制作开发板，</a:t>
            </a:r>
            <a:r>
              <a:rPr lang="en-US" altLang="zh-CN" dirty="0"/>
              <a:t>Arduino</a:t>
            </a:r>
            <a:r>
              <a:rPr lang="zh-CN" altLang="en-US" dirty="0"/>
              <a:t>一经推出，因其开源、廉价、简单易懂的特性迅速受到了广大电子迷的喜爱和推崇。</a:t>
            </a:r>
          </a:p>
        </p:txBody>
      </p:sp>
    </p:spTree>
  </p:cSld>
  <p:clrMapOvr>
    <a:masterClrMapping/>
  </p:clrMapOvr>
  <p:transition>
    <p:strips dir="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5800" y="609600"/>
            <a:ext cx="7772400" cy="943778"/>
          </a:xfrm>
        </p:spPr>
        <p:txBody>
          <a:bodyPr/>
          <a:lstStyle/>
          <a:p>
            <a:pPr algn="l"/>
            <a:r>
              <a:rPr lang="en-US" altLang="zh-CN" dirty="0"/>
              <a:t>Arduino</a:t>
            </a:r>
            <a:r>
              <a:rPr lang="zh-CN" altLang="en-US" dirty="0"/>
              <a:t>不只是电路板</a:t>
            </a:r>
          </a:p>
        </p:txBody>
      </p:sp>
      <p:sp>
        <p:nvSpPr>
          <p:cNvPr id="3" name="内容占位符 2"/>
          <p:cNvSpPr>
            <a:spLocks noGrp="1"/>
          </p:cNvSpPr>
          <p:nvPr>
            <p:ph idx="1"/>
          </p:nvPr>
        </p:nvSpPr>
        <p:spPr>
          <a:xfrm>
            <a:off x="685800" y="1652530"/>
            <a:ext cx="7772400" cy="4443470"/>
          </a:xfrm>
        </p:spPr>
        <p:txBody>
          <a:bodyPr/>
          <a:lstStyle/>
          <a:p>
            <a:pPr marL="0" indent="0">
              <a:buNone/>
            </a:pPr>
            <a:r>
              <a:rPr lang="en-US" altLang="zh-CN" dirty="0"/>
              <a:t>Arduino</a:t>
            </a:r>
            <a:r>
              <a:rPr lang="zh-CN" altLang="en-US" dirty="0"/>
              <a:t>的硬件设计电路和软件都可以在官方网站上获得，正式的制作商是意大利的</a:t>
            </a:r>
            <a:r>
              <a:rPr lang="en-US" altLang="zh-CN" dirty="0" err="1"/>
              <a:t>SmartProjects</a:t>
            </a:r>
            <a:r>
              <a:rPr lang="en-US" altLang="zh-CN" dirty="0"/>
              <a:t>, </a:t>
            </a:r>
            <a:r>
              <a:rPr lang="zh-CN" altLang="en-US" dirty="0"/>
              <a:t>许多制造商也在生产和销售他们自己的与</a:t>
            </a:r>
            <a:r>
              <a:rPr lang="en-US" altLang="zh-CN" dirty="0"/>
              <a:t>Arduino</a:t>
            </a:r>
            <a:r>
              <a:rPr lang="zh-CN" altLang="en-US" dirty="0"/>
              <a:t>兼容的电路板和扩展板，但是由</a:t>
            </a:r>
            <a:r>
              <a:rPr lang="en-US" altLang="zh-CN" dirty="0"/>
              <a:t>Arduino</a:t>
            </a:r>
            <a:r>
              <a:rPr lang="zh-CN" altLang="en-US" dirty="0"/>
              <a:t>团队设计和支持的产品需要始终保留着</a:t>
            </a:r>
            <a:r>
              <a:rPr lang="en-US" altLang="zh-CN" dirty="0"/>
              <a:t>Arduino</a:t>
            </a:r>
            <a:r>
              <a:rPr lang="zh-CN" altLang="en-US" dirty="0"/>
              <a:t>的名字。所以，</a:t>
            </a:r>
            <a:r>
              <a:rPr lang="en-US" altLang="zh-CN" dirty="0"/>
              <a:t>Arduino</a:t>
            </a:r>
            <a:r>
              <a:rPr lang="zh-CN" altLang="en-US" dirty="0"/>
              <a:t>更加准确的说法是一个包含硬件和软件的电子开发平台，具有互助和奉献的开源精神以及团队力量。</a:t>
            </a:r>
          </a:p>
          <a:p>
            <a:pPr marL="0" indent="0">
              <a:buNone/>
            </a:pPr>
            <a:endParaRPr lang="zh-CN" altLang="en-US" dirty="0"/>
          </a:p>
        </p:txBody>
      </p:sp>
    </p:spTree>
  </p:cSld>
  <p:clrMapOvr>
    <a:masterClrMapping/>
  </p:clrMapOvr>
  <p:transition>
    <p:strips dir="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为什么要使用</a:t>
            </a:r>
            <a:r>
              <a:rPr lang="en-US" altLang="zh-CN" dirty="0"/>
              <a:t>Arduino</a:t>
            </a:r>
            <a:r>
              <a:rPr lang="zh-CN" altLang="en-US" dirty="0"/>
              <a:t>？</a:t>
            </a:r>
          </a:p>
        </p:txBody>
      </p:sp>
      <p:sp>
        <p:nvSpPr>
          <p:cNvPr id="3" name="内容占位符 2"/>
          <p:cNvSpPr>
            <a:spLocks noGrp="1"/>
          </p:cNvSpPr>
          <p:nvPr>
            <p:ph idx="1"/>
          </p:nvPr>
        </p:nvSpPr>
        <p:spPr/>
        <p:txBody>
          <a:bodyPr/>
          <a:lstStyle/>
          <a:p>
            <a:r>
              <a:rPr lang="en-US" altLang="zh-CN" dirty="0"/>
              <a:t>Arduino</a:t>
            </a:r>
            <a:r>
              <a:rPr lang="zh-CN" altLang="en-US" dirty="0"/>
              <a:t>无论是硬件还是软件都是开源的，这就意味着所有人都可以查看和下载其源码、图表、设计等资源，并且用来做任何开发都可以。</a:t>
            </a:r>
          </a:p>
        </p:txBody>
      </p:sp>
    </p:spTree>
  </p:cSld>
  <p:clrMapOvr>
    <a:masterClrMapping/>
  </p:clrMapOvr>
  <p:transition>
    <p:strips dir="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为什么要使用</a:t>
            </a:r>
            <a:r>
              <a:rPr lang="en-US" altLang="zh-CN" dirty="0"/>
              <a:t>Arduino</a:t>
            </a:r>
            <a:r>
              <a:rPr lang="zh-CN" altLang="en-US" dirty="0"/>
              <a:t>？</a:t>
            </a:r>
          </a:p>
        </p:txBody>
      </p:sp>
      <p:sp>
        <p:nvSpPr>
          <p:cNvPr id="3" name="内容占位符 2"/>
          <p:cNvSpPr>
            <a:spLocks noGrp="1"/>
          </p:cNvSpPr>
          <p:nvPr>
            <p:ph idx="1"/>
          </p:nvPr>
        </p:nvSpPr>
        <p:spPr/>
        <p:txBody>
          <a:bodyPr/>
          <a:lstStyle/>
          <a:p>
            <a:r>
              <a:rPr lang="zh-CN" altLang="en-US" dirty="0"/>
              <a:t>如同</a:t>
            </a:r>
            <a:r>
              <a:rPr lang="en-US" altLang="zh-CN" dirty="0"/>
              <a:t>Linux</a:t>
            </a:r>
            <a:r>
              <a:rPr lang="zh-CN" altLang="en-US" dirty="0"/>
              <a:t>操作系统一样，开源还意味着所有人可以下载使用并且参与研究和改进</a:t>
            </a:r>
            <a:r>
              <a:rPr lang="en-US" altLang="zh-CN" dirty="0"/>
              <a:t>Arduino</a:t>
            </a:r>
            <a:r>
              <a:rPr lang="zh-CN" altLang="en-US" dirty="0"/>
              <a:t>，这也是</a:t>
            </a:r>
            <a:r>
              <a:rPr lang="en-US" altLang="zh-CN" dirty="0"/>
              <a:t>Arduino</a:t>
            </a:r>
            <a:r>
              <a:rPr lang="zh-CN" altLang="en-US" dirty="0"/>
              <a:t>更新换代如此迅速的原因。</a:t>
            </a:r>
          </a:p>
        </p:txBody>
      </p:sp>
    </p:spTree>
  </p:cSld>
  <p:clrMapOvr>
    <a:masterClrMapping/>
  </p:clrMapOvr>
  <p:transition>
    <p:strips dir="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pPr algn="l"/>
            <a:r>
              <a:rPr lang="zh-CN" altLang="en-US" dirty="0"/>
              <a:t>为什么要使用</a:t>
            </a:r>
            <a:r>
              <a:rPr lang="en-US" altLang="zh-CN" dirty="0"/>
              <a:t>Arduino</a:t>
            </a:r>
            <a:r>
              <a:rPr lang="zh-CN" altLang="en-US" dirty="0"/>
              <a:t>？</a:t>
            </a:r>
          </a:p>
        </p:txBody>
      </p:sp>
      <p:sp>
        <p:nvSpPr>
          <p:cNvPr id="5" name="内容占位符 4"/>
          <p:cNvSpPr>
            <a:spLocks noGrp="1"/>
          </p:cNvSpPr>
          <p:nvPr>
            <p:ph idx="1"/>
          </p:nvPr>
        </p:nvSpPr>
        <p:spPr/>
        <p:txBody>
          <a:bodyPr/>
          <a:lstStyle/>
          <a:p>
            <a:r>
              <a:rPr lang="zh-CN" altLang="en-US" dirty="0"/>
              <a:t>在应用方面，</a:t>
            </a:r>
            <a:r>
              <a:rPr lang="en-US" altLang="zh-CN" dirty="0"/>
              <a:t>Arduino</a:t>
            </a:r>
            <a:r>
              <a:rPr lang="zh-CN" altLang="en-US" dirty="0"/>
              <a:t>突破了传统的依靠键盘、鼠标等外界设备进行交互的局限，可以更方便地进行双人或者多人互动，还可以通过</a:t>
            </a:r>
            <a:r>
              <a:rPr lang="en-US" altLang="zh-CN" dirty="0"/>
              <a:t>Flash</a:t>
            </a:r>
            <a:r>
              <a:rPr lang="zh-CN" altLang="en-US" dirty="0"/>
              <a:t>、</a:t>
            </a:r>
            <a:r>
              <a:rPr lang="en-US" altLang="zh-CN" dirty="0"/>
              <a:t>Processing</a:t>
            </a:r>
            <a:r>
              <a:rPr lang="zh-CN" altLang="en-US" dirty="0"/>
              <a:t>等应用程序与</a:t>
            </a:r>
            <a:r>
              <a:rPr lang="en-US" altLang="zh-CN" dirty="0"/>
              <a:t>Arduino</a:t>
            </a:r>
            <a:r>
              <a:rPr lang="zh-CN" altLang="en-US" dirty="0"/>
              <a:t>进行交互。</a:t>
            </a:r>
          </a:p>
        </p:txBody>
      </p:sp>
    </p:spTree>
  </p:cSld>
  <p:clrMapOvr>
    <a:masterClrMapping/>
  </p:clrMapOvr>
  <p:transition>
    <p:strips dir="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Arduino</a:t>
            </a:r>
            <a:r>
              <a:rPr lang="zh-CN" altLang="en-US" dirty="0"/>
              <a:t>未来展望</a:t>
            </a:r>
          </a:p>
        </p:txBody>
      </p:sp>
      <p:sp>
        <p:nvSpPr>
          <p:cNvPr id="3" name="内容占位符 2"/>
          <p:cNvSpPr>
            <a:spLocks noGrp="1"/>
          </p:cNvSpPr>
          <p:nvPr>
            <p:ph idx="1"/>
          </p:nvPr>
        </p:nvSpPr>
        <p:spPr/>
        <p:txBody>
          <a:bodyPr/>
          <a:lstStyle/>
          <a:p>
            <a:pPr marL="0" indent="0">
              <a:buNone/>
            </a:pPr>
            <a:r>
              <a:rPr lang="en-US" altLang="zh-CN" dirty="0"/>
              <a:t>Arduino</a:t>
            </a:r>
            <a:r>
              <a:rPr lang="zh-CN" altLang="en-US" dirty="0"/>
              <a:t>自诞生以来，简单、廉价的特点使得</a:t>
            </a:r>
            <a:r>
              <a:rPr lang="en-US" altLang="zh-CN" dirty="0"/>
              <a:t>Arduino</a:t>
            </a:r>
            <a:r>
              <a:rPr lang="zh-CN" altLang="en-US" dirty="0"/>
              <a:t>如同雨后春笋般迅速风靡全球，在不断发展的同时，</a:t>
            </a:r>
            <a:r>
              <a:rPr lang="en-US" altLang="zh-CN" dirty="0"/>
              <a:t>Arduino</a:t>
            </a:r>
            <a:r>
              <a:rPr lang="zh-CN" altLang="en-US" dirty="0"/>
              <a:t>也在发挥着更重要的作用。</a:t>
            </a:r>
          </a:p>
        </p:txBody>
      </p:sp>
    </p:spTree>
  </p:cSld>
  <p:clrMapOvr>
    <a:masterClrMapping/>
  </p:clrMapOvr>
  <p:transition>
    <p:strips dir="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创客文化</a:t>
            </a:r>
          </a:p>
        </p:txBody>
      </p:sp>
      <p:sp>
        <p:nvSpPr>
          <p:cNvPr id="3" name="内容占位符 2"/>
          <p:cNvSpPr>
            <a:spLocks noGrp="1"/>
          </p:cNvSpPr>
          <p:nvPr>
            <p:ph idx="1"/>
          </p:nvPr>
        </p:nvSpPr>
        <p:spPr/>
        <p:txBody>
          <a:bodyPr/>
          <a:lstStyle/>
          <a:p>
            <a:r>
              <a:rPr lang="zh-CN" altLang="en-US" dirty="0"/>
              <a:t>“创客”一词来源于英文单词“</a:t>
            </a:r>
            <a:r>
              <a:rPr lang="en-US" altLang="zh-CN" dirty="0"/>
              <a:t>Maker”</a:t>
            </a:r>
          </a:p>
          <a:p>
            <a:r>
              <a:rPr lang="zh-CN" altLang="en-US" dirty="0"/>
              <a:t>指的是不以盈利为目标，努力把各种创意转变为现实的人</a:t>
            </a:r>
            <a:endParaRPr lang="en-US" altLang="zh-CN" dirty="0"/>
          </a:p>
          <a:p>
            <a:r>
              <a:rPr lang="zh-CN" altLang="en-US" dirty="0"/>
              <a:t>热爱生活，愿意亲手创新为生活增加乐趣的一群人</a:t>
            </a:r>
            <a:endParaRPr lang="en-US" altLang="zh-CN" dirty="0"/>
          </a:p>
          <a:p>
            <a:r>
              <a:rPr lang="zh-CN" altLang="en-US" dirty="0"/>
              <a:t>他们精力旺盛，坚信世界会因为自己的创意而改变</a:t>
            </a:r>
          </a:p>
        </p:txBody>
      </p:sp>
    </p:spTree>
  </p:cSld>
  <p:clrMapOvr>
    <a:masterClrMapping/>
  </p:clrMapOvr>
  <p:transition>
    <p:strips dir="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创客文化</a:t>
            </a:r>
          </a:p>
        </p:txBody>
      </p:sp>
      <p:sp>
        <p:nvSpPr>
          <p:cNvPr id="3" name="内容占位符 2"/>
          <p:cNvSpPr>
            <a:spLocks noGrp="1"/>
          </p:cNvSpPr>
          <p:nvPr>
            <p:ph idx="1"/>
          </p:nvPr>
        </p:nvSpPr>
        <p:spPr/>
        <p:txBody>
          <a:bodyPr/>
          <a:lstStyle/>
          <a:p>
            <a:r>
              <a:rPr lang="zh-CN" altLang="en-US" dirty="0"/>
              <a:t>创客文化兴起于国外</a:t>
            </a:r>
            <a:r>
              <a:rPr lang="en-US" altLang="zh-CN" dirty="0"/>
              <a:t>,</a:t>
            </a:r>
            <a:r>
              <a:rPr lang="zh-CN" altLang="en-US" dirty="0"/>
              <a:t>国内也不示弱</a:t>
            </a:r>
            <a:endParaRPr lang="en-US" altLang="zh-CN" dirty="0"/>
          </a:p>
          <a:p>
            <a:r>
              <a:rPr lang="zh-CN" altLang="en-US" dirty="0"/>
              <a:t>各种社区、空间、论坛的建立使得创客文化在中国真正流行起来</a:t>
            </a:r>
            <a:endParaRPr lang="en-US" altLang="zh-CN" dirty="0"/>
          </a:p>
          <a:p>
            <a:r>
              <a:rPr lang="zh-CN" altLang="en-US" dirty="0"/>
              <a:t>北京、上海、深圳已经发展成为中国创客文化的三大中心</a:t>
            </a:r>
          </a:p>
        </p:txBody>
      </p:sp>
    </p:spTree>
  </p:cSld>
  <p:clrMapOvr>
    <a:masterClrMapping/>
  </p:clrMapOvr>
  <p:transition>
    <p:strips dir="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什么推动创客文化迅猛发展？</a:t>
            </a:r>
          </a:p>
        </p:txBody>
      </p:sp>
      <p:sp>
        <p:nvSpPr>
          <p:cNvPr id="3" name="内容占位符 2"/>
          <p:cNvSpPr>
            <a:spLocks noGrp="1"/>
          </p:cNvSpPr>
          <p:nvPr>
            <p:ph idx="1"/>
          </p:nvPr>
        </p:nvSpPr>
        <p:spPr/>
        <p:txBody>
          <a:bodyPr/>
          <a:lstStyle/>
          <a:p>
            <a:r>
              <a:rPr lang="zh-CN" altLang="en-US" dirty="0"/>
              <a:t>硬件的学习和开发是有一定的难度的</a:t>
            </a:r>
            <a:endParaRPr lang="en-US" altLang="zh-CN" dirty="0"/>
          </a:p>
          <a:p>
            <a:r>
              <a:rPr lang="zh-CN" altLang="en-US" dirty="0"/>
              <a:t>人人都想通过简单的方式实现自己的创意，于是开源硬件应运而生</a:t>
            </a:r>
            <a:endParaRPr lang="en-US" altLang="zh-CN" dirty="0"/>
          </a:p>
          <a:p>
            <a:r>
              <a:rPr lang="zh-CN" altLang="en-US" dirty="0"/>
              <a:t>开源硬件平台中知名度较高的应该就是日渐强大的</a:t>
            </a:r>
            <a:r>
              <a:rPr lang="en-US" altLang="zh-CN" dirty="0"/>
              <a:t>Arduino</a:t>
            </a:r>
            <a:r>
              <a:rPr lang="zh-CN" altLang="en-US" dirty="0"/>
              <a:t>了</a:t>
            </a:r>
          </a:p>
        </p:txBody>
      </p:sp>
    </p:spTree>
  </p:cSld>
  <p:clrMapOvr>
    <a:masterClrMapping/>
  </p:clrMapOvr>
  <p:transition>
    <p:strips dir="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Arduino</a:t>
            </a:r>
            <a:r>
              <a:rPr lang="zh-CN" altLang="en-US" dirty="0"/>
              <a:t>与创客文化</a:t>
            </a:r>
          </a:p>
        </p:txBody>
      </p:sp>
      <p:sp>
        <p:nvSpPr>
          <p:cNvPr id="3" name="内容占位符 2"/>
          <p:cNvSpPr>
            <a:spLocks noGrp="1"/>
          </p:cNvSpPr>
          <p:nvPr>
            <p:ph idx="1"/>
          </p:nvPr>
        </p:nvSpPr>
        <p:spPr/>
        <p:txBody>
          <a:bodyPr/>
          <a:lstStyle/>
          <a:p>
            <a:r>
              <a:rPr lang="en-US" altLang="zh-CN" dirty="0"/>
              <a:t>Arduino</a:t>
            </a:r>
            <a:r>
              <a:rPr lang="zh-CN" altLang="en-US" dirty="0"/>
              <a:t>作为一款开源硬件平台，一开始被设计的目标人群就是非电子专业尤其是艺术家学习使用的，让他们更容易实现自己的创意。</a:t>
            </a:r>
            <a:endParaRPr lang="en-US" altLang="zh-CN" dirty="0"/>
          </a:p>
          <a:p>
            <a:r>
              <a:rPr lang="en-US" altLang="zh-CN" dirty="0"/>
              <a:t>Arduino</a:t>
            </a:r>
            <a:r>
              <a:rPr lang="zh-CN" altLang="en-US" dirty="0"/>
              <a:t>内部封装了很多函数和大量的传感器函数库，即使不懂软件开发和电子设计的人也可以借助</a:t>
            </a:r>
            <a:r>
              <a:rPr lang="en-US" altLang="zh-CN" dirty="0"/>
              <a:t>Arduino</a:t>
            </a:r>
            <a:r>
              <a:rPr lang="zh-CN" altLang="en-US" dirty="0"/>
              <a:t>很快创作出属于自己的作品。</a:t>
            </a:r>
          </a:p>
          <a:p>
            <a:pPr marL="0" indent="0">
              <a:buNone/>
            </a:pPr>
            <a:endParaRPr lang="zh-CN" altLang="en-US" dirty="0"/>
          </a:p>
        </p:txBody>
      </p:sp>
    </p:spTree>
  </p:cSld>
  <p:clrMapOvr>
    <a:masterClrMapping/>
  </p:clrMapOvr>
  <p:transition>
    <p:strips dir="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pPr algn="l"/>
            <a:r>
              <a:rPr lang="en-US" altLang="zh-CN" dirty="0"/>
              <a:t>Arduino</a:t>
            </a:r>
            <a:r>
              <a:rPr lang="zh-CN" altLang="en-US" dirty="0"/>
              <a:t>与创客文化</a:t>
            </a:r>
          </a:p>
        </p:txBody>
      </p:sp>
      <p:sp>
        <p:nvSpPr>
          <p:cNvPr id="5" name="内容占位符 4"/>
          <p:cNvSpPr>
            <a:spLocks noGrp="1"/>
          </p:cNvSpPr>
          <p:nvPr>
            <p:ph idx="1"/>
          </p:nvPr>
        </p:nvSpPr>
        <p:spPr/>
        <p:txBody>
          <a:bodyPr/>
          <a:lstStyle/>
          <a:p>
            <a:r>
              <a:rPr lang="en-US" altLang="zh-CN" dirty="0"/>
              <a:t>Arduino</a:t>
            </a:r>
            <a:r>
              <a:rPr lang="zh-CN" altLang="en-US" dirty="0"/>
              <a:t>简单易上手、成本低廉这两大优势让更多的人都能有条件和能力加入创客大军，而创客大军的日益扩大也促进了</a:t>
            </a:r>
            <a:r>
              <a:rPr lang="en-US" altLang="zh-CN" dirty="0"/>
              <a:t>Arduino</a:t>
            </a:r>
            <a:r>
              <a:rPr lang="zh-CN" altLang="en-US" dirty="0"/>
              <a:t>的发展。</a:t>
            </a:r>
            <a:endParaRPr lang="en-US" altLang="zh-CN" dirty="0"/>
          </a:p>
          <a:p>
            <a:r>
              <a:rPr lang="zh-CN" altLang="en-US" dirty="0"/>
              <a:t>各种各样的社区、论坛的完善，不同的人、不同的环境、不同的创意每时每刻都在对</a:t>
            </a:r>
            <a:r>
              <a:rPr lang="en-US" altLang="zh-CN" dirty="0"/>
              <a:t>Arduino</a:t>
            </a:r>
            <a:r>
              <a:rPr lang="zh-CN" altLang="en-US" dirty="0"/>
              <a:t>进行扩展和完善。</a:t>
            </a:r>
          </a:p>
        </p:txBody>
      </p:sp>
    </p:spTree>
  </p:cSld>
  <p:clrMapOvr>
    <a:masterClrMapping/>
  </p:clrMapOvr>
  <p:transition>
    <p:strips dir="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pPr marL="0" indent="0">
              <a:buNone/>
            </a:pPr>
            <a:r>
              <a:rPr lang="zh-CN" altLang="en-US" dirty="0"/>
              <a:t>在</a:t>
            </a:r>
            <a:r>
              <a:rPr lang="en-US" altLang="zh-CN" dirty="0"/>
              <a:t>2011</a:t>
            </a:r>
            <a:r>
              <a:rPr lang="zh-CN" altLang="en-US" dirty="0"/>
              <a:t>年举行的</a:t>
            </a:r>
            <a:r>
              <a:rPr lang="en-US" altLang="zh-CN" dirty="0"/>
              <a:t>Google I/O</a:t>
            </a:r>
            <a:r>
              <a:rPr lang="zh-CN" altLang="en-US" dirty="0"/>
              <a:t>开发者大会上，</a:t>
            </a:r>
            <a:r>
              <a:rPr lang="en-US" altLang="zh-CN" dirty="0"/>
              <a:t>Google</a:t>
            </a:r>
            <a:r>
              <a:rPr lang="zh-CN" altLang="en-US" dirty="0"/>
              <a:t>公司发布了基于</a:t>
            </a:r>
            <a:r>
              <a:rPr lang="en-US" altLang="zh-CN" dirty="0"/>
              <a:t>Arduino</a:t>
            </a:r>
            <a:r>
              <a:rPr lang="zh-CN" altLang="en-US" dirty="0"/>
              <a:t>的</a:t>
            </a:r>
            <a:r>
              <a:rPr lang="en-US" altLang="zh-CN" dirty="0"/>
              <a:t>Android Open Accessory</a:t>
            </a:r>
            <a:r>
              <a:rPr lang="zh-CN" altLang="en-US" dirty="0"/>
              <a:t>标准和</a:t>
            </a:r>
            <a:r>
              <a:rPr lang="en-US" altLang="zh-CN" dirty="0"/>
              <a:t>ADK</a:t>
            </a:r>
            <a:r>
              <a:rPr lang="zh-CN" altLang="en-US" dirty="0"/>
              <a:t>工具，这使得大家对</a:t>
            </a:r>
            <a:r>
              <a:rPr lang="en-US" altLang="zh-CN" dirty="0"/>
              <a:t>Arduino</a:t>
            </a:r>
            <a:r>
              <a:rPr lang="zh-CN" altLang="en-US" dirty="0"/>
              <a:t>的巨大的发展前景十分看好。</a:t>
            </a:r>
          </a:p>
        </p:txBody>
      </p:sp>
    </p:spTree>
  </p:cSld>
  <p:clrMapOvr>
    <a:masterClrMapping/>
  </p:clrMapOvr>
  <p:transition>
    <p:strips dir="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Arduino</a:t>
            </a:r>
            <a:r>
              <a:rPr lang="zh-CN" altLang="en-US" dirty="0"/>
              <a:t>快速原型设计</a:t>
            </a:r>
          </a:p>
        </p:txBody>
      </p:sp>
      <p:sp>
        <p:nvSpPr>
          <p:cNvPr id="3" name="内容占位符 2"/>
          <p:cNvSpPr>
            <a:spLocks noGrp="1"/>
          </p:cNvSpPr>
          <p:nvPr>
            <p:ph idx="1"/>
          </p:nvPr>
        </p:nvSpPr>
        <p:spPr/>
        <p:txBody>
          <a:bodyPr/>
          <a:lstStyle/>
          <a:p>
            <a:pPr marL="0" indent="0">
              <a:buNone/>
            </a:pPr>
            <a:r>
              <a:rPr lang="zh-CN" altLang="en-US" dirty="0"/>
              <a:t>纵观计算机语言的发展，从</a:t>
            </a:r>
            <a:r>
              <a:rPr lang="en-US" altLang="zh-CN" dirty="0"/>
              <a:t>0</a:t>
            </a:r>
            <a:r>
              <a:rPr lang="zh-CN" altLang="en-US" dirty="0"/>
              <a:t>和</a:t>
            </a:r>
            <a:r>
              <a:rPr lang="en-US" altLang="zh-CN" dirty="0"/>
              <a:t>1</a:t>
            </a:r>
            <a:r>
              <a:rPr lang="zh-CN" altLang="en-US" dirty="0"/>
              <a:t>相间的二进制语言到汇编语言，从</a:t>
            </a:r>
            <a:r>
              <a:rPr lang="en-US" altLang="zh-CN" dirty="0"/>
              <a:t>K&amp;R</a:t>
            </a:r>
            <a:r>
              <a:rPr lang="zh-CN" altLang="en-US" dirty="0"/>
              <a:t>的</a:t>
            </a:r>
            <a:r>
              <a:rPr lang="en-US" altLang="zh-CN" dirty="0"/>
              <a:t>C</a:t>
            </a:r>
            <a:r>
              <a:rPr lang="zh-CN" altLang="en-US" dirty="0"/>
              <a:t>语言到现在各式各样的高级语言，计算机语言正在逐渐变成更自由、更易学易懂的大众化语言。</a:t>
            </a:r>
          </a:p>
        </p:txBody>
      </p:sp>
    </p:spTree>
  </p:cSld>
  <p:clrMapOvr>
    <a:masterClrMapping/>
  </p:clrMapOvr>
  <p:transition>
    <p:strips dir="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85800" y="1145754"/>
            <a:ext cx="7772400" cy="4979624"/>
          </a:xfrm>
        </p:spPr>
        <p:txBody>
          <a:bodyPr/>
          <a:lstStyle/>
          <a:p>
            <a:pPr marL="0" indent="0">
              <a:buNone/>
            </a:pPr>
            <a:r>
              <a:rPr lang="zh-CN" altLang="en-US" dirty="0"/>
              <a:t>曾有人预言：未来的时代，程序员将要消失，编程不再是局限人们思维和灵感的桎梏。在软件行业飞速发展的现在，几乎任何具有良好逻辑思维能力的人只要对某些产品感兴趣，就可以通过互联网获得足够的资源从而成为一名软件开发人员。</a:t>
            </a:r>
            <a:endParaRPr lang="en-US" altLang="zh-CN" dirty="0"/>
          </a:p>
          <a:p>
            <a:pPr marL="0" indent="899795">
              <a:buNone/>
            </a:pPr>
            <a:r>
              <a:rPr lang="zh-CN" altLang="en-US" b="1" dirty="0"/>
              <a:t>而</a:t>
            </a:r>
            <a:r>
              <a:rPr lang="en-US" altLang="zh-CN" b="1" dirty="0"/>
              <a:t>Arduino</a:t>
            </a:r>
            <a:r>
              <a:rPr lang="zh-CN" altLang="en-US" b="1" dirty="0"/>
              <a:t>的出现，让人们看到了不仅是软件，硬件的开发也越来越简单和廉价。</a:t>
            </a:r>
          </a:p>
        </p:txBody>
      </p:sp>
    </p:spTree>
  </p:cSld>
  <p:clrMapOvr>
    <a:masterClrMapping/>
  </p:clrMapOvr>
  <p:transition>
    <p:strips dir="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Arduino</a:t>
            </a:r>
            <a:r>
              <a:rPr lang="zh-CN" altLang="en-US" dirty="0"/>
              <a:t>快速原型设计</a:t>
            </a:r>
          </a:p>
        </p:txBody>
      </p:sp>
      <p:sp>
        <p:nvSpPr>
          <p:cNvPr id="3" name="内容占位符 2"/>
          <p:cNvSpPr>
            <a:spLocks noGrp="1"/>
          </p:cNvSpPr>
          <p:nvPr>
            <p:ph idx="1"/>
          </p:nvPr>
        </p:nvSpPr>
        <p:spPr/>
        <p:txBody>
          <a:bodyPr/>
          <a:lstStyle/>
          <a:p>
            <a:r>
              <a:rPr lang="zh-CN" altLang="en-US" dirty="0"/>
              <a:t>不必从底层开始学习开发计算机的特性让更多的人从零上手</a:t>
            </a:r>
            <a:endParaRPr lang="en-US" altLang="zh-CN" dirty="0"/>
          </a:p>
          <a:p>
            <a:r>
              <a:rPr lang="zh-CN" altLang="en-US" dirty="0"/>
              <a:t>开源硬件将会使得软件同硬件、互联网产业更好的结合到一起</a:t>
            </a:r>
            <a:endParaRPr lang="en-US" altLang="zh-CN" dirty="0"/>
          </a:p>
          <a:p>
            <a:r>
              <a:rPr lang="en-US" altLang="zh-CN" dirty="0"/>
              <a:t>Arduino</a:t>
            </a:r>
            <a:r>
              <a:rPr lang="zh-CN" altLang="en-US" dirty="0"/>
              <a:t>的简单易学也会成为一些电子爱好者进入电子行业的一块基石</a:t>
            </a:r>
            <a:endParaRPr lang="en-US" altLang="zh-CN" dirty="0"/>
          </a:p>
          <a:p>
            <a:endParaRPr lang="zh-CN" altLang="en-US" dirty="0"/>
          </a:p>
        </p:txBody>
      </p:sp>
    </p:spTree>
  </p:cSld>
  <p:clrMapOvr>
    <a:masterClrMapping/>
  </p:clrMapOvr>
  <p:transition>
    <p:cover dir="d"/>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电子爱好者的福音</a:t>
            </a:r>
          </a:p>
        </p:txBody>
      </p:sp>
      <p:sp>
        <p:nvSpPr>
          <p:cNvPr id="3" name="内容占位符 2"/>
          <p:cNvSpPr>
            <a:spLocks noGrp="1"/>
          </p:cNvSpPr>
          <p:nvPr>
            <p:ph idx="1"/>
          </p:nvPr>
        </p:nvSpPr>
        <p:spPr/>
        <p:txBody>
          <a:bodyPr/>
          <a:lstStyle/>
          <a:p>
            <a:r>
              <a:rPr lang="zh-CN" altLang="en-US" dirty="0"/>
              <a:t>大量的资源和资料让很多人快速学习</a:t>
            </a:r>
            <a:r>
              <a:rPr lang="en-US" altLang="zh-CN" dirty="0"/>
              <a:t>Arduino</a:t>
            </a:r>
          </a:p>
          <a:p>
            <a:r>
              <a:rPr lang="zh-CN" altLang="en-US" dirty="0"/>
              <a:t>互联网的飞速发展让科技的脚步加快（创客社区、论坛）</a:t>
            </a:r>
            <a:endParaRPr lang="en-US" altLang="zh-CN" dirty="0"/>
          </a:p>
          <a:p>
            <a:r>
              <a:rPr lang="zh-CN" altLang="en-US" dirty="0"/>
              <a:t>利用</a:t>
            </a:r>
            <a:r>
              <a:rPr lang="en-US" altLang="zh-CN" dirty="0"/>
              <a:t>Arduino</a:t>
            </a:r>
            <a:r>
              <a:rPr lang="zh-CN" altLang="en-US" dirty="0"/>
              <a:t>，电子爱好者们可以快速设计出原型，从而根据反馈改进出更加稳定可靠的版本</a:t>
            </a:r>
            <a:endParaRPr lang="en-US" altLang="zh-CN" dirty="0"/>
          </a:p>
          <a:p>
            <a:endParaRPr lang="zh-CN" altLang="en-US" dirty="0"/>
          </a:p>
        </p:txBody>
      </p:sp>
    </p:spTree>
  </p:cSld>
  <p:clrMapOvr>
    <a:masterClrMapping/>
  </p:clrMapOvr>
  <p:transition>
    <p:cover dir="d"/>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5790" y="2552700"/>
            <a:ext cx="7772400" cy="1143000"/>
          </a:xfrm>
        </p:spPr>
        <p:txBody>
          <a:bodyPr/>
          <a:lstStyle/>
          <a:p>
            <a:r>
              <a:rPr lang="en-US" altLang="zh-CN" sz="6000" dirty="0"/>
              <a:t>Arduino</a:t>
            </a:r>
            <a:r>
              <a:rPr lang="zh-CN" altLang="en-US" sz="6000" dirty="0"/>
              <a:t>硬件介绍</a:t>
            </a:r>
          </a:p>
        </p:txBody>
      </p:sp>
    </p:spTree>
  </p:cSld>
  <p:clrMapOvr>
    <a:masterClrMapping/>
  </p:clrMapOvr>
  <p:transition>
    <p:cover dir="d"/>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常见</a:t>
            </a:r>
            <a:r>
              <a:rPr lang="en-US" altLang="zh-CN" dirty="0"/>
              <a:t>Arduino</a:t>
            </a:r>
            <a:r>
              <a:rPr lang="zh-CN" altLang="en-US" dirty="0"/>
              <a:t>型号</a:t>
            </a:r>
          </a:p>
        </p:txBody>
      </p:sp>
      <p:pic>
        <p:nvPicPr>
          <p:cNvPr id="4" name="内容占位符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85800" y="2037207"/>
            <a:ext cx="7772400" cy="4002786"/>
          </a:xfrm>
        </p:spPr>
      </p:pic>
    </p:spTree>
  </p:cSld>
  <p:clrMapOvr>
    <a:masterClrMapping/>
  </p:clrMapOvr>
  <p:transition>
    <p:cover dir="d"/>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Arduino </a:t>
            </a:r>
            <a:r>
              <a:rPr lang="en-US" altLang="zh-CN" dirty="0" err="1"/>
              <a:t>Duemilanove</a:t>
            </a:r>
            <a:endParaRPr lang="zh-CN" altLang="en-US" dirty="0"/>
          </a:p>
        </p:txBody>
      </p:sp>
      <p:pic>
        <p:nvPicPr>
          <p:cNvPr id="4" name="内容占位符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51610" y="1913572"/>
            <a:ext cx="5715000" cy="4067175"/>
          </a:xfrm>
        </p:spPr>
      </p:pic>
    </p:spTree>
  </p:cSld>
  <p:clrMapOvr>
    <a:masterClrMapping/>
  </p:clrMapOvr>
  <p:transition>
    <p:cover dir="d"/>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Arduino Uno R3</a:t>
            </a:r>
            <a:endParaRPr lang="zh-CN" altLang="en-US" dirty="0"/>
          </a:p>
        </p:txBody>
      </p:sp>
      <p:pic>
        <p:nvPicPr>
          <p:cNvPr id="4" name="内容占位符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28800" y="1981200"/>
            <a:ext cx="5486400" cy="4114800"/>
          </a:xfrm>
        </p:spPr>
      </p:pic>
    </p:spTree>
  </p:cSld>
  <p:clrMapOvr>
    <a:masterClrMapping/>
  </p:clrMapOvr>
  <p:transition>
    <p:cover dir="d"/>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Arduino Uno SMD</a:t>
            </a:r>
            <a:endParaRPr lang="zh-CN" altLang="en-US" dirty="0"/>
          </a:p>
        </p:txBody>
      </p:sp>
      <p:pic>
        <p:nvPicPr>
          <p:cNvPr id="4" name="内容占位符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030729" y="2245994"/>
            <a:ext cx="4427912" cy="3126106"/>
          </a:xfrm>
        </p:spPr>
      </p:pic>
    </p:spTree>
  </p:cSld>
  <p:clrMapOvr>
    <a:masterClrMapping/>
  </p:clrMapOvr>
  <p:transition>
    <p:cover dir="d"/>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Arduino Nano</a:t>
            </a:r>
            <a:endParaRPr lang="zh-CN" altLang="en-US" dirty="0"/>
          </a:p>
        </p:txBody>
      </p:sp>
      <p:pic>
        <p:nvPicPr>
          <p:cNvPr id="4" name="内容占位符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14600" y="1981200"/>
            <a:ext cx="4114800" cy="4114800"/>
          </a:xfrm>
        </p:spPr>
      </p:pic>
    </p:spTree>
  </p:cSld>
  <p:clrMapOvr>
    <a:masterClrMapping/>
  </p:clrMapOvr>
  <p:transition>
    <p:cover dir="d"/>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Arduino mini</a:t>
            </a:r>
            <a:endParaRPr lang="zh-CN" altLang="en-US" dirty="0"/>
          </a:p>
        </p:txBody>
      </p:sp>
      <p:pic>
        <p:nvPicPr>
          <p:cNvPr id="4" name="内容占位符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14500" y="2133600"/>
            <a:ext cx="5715000" cy="3810000"/>
          </a:xfrm>
        </p:spPr>
      </p:pic>
    </p:spTree>
  </p:cSld>
  <p:clrMapOvr>
    <a:masterClrMapping/>
  </p:clrMapOvr>
  <p:transition>
    <p:cover dir="d"/>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Arduino Leonardo</a:t>
            </a:r>
            <a:endParaRPr lang="zh-CN" altLang="en-US" dirty="0"/>
          </a:p>
        </p:txBody>
      </p:sp>
      <p:pic>
        <p:nvPicPr>
          <p:cNvPr id="4" name="内容占位符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03567" y="1981200"/>
            <a:ext cx="5536866" cy="4114800"/>
          </a:xfrm>
        </p:spPr>
      </p:pic>
    </p:spTree>
  </p:cSld>
  <p:clrMapOvr>
    <a:masterClrMapping/>
  </p:clrMapOvr>
  <p:transition>
    <p:cover dir="d"/>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Arduino mega 2560</a:t>
            </a:r>
            <a:endParaRPr lang="zh-CN" altLang="en-US" dirty="0"/>
          </a:p>
        </p:txBody>
      </p:sp>
      <p:pic>
        <p:nvPicPr>
          <p:cNvPr id="4" name="内容占位符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90750" y="2252662"/>
            <a:ext cx="4762500" cy="3571875"/>
          </a:xfrm>
        </p:spPr>
      </p:pic>
    </p:spTree>
  </p:cSld>
  <p:clrMapOvr>
    <a:masterClrMapping/>
  </p:clrMapOvr>
  <p:transition>
    <p:cover dir="d"/>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Arduino Due</a:t>
            </a:r>
            <a:endParaRPr lang="zh-CN" altLang="en-US" dirty="0"/>
          </a:p>
        </p:txBody>
      </p:sp>
      <p:pic>
        <p:nvPicPr>
          <p:cNvPr id="4" name="内容占位符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35834" y="1981200"/>
            <a:ext cx="5072332" cy="4114800"/>
          </a:xfrm>
        </p:spPr>
      </p:pic>
    </p:spTree>
  </p:cSld>
  <p:clrMapOvr>
    <a:masterClrMapping/>
  </p:clrMapOvr>
  <p:transition>
    <p:cover dir="d"/>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之前的硬件</a:t>
            </a:r>
          </a:p>
        </p:txBody>
      </p:sp>
      <p:sp>
        <p:nvSpPr>
          <p:cNvPr id="3" name="内容占位符 2"/>
          <p:cNvSpPr>
            <a:spLocks noGrp="1"/>
          </p:cNvSpPr>
          <p:nvPr>
            <p:ph idx="1"/>
          </p:nvPr>
        </p:nvSpPr>
        <p:spPr/>
        <p:txBody>
          <a:bodyPr/>
          <a:lstStyle/>
          <a:p>
            <a:r>
              <a:rPr lang="en-US" altLang="zh-CN" dirty="0"/>
              <a:t>Arduino Serial</a:t>
            </a:r>
            <a:r>
              <a:rPr lang="zh-CN" altLang="en-US" dirty="0"/>
              <a:t>（</a:t>
            </a:r>
            <a:r>
              <a:rPr lang="en-US" altLang="zh-CN" dirty="0"/>
              <a:t>RS232</a:t>
            </a:r>
            <a:r>
              <a:rPr lang="zh-CN" altLang="en-US" dirty="0"/>
              <a:t>串口、</a:t>
            </a:r>
            <a:r>
              <a:rPr lang="en-US" altLang="zh-CN" dirty="0"/>
              <a:t>ATmega8</a:t>
            </a:r>
            <a:r>
              <a:rPr lang="zh-CN" altLang="en-US" dirty="0"/>
              <a:t>）</a:t>
            </a:r>
            <a:endParaRPr lang="en-US" altLang="zh-CN" dirty="0"/>
          </a:p>
          <a:p>
            <a:r>
              <a:rPr lang="en-US" altLang="zh-CN" dirty="0"/>
              <a:t>Arduino USB</a:t>
            </a:r>
            <a:r>
              <a:rPr lang="zh-CN" altLang="en-US" dirty="0"/>
              <a:t>（</a:t>
            </a:r>
            <a:r>
              <a:rPr lang="en-US" altLang="zh-CN" dirty="0"/>
              <a:t>FTDI</a:t>
            </a:r>
            <a:r>
              <a:rPr lang="zh-CN" altLang="en-US" dirty="0"/>
              <a:t>的</a:t>
            </a:r>
            <a:r>
              <a:rPr lang="en-US" altLang="zh-CN" dirty="0"/>
              <a:t>USB</a:t>
            </a:r>
            <a:r>
              <a:rPr lang="zh-CN" altLang="en-US" dirty="0"/>
              <a:t>接口芯片）</a:t>
            </a:r>
            <a:endParaRPr lang="en-US" altLang="zh-CN" dirty="0"/>
          </a:p>
          <a:p>
            <a:r>
              <a:rPr lang="en-US" altLang="zh-CN" dirty="0"/>
              <a:t>Arduino Extreme </a:t>
            </a:r>
            <a:r>
              <a:rPr lang="zh-CN" altLang="en-US" dirty="0"/>
              <a:t>（插孔、串口灯）</a:t>
            </a:r>
            <a:endParaRPr lang="en-US" altLang="zh-CN" dirty="0"/>
          </a:p>
          <a:p>
            <a:r>
              <a:rPr lang="en-US" altLang="zh-CN" dirty="0"/>
              <a:t>Arduino Nuova </a:t>
            </a:r>
            <a:r>
              <a:rPr lang="en-US" altLang="zh-CN" dirty="0" err="1"/>
              <a:t>Generazine</a:t>
            </a:r>
            <a:r>
              <a:rPr lang="zh-CN" altLang="en-US" dirty="0"/>
              <a:t>（新一代）</a:t>
            </a:r>
            <a:endParaRPr lang="en-US" altLang="zh-CN" dirty="0"/>
          </a:p>
          <a:p>
            <a:r>
              <a:rPr lang="en-US" altLang="zh-CN" dirty="0"/>
              <a:t>Arduino </a:t>
            </a:r>
            <a:r>
              <a:rPr lang="en-US" altLang="zh-CN" dirty="0" err="1"/>
              <a:t>Diecimila</a:t>
            </a:r>
            <a:r>
              <a:rPr lang="zh-CN" altLang="en-US" dirty="0"/>
              <a:t>（</a:t>
            </a:r>
            <a:r>
              <a:rPr lang="en-US" altLang="zh-CN" dirty="0"/>
              <a:t>10000</a:t>
            </a:r>
            <a:r>
              <a:rPr lang="zh-CN" altLang="en-US" dirty="0"/>
              <a:t>个、自重启）</a:t>
            </a:r>
            <a:endParaRPr lang="en-US" altLang="zh-CN" dirty="0"/>
          </a:p>
          <a:p>
            <a:r>
              <a:rPr lang="en-US" altLang="zh-CN" dirty="0"/>
              <a:t>Arduino </a:t>
            </a:r>
            <a:r>
              <a:rPr lang="en-US" altLang="zh-CN" dirty="0" err="1"/>
              <a:t>Duemilanove</a:t>
            </a:r>
            <a:r>
              <a:rPr lang="zh-CN" altLang="en-US" dirty="0"/>
              <a:t>（</a:t>
            </a:r>
            <a:r>
              <a:rPr lang="en-US" altLang="zh-CN" dirty="0"/>
              <a:t>2009</a:t>
            </a:r>
            <a:r>
              <a:rPr lang="zh-CN" altLang="en-US" dirty="0"/>
              <a:t>、</a:t>
            </a:r>
            <a:r>
              <a:rPr lang="en-US" altLang="zh-CN" dirty="0"/>
              <a:t>328</a:t>
            </a:r>
            <a:r>
              <a:rPr lang="zh-CN" altLang="en-US" dirty="0"/>
              <a:t>）</a:t>
            </a:r>
            <a:endParaRPr lang="en-US" altLang="zh-CN" dirty="0"/>
          </a:p>
          <a:p>
            <a:r>
              <a:rPr lang="en-US" altLang="zh-CN" dirty="0"/>
              <a:t>Arduino Mega </a:t>
            </a:r>
            <a:r>
              <a:rPr lang="zh-CN" altLang="en-US" dirty="0"/>
              <a:t>（</a:t>
            </a:r>
            <a:r>
              <a:rPr lang="en-US" altLang="zh-CN" dirty="0"/>
              <a:t> ATmega1280</a:t>
            </a:r>
            <a:r>
              <a:rPr lang="zh-CN" altLang="en-US" dirty="0"/>
              <a:t>）</a:t>
            </a:r>
          </a:p>
        </p:txBody>
      </p:sp>
    </p:spTree>
  </p:cSld>
  <p:clrMapOvr>
    <a:masterClrMapping/>
  </p:clrMapOvr>
  <p:transition>
    <p:cover dir="d"/>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Arduino Serial</a:t>
            </a:r>
            <a:endParaRPr lang="zh-CN" altLang="en-US" dirty="0"/>
          </a:p>
        </p:txBody>
      </p:sp>
      <p:pic>
        <p:nvPicPr>
          <p:cNvPr id="4" name="内容占位符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38337" y="2076450"/>
            <a:ext cx="5267325" cy="3924300"/>
          </a:xfrm>
        </p:spPr>
      </p:pic>
    </p:spTree>
  </p:cSld>
  <p:clrMapOvr>
    <a:masterClrMapping/>
  </p:clrMapOvr>
  <p:transition>
    <p:cover dir="d"/>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Arduino USB</a:t>
            </a:r>
            <a:endParaRPr lang="zh-CN" altLang="en-US" dirty="0"/>
          </a:p>
        </p:txBody>
      </p:sp>
      <p:pic>
        <p:nvPicPr>
          <p:cNvPr id="4" name="内容占位符 3"/>
          <p:cNvPicPr>
            <a:picLocks noGrp="1" noChangeAspect="1"/>
          </p:cNvPicPr>
          <p:nvPr>
            <p:ph idx="1"/>
          </p:nvPr>
        </p:nvPicPr>
        <p:blipFill>
          <a:blip r:embed="rId2"/>
          <a:stretch>
            <a:fillRect/>
          </a:stretch>
        </p:blipFill>
        <p:spPr>
          <a:xfrm>
            <a:off x="2353627" y="2306954"/>
            <a:ext cx="5034852" cy="3213735"/>
          </a:xfrm>
          <a:prstGeom prst="rect">
            <a:avLst/>
          </a:prstGeom>
        </p:spPr>
      </p:pic>
    </p:spTree>
  </p:cSld>
  <p:clrMapOvr>
    <a:masterClrMapping/>
  </p:clrMapOvr>
  <p:transition>
    <p:cover dir="d"/>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Arduino Extreme</a:t>
            </a:r>
            <a:endParaRPr lang="zh-CN" altLang="en-US" dirty="0"/>
          </a:p>
        </p:txBody>
      </p:sp>
      <p:pic>
        <p:nvPicPr>
          <p:cNvPr id="4" name="内容占位符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755322" y="1981200"/>
            <a:ext cx="5633356" cy="4114800"/>
          </a:xfrm>
        </p:spPr>
      </p:pic>
    </p:spTree>
  </p:cSld>
  <p:clrMapOvr>
    <a:masterClrMapping/>
  </p:clrMapOvr>
  <p:transition>
    <p:cover dir="d"/>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Arduino Nuova </a:t>
            </a:r>
            <a:r>
              <a:rPr lang="en-US" altLang="zh-CN" dirty="0" err="1"/>
              <a:t>Generazine</a:t>
            </a:r>
            <a:endParaRPr lang="zh-CN" altLang="en-US" dirty="0"/>
          </a:p>
        </p:txBody>
      </p:sp>
      <p:pic>
        <p:nvPicPr>
          <p:cNvPr id="4" name="内容占位符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86000" y="2309812"/>
            <a:ext cx="4572000" cy="3457575"/>
          </a:xfrm>
        </p:spPr>
      </p:pic>
    </p:spTree>
  </p:cSld>
  <p:clrMapOvr>
    <a:masterClrMapping/>
  </p:clrMapOvr>
  <p:transition>
    <p:cover dir="d"/>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Arduino </a:t>
            </a:r>
            <a:r>
              <a:rPr lang="en-US" altLang="zh-CN" dirty="0" err="1"/>
              <a:t>Diecimila</a:t>
            </a:r>
            <a:endParaRPr lang="zh-CN" altLang="en-US" dirty="0"/>
          </a:p>
        </p:txBody>
      </p:sp>
      <p:pic>
        <p:nvPicPr>
          <p:cNvPr id="4" name="内容占位符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52625" y="2076450"/>
            <a:ext cx="5238750" cy="3924300"/>
          </a:xfrm>
        </p:spPr>
      </p:pic>
    </p:spTree>
  </p:cSld>
  <p:clrMapOvr>
    <a:masterClrMapping/>
  </p:clrMapOvr>
  <p:transition>
    <p:cover dir="d"/>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Arduino </a:t>
            </a:r>
            <a:r>
              <a:rPr lang="en-US" altLang="zh-CN" dirty="0" err="1"/>
              <a:t>Duemilanove</a:t>
            </a:r>
            <a:endParaRPr lang="zh-CN" altLang="en-US" dirty="0"/>
          </a:p>
        </p:txBody>
      </p:sp>
      <p:pic>
        <p:nvPicPr>
          <p:cNvPr id="4" name="内容占位符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14500" y="2005012"/>
            <a:ext cx="5715000" cy="4067175"/>
          </a:xfrm>
        </p:spPr>
      </p:pic>
    </p:spTree>
  </p:cSld>
  <p:clrMapOvr>
    <a:masterClrMapping/>
  </p:clrMapOvr>
  <p:transition>
    <p:cover dir="d"/>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Arduino Mega 1280</a:t>
            </a:r>
            <a:endParaRPr lang="zh-CN" altLang="en-US" dirty="0"/>
          </a:p>
        </p:txBody>
      </p:sp>
      <p:pic>
        <p:nvPicPr>
          <p:cNvPr id="4" name="内容占位符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85800" y="2029747"/>
            <a:ext cx="7772400" cy="4017705"/>
          </a:xfrm>
        </p:spPr>
      </p:pic>
    </p:spTree>
  </p:cSld>
  <p:clrMapOvr>
    <a:masterClrMapping/>
  </p:clrMapOvr>
  <p:transition>
    <p:cover dir="d"/>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其他许可产品</a:t>
            </a:r>
          </a:p>
        </p:txBody>
      </p:sp>
      <p:pic>
        <p:nvPicPr>
          <p:cNvPr id="4" name="内容占位符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41070" y="1752600"/>
            <a:ext cx="2727960" cy="2727960"/>
          </a:xfrm>
        </p:spPr>
      </p:pic>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94480" y="1752600"/>
            <a:ext cx="4064000" cy="2705100"/>
          </a:xfrm>
          <a:prstGeom prst="rect">
            <a:avLst/>
          </a:prstGeom>
        </p:spPr>
      </p:pic>
      <p:sp>
        <p:nvSpPr>
          <p:cNvPr id="6" name="文本框 5"/>
          <p:cNvSpPr txBox="1"/>
          <p:nvPr/>
        </p:nvSpPr>
        <p:spPr>
          <a:xfrm>
            <a:off x="1097280" y="4789170"/>
            <a:ext cx="7061200" cy="1200329"/>
          </a:xfrm>
          <a:prstGeom prst="rect">
            <a:avLst/>
          </a:prstGeom>
          <a:noFill/>
        </p:spPr>
        <p:txBody>
          <a:bodyPr wrap="square" rtlCol="0">
            <a:spAutoFit/>
          </a:bodyPr>
          <a:lstStyle/>
          <a:p>
            <a:r>
              <a:rPr lang="en-US" altLang="zh-CN" sz="2400" dirty="0" err="1"/>
              <a:t>LilyPad</a:t>
            </a:r>
            <a:r>
              <a:rPr lang="en-US" altLang="zh-CN" sz="2400" dirty="0"/>
              <a:t> Arduino</a:t>
            </a:r>
            <a:r>
              <a:rPr lang="zh-CN" altLang="en-US" sz="2400" dirty="0"/>
              <a:t>由</a:t>
            </a:r>
            <a:r>
              <a:rPr lang="en-US" altLang="zh-CN" sz="2400" dirty="0"/>
              <a:t>MIT</a:t>
            </a:r>
            <a:r>
              <a:rPr lang="zh-CN" altLang="en-US" sz="2400" dirty="0"/>
              <a:t>媒体实验室的</a:t>
            </a:r>
            <a:r>
              <a:rPr lang="en-US" altLang="zh-CN" sz="2400" dirty="0"/>
              <a:t>Leah </a:t>
            </a:r>
            <a:r>
              <a:rPr lang="en-US" altLang="zh-CN" sz="2400" dirty="0" err="1"/>
              <a:t>Buechley</a:t>
            </a:r>
            <a:r>
              <a:rPr lang="zh-CN" altLang="en-US" sz="2400" dirty="0"/>
              <a:t>开发，可以缝纫到带有导电纤维的布料中做成电子纺织产品，这又叫做可穿戴的计算机。</a:t>
            </a:r>
          </a:p>
        </p:txBody>
      </p:sp>
    </p:spTree>
  </p:cSld>
  <p:clrMapOvr>
    <a:masterClrMapping/>
  </p:clrMapOvr>
  <p:transition>
    <p:cover dir="d"/>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第三方兼容产品</a:t>
            </a:r>
          </a:p>
        </p:txBody>
      </p:sp>
      <p:pic>
        <p:nvPicPr>
          <p:cNvPr id="4" name="内容占位符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834390" y="1855470"/>
            <a:ext cx="4114800" cy="4114800"/>
          </a:xfrm>
        </p:spPr>
      </p:pic>
      <p:sp>
        <p:nvSpPr>
          <p:cNvPr id="5" name="文本框 4"/>
          <p:cNvSpPr txBox="1"/>
          <p:nvPr/>
        </p:nvSpPr>
        <p:spPr>
          <a:xfrm>
            <a:off x="1943100" y="5549920"/>
            <a:ext cx="1531620" cy="523220"/>
          </a:xfrm>
          <a:prstGeom prst="rect">
            <a:avLst/>
          </a:prstGeom>
          <a:noFill/>
        </p:spPr>
        <p:txBody>
          <a:bodyPr wrap="square" rtlCol="0">
            <a:spAutoFit/>
          </a:bodyPr>
          <a:lstStyle/>
          <a:p>
            <a:r>
              <a:rPr lang="en-US" altLang="zh-CN" sz="2800" dirty="0" err="1"/>
              <a:t>pcDuino</a:t>
            </a:r>
            <a:endParaRPr lang="zh-CN" altLang="en-US" sz="2800" dirty="0"/>
          </a:p>
        </p:txBody>
      </p:sp>
      <p:sp>
        <p:nvSpPr>
          <p:cNvPr id="6" name="文本框 5"/>
          <p:cNvSpPr txBox="1"/>
          <p:nvPr/>
        </p:nvSpPr>
        <p:spPr>
          <a:xfrm>
            <a:off x="5543550" y="2263140"/>
            <a:ext cx="2914650" cy="2246769"/>
          </a:xfrm>
          <a:prstGeom prst="rect">
            <a:avLst/>
          </a:prstGeom>
          <a:noFill/>
        </p:spPr>
        <p:txBody>
          <a:bodyPr wrap="square" rtlCol="0">
            <a:spAutoFit/>
          </a:bodyPr>
          <a:lstStyle/>
          <a:p>
            <a:pPr algn="just"/>
            <a:r>
              <a:rPr lang="en-US" altLang="zh-CN" sz="2800" dirty="0" err="1"/>
              <a:t>pcDuino</a:t>
            </a:r>
            <a:r>
              <a:rPr lang="zh-CN" altLang="en-US" sz="2800" dirty="0"/>
              <a:t>既能运行完整的</a:t>
            </a:r>
            <a:r>
              <a:rPr lang="en-US" altLang="zh-CN" sz="2800" dirty="0"/>
              <a:t>PC</a:t>
            </a:r>
            <a:r>
              <a:rPr lang="zh-CN" altLang="en-US" sz="2800" dirty="0"/>
              <a:t>操作系统，又能兼容</a:t>
            </a:r>
            <a:r>
              <a:rPr lang="en-US" altLang="zh-CN" sz="2800" dirty="0"/>
              <a:t>Arduino</a:t>
            </a:r>
            <a:r>
              <a:rPr lang="zh-CN" altLang="en-US" sz="2800" dirty="0"/>
              <a:t>开放的生态环境。</a:t>
            </a:r>
          </a:p>
        </p:txBody>
      </p:sp>
    </p:spTree>
  </p:cSld>
  <p:clrMapOvr>
    <a:masterClrMapping/>
  </p:clrMapOvr>
  <p:transition>
    <p:cover dir="d"/>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5800" y="289560"/>
            <a:ext cx="7772400" cy="1143000"/>
          </a:xfrm>
        </p:spPr>
        <p:txBody>
          <a:bodyPr/>
          <a:lstStyle/>
          <a:p>
            <a:pPr algn="l"/>
            <a:r>
              <a:rPr lang="zh-CN" altLang="en-US" dirty="0"/>
              <a:t>第三方兼容产品</a:t>
            </a:r>
          </a:p>
        </p:txBody>
      </p:sp>
      <p:pic>
        <p:nvPicPr>
          <p:cNvPr id="4" name="内容占位符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54377" y="1439608"/>
            <a:ext cx="3253742" cy="1626871"/>
          </a:xfrm>
        </p:spPr>
      </p:pic>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08119" y="1424940"/>
            <a:ext cx="4505805" cy="2865692"/>
          </a:xfrm>
          <a:prstGeom prst="rect">
            <a:avLst/>
          </a:prstGeom>
        </p:spPr>
      </p:pic>
      <p:sp>
        <p:nvSpPr>
          <p:cNvPr id="7" name="文本框 6"/>
          <p:cNvSpPr txBox="1"/>
          <p:nvPr/>
        </p:nvSpPr>
        <p:spPr>
          <a:xfrm>
            <a:off x="685800" y="4297680"/>
            <a:ext cx="8084820" cy="1569660"/>
          </a:xfrm>
          <a:prstGeom prst="rect">
            <a:avLst/>
          </a:prstGeom>
          <a:noFill/>
        </p:spPr>
        <p:txBody>
          <a:bodyPr wrap="square" rtlCol="0">
            <a:spAutoFit/>
          </a:bodyPr>
          <a:lstStyle/>
          <a:p>
            <a:r>
              <a:rPr lang="zh-CN" altLang="en-US" sz="2400" dirty="0"/>
              <a:t>处理器是双核</a:t>
            </a:r>
            <a:r>
              <a:rPr lang="en-US" altLang="zh-CN" sz="2400" dirty="0"/>
              <a:t>Quark</a:t>
            </a:r>
            <a:r>
              <a:rPr lang="zh-CN" altLang="en-US" sz="2400" dirty="0"/>
              <a:t>、</a:t>
            </a:r>
            <a:r>
              <a:rPr lang="en-US" altLang="zh-CN" sz="2400" dirty="0"/>
              <a:t>22nm</a:t>
            </a:r>
            <a:r>
              <a:rPr lang="zh-CN" altLang="en-US" sz="2400" dirty="0"/>
              <a:t>、</a:t>
            </a:r>
            <a:r>
              <a:rPr lang="en-US" altLang="zh-CN" sz="2400" dirty="0"/>
              <a:t>500MHz</a:t>
            </a:r>
            <a:r>
              <a:rPr lang="zh-CN" altLang="en-US" sz="2400" dirty="0"/>
              <a:t>、集成</a:t>
            </a:r>
            <a:r>
              <a:rPr lang="en-US" altLang="zh-CN" sz="2400" dirty="0" err="1"/>
              <a:t>WiFi</a:t>
            </a:r>
            <a:r>
              <a:rPr lang="zh-CN" altLang="en-US" sz="2400" dirty="0"/>
              <a:t>及蓝牙。</a:t>
            </a:r>
            <a:r>
              <a:rPr lang="en-US" altLang="zh-CN" sz="2400" dirty="0"/>
              <a:t>Quark</a:t>
            </a:r>
            <a:r>
              <a:rPr lang="zh-CN" altLang="en-US" sz="2400" dirty="0"/>
              <a:t>内部集成有一个</a:t>
            </a:r>
            <a:r>
              <a:rPr lang="en-US" altLang="zh-CN" sz="2400" dirty="0"/>
              <a:t>X86</a:t>
            </a:r>
            <a:r>
              <a:rPr lang="zh-CN" altLang="en-US" sz="2400" dirty="0"/>
              <a:t>处理器和一个微控制器内核，可编程的微控制器内核，可以帮助系统管理</a:t>
            </a:r>
            <a:r>
              <a:rPr lang="en-US" altLang="zh-CN" sz="2400" dirty="0"/>
              <a:t>I/O</a:t>
            </a:r>
            <a:r>
              <a:rPr lang="zh-CN" altLang="en-US" sz="2400" dirty="0"/>
              <a:t>和其他总线功能。</a:t>
            </a:r>
            <a:r>
              <a:rPr lang="en-US" altLang="zh-CN" sz="2400" dirty="0"/>
              <a:t>X86</a:t>
            </a:r>
            <a:r>
              <a:rPr lang="zh-CN" altLang="en-US" sz="2400" dirty="0"/>
              <a:t>处理器则负责支持</a:t>
            </a:r>
            <a:r>
              <a:rPr lang="en-US" altLang="zh-CN" sz="2400" dirty="0"/>
              <a:t>Linux</a:t>
            </a:r>
            <a:r>
              <a:rPr lang="zh-CN" altLang="en-US" sz="2400" dirty="0"/>
              <a:t>及其他操作系统。</a:t>
            </a:r>
          </a:p>
        </p:txBody>
      </p:sp>
      <p:sp>
        <p:nvSpPr>
          <p:cNvPr id="8" name="文本框 7"/>
          <p:cNvSpPr txBox="1"/>
          <p:nvPr/>
        </p:nvSpPr>
        <p:spPr>
          <a:xfrm>
            <a:off x="1508760" y="3280410"/>
            <a:ext cx="1543050" cy="400110"/>
          </a:xfrm>
          <a:prstGeom prst="rect">
            <a:avLst/>
          </a:prstGeom>
          <a:noFill/>
        </p:spPr>
        <p:txBody>
          <a:bodyPr wrap="square" rtlCol="0">
            <a:spAutoFit/>
          </a:bodyPr>
          <a:lstStyle/>
          <a:p>
            <a:r>
              <a:rPr lang="en-US" altLang="zh-CN" sz="2000" dirty="0"/>
              <a:t>Intel Edison</a:t>
            </a:r>
            <a:endParaRPr lang="zh-CN" altLang="en-US" sz="2000" dirty="0"/>
          </a:p>
        </p:txBody>
      </p:sp>
    </p:spTree>
  </p:cSld>
  <p:clrMapOvr>
    <a:masterClrMapping/>
  </p:clrMapOvr>
  <p:transition>
    <p:cover dir="d"/>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Arduino Uno</a:t>
            </a:r>
            <a:r>
              <a:rPr lang="zh-CN" altLang="en-US" dirty="0"/>
              <a:t>版上硬件</a:t>
            </a:r>
          </a:p>
        </p:txBody>
      </p:sp>
      <p:pic>
        <p:nvPicPr>
          <p:cNvPr id="4" name="内容占位符 3"/>
          <p:cNvPicPr>
            <a:picLocks noGrp="1" noChangeAspect="1"/>
          </p:cNvPicPr>
          <p:nvPr>
            <p:ph idx="1"/>
          </p:nvPr>
        </p:nvPicPr>
        <p:blipFill>
          <a:blip r:embed="rId2"/>
          <a:stretch>
            <a:fillRect/>
          </a:stretch>
        </p:blipFill>
        <p:spPr>
          <a:xfrm>
            <a:off x="1212037" y="1832610"/>
            <a:ext cx="6263183" cy="4044973"/>
          </a:xfrm>
          <a:prstGeom prst="rect">
            <a:avLst/>
          </a:prstGeom>
        </p:spPr>
      </p:pic>
    </p:spTree>
  </p:cSld>
  <p:clrMapOvr>
    <a:masterClrMapping/>
  </p:clrMapOvr>
  <p:transition>
    <p:cover dir="d"/>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Arduino Uno</a:t>
            </a:r>
            <a:r>
              <a:rPr lang="zh-CN" altLang="en-US" dirty="0"/>
              <a:t>的</a:t>
            </a:r>
            <a:r>
              <a:rPr lang="en-US" altLang="zh-CN" dirty="0"/>
              <a:t>I/O</a:t>
            </a:r>
            <a:r>
              <a:rPr lang="zh-CN" altLang="en-US" dirty="0"/>
              <a:t>板方框图</a:t>
            </a:r>
          </a:p>
        </p:txBody>
      </p:sp>
      <p:pic>
        <p:nvPicPr>
          <p:cNvPr id="5" name="内容占位符 4"/>
          <p:cNvPicPr>
            <a:picLocks noGrp="1" noChangeAspect="1"/>
          </p:cNvPicPr>
          <p:nvPr>
            <p:ph idx="1"/>
          </p:nvPr>
        </p:nvPicPr>
        <p:blipFill>
          <a:blip r:embed="rId2"/>
          <a:stretch>
            <a:fillRect/>
          </a:stretch>
        </p:blipFill>
        <p:spPr>
          <a:xfrm>
            <a:off x="1426845" y="1586230"/>
            <a:ext cx="5749925" cy="3685540"/>
          </a:xfrm>
          <a:prstGeom prst="rect">
            <a:avLst/>
          </a:prstGeom>
        </p:spPr>
      </p:pic>
    </p:spTree>
  </p:cSld>
  <p:clrMapOvr>
    <a:masterClrMapping/>
  </p:clrMapOvr>
  <p:transition>
    <p:cover dir="d"/>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 name="内容占位符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 y="0"/>
            <a:ext cx="9148657" cy="6469380"/>
          </a:xfrm>
        </p:spPr>
      </p:pic>
    </p:spTree>
  </p:cSld>
  <p:clrMapOvr>
    <a:masterClrMapping/>
  </p:clrMapOvr>
  <p:transition>
    <p:cover dir="d"/>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处理器</a:t>
            </a:r>
          </a:p>
        </p:txBody>
      </p:sp>
      <p:pic>
        <p:nvPicPr>
          <p:cNvPr id="4" name="内容占位符 3"/>
          <p:cNvPicPr>
            <a:picLocks noGrp="1" noChangeAspect="1"/>
          </p:cNvPicPr>
          <p:nvPr>
            <p:ph idx="1"/>
          </p:nvPr>
        </p:nvPicPr>
        <p:blipFill>
          <a:blip r:embed="rId2"/>
          <a:stretch>
            <a:fillRect/>
          </a:stretch>
        </p:blipFill>
        <p:spPr>
          <a:xfrm>
            <a:off x="783191" y="1742326"/>
            <a:ext cx="5428778" cy="4114800"/>
          </a:xfrm>
          <a:prstGeom prst="rect">
            <a:avLst/>
          </a:prstGeom>
        </p:spPr>
      </p:pic>
      <p:sp>
        <p:nvSpPr>
          <p:cNvPr id="6" name="文本框 5"/>
          <p:cNvSpPr txBox="1"/>
          <p:nvPr/>
        </p:nvSpPr>
        <p:spPr>
          <a:xfrm>
            <a:off x="6309360" y="1752600"/>
            <a:ext cx="2491740" cy="4524315"/>
          </a:xfrm>
          <a:prstGeom prst="rect">
            <a:avLst/>
          </a:prstGeom>
          <a:noFill/>
        </p:spPr>
        <p:txBody>
          <a:bodyPr wrap="square" rtlCol="0">
            <a:spAutoFit/>
          </a:bodyPr>
          <a:lstStyle/>
          <a:p>
            <a:pPr algn="just"/>
            <a:r>
              <a:rPr lang="en-US" altLang="zh-CN" sz="2400" dirty="0"/>
              <a:t>Arduino Uno</a:t>
            </a:r>
            <a:r>
              <a:rPr lang="zh-CN" altLang="en-US" sz="2400" dirty="0"/>
              <a:t>的大脑是</a:t>
            </a:r>
            <a:r>
              <a:rPr lang="en-US" altLang="zh-CN" sz="2400" dirty="0"/>
              <a:t>Atmel AVR ATmega328</a:t>
            </a:r>
            <a:r>
              <a:rPr lang="zh-CN" altLang="en-US" sz="2400" dirty="0"/>
              <a:t>，那个黑色、长方形、两侧各有一排引脚的塑料块。这个东西实质上就是单芯片计算机，封装了中央处理单元（</a:t>
            </a:r>
            <a:r>
              <a:rPr lang="en-US" altLang="zh-CN" sz="2400" dirty="0"/>
              <a:t>CPU</a:t>
            </a:r>
            <a:r>
              <a:rPr lang="zh-CN" altLang="en-US" sz="2400" dirty="0"/>
              <a:t>）、内存阵列、时钟和外围设备。</a:t>
            </a:r>
          </a:p>
        </p:txBody>
      </p:sp>
    </p:spTree>
  </p:cSld>
  <p:clrMapOvr>
    <a:masterClrMapping/>
  </p:clrMapOvr>
  <p:transition>
    <p:cover dir="d"/>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处理器</a:t>
            </a:r>
          </a:p>
        </p:txBody>
      </p:sp>
      <p:sp>
        <p:nvSpPr>
          <p:cNvPr id="3" name="内容占位符 2"/>
          <p:cNvSpPr>
            <a:spLocks noGrp="1"/>
          </p:cNvSpPr>
          <p:nvPr>
            <p:ph idx="1"/>
          </p:nvPr>
        </p:nvSpPr>
        <p:spPr/>
        <p:txBody>
          <a:bodyPr/>
          <a:lstStyle/>
          <a:p>
            <a:pPr marL="0" indent="0" algn="just">
              <a:buNone/>
            </a:pPr>
            <a:r>
              <a:rPr lang="en-US" altLang="zh-CN" dirty="0"/>
              <a:t>ATmega328</a:t>
            </a:r>
            <a:r>
              <a:rPr lang="zh-CN" altLang="en-US" dirty="0"/>
              <a:t>芯片是从最初的</a:t>
            </a:r>
            <a:r>
              <a:rPr lang="en-US" altLang="zh-CN" dirty="0"/>
              <a:t>Arduino</a:t>
            </a:r>
            <a:r>
              <a:rPr lang="zh-CN" altLang="en-US" dirty="0"/>
              <a:t>用的处理器</a:t>
            </a:r>
            <a:r>
              <a:rPr lang="en-US" altLang="zh-CN" dirty="0"/>
              <a:t>ATmega8</a:t>
            </a:r>
            <a:r>
              <a:rPr lang="zh-CN" altLang="en-US" dirty="0"/>
              <a:t>发展而来，比之前的型号内存更大，片内外围设备更多。工作电压为</a:t>
            </a:r>
            <a:r>
              <a:rPr lang="en-US" altLang="zh-CN" dirty="0"/>
              <a:t>1.8V</a:t>
            </a:r>
            <a:r>
              <a:rPr lang="zh-CN" altLang="en-US" dirty="0"/>
              <a:t>到</a:t>
            </a:r>
            <a:r>
              <a:rPr lang="en-US" altLang="zh-CN" dirty="0"/>
              <a:t>5.5V</a:t>
            </a:r>
            <a:r>
              <a:rPr lang="zh-CN" altLang="en-US" dirty="0"/>
              <a:t>。在最低供电电压下只能工作在</a:t>
            </a:r>
            <a:r>
              <a:rPr lang="en-US" altLang="zh-CN" dirty="0"/>
              <a:t>4MHz</a:t>
            </a:r>
            <a:r>
              <a:rPr lang="zh-CN" altLang="en-US" dirty="0"/>
              <a:t>。工作在最高</a:t>
            </a:r>
            <a:r>
              <a:rPr lang="en-US" altLang="zh-CN" dirty="0"/>
              <a:t>20MHz</a:t>
            </a:r>
            <a:r>
              <a:rPr lang="zh-CN" altLang="en-US" dirty="0"/>
              <a:t>至少需要</a:t>
            </a:r>
            <a:r>
              <a:rPr lang="en-US" altLang="zh-CN" dirty="0"/>
              <a:t>4.5V</a:t>
            </a:r>
            <a:r>
              <a:rPr lang="zh-CN" altLang="en-US" dirty="0"/>
              <a:t>供电。</a:t>
            </a:r>
            <a:r>
              <a:rPr lang="en-US" altLang="zh-CN" dirty="0"/>
              <a:t>Arduino</a:t>
            </a:r>
            <a:r>
              <a:rPr lang="zh-CN" altLang="en-US" dirty="0"/>
              <a:t>为</a:t>
            </a:r>
            <a:r>
              <a:rPr lang="en-US" altLang="zh-CN" dirty="0"/>
              <a:t>5V</a:t>
            </a:r>
            <a:r>
              <a:rPr lang="zh-CN" altLang="en-US" dirty="0"/>
              <a:t>供电，为保持与</a:t>
            </a:r>
            <a:r>
              <a:rPr lang="en-US" altLang="zh-CN" dirty="0"/>
              <a:t>Atmega8</a:t>
            </a:r>
            <a:r>
              <a:rPr lang="zh-CN" altLang="en-US" dirty="0"/>
              <a:t>的兼容工作在</a:t>
            </a:r>
            <a:r>
              <a:rPr lang="en-US" altLang="zh-CN" dirty="0"/>
              <a:t>16MHz</a:t>
            </a:r>
            <a:r>
              <a:rPr lang="zh-CN" altLang="en-US" dirty="0"/>
              <a:t>。</a:t>
            </a:r>
          </a:p>
        </p:txBody>
      </p:sp>
    </p:spTree>
  </p:cSld>
  <p:clrMapOvr>
    <a:masterClrMapping/>
  </p:clrMapOvr>
  <p:transition>
    <p:cover dir="d"/>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串口用处</a:t>
            </a:r>
          </a:p>
        </p:txBody>
      </p:sp>
      <p:sp>
        <p:nvSpPr>
          <p:cNvPr id="3" name="内容占位符 2"/>
          <p:cNvSpPr>
            <a:spLocks noGrp="1"/>
          </p:cNvSpPr>
          <p:nvPr>
            <p:ph idx="1"/>
          </p:nvPr>
        </p:nvSpPr>
        <p:spPr/>
        <p:txBody>
          <a:bodyPr/>
          <a:lstStyle/>
          <a:p>
            <a:r>
              <a:rPr lang="zh-CN" altLang="en-US" dirty="0"/>
              <a:t>在开发</a:t>
            </a:r>
            <a:r>
              <a:rPr lang="en-US" altLang="zh-CN" dirty="0"/>
              <a:t>Arduino</a:t>
            </a:r>
            <a:r>
              <a:rPr lang="zh-CN" altLang="en-US" dirty="0"/>
              <a:t>作品时（编写、编译和上传程序）</a:t>
            </a:r>
            <a:endParaRPr lang="en-US" altLang="zh-CN" dirty="0"/>
          </a:p>
          <a:p>
            <a:r>
              <a:rPr lang="zh-CN" altLang="en-US" dirty="0"/>
              <a:t>应用或部署</a:t>
            </a:r>
            <a:r>
              <a:rPr lang="en-US" altLang="zh-CN" dirty="0"/>
              <a:t>Arduino</a:t>
            </a:r>
            <a:r>
              <a:rPr lang="zh-CN" altLang="en-US" dirty="0"/>
              <a:t>作品时（与</a:t>
            </a:r>
            <a:r>
              <a:rPr lang="en-US" altLang="zh-CN" dirty="0"/>
              <a:t>PC</a:t>
            </a:r>
            <a:r>
              <a:rPr lang="zh-CN" altLang="en-US" dirty="0"/>
              <a:t>或与其他串行设备通信）</a:t>
            </a:r>
            <a:endParaRPr lang="en-US" altLang="zh-CN" dirty="0"/>
          </a:p>
          <a:p>
            <a:r>
              <a:rPr lang="zh-CN" altLang="en-US" dirty="0"/>
              <a:t>作品运行时（可选）</a:t>
            </a:r>
            <a:endParaRPr lang="en-US" altLang="zh-CN" dirty="0"/>
          </a:p>
          <a:p>
            <a:endParaRPr lang="zh-CN" altLang="en-US" dirty="0"/>
          </a:p>
        </p:txBody>
      </p:sp>
    </p:spTree>
  </p:cSld>
  <p:clrMapOvr>
    <a:masterClrMapping/>
  </p:clrMapOvr>
  <p:transition>
    <p:cover dir="d"/>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串口调试工具</a:t>
            </a:r>
          </a:p>
        </p:txBody>
      </p:sp>
      <p:sp>
        <p:nvSpPr>
          <p:cNvPr id="3" name="内容占位符 2"/>
          <p:cNvSpPr>
            <a:spLocks noGrp="1"/>
          </p:cNvSpPr>
          <p:nvPr>
            <p:ph idx="1"/>
          </p:nvPr>
        </p:nvSpPr>
        <p:spPr/>
        <p:txBody>
          <a:bodyPr/>
          <a:lstStyle/>
          <a:p>
            <a:r>
              <a:rPr lang="en-US" altLang="zh-CN" dirty="0"/>
              <a:t>Arduino</a:t>
            </a:r>
            <a:r>
              <a:rPr lang="zh-CN" altLang="en-US" dirty="0"/>
              <a:t> </a:t>
            </a:r>
            <a:r>
              <a:rPr lang="en-US" altLang="zh-CN" dirty="0"/>
              <a:t>IDE</a:t>
            </a:r>
          </a:p>
          <a:p>
            <a:r>
              <a:rPr lang="en-US" altLang="zh-CN" dirty="0"/>
              <a:t>MINICOM</a:t>
            </a:r>
          </a:p>
          <a:p>
            <a:r>
              <a:rPr lang="en-US" altLang="zh-CN" dirty="0" err="1"/>
              <a:t>SecureCRT</a:t>
            </a:r>
            <a:endParaRPr lang="en-US" altLang="zh-CN" dirty="0"/>
          </a:p>
        </p:txBody>
      </p:sp>
    </p:spTree>
    <p:extLst>
      <p:ext uri="{BB962C8B-B14F-4D97-AF65-F5344CB8AC3E}">
        <p14:creationId xmlns:p14="http://schemas.microsoft.com/office/powerpoint/2010/main" val="954841335"/>
      </p:ext>
    </p:extLst>
  </p:cSld>
  <p:clrMapOvr>
    <a:masterClrMapping/>
  </p:clrMapOvr>
  <p:transition>
    <p:cover dir="d"/>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串口工作模式</a:t>
            </a:r>
          </a:p>
        </p:txBody>
      </p:sp>
      <p:sp>
        <p:nvSpPr>
          <p:cNvPr id="3" name="内容占位符 2"/>
          <p:cNvSpPr>
            <a:spLocks noGrp="1"/>
          </p:cNvSpPr>
          <p:nvPr>
            <p:ph idx="1"/>
          </p:nvPr>
        </p:nvSpPr>
        <p:spPr>
          <a:xfrm>
            <a:off x="685800" y="1946910"/>
            <a:ext cx="7772400" cy="4114800"/>
          </a:xfrm>
        </p:spPr>
        <p:txBody>
          <a:bodyPr/>
          <a:lstStyle/>
          <a:p>
            <a:r>
              <a:rPr lang="zh-CN" altLang="en-US" dirty="0"/>
              <a:t>异步模式：不需要一个分离的时钟信号，和大多数</a:t>
            </a:r>
            <a:r>
              <a:rPr lang="en-US" altLang="zh-CN" dirty="0"/>
              <a:t>PC</a:t>
            </a:r>
            <a:r>
              <a:rPr lang="zh-CN" altLang="en-US" dirty="0"/>
              <a:t>的串口工作模式是一样的</a:t>
            </a:r>
            <a:endParaRPr lang="en-US" altLang="zh-CN" dirty="0"/>
          </a:p>
          <a:p>
            <a:r>
              <a:rPr lang="zh-CN" altLang="en-US" dirty="0"/>
              <a:t>同步模式：需要专用的时钟信号来表示时钟信息</a:t>
            </a:r>
            <a:endParaRPr lang="en-US" altLang="zh-CN" dirty="0"/>
          </a:p>
          <a:p>
            <a:endParaRPr lang="en-US" altLang="zh-CN" dirty="0"/>
          </a:p>
          <a:p>
            <a:pPr marL="0" indent="0" algn="just">
              <a:buNone/>
            </a:pPr>
            <a:r>
              <a:rPr lang="zh-CN" altLang="en-US" sz="2400" dirty="0">
                <a:solidFill>
                  <a:srgbClr val="FF0000"/>
                </a:solidFill>
              </a:rPr>
              <a:t>警告：不要把</a:t>
            </a:r>
            <a:r>
              <a:rPr lang="en-US" altLang="zh-CN" sz="2400" dirty="0">
                <a:solidFill>
                  <a:srgbClr val="FF0000"/>
                </a:solidFill>
              </a:rPr>
              <a:t>RS-232</a:t>
            </a:r>
            <a:r>
              <a:rPr lang="zh-CN" altLang="en-US" sz="2400" dirty="0">
                <a:solidFill>
                  <a:srgbClr val="FF0000"/>
                </a:solidFill>
              </a:rPr>
              <a:t>信号线直接接到</a:t>
            </a:r>
            <a:r>
              <a:rPr lang="en-US" altLang="zh-CN" sz="2400" dirty="0">
                <a:solidFill>
                  <a:srgbClr val="FF0000"/>
                </a:solidFill>
              </a:rPr>
              <a:t>Arduino</a:t>
            </a:r>
            <a:r>
              <a:rPr lang="zh-CN" altLang="en-US" sz="2400" dirty="0">
                <a:solidFill>
                  <a:srgbClr val="FF0000"/>
                </a:solidFill>
              </a:rPr>
              <a:t>电路板上，一般的</a:t>
            </a:r>
            <a:r>
              <a:rPr lang="en-US" altLang="zh-CN" sz="2400" dirty="0">
                <a:solidFill>
                  <a:srgbClr val="FF0000"/>
                </a:solidFill>
              </a:rPr>
              <a:t>RS-232</a:t>
            </a:r>
            <a:r>
              <a:rPr lang="zh-CN" altLang="en-US" sz="2400" dirty="0">
                <a:solidFill>
                  <a:srgbClr val="FF0000"/>
                </a:solidFill>
              </a:rPr>
              <a:t>信号上较高的电压可能会损坏电路板上的电路，包括处理器。</a:t>
            </a:r>
          </a:p>
        </p:txBody>
      </p:sp>
    </p:spTree>
  </p:cSld>
  <p:clrMapOvr>
    <a:masterClrMapping/>
  </p:clrMapOvr>
  <p:transition>
    <p:cover dir="d"/>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串口通信原理</a:t>
            </a:r>
          </a:p>
        </p:txBody>
      </p:sp>
      <p:sp>
        <p:nvSpPr>
          <p:cNvPr id="3" name="内容占位符 2"/>
          <p:cNvSpPr>
            <a:spLocks noGrp="1"/>
          </p:cNvSpPr>
          <p:nvPr>
            <p:ph idx="1"/>
          </p:nvPr>
        </p:nvSpPr>
        <p:spPr>
          <a:xfrm>
            <a:off x="685800" y="1638688"/>
            <a:ext cx="7772400" cy="4114800"/>
          </a:xfrm>
        </p:spPr>
        <p:txBody>
          <a:bodyPr/>
          <a:lstStyle/>
          <a:p>
            <a:r>
              <a:rPr lang="zh-CN" altLang="zh-CN" dirty="0"/>
              <a:t>串口是串行接口的简称，串行通信是指采用串行通信协议在一条信号线上将数据一个比特一个比特地逐位进行传输的通信模式，串口通信是其中的一种。使用串行通信时，一个字符实际上都是一次一位传送的，每一位为</a:t>
            </a:r>
            <a:r>
              <a:rPr lang="en-US" altLang="zh-CN" dirty="0"/>
              <a:t>1</a:t>
            </a:r>
            <a:r>
              <a:rPr lang="zh-CN" altLang="zh-CN" dirty="0"/>
              <a:t>或者为</a:t>
            </a:r>
            <a:r>
              <a:rPr lang="en-US" altLang="zh-CN" dirty="0"/>
              <a:t>0</a:t>
            </a:r>
            <a:r>
              <a:rPr lang="zh-CN" altLang="zh-CN" dirty="0"/>
              <a:t>。所以一个字节的传送需要八次，并且从低到高依次传送。要正确通过只包含</a:t>
            </a:r>
            <a:r>
              <a:rPr lang="en-US" altLang="zh-CN" dirty="0"/>
              <a:t>0</a:t>
            </a:r>
            <a:r>
              <a:rPr lang="zh-CN" altLang="zh-CN" dirty="0"/>
              <a:t>和</a:t>
            </a:r>
            <a:r>
              <a:rPr lang="en-US" altLang="zh-CN" dirty="0"/>
              <a:t>1</a:t>
            </a:r>
            <a:r>
              <a:rPr lang="zh-CN" altLang="zh-CN" dirty="0"/>
              <a:t>的信号传输想表达的信息，收发双方事先要进行约定。</a:t>
            </a:r>
          </a:p>
        </p:txBody>
      </p:sp>
    </p:spTree>
    <p:extLst>
      <p:ext uri="{BB962C8B-B14F-4D97-AF65-F5344CB8AC3E}">
        <p14:creationId xmlns:p14="http://schemas.microsoft.com/office/powerpoint/2010/main" val="151893858"/>
      </p:ext>
    </p:extLst>
  </p:cSld>
  <p:clrMapOvr>
    <a:masterClrMapping/>
  </p:clrMapOvr>
  <p:transition>
    <p:cover dir="d"/>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串口通信原理</a:t>
            </a:r>
          </a:p>
        </p:txBody>
      </p:sp>
      <p:sp>
        <p:nvSpPr>
          <p:cNvPr id="3" name="内容占位符 2"/>
          <p:cNvSpPr>
            <a:spLocks noGrp="1"/>
          </p:cNvSpPr>
          <p:nvPr>
            <p:ph idx="1"/>
          </p:nvPr>
        </p:nvSpPr>
        <p:spPr>
          <a:xfrm>
            <a:off x="685800" y="1638688"/>
            <a:ext cx="7772400" cy="4114800"/>
          </a:xfrm>
        </p:spPr>
        <p:txBody>
          <a:bodyPr/>
          <a:lstStyle/>
          <a:p>
            <a:r>
              <a:rPr lang="zh-CN" altLang="zh-CN" dirty="0"/>
              <a:t>在串行通信中，约定包含两个方面，一方面是通信的速率要保持一致，另一方面是字符的编码要一致。</a:t>
            </a:r>
          </a:p>
          <a:p>
            <a:r>
              <a:rPr lang="zh-CN" altLang="en-US" dirty="0"/>
              <a:t>（</a:t>
            </a:r>
            <a:r>
              <a:rPr lang="en-US" altLang="zh-CN" dirty="0"/>
              <a:t>1</a:t>
            </a:r>
            <a:r>
              <a:rPr lang="zh-CN" altLang="en-US" dirty="0"/>
              <a:t>）波特率</a:t>
            </a:r>
            <a:endParaRPr lang="en-US" altLang="zh-CN" dirty="0"/>
          </a:p>
          <a:p>
            <a:r>
              <a:rPr lang="zh-CN" altLang="en-US" dirty="0"/>
              <a:t>（</a:t>
            </a:r>
            <a:r>
              <a:rPr lang="en-US" altLang="zh-CN" dirty="0"/>
              <a:t>2</a:t>
            </a:r>
            <a:r>
              <a:rPr lang="zh-CN" altLang="en-US" dirty="0"/>
              <a:t>）</a:t>
            </a:r>
            <a:r>
              <a:rPr lang="en-US" altLang="zh-CN" dirty="0"/>
              <a:t>ASCII</a:t>
            </a:r>
            <a:r>
              <a:rPr lang="zh-CN" altLang="en-US" dirty="0"/>
              <a:t>码</a:t>
            </a:r>
            <a:endParaRPr lang="zh-CN" altLang="zh-CN" dirty="0"/>
          </a:p>
        </p:txBody>
      </p:sp>
    </p:spTree>
    <p:extLst>
      <p:ext uri="{BB962C8B-B14F-4D97-AF65-F5344CB8AC3E}">
        <p14:creationId xmlns:p14="http://schemas.microsoft.com/office/powerpoint/2010/main" val="3914097816"/>
      </p:ext>
    </p:extLst>
  </p:cSld>
  <p:clrMapOvr>
    <a:masterClrMapping/>
  </p:clrMapOvr>
  <p:transition>
    <p:cover dir="d"/>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串口通信原理</a:t>
            </a:r>
          </a:p>
        </p:txBody>
      </p:sp>
      <p:sp>
        <p:nvSpPr>
          <p:cNvPr id="3" name="内容占位符 2"/>
          <p:cNvSpPr>
            <a:spLocks noGrp="1"/>
          </p:cNvSpPr>
          <p:nvPr>
            <p:ph idx="1"/>
          </p:nvPr>
        </p:nvSpPr>
        <p:spPr>
          <a:xfrm>
            <a:off x="685800" y="1638688"/>
            <a:ext cx="7772400" cy="4114800"/>
          </a:xfrm>
        </p:spPr>
        <p:txBody>
          <a:bodyPr/>
          <a:lstStyle/>
          <a:p>
            <a:r>
              <a:rPr lang="zh-CN" altLang="zh-CN" dirty="0"/>
              <a:t>单片机是基于微控制器（下称</a:t>
            </a:r>
            <a:r>
              <a:rPr lang="en-US" altLang="zh-CN" dirty="0"/>
              <a:t>MCU</a:t>
            </a:r>
            <a:r>
              <a:rPr lang="zh-CN" altLang="zh-CN" dirty="0"/>
              <a:t>）搭建的电子系统。单片机的所有功能其实都是由板载的</a:t>
            </a:r>
            <a:r>
              <a:rPr lang="en-US" altLang="zh-CN" dirty="0"/>
              <a:t>MCU</a:t>
            </a:r>
            <a:r>
              <a:rPr lang="zh-CN" altLang="zh-CN" dirty="0"/>
              <a:t>提供的，</a:t>
            </a:r>
            <a:r>
              <a:rPr lang="en-US" altLang="zh-CN" dirty="0"/>
              <a:t>Arduino</a:t>
            </a:r>
            <a:r>
              <a:rPr lang="zh-CN" altLang="zh-CN" dirty="0"/>
              <a:t>开发板当然也不例外。</a:t>
            </a:r>
            <a:r>
              <a:rPr lang="en-US" altLang="zh-CN" dirty="0"/>
              <a:t>Arduino Uno</a:t>
            </a:r>
            <a:r>
              <a:rPr lang="zh-CN" altLang="zh-CN" dirty="0"/>
              <a:t>的板载</a:t>
            </a:r>
            <a:r>
              <a:rPr lang="en-US" altLang="zh-CN" dirty="0"/>
              <a:t>MCU</a:t>
            </a:r>
            <a:r>
              <a:rPr lang="zh-CN" altLang="zh-CN" dirty="0"/>
              <a:t>为</a:t>
            </a:r>
            <a:r>
              <a:rPr lang="en-US" altLang="zh-CN" dirty="0"/>
              <a:t>ATmega328</a:t>
            </a:r>
            <a:r>
              <a:rPr lang="zh-CN" altLang="zh-CN" dirty="0"/>
              <a:t>。在</a:t>
            </a:r>
            <a:r>
              <a:rPr lang="en-US" altLang="zh-CN" dirty="0"/>
              <a:t>ATmega328</a:t>
            </a:r>
            <a:r>
              <a:rPr lang="zh-CN" altLang="zh-CN" dirty="0"/>
              <a:t>内部集成了硬件串口</a:t>
            </a:r>
            <a:r>
              <a:rPr lang="en-US" altLang="zh-CN" dirty="0"/>
              <a:t>UART</a:t>
            </a:r>
            <a:r>
              <a:rPr lang="zh-CN" altLang="zh-CN" dirty="0"/>
              <a:t>（</a:t>
            </a:r>
            <a:r>
              <a:rPr lang="en-US" altLang="zh-CN" dirty="0"/>
              <a:t>Universal Asynchronous Receiver / Transmitter, </a:t>
            </a:r>
            <a:r>
              <a:rPr lang="zh-CN" altLang="zh-CN" dirty="0"/>
              <a:t>通用异步收发传输器）。</a:t>
            </a:r>
          </a:p>
        </p:txBody>
      </p:sp>
    </p:spTree>
    <p:extLst>
      <p:ext uri="{BB962C8B-B14F-4D97-AF65-F5344CB8AC3E}">
        <p14:creationId xmlns:p14="http://schemas.microsoft.com/office/powerpoint/2010/main" val="3033795366"/>
      </p:ext>
    </p:extLst>
  </p:cSld>
  <p:clrMapOvr>
    <a:masterClrMapping/>
  </p:clrMapOvr>
  <p:transition>
    <p:cover dir="d"/>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串口通信原理</a:t>
            </a:r>
          </a:p>
        </p:txBody>
      </p:sp>
      <p:sp>
        <p:nvSpPr>
          <p:cNvPr id="3" name="内容占位符 2"/>
          <p:cNvSpPr>
            <a:spLocks noGrp="1"/>
          </p:cNvSpPr>
          <p:nvPr>
            <p:ph idx="1"/>
          </p:nvPr>
        </p:nvSpPr>
        <p:spPr>
          <a:xfrm>
            <a:off x="685800" y="1638688"/>
            <a:ext cx="7772400" cy="4114800"/>
          </a:xfrm>
        </p:spPr>
        <p:txBody>
          <a:bodyPr/>
          <a:lstStyle/>
          <a:p>
            <a:r>
              <a:rPr lang="zh-CN" altLang="zh-CN" dirty="0"/>
              <a:t>在</a:t>
            </a:r>
            <a:r>
              <a:rPr lang="en-US" altLang="zh-CN" dirty="0"/>
              <a:t>Arduino Uno R3</a:t>
            </a:r>
            <a:r>
              <a:rPr lang="zh-CN" altLang="zh-CN" dirty="0"/>
              <a:t>开发板及其他使用</a:t>
            </a:r>
            <a:r>
              <a:rPr lang="en-US" altLang="zh-CN" dirty="0"/>
              <a:t>ATmega328</a:t>
            </a:r>
            <a:r>
              <a:rPr lang="zh-CN" altLang="zh-CN" dirty="0"/>
              <a:t>芯片的</a:t>
            </a:r>
            <a:r>
              <a:rPr lang="en-US" altLang="zh-CN" dirty="0"/>
              <a:t>Arduino</a:t>
            </a:r>
            <a:r>
              <a:rPr lang="zh-CN" altLang="zh-CN" dirty="0"/>
              <a:t>控制器中，硬件串口位于</a:t>
            </a:r>
            <a:r>
              <a:rPr lang="en-US" altLang="zh-CN" dirty="0"/>
              <a:t>Rx(0)</a:t>
            </a:r>
            <a:r>
              <a:rPr lang="zh-CN" altLang="zh-CN" dirty="0"/>
              <a:t>和</a:t>
            </a:r>
            <a:r>
              <a:rPr lang="en-US" altLang="zh-CN" dirty="0"/>
              <a:t>Tx(1)</a:t>
            </a:r>
            <a:r>
              <a:rPr lang="zh-CN" altLang="zh-CN" dirty="0"/>
              <a:t>引脚上，</a:t>
            </a:r>
            <a:r>
              <a:rPr lang="en-US" altLang="zh-CN" dirty="0"/>
              <a:t>Arduino</a:t>
            </a:r>
            <a:r>
              <a:rPr lang="zh-CN" altLang="zh-CN" dirty="0"/>
              <a:t>的</a:t>
            </a:r>
            <a:r>
              <a:rPr lang="en-US" altLang="zh-CN" dirty="0"/>
              <a:t>USB</a:t>
            </a:r>
            <a:r>
              <a:rPr lang="zh-CN" altLang="zh-CN" dirty="0"/>
              <a:t>口通过转换芯片与这两个引脚连接。该转换芯片会通过</a:t>
            </a:r>
            <a:r>
              <a:rPr lang="en-US" altLang="zh-CN" dirty="0"/>
              <a:t>USB</a:t>
            </a:r>
            <a:r>
              <a:rPr lang="zh-CN" altLang="zh-CN" dirty="0"/>
              <a:t>接口在</a:t>
            </a:r>
            <a:r>
              <a:rPr lang="en-US" altLang="zh-CN" dirty="0"/>
              <a:t>PC</a:t>
            </a:r>
            <a:r>
              <a:rPr lang="zh-CN" altLang="zh-CN" dirty="0"/>
              <a:t>机上虚拟出一个用于</a:t>
            </a:r>
            <a:r>
              <a:rPr lang="en-US" altLang="zh-CN" dirty="0"/>
              <a:t>Arduino</a:t>
            </a:r>
            <a:r>
              <a:rPr lang="zh-CN" altLang="zh-CN" dirty="0"/>
              <a:t>通讯的串口（</a:t>
            </a:r>
            <a:r>
              <a:rPr lang="en-US" altLang="zh-CN" dirty="0"/>
              <a:t>COM</a:t>
            </a:r>
            <a:r>
              <a:rPr lang="zh-CN" altLang="zh-CN" dirty="0"/>
              <a:t>接口），使用</a:t>
            </a:r>
            <a:r>
              <a:rPr lang="en-US" altLang="zh-CN" dirty="0"/>
              <a:t>Arduino IDE</a:t>
            </a:r>
            <a:r>
              <a:rPr lang="zh-CN" altLang="zh-CN" dirty="0"/>
              <a:t>烧写程序也是通过串口进行的。 </a:t>
            </a:r>
          </a:p>
        </p:txBody>
      </p:sp>
    </p:spTree>
    <p:extLst>
      <p:ext uri="{BB962C8B-B14F-4D97-AF65-F5344CB8AC3E}">
        <p14:creationId xmlns:p14="http://schemas.microsoft.com/office/powerpoint/2010/main" val="1693558447"/>
      </p:ext>
    </p:extLst>
  </p:cSld>
  <p:clrMapOvr>
    <a:masterClrMapping/>
  </p:clrMapOvr>
  <p:transition>
    <p:cover dir="d"/>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串口通信原理</a:t>
            </a:r>
          </a:p>
        </p:txBody>
      </p:sp>
      <p:sp>
        <p:nvSpPr>
          <p:cNvPr id="3" name="内容占位符 2"/>
          <p:cNvSpPr>
            <a:spLocks noGrp="1"/>
          </p:cNvSpPr>
          <p:nvPr>
            <p:ph idx="1"/>
          </p:nvPr>
        </p:nvSpPr>
        <p:spPr>
          <a:xfrm>
            <a:off x="685800" y="1638688"/>
            <a:ext cx="7772400" cy="4114800"/>
          </a:xfrm>
        </p:spPr>
        <p:txBody>
          <a:bodyPr/>
          <a:lstStyle/>
          <a:p>
            <a:pPr lvl="0"/>
            <a:r>
              <a:rPr lang="zh-CN" altLang="zh-CN" dirty="0"/>
              <a:t>当</a:t>
            </a:r>
            <a:r>
              <a:rPr lang="zh-CN" altLang="en-US" dirty="0"/>
              <a:t>使用</a:t>
            </a:r>
            <a:r>
              <a:rPr lang="en-US" altLang="zh-CN" dirty="0" err="1"/>
              <a:t>Serial.print</a:t>
            </a:r>
            <a:r>
              <a:rPr lang="en-US" altLang="zh-CN" dirty="0"/>
              <a:t>('A')</a:t>
            </a:r>
            <a:r>
              <a:rPr lang="zh-CN" altLang="zh-CN" dirty="0"/>
              <a:t>语句发送数据时，实际发送的数据帧格式如图所示： </a:t>
            </a:r>
            <a:endParaRPr lang="en-US" altLang="zh-CN" dirty="0"/>
          </a:p>
          <a:p>
            <a:pPr lvl="0"/>
            <a:endParaRPr lang="en-US" altLang="zh-CN" dirty="0"/>
          </a:p>
          <a:p>
            <a:pPr lvl="0"/>
            <a:endParaRPr lang="en-US" altLang="zh-CN" dirty="0"/>
          </a:p>
          <a:p>
            <a:pPr lvl="0"/>
            <a:r>
              <a:rPr lang="zh-CN" altLang="zh-CN" dirty="0"/>
              <a:t>起始位</a:t>
            </a:r>
          </a:p>
          <a:p>
            <a:pPr lvl="0"/>
            <a:r>
              <a:rPr lang="zh-CN" altLang="zh-CN" dirty="0"/>
              <a:t>数据位</a:t>
            </a:r>
          </a:p>
          <a:p>
            <a:pPr lvl="0"/>
            <a:r>
              <a:rPr lang="zh-CN" altLang="zh-CN" dirty="0"/>
              <a:t>校验位</a:t>
            </a:r>
          </a:p>
          <a:p>
            <a:pPr lvl="0"/>
            <a:r>
              <a:rPr lang="zh-CN" altLang="zh-CN" dirty="0"/>
              <a:t>停止位</a:t>
            </a:r>
          </a:p>
          <a:p>
            <a:endParaRPr lang="zh-CN" altLang="zh-CN" dirty="0"/>
          </a:p>
        </p:txBody>
      </p:sp>
      <p:pic>
        <p:nvPicPr>
          <p:cNvPr id="5" name="图片 4">
            <a:extLst>
              <a:ext uri="{FF2B5EF4-FFF2-40B4-BE49-F238E27FC236}">
                <a16:creationId xmlns:a16="http://schemas.microsoft.com/office/drawing/2014/main" id="{1775B747-B926-E043-88C5-9D40425BF6B8}"/>
              </a:ext>
            </a:extLst>
          </p:cNvPr>
          <p:cNvPicPr>
            <a:picLocks noChangeAspect="1"/>
          </p:cNvPicPr>
          <p:nvPr/>
        </p:nvPicPr>
        <p:blipFill>
          <a:blip r:embed="rId2"/>
          <a:stretch>
            <a:fillRect/>
          </a:stretch>
        </p:blipFill>
        <p:spPr>
          <a:xfrm>
            <a:off x="788668" y="2604391"/>
            <a:ext cx="7566664" cy="1280863"/>
          </a:xfrm>
          <a:prstGeom prst="rect">
            <a:avLst/>
          </a:prstGeom>
        </p:spPr>
      </p:pic>
    </p:spTree>
    <p:extLst>
      <p:ext uri="{BB962C8B-B14F-4D97-AF65-F5344CB8AC3E}">
        <p14:creationId xmlns:p14="http://schemas.microsoft.com/office/powerpoint/2010/main" val="2757097366"/>
      </p:ext>
    </p:extLst>
  </p:cSld>
  <p:clrMapOvr>
    <a:masterClrMapping/>
  </p:clrMapOvr>
  <p:transition>
    <p:cover dir="d"/>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电源</a:t>
            </a:r>
          </a:p>
        </p:txBody>
      </p:sp>
      <p:sp>
        <p:nvSpPr>
          <p:cNvPr id="3" name="内容占位符 2"/>
          <p:cNvSpPr>
            <a:spLocks noGrp="1"/>
          </p:cNvSpPr>
          <p:nvPr>
            <p:ph idx="1"/>
          </p:nvPr>
        </p:nvSpPr>
        <p:spPr/>
        <p:txBody>
          <a:bodyPr/>
          <a:lstStyle/>
          <a:p>
            <a:pPr marL="0" indent="0">
              <a:buNone/>
            </a:pPr>
            <a:r>
              <a:rPr lang="zh-CN" altLang="en-US" dirty="0"/>
              <a:t>电源电路并不会真的给</a:t>
            </a:r>
            <a:r>
              <a:rPr lang="en-US" altLang="zh-CN" dirty="0"/>
              <a:t>Arduino</a:t>
            </a:r>
            <a:r>
              <a:rPr lang="zh-CN" altLang="en-US" dirty="0"/>
              <a:t>提供任何电源，它只是把外部电源传输、稳压和过滤给</a:t>
            </a:r>
            <a:r>
              <a:rPr lang="en-US" altLang="zh-CN" dirty="0"/>
              <a:t>Arduino</a:t>
            </a:r>
            <a:r>
              <a:rPr lang="zh-CN" altLang="en-US" dirty="0"/>
              <a:t>。经过多年的演变，现在的电源使用基本上是傻瓜式过程。电路会自己选择最高可用电压来源，供给其他各个部分。同时还有一个可恢复保险丝，以防短路造成损坏。</a:t>
            </a:r>
          </a:p>
        </p:txBody>
      </p:sp>
    </p:spTree>
  </p:cSld>
  <p:clrMapOvr>
    <a:masterClrMapping/>
  </p:clrMapOvr>
  <p:transition>
    <p:cover dir="d"/>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供电方案</a:t>
            </a:r>
          </a:p>
        </p:txBody>
      </p:sp>
      <p:sp>
        <p:nvSpPr>
          <p:cNvPr id="3" name="内容占位符 2"/>
          <p:cNvSpPr>
            <a:spLocks noGrp="1"/>
          </p:cNvSpPr>
          <p:nvPr>
            <p:ph idx="1"/>
          </p:nvPr>
        </p:nvSpPr>
        <p:spPr/>
        <p:txBody>
          <a:bodyPr/>
          <a:lstStyle/>
          <a:p>
            <a:r>
              <a:rPr lang="en-US" altLang="zh-CN" dirty="0"/>
              <a:t>USB</a:t>
            </a:r>
            <a:r>
              <a:rPr lang="zh-CN" altLang="en-US" dirty="0"/>
              <a:t>供电：</a:t>
            </a:r>
            <a:r>
              <a:rPr lang="en-US" altLang="zh-CN" dirty="0"/>
              <a:t>5V</a:t>
            </a:r>
            <a:r>
              <a:rPr lang="zh-CN" altLang="en-US" dirty="0"/>
              <a:t>最大</a:t>
            </a:r>
            <a:r>
              <a:rPr lang="en-US" altLang="zh-CN" dirty="0"/>
              <a:t>500mA</a:t>
            </a:r>
            <a:r>
              <a:rPr lang="zh-CN" altLang="en-US" dirty="0"/>
              <a:t>，驱动能力有限。可以供给</a:t>
            </a:r>
            <a:r>
              <a:rPr lang="en-US" altLang="zh-CN" dirty="0"/>
              <a:t>LED</a:t>
            </a:r>
            <a:r>
              <a:rPr lang="zh-CN" altLang="en-US" dirty="0"/>
              <a:t>和传感器，控制类设备驱动不足。</a:t>
            </a:r>
            <a:endParaRPr lang="en-US" altLang="zh-CN" dirty="0"/>
          </a:p>
          <a:p>
            <a:r>
              <a:rPr lang="zh-CN" altLang="en-US" dirty="0"/>
              <a:t>扩展插座上引脚供电：最危险，一定要经过稳压。</a:t>
            </a:r>
            <a:endParaRPr lang="en-US" altLang="zh-CN" dirty="0"/>
          </a:p>
          <a:p>
            <a:r>
              <a:rPr lang="zh-CN" altLang="en-US" dirty="0"/>
              <a:t>柱式插座供电：最安全，</a:t>
            </a:r>
            <a:r>
              <a:rPr lang="en-US" altLang="zh-CN" dirty="0"/>
              <a:t>7V</a:t>
            </a:r>
            <a:r>
              <a:rPr lang="zh-CN" altLang="en-US" dirty="0"/>
              <a:t>到</a:t>
            </a:r>
            <a:r>
              <a:rPr lang="en-US" altLang="zh-CN" dirty="0"/>
              <a:t>12V</a:t>
            </a:r>
            <a:r>
              <a:rPr lang="zh-CN" altLang="en-US" dirty="0"/>
              <a:t>供电，最高可到</a:t>
            </a:r>
            <a:r>
              <a:rPr lang="en-US" altLang="zh-CN" dirty="0"/>
              <a:t>20V</a:t>
            </a:r>
            <a:r>
              <a:rPr lang="zh-CN" altLang="en-US" dirty="0"/>
              <a:t>，驱动能力充足。</a:t>
            </a:r>
            <a:endParaRPr lang="en-US" altLang="zh-CN" dirty="0"/>
          </a:p>
        </p:txBody>
      </p:sp>
    </p:spTree>
  </p:cSld>
  <p:clrMapOvr>
    <a:masterClrMapping/>
  </p:clrMapOvr>
  <p:transition>
    <p:cover dir="d"/>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扩展插座</a:t>
            </a:r>
          </a:p>
        </p:txBody>
      </p:sp>
      <p:pic>
        <p:nvPicPr>
          <p:cNvPr id="4" name="内容占位符 3"/>
          <p:cNvPicPr>
            <a:picLocks noGrp="1" noChangeAspect="1"/>
          </p:cNvPicPr>
          <p:nvPr>
            <p:ph idx="1"/>
          </p:nvPr>
        </p:nvPicPr>
        <p:blipFill>
          <a:blip r:embed="rId2"/>
          <a:stretch>
            <a:fillRect/>
          </a:stretch>
        </p:blipFill>
        <p:spPr>
          <a:xfrm>
            <a:off x="685800" y="1575434"/>
            <a:ext cx="4526026" cy="3625215"/>
          </a:xfrm>
          <a:prstGeom prst="rect">
            <a:avLst/>
          </a:prstGeom>
        </p:spPr>
      </p:pic>
      <p:sp>
        <p:nvSpPr>
          <p:cNvPr id="5" name="文本框 4"/>
          <p:cNvSpPr txBox="1"/>
          <p:nvPr/>
        </p:nvSpPr>
        <p:spPr>
          <a:xfrm>
            <a:off x="5211826" y="1752600"/>
            <a:ext cx="3532124" cy="3046988"/>
          </a:xfrm>
          <a:prstGeom prst="rect">
            <a:avLst/>
          </a:prstGeom>
          <a:noFill/>
        </p:spPr>
        <p:txBody>
          <a:bodyPr wrap="square" rtlCol="0">
            <a:spAutoFit/>
          </a:bodyPr>
          <a:lstStyle/>
          <a:p>
            <a:pPr algn="just"/>
            <a:r>
              <a:rPr lang="en-US" altLang="zh-CN" sz="3200" dirty="0"/>
              <a:t>4</a:t>
            </a:r>
            <a:r>
              <a:rPr lang="zh-CN" altLang="en-US" sz="3200" dirty="0"/>
              <a:t>组扩展插座。上边缘两组包括数字引脚，以及模拟参考电平和额外的地线。下边缘是电源和模拟插座。</a:t>
            </a:r>
          </a:p>
        </p:txBody>
      </p:sp>
    </p:spTree>
  </p:cSld>
  <p:clrMapOvr>
    <a:masterClrMapping/>
  </p:clrMapOvr>
  <p:transition>
    <p:cover dir="d"/>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扩展插座</a:t>
            </a:r>
          </a:p>
        </p:txBody>
      </p:sp>
      <p:sp>
        <p:nvSpPr>
          <p:cNvPr id="3" name="内容占位符 2"/>
          <p:cNvSpPr>
            <a:spLocks noGrp="1"/>
          </p:cNvSpPr>
          <p:nvPr>
            <p:ph idx="1"/>
          </p:nvPr>
        </p:nvSpPr>
        <p:spPr/>
        <p:txBody>
          <a:bodyPr/>
          <a:lstStyle/>
          <a:p>
            <a:r>
              <a:rPr lang="en-US" altLang="zh-CN" dirty="0"/>
              <a:t>I/O</a:t>
            </a:r>
            <a:r>
              <a:rPr lang="zh-CN" altLang="en-US" dirty="0"/>
              <a:t>编号</a:t>
            </a:r>
            <a:r>
              <a:rPr lang="en-US" altLang="zh-CN" dirty="0"/>
              <a:t>14</a:t>
            </a:r>
            <a:r>
              <a:rPr lang="zh-CN" altLang="en-US" dirty="0"/>
              <a:t>个数字引脚</a:t>
            </a:r>
            <a:r>
              <a:rPr lang="en-US" altLang="zh-CN" dirty="0"/>
              <a:t>D0~D13</a:t>
            </a:r>
            <a:r>
              <a:rPr lang="zh-CN" altLang="en-US" dirty="0"/>
              <a:t>和</a:t>
            </a:r>
            <a:r>
              <a:rPr lang="en-US" altLang="zh-CN" dirty="0"/>
              <a:t>6</a:t>
            </a:r>
            <a:r>
              <a:rPr lang="zh-CN" altLang="en-US" dirty="0"/>
              <a:t>个模拟引脚</a:t>
            </a:r>
            <a:r>
              <a:rPr lang="en-US" altLang="zh-CN" dirty="0"/>
              <a:t>A0~A5</a:t>
            </a:r>
            <a:r>
              <a:rPr lang="zh-CN" altLang="en-US" dirty="0"/>
              <a:t>。（可以用</a:t>
            </a:r>
            <a:r>
              <a:rPr lang="en-US" altLang="zh-CN" dirty="0"/>
              <a:t>D14~D19</a:t>
            </a:r>
            <a:r>
              <a:rPr lang="zh-CN" altLang="en-US" dirty="0"/>
              <a:t>来指代</a:t>
            </a:r>
            <a:r>
              <a:rPr lang="en-US" altLang="zh-CN" dirty="0"/>
              <a:t>A0~A5</a:t>
            </a:r>
            <a:r>
              <a:rPr lang="zh-CN" altLang="en-US" dirty="0"/>
              <a:t>）</a:t>
            </a:r>
            <a:endParaRPr lang="en-US" altLang="zh-CN" dirty="0"/>
          </a:p>
          <a:p>
            <a:r>
              <a:rPr lang="zh-CN" altLang="en-US" dirty="0"/>
              <a:t>有些数字引脚提供模拟输出能力，但实际上脉宽调制（</a:t>
            </a:r>
            <a:r>
              <a:rPr lang="en-US" altLang="zh-CN" dirty="0"/>
              <a:t>PWM</a:t>
            </a:r>
            <a:r>
              <a:rPr lang="zh-CN" altLang="en-US" dirty="0"/>
              <a:t>）或纯数字输出。</a:t>
            </a:r>
            <a:endParaRPr lang="en-US" altLang="zh-CN" dirty="0"/>
          </a:p>
          <a:p>
            <a:r>
              <a:rPr lang="zh-CN" altLang="en-US" dirty="0"/>
              <a:t>而模拟输入可以和其他数字引脚一样方便地用作数字输入或输出，但绝做不了模拟输出</a:t>
            </a:r>
          </a:p>
        </p:txBody>
      </p:sp>
    </p:spTree>
  </p:cSld>
  <p:clrMapOvr>
    <a:masterClrMapping/>
  </p:clrMapOvr>
  <p:transition>
    <p:cover dir="d"/>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盾板</a:t>
            </a:r>
          </a:p>
        </p:txBody>
      </p:sp>
      <p:sp>
        <p:nvSpPr>
          <p:cNvPr id="3" name="内容占位符 2"/>
          <p:cNvSpPr>
            <a:spLocks noGrp="1"/>
          </p:cNvSpPr>
          <p:nvPr>
            <p:ph idx="1"/>
          </p:nvPr>
        </p:nvSpPr>
        <p:spPr/>
        <p:txBody>
          <a:bodyPr/>
          <a:lstStyle/>
          <a:p>
            <a:pPr marL="0" indent="0" algn="just">
              <a:buNone/>
            </a:pPr>
            <a:r>
              <a:rPr lang="zh-CN" altLang="en-US" dirty="0"/>
              <a:t>与</a:t>
            </a:r>
            <a:r>
              <a:rPr lang="en-US" altLang="zh-CN" dirty="0"/>
              <a:t>Arduino</a:t>
            </a:r>
            <a:r>
              <a:rPr lang="zh-CN" altLang="en-US" dirty="0"/>
              <a:t>相关的硬件除了核心开发板外，各种扩展板也是重要的组成部分。</a:t>
            </a:r>
            <a:r>
              <a:rPr lang="en-US" altLang="zh-CN" dirty="0"/>
              <a:t>Arduino</a:t>
            </a:r>
            <a:r>
              <a:rPr lang="zh-CN" altLang="en-US" dirty="0"/>
              <a:t>开发板设计的可以安装扩展板，即盾板进行扩展。它们是一些电路板，包含其他的元件，如网络模块、</a:t>
            </a:r>
            <a:r>
              <a:rPr lang="en-US" altLang="zh-CN" dirty="0"/>
              <a:t>GPRS</a:t>
            </a:r>
            <a:r>
              <a:rPr lang="zh-CN" altLang="en-US" dirty="0"/>
              <a:t>模块、语音模块等。</a:t>
            </a:r>
          </a:p>
        </p:txBody>
      </p:sp>
    </p:spTree>
  </p:cSld>
  <p:clrMapOvr>
    <a:masterClrMapping/>
  </p:clrMapOvr>
  <p:transition>
    <p:cover dir="d"/>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628650" y="3303270"/>
            <a:ext cx="7829550" cy="3046988"/>
          </a:xfrm>
          <a:prstGeom prst="rect">
            <a:avLst/>
          </a:prstGeom>
          <a:noFill/>
        </p:spPr>
        <p:txBody>
          <a:bodyPr wrap="square" rtlCol="0">
            <a:spAutoFit/>
          </a:bodyPr>
          <a:lstStyle/>
          <a:p>
            <a:pPr algn="just"/>
            <a:r>
              <a:rPr lang="zh-CN" altLang="en-US" sz="2400" dirty="0"/>
              <a:t>有些（但不是所有的）盾板具有和主</a:t>
            </a:r>
            <a:r>
              <a:rPr lang="en-US" altLang="zh-CN" sz="2400" dirty="0"/>
              <a:t>I/O</a:t>
            </a:r>
            <a:r>
              <a:rPr lang="zh-CN" altLang="en-US" sz="2400" dirty="0"/>
              <a:t>电路板一样的外形，一旦插上，它们的全尺寸电路板就会完全盖住（像盾牌一样保护）下面的</a:t>
            </a:r>
            <a:r>
              <a:rPr lang="en-US" altLang="zh-CN" sz="2400" dirty="0"/>
              <a:t>I/O</a:t>
            </a:r>
            <a:r>
              <a:rPr lang="zh-CN" altLang="en-US" sz="2400" dirty="0"/>
              <a:t>电路板。</a:t>
            </a:r>
            <a:r>
              <a:rPr lang="en-US" altLang="zh-CN" sz="2400" dirty="0"/>
              <a:t>Maker Shield</a:t>
            </a:r>
            <a:r>
              <a:rPr lang="zh-CN" altLang="en-US" sz="2400" dirty="0"/>
              <a:t>是一个多功能原型盾板，它使用堆叠的接插件，不仅能连接到</a:t>
            </a:r>
            <a:r>
              <a:rPr lang="en-US" altLang="zh-CN" sz="2400" dirty="0"/>
              <a:t>Arduino I/O</a:t>
            </a:r>
            <a:r>
              <a:rPr lang="zh-CN" altLang="en-US" sz="2400" dirty="0"/>
              <a:t>电路板，还复制了相同的扩展插座，使得它上面的盾板可以和其下的</a:t>
            </a:r>
            <a:r>
              <a:rPr lang="en-US" altLang="zh-CN" sz="2400" dirty="0"/>
              <a:t>Arduino I/O</a:t>
            </a:r>
            <a:r>
              <a:rPr lang="zh-CN" altLang="en-US" sz="2400" dirty="0"/>
              <a:t>电路板保持机械和电气连接。创客盾板中央的原型区域可以焊一些元件来扩展</a:t>
            </a:r>
            <a:r>
              <a:rPr lang="en-US" altLang="zh-CN" sz="2400" dirty="0"/>
              <a:t>Arduino</a:t>
            </a:r>
            <a:r>
              <a:rPr lang="zh-CN" altLang="en-US" sz="2400" dirty="0"/>
              <a:t>的功能。</a:t>
            </a:r>
          </a:p>
        </p:txBody>
      </p:sp>
      <p:pic>
        <p:nvPicPr>
          <p:cNvPr id="7" name="图片 6"/>
          <p:cNvPicPr>
            <a:picLocks noChangeAspect="1"/>
          </p:cNvPicPr>
          <p:nvPr/>
        </p:nvPicPr>
        <p:blipFill>
          <a:blip r:embed="rId2"/>
          <a:stretch>
            <a:fillRect/>
          </a:stretch>
        </p:blipFill>
        <p:spPr>
          <a:xfrm>
            <a:off x="2234565" y="460682"/>
            <a:ext cx="4286250" cy="2524125"/>
          </a:xfrm>
          <a:prstGeom prst="rect">
            <a:avLst/>
          </a:prstGeom>
        </p:spPr>
      </p:pic>
    </p:spTree>
  </p:cSld>
  <p:clrMapOvr>
    <a:masterClrMapping/>
  </p:clrMapOvr>
  <p:transition>
    <p:cover dir="d"/>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2454592" y="923924"/>
            <a:ext cx="4097300" cy="2813685"/>
          </a:xfrm>
          <a:prstGeom prst="rect">
            <a:avLst/>
          </a:prstGeom>
        </p:spPr>
      </p:pic>
      <p:sp>
        <p:nvSpPr>
          <p:cNvPr id="5" name="文本框 4"/>
          <p:cNvSpPr txBox="1"/>
          <p:nvPr/>
        </p:nvSpPr>
        <p:spPr>
          <a:xfrm>
            <a:off x="937260" y="4149090"/>
            <a:ext cx="7406640" cy="1569660"/>
          </a:xfrm>
          <a:prstGeom prst="rect">
            <a:avLst/>
          </a:prstGeom>
          <a:noFill/>
        </p:spPr>
        <p:txBody>
          <a:bodyPr wrap="square" rtlCol="0">
            <a:spAutoFit/>
          </a:bodyPr>
          <a:lstStyle/>
          <a:p>
            <a:pPr algn="just"/>
            <a:r>
              <a:rPr lang="zh-CN" altLang="en-US" sz="2400" dirty="0"/>
              <a:t>对于不需要那么多空间的盾板，或是只需要几个靠得很近的电气引脚的盾板，就可以使用较小的盾板形式。如果用智能的查理复用（</a:t>
            </a:r>
            <a:r>
              <a:rPr lang="en-US" altLang="zh-CN" sz="2400" dirty="0" err="1"/>
              <a:t>charlie-plexing</a:t>
            </a:r>
            <a:r>
              <a:rPr lang="zh-CN" altLang="en-US" sz="2400" dirty="0"/>
              <a:t>）技术连线，只要</a:t>
            </a:r>
            <a:r>
              <a:rPr lang="en-US" altLang="zh-CN" sz="2400" dirty="0"/>
              <a:t>4</a:t>
            </a:r>
            <a:r>
              <a:rPr lang="zh-CN" altLang="en-US" sz="2400" dirty="0"/>
              <a:t>个输出引脚就可以驱动一个</a:t>
            </a:r>
            <a:r>
              <a:rPr lang="en-US" altLang="zh-CN" sz="2400" dirty="0"/>
              <a:t>12</a:t>
            </a:r>
            <a:r>
              <a:rPr lang="zh-CN" altLang="en-US" sz="2400" dirty="0"/>
              <a:t>个</a:t>
            </a:r>
            <a:r>
              <a:rPr lang="en-US" altLang="zh-CN" sz="2400" dirty="0"/>
              <a:t>LED</a:t>
            </a:r>
            <a:r>
              <a:rPr lang="zh-CN" altLang="en-US" sz="2400" dirty="0"/>
              <a:t>的阵列。</a:t>
            </a:r>
          </a:p>
        </p:txBody>
      </p:sp>
    </p:spTree>
  </p:cSld>
  <p:clrMapOvr>
    <a:masterClrMapping/>
  </p:clrMapOvr>
  <p:transition>
    <p:cover dir="d"/>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2135505" y="1335404"/>
            <a:ext cx="4456828" cy="2756535"/>
          </a:xfrm>
          <a:prstGeom prst="rect">
            <a:avLst/>
          </a:prstGeom>
        </p:spPr>
      </p:pic>
      <p:sp>
        <p:nvSpPr>
          <p:cNvPr id="5" name="文本框 4"/>
          <p:cNvSpPr txBox="1"/>
          <p:nvPr/>
        </p:nvSpPr>
        <p:spPr>
          <a:xfrm>
            <a:off x="491490" y="4389120"/>
            <a:ext cx="8355330" cy="1200329"/>
          </a:xfrm>
          <a:prstGeom prst="rect">
            <a:avLst/>
          </a:prstGeom>
          <a:noFill/>
        </p:spPr>
        <p:txBody>
          <a:bodyPr wrap="square" rtlCol="0">
            <a:spAutoFit/>
          </a:bodyPr>
          <a:lstStyle/>
          <a:p>
            <a:pPr algn="just"/>
            <a:r>
              <a:rPr lang="en-US" altLang="zh-CN" sz="2400" dirty="0"/>
              <a:t>Arduino</a:t>
            </a:r>
            <a:r>
              <a:rPr lang="zh-CN" altLang="en-US" sz="2400" dirty="0"/>
              <a:t>钢琴盾板（</a:t>
            </a:r>
            <a:r>
              <a:rPr lang="en-US" altLang="zh-CN" sz="2400" dirty="0"/>
              <a:t>Arduino Piano Shield</a:t>
            </a:r>
            <a:r>
              <a:rPr lang="zh-CN" altLang="en-US" sz="2400" dirty="0"/>
              <a:t>）为用户提供两个八度类似钢琴的键盘和其他一些控制旋钮，把</a:t>
            </a:r>
            <a:r>
              <a:rPr lang="en-US" altLang="zh-CN" sz="2400" dirty="0"/>
              <a:t>Arduino</a:t>
            </a:r>
            <a:r>
              <a:rPr lang="zh-CN" altLang="en-US" sz="2400" dirty="0"/>
              <a:t>变成一个音乐合成器。</a:t>
            </a:r>
          </a:p>
        </p:txBody>
      </p:sp>
    </p:spTree>
  </p:cSld>
  <p:clrMapOvr>
    <a:masterClrMapping/>
  </p:clrMapOvr>
  <p:transition>
    <p:cover dir="d"/>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08660" y="2472690"/>
            <a:ext cx="7772400" cy="1143000"/>
          </a:xfrm>
        </p:spPr>
        <p:txBody>
          <a:bodyPr/>
          <a:lstStyle/>
          <a:p>
            <a:r>
              <a:rPr lang="zh-CN" altLang="en-US" sz="6000" dirty="0"/>
              <a:t>开始</a:t>
            </a:r>
            <a:r>
              <a:rPr lang="en-US" altLang="zh-CN" sz="6000" dirty="0"/>
              <a:t>Arduino</a:t>
            </a:r>
            <a:r>
              <a:rPr lang="zh-CN" altLang="en-US" sz="6000" dirty="0"/>
              <a:t>之旅</a:t>
            </a:r>
          </a:p>
        </p:txBody>
      </p:sp>
    </p:spTree>
  </p:cSld>
  <p:clrMapOvr>
    <a:masterClrMapping/>
  </p:clrMapOvr>
  <p:transition>
    <p:cover dir="d"/>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交叉编译</a:t>
            </a:r>
          </a:p>
        </p:txBody>
      </p:sp>
      <p:sp>
        <p:nvSpPr>
          <p:cNvPr id="3" name="内容占位符 2"/>
          <p:cNvSpPr>
            <a:spLocks noGrp="1"/>
          </p:cNvSpPr>
          <p:nvPr>
            <p:ph idx="1"/>
          </p:nvPr>
        </p:nvSpPr>
        <p:spPr/>
        <p:txBody>
          <a:bodyPr/>
          <a:lstStyle/>
          <a:p>
            <a:pPr marL="0" indent="0" algn="just">
              <a:buNone/>
            </a:pPr>
            <a:r>
              <a:rPr lang="zh-CN" altLang="en-US" dirty="0"/>
              <a:t>很多嵌入式系统需要从一台计算机上编程，将写好的程序下载到开发板中进行测试和实际运行。因此跨平台开发在嵌入式系统软件开发中很常见。所谓交叉编译，就是在一个平台上生成另一个平台上可以执行的代码。开发人员在电脑上将程序写好，编译生成单片机执行的程序，就是一个交叉编译的过程。</a:t>
            </a:r>
          </a:p>
        </p:txBody>
      </p:sp>
    </p:spTree>
  </p:cSld>
  <p:clrMapOvr>
    <a:masterClrMapping/>
  </p:clrMapOvr>
  <p:transition>
    <p:cover dir="d"/>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zh-CN" dirty="0"/>
              <a:t>安装</a:t>
            </a:r>
            <a:r>
              <a:rPr lang="en-US" altLang="zh-CN" dirty="0"/>
              <a:t>Arduino</a:t>
            </a:r>
            <a:r>
              <a:rPr lang="zh-CN" altLang="en-US" dirty="0"/>
              <a:t> </a:t>
            </a:r>
            <a:r>
              <a:rPr lang="en-US" altLang="zh-CN" dirty="0"/>
              <a:t>IDE</a:t>
            </a:r>
            <a:endParaRPr lang="zh-CN" altLang="en-US" dirty="0"/>
          </a:p>
        </p:txBody>
      </p:sp>
      <p:sp>
        <p:nvSpPr>
          <p:cNvPr id="3" name="内容占位符 2"/>
          <p:cNvSpPr>
            <a:spLocks noGrp="1"/>
          </p:cNvSpPr>
          <p:nvPr>
            <p:ph idx="1"/>
          </p:nvPr>
        </p:nvSpPr>
        <p:spPr/>
        <p:txBody>
          <a:bodyPr/>
          <a:lstStyle/>
          <a:p>
            <a:r>
              <a:rPr lang="zh-CN" altLang="en-US" dirty="0"/>
              <a:t>下载地址：（根据操作系统选择对应版本下载）</a:t>
            </a:r>
            <a:r>
              <a:rPr lang="en-US" altLang="zh-CN" dirty="0"/>
              <a:t>https://</a:t>
            </a:r>
            <a:r>
              <a:rPr lang="en-US" altLang="zh-CN" dirty="0" err="1"/>
              <a:t>www.arduino.cc</a:t>
            </a:r>
            <a:r>
              <a:rPr lang="en-US" altLang="zh-CN" dirty="0"/>
              <a:t>/</a:t>
            </a:r>
            <a:r>
              <a:rPr lang="en-US" altLang="zh-CN" dirty="0" err="1"/>
              <a:t>en</a:t>
            </a:r>
            <a:r>
              <a:rPr lang="en-US" altLang="zh-CN" dirty="0"/>
              <a:t>/software</a:t>
            </a:r>
            <a:endParaRPr lang="zh-CN" altLang="en-US" dirty="0"/>
          </a:p>
        </p:txBody>
      </p:sp>
      <p:pic>
        <p:nvPicPr>
          <p:cNvPr id="5" name="图片 4">
            <a:extLst>
              <a:ext uri="{FF2B5EF4-FFF2-40B4-BE49-F238E27FC236}">
                <a16:creationId xmlns:a16="http://schemas.microsoft.com/office/drawing/2014/main" id="{3B62555B-A5B8-AB4E-9811-C6558D75B1F1}"/>
              </a:ext>
            </a:extLst>
          </p:cNvPr>
          <p:cNvPicPr>
            <a:picLocks noChangeAspect="1"/>
          </p:cNvPicPr>
          <p:nvPr/>
        </p:nvPicPr>
        <p:blipFill>
          <a:blip r:embed="rId2"/>
          <a:stretch>
            <a:fillRect/>
          </a:stretch>
        </p:blipFill>
        <p:spPr>
          <a:xfrm>
            <a:off x="2960314" y="3462002"/>
            <a:ext cx="2844586" cy="3395998"/>
          </a:xfrm>
          <a:prstGeom prst="rect">
            <a:avLst/>
          </a:prstGeom>
        </p:spPr>
      </p:pic>
    </p:spTree>
    <p:extLst>
      <p:ext uri="{BB962C8B-B14F-4D97-AF65-F5344CB8AC3E}">
        <p14:creationId xmlns:p14="http://schemas.microsoft.com/office/powerpoint/2010/main" val="1714205789"/>
      </p:ext>
    </p:extLst>
  </p:cSld>
  <p:clrMapOvr>
    <a:masterClrMapping/>
  </p:clrMapOvr>
  <p:transition>
    <p:cover dir="d"/>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Arduino IDE</a:t>
            </a:r>
            <a:r>
              <a:rPr lang="zh-CN" altLang="en-US" dirty="0"/>
              <a:t>介绍</a:t>
            </a:r>
          </a:p>
        </p:txBody>
      </p:sp>
      <p:pic>
        <p:nvPicPr>
          <p:cNvPr id="4" name="内容占位符 3"/>
          <p:cNvPicPr>
            <a:picLocks noGrp="1" noChangeAspect="1"/>
          </p:cNvPicPr>
          <p:nvPr>
            <p:ph idx="1"/>
          </p:nvPr>
        </p:nvPicPr>
        <p:blipFill>
          <a:blip r:embed="rId2"/>
          <a:stretch>
            <a:fillRect/>
          </a:stretch>
        </p:blipFill>
        <p:spPr>
          <a:xfrm>
            <a:off x="2007053" y="1993686"/>
            <a:ext cx="4121755" cy="3149814"/>
          </a:xfrm>
          <a:prstGeom prst="rect">
            <a:avLst/>
          </a:prstGeom>
        </p:spPr>
      </p:pic>
    </p:spTree>
  </p:cSld>
  <p:clrMapOvr>
    <a:masterClrMapping/>
  </p:clrMapOvr>
  <p:transition>
    <p:cover dir="d"/>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Arduino IDE</a:t>
            </a:r>
            <a:r>
              <a:rPr lang="zh-CN" altLang="en-US" dirty="0"/>
              <a:t>介绍</a:t>
            </a:r>
          </a:p>
        </p:txBody>
      </p:sp>
      <p:pic>
        <p:nvPicPr>
          <p:cNvPr id="4" name="内容占位符 3"/>
          <p:cNvPicPr>
            <a:picLocks noGrp="1" noChangeAspect="1"/>
          </p:cNvPicPr>
          <p:nvPr>
            <p:ph idx="1"/>
          </p:nvPr>
        </p:nvPicPr>
        <p:blipFill>
          <a:blip r:embed="rId2"/>
          <a:stretch>
            <a:fillRect/>
          </a:stretch>
        </p:blipFill>
        <p:spPr>
          <a:xfrm>
            <a:off x="2217420" y="1752600"/>
            <a:ext cx="4366260" cy="2757638"/>
          </a:xfrm>
          <a:prstGeom prst="rect">
            <a:avLst/>
          </a:prstGeom>
        </p:spPr>
      </p:pic>
      <p:sp>
        <p:nvSpPr>
          <p:cNvPr id="5" name="文本框 4"/>
          <p:cNvSpPr txBox="1"/>
          <p:nvPr/>
        </p:nvSpPr>
        <p:spPr>
          <a:xfrm>
            <a:off x="537210" y="5053073"/>
            <a:ext cx="8035289" cy="1200329"/>
          </a:xfrm>
          <a:prstGeom prst="rect">
            <a:avLst/>
          </a:prstGeom>
          <a:noFill/>
        </p:spPr>
        <p:txBody>
          <a:bodyPr wrap="square" rtlCol="0">
            <a:spAutoFit/>
          </a:bodyPr>
          <a:lstStyle/>
          <a:p>
            <a:r>
              <a:rPr lang="zh-CN" altLang="zh-CN" sz="2400" dirty="0"/>
              <a:t>工具栏，从左至右依次为编译、上传、新建程序（</a:t>
            </a:r>
            <a:r>
              <a:rPr lang="en-US" altLang="zh-CN" sz="2400" dirty="0"/>
              <a:t>sketch</a:t>
            </a:r>
            <a:r>
              <a:rPr lang="zh-CN" altLang="zh-CN" sz="2400" dirty="0"/>
              <a:t>）、打开程序（</a:t>
            </a:r>
            <a:r>
              <a:rPr lang="en-US" altLang="zh-CN" sz="2400" dirty="0"/>
              <a:t>sketch</a:t>
            </a:r>
            <a:r>
              <a:rPr lang="zh-CN" altLang="zh-CN" sz="2400" dirty="0"/>
              <a:t>）、保存程序（</a:t>
            </a:r>
            <a:r>
              <a:rPr lang="en-US" altLang="zh-CN" sz="2400" dirty="0"/>
              <a:t>sketch</a:t>
            </a:r>
            <a:r>
              <a:rPr lang="zh-CN" altLang="zh-CN" sz="2400" dirty="0"/>
              <a:t>）和串口监视器（</a:t>
            </a:r>
            <a:r>
              <a:rPr lang="en-US" altLang="zh-CN" sz="2400" dirty="0"/>
              <a:t>Serial Monitor</a:t>
            </a:r>
            <a:r>
              <a:rPr lang="zh-CN" altLang="zh-CN" sz="2400" dirty="0"/>
              <a:t>）</a:t>
            </a:r>
            <a:r>
              <a:rPr lang="zh-CN" altLang="en-US" sz="2400" dirty="0"/>
              <a:t>。</a:t>
            </a:r>
          </a:p>
        </p:txBody>
      </p:sp>
    </p:spTree>
  </p:cSld>
  <p:clrMapOvr>
    <a:masterClrMapping/>
  </p:clrMapOvr>
  <p:transition>
    <p:cover dir="d"/>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第三方软件</a:t>
            </a:r>
          </a:p>
        </p:txBody>
      </p:sp>
      <p:pic>
        <p:nvPicPr>
          <p:cNvPr id="4" name="内容占位符 3"/>
          <p:cNvPicPr>
            <a:picLocks noGrp="1" noChangeAspect="1"/>
          </p:cNvPicPr>
          <p:nvPr>
            <p:ph idx="1"/>
          </p:nvPr>
        </p:nvPicPr>
        <p:blipFill>
          <a:blip r:embed="rId2"/>
          <a:stretch>
            <a:fillRect/>
          </a:stretch>
        </p:blipFill>
        <p:spPr>
          <a:xfrm>
            <a:off x="824124" y="2449830"/>
            <a:ext cx="3380952" cy="2504762"/>
          </a:xfrm>
          <a:prstGeom prst="rect">
            <a:avLst/>
          </a:prstGeom>
        </p:spPr>
      </p:pic>
      <p:sp>
        <p:nvSpPr>
          <p:cNvPr id="5" name="文本框 4"/>
          <p:cNvSpPr txBox="1"/>
          <p:nvPr/>
        </p:nvSpPr>
        <p:spPr>
          <a:xfrm>
            <a:off x="1245870" y="5097780"/>
            <a:ext cx="2720340" cy="369332"/>
          </a:xfrm>
          <a:prstGeom prst="rect">
            <a:avLst/>
          </a:prstGeom>
          <a:noFill/>
        </p:spPr>
        <p:txBody>
          <a:bodyPr wrap="square" rtlCol="0">
            <a:spAutoFit/>
          </a:bodyPr>
          <a:lstStyle/>
          <a:p>
            <a:r>
              <a:rPr lang="en-US" altLang="zh-CN" dirty="0" err="1"/>
              <a:t>ArduBlock</a:t>
            </a:r>
            <a:r>
              <a:rPr lang="zh-CN" altLang="zh-CN" dirty="0"/>
              <a:t>软件界面截图</a:t>
            </a:r>
            <a:endParaRPr lang="zh-CN" altLang="en-US" dirty="0"/>
          </a:p>
        </p:txBody>
      </p:sp>
      <p:sp>
        <p:nvSpPr>
          <p:cNvPr id="6" name="文本框 5"/>
          <p:cNvSpPr txBox="1"/>
          <p:nvPr/>
        </p:nvSpPr>
        <p:spPr>
          <a:xfrm>
            <a:off x="4732020" y="1809385"/>
            <a:ext cx="4069080" cy="3785652"/>
          </a:xfrm>
          <a:prstGeom prst="rect">
            <a:avLst/>
          </a:prstGeom>
          <a:noFill/>
        </p:spPr>
        <p:txBody>
          <a:bodyPr wrap="square" rtlCol="0">
            <a:spAutoFit/>
          </a:bodyPr>
          <a:lstStyle/>
          <a:p>
            <a:pPr algn="just"/>
            <a:r>
              <a:rPr lang="en-US" altLang="zh-CN" sz="2400" dirty="0" err="1"/>
              <a:t>ArduBlock</a:t>
            </a:r>
            <a:r>
              <a:rPr lang="zh-CN" altLang="zh-CN" sz="2400" dirty="0"/>
              <a:t>是一款专门为</a:t>
            </a:r>
            <a:r>
              <a:rPr lang="en-US" altLang="zh-CN" sz="2400" dirty="0"/>
              <a:t>Arduino</a:t>
            </a:r>
            <a:r>
              <a:rPr lang="zh-CN" altLang="zh-CN" sz="2400" dirty="0"/>
              <a:t>设计的图形化编程软件，由上海新车间创客研制开发。这是一款第三方</a:t>
            </a:r>
            <a:r>
              <a:rPr lang="en-US" altLang="zh-CN" sz="2400" dirty="0"/>
              <a:t>Arduino</a:t>
            </a:r>
            <a:r>
              <a:rPr lang="zh-CN" altLang="zh-CN" sz="2400" dirty="0"/>
              <a:t>官方编程环境软件，目前必须在</a:t>
            </a:r>
            <a:r>
              <a:rPr lang="en-US" altLang="zh-CN" sz="2400" dirty="0"/>
              <a:t>Arduino IDE</a:t>
            </a:r>
            <a:r>
              <a:rPr lang="zh-CN" altLang="zh-CN" sz="2400" dirty="0"/>
              <a:t>的软件下运行。但是区别于官方文本编辑环境，</a:t>
            </a:r>
            <a:r>
              <a:rPr lang="en-US" altLang="zh-CN" sz="2400" dirty="0" err="1"/>
              <a:t>ArduBlock</a:t>
            </a:r>
            <a:r>
              <a:rPr lang="zh-CN" altLang="zh-CN" sz="2400" dirty="0"/>
              <a:t>是以图形化积木搭建的方式进行编程的。</a:t>
            </a:r>
            <a:endParaRPr lang="zh-CN" altLang="en-US" sz="2400" dirty="0"/>
          </a:p>
        </p:txBody>
      </p:sp>
    </p:spTree>
  </p:cSld>
  <p:clrMapOvr>
    <a:masterClrMapping/>
  </p:clrMapOvr>
  <p:transition>
    <p:cover dir="d"/>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第三方软件</a:t>
            </a:r>
          </a:p>
        </p:txBody>
      </p:sp>
      <p:pic>
        <p:nvPicPr>
          <p:cNvPr id="4" name="内容占位符 3"/>
          <p:cNvPicPr>
            <a:picLocks noGrp="1" noChangeAspect="1"/>
          </p:cNvPicPr>
          <p:nvPr>
            <p:ph idx="1"/>
          </p:nvPr>
        </p:nvPicPr>
        <p:blipFill>
          <a:blip r:embed="rId2"/>
          <a:stretch>
            <a:fillRect/>
          </a:stretch>
        </p:blipFill>
        <p:spPr>
          <a:xfrm>
            <a:off x="685800" y="1958340"/>
            <a:ext cx="4634857" cy="2693670"/>
          </a:xfrm>
          <a:prstGeom prst="rect">
            <a:avLst/>
          </a:prstGeom>
        </p:spPr>
      </p:pic>
      <p:sp>
        <p:nvSpPr>
          <p:cNvPr id="5" name="文本框 4"/>
          <p:cNvSpPr txBox="1"/>
          <p:nvPr/>
        </p:nvSpPr>
        <p:spPr>
          <a:xfrm>
            <a:off x="1108711" y="4857750"/>
            <a:ext cx="3623310" cy="369332"/>
          </a:xfrm>
          <a:prstGeom prst="rect">
            <a:avLst/>
          </a:prstGeom>
          <a:noFill/>
        </p:spPr>
        <p:txBody>
          <a:bodyPr wrap="square" rtlCol="0">
            <a:spAutoFit/>
          </a:bodyPr>
          <a:lstStyle/>
          <a:p>
            <a:r>
              <a:rPr lang="en-US" altLang="zh-CN" dirty="0"/>
              <a:t>Arduino</a:t>
            </a:r>
            <a:r>
              <a:rPr lang="zh-CN" altLang="zh-CN" dirty="0"/>
              <a:t>仿真软件</a:t>
            </a:r>
            <a:r>
              <a:rPr lang="en-US" altLang="zh-CN" dirty="0"/>
              <a:t>Virtual breadboard</a:t>
            </a:r>
            <a:endParaRPr lang="zh-CN" altLang="en-US" dirty="0"/>
          </a:p>
        </p:txBody>
      </p:sp>
      <p:sp>
        <p:nvSpPr>
          <p:cNvPr id="6" name="文本框 5"/>
          <p:cNvSpPr txBox="1"/>
          <p:nvPr/>
        </p:nvSpPr>
        <p:spPr>
          <a:xfrm>
            <a:off x="5772150" y="1466850"/>
            <a:ext cx="3017520" cy="4093428"/>
          </a:xfrm>
          <a:prstGeom prst="rect">
            <a:avLst/>
          </a:prstGeom>
          <a:noFill/>
        </p:spPr>
        <p:txBody>
          <a:bodyPr wrap="square" rtlCol="0">
            <a:spAutoFit/>
          </a:bodyPr>
          <a:lstStyle/>
          <a:p>
            <a:pPr algn="just"/>
            <a:r>
              <a:rPr lang="en-US" altLang="zh-CN" sz="2000" dirty="0"/>
              <a:t>Virtual breadboard</a:t>
            </a:r>
            <a:r>
              <a:rPr lang="zh-CN" altLang="zh-CN" sz="2000" dirty="0"/>
              <a:t>是一款专门的</a:t>
            </a:r>
            <a:r>
              <a:rPr lang="en-US" altLang="zh-CN" sz="2000" dirty="0"/>
              <a:t>Arduino</a:t>
            </a:r>
            <a:r>
              <a:rPr lang="zh-CN" altLang="zh-CN" sz="2000" dirty="0"/>
              <a:t>仿真软件</a:t>
            </a:r>
            <a:r>
              <a:rPr lang="zh-CN" altLang="en-US" sz="2000" dirty="0"/>
              <a:t>，</a:t>
            </a:r>
            <a:r>
              <a:rPr lang="zh-CN" altLang="zh-CN" sz="2000" dirty="0"/>
              <a:t>它不但包括了所有</a:t>
            </a:r>
            <a:r>
              <a:rPr lang="en-US" altLang="zh-CN" sz="2000" dirty="0"/>
              <a:t>Arduino</a:t>
            </a:r>
            <a:r>
              <a:rPr lang="zh-CN" altLang="zh-CN" sz="2000" dirty="0"/>
              <a:t>的样例电路，可以实现对面包板电路的设计和布置，非常直观地显示出面包板电路，还可实现对程序的仿真调试。</a:t>
            </a:r>
            <a:r>
              <a:rPr lang="en-US" altLang="zh-CN" sz="2000" dirty="0"/>
              <a:t>VBB</a:t>
            </a:r>
            <a:r>
              <a:rPr lang="zh-CN" altLang="zh-CN" sz="2000" dirty="0"/>
              <a:t>可以模拟</a:t>
            </a:r>
            <a:r>
              <a:rPr lang="en-US" altLang="zh-CN" sz="2000" dirty="0"/>
              <a:t>Arduino</a:t>
            </a:r>
            <a:r>
              <a:rPr lang="zh-CN" altLang="zh-CN" sz="2000" dirty="0"/>
              <a:t>连接各种电子模块，例如液晶屏、舵机、逻辑数字电路、各种传感器以及其他的输入</a:t>
            </a:r>
            <a:r>
              <a:rPr lang="en-US" altLang="zh-CN" sz="2000" dirty="0"/>
              <a:t>/</a:t>
            </a:r>
            <a:r>
              <a:rPr lang="zh-CN" altLang="zh-CN" sz="2000" dirty="0"/>
              <a:t>输出设备。</a:t>
            </a:r>
            <a:endParaRPr lang="zh-CN" altLang="en-US" sz="2000" dirty="0"/>
          </a:p>
        </p:txBody>
      </p:sp>
    </p:spTree>
  </p:cSld>
  <p:clrMapOvr>
    <a:masterClrMapping/>
  </p:clrMapOvr>
  <p:transition>
    <p:cover dir="d"/>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Arduino</a:t>
            </a:r>
            <a:r>
              <a:rPr lang="zh-CN" altLang="en-US" dirty="0"/>
              <a:t>开发</a:t>
            </a:r>
          </a:p>
        </p:txBody>
      </p:sp>
      <p:sp>
        <p:nvSpPr>
          <p:cNvPr id="3" name="内容占位符 2"/>
          <p:cNvSpPr>
            <a:spLocks noGrp="1"/>
          </p:cNvSpPr>
          <p:nvPr>
            <p:ph idx="1"/>
          </p:nvPr>
        </p:nvSpPr>
        <p:spPr/>
        <p:txBody>
          <a:bodyPr/>
          <a:lstStyle/>
          <a:p>
            <a:r>
              <a:rPr lang="zh-CN" altLang="en-US" dirty="0"/>
              <a:t>写的代码</a:t>
            </a:r>
            <a:endParaRPr lang="en-US" altLang="zh-CN" dirty="0"/>
          </a:p>
          <a:p>
            <a:r>
              <a:rPr lang="zh-CN" altLang="en-US" dirty="0"/>
              <a:t>编译代码</a:t>
            </a:r>
            <a:endParaRPr lang="en-US" altLang="zh-CN" dirty="0"/>
          </a:p>
          <a:p>
            <a:r>
              <a:rPr lang="zh-CN" altLang="en-US" dirty="0"/>
              <a:t>给芯片编程</a:t>
            </a:r>
            <a:endParaRPr lang="en-US" altLang="zh-CN" dirty="0"/>
          </a:p>
          <a:p>
            <a:r>
              <a:rPr lang="zh-CN" altLang="en-US" dirty="0"/>
              <a:t>测试和调试</a:t>
            </a:r>
            <a:endParaRPr lang="en-US" altLang="zh-CN" dirty="0"/>
          </a:p>
          <a:p>
            <a:r>
              <a:rPr lang="zh-CN" altLang="en-US" dirty="0"/>
              <a:t>重复</a:t>
            </a:r>
          </a:p>
        </p:txBody>
      </p:sp>
    </p:spTree>
  </p:cSld>
  <p:clrMapOvr>
    <a:masterClrMapping/>
  </p:clrMapOvr>
  <p:transition>
    <p:cover dir="d"/>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加载第一个程序</a:t>
            </a:r>
          </a:p>
        </p:txBody>
      </p:sp>
      <p:sp>
        <p:nvSpPr>
          <p:cNvPr id="3" name="内容占位符 2"/>
          <p:cNvSpPr>
            <a:spLocks noGrp="1"/>
          </p:cNvSpPr>
          <p:nvPr>
            <p:ph idx="1"/>
          </p:nvPr>
        </p:nvSpPr>
        <p:spPr/>
        <p:txBody>
          <a:bodyPr/>
          <a:lstStyle/>
          <a:p>
            <a:pPr marL="0" indent="0">
              <a:buNone/>
            </a:pPr>
            <a:endParaRPr lang="en-US" altLang="zh-CN" sz="2000" dirty="0"/>
          </a:p>
          <a:p>
            <a:pPr marL="0" indent="0">
              <a:buNone/>
            </a:pPr>
            <a:r>
              <a:rPr lang="en-US" altLang="zh-CN" sz="2000" dirty="0"/>
              <a:t>void setup() {</a:t>
            </a:r>
          </a:p>
          <a:p>
            <a:pPr marL="0" indent="0">
              <a:buNone/>
            </a:pPr>
            <a:r>
              <a:rPr lang="en-US" altLang="zh-CN" sz="2000" dirty="0"/>
              <a:t>  // put your setup code here, to run once:</a:t>
            </a:r>
          </a:p>
          <a:p>
            <a:pPr marL="0" indent="0">
              <a:buNone/>
            </a:pPr>
            <a:endParaRPr lang="en-US" altLang="zh-CN" sz="2000" dirty="0"/>
          </a:p>
          <a:p>
            <a:pPr marL="0" indent="0">
              <a:buNone/>
            </a:pPr>
            <a:r>
              <a:rPr lang="en-US" altLang="zh-CN" sz="2000" dirty="0"/>
              <a:t>}</a:t>
            </a:r>
          </a:p>
          <a:p>
            <a:pPr marL="0" indent="0">
              <a:buNone/>
            </a:pPr>
            <a:r>
              <a:rPr lang="en-US" altLang="zh-CN" sz="2000" dirty="0"/>
              <a:t>void loop() {</a:t>
            </a:r>
          </a:p>
          <a:p>
            <a:pPr marL="0" indent="0">
              <a:buNone/>
            </a:pPr>
            <a:r>
              <a:rPr lang="en-US" altLang="zh-CN" sz="2000" dirty="0"/>
              <a:t>  // put your main code here, to run repeatedly:</a:t>
            </a:r>
          </a:p>
          <a:p>
            <a:pPr marL="0" indent="0">
              <a:buNone/>
            </a:pPr>
            <a:endParaRPr lang="en-US" altLang="zh-CN" sz="2000" dirty="0"/>
          </a:p>
          <a:p>
            <a:pPr marL="0" indent="0">
              <a:buNone/>
            </a:pPr>
            <a:r>
              <a:rPr lang="en-US" altLang="zh-CN" sz="2000" dirty="0"/>
              <a:t>}</a:t>
            </a:r>
            <a:endParaRPr lang="zh-CN" altLang="en-US" sz="2000" dirty="0"/>
          </a:p>
        </p:txBody>
      </p:sp>
      <p:sp>
        <p:nvSpPr>
          <p:cNvPr id="4" name="文本框 3"/>
          <p:cNvSpPr txBox="1"/>
          <p:nvPr/>
        </p:nvSpPr>
        <p:spPr>
          <a:xfrm>
            <a:off x="685800" y="1971794"/>
            <a:ext cx="2423160" cy="400110"/>
          </a:xfrm>
          <a:prstGeom prst="rect">
            <a:avLst/>
          </a:prstGeom>
          <a:solidFill>
            <a:schemeClr val="bg1">
              <a:lumMod val="85000"/>
            </a:schemeClr>
          </a:solidFill>
        </p:spPr>
        <p:txBody>
          <a:bodyPr wrap="square" rtlCol="0">
            <a:spAutoFit/>
          </a:bodyPr>
          <a:lstStyle/>
          <a:p>
            <a:r>
              <a:rPr lang="zh-CN" altLang="en-US" sz="2000" b="1" dirty="0"/>
              <a:t>最小的</a:t>
            </a:r>
            <a:r>
              <a:rPr lang="en-US" altLang="zh-CN" sz="2000" b="1" dirty="0"/>
              <a:t>Arduino</a:t>
            </a:r>
            <a:r>
              <a:rPr lang="zh-CN" altLang="en-US" sz="2000" b="1" dirty="0"/>
              <a:t>程序</a:t>
            </a:r>
            <a:endParaRPr lang="en-US" altLang="zh-CN" sz="2000" b="1" dirty="0"/>
          </a:p>
        </p:txBody>
      </p:sp>
    </p:spTree>
  </p:cSld>
  <p:clrMapOvr>
    <a:masterClrMapping/>
  </p:clrMapOvr>
  <p:transition>
    <p:cover dir="d"/>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加载第一个程序</a:t>
            </a:r>
          </a:p>
        </p:txBody>
      </p:sp>
      <p:sp>
        <p:nvSpPr>
          <p:cNvPr id="3" name="内容占位符 2"/>
          <p:cNvSpPr>
            <a:spLocks noGrp="1"/>
          </p:cNvSpPr>
          <p:nvPr>
            <p:ph idx="1"/>
          </p:nvPr>
        </p:nvSpPr>
        <p:spPr/>
        <p:txBody>
          <a:bodyPr/>
          <a:lstStyle/>
          <a:p>
            <a:pPr marL="0" indent="0">
              <a:buNone/>
            </a:pPr>
            <a:endParaRPr lang="en-US" altLang="zh-CN" sz="1800" dirty="0"/>
          </a:p>
          <a:p>
            <a:pPr marL="0" indent="0">
              <a:buNone/>
            </a:pPr>
            <a:r>
              <a:rPr lang="en-US" altLang="zh-CN" sz="1800" dirty="0"/>
              <a:t>void setup(void); //setup()</a:t>
            </a:r>
            <a:r>
              <a:rPr lang="zh-CN" altLang="en-US" sz="1800" dirty="0"/>
              <a:t>函数原型</a:t>
            </a:r>
          </a:p>
          <a:p>
            <a:pPr marL="0" indent="0">
              <a:buNone/>
            </a:pPr>
            <a:r>
              <a:rPr lang="en-US" altLang="zh-CN" sz="1800" dirty="0"/>
              <a:t>void loop(void); //loop()</a:t>
            </a:r>
            <a:r>
              <a:rPr lang="zh-CN" altLang="en-US" sz="1800" dirty="0"/>
              <a:t>函数原型</a:t>
            </a:r>
          </a:p>
          <a:p>
            <a:pPr marL="0" indent="0">
              <a:buNone/>
            </a:pPr>
            <a:endParaRPr lang="zh-CN" altLang="en-US" sz="1800" dirty="0"/>
          </a:p>
          <a:p>
            <a:pPr marL="0" indent="0">
              <a:buNone/>
            </a:pPr>
            <a:r>
              <a:rPr lang="en-US" altLang="zh-CN" sz="1800" dirty="0" err="1"/>
              <a:t>int</a:t>
            </a:r>
            <a:r>
              <a:rPr lang="en-US" altLang="zh-CN" sz="1800" dirty="0"/>
              <a:t> main(void) {</a:t>
            </a:r>
          </a:p>
          <a:p>
            <a:pPr marL="0" indent="0">
              <a:buNone/>
            </a:pPr>
            <a:r>
              <a:rPr lang="en-US" altLang="zh-CN" sz="1800" dirty="0"/>
              <a:t>	setup(); //</a:t>
            </a:r>
            <a:r>
              <a:rPr lang="zh-CN" altLang="en-US" sz="1800" dirty="0"/>
              <a:t>按需执行一次的初始化</a:t>
            </a:r>
          </a:p>
          <a:p>
            <a:pPr marL="0" indent="0">
              <a:buNone/>
            </a:pPr>
            <a:r>
              <a:rPr lang="zh-CN" altLang="en-US" sz="1800" dirty="0"/>
              <a:t>	</a:t>
            </a:r>
            <a:r>
              <a:rPr lang="en-US" altLang="zh-CN" sz="1800" dirty="0"/>
              <a:t>while(1) {</a:t>
            </a:r>
          </a:p>
          <a:p>
            <a:pPr marL="0" indent="0">
              <a:buNone/>
            </a:pPr>
            <a:r>
              <a:rPr lang="en-US" altLang="zh-CN" sz="1800" dirty="0"/>
              <a:t>		loop(); //</a:t>
            </a:r>
            <a:r>
              <a:rPr lang="zh-CN" altLang="en-US" sz="1800" dirty="0"/>
              <a:t>不断地重复执行</a:t>
            </a:r>
          </a:p>
          <a:p>
            <a:pPr marL="0" indent="0">
              <a:buNone/>
            </a:pPr>
            <a:r>
              <a:rPr lang="zh-CN" altLang="en-US" sz="1800" dirty="0"/>
              <a:t>	</a:t>
            </a:r>
            <a:r>
              <a:rPr lang="en-US" altLang="zh-CN" sz="1800" dirty="0"/>
              <a:t>}</a:t>
            </a:r>
          </a:p>
          <a:p>
            <a:pPr marL="0" indent="0">
              <a:buNone/>
            </a:pPr>
            <a:r>
              <a:rPr lang="en-US" altLang="zh-CN" sz="1800" dirty="0"/>
              <a:t>	return 0</a:t>
            </a:r>
            <a:r>
              <a:rPr lang="zh-CN" altLang="en-US" sz="1800" dirty="0"/>
              <a:t>； </a:t>
            </a:r>
            <a:r>
              <a:rPr lang="en-US" altLang="zh-CN" sz="1800" dirty="0"/>
              <a:t>//</a:t>
            </a:r>
            <a:r>
              <a:rPr lang="zh-CN" altLang="en-US" sz="1800" dirty="0"/>
              <a:t>这句永远不会发生</a:t>
            </a:r>
          </a:p>
          <a:p>
            <a:pPr marL="0" indent="0">
              <a:buNone/>
            </a:pPr>
            <a:r>
              <a:rPr lang="en-US" altLang="zh-CN" sz="1800" dirty="0"/>
              <a:t>}</a:t>
            </a:r>
            <a:endParaRPr lang="zh-CN" altLang="en-US" sz="1800" dirty="0"/>
          </a:p>
        </p:txBody>
      </p:sp>
      <p:sp>
        <p:nvSpPr>
          <p:cNvPr id="4" name="文本框 3"/>
          <p:cNvSpPr txBox="1"/>
          <p:nvPr/>
        </p:nvSpPr>
        <p:spPr>
          <a:xfrm>
            <a:off x="685800" y="1897380"/>
            <a:ext cx="4423410" cy="400110"/>
          </a:xfrm>
          <a:prstGeom prst="rect">
            <a:avLst/>
          </a:prstGeom>
          <a:solidFill>
            <a:schemeClr val="bg1">
              <a:lumMod val="85000"/>
            </a:schemeClr>
          </a:solidFill>
        </p:spPr>
        <p:txBody>
          <a:bodyPr wrap="square" rtlCol="0">
            <a:spAutoFit/>
          </a:bodyPr>
          <a:lstStyle/>
          <a:p>
            <a:r>
              <a:rPr lang="zh-CN" altLang="en-US" sz="2000" b="1" dirty="0"/>
              <a:t>设想的每个</a:t>
            </a:r>
            <a:r>
              <a:rPr lang="en-US" altLang="zh-CN" sz="2000" b="1" dirty="0"/>
              <a:t>Arduino</a:t>
            </a:r>
            <a:r>
              <a:rPr lang="zh-CN" altLang="en-US" sz="2000" b="1" dirty="0"/>
              <a:t>程序背后的</a:t>
            </a:r>
            <a:r>
              <a:rPr lang="en-US" altLang="zh-CN" sz="2000" b="1" dirty="0"/>
              <a:t>C</a:t>
            </a:r>
            <a:r>
              <a:rPr lang="zh-CN" altLang="en-US" sz="2000" b="1" dirty="0"/>
              <a:t>代码</a:t>
            </a:r>
          </a:p>
        </p:txBody>
      </p:sp>
    </p:spTree>
  </p:cSld>
  <p:clrMapOvr>
    <a:masterClrMapping/>
  </p:clrMapOvr>
  <p:transition>
    <p:cover dir="d"/>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加载第一个程序</a:t>
            </a:r>
          </a:p>
        </p:txBody>
      </p:sp>
      <p:sp>
        <p:nvSpPr>
          <p:cNvPr id="3" name="内容占位符 2"/>
          <p:cNvSpPr>
            <a:spLocks noGrp="1"/>
          </p:cNvSpPr>
          <p:nvPr>
            <p:ph idx="1"/>
          </p:nvPr>
        </p:nvSpPr>
        <p:spPr/>
        <p:txBody>
          <a:bodyPr/>
          <a:lstStyle/>
          <a:p>
            <a:pPr marL="0" indent="0">
              <a:buNone/>
            </a:pPr>
            <a:endParaRPr lang="en-US" altLang="zh-CN" sz="1800" dirty="0"/>
          </a:p>
          <a:p>
            <a:pPr marL="0" indent="0">
              <a:buNone/>
            </a:pPr>
            <a:endParaRPr lang="en-US" altLang="zh-CN" sz="1800" dirty="0"/>
          </a:p>
          <a:p>
            <a:pPr marL="0" indent="0">
              <a:buNone/>
            </a:pPr>
            <a:r>
              <a:rPr lang="en-US" altLang="zh-CN" sz="1800" dirty="0"/>
              <a:t>#include &lt;</a:t>
            </a:r>
            <a:r>
              <a:rPr lang="en-US" altLang="zh-CN" sz="1800" dirty="0" err="1"/>
              <a:t>stdio.h</a:t>
            </a:r>
            <a:r>
              <a:rPr lang="en-US" altLang="zh-CN" sz="1800" dirty="0"/>
              <a:t>&gt;</a:t>
            </a:r>
          </a:p>
          <a:p>
            <a:pPr marL="0" indent="0">
              <a:buNone/>
            </a:pPr>
            <a:endParaRPr lang="zh-CN" altLang="zh-CN" sz="1800" dirty="0"/>
          </a:p>
          <a:p>
            <a:pPr marL="0" indent="0">
              <a:buNone/>
            </a:pPr>
            <a:r>
              <a:rPr lang="en-US" altLang="zh-CN" sz="1800" dirty="0"/>
              <a:t>main()</a:t>
            </a:r>
            <a:endParaRPr lang="zh-CN" altLang="zh-CN" sz="1800" dirty="0"/>
          </a:p>
          <a:p>
            <a:pPr marL="0" indent="0">
              <a:buNone/>
            </a:pPr>
            <a:r>
              <a:rPr lang="en-US" altLang="zh-CN" sz="1800" dirty="0"/>
              <a:t>{</a:t>
            </a:r>
            <a:endParaRPr lang="zh-CN" altLang="zh-CN" sz="1800" dirty="0"/>
          </a:p>
          <a:p>
            <a:pPr marL="0" indent="0">
              <a:buNone/>
            </a:pPr>
            <a:r>
              <a:rPr lang="en-US" altLang="zh-CN" sz="1800" dirty="0"/>
              <a:t>	</a:t>
            </a:r>
            <a:r>
              <a:rPr lang="en-US" altLang="zh-CN" sz="1800" dirty="0" err="1"/>
              <a:t>printf</a:t>
            </a:r>
            <a:r>
              <a:rPr lang="en-US" altLang="zh-CN" sz="1800" dirty="0"/>
              <a:t>(“hello world\n”);</a:t>
            </a:r>
            <a:endParaRPr lang="zh-CN" altLang="zh-CN" sz="1800" dirty="0"/>
          </a:p>
          <a:p>
            <a:pPr marL="0" indent="0">
              <a:buNone/>
            </a:pPr>
            <a:r>
              <a:rPr lang="en-US" altLang="zh-CN" sz="1800" dirty="0"/>
              <a:t>}</a:t>
            </a:r>
            <a:endParaRPr lang="zh-CN" altLang="zh-CN" sz="1800" dirty="0"/>
          </a:p>
          <a:p>
            <a:pPr marL="0" indent="0">
              <a:buNone/>
            </a:pPr>
            <a:endParaRPr lang="zh-CN" altLang="en-US" dirty="0"/>
          </a:p>
        </p:txBody>
      </p:sp>
      <p:sp>
        <p:nvSpPr>
          <p:cNvPr id="4" name="文本框 3"/>
          <p:cNvSpPr txBox="1"/>
          <p:nvPr/>
        </p:nvSpPr>
        <p:spPr>
          <a:xfrm>
            <a:off x="777240" y="1981200"/>
            <a:ext cx="2217420" cy="400110"/>
          </a:xfrm>
          <a:prstGeom prst="rect">
            <a:avLst/>
          </a:prstGeom>
          <a:solidFill>
            <a:schemeClr val="bg1">
              <a:lumMod val="85000"/>
            </a:schemeClr>
          </a:solidFill>
        </p:spPr>
        <p:txBody>
          <a:bodyPr wrap="square" rtlCol="0">
            <a:spAutoFit/>
          </a:bodyPr>
          <a:lstStyle/>
          <a:p>
            <a:r>
              <a:rPr lang="en-US" altLang="zh-CN" sz="2000" b="1" dirty="0"/>
              <a:t>C</a:t>
            </a:r>
            <a:r>
              <a:rPr lang="zh-CN" altLang="en-US" sz="2000" b="1" dirty="0"/>
              <a:t>语言向世界问好</a:t>
            </a:r>
          </a:p>
        </p:txBody>
      </p:sp>
    </p:spTree>
  </p:cSld>
  <p:clrMapOvr>
    <a:masterClrMapping/>
  </p:clrMapOvr>
  <p:transition>
    <p:cover dir="d"/>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加载第一个程序</a:t>
            </a:r>
          </a:p>
        </p:txBody>
      </p:sp>
      <p:sp>
        <p:nvSpPr>
          <p:cNvPr id="3" name="内容占位符 2"/>
          <p:cNvSpPr>
            <a:spLocks noGrp="1"/>
          </p:cNvSpPr>
          <p:nvPr>
            <p:ph idx="1"/>
          </p:nvPr>
        </p:nvSpPr>
        <p:spPr/>
        <p:txBody>
          <a:bodyPr/>
          <a:lstStyle/>
          <a:p>
            <a:pPr marL="0" indent="0">
              <a:buNone/>
            </a:pPr>
            <a:endParaRPr lang="en-US" altLang="zh-CN" sz="1800" dirty="0"/>
          </a:p>
          <a:p>
            <a:pPr marL="0" indent="0">
              <a:buNone/>
            </a:pPr>
            <a:endParaRPr lang="en-US" altLang="zh-CN" sz="1800" dirty="0"/>
          </a:p>
          <a:p>
            <a:pPr marL="0" indent="0">
              <a:buNone/>
            </a:pPr>
            <a:r>
              <a:rPr lang="en-US" altLang="zh-CN" sz="1800" dirty="0"/>
              <a:t>void setup() {</a:t>
            </a:r>
          </a:p>
          <a:p>
            <a:pPr marL="0" indent="0">
              <a:buNone/>
            </a:pPr>
            <a:r>
              <a:rPr lang="en-US" altLang="zh-CN" sz="1800" dirty="0"/>
              <a:t>  </a:t>
            </a:r>
            <a:r>
              <a:rPr lang="en-US" altLang="zh-CN" sz="1800" dirty="0" err="1"/>
              <a:t>Serial.begin</a:t>
            </a:r>
            <a:r>
              <a:rPr lang="en-US" altLang="zh-CN" sz="1800" dirty="0"/>
              <a:t>(9600);</a:t>
            </a:r>
          </a:p>
          <a:p>
            <a:pPr marL="0" indent="0">
              <a:buNone/>
            </a:pPr>
            <a:r>
              <a:rPr lang="en-US" altLang="zh-CN" sz="1800" dirty="0"/>
              <a:t>  </a:t>
            </a:r>
            <a:r>
              <a:rPr lang="en-US" altLang="zh-CN" sz="1800" dirty="0" err="1"/>
              <a:t>Serial.println</a:t>
            </a:r>
            <a:r>
              <a:rPr lang="en-US" altLang="zh-CN" sz="1800" dirty="0"/>
              <a:t>("Hello, world!");</a:t>
            </a:r>
          </a:p>
          <a:p>
            <a:pPr marL="0" indent="0">
              <a:buNone/>
            </a:pPr>
            <a:r>
              <a:rPr lang="en-US" altLang="zh-CN" sz="1800" dirty="0"/>
              <a:t>}</a:t>
            </a:r>
          </a:p>
          <a:p>
            <a:pPr marL="0" indent="0">
              <a:buNone/>
            </a:pPr>
            <a:r>
              <a:rPr lang="en-US" altLang="zh-CN" sz="1800" dirty="0"/>
              <a:t>void loop() {</a:t>
            </a:r>
          </a:p>
          <a:p>
            <a:pPr marL="0" indent="0">
              <a:buNone/>
            </a:pPr>
            <a:r>
              <a:rPr lang="en-US" altLang="zh-CN" sz="1800" dirty="0"/>
              <a:t>}</a:t>
            </a:r>
            <a:endParaRPr lang="zh-CN" altLang="en-US" sz="1800" dirty="0"/>
          </a:p>
          <a:p>
            <a:pPr marL="0" indent="0">
              <a:buNone/>
            </a:pPr>
            <a:endParaRPr lang="zh-CN" altLang="en-US" dirty="0"/>
          </a:p>
        </p:txBody>
      </p:sp>
      <p:sp>
        <p:nvSpPr>
          <p:cNvPr id="4" name="文本框 3"/>
          <p:cNvSpPr txBox="1"/>
          <p:nvPr/>
        </p:nvSpPr>
        <p:spPr>
          <a:xfrm>
            <a:off x="685800" y="1981200"/>
            <a:ext cx="2171700" cy="369332"/>
          </a:xfrm>
          <a:prstGeom prst="rect">
            <a:avLst/>
          </a:prstGeom>
          <a:solidFill>
            <a:schemeClr val="bg1">
              <a:lumMod val="85000"/>
            </a:schemeClr>
          </a:solidFill>
        </p:spPr>
        <p:txBody>
          <a:bodyPr wrap="square" rtlCol="0">
            <a:spAutoFit/>
          </a:bodyPr>
          <a:lstStyle/>
          <a:p>
            <a:r>
              <a:rPr lang="zh-CN" altLang="en-US" b="1" dirty="0"/>
              <a:t>新的“</a:t>
            </a:r>
            <a:r>
              <a:rPr lang="en-US" altLang="zh-CN" b="1" dirty="0"/>
              <a:t>Hello, world</a:t>
            </a:r>
            <a:r>
              <a:rPr lang="zh-CN" altLang="en-US" b="1" dirty="0"/>
              <a:t>”</a:t>
            </a:r>
            <a:endParaRPr lang="en-US" altLang="zh-CN" b="1" dirty="0"/>
          </a:p>
        </p:txBody>
      </p:sp>
    </p:spTree>
  </p:cSld>
  <p:clrMapOvr>
    <a:masterClrMapping/>
  </p:clrMapOvr>
  <p:transition>
    <p:cover dir="d"/>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97114" y="217715"/>
            <a:ext cx="7772400" cy="1143000"/>
          </a:xfrm>
        </p:spPr>
        <p:txBody>
          <a:bodyPr/>
          <a:lstStyle/>
          <a:p>
            <a:pPr algn="l"/>
            <a:r>
              <a:rPr lang="zh-CN" altLang="en-US" dirty="0"/>
              <a:t>常用串口通信函数</a:t>
            </a:r>
          </a:p>
        </p:txBody>
      </p:sp>
      <p:sp>
        <p:nvSpPr>
          <p:cNvPr id="3" name="内容占位符 2"/>
          <p:cNvSpPr>
            <a:spLocks noGrp="1"/>
          </p:cNvSpPr>
          <p:nvPr>
            <p:ph idx="1"/>
          </p:nvPr>
        </p:nvSpPr>
        <p:spPr>
          <a:xfrm>
            <a:off x="146756" y="1360715"/>
            <a:ext cx="8997243" cy="5141685"/>
          </a:xfrm>
        </p:spPr>
        <p:txBody>
          <a:bodyPr/>
          <a:lstStyle/>
          <a:p>
            <a:pPr lvl="0"/>
            <a:r>
              <a:rPr lang="en-US" altLang="zh-CN" dirty="0" err="1"/>
              <a:t>Serial.beigin</a:t>
            </a:r>
            <a:r>
              <a:rPr lang="en-US" altLang="zh-CN" dirty="0"/>
              <a:t>()</a:t>
            </a:r>
            <a:endParaRPr lang="zh-CN" altLang="zh-CN" dirty="0"/>
          </a:p>
          <a:p>
            <a:r>
              <a:rPr lang="zh-CN" altLang="zh-CN" dirty="0"/>
              <a:t>函数描述：开启串口，通常置于</a:t>
            </a:r>
            <a:r>
              <a:rPr lang="en-US" altLang="zh-CN" dirty="0"/>
              <a:t>setup()</a:t>
            </a:r>
            <a:r>
              <a:rPr lang="zh-CN" altLang="zh-CN" dirty="0"/>
              <a:t>函数中。</a:t>
            </a:r>
          </a:p>
          <a:p>
            <a:r>
              <a:rPr lang="zh-CN" altLang="zh-CN" dirty="0"/>
              <a:t>原型：</a:t>
            </a:r>
          </a:p>
          <a:p>
            <a:r>
              <a:rPr lang="en-US" altLang="zh-CN" dirty="0"/>
              <a:t># </a:t>
            </a:r>
            <a:r>
              <a:rPr lang="en-US" altLang="zh-CN" dirty="0" err="1"/>
              <a:t>Serial.begin</a:t>
            </a:r>
            <a:r>
              <a:rPr lang="en-US" altLang="zh-CN" dirty="0"/>
              <a:t>(speed);</a:t>
            </a:r>
            <a:endParaRPr lang="zh-CN" altLang="zh-CN" dirty="0"/>
          </a:p>
          <a:p>
            <a:r>
              <a:rPr lang="en-US" altLang="zh-CN" dirty="0"/>
              <a:t># </a:t>
            </a:r>
            <a:r>
              <a:rPr lang="en-US" altLang="zh-CN" dirty="0" err="1"/>
              <a:t>Serial.begin</a:t>
            </a:r>
            <a:r>
              <a:rPr lang="en-US" altLang="zh-CN" dirty="0"/>
              <a:t>(speed, config);</a:t>
            </a:r>
            <a:endParaRPr lang="zh-CN" altLang="zh-CN" dirty="0"/>
          </a:p>
        </p:txBody>
      </p:sp>
    </p:spTree>
  </p:cSld>
  <p:clrMapOvr>
    <a:masterClrMapping/>
  </p:clrMapOvr>
  <p:transition>
    <p:cover dir="d"/>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97114" y="217715"/>
            <a:ext cx="7772400" cy="1143000"/>
          </a:xfrm>
        </p:spPr>
        <p:txBody>
          <a:bodyPr/>
          <a:lstStyle/>
          <a:p>
            <a:pPr algn="l"/>
            <a:r>
              <a:rPr lang="zh-CN" altLang="en-US" dirty="0"/>
              <a:t>常用串口通信函数</a:t>
            </a:r>
          </a:p>
        </p:txBody>
      </p:sp>
      <p:sp>
        <p:nvSpPr>
          <p:cNvPr id="3" name="内容占位符 2"/>
          <p:cNvSpPr>
            <a:spLocks noGrp="1"/>
          </p:cNvSpPr>
          <p:nvPr>
            <p:ph idx="1"/>
          </p:nvPr>
        </p:nvSpPr>
        <p:spPr>
          <a:xfrm>
            <a:off x="146756" y="1360715"/>
            <a:ext cx="8997243" cy="5141685"/>
          </a:xfrm>
        </p:spPr>
        <p:txBody>
          <a:bodyPr/>
          <a:lstStyle/>
          <a:p>
            <a:pPr lvl="0"/>
            <a:r>
              <a:rPr lang="en-US" altLang="zh-CN" dirty="0" err="1"/>
              <a:t>Serial.print</a:t>
            </a:r>
            <a:r>
              <a:rPr lang="en-US" altLang="zh-CN" dirty="0"/>
              <a:t>()</a:t>
            </a:r>
            <a:endParaRPr lang="zh-CN" altLang="zh-CN" dirty="0"/>
          </a:p>
          <a:p>
            <a:r>
              <a:rPr lang="zh-CN" altLang="zh-CN" dirty="0"/>
              <a:t>函数描述：用于串口输出数据，写入字符数据到串口。</a:t>
            </a:r>
          </a:p>
          <a:p>
            <a:r>
              <a:rPr lang="zh-CN" altLang="zh-CN" dirty="0"/>
              <a:t>原型：</a:t>
            </a:r>
          </a:p>
          <a:p>
            <a:r>
              <a:rPr lang="en-US" altLang="zh-CN" dirty="0"/>
              <a:t># </a:t>
            </a:r>
            <a:r>
              <a:rPr lang="en-US" altLang="zh-CN" dirty="0" err="1"/>
              <a:t>Serial.print</a:t>
            </a:r>
            <a:r>
              <a:rPr lang="en-US" altLang="zh-CN" dirty="0"/>
              <a:t>(</a:t>
            </a:r>
            <a:r>
              <a:rPr lang="en-US" altLang="zh-CN" dirty="0" err="1"/>
              <a:t>val</a:t>
            </a:r>
            <a:r>
              <a:rPr lang="en-US" altLang="zh-CN" dirty="0"/>
              <a:t>);</a:t>
            </a:r>
            <a:endParaRPr lang="zh-CN" altLang="zh-CN" dirty="0"/>
          </a:p>
          <a:p>
            <a:r>
              <a:rPr lang="en-US" altLang="zh-CN" dirty="0"/>
              <a:t># </a:t>
            </a:r>
            <a:r>
              <a:rPr lang="en-US" altLang="zh-CN" dirty="0" err="1"/>
              <a:t>Serial.print</a:t>
            </a:r>
            <a:r>
              <a:rPr lang="en-US" altLang="zh-CN" dirty="0"/>
              <a:t>(</a:t>
            </a:r>
            <a:r>
              <a:rPr lang="en-US" altLang="zh-CN" dirty="0" err="1"/>
              <a:t>val</a:t>
            </a:r>
            <a:r>
              <a:rPr lang="en-US" altLang="zh-CN" dirty="0"/>
              <a:t>, format);</a:t>
            </a:r>
          </a:p>
          <a:p>
            <a:r>
              <a:rPr lang="zh-CN" altLang="en-US" dirty="0"/>
              <a:t>例子：</a:t>
            </a:r>
            <a:endParaRPr lang="en-US" altLang="zh-CN" dirty="0"/>
          </a:p>
          <a:p>
            <a:r>
              <a:rPr lang="en-US" altLang="zh-CN" dirty="0"/>
              <a:t># </a:t>
            </a:r>
            <a:r>
              <a:rPr lang="en-US" altLang="zh-CN" dirty="0" err="1"/>
              <a:t>Serial.print</a:t>
            </a:r>
            <a:r>
              <a:rPr lang="en-US" altLang="zh-CN" dirty="0"/>
              <a:t>(78, BIN);		// </a:t>
            </a:r>
            <a:r>
              <a:rPr lang="zh-CN" altLang="zh-CN" dirty="0"/>
              <a:t>输出</a:t>
            </a:r>
            <a:r>
              <a:rPr lang="en-US" altLang="zh-CN" dirty="0"/>
              <a:t>"1001110"</a:t>
            </a:r>
            <a:endParaRPr lang="zh-CN" altLang="zh-CN" dirty="0"/>
          </a:p>
          <a:p>
            <a:r>
              <a:rPr lang="en-US" altLang="zh-CN" dirty="0"/>
              <a:t># </a:t>
            </a:r>
            <a:r>
              <a:rPr lang="en-US" altLang="zh-CN" dirty="0" err="1"/>
              <a:t>Serial.print</a:t>
            </a:r>
            <a:r>
              <a:rPr lang="en-US" altLang="zh-CN" dirty="0"/>
              <a:t>(78, OCT);		// </a:t>
            </a:r>
            <a:r>
              <a:rPr lang="zh-CN" altLang="zh-CN" dirty="0"/>
              <a:t>输出</a:t>
            </a:r>
            <a:r>
              <a:rPr lang="en-US" altLang="zh-CN" dirty="0"/>
              <a:t>"116"</a:t>
            </a:r>
            <a:endParaRPr lang="zh-CN" altLang="zh-CN" dirty="0"/>
          </a:p>
          <a:p>
            <a:endParaRPr lang="zh-CN" altLang="zh-CN" dirty="0"/>
          </a:p>
        </p:txBody>
      </p:sp>
    </p:spTree>
    <p:extLst>
      <p:ext uri="{BB962C8B-B14F-4D97-AF65-F5344CB8AC3E}">
        <p14:creationId xmlns:p14="http://schemas.microsoft.com/office/powerpoint/2010/main" val="788859646"/>
      </p:ext>
    </p:extLst>
  </p:cSld>
  <p:clrMapOvr>
    <a:masterClrMapping/>
  </p:clrMapOvr>
  <p:transition>
    <p:cover dir="d"/>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97114" y="217715"/>
            <a:ext cx="7772400" cy="1143000"/>
          </a:xfrm>
        </p:spPr>
        <p:txBody>
          <a:bodyPr/>
          <a:lstStyle/>
          <a:p>
            <a:pPr algn="l"/>
            <a:r>
              <a:rPr lang="zh-CN" altLang="en-US" dirty="0"/>
              <a:t>常用串口通信函数</a:t>
            </a:r>
          </a:p>
        </p:txBody>
      </p:sp>
      <p:sp>
        <p:nvSpPr>
          <p:cNvPr id="3" name="内容占位符 2"/>
          <p:cNvSpPr>
            <a:spLocks noGrp="1"/>
          </p:cNvSpPr>
          <p:nvPr>
            <p:ph idx="1"/>
          </p:nvPr>
        </p:nvSpPr>
        <p:spPr>
          <a:xfrm>
            <a:off x="146756" y="1360715"/>
            <a:ext cx="8997243" cy="5141685"/>
          </a:xfrm>
        </p:spPr>
        <p:txBody>
          <a:bodyPr/>
          <a:lstStyle/>
          <a:p>
            <a:pPr lvl="0"/>
            <a:r>
              <a:rPr lang="en-US" altLang="zh-CN" dirty="0" err="1"/>
              <a:t>Serial.end</a:t>
            </a:r>
            <a:r>
              <a:rPr lang="en-US" altLang="zh-CN" dirty="0"/>
              <a:t>()</a:t>
            </a:r>
            <a:endParaRPr lang="zh-CN" altLang="zh-CN" dirty="0"/>
          </a:p>
          <a:p>
            <a:r>
              <a:rPr lang="zh-CN" altLang="zh-CN" dirty="0"/>
              <a:t>函数描述：禁止串口传输。此时串口</a:t>
            </a:r>
            <a:r>
              <a:rPr lang="en-US" altLang="zh-CN" dirty="0"/>
              <a:t>Rx</a:t>
            </a:r>
            <a:r>
              <a:rPr lang="zh-CN" altLang="zh-CN" dirty="0"/>
              <a:t>和</a:t>
            </a:r>
            <a:r>
              <a:rPr lang="en-US" altLang="zh-CN" dirty="0"/>
              <a:t>Tx</a:t>
            </a:r>
            <a:r>
              <a:rPr lang="zh-CN" altLang="zh-CN" dirty="0"/>
              <a:t>可以作为数字</a:t>
            </a:r>
            <a:r>
              <a:rPr lang="en-US" altLang="zh-CN" dirty="0"/>
              <a:t>IO</a:t>
            </a:r>
            <a:r>
              <a:rPr lang="zh-CN" altLang="zh-CN" dirty="0"/>
              <a:t>引脚使用。</a:t>
            </a:r>
          </a:p>
          <a:p>
            <a:r>
              <a:rPr lang="zh-CN" altLang="zh-CN" dirty="0"/>
              <a:t>原型：</a:t>
            </a:r>
          </a:p>
          <a:p>
            <a:r>
              <a:rPr lang="en-US" altLang="zh-CN" dirty="0"/>
              <a:t># </a:t>
            </a:r>
            <a:r>
              <a:rPr lang="en-US" altLang="zh-CN" dirty="0" err="1"/>
              <a:t>Serial.end</a:t>
            </a:r>
            <a:r>
              <a:rPr lang="en-US" altLang="zh-CN" dirty="0"/>
              <a:t>();</a:t>
            </a:r>
            <a:endParaRPr lang="zh-CN" altLang="zh-CN" dirty="0"/>
          </a:p>
          <a:p>
            <a:endParaRPr lang="zh-CN" altLang="zh-CN" dirty="0"/>
          </a:p>
        </p:txBody>
      </p:sp>
    </p:spTree>
    <p:extLst>
      <p:ext uri="{BB962C8B-B14F-4D97-AF65-F5344CB8AC3E}">
        <p14:creationId xmlns:p14="http://schemas.microsoft.com/office/powerpoint/2010/main" val="4070901571"/>
      </p:ext>
    </p:extLst>
  </p:cSld>
  <p:clrMapOvr>
    <a:masterClrMapping/>
  </p:clrMapOvr>
  <p:transition>
    <p:cover dir="d"/>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97114" y="217715"/>
            <a:ext cx="7772400" cy="1143000"/>
          </a:xfrm>
        </p:spPr>
        <p:txBody>
          <a:bodyPr/>
          <a:lstStyle/>
          <a:p>
            <a:pPr algn="l"/>
            <a:r>
              <a:rPr lang="zh-CN" altLang="en-US" dirty="0"/>
              <a:t>常用串口通信函数</a:t>
            </a:r>
          </a:p>
        </p:txBody>
      </p:sp>
      <p:sp>
        <p:nvSpPr>
          <p:cNvPr id="3" name="内容占位符 2"/>
          <p:cNvSpPr>
            <a:spLocks noGrp="1"/>
          </p:cNvSpPr>
          <p:nvPr>
            <p:ph idx="1"/>
          </p:nvPr>
        </p:nvSpPr>
        <p:spPr>
          <a:xfrm>
            <a:off x="146756" y="1360715"/>
            <a:ext cx="8997243" cy="5141685"/>
          </a:xfrm>
        </p:spPr>
        <p:txBody>
          <a:bodyPr/>
          <a:lstStyle/>
          <a:p>
            <a:pPr lvl="0"/>
            <a:r>
              <a:rPr lang="en-US" altLang="zh-CN" dirty="0" err="1"/>
              <a:t>Serial.available</a:t>
            </a:r>
            <a:r>
              <a:rPr lang="en-US" altLang="zh-CN" dirty="0"/>
              <a:t>()</a:t>
            </a:r>
            <a:endParaRPr lang="zh-CN" altLang="zh-CN" dirty="0"/>
          </a:p>
          <a:p>
            <a:r>
              <a:rPr lang="zh-CN" altLang="zh-CN" dirty="0"/>
              <a:t>函数描述：用于判断串口缓冲区的状态，返回从串口缓冲区读取的字节数。注意使用时通常用</a:t>
            </a:r>
            <a:r>
              <a:rPr lang="en-US" altLang="zh-CN" dirty="0"/>
              <a:t>delay(100)</a:t>
            </a:r>
            <a:r>
              <a:rPr lang="zh-CN" altLang="zh-CN" dirty="0"/>
              <a:t>以保证串口字符接收完毕，即保证</a:t>
            </a:r>
            <a:r>
              <a:rPr lang="en-US" altLang="zh-CN" dirty="0" err="1"/>
              <a:t>Serial.available</a:t>
            </a:r>
            <a:r>
              <a:rPr lang="en-US" altLang="zh-CN" dirty="0"/>
              <a:t>()</a:t>
            </a:r>
            <a:r>
              <a:rPr lang="zh-CN" altLang="zh-CN" dirty="0"/>
              <a:t>返回的是缓冲区准确的可读字节数。</a:t>
            </a:r>
          </a:p>
          <a:p>
            <a:r>
              <a:rPr lang="zh-CN" altLang="zh-CN" dirty="0"/>
              <a:t>原型：</a:t>
            </a:r>
          </a:p>
          <a:p>
            <a:r>
              <a:rPr lang="en-US" altLang="zh-CN" dirty="0"/>
              <a:t># </a:t>
            </a:r>
            <a:r>
              <a:rPr lang="en-US" altLang="zh-CN" dirty="0" err="1"/>
              <a:t>Serial.available</a:t>
            </a:r>
            <a:r>
              <a:rPr lang="en-US" altLang="zh-CN" dirty="0"/>
              <a:t>();</a:t>
            </a:r>
            <a:endParaRPr lang="zh-CN" altLang="zh-CN" dirty="0"/>
          </a:p>
          <a:p>
            <a:endParaRPr lang="zh-CN" altLang="zh-CN" dirty="0"/>
          </a:p>
        </p:txBody>
      </p:sp>
    </p:spTree>
    <p:extLst>
      <p:ext uri="{BB962C8B-B14F-4D97-AF65-F5344CB8AC3E}">
        <p14:creationId xmlns:p14="http://schemas.microsoft.com/office/powerpoint/2010/main" val="1112664826"/>
      </p:ext>
    </p:extLst>
  </p:cSld>
  <p:clrMapOvr>
    <a:masterClrMapping/>
  </p:clrMapOvr>
  <p:transition>
    <p:cover dir="d"/>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97114" y="217715"/>
            <a:ext cx="7772400" cy="1143000"/>
          </a:xfrm>
        </p:spPr>
        <p:txBody>
          <a:bodyPr/>
          <a:lstStyle/>
          <a:p>
            <a:pPr algn="l"/>
            <a:r>
              <a:rPr lang="zh-CN" altLang="en-US" dirty="0"/>
              <a:t>常用串口通信函数</a:t>
            </a:r>
          </a:p>
        </p:txBody>
      </p:sp>
      <p:sp>
        <p:nvSpPr>
          <p:cNvPr id="3" name="内容占位符 2"/>
          <p:cNvSpPr>
            <a:spLocks noGrp="1"/>
          </p:cNvSpPr>
          <p:nvPr>
            <p:ph idx="1"/>
          </p:nvPr>
        </p:nvSpPr>
        <p:spPr>
          <a:xfrm>
            <a:off x="146756" y="1360715"/>
            <a:ext cx="8997243" cy="5141685"/>
          </a:xfrm>
        </p:spPr>
        <p:txBody>
          <a:bodyPr/>
          <a:lstStyle/>
          <a:p>
            <a:pPr lvl="0"/>
            <a:r>
              <a:rPr lang="en-US" altLang="zh-CN" dirty="0" err="1"/>
              <a:t>Serial.read</a:t>
            </a:r>
            <a:r>
              <a:rPr lang="en-US" altLang="zh-CN" dirty="0"/>
              <a:t>()</a:t>
            </a:r>
            <a:endParaRPr lang="zh-CN" altLang="zh-CN" dirty="0"/>
          </a:p>
          <a:p>
            <a:r>
              <a:rPr lang="zh-CN" altLang="zh-CN" dirty="0"/>
              <a:t>函数描述：用于读取串口数据，一次读一个字符，读完后删除已读数据。</a:t>
            </a:r>
          </a:p>
          <a:p>
            <a:r>
              <a:rPr lang="zh-CN" altLang="zh-CN" dirty="0"/>
              <a:t>原型：</a:t>
            </a:r>
          </a:p>
          <a:p>
            <a:r>
              <a:rPr lang="en-US" altLang="zh-CN" dirty="0"/>
              <a:t># </a:t>
            </a:r>
            <a:r>
              <a:rPr lang="en-US" altLang="zh-CN" dirty="0" err="1"/>
              <a:t>Serial.read</a:t>
            </a:r>
            <a:r>
              <a:rPr lang="en-US" altLang="zh-CN" dirty="0"/>
              <a:t>();</a:t>
            </a:r>
            <a:endParaRPr lang="zh-CN" altLang="zh-CN" dirty="0"/>
          </a:p>
          <a:p>
            <a:endParaRPr lang="zh-CN" altLang="zh-CN" dirty="0"/>
          </a:p>
        </p:txBody>
      </p:sp>
    </p:spTree>
    <p:extLst>
      <p:ext uri="{BB962C8B-B14F-4D97-AF65-F5344CB8AC3E}">
        <p14:creationId xmlns:p14="http://schemas.microsoft.com/office/powerpoint/2010/main" val="3194370158"/>
      </p:ext>
    </p:extLst>
  </p:cSld>
  <p:clrMapOvr>
    <a:masterClrMapping/>
  </p:clrMapOvr>
  <p:transition>
    <p:cover dir="d"/>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97114" y="217715"/>
            <a:ext cx="7772400" cy="1143000"/>
          </a:xfrm>
        </p:spPr>
        <p:txBody>
          <a:bodyPr/>
          <a:lstStyle/>
          <a:p>
            <a:pPr algn="l"/>
            <a:r>
              <a:rPr lang="zh-CN" altLang="en-US" dirty="0"/>
              <a:t>常用串口通信函数</a:t>
            </a:r>
          </a:p>
        </p:txBody>
      </p:sp>
      <p:sp>
        <p:nvSpPr>
          <p:cNvPr id="3" name="内容占位符 2"/>
          <p:cNvSpPr>
            <a:spLocks noGrp="1"/>
          </p:cNvSpPr>
          <p:nvPr>
            <p:ph idx="1"/>
          </p:nvPr>
        </p:nvSpPr>
        <p:spPr>
          <a:xfrm>
            <a:off x="146756" y="1360715"/>
            <a:ext cx="8997243" cy="5141685"/>
          </a:xfrm>
        </p:spPr>
        <p:txBody>
          <a:bodyPr/>
          <a:lstStyle/>
          <a:p>
            <a:pPr lvl="0"/>
            <a:r>
              <a:rPr lang="zh-CN" altLang="en-US" dirty="0"/>
              <a:t>例子：</a:t>
            </a:r>
            <a:endParaRPr lang="en-US" altLang="zh-CN" dirty="0"/>
          </a:p>
          <a:p>
            <a:r>
              <a:rPr lang="en-US" altLang="zh-CN" dirty="0"/>
              <a:t># void setup() {</a:t>
            </a:r>
            <a:endParaRPr lang="zh-CN" altLang="zh-CN" dirty="0"/>
          </a:p>
          <a:p>
            <a:r>
              <a:rPr lang="en-US" altLang="zh-CN" dirty="0"/>
              <a:t>#   </a:t>
            </a:r>
            <a:r>
              <a:rPr lang="en-US" altLang="zh-CN" dirty="0" err="1"/>
              <a:t>Serial.begin</a:t>
            </a:r>
            <a:r>
              <a:rPr lang="en-US" altLang="zh-CN" dirty="0"/>
              <a:t>(9600);</a:t>
            </a:r>
            <a:endParaRPr lang="zh-CN" altLang="zh-CN" dirty="0"/>
          </a:p>
          <a:p>
            <a:r>
              <a:rPr lang="en-US" altLang="zh-CN" dirty="0"/>
              <a:t>#   while(</a:t>
            </a:r>
            <a:r>
              <a:rPr lang="en-US" altLang="zh-CN" dirty="0" err="1"/>
              <a:t>Serial.read</a:t>
            </a:r>
            <a:r>
              <a:rPr lang="en-US" altLang="zh-CN" dirty="0"/>
              <a:t>()&gt;= 0){}	// </a:t>
            </a:r>
            <a:r>
              <a:rPr lang="zh-CN" altLang="zh-CN" dirty="0"/>
              <a:t>清空串口缓存</a:t>
            </a:r>
          </a:p>
          <a:p>
            <a:r>
              <a:rPr lang="en-US" altLang="zh-CN" dirty="0"/>
              <a:t># } </a:t>
            </a:r>
            <a:endParaRPr lang="zh-CN" altLang="zh-CN" dirty="0"/>
          </a:p>
          <a:p>
            <a:pPr lvl="0"/>
            <a:endParaRPr lang="zh-CN" altLang="zh-CN" dirty="0"/>
          </a:p>
        </p:txBody>
      </p:sp>
    </p:spTree>
    <p:extLst>
      <p:ext uri="{BB962C8B-B14F-4D97-AF65-F5344CB8AC3E}">
        <p14:creationId xmlns:p14="http://schemas.microsoft.com/office/powerpoint/2010/main" val="653903250"/>
      </p:ext>
    </p:extLst>
  </p:cSld>
  <p:clrMapOvr>
    <a:masterClrMapping/>
  </p:clrMapOvr>
  <p:transition>
    <p:cover dir="d"/>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97114" y="217715"/>
            <a:ext cx="7772400" cy="1143000"/>
          </a:xfrm>
        </p:spPr>
        <p:txBody>
          <a:bodyPr/>
          <a:lstStyle/>
          <a:p>
            <a:pPr algn="l"/>
            <a:r>
              <a:rPr lang="zh-CN" altLang="en-US" dirty="0"/>
              <a:t>常用串口通信函数</a:t>
            </a:r>
          </a:p>
        </p:txBody>
      </p:sp>
      <p:sp>
        <p:nvSpPr>
          <p:cNvPr id="3" name="内容占位符 2"/>
          <p:cNvSpPr>
            <a:spLocks noGrp="1"/>
          </p:cNvSpPr>
          <p:nvPr>
            <p:ph idx="1"/>
          </p:nvPr>
        </p:nvSpPr>
        <p:spPr>
          <a:xfrm>
            <a:off x="146756" y="1360715"/>
            <a:ext cx="8997243" cy="5141685"/>
          </a:xfrm>
        </p:spPr>
        <p:txBody>
          <a:bodyPr/>
          <a:lstStyle/>
          <a:p>
            <a:pPr lvl="0"/>
            <a:r>
              <a:rPr lang="en-US" altLang="zh-CN" dirty="0" err="1"/>
              <a:t>Serial.peek</a:t>
            </a:r>
            <a:r>
              <a:rPr lang="en-US" altLang="zh-CN" dirty="0"/>
              <a:t>()</a:t>
            </a:r>
            <a:endParaRPr lang="zh-CN" altLang="zh-CN" dirty="0"/>
          </a:p>
          <a:p>
            <a:r>
              <a:rPr lang="zh-CN" altLang="zh-CN" dirty="0"/>
              <a:t>函数描述：读串口缓存中下一字节的数据（字符型），但不从内部缓存中删除该数据。即连续的调用</a:t>
            </a:r>
            <a:r>
              <a:rPr lang="en-US" altLang="zh-CN" dirty="0"/>
              <a:t>peek()</a:t>
            </a:r>
            <a:r>
              <a:rPr lang="zh-CN" altLang="zh-CN" dirty="0"/>
              <a:t>将返回同一个字符。而调用</a:t>
            </a:r>
            <a:r>
              <a:rPr lang="en-US" altLang="zh-CN" dirty="0"/>
              <a:t>read()</a:t>
            </a:r>
            <a:r>
              <a:rPr lang="zh-CN" altLang="zh-CN" dirty="0"/>
              <a:t>则会返回下一个字符。</a:t>
            </a:r>
          </a:p>
          <a:p>
            <a:r>
              <a:rPr lang="zh-CN" altLang="zh-CN" dirty="0"/>
              <a:t>原型：</a:t>
            </a:r>
          </a:p>
          <a:p>
            <a:r>
              <a:rPr lang="en-US" altLang="zh-CN" dirty="0"/>
              <a:t># </a:t>
            </a:r>
            <a:r>
              <a:rPr lang="en-US" altLang="zh-CN" dirty="0" err="1"/>
              <a:t>Serial.peek</a:t>
            </a:r>
            <a:r>
              <a:rPr lang="en-US" altLang="zh-CN" dirty="0"/>
              <a:t>();</a:t>
            </a:r>
            <a:endParaRPr lang="zh-CN" altLang="zh-CN" dirty="0"/>
          </a:p>
          <a:p>
            <a:pPr lvl="0"/>
            <a:endParaRPr lang="zh-CN" altLang="zh-CN" dirty="0"/>
          </a:p>
        </p:txBody>
      </p:sp>
    </p:spTree>
    <p:extLst>
      <p:ext uri="{BB962C8B-B14F-4D97-AF65-F5344CB8AC3E}">
        <p14:creationId xmlns:p14="http://schemas.microsoft.com/office/powerpoint/2010/main" val="805477628"/>
      </p:ext>
    </p:extLst>
  </p:cSld>
  <p:clrMapOvr>
    <a:masterClrMapping/>
  </p:clrMapOvr>
  <p:transition>
    <p:cover dir="d"/>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97114" y="217715"/>
            <a:ext cx="7772400" cy="1143000"/>
          </a:xfrm>
        </p:spPr>
        <p:txBody>
          <a:bodyPr/>
          <a:lstStyle/>
          <a:p>
            <a:pPr algn="l"/>
            <a:r>
              <a:rPr lang="zh-CN" altLang="en-US" dirty="0"/>
              <a:t>常用串口通信函数</a:t>
            </a:r>
          </a:p>
        </p:txBody>
      </p:sp>
      <p:sp>
        <p:nvSpPr>
          <p:cNvPr id="3" name="内容占位符 2"/>
          <p:cNvSpPr>
            <a:spLocks noGrp="1"/>
          </p:cNvSpPr>
          <p:nvPr>
            <p:ph idx="1"/>
          </p:nvPr>
        </p:nvSpPr>
        <p:spPr>
          <a:xfrm>
            <a:off x="146756" y="1360715"/>
            <a:ext cx="8997243" cy="5141685"/>
          </a:xfrm>
        </p:spPr>
        <p:txBody>
          <a:bodyPr/>
          <a:lstStyle/>
          <a:p>
            <a:pPr lvl="0"/>
            <a:r>
              <a:rPr lang="en-US" altLang="zh-CN" dirty="0" err="1"/>
              <a:t>Serial.parseInt</a:t>
            </a:r>
            <a:r>
              <a:rPr lang="en-US" altLang="zh-CN" dirty="0"/>
              <a:t>()</a:t>
            </a:r>
            <a:endParaRPr lang="zh-CN" altLang="zh-CN" dirty="0"/>
          </a:p>
          <a:p>
            <a:r>
              <a:rPr lang="zh-CN" altLang="zh-CN" dirty="0"/>
              <a:t>函数描述：从串口接收数据流中读取第一个有效整数（包括负数）。其中，非数字的首字符或者负号将被跳过；当可配置的超时值没有读到有效字符时，或者读不到有效整数时，分析停止；如果超时且读不到有效整数时，返回</a:t>
            </a:r>
            <a:r>
              <a:rPr lang="en-US" altLang="zh-CN" dirty="0"/>
              <a:t>0</a:t>
            </a:r>
            <a:r>
              <a:rPr lang="zh-CN" altLang="zh-CN" dirty="0"/>
              <a:t>。</a:t>
            </a:r>
          </a:p>
          <a:p>
            <a:r>
              <a:rPr lang="zh-CN" altLang="zh-CN" dirty="0"/>
              <a:t>原型：</a:t>
            </a:r>
          </a:p>
          <a:p>
            <a:r>
              <a:rPr lang="en-US" altLang="zh-CN" dirty="0"/>
              <a:t># </a:t>
            </a:r>
            <a:r>
              <a:rPr lang="en-US" altLang="zh-CN" dirty="0" err="1"/>
              <a:t>Serial.parseInt</a:t>
            </a:r>
            <a:r>
              <a:rPr lang="en-US" altLang="zh-CN" dirty="0"/>
              <a:t>();</a:t>
            </a:r>
            <a:endParaRPr lang="zh-CN" altLang="zh-CN" dirty="0"/>
          </a:p>
          <a:p>
            <a:r>
              <a:rPr lang="en-US" altLang="zh-CN" dirty="0"/>
              <a:t># </a:t>
            </a:r>
            <a:r>
              <a:rPr lang="en-US" altLang="zh-CN" dirty="0" err="1"/>
              <a:t>Serial.parseInt</a:t>
            </a:r>
            <a:r>
              <a:rPr lang="en-US" altLang="zh-CN" dirty="0"/>
              <a:t>(char </a:t>
            </a:r>
            <a:r>
              <a:rPr lang="en-US" altLang="zh-CN" dirty="0" err="1"/>
              <a:t>skipChar</a:t>
            </a:r>
            <a:r>
              <a:rPr lang="en-US" altLang="zh-CN" dirty="0"/>
              <a:t>);</a:t>
            </a:r>
            <a:endParaRPr lang="zh-CN" altLang="zh-CN" dirty="0"/>
          </a:p>
          <a:p>
            <a:pPr lvl="0"/>
            <a:endParaRPr lang="zh-CN" altLang="zh-CN" dirty="0"/>
          </a:p>
        </p:txBody>
      </p:sp>
    </p:spTree>
    <p:extLst>
      <p:ext uri="{BB962C8B-B14F-4D97-AF65-F5344CB8AC3E}">
        <p14:creationId xmlns:p14="http://schemas.microsoft.com/office/powerpoint/2010/main" val="3984259482"/>
      </p:ext>
    </p:extLst>
  </p:cSld>
  <p:clrMapOvr>
    <a:masterClrMapping/>
  </p:clrMapOvr>
  <p:transition>
    <p:cover dir="d"/>
  </p:transition>
</p:sld>
</file>

<file path=ppt/theme/theme1.xml><?xml version="1.0" encoding="utf-8"?>
<a:theme xmlns:a="http://schemas.openxmlformats.org/drawingml/2006/main" name="1_默认设计模板">
  <a:themeElements>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704</TotalTime>
  <Words>3565</Words>
  <Application>Microsoft Macintosh PowerPoint</Application>
  <PresentationFormat>全屏显示(4:3)</PresentationFormat>
  <Paragraphs>277</Paragraphs>
  <Slides>86</Slides>
  <Notes>22</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86</vt:i4>
      </vt:variant>
    </vt:vector>
  </HeadingPairs>
  <TitlesOfParts>
    <vt:vector size="89" baseType="lpstr">
      <vt:lpstr>Calibri</vt:lpstr>
      <vt:lpstr>Times New Roman</vt:lpstr>
      <vt:lpstr>1_默认设计模板</vt:lpstr>
      <vt:lpstr>进入Arduino的世界</vt:lpstr>
      <vt:lpstr>什么是Arduino？</vt:lpstr>
      <vt:lpstr>什么是Arduino？</vt:lpstr>
      <vt:lpstr>什么是Arduino？</vt:lpstr>
      <vt:lpstr>Arduino不只是电路板</vt:lpstr>
      <vt:lpstr>Arduino不只是电路板</vt:lpstr>
      <vt:lpstr>PowerPoint 演示文稿</vt:lpstr>
      <vt:lpstr>PowerPoint 演示文稿</vt:lpstr>
      <vt:lpstr>Arduino不只是电路板</vt:lpstr>
      <vt:lpstr>Arduino不只是电路板</vt:lpstr>
      <vt:lpstr>为什么要使用Arduino？</vt:lpstr>
      <vt:lpstr>为什么要使用Arduino？</vt:lpstr>
      <vt:lpstr>为什么要使用Arduino？</vt:lpstr>
      <vt:lpstr>Arduino未来展望</vt:lpstr>
      <vt:lpstr>创客文化</vt:lpstr>
      <vt:lpstr>创客文化</vt:lpstr>
      <vt:lpstr>什么推动创客文化迅猛发展？</vt:lpstr>
      <vt:lpstr>Arduino与创客文化</vt:lpstr>
      <vt:lpstr>Arduino与创客文化</vt:lpstr>
      <vt:lpstr>PowerPoint 演示文稿</vt:lpstr>
      <vt:lpstr>Arduino快速原型设计</vt:lpstr>
      <vt:lpstr>PowerPoint 演示文稿</vt:lpstr>
      <vt:lpstr>Arduino快速原型设计</vt:lpstr>
      <vt:lpstr>电子爱好者的福音</vt:lpstr>
      <vt:lpstr>Arduino硬件介绍</vt:lpstr>
      <vt:lpstr>常见Arduino型号</vt:lpstr>
      <vt:lpstr>Arduino Duemilanove</vt:lpstr>
      <vt:lpstr>Arduino Uno R3</vt:lpstr>
      <vt:lpstr>Arduino Uno SMD</vt:lpstr>
      <vt:lpstr>Arduino Nano</vt:lpstr>
      <vt:lpstr>Arduino mini</vt:lpstr>
      <vt:lpstr>Arduino Leonardo</vt:lpstr>
      <vt:lpstr>Arduino mega 2560</vt:lpstr>
      <vt:lpstr>Arduino Due</vt:lpstr>
      <vt:lpstr>之前的硬件</vt:lpstr>
      <vt:lpstr>Arduino Serial</vt:lpstr>
      <vt:lpstr>Arduino USB</vt:lpstr>
      <vt:lpstr>Arduino Extreme</vt:lpstr>
      <vt:lpstr>Arduino Nuova Generazine</vt:lpstr>
      <vt:lpstr>Arduino Diecimila</vt:lpstr>
      <vt:lpstr>Arduino Duemilanove</vt:lpstr>
      <vt:lpstr>Arduino Mega 1280</vt:lpstr>
      <vt:lpstr>其他许可产品</vt:lpstr>
      <vt:lpstr>第三方兼容产品</vt:lpstr>
      <vt:lpstr>第三方兼容产品</vt:lpstr>
      <vt:lpstr>Arduino Uno版上硬件</vt:lpstr>
      <vt:lpstr>Arduino Uno的I/O板方框图</vt:lpstr>
      <vt:lpstr>PowerPoint 演示文稿</vt:lpstr>
      <vt:lpstr>处理器</vt:lpstr>
      <vt:lpstr>处理器</vt:lpstr>
      <vt:lpstr>串口用处</vt:lpstr>
      <vt:lpstr>串口调试工具</vt:lpstr>
      <vt:lpstr>串口工作模式</vt:lpstr>
      <vt:lpstr>串口通信原理</vt:lpstr>
      <vt:lpstr>串口通信原理</vt:lpstr>
      <vt:lpstr>串口通信原理</vt:lpstr>
      <vt:lpstr>串口通信原理</vt:lpstr>
      <vt:lpstr>串口通信原理</vt:lpstr>
      <vt:lpstr>电源</vt:lpstr>
      <vt:lpstr>供电方案</vt:lpstr>
      <vt:lpstr>扩展插座</vt:lpstr>
      <vt:lpstr>扩展插座</vt:lpstr>
      <vt:lpstr>盾板</vt:lpstr>
      <vt:lpstr>PowerPoint 演示文稿</vt:lpstr>
      <vt:lpstr>PowerPoint 演示文稿</vt:lpstr>
      <vt:lpstr>PowerPoint 演示文稿</vt:lpstr>
      <vt:lpstr>开始Arduino之旅</vt:lpstr>
      <vt:lpstr>交叉编译</vt:lpstr>
      <vt:lpstr>安装Arduino IDE</vt:lpstr>
      <vt:lpstr>Arduino IDE介绍</vt:lpstr>
      <vt:lpstr>Arduino IDE介绍</vt:lpstr>
      <vt:lpstr>第三方软件</vt:lpstr>
      <vt:lpstr>第三方软件</vt:lpstr>
      <vt:lpstr>Arduino开发</vt:lpstr>
      <vt:lpstr>加载第一个程序</vt:lpstr>
      <vt:lpstr>加载第一个程序</vt:lpstr>
      <vt:lpstr>加载第一个程序</vt:lpstr>
      <vt:lpstr>加载第一个程序</vt:lpstr>
      <vt:lpstr>常用串口通信函数</vt:lpstr>
      <vt:lpstr>常用串口通信函数</vt:lpstr>
      <vt:lpstr>常用串口通信函数</vt:lpstr>
      <vt:lpstr>常用串口通信函数</vt:lpstr>
      <vt:lpstr>常用串口通信函数</vt:lpstr>
      <vt:lpstr>常用串口通信函数</vt:lpstr>
      <vt:lpstr>常用串口通信函数</vt:lpstr>
      <vt:lpstr>常用串口通信函数</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徐贤</dc:creator>
  <cp:lastModifiedBy>张 博华</cp:lastModifiedBy>
  <cp:revision>186</cp:revision>
  <dcterms:created xsi:type="dcterms:W3CDTF">2015-09-22T01:44:00Z</dcterms:created>
  <dcterms:modified xsi:type="dcterms:W3CDTF">2021-10-12T02:11:03Z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2052-11.3.0.9221</vt:lpwstr>
  </property>
</Properties>
</file>