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96"/>
  </p:notesMasterIdLst>
  <p:sldIdLst>
    <p:sldId id="342" r:id="rId3"/>
    <p:sldId id="343" r:id="rId4"/>
    <p:sldId id="344" r:id="rId5"/>
    <p:sldId id="345" r:id="rId6"/>
    <p:sldId id="346" r:id="rId7"/>
    <p:sldId id="347" r:id="rId8"/>
    <p:sldId id="348" r:id="rId9"/>
    <p:sldId id="349" r:id="rId10"/>
    <p:sldId id="363" r:id="rId11"/>
    <p:sldId id="365" r:id="rId12"/>
    <p:sldId id="366" r:id="rId13"/>
    <p:sldId id="367" r:id="rId14"/>
    <p:sldId id="256" r:id="rId15"/>
    <p:sldId id="257" r:id="rId16"/>
    <p:sldId id="260" r:id="rId17"/>
    <p:sldId id="261" r:id="rId18"/>
    <p:sldId id="262" r:id="rId19"/>
    <p:sldId id="265" r:id="rId20"/>
    <p:sldId id="266" r:id="rId21"/>
    <p:sldId id="267"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1"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7" r:id="rId67"/>
    <p:sldId id="319" r:id="rId68"/>
    <p:sldId id="320" r:id="rId69"/>
    <p:sldId id="322" r:id="rId70"/>
    <p:sldId id="323" r:id="rId71"/>
    <p:sldId id="325" r:id="rId72"/>
    <p:sldId id="326" r:id="rId73"/>
    <p:sldId id="336" r:id="rId74"/>
    <p:sldId id="337" r:id="rId75"/>
    <p:sldId id="340" r:id="rId76"/>
    <p:sldId id="341" r:id="rId77"/>
    <p:sldId id="350" r:id="rId78"/>
    <p:sldId id="351" r:id="rId79"/>
    <p:sldId id="362" r:id="rId80"/>
    <p:sldId id="368" r:id="rId81"/>
    <p:sldId id="369" r:id="rId82"/>
    <p:sldId id="371" r:id="rId83"/>
    <p:sldId id="373" r:id="rId84"/>
    <p:sldId id="372" r:id="rId85"/>
    <p:sldId id="331" r:id="rId86"/>
    <p:sldId id="374" r:id="rId87"/>
    <p:sldId id="334" r:id="rId88"/>
    <p:sldId id="355" r:id="rId89"/>
    <p:sldId id="357" r:id="rId90"/>
    <p:sldId id="358" r:id="rId91"/>
    <p:sldId id="359" r:id="rId92"/>
    <p:sldId id="375" r:id="rId93"/>
    <p:sldId id="360" r:id="rId94"/>
    <p:sldId id="361" r:id="rId9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72886" autoAdjust="0"/>
  </p:normalViewPr>
  <p:slideViewPr>
    <p:cSldViewPr snapToGrid="0">
      <p:cViewPr varScale="1">
        <p:scale>
          <a:sx n="100" d="100"/>
          <a:sy n="100" d="100"/>
        </p:scale>
        <p:origin x="1380" y="52"/>
      </p:cViewPr>
      <p:guideLst>
        <p:guide orient="horz" pos="2160"/>
        <p:guide pos="2884"/>
      </p:guideLst>
    </p:cSldViewPr>
  </p:slideViewPr>
  <p:outlineViewPr>
    <p:cViewPr>
      <p:scale>
        <a:sx n="33" d="100"/>
        <a:sy n="33" d="100"/>
      </p:scale>
      <p:origin x="0" y="-8809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61304E-E066-49DC-8A90-C416C6FEE892}" type="datetimeFigureOut">
              <a:rPr lang="zh-CN" altLang="en-US" smtClean="0"/>
              <a:t>2022/9/27</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7118EC-1511-48C7-97BC-40120BB2DF18}"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7118EC-1511-48C7-97BC-40120BB2DF18}" type="slidenum">
              <a:rPr lang="zh-CN" altLang="en-US" smtClean="0"/>
              <a:t>5</a:t>
            </a:fld>
            <a:endParaRPr lang="zh-CN" altLang="en-US"/>
          </a:p>
        </p:txBody>
      </p:sp>
    </p:spTree>
    <p:extLst>
      <p:ext uri="{BB962C8B-B14F-4D97-AF65-F5344CB8AC3E}">
        <p14:creationId xmlns:p14="http://schemas.microsoft.com/office/powerpoint/2010/main" val="14157563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7118EC-1511-48C7-97BC-40120BB2DF18}" type="slidenum">
              <a:rPr lang="zh-CN" altLang="en-US" smtClean="0"/>
              <a:t>6</a:t>
            </a:fld>
            <a:endParaRPr lang="zh-CN" altLang="en-US"/>
          </a:p>
        </p:txBody>
      </p:sp>
    </p:spTree>
    <p:extLst>
      <p:ext uri="{BB962C8B-B14F-4D97-AF65-F5344CB8AC3E}">
        <p14:creationId xmlns:p14="http://schemas.microsoft.com/office/powerpoint/2010/main" val="12124708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7118EC-1511-48C7-97BC-40120BB2DF18}" type="slidenum">
              <a:rPr lang="zh-CN" altLang="en-US" smtClean="0"/>
              <a:t>7</a:t>
            </a:fld>
            <a:endParaRPr lang="zh-CN" altLang="en-US"/>
          </a:p>
        </p:txBody>
      </p:sp>
    </p:spTree>
    <p:extLst>
      <p:ext uri="{BB962C8B-B14F-4D97-AF65-F5344CB8AC3E}">
        <p14:creationId xmlns:p14="http://schemas.microsoft.com/office/powerpoint/2010/main" val="5565044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7118EC-1511-48C7-97BC-40120BB2DF18}" type="slidenum">
              <a:rPr lang="zh-CN" altLang="en-US" smtClean="0"/>
              <a:t>8</a:t>
            </a:fld>
            <a:endParaRPr lang="zh-CN" altLang="en-US"/>
          </a:p>
        </p:txBody>
      </p:sp>
    </p:spTree>
    <p:extLst>
      <p:ext uri="{BB962C8B-B14F-4D97-AF65-F5344CB8AC3E}">
        <p14:creationId xmlns:p14="http://schemas.microsoft.com/office/powerpoint/2010/main" val="38535796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7118EC-1511-48C7-97BC-40120BB2DF18}" type="slidenum">
              <a:rPr lang="zh-CN" altLang="en-US" smtClean="0"/>
              <a:t>9</a:t>
            </a:fld>
            <a:endParaRPr lang="zh-CN" altLang="en-US"/>
          </a:p>
        </p:txBody>
      </p:sp>
    </p:spTree>
    <p:extLst>
      <p:ext uri="{BB962C8B-B14F-4D97-AF65-F5344CB8AC3E}">
        <p14:creationId xmlns:p14="http://schemas.microsoft.com/office/powerpoint/2010/main" val="855982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7118EC-1511-48C7-97BC-40120BB2DF18}" type="slidenum">
              <a:rPr lang="zh-CN" altLang="en-US" smtClean="0"/>
              <a:t>10</a:t>
            </a:fld>
            <a:endParaRPr lang="zh-CN" altLang="en-US"/>
          </a:p>
        </p:txBody>
      </p:sp>
    </p:spTree>
    <p:extLst>
      <p:ext uri="{BB962C8B-B14F-4D97-AF65-F5344CB8AC3E}">
        <p14:creationId xmlns:p14="http://schemas.microsoft.com/office/powerpoint/2010/main" val="33091345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7118EC-1511-48C7-97BC-40120BB2DF18}" type="slidenum">
              <a:rPr lang="zh-CN" altLang="en-US" smtClean="0"/>
              <a:t>11</a:t>
            </a:fld>
            <a:endParaRPr lang="zh-CN" altLang="en-US"/>
          </a:p>
        </p:txBody>
      </p:sp>
    </p:spTree>
    <p:extLst>
      <p:ext uri="{BB962C8B-B14F-4D97-AF65-F5344CB8AC3E}">
        <p14:creationId xmlns:p14="http://schemas.microsoft.com/office/powerpoint/2010/main" val="24174474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7118EC-1511-48C7-97BC-40120BB2DF18}" type="slidenum">
              <a:rPr lang="zh-CN" altLang="en-US" smtClean="0"/>
              <a:t>12</a:t>
            </a:fld>
            <a:endParaRPr lang="zh-CN" altLang="en-US"/>
          </a:p>
        </p:txBody>
      </p:sp>
    </p:spTree>
    <p:extLst>
      <p:ext uri="{BB962C8B-B14F-4D97-AF65-F5344CB8AC3E}">
        <p14:creationId xmlns:p14="http://schemas.microsoft.com/office/powerpoint/2010/main" val="28376796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67118EC-1511-48C7-97BC-40120BB2DF18}" type="slidenum">
              <a:rPr lang="zh-CN" altLang="en-US" smtClean="0"/>
              <a:t>30</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7118EC-1511-48C7-97BC-40120BB2DF18}" type="slidenum">
              <a:rPr lang="zh-CN" altLang="en-US" smtClean="0"/>
              <a:t>73</a:t>
            </a:fld>
            <a:endParaRPr lang="zh-CN" altLang="en-US"/>
          </a:p>
        </p:txBody>
      </p:sp>
    </p:spTree>
    <p:extLst>
      <p:ext uri="{BB962C8B-B14F-4D97-AF65-F5344CB8AC3E}">
        <p14:creationId xmlns:p14="http://schemas.microsoft.com/office/powerpoint/2010/main" val="15756532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7118EC-1511-48C7-97BC-40120BB2DF18}" type="slidenum">
              <a:rPr lang="zh-CN" altLang="en-US" smtClean="0"/>
              <a:t>77</a:t>
            </a:fld>
            <a:endParaRPr lang="zh-CN" altLang="en-US"/>
          </a:p>
        </p:txBody>
      </p:sp>
    </p:spTree>
    <p:extLst>
      <p:ext uri="{BB962C8B-B14F-4D97-AF65-F5344CB8AC3E}">
        <p14:creationId xmlns:p14="http://schemas.microsoft.com/office/powerpoint/2010/main" val="31434048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7118EC-1511-48C7-97BC-40120BB2DF18}" type="slidenum">
              <a:rPr lang="zh-CN" altLang="en-US" smtClean="0"/>
              <a:t>78</a:t>
            </a:fld>
            <a:endParaRPr lang="zh-CN" altLang="en-US"/>
          </a:p>
        </p:txBody>
      </p:sp>
    </p:spTree>
    <p:extLst>
      <p:ext uri="{BB962C8B-B14F-4D97-AF65-F5344CB8AC3E}">
        <p14:creationId xmlns:p14="http://schemas.microsoft.com/office/powerpoint/2010/main" val="4682637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7118EC-1511-48C7-97BC-40120BB2DF18}" type="slidenum">
              <a:rPr lang="zh-CN" altLang="en-US" smtClean="0"/>
              <a:t>79</a:t>
            </a:fld>
            <a:endParaRPr lang="zh-CN" altLang="en-US"/>
          </a:p>
        </p:txBody>
      </p:sp>
    </p:spTree>
    <p:extLst>
      <p:ext uri="{BB962C8B-B14F-4D97-AF65-F5344CB8AC3E}">
        <p14:creationId xmlns:p14="http://schemas.microsoft.com/office/powerpoint/2010/main" val="11524422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7118EC-1511-48C7-97BC-40120BB2DF18}" type="slidenum">
              <a:rPr lang="zh-CN" altLang="en-US" smtClean="0"/>
              <a:t>80</a:t>
            </a:fld>
            <a:endParaRPr lang="zh-CN" altLang="en-US"/>
          </a:p>
        </p:txBody>
      </p:sp>
    </p:spTree>
    <p:extLst>
      <p:ext uri="{BB962C8B-B14F-4D97-AF65-F5344CB8AC3E}">
        <p14:creationId xmlns:p14="http://schemas.microsoft.com/office/powerpoint/2010/main" val="40413370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7118EC-1511-48C7-97BC-40120BB2DF18}" type="slidenum">
              <a:rPr lang="zh-CN" altLang="en-US" smtClean="0"/>
              <a:t>83</a:t>
            </a:fld>
            <a:endParaRPr lang="zh-CN" altLang="en-US"/>
          </a:p>
        </p:txBody>
      </p:sp>
    </p:spTree>
    <p:extLst>
      <p:ext uri="{BB962C8B-B14F-4D97-AF65-F5344CB8AC3E}">
        <p14:creationId xmlns:p14="http://schemas.microsoft.com/office/powerpoint/2010/main" val="20700045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0A874CA-4C8F-451B-884A-165441E778B4}"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0A874CA-4C8F-451B-884A-165441E778B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0A874CA-4C8F-451B-884A-165441E778B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71487" y="1825625"/>
            <a:ext cx="2900363"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3486150" y="1825625"/>
            <a:ext cx="2900363"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0A874CA-4C8F-451B-884A-165441E778B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0A874CA-4C8F-451B-884A-165441E778B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0A874CA-4C8F-451B-884A-165441E778B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0A874CA-4C8F-451B-884A-165441E778B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0A874CA-4C8F-451B-884A-165441E778B4}"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0A874CA-4C8F-451B-884A-165441E778B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0A874CA-4C8F-451B-884A-165441E778B4}"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4907757" y="365125"/>
            <a:ext cx="1478756"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71488" y="365125"/>
            <a:ext cx="4321969"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0A874CA-4C8F-451B-884A-165441E778B4}"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7"/>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178C1384-3686-45C4-9274-264A95345C91}" type="slidenum">
              <a:rPr lang="en-US" altLang="zh-CN"/>
              <a:t>‹#›</a:t>
            </a:fld>
            <a:endParaRPr lang="en-US" altLang="zh-CN"/>
          </a:p>
        </p:txBody>
      </p:sp>
    </p:spTree>
  </p:cSld>
  <p:clrMapOvr>
    <a:masterClrMapping/>
  </p:clrMapOvr>
  <p:transition>
    <p:cover di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2C687883-A9F8-4324-BFDB-FCCC5C558AE8}" type="slidenum">
              <a:rPr lang="en-US" altLang="zh-CN"/>
              <a:t>‹#›</a:t>
            </a:fld>
            <a:endParaRPr lang="en-US" altLang="zh-CN"/>
          </a:p>
        </p:txBody>
      </p:sp>
    </p:spTree>
  </p:cSld>
  <p:clrMapOvr>
    <a:masterClrMapping/>
  </p:clrMapOvr>
  <p:transition>
    <p:cover dir="d"/>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2"/>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424A2B26-0FA3-473F-9174-F6D9E481BFA1}" type="slidenum">
              <a:rPr lang="en-US" altLang="zh-CN"/>
              <a:t>‹#›</a:t>
            </a:fld>
            <a:endParaRPr lang="en-US" altLang="zh-CN"/>
          </a:p>
        </p:txBody>
      </p:sp>
    </p:spTree>
  </p:cSld>
  <p:clrMapOvr>
    <a:masterClrMapping/>
  </p:clrMapOvr>
  <p:transition>
    <p:cover dir="d"/>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A0A41B2E-0564-49C7-AE47-7DBB17967741}" type="slidenum">
              <a:rPr lang="en-US" altLang="zh-CN"/>
              <a:t>‹#›</a:t>
            </a:fld>
            <a:endParaRPr lang="en-US" altLang="zh-CN"/>
          </a:p>
        </p:txBody>
      </p:sp>
    </p:spTree>
  </p:cSld>
  <p:clrMapOvr>
    <a:masterClrMapping/>
  </p:clrMapOvr>
  <p:transition>
    <p:cover dir="d"/>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0231B4C8-FC89-42E9-B91A-70FC8438C555}" type="slidenum">
              <a:rPr lang="en-US" altLang="zh-CN"/>
              <a:t>‹#›</a:t>
            </a:fld>
            <a:endParaRPr lang="en-US" altLang="zh-CN"/>
          </a:p>
        </p:txBody>
      </p:sp>
    </p:spTree>
  </p:cSld>
  <p:clrMapOvr>
    <a:masterClrMapping/>
  </p:clrMapOvr>
  <p:transition>
    <p:cover dir="d"/>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9E0CDD31-6EDA-4B63-885E-0EE493EA4FC2}" type="slidenum">
              <a:rPr lang="en-US" altLang="zh-CN"/>
              <a:t>‹#›</a:t>
            </a:fld>
            <a:endParaRPr lang="en-US" altLang="zh-CN"/>
          </a:p>
        </p:txBody>
      </p:sp>
    </p:spTree>
  </p:cSld>
  <p:clrMapOvr>
    <a:masterClrMapping/>
  </p:clrMapOvr>
  <p:transition>
    <p:cover dir="d"/>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9B8D6B41-AAF5-4D7C-9630-46E39E52E699}" type="slidenum">
              <a:rPr lang="en-US" altLang="zh-CN"/>
              <a:t>‹#›</a:t>
            </a:fld>
            <a:endParaRPr lang="en-US" altLang="zh-CN"/>
          </a:p>
        </p:txBody>
      </p:sp>
    </p:spTree>
  </p:cSld>
  <p:clrMapOvr>
    <a:masterClrMapping/>
  </p:clrMapOvr>
  <p:transition>
    <p:cover dir="d"/>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5AEBD598-5F9C-4349-AEB3-E05F3179A862}" type="slidenum">
              <a:rPr lang="en-US" altLang="zh-CN"/>
              <a:t>‹#›</a:t>
            </a:fld>
            <a:endParaRPr lang="en-US" altLang="zh-CN"/>
          </a:p>
        </p:txBody>
      </p:sp>
    </p:spTree>
  </p:cSld>
  <p:clrMapOvr>
    <a:masterClrMapping/>
  </p:clrMapOvr>
  <p:transition>
    <p:cover dir="d"/>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CA05A86F-E4C4-4AE8-BCC7-46675975EFC1}" type="slidenum">
              <a:rPr lang="en-US" altLang="zh-CN"/>
              <a:t>‹#›</a:t>
            </a:fld>
            <a:endParaRPr lang="en-US" altLang="zh-CN"/>
          </a:p>
        </p:txBody>
      </p:sp>
    </p:spTree>
  </p:cSld>
  <p:clrMapOvr>
    <a:masterClrMapping/>
  </p:clrMapOvr>
  <p:transition>
    <p:cover dir="d"/>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5E4AA024-4BD4-4C3E-9782-94B9F836E446}" type="slidenum">
              <a:rPr lang="en-US" altLang="zh-CN"/>
              <a:t>‹#›</a:t>
            </a:fld>
            <a:endParaRPr lang="en-US" altLang="zh-CN"/>
          </a:p>
        </p:txBody>
      </p:sp>
    </p:spTree>
  </p:cSld>
  <p:clrMapOvr>
    <a:masterClrMapping/>
  </p:clrMapOvr>
  <p:transition>
    <p:cover dir="d"/>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7A23B651-01C7-4ACB-A684-85A55AD844EF}" type="slidenum">
              <a:rPr lang="en-US" altLang="zh-CN"/>
              <a:t>‹#›</a:t>
            </a:fld>
            <a:endParaRPr lang="en-US" altLang="zh-CN"/>
          </a:p>
        </p:txBody>
      </p:sp>
    </p:spTree>
  </p:cSld>
  <p:clrMapOvr>
    <a:masterClrMapping/>
  </p:clrMapOvr>
  <p:transition>
    <p:cover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A874CA-4C8F-451B-884A-165441E778B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p>
        </p:txBody>
      </p:sp>
      <p:sp>
        <p:nvSpPr>
          <p:cNvPr id="2051"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400">
                <a:solidFill>
                  <a:srgbClr val="000000"/>
                </a:solidFill>
                <a:effectLst/>
                <a:ea typeface="+mn-ea"/>
              </a:defRPr>
            </a:lvl1pPr>
          </a:lstStyle>
          <a:p>
            <a:pPr fontAlgn="base">
              <a:spcBef>
                <a:spcPct val="0"/>
              </a:spcBef>
              <a:spcAft>
                <a:spcPct val="0"/>
              </a:spcAft>
              <a:defRPr/>
            </a:pPr>
            <a:endParaRPr kumimoji="1"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400">
                <a:solidFill>
                  <a:srgbClr val="000000"/>
                </a:solidFill>
                <a:effectLst/>
                <a:ea typeface="+mn-ea"/>
              </a:defRPr>
            </a:lvl1pPr>
          </a:lstStyle>
          <a:p>
            <a:pPr fontAlgn="base">
              <a:spcBef>
                <a:spcPct val="0"/>
              </a:spcBef>
              <a:spcAft>
                <a:spcPct val="0"/>
              </a:spcAft>
              <a:defRPr/>
            </a:pPr>
            <a:endParaRPr kumimoji="1"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400">
                <a:solidFill>
                  <a:srgbClr val="000000"/>
                </a:solidFill>
                <a:effectLst/>
                <a:ea typeface="宋体" panose="02010600030101010101" pitchFamily="2" charset="-122"/>
              </a:defRPr>
            </a:lvl1pPr>
          </a:lstStyle>
          <a:p>
            <a:pPr fontAlgn="base">
              <a:spcBef>
                <a:spcPct val="0"/>
              </a:spcBef>
              <a:spcAft>
                <a:spcPct val="0"/>
              </a:spcAft>
              <a:defRPr/>
            </a:pPr>
            <a:fld id="{913CEB95-6C5A-49F2-94B7-1C2B9AE0D82E}" type="slidenum">
              <a:rPr kumimoji="1" lang="en-US" altLang="zh-CN"/>
              <a:t>‹#›</a:t>
            </a:fld>
            <a:endParaRPr kumimoji="1" lang="en-US" altLang="zh-C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cover dir="d"/>
  </p:transition>
  <p:hf hdr="0" ftr="0" dt="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code.visualstudio.com/" TargetMode="Externa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2" Type="http://schemas.openxmlformats.org/officeDocument/2006/relationships/hyperlink" Target="http://arduino.esp8266.com/stable/package_esp8266com_index.json" TargetMode="External"/><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20.png"/></Relationships>
</file>

<file path=ppt/slides/_rels/slide8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3" Type="http://schemas.openxmlformats.org/officeDocument/2006/relationships/hyperlink" Target="mailto:&#19979;&#27425;&#35838;&#21069;&#21457;&#36865;&#21040;&#37038;&#31665;qiushitong@buaa.edu.cn" TargetMode="External"/><Relationship Id="rId2" Type="http://schemas.openxmlformats.org/officeDocument/2006/relationships/hyperlink" Target="http://www.taichi-maker.com/homepage/iot-development/iot-dev-reference/esp8266-c-plus-plus-reference/" TargetMode="External"/><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err="1"/>
              <a:t>PlatformIO</a:t>
            </a:r>
            <a:r>
              <a:rPr lang="zh-CN" altLang="en-US" dirty="0"/>
              <a:t>安装使用</a:t>
            </a:r>
          </a:p>
        </p:txBody>
      </p:sp>
      <p:sp>
        <p:nvSpPr>
          <p:cNvPr id="3" name="内容占位符 2"/>
          <p:cNvSpPr>
            <a:spLocks noGrp="1"/>
          </p:cNvSpPr>
          <p:nvPr>
            <p:ph idx="1"/>
          </p:nvPr>
        </p:nvSpPr>
        <p:spPr>
          <a:xfrm>
            <a:off x="685800" y="1981200"/>
            <a:ext cx="3886200" cy="4114800"/>
          </a:xfrm>
        </p:spPr>
        <p:txBody>
          <a:bodyPr/>
          <a:lstStyle/>
          <a:p>
            <a:pPr marL="514350" indent="-514350">
              <a:buAutoNum type="arabicPeriod"/>
            </a:pPr>
            <a:r>
              <a:rPr lang="zh-CN" altLang="en-US" dirty="0"/>
              <a:t>下载</a:t>
            </a:r>
            <a:r>
              <a:rPr lang="en-US" altLang="zh-CN" dirty="0" err="1"/>
              <a:t>vscode</a:t>
            </a:r>
            <a:r>
              <a:rPr lang="zh-CN" altLang="en-US" dirty="0"/>
              <a:t>，</a:t>
            </a:r>
            <a:endParaRPr lang="en-US" altLang="zh-CN" dirty="0"/>
          </a:p>
          <a:p>
            <a:pPr marL="0" indent="0">
              <a:buNone/>
            </a:pPr>
            <a:r>
              <a:rPr lang="zh-CN" altLang="en-US" dirty="0"/>
              <a:t>网址：</a:t>
            </a:r>
            <a:r>
              <a:rPr lang="en-US" altLang="zh-CN" dirty="0">
                <a:hlinkClick r:id="rId2"/>
              </a:rPr>
              <a:t>https://code.visualstudio.com/</a:t>
            </a:r>
            <a:endParaRPr lang="en-US" altLang="zh-CN" dirty="0"/>
          </a:p>
        </p:txBody>
      </p:sp>
      <p:sp>
        <p:nvSpPr>
          <p:cNvPr id="4" name="灯片编号占位符 3">
            <a:extLst>
              <a:ext uri="{FF2B5EF4-FFF2-40B4-BE49-F238E27FC236}">
                <a16:creationId xmlns:a16="http://schemas.microsoft.com/office/drawing/2014/main" id="{3095DC81-359E-813B-830A-F022DEF3D938}"/>
              </a:ext>
            </a:extLst>
          </p:cNvPr>
          <p:cNvSpPr>
            <a:spLocks noGrp="1"/>
          </p:cNvSpPr>
          <p:nvPr>
            <p:ph type="sldNum" sz="quarter" idx="12"/>
          </p:nvPr>
        </p:nvSpPr>
        <p:spPr/>
        <p:txBody>
          <a:bodyPr/>
          <a:lstStyle/>
          <a:p>
            <a:pPr>
              <a:defRPr/>
            </a:pPr>
            <a:fld id="{2C687883-A9F8-4324-BFDB-FCCC5C558AE8}" type="slidenum">
              <a:rPr lang="en-US" altLang="zh-CN" smtClean="0"/>
              <a:t>1</a:t>
            </a:fld>
            <a:endParaRPr lang="en-US" altLang="zh-CN"/>
          </a:p>
        </p:txBody>
      </p:sp>
      <p:pic>
        <p:nvPicPr>
          <p:cNvPr id="10" name="图片 9">
            <a:extLst>
              <a:ext uri="{FF2B5EF4-FFF2-40B4-BE49-F238E27FC236}">
                <a16:creationId xmlns:a16="http://schemas.microsoft.com/office/drawing/2014/main" id="{B66B3026-C633-9C3D-D456-7BCFC916E170}"/>
              </a:ext>
            </a:extLst>
          </p:cNvPr>
          <p:cNvPicPr>
            <a:picLocks noChangeAspect="1"/>
          </p:cNvPicPr>
          <p:nvPr/>
        </p:nvPicPr>
        <p:blipFill>
          <a:blip r:embed="rId3"/>
          <a:stretch>
            <a:fillRect/>
          </a:stretch>
        </p:blipFill>
        <p:spPr>
          <a:xfrm>
            <a:off x="5253446" y="1848393"/>
            <a:ext cx="3213463" cy="3867395"/>
          </a:xfrm>
          <a:prstGeom prst="rect">
            <a:avLst/>
          </a:prstGeom>
        </p:spPr>
      </p:pic>
    </p:spTree>
    <p:extLst>
      <p:ext uri="{BB962C8B-B14F-4D97-AF65-F5344CB8AC3E}">
        <p14:creationId xmlns:p14="http://schemas.microsoft.com/office/powerpoint/2010/main" val="1683496504"/>
      </p:ext>
    </p:extLst>
  </p:cSld>
  <p:clrMapOvr>
    <a:masterClrMapping/>
  </p:clrMapOvr>
  <p:transition>
    <p:cover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err="1"/>
              <a:t>PlatformIO</a:t>
            </a:r>
            <a:r>
              <a:rPr lang="zh-CN" altLang="en-US" dirty="0"/>
              <a:t>安装使用</a:t>
            </a:r>
          </a:p>
        </p:txBody>
      </p:sp>
      <p:sp>
        <p:nvSpPr>
          <p:cNvPr id="3" name="内容占位符 2"/>
          <p:cNvSpPr>
            <a:spLocks noGrp="1"/>
          </p:cNvSpPr>
          <p:nvPr>
            <p:ph idx="1"/>
          </p:nvPr>
        </p:nvSpPr>
        <p:spPr>
          <a:xfrm>
            <a:off x="685800" y="1981200"/>
            <a:ext cx="4460966" cy="4114800"/>
          </a:xfrm>
        </p:spPr>
        <p:txBody>
          <a:bodyPr/>
          <a:lstStyle/>
          <a:p>
            <a:pPr marL="0" indent="0">
              <a:buNone/>
            </a:pPr>
            <a:r>
              <a:rPr lang="en-US" altLang="zh-CN" dirty="0"/>
              <a:t>2. </a:t>
            </a:r>
            <a:r>
              <a:rPr lang="zh-CN" altLang="en-US" dirty="0"/>
              <a:t>在扩展商店中安装</a:t>
            </a:r>
            <a:r>
              <a:rPr lang="en-US" altLang="zh-CN" dirty="0" err="1"/>
              <a:t>PlateformIO</a:t>
            </a:r>
            <a:endParaRPr lang="zh-CN" altLang="en-US" dirty="0"/>
          </a:p>
        </p:txBody>
      </p:sp>
      <p:sp>
        <p:nvSpPr>
          <p:cNvPr id="4" name="灯片编号占位符 3">
            <a:extLst>
              <a:ext uri="{FF2B5EF4-FFF2-40B4-BE49-F238E27FC236}">
                <a16:creationId xmlns:a16="http://schemas.microsoft.com/office/drawing/2014/main" id="{3095DC81-359E-813B-830A-F022DEF3D938}"/>
              </a:ext>
            </a:extLst>
          </p:cNvPr>
          <p:cNvSpPr>
            <a:spLocks noGrp="1"/>
          </p:cNvSpPr>
          <p:nvPr>
            <p:ph type="sldNum" sz="quarter" idx="12"/>
          </p:nvPr>
        </p:nvSpPr>
        <p:spPr/>
        <p:txBody>
          <a:bodyPr/>
          <a:lstStyle/>
          <a:p>
            <a:pPr>
              <a:defRPr/>
            </a:pPr>
            <a:fld id="{2C687883-A9F8-4324-BFDB-FCCC5C558AE8}" type="slidenum">
              <a:rPr lang="en-US" altLang="zh-CN" smtClean="0"/>
              <a:t>2</a:t>
            </a:fld>
            <a:endParaRPr lang="en-US" altLang="zh-CN"/>
          </a:p>
        </p:txBody>
      </p:sp>
      <p:pic>
        <p:nvPicPr>
          <p:cNvPr id="6" name="图片 5">
            <a:extLst>
              <a:ext uri="{FF2B5EF4-FFF2-40B4-BE49-F238E27FC236}">
                <a16:creationId xmlns:a16="http://schemas.microsoft.com/office/drawing/2014/main" id="{0D2AC694-6E14-BEB8-624E-AA2139E0CB95}"/>
              </a:ext>
            </a:extLst>
          </p:cNvPr>
          <p:cNvPicPr>
            <a:picLocks noChangeAspect="1"/>
          </p:cNvPicPr>
          <p:nvPr/>
        </p:nvPicPr>
        <p:blipFill rotWithShape="1">
          <a:blip r:embed="rId2"/>
          <a:srcRect b="40000"/>
          <a:stretch/>
        </p:blipFill>
        <p:spPr>
          <a:xfrm>
            <a:off x="5419631" y="1752600"/>
            <a:ext cx="3038569" cy="4114800"/>
          </a:xfrm>
          <a:prstGeom prst="rect">
            <a:avLst/>
          </a:prstGeom>
        </p:spPr>
      </p:pic>
      <p:sp>
        <p:nvSpPr>
          <p:cNvPr id="7" name="矩形 6">
            <a:extLst>
              <a:ext uri="{FF2B5EF4-FFF2-40B4-BE49-F238E27FC236}">
                <a16:creationId xmlns:a16="http://schemas.microsoft.com/office/drawing/2014/main" id="{95B481F1-4CB8-C415-428E-F72926F8EC73}"/>
              </a:ext>
            </a:extLst>
          </p:cNvPr>
          <p:cNvSpPr/>
          <p:nvPr/>
        </p:nvSpPr>
        <p:spPr bwMode="auto">
          <a:xfrm>
            <a:off x="6048103" y="3095897"/>
            <a:ext cx="2410097" cy="836023"/>
          </a:xfrm>
          <a:prstGeom prst="rect">
            <a:avLst/>
          </a:prstGeom>
          <a:noFill/>
          <a:ln>
            <a:solidFill>
              <a:srgbClr val="FF0000"/>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p:txBody>
      </p:sp>
      <p:sp>
        <p:nvSpPr>
          <p:cNvPr id="8" name="矩形 7">
            <a:extLst>
              <a:ext uri="{FF2B5EF4-FFF2-40B4-BE49-F238E27FC236}">
                <a16:creationId xmlns:a16="http://schemas.microsoft.com/office/drawing/2014/main" id="{13696CCB-C490-1389-E2AB-10BF2AE1BBB3}"/>
              </a:ext>
            </a:extLst>
          </p:cNvPr>
          <p:cNvSpPr/>
          <p:nvPr/>
        </p:nvSpPr>
        <p:spPr bwMode="auto">
          <a:xfrm>
            <a:off x="5419631" y="5185954"/>
            <a:ext cx="628472" cy="681446"/>
          </a:xfrm>
          <a:prstGeom prst="rect">
            <a:avLst/>
          </a:prstGeom>
          <a:noFill/>
          <a:ln w="9525"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81941482"/>
      </p:ext>
    </p:extLst>
  </p:cSld>
  <p:clrMapOvr>
    <a:masterClrMapping/>
  </p:clrMapOvr>
  <p:transition>
    <p:cover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err="1"/>
              <a:t>PlatformIO</a:t>
            </a:r>
            <a:r>
              <a:rPr lang="zh-CN" altLang="en-US" dirty="0"/>
              <a:t>安装使用</a:t>
            </a:r>
          </a:p>
        </p:txBody>
      </p:sp>
      <p:sp>
        <p:nvSpPr>
          <p:cNvPr id="3" name="内容占位符 2"/>
          <p:cNvSpPr>
            <a:spLocks noGrp="1"/>
          </p:cNvSpPr>
          <p:nvPr>
            <p:ph idx="1"/>
          </p:nvPr>
        </p:nvSpPr>
        <p:spPr>
          <a:xfrm>
            <a:off x="685800" y="1981200"/>
            <a:ext cx="4460966" cy="4114800"/>
          </a:xfrm>
        </p:spPr>
        <p:txBody>
          <a:bodyPr/>
          <a:lstStyle/>
          <a:p>
            <a:pPr marL="0" indent="0">
              <a:buNone/>
            </a:pPr>
            <a:r>
              <a:rPr lang="en-US" altLang="zh-CN" dirty="0"/>
              <a:t>3. </a:t>
            </a:r>
            <a:r>
              <a:rPr lang="zh-CN" altLang="en-US" dirty="0"/>
              <a:t>安装后重启</a:t>
            </a:r>
            <a:r>
              <a:rPr lang="en-US" altLang="zh-CN" dirty="0" err="1"/>
              <a:t>vscode</a:t>
            </a:r>
            <a:r>
              <a:rPr lang="zh-CN" altLang="en-US" dirty="0"/>
              <a:t>，会多出一个图标，点击这个图标，然后在弹出的菜单里点</a:t>
            </a:r>
            <a:r>
              <a:rPr lang="en-US" altLang="zh-CN" dirty="0"/>
              <a:t>Open</a:t>
            </a:r>
            <a:endParaRPr lang="zh-CN" altLang="en-US" dirty="0"/>
          </a:p>
        </p:txBody>
      </p:sp>
      <p:sp>
        <p:nvSpPr>
          <p:cNvPr id="4" name="灯片编号占位符 3">
            <a:extLst>
              <a:ext uri="{FF2B5EF4-FFF2-40B4-BE49-F238E27FC236}">
                <a16:creationId xmlns:a16="http://schemas.microsoft.com/office/drawing/2014/main" id="{3095DC81-359E-813B-830A-F022DEF3D938}"/>
              </a:ext>
            </a:extLst>
          </p:cNvPr>
          <p:cNvSpPr>
            <a:spLocks noGrp="1"/>
          </p:cNvSpPr>
          <p:nvPr>
            <p:ph type="sldNum" sz="quarter" idx="12"/>
          </p:nvPr>
        </p:nvSpPr>
        <p:spPr/>
        <p:txBody>
          <a:bodyPr/>
          <a:lstStyle/>
          <a:p>
            <a:pPr>
              <a:defRPr/>
            </a:pPr>
            <a:fld id="{2C687883-A9F8-4324-BFDB-FCCC5C558AE8}" type="slidenum">
              <a:rPr lang="en-US" altLang="zh-CN" smtClean="0"/>
              <a:t>3</a:t>
            </a:fld>
            <a:endParaRPr lang="en-US" altLang="zh-CN"/>
          </a:p>
        </p:txBody>
      </p:sp>
      <p:pic>
        <p:nvPicPr>
          <p:cNvPr id="9" name="图片 8">
            <a:extLst>
              <a:ext uri="{FF2B5EF4-FFF2-40B4-BE49-F238E27FC236}">
                <a16:creationId xmlns:a16="http://schemas.microsoft.com/office/drawing/2014/main" id="{0A4C974D-1C45-FCDA-69FF-BC6B7BDBECD4}"/>
              </a:ext>
            </a:extLst>
          </p:cNvPr>
          <p:cNvPicPr>
            <a:picLocks noChangeAspect="1"/>
          </p:cNvPicPr>
          <p:nvPr/>
        </p:nvPicPr>
        <p:blipFill>
          <a:blip r:embed="rId2"/>
          <a:stretch>
            <a:fillRect/>
          </a:stretch>
        </p:blipFill>
        <p:spPr>
          <a:xfrm>
            <a:off x="5977619" y="1507401"/>
            <a:ext cx="2305354" cy="4368710"/>
          </a:xfrm>
          <a:prstGeom prst="rect">
            <a:avLst/>
          </a:prstGeom>
        </p:spPr>
      </p:pic>
      <p:sp>
        <p:nvSpPr>
          <p:cNvPr id="10" name="矩形 9">
            <a:extLst>
              <a:ext uri="{FF2B5EF4-FFF2-40B4-BE49-F238E27FC236}">
                <a16:creationId xmlns:a16="http://schemas.microsoft.com/office/drawing/2014/main" id="{12FAC93E-BE8F-3F8A-7BF3-CA5C535FB4C0}"/>
              </a:ext>
            </a:extLst>
          </p:cNvPr>
          <p:cNvSpPr/>
          <p:nvPr/>
        </p:nvSpPr>
        <p:spPr bwMode="auto">
          <a:xfrm>
            <a:off x="5977620" y="4728757"/>
            <a:ext cx="436244" cy="483323"/>
          </a:xfrm>
          <a:prstGeom prst="rect">
            <a:avLst/>
          </a:prstGeom>
          <a:noFill/>
          <a:ln w="9525"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p:txBody>
      </p:sp>
      <p:sp>
        <p:nvSpPr>
          <p:cNvPr id="11" name="矩形 10">
            <a:extLst>
              <a:ext uri="{FF2B5EF4-FFF2-40B4-BE49-F238E27FC236}">
                <a16:creationId xmlns:a16="http://schemas.microsoft.com/office/drawing/2014/main" id="{25B3822A-6568-8834-8B87-6B20858A5916}"/>
              </a:ext>
            </a:extLst>
          </p:cNvPr>
          <p:cNvSpPr/>
          <p:nvPr/>
        </p:nvSpPr>
        <p:spPr bwMode="auto">
          <a:xfrm>
            <a:off x="6553199" y="2083524"/>
            <a:ext cx="1114697" cy="163287"/>
          </a:xfrm>
          <a:prstGeom prst="rect">
            <a:avLst/>
          </a:prstGeom>
          <a:noFill/>
          <a:ln w="9525"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3930638871"/>
      </p:ext>
    </p:extLst>
  </p:cSld>
  <p:clrMapOvr>
    <a:masterClrMapping/>
  </p:clrMapOvr>
  <p:transition>
    <p:cover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err="1"/>
              <a:t>PlatformIO</a:t>
            </a:r>
            <a:r>
              <a:rPr lang="zh-CN" altLang="en-US" dirty="0"/>
              <a:t>安装使用</a:t>
            </a:r>
          </a:p>
        </p:txBody>
      </p:sp>
      <p:sp>
        <p:nvSpPr>
          <p:cNvPr id="3" name="内容占位符 2"/>
          <p:cNvSpPr>
            <a:spLocks noGrp="1"/>
          </p:cNvSpPr>
          <p:nvPr>
            <p:ph idx="1"/>
          </p:nvPr>
        </p:nvSpPr>
        <p:spPr>
          <a:xfrm>
            <a:off x="685800" y="1981200"/>
            <a:ext cx="7670800" cy="1447800"/>
          </a:xfrm>
        </p:spPr>
        <p:txBody>
          <a:bodyPr/>
          <a:lstStyle/>
          <a:p>
            <a:pPr marL="0" indent="0">
              <a:buNone/>
            </a:pPr>
            <a:r>
              <a:rPr lang="en-US" altLang="zh-CN" dirty="0"/>
              <a:t>4. </a:t>
            </a:r>
            <a:r>
              <a:rPr lang="zh-CN" altLang="en-US" dirty="0"/>
              <a:t>进入主界面</a:t>
            </a:r>
          </a:p>
        </p:txBody>
      </p:sp>
      <p:sp>
        <p:nvSpPr>
          <p:cNvPr id="4" name="灯片编号占位符 3">
            <a:extLst>
              <a:ext uri="{FF2B5EF4-FFF2-40B4-BE49-F238E27FC236}">
                <a16:creationId xmlns:a16="http://schemas.microsoft.com/office/drawing/2014/main" id="{3095DC81-359E-813B-830A-F022DEF3D938}"/>
              </a:ext>
            </a:extLst>
          </p:cNvPr>
          <p:cNvSpPr>
            <a:spLocks noGrp="1"/>
          </p:cNvSpPr>
          <p:nvPr>
            <p:ph type="sldNum" sz="quarter" idx="12"/>
          </p:nvPr>
        </p:nvSpPr>
        <p:spPr/>
        <p:txBody>
          <a:bodyPr/>
          <a:lstStyle/>
          <a:p>
            <a:pPr>
              <a:defRPr/>
            </a:pPr>
            <a:fld id="{2C687883-A9F8-4324-BFDB-FCCC5C558AE8}" type="slidenum">
              <a:rPr lang="en-US" altLang="zh-CN" smtClean="0"/>
              <a:t>4</a:t>
            </a:fld>
            <a:endParaRPr lang="en-US" altLang="zh-CN"/>
          </a:p>
        </p:txBody>
      </p:sp>
      <p:pic>
        <p:nvPicPr>
          <p:cNvPr id="6" name="图片 5">
            <a:extLst>
              <a:ext uri="{FF2B5EF4-FFF2-40B4-BE49-F238E27FC236}">
                <a16:creationId xmlns:a16="http://schemas.microsoft.com/office/drawing/2014/main" id="{E3C0FA57-F2BD-499F-BCD4-B6AE5042E317}"/>
              </a:ext>
            </a:extLst>
          </p:cNvPr>
          <p:cNvPicPr>
            <a:picLocks noChangeAspect="1"/>
          </p:cNvPicPr>
          <p:nvPr/>
        </p:nvPicPr>
        <p:blipFill>
          <a:blip r:embed="rId2"/>
          <a:stretch>
            <a:fillRect/>
          </a:stretch>
        </p:blipFill>
        <p:spPr>
          <a:xfrm>
            <a:off x="787400" y="2919334"/>
            <a:ext cx="6997146" cy="3151266"/>
          </a:xfrm>
          <a:prstGeom prst="rect">
            <a:avLst/>
          </a:prstGeom>
        </p:spPr>
      </p:pic>
    </p:spTree>
    <p:extLst>
      <p:ext uri="{BB962C8B-B14F-4D97-AF65-F5344CB8AC3E}">
        <p14:creationId xmlns:p14="http://schemas.microsoft.com/office/powerpoint/2010/main" val="3138800170"/>
      </p:ext>
    </p:extLst>
  </p:cSld>
  <p:clrMapOvr>
    <a:masterClrMapping/>
  </p:clrMapOvr>
  <p:transition>
    <p:cover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err="1"/>
              <a:t>PlatformIO</a:t>
            </a:r>
            <a:r>
              <a:rPr lang="zh-CN" altLang="en-US" dirty="0"/>
              <a:t>安装使用</a:t>
            </a:r>
          </a:p>
        </p:txBody>
      </p:sp>
      <p:sp>
        <p:nvSpPr>
          <p:cNvPr id="3" name="内容占位符 2"/>
          <p:cNvSpPr>
            <a:spLocks noGrp="1"/>
          </p:cNvSpPr>
          <p:nvPr>
            <p:ph idx="1"/>
          </p:nvPr>
        </p:nvSpPr>
        <p:spPr>
          <a:xfrm>
            <a:off x="685800" y="1981200"/>
            <a:ext cx="7670800" cy="1447800"/>
          </a:xfrm>
        </p:spPr>
        <p:txBody>
          <a:bodyPr/>
          <a:lstStyle/>
          <a:p>
            <a:pPr marL="0" indent="0">
              <a:buNone/>
            </a:pPr>
            <a:r>
              <a:rPr lang="en-US" altLang="zh-CN" dirty="0"/>
              <a:t>4. </a:t>
            </a:r>
            <a:r>
              <a:rPr lang="zh-CN" altLang="en-US" dirty="0"/>
              <a:t>如果出现此类报错，解决办法是科学上网</a:t>
            </a:r>
          </a:p>
        </p:txBody>
      </p:sp>
      <p:sp>
        <p:nvSpPr>
          <p:cNvPr id="4" name="灯片编号占位符 3">
            <a:extLst>
              <a:ext uri="{FF2B5EF4-FFF2-40B4-BE49-F238E27FC236}">
                <a16:creationId xmlns:a16="http://schemas.microsoft.com/office/drawing/2014/main" id="{3095DC81-359E-813B-830A-F022DEF3D938}"/>
              </a:ext>
            </a:extLst>
          </p:cNvPr>
          <p:cNvSpPr>
            <a:spLocks noGrp="1"/>
          </p:cNvSpPr>
          <p:nvPr>
            <p:ph type="sldNum" sz="quarter" idx="12"/>
          </p:nvPr>
        </p:nvSpPr>
        <p:spPr/>
        <p:txBody>
          <a:bodyPr/>
          <a:lstStyle/>
          <a:p>
            <a:pPr>
              <a:defRPr/>
            </a:pPr>
            <a:fld id="{2C687883-A9F8-4324-BFDB-FCCC5C558AE8}" type="slidenum">
              <a:rPr lang="en-US" altLang="zh-CN" smtClean="0"/>
              <a:t>5</a:t>
            </a:fld>
            <a:endParaRPr lang="en-US" altLang="zh-CN"/>
          </a:p>
        </p:txBody>
      </p:sp>
      <p:pic>
        <p:nvPicPr>
          <p:cNvPr id="7" name="图片 6">
            <a:extLst>
              <a:ext uri="{FF2B5EF4-FFF2-40B4-BE49-F238E27FC236}">
                <a16:creationId xmlns:a16="http://schemas.microsoft.com/office/drawing/2014/main" id="{344D0991-2A94-A2DC-585A-3DDF0C5CFE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3500" y="3429000"/>
            <a:ext cx="6477000" cy="2466975"/>
          </a:xfrm>
          <a:prstGeom prst="rect">
            <a:avLst/>
          </a:prstGeom>
        </p:spPr>
      </p:pic>
    </p:spTree>
    <p:extLst>
      <p:ext uri="{BB962C8B-B14F-4D97-AF65-F5344CB8AC3E}">
        <p14:creationId xmlns:p14="http://schemas.microsoft.com/office/powerpoint/2010/main" val="1893597473"/>
      </p:ext>
    </p:extLst>
  </p:cSld>
  <p:clrMapOvr>
    <a:masterClrMapping/>
  </p:clrMapOvr>
  <p:transition>
    <p:cover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err="1"/>
              <a:t>PlatformIO</a:t>
            </a:r>
            <a:r>
              <a:rPr lang="zh-CN" altLang="en-US" dirty="0"/>
              <a:t>安装使用</a:t>
            </a:r>
          </a:p>
        </p:txBody>
      </p:sp>
      <p:sp>
        <p:nvSpPr>
          <p:cNvPr id="3" name="内容占位符 2"/>
          <p:cNvSpPr>
            <a:spLocks noGrp="1"/>
          </p:cNvSpPr>
          <p:nvPr>
            <p:ph idx="1"/>
          </p:nvPr>
        </p:nvSpPr>
        <p:spPr>
          <a:xfrm>
            <a:off x="685800" y="1981200"/>
            <a:ext cx="3479800" cy="4267200"/>
          </a:xfrm>
        </p:spPr>
        <p:txBody>
          <a:bodyPr/>
          <a:lstStyle/>
          <a:p>
            <a:pPr marL="0" indent="0">
              <a:buNone/>
            </a:pPr>
            <a:r>
              <a:rPr lang="en-US" altLang="zh-CN" dirty="0"/>
              <a:t>5. </a:t>
            </a:r>
            <a:r>
              <a:rPr lang="zh-CN" altLang="en-US" dirty="0"/>
              <a:t>在主页点击</a:t>
            </a:r>
            <a:r>
              <a:rPr lang="en-US" altLang="zh-CN" dirty="0"/>
              <a:t>New Project</a:t>
            </a:r>
            <a:r>
              <a:rPr lang="zh-CN" altLang="en-US" dirty="0"/>
              <a:t>新建一个项目</a:t>
            </a:r>
          </a:p>
        </p:txBody>
      </p:sp>
      <p:sp>
        <p:nvSpPr>
          <p:cNvPr id="4" name="灯片编号占位符 3">
            <a:extLst>
              <a:ext uri="{FF2B5EF4-FFF2-40B4-BE49-F238E27FC236}">
                <a16:creationId xmlns:a16="http://schemas.microsoft.com/office/drawing/2014/main" id="{3095DC81-359E-813B-830A-F022DEF3D938}"/>
              </a:ext>
            </a:extLst>
          </p:cNvPr>
          <p:cNvSpPr>
            <a:spLocks noGrp="1"/>
          </p:cNvSpPr>
          <p:nvPr>
            <p:ph type="sldNum" sz="quarter" idx="12"/>
          </p:nvPr>
        </p:nvSpPr>
        <p:spPr/>
        <p:txBody>
          <a:bodyPr/>
          <a:lstStyle/>
          <a:p>
            <a:pPr>
              <a:defRPr/>
            </a:pPr>
            <a:fld id="{2C687883-A9F8-4324-BFDB-FCCC5C558AE8}" type="slidenum">
              <a:rPr lang="en-US" altLang="zh-CN" smtClean="0"/>
              <a:t>6</a:t>
            </a:fld>
            <a:endParaRPr lang="en-US" altLang="zh-CN"/>
          </a:p>
        </p:txBody>
      </p:sp>
      <p:pic>
        <p:nvPicPr>
          <p:cNvPr id="6" name="图片 5">
            <a:extLst>
              <a:ext uri="{FF2B5EF4-FFF2-40B4-BE49-F238E27FC236}">
                <a16:creationId xmlns:a16="http://schemas.microsoft.com/office/drawing/2014/main" id="{58B9FFBC-9964-83C1-6363-871FDB2AEDF9}"/>
              </a:ext>
            </a:extLst>
          </p:cNvPr>
          <p:cNvPicPr>
            <a:picLocks noChangeAspect="1"/>
          </p:cNvPicPr>
          <p:nvPr/>
        </p:nvPicPr>
        <p:blipFill>
          <a:blip r:embed="rId3"/>
          <a:stretch>
            <a:fillRect/>
          </a:stretch>
        </p:blipFill>
        <p:spPr>
          <a:xfrm>
            <a:off x="4521200" y="2019300"/>
            <a:ext cx="4410075" cy="3409950"/>
          </a:xfrm>
          <a:prstGeom prst="rect">
            <a:avLst/>
          </a:prstGeom>
        </p:spPr>
      </p:pic>
    </p:spTree>
    <p:extLst>
      <p:ext uri="{BB962C8B-B14F-4D97-AF65-F5344CB8AC3E}">
        <p14:creationId xmlns:p14="http://schemas.microsoft.com/office/powerpoint/2010/main" val="3208174036"/>
      </p:ext>
    </p:extLst>
  </p:cSld>
  <p:clrMapOvr>
    <a:masterClrMapping/>
  </p:clrMapOvr>
  <p:transition>
    <p:cover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err="1"/>
              <a:t>PlatformIO</a:t>
            </a:r>
            <a:r>
              <a:rPr lang="zh-CN" altLang="en-US" dirty="0"/>
              <a:t>安装使用</a:t>
            </a:r>
          </a:p>
        </p:txBody>
      </p:sp>
      <p:sp>
        <p:nvSpPr>
          <p:cNvPr id="3" name="内容占位符 2"/>
          <p:cNvSpPr>
            <a:spLocks noGrp="1"/>
          </p:cNvSpPr>
          <p:nvPr>
            <p:ph idx="1"/>
          </p:nvPr>
        </p:nvSpPr>
        <p:spPr>
          <a:xfrm>
            <a:off x="685800" y="1981200"/>
            <a:ext cx="2692400" cy="4267200"/>
          </a:xfrm>
        </p:spPr>
        <p:txBody>
          <a:bodyPr/>
          <a:lstStyle/>
          <a:p>
            <a:pPr marL="0" indent="0">
              <a:buNone/>
            </a:pPr>
            <a:r>
              <a:rPr lang="en-US" altLang="zh-CN" dirty="0"/>
              <a:t>5. </a:t>
            </a:r>
            <a:r>
              <a:rPr lang="zh-CN" altLang="en-US" dirty="0"/>
              <a:t>填写项目名称，</a:t>
            </a:r>
            <a:endParaRPr lang="en-US" altLang="zh-CN" dirty="0"/>
          </a:p>
          <a:p>
            <a:pPr marL="0" indent="0">
              <a:buNone/>
            </a:pPr>
            <a:r>
              <a:rPr lang="zh-CN" altLang="en-US" dirty="0"/>
              <a:t>选择</a:t>
            </a:r>
            <a:r>
              <a:rPr lang="en-US" altLang="zh-CN" dirty="0"/>
              <a:t>Arduino Uno</a:t>
            </a:r>
            <a:r>
              <a:rPr lang="zh-CN" altLang="en-US" dirty="0"/>
              <a:t>开发板，</a:t>
            </a:r>
            <a:endParaRPr lang="en-US" altLang="zh-CN" dirty="0"/>
          </a:p>
          <a:p>
            <a:pPr marL="0" indent="0">
              <a:buNone/>
            </a:pPr>
            <a:r>
              <a:rPr lang="zh-CN" altLang="en-US" dirty="0"/>
              <a:t>选择</a:t>
            </a:r>
            <a:r>
              <a:rPr lang="en-US" altLang="zh-CN" dirty="0"/>
              <a:t>Arduino</a:t>
            </a:r>
            <a:r>
              <a:rPr lang="zh-CN" altLang="en-US" dirty="0"/>
              <a:t>框架，</a:t>
            </a:r>
            <a:endParaRPr lang="en-US" altLang="zh-CN" dirty="0"/>
          </a:p>
          <a:p>
            <a:pPr marL="0" indent="0">
              <a:buNone/>
            </a:pPr>
            <a:r>
              <a:rPr lang="zh-CN" altLang="en-US" dirty="0"/>
              <a:t>选择项目保存位置</a:t>
            </a:r>
          </a:p>
        </p:txBody>
      </p:sp>
      <p:sp>
        <p:nvSpPr>
          <p:cNvPr id="4" name="灯片编号占位符 3">
            <a:extLst>
              <a:ext uri="{FF2B5EF4-FFF2-40B4-BE49-F238E27FC236}">
                <a16:creationId xmlns:a16="http://schemas.microsoft.com/office/drawing/2014/main" id="{3095DC81-359E-813B-830A-F022DEF3D938}"/>
              </a:ext>
            </a:extLst>
          </p:cNvPr>
          <p:cNvSpPr>
            <a:spLocks noGrp="1"/>
          </p:cNvSpPr>
          <p:nvPr>
            <p:ph type="sldNum" sz="quarter" idx="12"/>
          </p:nvPr>
        </p:nvSpPr>
        <p:spPr/>
        <p:txBody>
          <a:bodyPr/>
          <a:lstStyle/>
          <a:p>
            <a:pPr>
              <a:defRPr/>
            </a:pPr>
            <a:fld id="{2C687883-A9F8-4324-BFDB-FCCC5C558AE8}" type="slidenum">
              <a:rPr lang="en-US" altLang="zh-CN" smtClean="0"/>
              <a:t>7</a:t>
            </a:fld>
            <a:endParaRPr lang="en-US" altLang="zh-CN"/>
          </a:p>
        </p:txBody>
      </p:sp>
      <p:pic>
        <p:nvPicPr>
          <p:cNvPr id="9" name="图片 8">
            <a:extLst>
              <a:ext uri="{FF2B5EF4-FFF2-40B4-BE49-F238E27FC236}">
                <a16:creationId xmlns:a16="http://schemas.microsoft.com/office/drawing/2014/main" id="{5B494DC9-D75E-1756-5B79-8FBF011D507B}"/>
              </a:ext>
            </a:extLst>
          </p:cNvPr>
          <p:cNvPicPr>
            <a:picLocks noChangeAspect="1"/>
          </p:cNvPicPr>
          <p:nvPr/>
        </p:nvPicPr>
        <p:blipFill>
          <a:blip r:embed="rId3"/>
          <a:stretch>
            <a:fillRect/>
          </a:stretch>
        </p:blipFill>
        <p:spPr>
          <a:xfrm>
            <a:off x="3839505" y="1905000"/>
            <a:ext cx="4909207" cy="3860800"/>
          </a:xfrm>
          <a:prstGeom prst="rect">
            <a:avLst/>
          </a:prstGeom>
        </p:spPr>
      </p:pic>
    </p:spTree>
    <p:extLst>
      <p:ext uri="{BB962C8B-B14F-4D97-AF65-F5344CB8AC3E}">
        <p14:creationId xmlns:p14="http://schemas.microsoft.com/office/powerpoint/2010/main" val="2083912557"/>
      </p:ext>
    </p:extLst>
  </p:cSld>
  <p:clrMapOvr>
    <a:masterClrMapping/>
  </p:clrMapOvr>
  <p:transition>
    <p:cover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err="1"/>
              <a:t>PlatformIO</a:t>
            </a:r>
            <a:r>
              <a:rPr lang="zh-CN" altLang="en-US" dirty="0"/>
              <a:t>安装使用</a:t>
            </a:r>
          </a:p>
        </p:txBody>
      </p:sp>
      <p:sp>
        <p:nvSpPr>
          <p:cNvPr id="3" name="内容占位符 2"/>
          <p:cNvSpPr>
            <a:spLocks noGrp="1"/>
          </p:cNvSpPr>
          <p:nvPr>
            <p:ph idx="1"/>
          </p:nvPr>
        </p:nvSpPr>
        <p:spPr>
          <a:xfrm>
            <a:off x="685800" y="1981200"/>
            <a:ext cx="2692400" cy="4267200"/>
          </a:xfrm>
        </p:spPr>
        <p:txBody>
          <a:bodyPr/>
          <a:lstStyle/>
          <a:p>
            <a:pPr marL="0" indent="0">
              <a:buNone/>
            </a:pPr>
            <a:r>
              <a:rPr lang="en-US" altLang="zh-CN" dirty="0"/>
              <a:t>5. </a:t>
            </a:r>
            <a:r>
              <a:rPr lang="zh-CN" altLang="en-US" dirty="0"/>
              <a:t>接下来会自动下载相关的开发环境，第一次使用时会比较久，耐心等待即可</a:t>
            </a:r>
          </a:p>
        </p:txBody>
      </p:sp>
      <p:sp>
        <p:nvSpPr>
          <p:cNvPr id="4" name="灯片编号占位符 3">
            <a:extLst>
              <a:ext uri="{FF2B5EF4-FFF2-40B4-BE49-F238E27FC236}">
                <a16:creationId xmlns:a16="http://schemas.microsoft.com/office/drawing/2014/main" id="{3095DC81-359E-813B-830A-F022DEF3D938}"/>
              </a:ext>
            </a:extLst>
          </p:cNvPr>
          <p:cNvSpPr>
            <a:spLocks noGrp="1"/>
          </p:cNvSpPr>
          <p:nvPr>
            <p:ph type="sldNum" sz="quarter" idx="12"/>
          </p:nvPr>
        </p:nvSpPr>
        <p:spPr/>
        <p:txBody>
          <a:bodyPr/>
          <a:lstStyle/>
          <a:p>
            <a:pPr>
              <a:defRPr/>
            </a:pPr>
            <a:fld id="{2C687883-A9F8-4324-BFDB-FCCC5C558AE8}" type="slidenum">
              <a:rPr lang="en-US" altLang="zh-CN" smtClean="0"/>
              <a:t>8</a:t>
            </a:fld>
            <a:endParaRPr lang="en-US" altLang="zh-CN"/>
          </a:p>
        </p:txBody>
      </p:sp>
      <p:pic>
        <p:nvPicPr>
          <p:cNvPr id="6" name="图片 5">
            <a:extLst>
              <a:ext uri="{FF2B5EF4-FFF2-40B4-BE49-F238E27FC236}">
                <a16:creationId xmlns:a16="http://schemas.microsoft.com/office/drawing/2014/main" id="{ADAB8E37-7B3D-7C8D-EEE0-B986ABF826DF}"/>
              </a:ext>
            </a:extLst>
          </p:cNvPr>
          <p:cNvPicPr>
            <a:picLocks noChangeAspect="1"/>
          </p:cNvPicPr>
          <p:nvPr/>
        </p:nvPicPr>
        <p:blipFill>
          <a:blip r:embed="rId3"/>
          <a:stretch>
            <a:fillRect/>
          </a:stretch>
        </p:blipFill>
        <p:spPr>
          <a:xfrm>
            <a:off x="4360069" y="2319339"/>
            <a:ext cx="4233862" cy="2786062"/>
          </a:xfrm>
          <a:prstGeom prst="rect">
            <a:avLst/>
          </a:prstGeom>
        </p:spPr>
      </p:pic>
    </p:spTree>
    <p:extLst>
      <p:ext uri="{BB962C8B-B14F-4D97-AF65-F5344CB8AC3E}">
        <p14:creationId xmlns:p14="http://schemas.microsoft.com/office/powerpoint/2010/main" val="3256171956"/>
      </p:ext>
    </p:extLst>
  </p:cSld>
  <p:clrMapOvr>
    <a:masterClrMapping/>
  </p:clrMapOvr>
  <p:transition>
    <p:cover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err="1"/>
              <a:t>PlatformIO</a:t>
            </a:r>
            <a:r>
              <a:rPr lang="zh-CN" altLang="en-US" dirty="0"/>
              <a:t>安装使用</a:t>
            </a:r>
          </a:p>
        </p:txBody>
      </p:sp>
      <p:sp>
        <p:nvSpPr>
          <p:cNvPr id="3" name="内容占位符 2"/>
          <p:cNvSpPr>
            <a:spLocks noGrp="1"/>
          </p:cNvSpPr>
          <p:nvPr>
            <p:ph idx="1"/>
          </p:nvPr>
        </p:nvSpPr>
        <p:spPr>
          <a:xfrm>
            <a:off x="685800" y="1981200"/>
            <a:ext cx="7048500" cy="1714500"/>
          </a:xfrm>
        </p:spPr>
        <p:txBody>
          <a:bodyPr/>
          <a:lstStyle/>
          <a:p>
            <a:pPr marL="0" indent="0">
              <a:buNone/>
            </a:pPr>
            <a:r>
              <a:rPr lang="en-US" altLang="zh-CN" dirty="0"/>
              <a:t>6.</a:t>
            </a:r>
            <a:r>
              <a:rPr lang="zh-CN" altLang="en-US" dirty="0"/>
              <a:t>安装完之后，点击项目目录中</a:t>
            </a:r>
            <a:r>
              <a:rPr lang="en-US" altLang="zh-CN" dirty="0" err="1"/>
              <a:t>src</a:t>
            </a:r>
            <a:r>
              <a:rPr lang="zh-CN" altLang="en-US" dirty="0"/>
              <a:t>下的</a:t>
            </a:r>
            <a:r>
              <a:rPr lang="en-US" altLang="zh-CN" dirty="0"/>
              <a:t>main.cpp</a:t>
            </a:r>
            <a:r>
              <a:rPr lang="zh-CN" altLang="en-US" dirty="0"/>
              <a:t>就可以编写代码，这里需要手动引入</a:t>
            </a:r>
            <a:r>
              <a:rPr lang="en-US" altLang="zh-CN" dirty="0" err="1"/>
              <a:t>Arduino.h</a:t>
            </a:r>
            <a:r>
              <a:rPr lang="zh-CN" altLang="en-US" dirty="0"/>
              <a:t>头文件</a:t>
            </a:r>
          </a:p>
        </p:txBody>
      </p:sp>
      <p:sp>
        <p:nvSpPr>
          <p:cNvPr id="4" name="灯片编号占位符 3">
            <a:extLst>
              <a:ext uri="{FF2B5EF4-FFF2-40B4-BE49-F238E27FC236}">
                <a16:creationId xmlns:a16="http://schemas.microsoft.com/office/drawing/2014/main" id="{3095DC81-359E-813B-830A-F022DEF3D938}"/>
              </a:ext>
            </a:extLst>
          </p:cNvPr>
          <p:cNvSpPr>
            <a:spLocks noGrp="1"/>
          </p:cNvSpPr>
          <p:nvPr>
            <p:ph type="sldNum" sz="quarter" idx="12"/>
          </p:nvPr>
        </p:nvSpPr>
        <p:spPr/>
        <p:txBody>
          <a:bodyPr/>
          <a:lstStyle/>
          <a:p>
            <a:pPr>
              <a:defRPr/>
            </a:pPr>
            <a:fld id="{2C687883-A9F8-4324-BFDB-FCCC5C558AE8}" type="slidenum">
              <a:rPr lang="en-US" altLang="zh-CN" smtClean="0"/>
              <a:t>9</a:t>
            </a:fld>
            <a:endParaRPr lang="en-US" altLang="zh-CN"/>
          </a:p>
        </p:txBody>
      </p:sp>
      <p:pic>
        <p:nvPicPr>
          <p:cNvPr id="7" name="图片 6">
            <a:extLst>
              <a:ext uri="{FF2B5EF4-FFF2-40B4-BE49-F238E27FC236}">
                <a16:creationId xmlns:a16="http://schemas.microsoft.com/office/drawing/2014/main" id="{038F9256-4D82-B7C0-6867-21C0692BE8D0}"/>
              </a:ext>
            </a:extLst>
          </p:cNvPr>
          <p:cNvPicPr>
            <a:picLocks noChangeAspect="1"/>
          </p:cNvPicPr>
          <p:nvPr/>
        </p:nvPicPr>
        <p:blipFill>
          <a:blip r:embed="rId3"/>
          <a:stretch>
            <a:fillRect/>
          </a:stretch>
        </p:blipFill>
        <p:spPr>
          <a:xfrm>
            <a:off x="1068160" y="3594101"/>
            <a:ext cx="6437540" cy="2877635"/>
          </a:xfrm>
          <a:prstGeom prst="rect">
            <a:avLst/>
          </a:prstGeom>
        </p:spPr>
      </p:pic>
    </p:spTree>
    <p:extLst>
      <p:ext uri="{BB962C8B-B14F-4D97-AF65-F5344CB8AC3E}">
        <p14:creationId xmlns:p14="http://schemas.microsoft.com/office/powerpoint/2010/main" val="3311980973"/>
      </p:ext>
    </p:extLst>
  </p:cSld>
  <p:clrMapOvr>
    <a:masterClrMapping/>
  </p:clrMapOvr>
  <p:transition>
    <p:cover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err="1"/>
              <a:t>PlatformIO</a:t>
            </a:r>
            <a:r>
              <a:rPr lang="zh-CN" altLang="en-US" dirty="0"/>
              <a:t>安装使用</a:t>
            </a:r>
          </a:p>
        </p:txBody>
      </p:sp>
      <p:sp>
        <p:nvSpPr>
          <p:cNvPr id="3" name="内容占位符 2"/>
          <p:cNvSpPr>
            <a:spLocks noGrp="1"/>
          </p:cNvSpPr>
          <p:nvPr>
            <p:ph idx="1"/>
          </p:nvPr>
        </p:nvSpPr>
        <p:spPr>
          <a:xfrm>
            <a:off x="685800" y="1981200"/>
            <a:ext cx="2806700" cy="4267200"/>
          </a:xfrm>
        </p:spPr>
        <p:txBody>
          <a:bodyPr/>
          <a:lstStyle/>
          <a:p>
            <a:pPr marL="0" indent="0">
              <a:buNone/>
            </a:pPr>
            <a:r>
              <a:rPr lang="en-US" altLang="zh-CN" dirty="0"/>
              <a:t>7.</a:t>
            </a:r>
            <a:r>
              <a:rPr lang="zh-CN" altLang="en-US" dirty="0"/>
              <a:t>点击下面的</a:t>
            </a:r>
            <a:r>
              <a:rPr lang="en-US" altLang="zh-CN" dirty="0"/>
              <a:t>env</a:t>
            </a:r>
            <a:r>
              <a:rPr lang="zh-CN" altLang="en-US" dirty="0"/>
              <a:t>按钮，在弹出的菜单中选择我们连接的板子</a:t>
            </a:r>
          </a:p>
        </p:txBody>
      </p:sp>
      <p:sp>
        <p:nvSpPr>
          <p:cNvPr id="4" name="灯片编号占位符 3">
            <a:extLst>
              <a:ext uri="{FF2B5EF4-FFF2-40B4-BE49-F238E27FC236}">
                <a16:creationId xmlns:a16="http://schemas.microsoft.com/office/drawing/2014/main" id="{3095DC81-359E-813B-830A-F022DEF3D938}"/>
              </a:ext>
            </a:extLst>
          </p:cNvPr>
          <p:cNvSpPr>
            <a:spLocks noGrp="1"/>
          </p:cNvSpPr>
          <p:nvPr>
            <p:ph type="sldNum" sz="quarter" idx="12"/>
          </p:nvPr>
        </p:nvSpPr>
        <p:spPr/>
        <p:txBody>
          <a:bodyPr/>
          <a:lstStyle/>
          <a:p>
            <a:pPr>
              <a:defRPr/>
            </a:pPr>
            <a:fld id="{2C687883-A9F8-4324-BFDB-FCCC5C558AE8}" type="slidenum">
              <a:rPr lang="en-US" altLang="zh-CN" smtClean="0"/>
              <a:t>10</a:t>
            </a:fld>
            <a:endParaRPr lang="en-US" altLang="zh-CN"/>
          </a:p>
        </p:txBody>
      </p:sp>
      <p:pic>
        <p:nvPicPr>
          <p:cNvPr id="6" name="图片 5">
            <a:extLst>
              <a:ext uri="{FF2B5EF4-FFF2-40B4-BE49-F238E27FC236}">
                <a16:creationId xmlns:a16="http://schemas.microsoft.com/office/drawing/2014/main" id="{2719B297-B969-8A21-CB2A-304AF09C8846}"/>
              </a:ext>
            </a:extLst>
          </p:cNvPr>
          <p:cNvPicPr>
            <a:picLocks noChangeAspect="1"/>
          </p:cNvPicPr>
          <p:nvPr/>
        </p:nvPicPr>
        <p:blipFill>
          <a:blip r:embed="rId3"/>
          <a:stretch>
            <a:fillRect/>
          </a:stretch>
        </p:blipFill>
        <p:spPr>
          <a:xfrm>
            <a:off x="3987800" y="2173328"/>
            <a:ext cx="4597400" cy="3654344"/>
          </a:xfrm>
          <a:prstGeom prst="rect">
            <a:avLst/>
          </a:prstGeom>
        </p:spPr>
      </p:pic>
      <p:sp>
        <p:nvSpPr>
          <p:cNvPr id="8" name="矩形 7">
            <a:extLst>
              <a:ext uri="{FF2B5EF4-FFF2-40B4-BE49-F238E27FC236}">
                <a16:creationId xmlns:a16="http://schemas.microsoft.com/office/drawing/2014/main" id="{0C6EC61E-2C60-E1CD-0DDB-5586A0835D3B}"/>
              </a:ext>
            </a:extLst>
          </p:cNvPr>
          <p:cNvSpPr/>
          <p:nvPr/>
        </p:nvSpPr>
        <p:spPr bwMode="auto">
          <a:xfrm>
            <a:off x="5178392" y="5654416"/>
            <a:ext cx="808522" cy="163630"/>
          </a:xfrm>
          <a:prstGeom prst="rect">
            <a:avLst/>
          </a:prstGeom>
          <a:noFill/>
          <a:ln w="9525"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p:txBody>
      </p:sp>
      <p:sp>
        <p:nvSpPr>
          <p:cNvPr id="9" name="矩形 8">
            <a:extLst>
              <a:ext uri="{FF2B5EF4-FFF2-40B4-BE49-F238E27FC236}">
                <a16:creationId xmlns:a16="http://schemas.microsoft.com/office/drawing/2014/main" id="{B2C027FD-3DC5-5886-9D6C-9607F2A6E618}"/>
              </a:ext>
            </a:extLst>
          </p:cNvPr>
          <p:cNvSpPr/>
          <p:nvPr/>
        </p:nvSpPr>
        <p:spPr bwMode="auto">
          <a:xfrm>
            <a:off x="5350042" y="2649729"/>
            <a:ext cx="2773680" cy="93471"/>
          </a:xfrm>
          <a:prstGeom prst="rect">
            <a:avLst/>
          </a:prstGeom>
          <a:noFill/>
          <a:ln w="9525"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809093821"/>
      </p:ext>
    </p:extLst>
  </p:cSld>
  <p:clrMapOvr>
    <a:masterClrMapping/>
  </p:clrMapOvr>
  <p:transition>
    <p:cover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err="1"/>
              <a:t>PlatformIO</a:t>
            </a:r>
            <a:r>
              <a:rPr lang="zh-CN" altLang="en-US" dirty="0"/>
              <a:t>安装使用</a:t>
            </a:r>
          </a:p>
        </p:txBody>
      </p:sp>
      <p:sp>
        <p:nvSpPr>
          <p:cNvPr id="3" name="内容占位符 2"/>
          <p:cNvSpPr>
            <a:spLocks noGrp="1"/>
          </p:cNvSpPr>
          <p:nvPr>
            <p:ph idx="1"/>
          </p:nvPr>
        </p:nvSpPr>
        <p:spPr>
          <a:xfrm>
            <a:off x="685799" y="1981200"/>
            <a:ext cx="7191375" cy="4267200"/>
          </a:xfrm>
        </p:spPr>
        <p:txBody>
          <a:bodyPr/>
          <a:lstStyle/>
          <a:p>
            <a:pPr marL="0" indent="0">
              <a:buNone/>
            </a:pPr>
            <a:r>
              <a:rPr lang="en-US" altLang="zh-CN" dirty="0"/>
              <a:t>8.</a:t>
            </a:r>
            <a:r>
              <a:rPr lang="zh-CN" altLang="en-US" dirty="0"/>
              <a:t>点击上传按钮，将程序编译烧写到板子上</a:t>
            </a:r>
          </a:p>
        </p:txBody>
      </p:sp>
      <p:sp>
        <p:nvSpPr>
          <p:cNvPr id="4" name="灯片编号占位符 3">
            <a:extLst>
              <a:ext uri="{FF2B5EF4-FFF2-40B4-BE49-F238E27FC236}">
                <a16:creationId xmlns:a16="http://schemas.microsoft.com/office/drawing/2014/main" id="{3095DC81-359E-813B-830A-F022DEF3D938}"/>
              </a:ext>
            </a:extLst>
          </p:cNvPr>
          <p:cNvSpPr>
            <a:spLocks noGrp="1"/>
          </p:cNvSpPr>
          <p:nvPr>
            <p:ph type="sldNum" sz="quarter" idx="12"/>
          </p:nvPr>
        </p:nvSpPr>
        <p:spPr/>
        <p:txBody>
          <a:bodyPr/>
          <a:lstStyle/>
          <a:p>
            <a:pPr>
              <a:defRPr/>
            </a:pPr>
            <a:fld id="{2C687883-A9F8-4324-BFDB-FCCC5C558AE8}" type="slidenum">
              <a:rPr lang="en-US" altLang="zh-CN" smtClean="0"/>
              <a:t>11</a:t>
            </a:fld>
            <a:endParaRPr lang="en-US" altLang="zh-CN"/>
          </a:p>
        </p:txBody>
      </p:sp>
      <p:pic>
        <p:nvPicPr>
          <p:cNvPr id="7" name="图片 6">
            <a:extLst>
              <a:ext uri="{FF2B5EF4-FFF2-40B4-BE49-F238E27FC236}">
                <a16:creationId xmlns:a16="http://schemas.microsoft.com/office/drawing/2014/main" id="{5F507FC4-7B76-3972-B04E-FF2E16CA6F03}"/>
              </a:ext>
            </a:extLst>
          </p:cNvPr>
          <p:cNvPicPr>
            <a:picLocks noChangeAspect="1"/>
          </p:cNvPicPr>
          <p:nvPr/>
        </p:nvPicPr>
        <p:blipFill rotWithShape="1">
          <a:blip r:embed="rId3"/>
          <a:srcRect l="7500" t="85927" r="54375" b="4629"/>
          <a:stretch/>
        </p:blipFill>
        <p:spPr>
          <a:xfrm>
            <a:off x="2155827" y="4038601"/>
            <a:ext cx="3486150" cy="514350"/>
          </a:xfrm>
          <a:prstGeom prst="rect">
            <a:avLst/>
          </a:prstGeom>
        </p:spPr>
      </p:pic>
      <p:sp>
        <p:nvSpPr>
          <p:cNvPr id="8" name="矩形 7">
            <a:extLst>
              <a:ext uri="{FF2B5EF4-FFF2-40B4-BE49-F238E27FC236}">
                <a16:creationId xmlns:a16="http://schemas.microsoft.com/office/drawing/2014/main" id="{0C6EC61E-2C60-E1CD-0DDB-5586A0835D3B}"/>
              </a:ext>
            </a:extLst>
          </p:cNvPr>
          <p:cNvSpPr/>
          <p:nvPr/>
        </p:nvSpPr>
        <p:spPr bwMode="auto">
          <a:xfrm>
            <a:off x="2587592" y="4295776"/>
            <a:ext cx="279433" cy="215165"/>
          </a:xfrm>
          <a:prstGeom prst="rect">
            <a:avLst/>
          </a:prstGeom>
          <a:noFill/>
          <a:ln w="9525"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1707207733"/>
      </p:ext>
    </p:extLst>
  </p:cSld>
  <p:clrMapOvr>
    <a:masterClrMapping/>
  </p:clrMapOvr>
  <p:transition>
    <p:cover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err="1"/>
              <a:t>PlatformIO</a:t>
            </a:r>
            <a:r>
              <a:rPr lang="zh-CN" altLang="en-US" dirty="0"/>
              <a:t>安装使用</a:t>
            </a:r>
          </a:p>
        </p:txBody>
      </p:sp>
      <p:sp>
        <p:nvSpPr>
          <p:cNvPr id="3" name="内容占位符 2"/>
          <p:cNvSpPr>
            <a:spLocks noGrp="1"/>
          </p:cNvSpPr>
          <p:nvPr>
            <p:ph idx="1"/>
          </p:nvPr>
        </p:nvSpPr>
        <p:spPr>
          <a:xfrm>
            <a:off x="685799" y="1981200"/>
            <a:ext cx="7191375" cy="4267200"/>
          </a:xfrm>
        </p:spPr>
        <p:txBody>
          <a:bodyPr/>
          <a:lstStyle/>
          <a:p>
            <a:pPr marL="0" indent="0">
              <a:buNone/>
            </a:pPr>
            <a:r>
              <a:rPr lang="en-US" altLang="zh-CN" dirty="0"/>
              <a:t>9.</a:t>
            </a:r>
            <a:r>
              <a:rPr lang="zh-CN" altLang="en-US" dirty="0"/>
              <a:t>点击串口监视器，就可以看到打印出来的输出</a:t>
            </a: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r>
              <a:rPr lang="zh-CN" altLang="en-US" sz="2000" dirty="0"/>
              <a:t>其他详细配置可参考：</a:t>
            </a:r>
            <a:r>
              <a:rPr lang="en-GB" altLang="zh-CN" sz="2000" dirty="0"/>
              <a:t>https://blog.csdn.net/qq_39080978/article/details/114879766</a:t>
            </a:r>
            <a:endParaRPr lang="zh-CN" altLang="en-US" sz="2000" dirty="0"/>
          </a:p>
        </p:txBody>
      </p:sp>
      <p:sp>
        <p:nvSpPr>
          <p:cNvPr id="4" name="灯片编号占位符 3">
            <a:extLst>
              <a:ext uri="{FF2B5EF4-FFF2-40B4-BE49-F238E27FC236}">
                <a16:creationId xmlns:a16="http://schemas.microsoft.com/office/drawing/2014/main" id="{3095DC81-359E-813B-830A-F022DEF3D938}"/>
              </a:ext>
            </a:extLst>
          </p:cNvPr>
          <p:cNvSpPr>
            <a:spLocks noGrp="1"/>
          </p:cNvSpPr>
          <p:nvPr>
            <p:ph type="sldNum" sz="quarter" idx="12"/>
          </p:nvPr>
        </p:nvSpPr>
        <p:spPr/>
        <p:txBody>
          <a:bodyPr/>
          <a:lstStyle/>
          <a:p>
            <a:pPr>
              <a:defRPr/>
            </a:pPr>
            <a:fld id="{2C687883-A9F8-4324-BFDB-FCCC5C558AE8}" type="slidenum">
              <a:rPr lang="en-US" altLang="zh-CN" smtClean="0"/>
              <a:t>12</a:t>
            </a:fld>
            <a:endParaRPr lang="en-US" altLang="zh-CN"/>
          </a:p>
        </p:txBody>
      </p:sp>
      <p:pic>
        <p:nvPicPr>
          <p:cNvPr id="6" name="图片 5">
            <a:extLst>
              <a:ext uri="{FF2B5EF4-FFF2-40B4-BE49-F238E27FC236}">
                <a16:creationId xmlns:a16="http://schemas.microsoft.com/office/drawing/2014/main" id="{8777B0EA-E1B5-AECF-1AC7-8C79E276EF20}"/>
              </a:ext>
            </a:extLst>
          </p:cNvPr>
          <p:cNvPicPr>
            <a:picLocks noChangeAspect="1"/>
          </p:cNvPicPr>
          <p:nvPr/>
        </p:nvPicPr>
        <p:blipFill rotWithShape="1">
          <a:blip r:embed="rId3"/>
          <a:srcRect l="11146" t="56297" b="4814"/>
          <a:stretch/>
        </p:blipFill>
        <p:spPr>
          <a:xfrm>
            <a:off x="685799" y="3209925"/>
            <a:ext cx="8124825" cy="2000250"/>
          </a:xfrm>
          <a:prstGeom prst="rect">
            <a:avLst/>
          </a:prstGeom>
        </p:spPr>
      </p:pic>
    </p:spTree>
    <p:extLst>
      <p:ext uri="{BB962C8B-B14F-4D97-AF65-F5344CB8AC3E}">
        <p14:creationId xmlns:p14="http://schemas.microsoft.com/office/powerpoint/2010/main" val="2613182681"/>
      </p:ext>
    </p:extLst>
  </p:cSld>
  <p:clrMapOvr>
    <a:masterClrMapping/>
  </p:clrMapOvr>
  <p:transition>
    <p:cover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12800" y="2349500"/>
            <a:ext cx="7772400" cy="1143000"/>
          </a:xfrm>
        </p:spPr>
        <p:txBody>
          <a:bodyPr/>
          <a:lstStyle/>
          <a:p>
            <a:r>
              <a:rPr lang="en-US" altLang="zh-CN" sz="6600" dirty="0"/>
              <a:t>Arduino</a:t>
            </a:r>
            <a:r>
              <a:rPr lang="zh-CN" altLang="en-US" sz="6600" dirty="0"/>
              <a:t>开发</a:t>
            </a:r>
          </a:p>
        </p:txBody>
      </p:sp>
      <p:sp>
        <p:nvSpPr>
          <p:cNvPr id="3" name="灯片编号占位符 2">
            <a:extLst>
              <a:ext uri="{FF2B5EF4-FFF2-40B4-BE49-F238E27FC236}">
                <a16:creationId xmlns:a16="http://schemas.microsoft.com/office/drawing/2014/main" id="{2C612165-3E4E-BCA9-87FE-6D973A8D3436}"/>
              </a:ext>
            </a:extLst>
          </p:cNvPr>
          <p:cNvSpPr>
            <a:spLocks noGrp="1"/>
          </p:cNvSpPr>
          <p:nvPr>
            <p:ph type="sldNum" sz="quarter" idx="12"/>
          </p:nvPr>
        </p:nvSpPr>
        <p:spPr/>
        <p:txBody>
          <a:bodyPr/>
          <a:lstStyle/>
          <a:p>
            <a:pPr>
              <a:defRPr/>
            </a:pPr>
            <a:fld id="{2C687883-A9F8-4324-BFDB-FCCC5C558AE8}" type="slidenum">
              <a:rPr lang="en-US" altLang="zh-CN" smtClean="0"/>
              <a:t>13</a:t>
            </a:fld>
            <a:endParaRPr lang="en-US" altLang="zh-CN"/>
          </a:p>
        </p:txBody>
      </p:sp>
    </p:spTree>
    <p:extLst>
      <p:ext uri="{BB962C8B-B14F-4D97-AF65-F5344CB8AC3E}">
        <p14:creationId xmlns:p14="http://schemas.microsoft.com/office/powerpoint/2010/main" val="3163264215"/>
      </p:ext>
    </p:extLst>
  </p:cSld>
  <p:clrMapOvr>
    <a:masterClrMapping/>
  </p:clrMapOvr>
  <p:transition>
    <p:cover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a:t>
            </a:r>
            <a:r>
              <a:rPr lang="zh-CN" altLang="en-US" dirty="0"/>
              <a:t>程序架构</a:t>
            </a:r>
          </a:p>
        </p:txBody>
      </p:sp>
      <p:sp>
        <p:nvSpPr>
          <p:cNvPr id="3" name="内容占位符 2"/>
          <p:cNvSpPr>
            <a:spLocks noGrp="1"/>
          </p:cNvSpPr>
          <p:nvPr>
            <p:ph idx="1"/>
          </p:nvPr>
        </p:nvSpPr>
        <p:spPr>
          <a:xfrm>
            <a:off x="685800" y="1625600"/>
            <a:ext cx="7772400" cy="4851400"/>
          </a:xfrm>
        </p:spPr>
        <p:txBody>
          <a:bodyPr/>
          <a:lstStyle/>
          <a:p>
            <a:pPr marL="514350" indent="-514350" algn="just">
              <a:buFont typeface="+mj-lt"/>
              <a:buAutoNum type="arabicPeriod"/>
            </a:pPr>
            <a:r>
              <a:rPr lang="zh-CN" altLang="zh-CN" sz="2800" dirty="0"/>
              <a:t>声明变量及接口的名称。</a:t>
            </a:r>
          </a:p>
          <a:p>
            <a:pPr marL="514350" indent="-514350" algn="just">
              <a:buFont typeface="+mj-lt"/>
              <a:buAutoNum type="arabicPeriod"/>
            </a:pPr>
            <a:r>
              <a:rPr lang="en-US" altLang="zh-CN" sz="2800" dirty="0"/>
              <a:t>setup()</a:t>
            </a:r>
            <a:r>
              <a:rPr lang="zh-CN" altLang="zh-CN" sz="2800" dirty="0"/>
              <a:t>。在</a:t>
            </a:r>
            <a:r>
              <a:rPr lang="en-US" altLang="zh-CN" sz="2800" dirty="0"/>
              <a:t>Arduino</a:t>
            </a:r>
            <a:r>
              <a:rPr lang="zh-CN" altLang="zh-CN" sz="2800" dirty="0"/>
              <a:t>程序运行时首先要调用</a:t>
            </a:r>
            <a:r>
              <a:rPr lang="en-US" altLang="zh-CN" sz="2800" dirty="0"/>
              <a:t>setup()</a:t>
            </a:r>
            <a:r>
              <a:rPr lang="zh-CN" altLang="zh-CN" sz="2800" dirty="0"/>
              <a:t>函数，用于初始化变量、设置针脚的输出</a:t>
            </a:r>
            <a:r>
              <a:rPr lang="en-US" altLang="zh-CN" sz="2800" dirty="0"/>
              <a:t>/</a:t>
            </a:r>
            <a:r>
              <a:rPr lang="zh-CN" altLang="zh-CN" sz="2800" dirty="0"/>
              <a:t>输入类型、配置串口、引入类库文件等等。每次</a:t>
            </a:r>
            <a:r>
              <a:rPr lang="en-US" altLang="zh-CN" sz="2800" dirty="0"/>
              <a:t> Arduino </a:t>
            </a:r>
            <a:r>
              <a:rPr lang="zh-CN" altLang="zh-CN" sz="2800" dirty="0"/>
              <a:t>上电或重启后，</a:t>
            </a:r>
            <a:r>
              <a:rPr lang="en-US" altLang="zh-CN" sz="2800" dirty="0"/>
              <a:t>setup()</a:t>
            </a:r>
            <a:r>
              <a:rPr lang="zh-CN" altLang="zh-CN" sz="2800" dirty="0"/>
              <a:t>函数只运行一次。</a:t>
            </a:r>
          </a:p>
          <a:p>
            <a:pPr marL="514350" indent="-514350" algn="just">
              <a:buFont typeface="+mj-lt"/>
              <a:buAutoNum type="arabicPeriod"/>
            </a:pPr>
            <a:r>
              <a:rPr lang="en-US" altLang="zh-CN" sz="2800" dirty="0"/>
              <a:t>loop()</a:t>
            </a:r>
            <a:r>
              <a:rPr lang="zh-CN" altLang="zh-CN" sz="2800" dirty="0"/>
              <a:t>。在</a:t>
            </a:r>
            <a:r>
              <a:rPr lang="en-US" altLang="zh-CN" sz="2800" dirty="0"/>
              <a:t>setup()</a:t>
            </a:r>
            <a:r>
              <a:rPr lang="zh-CN" altLang="zh-CN" sz="2800" dirty="0"/>
              <a:t>函数中初始化和定义变量，然后执行</a:t>
            </a:r>
            <a:r>
              <a:rPr lang="en-US" altLang="zh-CN" sz="2800" dirty="0"/>
              <a:t>loop()</a:t>
            </a:r>
            <a:r>
              <a:rPr lang="zh-CN" altLang="zh-CN" sz="2800" dirty="0"/>
              <a:t>函数。顾名思义，该函数在程序运行过程中不断地循环，根据反馈，相应地改变执行情况。通过该函数动态控制</a:t>
            </a:r>
            <a:r>
              <a:rPr lang="en-US" altLang="zh-CN" sz="2800" dirty="0"/>
              <a:t>Arduino</a:t>
            </a:r>
            <a:r>
              <a:rPr lang="zh-CN" altLang="zh-CN" sz="2800" dirty="0"/>
              <a:t>主控板。</a:t>
            </a:r>
            <a:endParaRPr lang="zh-CN" altLang="en-US" sz="2800" dirty="0"/>
          </a:p>
        </p:txBody>
      </p:sp>
      <p:sp>
        <p:nvSpPr>
          <p:cNvPr id="4" name="灯片编号占位符 3">
            <a:extLst>
              <a:ext uri="{FF2B5EF4-FFF2-40B4-BE49-F238E27FC236}">
                <a16:creationId xmlns:a16="http://schemas.microsoft.com/office/drawing/2014/main" id="{1EAB6024-1493-4C6C-6BB9-BC68E7DFFBB8}"/>
              </a:ext>
            </a:extLst>
          </p:cNvPr>
          <p:cNvSpPr>
            <a:spLocks noGrp="1"/>
          </p:cNvSpPr>
          <p:nvPr>
            <p:ph type="sldNum" sz="quarter" idx="12"/>
          </p:nvPr>
        </p:nvSpPr>
        <p:spPr/>
        <p:txBody>
          <a:bodyPr/>
          <a:lstStyle/>
          <a:p>
            <a:pPr>
              <a:defRPr/>
            </a:pPr>
            <a:fld id="{2C687883-A9F8-4324-BFDB-FCCC5C558AE8}" type="slidenum">
              <a:rPr lang="en-US" altLang="zh-CN" smtClean="0"/>
              <a:t>14</a:t>
            </a:fld>
            <a:endParaRPr lang="en-US" altLang="zh-CN"/>
          </a:p>
        </p:txBody>
      </p:sp>
    </p:spTree>
  </p:cSld>
  <p:clrMapOvr>
    <a:masterClrMapping/>
  </p:clrMapOvr>
  <p:transition>
    <p:cover di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a:t>
            </a:r>
            <a:r>
              <a:rPr lang="zh-CN" altLang="zh-CN" dirty="0"/>
              <a:t>语法——变量</a:t>
            </a:r>
            <a:endParaRPr lang="zh-CN" altLang="en-US" dirty="0"/>
          </a:p>
        </p:txBody>
      </p:sp>
      <p:sp>
        <p:nvSpPr>
          <p:cNvPr id="3" name="内容占位符 2"/>
          <p:cNvSpPr>
            <a:spLocks noGrp="1"/>
          </p:cNvSpPr>
          <p:nvPr>
            <p:ph idx="1"/>
          </p:nvPr>
        </p:nvSpPr>
        <p:spPr/>
        <p:txBody>
          <a:bodyPr/>
          <a:lstStyle/>
          <a:p>
            <a:pPr algn="just"/>
            <a:r>
              <a:rPr lang="zh-CN" altLang="zh-CN" dirty="0"/>
              <a:t>变量来源于数学，是计算机语言中能储存计算结果或者能表示某些值的一种抽象概念。通俗来说可以认为是给一个值命名。</a:t>
            </a:r>
            <a:endParaRPr lang="en-US" altLang="zh-CN" dirty="0"/>
          </a:p>
          <a:p>
            <a:pPr algn="just"/>
            <a:r>
              <a:rPr lang="zh-CN" altLang="zh-CN" dirty="0"/>
              <a:t>当定义一个变量时，必须指定变量的类型。</a:t>
            </a:r>
            <a:endParaRPr lang="en-US" altLang="zh-CN" dirty="0"/>
          </a:p>
          <a:p>
            <a:pPr algn="just"/>
            <a:r>
              <a:rPr lang="zh-CN" altLang="zh-CN" dirty="0"/>
              <a:t>一般变量的声明方法为类型名</a:t>
            </a:r>
            <a:r>
              <a:rPr lang="en-US" altLang="zh-CN" dirty="0"/>
              <a:t>+</a:t>
            </a:r>
            <a:r>
              <a:rPr lang="zh-CN" altLang="zh-CN" dirty="0"/>
              <a:t>变量名</a:t>
            </a:r>
            <a:r>
              <a:rPr lang="en-US" altLang="zh-CN" dirty="0"/>
              <a:t>+</a:t>
            </a:r>
            <a:r>
              <a:rPr lang="zh-CN" altLang="zh-CN" dirty="0"/>
              <a:t>变量初始化值。</a:t>
            </a:r>
            <a:endParaRPr lang="zh-CN" altLang="en-US" dirty="0"/>
          </a:p>
        </p:txBody>
      </p:sp>
      <p:sp>
        <p:nvSpPr>
          <p:cNvPr id="4" name="灯片编号占位符 3">
            <a:extLst>
              <a:ext uri="{FF2B5EF4-FFF2-40B4-BE49-F238E27FC236}">
                <a16:creationId xmlns:a16="http://schemas.microsoft.com/office/drawing/2014/main" id="{13E3DCC2-810B-758D-9805-9990FEA8BA64}"/>
              </a:ext>
            </a:extLst>
          </p:cNvPr>
          <p:cNvSpPr>
            <a:spLocks noGrp="1"/>
          </p:cNvSpPr>
          <p:nvPr>
            <p:ph type="sldNum" sz="quarter" idx="12"/>
          </p:nvPr>
        </p:nvSpPr>
        <p:spPr/>
        <p:txBody>
          <a:bodyPr/>
          <a:lstStyle/>
          <a:p>
            <a:pPr>
              <a:defRPr/>
            </a:pPr>
            <a:fld id="{2C687883-A9F8-4324-BFDB-FCCC5C558AE8}" type="slidenum">
              <a:rPr lang="en-US" altLang="zh-CN" smtClean="0"/>
              <a:t>15</a:t>
            </a:fld>
            <a:endParaRPr lang="en-US" altLang="zh-CN"/>
          </a:p>
        </p:txBody>
      </p:sp>
    </p:spTree>
  </p:cSld>
  <p:clrMapOvr>
    <a:masterClrMapping/>
  </p:clrMapOvr>
  <p:transition>
    <p:cover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a:t>
            </a:r>
            <a:r>
              <a:rPr lang="zh-CN" altLang="zh-CN" dirty="0"/>
              <a:t>语法——变量</a:t>
            </a:r>
            <a:endParaRPr lang="zh-CN" altLang="en-US" dirty="0"/>
          </a:p>
        </p:txBody>
      </p:sp>
      <p:sp>
        <p:nvSpPr>
          <p:cNvPr id="3" name="内容占位符 2"/>
          <p:cNvSpPr>
            <a:spLocks noGrp="1"/>
          </p:cNvSpPr>
          <p:nvPr>
            <p:ph idx="1"/>
          </p:nvPr>
        </p:nvSpPr>
        <p:spPr/>
        <p:txBody>
          <a:bodyPr/>
          <a:lstStyle/>
          <a:p>
            <a:pPr marL="0" indent="0" algn="just">
              <a:buNone/>
            </a:pPr>
            <a:r>
              <a:rPr lang="zh-CN" altLang="zh-CN" dirty="0"/>
              <a:t>如果要变量全是整数，这种变量称为整型（</a:t>
            </a:r>
            <a:r>
              <a:rPr lang="en-US" altLang="zh-CN" dirty="0" err="1"/>
              <a:t>int</a:t>
            </a:r>
            <a:r>
              <a:rPr lang="zh-CN" altLang="zh-CN" dirty="0"/>
              <a:t>），那么如果要定义一个名为</a:t>
            </a:r>
            <a:r>
              <a:rPr lang="en-US" altLang="zh-CN" dirty="0"/>
              <a:t>LED</a:t>
            </a:r>
            <a:r>
              <a:rPr lang="zh-CN" altLang="zh-CN" dirty="0"/>
              <a:t>的变量值为</a:t>
            </a:r>
            <a:r>
              <a:rPr lang="en-US" altLang="zh-CN" dirty="0"/>
              <a:t>11</a:t>
            </a:r>
            <a:r>
              <a:rPr lang="zh-CN" altLang="zh-CN" dirty="0"/>
              <a:t>，变量应该这样声明：</a:t>
            </a:r>
            <a:endParaRPr lang="en-US" altLang="zh-CN" dirty="0"/>
          </a:p>
          <a:p>
            <a:pPr marL="0" indent="0" algn="just">
              <a:buNone/>
            </a:pPr>
            <a:endParaRPr lang="en-US" altLang="zh-CN" dirty="0"/>
          </a:p>
          <a:p>
            <a:pPr marL="0" indent="0">
              <a:buNone/>
            </a:pPr>
            <a:r>
              <a:rPr lang="en-US" altLang="zh-CN" dirty="0"/>
              <a:t>int led = 11</a:t>
            </a:r>
            <a:r>
              <a:rPr lang="zh-CN" altLang="zh-CN" dirty="0"/>
              <a:t>；</a:t>
            </a:r>
            <a:endParaRPr lang="zh-CN" altLang="en-US" dirty="0"/>
          </a:p>
        </p:txBody>
      </p:sp>
      <p:sp>
        <p:nvSpPr>
          <p:cNvPr id="4" name="灯片编号占位符 3">
            <a:extLst>
              <a:ext uri="{FF2B5EF4-FFF2-40B4-BE49-F238E27FC236}">
                <a16:creationId xmlns:a16="http://schemas.microsoft.com/office/drawing/2014/main" id="{9D516983-1981-5BE6-3610-B55D7B2B4E3D}"/>
              </a:ext>
            </a:extLst>
          </p:cNvPr>
          <p:cNvSpPr>
            <a:spLocks noGrp="1"/>
          </p:cNvSpPr>
          <p:nvPr>
            <p:ph type="sldNum" sz="quarter" idx="12"/>
          </p:nvPr>
        </p:nvSpPr>
        <p:spPr/>
        <p:txBody>
          <a:bodyPr/>
          <a:lstStyle/>
          <a:p>
            <a:pPr>
              <a:defRPr/>
            </a:pPr>
            <a:fld id="{2C687883-A9F8-4324-BFDB-FCCC5C558AE8}" type="slidenum">
              <a:rPr lang="en-US" altLang="zh-CN" smtClean="0"/>
              <a:t>16</a:t>
            </a:fld>
            <a:endParaRPr lang="en-US" altLang="zh-CN"/>
          </a:p>
        </p:txBody>
      </p:sp>
    </p:spTree>
  </p:cSld>
  <p:clrMapOvr>
    <a:masterClrMapping/>
  </p:clrMapOvr>
  <p:transition>
    <p:cover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变量作用范围</a:t>
            </a:r>
          </a:p>
        </p:txBody>
      </p:sp>
      <p:sp>
        <p:nvSpPr>
          <p:cNvPr id="3" name="内容占位符 2"/>
          <p:cNvSpPr>
            <a:spLocks noGrp="1"/>
          </p:cNvSpPr>
          <p:nvPr>
            <p:ph idx="1"/>
          </p:nvPr>
        </p:nvSpPr>
        <p:spPr>
          <a:xfrm>
            <a:off x="685800" y="1632857"/>
            <a:ext cx="7772400" cy="4593772"/>
          </a:xfrm>
        </p:spPr>
        <p:txBody>
          <a:bodyPr/>
          <a:lstStyle/>
          <a:p>
            <a:r>
              <a:rPr lang="zh-CN" altLang="zh-CN" sz="2900" dirty="0"/>
              <a:t>全局变量：若在程序开头的声明区或是在没有大括号限制的声明区，所声明的变量作用域为整个程序。即整个程序都可以使用这个变量代表的值或范围，不局限于某个括号范围内。</a:t>
            </a:r>
          </a:p>
          <a:p>
            <a:r>
              <a:rPr lang="zh-CN" altLang="zh-CN" sz="2900" dirty="0"/>
              <a:t>局部变量：若在大括号内的声明区所声明的变量，其作用域将局限于大括号内。若在主程序与各函数中都声明了相同名称的变量，当离开主程序或函数时，该局部变量将自动消失。</a:t>
            </a:r>
            <a:endParaRPr lang="zh-CN" altLang="en-US" sz="2900" dirty="0"/>
          </a:p>
        </p:txBody>
      </p:sp>
      <p:sp>
        <p:nvSpPr>
          <p:cNvPr id="4" name="灯片编号占位符 3">
            <a:extLst>
              <a:ext uri="{FF2B5EF4-FFF2-40B4-BE49-F238E27FC236}">
                <a16:creationId xmlns:a16="http://schemas.microsoft.com/office/drawing/2014/main" id="{23122A56-199E-F4C6-2121-9D6E51B04F61}"/>
              </a:ext>
            </a:extLst>
          </p:cNvPr>
          <p:cNvSpPr>
            <a:spLocks noGrp="1"/>
          </p:cNvSpPr>
          <p:nvPr>
            <p:ph type="sldNum" sz="quarter" idx="12"/>
          </p:nvPr>
        </p:nvSpPr>
        <p:spPr/>
        <p:txBody>
          <a:bodyPr/>
          <a:lstStyle/>
          <a:p>
            <a:pPr>
              <a:defRPr/>
            </a:pPr>
            <a:fld id="{2C687883-A9F8-4324-BFDB-FCCC5C558AE8}" type="slidenum">
              <a:rPr lang="en-US" altLang="zh-CN" smtClean="0"/>
              <a:t>17</a:t>
            </a:fld>
            <a:endParaRPr lang="en-US" altLang="zh-CN"/>
          </a:p>
        </p:txBody>
      </p:sp>
    </p:spTree>
  </p:cSld>
  <p:clrMapOvr>
    <a:masterClrMapping/>
  </p:clrMapOvr>
  <p:transition>
    <p:cover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4702629" cy="533400"/>
          </a:xfrm>
          <a:solidFill>
            <a:schemeClr val="bg1">
              <a:lumMod val="85000"/>
            </a:schemeClr>
          </a:solidFill>
        </p:spPr>
        <p:txBody>
          <a:bodyPr/>
          <a:lstStyle/>
          <a:p>
            <a:pPr algn="l"/>
            <a:r>
              <a:rPr lang="zh-CN" altLang="zh-CN" sz="3200" b="1" dirty="0"/>
              <a:t>改变闪烁频率的闪灯程序</a:t>
            </a:r>
            <a:endParaRPr lang="zh-CN" altLang="en-US" sz="3200" b="1" dirty="0"/>
          </a:p>
        </p:txBody>
      </p:sp>
      <p:sp>
        <p:nvSpPr>
          <p:cNvPr id="3" name="内容占位符 2"/>
          <p:cNvSpPr>
            <a:spLocks noGrp="1"/>
          </p:cNvSpPr>
          <p:nvPr>
            <p:ph idx="1"/>
          </p:nvPr>
        </p:nvSpPr>
        <p:spPr>
          <a:xfrm>
            <a:off x="685800" y="1142999"/>
            <a:ext cx="7772400" cy="5138057"/>
          </a:xfrm>
        </p:spPr>
        <p:txBody>
          <a:bodyPr/>
          <a:lstStyle/>
          <a:p>
            <a:pPr marL="0" indent="0">
              <a:buNone/>
            </a:pPr>
            <a:r>
              <a:rPr lang="en-US" altLang="zh-CN" sz="2000" dirty="0" err="1"/>
              <a:t>int</a:t>
            </a:r>
            <a:r>
              <a:rPr lang="en-US" altLang="zh-CN" sz="2000" dirty="0"/>
              <a:t> </a:t>
            </a:r>
            <a:r>
              <a:rPr lang="en-US" altLang="zh-CN" sz="2000" dirty="0" err="1"/>
              <a:t>ledPin</a:t>
            </a:r>
            <a:r>
              <a:rPr lang="en-US" altLang="zh-CN" sz="2000" dirty="0"/>
              <a:t> = 13;</a:t>
            </a:r>
          </a:p>
          <a:p>
            <a:pPr marL="0" indent="0">
              <a:buNone/>
            </a:pPr>
            <a:r>
              <a:rPr lang="en-US" altLang="zh-CN" sz="2000" dirty="0" err="1"/>
              <a:t>int</a:t>
            </a:r>
            <a:r>
              <a:rPr lang="en-US" altLang="zh-CN" sz="2000" dirty="0"/>
              <a:t> </a:t>
            </a:r>
            <a:r>
              <a:rPr lang="en-US" altLang="zh-CN" sz="2000" dirty="0" err="1"/>
              <a:t>delayTime</a:t>
            </a:r>
            <a:r>
              <a:rPr lang="en-US" altLang="zh-CN" sz="2000" dirty="0"/>
              <a:t> = 1000;</a:t>
            </a:r>
          </a:p>
          <a:p>
            <a:pPr marL="0" indent="0">
              <a:buNone/>
            </a:pPr>
            <a:r>
              <a:rPr lang="en-US" altLang="zh-CN" sz="2000" dirty="0"/>
              <a:t>void setup()</a:t>
            </a:r>
          </a:p>
          <a:p>
            <a:pPr marL="0" indent="0">
              <a:buNone/>
            </a:pPr>
            <a:r>
              <a:rPr lang="en-US" altLang="zh-CN" sz="2000" dirty="0"/>
              <a:t>{</a:t>
            </a:r>
          </a:p>
          <a:p>
            <a:pPr marL="0" indent="0">
              <a:buNone/>
            </a:pPr>
            <a:r>
              <a:rPr lang="en-US" altLang="zh-CN" sz="2000" dirty="0"/>
              <a:t>	</a:t>
            </a:r>
            <a:r>
              <a:rPr lang="en-US" altLang="zh-CN" sz="2000" dirty="0" err="1"/>
              <a:t>pinMode</a:t>
            </a:r>
            <a:r>
              <a:rPr lang="en-US" altLang="zh-CN" sz="2000" dirty="0"/>
              <a:t>(</a:t>
            </a:r>
            <a:r>
              <a:rPr lang="en-US" altLang="zh-CN" sz="2000" dirty="0" err="1"/>
              <a:t>ledPin,OUTPUT</a:t>
            </a:r>
            <a:r>
              <a:rPr lang="en-US" altLang="zh-CN" sz="2000" dirty="0"/>
              <a:t>);</a:t>
            </a:r>
          </a:p>
          <a:p>
            <a:pPr marL="0" indent="0">
              <a:buNone/>
            </a:pPr>
            <a:r>
              <a:rPr lang="en-US" altLang="zh-CN" sz="2000" dirty="0"/>
              <a:t>}</a:t>
            </a:r>
          </a:p>
          <a:p>
            <a:pPr marL="0" indent="0">
              <a:buNone/>
            </a:pPr>
            <a:r>
              <a:rPr lang="en-US" altLang="zh-CN" sz="2000" dirty="0"/>
              <a:t>void loop()</a:t>
            </a:r>
          </a:p>
          <a:p>
            <a:pPr marL="0" indent="0">
              <a:buNone/>
            </a:pPr>
            <a:r>
              <a:rPr lang="en-US" altLang="zh-CN" sz="2000" dirty="0"/>
              <a:t>{</a:t>
            </a:r>
          </a:p>
          <a:p>
            <a:pPr marL="0" indent="0">
              <a:buNone/>
            </a:pPr>
            <a:r>
              <a:rPr lang="en-US" altLang="zh-CN" sz="2000" dirty="0"/>
              <a:t>	</a:t>
            </a:r>
            <a:r>
              <a:rPr lang="en-US" altLang="zh-CN" sz="2000" dirty="0" err="1"/>
              <a:t>digitalWrite</a:t>
            </a:r>
            <a:r>
              <a:rPr lang="en-US" altLang="zh-CN" sz="2000" dirty="0"/>
              <a:t>(</a:t>
            </a:r>
            <a:r>
              <a:rPr lang="en-US" altLang="zh-CN" sz="2000" dirty="0" err="1"/>
              <a:t>ledPin,HIGH</a:t>
            </a:r>
            <a:r>
              <a:rPr lang="en-US" altLang="zh-CN" sz="2000" dirty="0"/>
              <a:t>);</a:t>
            </a:r>
          </a:p>
          <a:p>
            <a:pPr marL="0" indent="0">
              <a:buNone/>
            </a:pPr>
            <a:r>
              <a:rPr lang="en-US" altLang="zh-CN" sz="2000" dirty="0"/>
              <a:t>	delay(</a:t>
            </a:r>
            <a:r>
              <a:rPr lang="en-US" altLang="zh-CN" sz="2000" dirty="0" err="1"/>
              <a:t>delayTime</a:t>
            </a:r>
            <a:r>
              <a:rPr lang="en-US" altLang="zh-CN" sz="2000" dirty="0"/>
              <a:t>);		//</a:t>
            </a:r>
            <a:r>
              <a:rPr lang="zh-CN" altLang="en-US" sz="2000" dirty="0"/>
              <a:t>延时</a:t>
            </a:r>
          </a:p>
          <a:p>
            <a:pPr marL="0" indent="0">
              <a:buNone/>
            </a:pPr>
            <a:r>
              <a:rPr lang="zh-CN" altLang="en-US" sz="2000" dirty="0"/>
              <a:t>	</a:t>
            </a:r>
            <a:r>
              <a:rPr lang="en-US" altLang="zh-CN" sz="2000" dirty="0" err="1"/>
              <a:t>digitalWrite</a:t>
            </a:r>
            <a:r>
              <a:rPr lang="en-US" altLang="zh-CN" sz="2000" dirty="0"/>
              <a:t>(</a:t>
            </a:r>
            <a:r>
              <a:rPr lang="en-US" altLang="zh-CN" sz="2000" dirty="0" err="1"/>
              <a:t>ledPin,LOW</a:t>
            </a:r>
            <a:r>
              <a:rPr lang="en-US" altLang="zh-CN" sz="2000" dirty="0"/>
              <a:t>);</a:t>
            </a:r>
          </a:p>
          <a:p>
            <a:pPr marL="0" indent="0">
              <a:buNone/>
            </a:pPr>
            <a:r>
              <a:rPr lang="en-US" altLang="zh-CN" sz="2000" dirty="0"/>
              <a:t>	delay(</a:t>
            </a:r>
            <a:r>
              <a:rPr lang="en-US" altLang="zh-CN" sz="2000" dirty="0" err="1"/>
              <a:t>delayTime</a:t>
            </a:r>
            <a:r>
              <a:rPr lang="en-US" altLang="zh-CN" sz="2000" dirty="0"/>
              <a:t>);</a:t>
            </a:r>
          </a:p>
          <a:p>
            <a:pPr marL="0" indent="0">
              <a:buNone/>
            </a:pPr>
            <a:r>
              <a:rPr lang="en-US" altLang="zh-CN" sz="2000" dirty="0"/>
              <a:t>	</a:t>
            </a:r>
            <a:r>
              <a:rPr lang="en-US" altLang="zh-CN" sz="2000" dirty="0" err="1"/>
              <a:t>delayTime</a:t>
            </a:r>
            <a:r>
              <a:rPr lang="en-US" altLang="zh-CN" sz="2000" dirty="0"/>
              <a:t>=delayTime+100;	//</a:t>
            </a:r>
            <a:r>
              <a:rPr lang="zh-CN" altLang="en-US" sz="2000" dirty="0"/>
              <a:t>每次增加延时时间</a:t>
            </a:r>
            <a:r>
              <a:rPr lang="en-US" altLang="zh-CN" sz="2000" dirty="0"/>
              <a:t>0.1s</a:t>
            </a:r>
          </a:p>
          <a:p>
            <a:pPr marL="0" indent="0">
              <a:buNone/>
            </a:pPr>
            <a:r>
              <a:rPr lang="en-US" altLang="zh-CN" sz="2000" dirty="0"/>
              <a:t>}</a:t>
            </a:r>
          </a:p>
          <a:p>
            <a:pPr marL="0" indent="0">
              <a:buNone/>
            </a:pPr>
            <a:endParaRPr lang="zh-CN" altLang="en-US" dirty="0"/>
          </a:p>
        </p:txBody>
      </p:sp>
      <p:sp>
        <p:nvSpPr>
          <p:cNvPr id="4" name="灯片编号占位符 3">
            <a:extLst>
              <a:ext uri="{FF2B5EF4-FFF2-40B4-BE49-F238E27FC236}">
                <a16:creationId xmlns:a16="http://schemas.microsoft.com/office/drawing/2014/main" id="{75999EBA-B0C6-BC39-9C2B-A76D3DFF1452}"/>
              </a:ext>
            </a:extLst>
          </p:cNvPr>
          <p:cNvSpPr>
            <a:spLocks noGrp="1"/>
          </p:cNvSpPr>
          <p:nvPr>
            <p:ph type="sldNum" sz="quarter" idx="12"/>
          </p:nvPr>
        </p:nvSpPr>
        <p:spPr/>
        <p:txBody>
          <a:bodyPr/>
          <a:lstStyle/>
          <a:p>
            <a:pPr>
              <a:defRPr/>
            </a:pPr>
            <a:fld id="{2C687883-A9F8-4324-BFDB-FCCC5C558AE8}" type="slidenum">
              <a:rPr lang="en-US" altLang="zh-CN" smtClean="0"/>
              <a:t>18</a:t>
            </a:fld>
            <a:endParaRPr lang="en-US" altLang="zh-CN"/>
          </a:p>
        </p:txBody>
      </p:sp>
    </p:spTree>
  </p:cSld>
  <p:clrMapOvr>
    <a:masterClrMapping/>
  </p:clrMapOvr>
  <p:transition>
    <p:cover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a:t>
            </a:r>
            <a:r>
              <a:rPr lang="zh-CN" altLang="zh-CN" dirty="0"/>
              <a:t>语法——</a:t>
            </a:r>
            <a:r>
              <a:rPr lang="zh-CN" altLang="en-US" dirty="0"/>
              <a:t>常</a:t>
            </a:r>
            <a:r>
              <a:rPr lang="zh-CN" altLang="zh-CN" dirty="0"/>
              <a:t>量</a:t>
            </a:r>
            <a:endParaRPr lang="zh-CN" altLang="en-US" dirty="0"/>
          </a:p>
        </p:txBody>
      </p:sp>
      <p:sp>
        <p:nvSpPr>
          <p:cNvPr id="3" name="内容占位符 2"/>
          <p:cNvSpPr>
            <a:spLocks noGrp="1"/>
          </p:cNvSpPr>
          <p:nvPr>
            <p:ph idx="1"/>
          </p:nvPr>
        </p:nvSpPr>
        <p:spPr/>
        <p:txBody>
          <a:bodyPr/>
          <a:lstStyle/>
          <a:p>
            <a:pPr marL="0" indent="0" algn="just">
              <a:buNone/>
            </a:pPr>
            <a:r>
              <a:rPr lang="zh-CN" altLang="zh-CN" dirty="0"/>
              <a:t>常量是指值不可以改变的量，例如定义常量</a:t>
            </a:r>
            <a:r>
              <a:rPr lang="en-US" altLang="zh-CN" dirty="0" err="1"/>
              <a:t>const</a:t>
            </a:r>
            <a:r>
              <a:rPr lang="en-US" altLang="zh-CN" dirty="0"/>
              <a:t> float pi = 3.14</a:t>
            </a:r>
            <a:r>
              <a:rPr lang="zh-CN" altLang="zh-CN" dirty="0"/>
              <a:t>，当</a:t>
            </a:r>
            <a:r>
              <a:rPr lang="en-US" altLang="zh-CN" dirty="0"/>
              <a:t>pi = 5</a:t>
            </a:r>
            <a:r>
              <a:rPr lang="zh-CN" altLang="zh-CN" dirty="0"/>
              <a:t>时就会报错，因为常量是不可以被赋值的。编程时，常量可以是自定义的，也可以是</a:t>
            </a:r>
            <a:r>
              <a:rPr lang="en-US" altLang="zh-CN" dirty="0"/>
              <a:t>Arduino</a:t>
            </a:r>
            <a:r>
              <a:rPr lang="zh-CN" altLang="zh-CN" dirty="0"/>
              <a:t>核心代码中自带的。</a:t>
            </a:r>
            <a:endParaRPr lang="zh-CN" altLang="en-US" dirty="0"/>
          </a:p>
        </p:txBody>
      </p:sp>
      <p:sp>
        <p:nvSpPr>
          <p:cNvPr id="4" name="灯片编号占位符 3">
            <a:extLst>
              <a:ext uri="{FF2B5EF4-FFF2-40B4-BE49-F238E27FC236}">
                <a16:creationId xmlns:a16="http://schemas.microsoft.com/office/drawing/2014/main" id="{1F5C14F5-F102-C510-3F44-60CC5076C543}"/>
              </a:ext>
            </a:extLst>
          </p:cNvPr>
          <p:cNvSpPr>
            <a:spLocks noGrp="1"/>
          </p:cNvSpPr>
          <p:nvPr>
            <p:ph type="sldNum" sz="quarter" idx="12"/>
          </p:nvPr>
        </p:nvSpPr>
        <p:spPr/>
        <p:txBody>
          <a:bodyPr/>
          <a:lstStyle/>
          <a:p>
            <a:pPr>
              <a:defRPr/>
            </a:pPr>
            <a:fld id="{2C687883-A9F8-4324-BFDB-FCCC5C558AE8}" type="slidenum">
              <a:rPr lang="en-US" altLang="zh-CN" smtClean="0"/>
              <a:t>19</a:t>
            </a:fld>
            <a:endParaRPr lang="en-US" altLang="zh-CN"/>
          </a:p>
        </p:txBody>
      </p:sp>
    </p:spTree>
  </p:cSld>
  <p:clrMapOvr>
    <a:masterClrMapping/>
  </p:clrMapOvr>
  <p:transition>
    <p:cover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sz="3600" dirty="0"/>
              <a:t>逻辑常量（布尔常量）：</a:t>
            </a:r>
            <a:r>
              <a:rPr lang="en-US" altLang="zh-CN" sz="3600" dirty="0"/>
              <a:t>false</a:t>
            </a:r>
            <a:r>
              <a:rPr lang="zh-CN" altLang="zh-CN" sz="3600" dirty="0"/>
              <a:t>和</a:t>
            </a:r>
            <a:r>
              <a:rPr lang="en-US" altLang="zh-CN" sz="3600" dirty="0"/>
              <a:t>true</a:t>
            </a:r>
            <a:endParaRPr lang="zh-CN" altLang="en-US" sz="3600" dirty="0"/>
          </a:p>
        </p:txBody>
      </p:sp>
      <p:sp>
        <p:nvSpPr>
          <p:cNvPr id="3" name="内容占位符 2"/>
          <p:cNvSpPr>
            <a:spLocks noGrp="1"/>
          </p:cNvSpPr>
          <p:nvPr>
            <p:ph idx="1"/>
          </p:nvPr>
        </p:nvSpPr>
        <p:spPr/>
        <p:txBody>
          <a:bodyPr/>
          <a:lstStyle/>
          <a:p>
            <a:pPr marL="0" indent="0" algn="just">
              <a:buNone/>
            </a:pPr>
            <a:r>
              <a:rPr lang="en-US" altLang="zh-CN" dirty="0"/>
              <a:t>false</a:t>
            </a:r>
            <a:r>
              <a:rPr lang="zh-CN" altLang="zh-CN" dirty="0"/>
              <a:t>的值为零，</a:t>
            </a:r>
            <a:r>
              <a:rPr lang="en-US" altLang="zh-CN" dirty="0"/>
              <a:t>true</a:t>
            </a:r>
            <a:r>
              <a:rPr lang="zh-CN" altLang="zh-CN" dirty="0"/>
              <a:t>通常情况下被定义为</a:t>
            </a:r>
            <a:r>
              <a:rPr lang="en-US" altLang="zh-CN" dirty="0"/>
              <a:t>1</a:t>
            </a:r>
            <a:r>
              <a:rPr lang="zh-CN" altLang="zh-CN" dirty="0"/>
              <a:t>，但</a:t>
            </a:r>
            <a:r>
              <a:rPr lang="en-US" altLang="zh-CN" dirty="0"/>
              <a:t>true</a:t>
            </a:r>
            <a:r>
              <a:rPr lang="zh-CN" altLang="zh-CN" dirty="0"/>
              <a:t>具有更广泛的定义。在布尔含义（</a:t>
            </a:r>
            <a:r>
              <a:rPr lang="en-US" altLang="zh-CN" dirty="0"/>
              <a:t>Boolean Sense</a:t>
            </a:r>
            <a:r>
              <a:rPr lang="zh-CN" altLang="zh-CN" dirty="0"/>
              <a:t>）里任何非零整数为</a:t>
            </a:r>
            <a:r>
              <a:rPr lang="en-US" altLang="zh-CN" dirty="0"/>
              <a:t>true</a:t>
            </a:r>
            <a:r>
              <a:rPr lang="zh-CN" altLang="zh-CN" dirty="0"/>
              <a:t>。所以在布尔含义中</a:t>
            </a:r>
            <a:r>
              <a:rPr lang="en-US" altLang="zh-CN" dirty="0"/>
              <a:t>-1</a:t>
            </a:r>
            <a:r>
              <a:rPr lang="zh-CN" altLang="zh-CN" dirty="0"/>
              <a:t>、</a:t>
            </a:r>
            <a:r>
              <a:rPr lang="en-US" altLang="zh-CN" dirty="0"/>
              <a:t>2</a:t>
            </a:r>
            <a:r>
              <a:rPr lang="zh-CN" altLang="zh-CN" dirty="0"/>
              <a:t>和</a:t>
            </a:r>
            <a:r>
              <a:rPr lang="en-US" altLang="zh-CN" dirty="0"/>
              <a:t>-200</a:t>
            </a:r>
            <a:r>
              <a:rPr lang="zh-CN" altLang="zh-CN" dirty="0"/>
              <a:t>都定义为</a:t>
            </a:r>
            <a:r>
              <a:rPr lang="en-US" altLang="zh-CN" dirty="0"/>
              <a:t>true</a:t>
            </a:r>
            <a:r>
              <a:rPr lang="zh-CN" altLang="zh-CN" dirty="0"/>
              <a:t>。</a:t>
            </a:r>
            <a:endParaRPr lang="zh-CN" altLang="en-US" dirty="0"/>
          </a:p>
        </p:txBody>
      </p:sp>
      <p:sp>
        <p:nvSpPr>
          <p:cNvPr id="4" name="灯片编号占位符 3">
            <a:extLst>
              <a:ext uri="{FF2B5EF4-FFF2-40B4-BE49-F238E27FC236}">
                <a16:creationId xmlns:a16="http://schemas.microsoft.com/office/drawing/2014/main" id="{E8566E00-EEE8-7E8A-3A34-05AAB200AF1F}"/>
              </a:ext>
            </a:extLst>
          </p:cNvPr>
          <p:cNvSpPr>
            <a:spLocks noGrp="1"/>
          </p:cNvSpPr>
          <p:nvPr>
            <p:ph type="sldNum" sz="quarter" idx="12"/>
          </p:nvPr>
        </p:nvSpPr>
        <p:spPr/>
        <p:txBody>
          <a:bodyPr/>
          <a:lstStyle/>
          <a:p>
            <a:pPr>
              <a:defRPr/>
            </a:pPr>
            <a:fld id="{2C687883-A9F8-4324-BFDB-FCCC5C558AE8}" type="slidenum">
              <a:rPr lang="en-US" altLang="zh-CN" smtClean="0"/>
              <a:t>20</a:t>
            </a:fld>
            <a:endParaRPr lang="en-US" altLang="zh-CN"/>
          </a:p>
        </p:txBody>
      </p:sp>
    </p:spTree>
  </p:cSld>
  <p:clrMapOvr>
    <a:masterClrMapping/>
  </p:clrMapOvr>
  <p:transition>
    <p:cover di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799" y="609600"/>
            <a:ext cx="7772401" cy="1143000"/>
          </a:xfrm>
        </p:spPr>
        <p:txBody>
          <a:bodyPr/>
          <a:lstStyle/>
          <a:p>
            <a:pPr algn="l"/>
            <a:r>
              <a:rPr lang="zh-CN" altLang="zh-CN" sz="4000" dirty="0"/>
              <a:t>数字引脚常量：</a:t>
            </a:r>
            <a:r>
              <a:rPr lang="en-US" altLang="zh-CN" sz="4000" dirty="0"/>
              <a:t>INPUT</a:t>
            </a:r>
            <a:r>
              <a:rPr lang="zh-CN" altLang="zh-CN" sz="4000" dirty="0"/>
              <a:t>和</a:t>
            </a:r>
            <a:r>
              <a:rPr lang="en-US" altLang="zh-CN" sz="4000" dirty="0"/>
              <a:t>OUTPUT</a:t>
            </a:r>
            <a:endParaRPr lang="zh-CN" altLang="en-US" sz="4000" dirty="0"/>
          </a:p>
        </p:txBody>
      </p:sp>
      <p:sp>
        <p:nvSpPr>
          <p:cNvPr id="3" name="内容占位符 2"/>
          <p:cNvSpPr>
            <a:spLocks noGrp="1"/>
          </p:cNvSpPr>
          <p:nvPr>
            <p:ph idx="1"/>
          </p:nvPr>
        </p:nvSpPr>
        <p:spPr/>
        <p:txBody>
          <a:bodyPr/>
          <a:lstStyle/>
          <a:p>
            <a:pPr marL="0" indent="0" algn="just">
              <a:buNone/>
            </a:pPr>
            <a:r>
              <a:rPr lang="zh-CN" altLang="zh-CN" dirty="0"/>
              <a:t>这两个常量必须是大写的。当引脚被配置成</a:t>
            </a:r>
            <a:r>
              <a:rPr lang="en-US" altLang="zh-CN" dirty="0"/>
              <a:t>INPUT</a:t>
            </a:r>
            <a:r>
              <a:rPr lang="zh-CN" altLang="zh-CN" dirty="0"/>
              <a:t>时，此引脚就从引脚读取数据；当引脚被配置成</a:t>
            </a:r>
            <a:r>
              <a:rPr lang="en-US" altLang="zh-CN" dirty="0"/>
              <a:t>OUTPUT</a:t>
            </a:r>
            <a:r>
              <a:rPr lang="zh-CN" altLang="zh-CN" dirty="0"/>
              <a:t>时，此引脚向外部电路输出数据。在前面程序中经常出现的</a:t>
            </a:r>
            <a:r>
              <a:rPr lang="en-US" altLang="zh-CN" dirty="0" err="1"/>
              <a:t>pinMode</a:t>
            </a:r>
            <a:r>
              <a:rPr lang="en-US" altLang="zh-CN" dirty="0"/>
              <a:t>(</a:t>
            </a:r>
            <a:r>
              <a:rPr lang="en-US" altLang="zh-CN" dirty="0" err="1"/>
              <a:t>ledPin,OUTPUT</a:t>
            </a:r>
            <a:r>
              <a:rPr lang="en-US" altLang="zh-CN" dirty="0"/>
              <a:t>)</a:t>
            </a:r>
            <a:r>
              <a:rPr lang="zh-CN" altLang="zh-CN" dirty="0"/>
              <a:t>，表示从</a:t>
            </a:r>
            <a:r>
              <a:rPr lang="en-US" altLang="zh-CN" dirty="0" err="1"/>
              <a:t>ledPin</a:t>
            </a:r>
            <a:r>
              <a:rPr lang="zh-CN" altLang="zh-CN" dirty="0"/>
              <a:t>代表的引脚向外部电路输出数据，使得小灯能够变亮或者熄灭。</a:t>
            </a:r>
            <a:endParaRPr lang="zh-CN" altLang="en-US" dirty="0"/>
          </a:p>
        </p:txBody>
      </p:sp>
      <p:sp>
        <p:nvSpPr>
          <p:cNvPr id="4" name="灯片编号占位符 3">
            <a:extLst>
              <a:ext uri="{FF2B5EF4-FFF2-40B4-BE49-F238E27FC236}">
                <a16:creationId xmlns:a16="http://schemas.microsoft.com/office/drawing/2014/main" id="{80D85F47-12E4-8A3E-BE37-D81D477244B1}"/>
              </a:ext>
            </a:extLst>
          </p:cNvPr>
          <p:cNvSpPr>
            <a:spLocks noGrp="1"/>
          </p:cNvSpPr>
          <p:nvPr>
            <p:ph type="sldNum" sz="quarter" idx="12"/>
          </p:nvPr>
        </p:nvSpPr>
        <p:spPr/>
        <p:txBody>
          <a:bodyPr/>
          <a:lstStyle/>
          <a:p>
            <a:pPr>
              <a:defRPr/>
            </a:pPr>
            <a:fld id="{2C687883-A9F8-4324-BFDB-FCCC5C558AE8}" type="slidenum">
              <a:rPr lang="en-US" altLang="zh-CN" smtClean="0"/>
              <a:t>21</a:t>
            </a:fld>
            <a:endParaRPr lang="en-US" altLang="zh-CN"/>
          </a:p>
        </p:txBody>
      </p:sp>
    </p:spTree>
  </p:cSld>
  <p:clrMapOvr>
    <a:masterClrMapping/>
  </p:clrMapOvr>
  <p:transition>
    <p:cover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引脚电压常量：</a:t>
            </a:r>
            <a:r>
              <a:rPr lang="en-US" altLang="zh-CN" dirty="0"/>
              <a:t>HIGH</a:t>
            </a:r>
            <a:r>
              <a:rPr lang="zh-CN" altLang="zh-CN" dirty="0"/>
              <a:t>和</a:t>
            </a:r>
            <a:r>
              <a:rPr lang="en-US" altLang="zh-CN" dirty="0"/>
              <a:t>LOW</a:t>
            </a:r>
            <a:endParaRPr lang="zh-CN" altLang="en-US" dirty="0"/>
          </a:p>
        </p:txBody>
      </p:sp>
      <p:sp>
        <p:nvSpPr>
          <p:cNvPr id="3" name="内容占位符 2"/>
          <p:cNvSpPr>
            <a:spLocks noGrp="1"/>
          </p:cNvSpPr>
          <p:nvPr>
            <p:ph idx="1"/>
          </p:nvPr>
        </p:nvSpPr>
        <p:spPr>
          <a:xfrm>
            <a:off x="685800" y="1654629"/>
            <a:ext cx="7772400" cy="4844142"/>
          </a:xfrm>
        </p:spPr>
        <p:txBody>
          <a:bodyPr/>
          <a:lstStyle/>
          <a:p>
            <a:pPr marL="0" indent="0" algn="just">
              <a:buNone/>
            </a:pPr>
            <a:r>
              <a:rPr lang="zh-CN" altLang="zh-CN" sz="2800" dirty="0"/>
              <a:t>这两个常量也是必须大写的。</a:t>
            </a:r>
            <a:r>
              <a:rPr lang="en-US" altLang="zh-CN" sz="2800" dirty="0"/>
              <a:t>HIGH</a:t>
            </a:r>
            <a:r>
              <a:rPr lang="zh-CN" altLang="zh-CN" sz="2800" dirty="0"/>
              <a:t>表示的是高电位，</a:t>
            </a:r>
            <a:r>
              <a:rPr lang="en-US" altLang="zh-CN" sz="2800" dirty="0"/>
              <a:t>LOW</a:t>
            </a:r>
            <a:r>
              <a:rPr lang="zh-CN" altLang="zh-CN" sz="2800" dirty="0"/>
              <a:t>表示的是低电位。例如：</a:t>
            </a:r>
            <a:r>
              <a:rPr lang="en-US" altLang="zh-CN" sz="2800" dirty="0" err="1"/>
              <a:t>digitalWrite</a:t>
            </a:r>
            <a:r>
              <a:rPr lang="zh-CN" altLang="zh-CN" sz="2800" dirty="0"/>
              <a:t>（</a:t>
            </a:r>
            <a:r>
              <a:rPr lang="en-US" altLang="zh-CN" sz="2800" dirty="0"/>
              <a:t>pin</a:t>
            </a:r>
            <a:r>
              <a:rPr lang="zh-CN" altLang="zh-CN" sz="2800" dirty="0"/>
              <a:t>，</a:t>
            </a:r>
            <a:r>
              <a:rPr lang="en-US" altLang="zh-CN" sz="2800" dirty="0"/>
              <a:t>HIGH</a:t>
            </a:r>
            <a:r>
              <a:rPr lang="zh-CN" altLang="zh-CN" sz="2800" dirty="0"/>
              <a:t>）；就是将</a:t>
            </a:r>
            <a:r>
              <a:rPr lang="en-US" altLang="zh-CN" sz="2800" dirty="0"/>
              <a:t>pin</a:t>
            </a:r>
            <a:r>
              <a:rPr lang="zh-CN" altLang="zh-CN" sz="2800" dirty="0"/>
              <a:t>这个引脚设置成高电位的。还要注意，当一个引脚通过</a:t>
            </a:r>
            <a:r>
              <a:rPr lang="en-US" altLang="zh-CN" sz="2800" dirty="0" err="1"/>
              <a:t>pinMode</a:t>
            </a:r>
            <a:r>
              <a:rPr lang="zh-CN" altLang="zh-CN" sz="2800" dirty="0"/>
              <a:t>被设置为</a:t>
            </a:r>
            <a:r>
              <a:rPr lang="en-US" altLang="zh-CN" sz="2800" dirty="0"/>
              <a:t>INPUT</a:t>
            </a:r>
            <a:r>
              <a:rPr lang="zh-CN" altLang="zh-CN" sz="2800" dirty="0"/>
              <a:t>，并通过</a:t>
            </a:r>
            <a:r>
              <a:rPr lang="en-US" altLang="zh-CN" sz="2800" dirty="0" err="1"/>
              <a:t>digitalRead</a:t>
            </a:r>
            <a:r>
              <a:rPr lang="zh-CN" altLang="zh-CN" sz="2800" dirty="0"/>
              <a:t>读取（</a:t>
            </a:r>
            <a:r>
              <a:rPr lang="en-US" altLang="zh-CN" sz="2800" dirty="0"/>
              <a:t>read</a:t>
            </a:r>
            <a:r>
              <a:rPr lang="zh-CN" altLang="zh-CN" sz="2800" dirty="0"/>
              <a:t>）时。如果当前引脚的电压大于等于</a:t>
            </a:r>
            <a:r>
              <a:rPr lang="en-US" altLang="zh-CN" sz="2800" dirty="0"/>
              <a:t>3V</a:t>
            </a:r>
            <a:r>
              <a:rPr lang="zh-CN" altLang="zh-CN" sz="2800" dirty="0"/>
              <a:t>，微控制器将会返回为</a:t>
            </a:r>
            <a:r>
              <a:rPr lang="en-US" altLang="zh-CN" sz="2800" dirty="0"/>
              <a:t>HIGH</a:t>
            </a:r>
            <a:r>
              <a:rPr lang="zh-CN" altLang="zh-CN" sz="2800" dirty="0"/>
              <a:t>，引脚的电压小于等于</a:t>
            </a:r>
            <a:r>
              <a:rPr lang="en-US" altLang="zh-CN" sz="2800" dirty="0"/>
              <a:t>2V</a:t>
            </a:r>
            <a:r>
              <a:rPr lang="zh-CN" altLang="zh-CN" sz="2800" dirty="0"/>
              <a:t>，微控制器将返回为</a:t>
            </a:r>
            <a:r>
              <a:rPr lang="en-US" altLang="zh-CN" sz="2800" dirty="0"/>
              <a:t>LOW</a:t>
            </a:r>
            <a:r>
              <a:rPr lang="zh-CN" altLang="zh-CN" sz="2800" dirty="0"/>
              <a:t>。 当一个引脚通过</a:t>
            </a:r>
            <a:r>
              <a:rPr lang="en-US" altLang="zh-CN" sz="2800" dirty="0" err="1"/>
              <a:t>pinMode</a:t>
            </a:r>
            <a:r>
              <a:rPr lang="zh-CN" altLang="zh-CN" sz="2800" dirty="0"/>
              <a:t>配置为</a:t>
            </a:r>
            <a:r>
              <a:rPr lang="en-US" altLang="zh-CN" sz="2800" dirty="0"/>
              <a:t>OUTPUT</a:t>
            </a:r>
            <a:r>
              <a:rPr lang="zh-CN" altLang="zh-CN" sz="2800" dirty="0"/>
              <a:t>，并通过</a:t>
            </a:r>
            <a:r>
              <a:rPr lang="en-US" altLang="zh-CN" sz="2800" dirty="0" err="1"/>
              <a:t>digitalWrite</a:t>
            </a:r>
            <a:r>
              <a:rPr lang="zh-CN" altLang="zh-CN" sz="2800" dirty="0"/>
              <a:t>设置为</a:t>
            </a:r>
            <a:r>
              <a:rPr lang="en-US" altLang="zh-CN" sz="2800" dirty="0"/>
              <a:t>LOW</a:t>
            </a:r>
            <a:r>
              <a:rPr lang="zh-CN" altLang="zh-CN" sz="2800" dirty="0"/>
              <a:t>时，引脚为</a:t>
            </a:r>
            <a:r>
              <a:rPr lang="en-US" altLang="zh-CN" sz="2800" dirty="0"/>
              <a:t>0V</a:t>
            </a:r>
            <a:r>
              <a:rPr lang="zh-CN" altLang="zh-CN" sz="2800" dirty="0"/>
              <a:t>，当</a:t>
            </a:r>
            <a:r>
              <a:rPr lang="en-US" altLang="zh-CN" sz="2800" dirty="0" err="1"/>
              <a:t>digitalWrite</a:t>
            </a:r>
            <a:r>
              <a:rPr lang="zh-CN" altLang="zh-CN" sz="2800" dirty="0"/>
              <a:t>设置为</a:t>
            </a:r>
            <a:r>
              <a:rPr lang="en-US" altLang="zh-CN" sz="2800" dirty="0"/>
              <a:t>HIGH</a:t>
            </a:r>
            <a:r>
              <a:rPr lang="zh-CN" altLang="zh-CN" sz="2800" dirty="0"/>
              <a:t>时，引脚的电压应在</a:t>
            </a:r>
            <a:r>
              <a:rPr lang="en-US" altLang="zh-CN" sz="2800" dirty="0"/>
              <a:t>5V</a:t>
            </a:r>
            <a:r>
              <a:rPr lang="zh-CN" altLang="zh-CN" sz="2800" dirty="0"/>
              <a:t>。</a:t>
            </a:r>
            <a:endParaRPr lang="zh-CN" altLang="en-US" sz="2800" dirty="0"/>
          </a:p>
        </p:txBody>
      </p:sp>
      <p:sp>
        <p:nvSpPr>
          <p:cNvPr id="4" name="灯片编号占位符 3">
            <a:extLst>
              <a:ext uri="{FF2B5EF4-FFF2-40B4-BE49-F238E27FC236}">
                <a16:creationId xmlns:a16="http://schemas.microsoft.com/office/drawing/2014/main" id="{013EBA0F-7F6B-CA9F-F3BB-42685E64E80A}"/>
              </a:ext>
            </a:extLst>
          </p:cNvPr>
          <p:cNvSpPr>
            <a:spLocks noGrp="1"/>
          </p:cNvSpPr>
          <p:nvPr>
            <p:ph type="sldNum" sz="quarter" idx="12"/>
          </p:nvPr>
        </p:nvSpPr>
        <p:spPr/>
        <p:txBody>
          <a:bodyPr/>
          <a:lstStyle/>
          <a:p>
            <a:pPr>
              <a:defRPr/>
            </a:pPr>
            <a:fld id="{2C687883-A9F8-4324-BFDB-FCCC5C558AE8}" type="slidenum">
              <a:rPr lang="en-US" altLang="zh-CN" smtClean="0"/>
              <a:t>22</a:t>
            </a:fld>
            <a:endParaRPr lang="en-US" altLang="zh-CN"/>
          </a:p>
        </p:txBody>
      </p:sp>
    </p:spTree>
  </p:cSld>
  <p:clrMapOvr>
    <a:masterClrMapping/>
  </p:clrMapOvr>
  <p:transition>
    <p:cover di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自定义常量</a:t>
            </a:r>
            <a:endParaRPr lang="zh-CN" altLang="en-US" dirty="0"/>
          </a:p>
        </p:txBody>
      </p:sp>
      <p:sp>
        <p:nvSpPr>
          <p:cNvPr id="3" name="内容占位符 2"/>
          <p:cNvSpPr>
            <a:spLocks noGrp="1"/>
          </p:cNvSpPr>
          <p:nvPr>
            <p:ph idx="1"/>
          </p:nvPr>
        </p:nvSpPr>
        <p:spPr/>
        <p:txBody>
          <a:bodyPr/>
          <a:lstStyle/>
          <a:p>
            <a:pPr marL="0" indent="0" algn="just">
              <a:buNone/>
            </a:pPr>
            <a:r>
              <a:rPr lang="zh-CN" altLang="zh-CN" dirty="0"/>
              <a:t>在</a:t>
            </a:r>
            <a:r>
              <a:rPr lang="en-US" altLang="zh-CN" dirty="0"/>
              <a:t>Arduino</a:t>
            </a:r>
            <a:r>
              <a:rPr lang="zh-CN" altLang="zh-CN" dirty="0"/>
              <a:t>中自定义常量包括宏定义</a:t>
            </a:r>
            <a:r>
              <a:rPr lang="en-US" altLang="zh-CN" dirty="0"/>
              <a:t>#define</a:t>
            </a:r>
            <a:r>
              <a:rPr lang="zh-CN" altLang="zh-CN" dirty="0"/>
              <a:t>和使用关键字</a:t>
            </a:r>
            <a:r>
              <a:rPr lang="en-US" altLang="zh-CN" dirty="0" err="1"/>
              <a:t>const</a:t>
            </a:r>
            <a:r>
              <a:rPr lang="zh-CN" altLang="zh-CN" dirty="0"/>
              <a:t>来定义，它们之间有细微的区别。在定义数组时只能使用</a:t>
            </a:r>
            <a:r>
              <a:rPr lang="en-US" altLang="zh-CN" dirty="0" err="1"/>
              <a:t>const</a:t>
            </a:r>
            <a:r>
              <a:rPr lang="zh-CN" altLang="zh-CN" dirty="0"/>
              <a:t>。一般</a:t>
            </a:r>
            <a:r>
              <a:rPr lang="en-US" altLang="zh-CN" dirty="0" err="1"/>
              <a:t>const</a:t>
            </a:r>
            <a:r>
              <a:rPr lang="zh-CN" altLang="zh-CN" dirty="0"/>
              <a:t>相对的＃</a:t>
            </a:r>
            <a:r>
              <a:rPr lang="en-US" altLang="zh-CN" dirty="0"/>
              <a:t>define</a:t>
            </a:r>
            <a:r>
              <a:rPr lang="zh-CN" altLang="zh-CN" dirty="0"/>
              <a:t>是首选的定义常量语法。</a:t>
            </a:r>
            <a:endParaRPr lang="zh-CN" altLang="en-US" dirty="0"/>
          </a:p>
        </p:txBody>
      </p:sp>
      <p:sp>
        <p:nvSpPr>
          <p:cNvPr id="4" name="灯片编号占位符 3">
            <a:extLst>
              <a:ext uri="{FF2B5EF4-FFF2-40B4-BE49-F238E27FC236}">
                <a16:creationId xmlns:a16="http://schemas.microsoft.com/office/drawing/2014/main" id="{0CFD04EA-B03C-D6A8-3B15-1355D1171FF4}"/>
              </a:ext>
            </a:extLst>
          </p:cNvPr>
          <p:cNvSpPr>
            <a:spLocks noGrp="1"/>
          </p:cNvSpPr>
          <p:nvPr>
            <p:ph type="sldNum" sz="quarter" idx="12"/>
          </p:nvPr>
        </p:nvSpPr>
        <p:spPr/>
        <p:txBody>
          <a:bodyPr/>
          <a:lstStyle/>
          <a:p>
            <a:pPr>
              <a:defRPr/>
            </a:pPr>
            <a:fld id="{2C687883-A9F8-4324-BFDB-FCCC5C558AE8}" type="slidenum">
              <a:rPr lang="en-US" altLang="zh-CN" smtClean="0"/>
              <a:t>23</a:t>
            </a:fld>
            <a:endParaRPr lang="en-US" altLang="zh-CN"/>
          </a:p>
        </p:txBody>
      </p:sp>
    </p:spTree>
  </p:cSld>
  <p:clrMapOvr>
    <a:masterClrMapping/>
  </p:clrMapOvr>
  <p:transition>
    <p:cover dir="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a:t>
            </a:r>
            <a:r>
              <a:rPr lang="zh-CN" altLang="zh-CN" dirty="0"/>
              <a:t>语法——数据类型</a:t>
            </a:r>
            <a:endParaRPr lang="zh-CN" altLang="en-US" dirty="0"/>
          </a:p>
        </p:txBody>
      </p:sp>
      <p:sp>
        <p:nvSpPr>
          <p:cNvPr id="3" name="内容占位符 2"/>
          <p:cNvSpPr>
            <a:spLocks noGrp="1"/>
          </p:cNvSpPr>
          <p:nvPr>
            <p:ph idx="1"/>
          </p:nvPr>
        </p:nvSpPr>
        <p:spPr>
          <a:xfrm>
            <a:off x="685800" y="1752599"/>
            <a:ext cx="7772400" cy="4517571"/>
          </a:xfrm>
        </p:spPr>
        <p:txBody>
          <a:bodyPr/>
          <a:lstStyle/>
          <a:p>
            <a:pPr marL="0" indent="0" algn="just">
              <a:buNone/>
            </a:pPr>
            <a:r>
              <a:rPr lang="en-US" altLang="zh-CN" dirty="0"/>
              <a:t>Arduino</a:t>
            </a:r>
            <a:r>
              <a:rPr lang="zh-CN" altLang="zh-CN" dirty="0"/>
              <a:t>与</a:t>
            </a:r>
            <a:r>
              <a:rPr lang="en-US" altLang="zh-CN" dirty="0"/>
              <a:t>C</a:t>
            </a:r>
            <a:r>
              <a:rPr lang="zh-CN" altLang="zh-CN" dirty="0"/>
              <a:t>语言类似，有多种数据类型。数据类型在数据结构中的定义是一个值的集合，以及定义在这个值集上的一组操作，各种数据类型需要在特定的地方使用。一般来说，变量的数据类型决定了如何将代表这些值的位存储到计算机的内存中。在声明变量时需要指定它的数据类型，所有变量都具有数据类型，以便决定存储不同类型的数据。</a:t>
            </a:r>
            <a:endParaRPr lang="zh-CN" altLang="en-US" dirty="0"/>
          </a:p>
        </p:txBody>
      </p:sp>
      <p:sp>
        <p:nvSpPr>
          <p:cNvPr id="4" name="灯片编号占位符 3">
            <a:extLst>
              <a:ext uri="{FF2B5EF4-FFF2-40B4-BE49-F238E27FC236}">
                <a16:creationId xmlns:a16="http://schemas.microsoft.com/office/drawing/2014/main" id="{799B8ACB-CC11-5A34-5B05-9C04500BCF6F}"/>
              </a:ext>
            </a:extLst>
          </p:cNvPr>
          <p:cNvSpPr>
            <a:spLocks noGrp="1"/>
          </p:cNvSpPr>
          <p:nvPr>
            <p:ph type="sldNum" sz="quarter" idx="12"/>
          </p:nvPr>
        </p:nvSpPr>
        <p:spPr/>
        <p:txBody>
          <a:bodyPr/>
          <a:lstStyle/>
          <a:p>
            <a:pPr>
              <a:defRPr/>
            </a:pPr>
            <a:fld id="{2C687883-A9F8-4324-BFDB-FCCC5C558AE8}" type="slidenum">
              <a:rPr lang="en-US" altLang="zh-CN" smtClean="0"/>
              <a:t>24</a:t>
            </a:fld>
            <a:endParaRPr lang="en-US" altLang="zh-CN"/>
          </a:p>
        </p:txBody>
      </p:sp>
    </p:spTree>
  </p:cSld>
  <p:clrMapOvr>
    <a:masterClrMapping/>
  </p:clrMapOvr>
  <p:transition>
    <p:cover di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常用的数据类型</a:t>
            </a:r>
            <a:endParaRPr lang="zh-CN" altLang="en-US" dirty="0"/>
          </a:p>
        </p:txBody>
      </p:sp>
      <p:sp>
        <p:nvSpPr>
          <p:cNvPr id="3" name="内容占位符 2"/>
          <p:cNvSpPr>
            <a:spLocks noGrp="1"/>
          </p:cNvSpPr>
          <p:nvPr>
            <p:ph idx="1"/>
          </p:nvPr>
        </p:nvSpPr>
        <p:spPr/>
        <p:txBody>
          <a:bodyPr/>
          <a:lstStyle/>
          <a:p>
            <a:pPr marL="0" indent="0" algn="just">
              <a:buNone/>
            </a:pPr>
            <a:r>
              <a:rPr lang="zh-CN" altLang="zh-CN" dirty="0"/>
              <a:t>常用的数据类型有</a:t>
            </a:r>
            <a:r>
              <a:rPr lang="zh-CN" altLang="zh-CN" dirty="0">
                <a:solidFill>
                  <a:schemeClr val="accent6"/>
                </a:solidFill>
              </a:rPr>
              <a:t>布尔类型</a:t>
            </a:r>
            <a:r>
              <a:rPr lang="zh-CN" altLang="zh-CN" dirty="0"/>
              <a:t>、</a:t>
            </a:r>
            <a:r>
              <a:rPr lang="zh-CN" altLang="zh-CN" dirty="0">
                <a:solidFill>
                  <a:schemeClr val="accent6"/>
                </a:solidFill>
              </a:rPr>
              <a:t>字符型</a:t>
            </a:r>
            <a:r>
              <a:rPr lang="zh-CN" altLang="zh-CN" dirty="0"/>
              <a:t>、</a:t>
            </a:r>
            <a:r>
              <a:rPr lang="zh-CN" altLang="zh-CN" dirty="0">
                <a:solidFill>
                  <a:schemeClr val="accent6"/>
                </a:solidFill>
              </a:rPr>
              <a:t>字节型</a:t>
            </a:r>
            <a:r>
              <a:rPr lang="zh-CN" altLang="zh-CN" dirty="0"/>
              <a:t>、</a:t>
            </a:r>
            <a:r>
              <a:rPr lang="zh-CN" altLang="zh-CN" dirty="0">
                <a:solidFill>
                  <a:schemeClr val="accent6"/>
                </a:solidFill>
              </a:rPr>
              <a:t>整型</a:t>
            </a:r>
            <a:r>
              <a:rPr lang="zh-CN" altLang="zh-CN" dirty="0"/>
              <a:t>、</a:t>
            </a:r>
            <a:r>
              <a:rPr lang="zh-CN" altLang="zh-CN" dirty="0">
                <a:solidFill>
                  <a:schemeClr val="accent6"/>
                </a:solidFill>
              </a:rPr>
              <a:t>无符号整型</a:t>
            </a:r>
            <a:r>
              <a:rPr lang="zh-CN" altLang="zh-CN" dirty="0"/>
              <a:t>、</a:t>
            </a:r>
            <a:r>
              <a:rPr lang="zh-CN" altLang="zh-CN" dirty="0">
                <a:solidFill>
                  <a:schemeClr val="accent6"/>
                </a:solidFill>
              </a:rPr>
              <a:t>长整型</a:t>
            </a:r>
            <a:r>
              <a:rPr lang="zh-CN" altLang="zh-CN" dirty="0"/>
              <a:t>、</a:t>
            </a:r>
            <a:r>
              <a:rPr lang="zh-CN" altLang="zh-CN" dirty="0">
                <a:solidFill>
                  <a:schemeClr val="accent6"/>
                </a:solidFill>
              </a:rPr>
              <a:t>无符号长整型</a:t>
            </a:r>
            <a:r>
              <a:rPr lang="zh-CN" altLang="zh-CN" dirty="0"/>
              <a:t>、</a:t>
            </a:r>
            <a:r>
              <a:rPr lang="zh-CN" altLang="zh-CN" dirty="0">
                <a:solidFill>
                  <a:schemeClr val="accent6"/>
                </a:solidFill>
              </a:rPr>
              <a:t>浮点型</a:t>
            </a:r>
            <a:r>
              <a:rPr lang="zh-CN" altLang="zh-CN" dirty="0"/>
              <a:t>、</a:t>
            </a:r>
            <a:r>
              <a:rPr lang="zh-CN" altLang="zh-CN" dirty="0">
                <a:solidFill>
                  <a:schemeClr val="accent6"/>
                </a:solidFill>
              </a:rPr>
              <a:t>双精度浮点</a:t>
            </a:r>
            <a:r>
              <a:rPr lang="zh-CN" altLang="zh-CN" dirty="0"/>
              <a:t>型等</a:t>
            </a:r>
            <a:r>
              <a:rPr lang="zh-CN" altLang="en-US" dirty="0"/>
              <a:t>。</a:t>
            </a:r>
          </a:p>
        </p:txBody>
      </p:sp>
      <p:sp>
        <p:nvSpPr>
          <p:cNvPr id="4" name="灯片编号占位符 3">
            <a:extLst>
              <a:ext uri="{FF2B5EF4-FFF2-40B4-BE49-F238E27FC236}">
                <a16:creationId xmlns:a16="http://schemas.microsoft.com/office/drawing/2014/main" id="{60500C0C-3B34-53A7-A206-01435D0D8F53}"/>
              </a:ext>
            </a:extLst>
          </p:cNvPr>
          <p:cNvSpPr>
            <a:spLocks noGrp="1"/>
          </p:cNvSpPr>
          <p:nvPr>
            <p:ph type="sldNum" sz="quarter" idx="12"/>
          </p:nvPr>
        </p:nvSpPr>
        <p:spPr/>
        <p:txBody>
          <a:bodyPr/>
          <a:lstStyle/>
          <a:p>
            <a:pPr>
              <a:defRPr/>
            </a:pPr>
            <a:fld id="{2C687883-A9F8-4324-BFDB-FCCC5C558AE8}" type="slidenum">
              <a:rPr lang="en-US" altLang="zh-CN" smtClean="0"/>
              <a:t>25</a:t>
            </a:fld>
            <a:endParaRPr lang="en-US" altLang="zh-CN"/>
          </a:p>
        </p:txBody>
      </p:sp>
    </p:spTree>
  </p:cSld>
  <p:clrMapOvr>
    <a:masterClrMapping/>
  </p:clrMapOvr>
  <p:transition>
    <p:cover di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布尔类型</a:t>
            </a:r>
            <a:endParaRPr lang="zh-CN" altLang="en-US" dirty="0"/>
          </a:p>
        </p:txBody>
      </p:sp>
      <p:sp>
        <p:nvSpPr>
          <p:cNvPr id="3" name="内容占位符 2"/>
          <p:cNvSpPr>
            <a:spLocks noGrp="1"/>
          </p:cNvSpPr>
          <p:nvPr>
            <p:ph idx="1"/>
          </p:nvPr>
        </p:nvSpPr>
        <p:spPr/>
        <p:txBody>
          <a:bodyPr/>
          <a:lstStyle/>
          <a:p>
            <a:pPr marL="0" indent="0" algn="just">
              <a:buNone/>
            </a:pPr>
            <a:r>
              <a:rPr lang="zh-CN" altLang="zh-CN" dirty="0"/>
              <a:t>布尔值（</a:t>
            </a:r>
            <a:r>
              <a:rPr lang="en-US" altLang="zh-CN" dirty="0" err="1"/>
              <a:t>boolean</a:t>
            </a:r>
            <a:r>
              <a:rPr lang="zh-CN" altLang="zh-CN" dirty="0"/>
              <a:t>）是一种逻辑值，其结果只能为真（</a:t>
            </a:r>
            <a:r>
              <a:rPr lang="en-US" altLang="zh-CN" dirty="0"/>
              <a:t>true</a:t>
            </a:r>
            <a:r>
              <a:rPr lang="zh-CN" altLang="zh-CN" dirty="0"/>
              <a:t>）或者假（</a:t>
            </a:r>
            <a:r>
              <a:rPr lang="en-US" altLang="zh-CN" dirty="0"/>
              <a:t>false</a:t>
            </a:r>
            <a:r>
              <a:rPr lang="zh-CN" altLang="zh-CN" dirty="0"/>
              <a:t>）。布尔值可以用来进行计算，最常用的布尔运算符是与运算（</a:t>
            </a:r>
            <a:r>
              <a:rPr lang="en-US" altLang="zh-CN" dirty="0"/>
              <a:t>&amp;&amp;</a:t>
            </a:r>
            <a:r>
              <a:rPr lang="zh-CN" altLang="zh-CN" dirty="0"/>
              <a:t>）、或运算（</a:t>
            </a:r>
            <a:r>
              <a:rPr lang="en-US" altLang="zh-CN" dirty="0"/>
              <a:t>||</a:t>
            </a:r>
            <a:r>
              <a:rPr lang="zh-CN" altLang="zh-CN" dirty="0"/>
              <a:t>）和非运算（！）。</a:t>
            </a:r>
            <a:endParaRPr lang="zh-CN" altLang="en-US" dirty="0"/>
          </a:p>
        </p:txBody>
      </p:sp>
      <p:sp>
        <p:nvSpPr>
          <p:cNvPr id="4" name="灯片编号占位符 3">
            <a:extLst>
              <a:ext uri="{FF2B5EF4-FFF2-40B4-BE49-F238E27FC236}">
                <a16:creationId xmlns:a16="http://schemas.microsoft.com/office/drawing/2014/main" id="{533922E4-31E5-4752-961E-F97135B3113D}"/>
              </a:ext>
            </a:extLst>
          </p:cNvPr>
          <p:cNvSpPr>
            <a:spLocks noGrp="1"/>
          </p:cNvSpPr>
          <p:nvPr>
            <p:ph type="sldNum" sz="quarter" idx="12"/>
          </p:nvPr>
        </p:nvSpPr>
        <p:spPr/>
        <p:txBody>
          <a:bodyPr/>
          <a:lstStyle/>
          <a:p>
            <a:pPr>
              <a:defRPr/>
            </a:pPr>
            <a:fld id="{2C687883-A9F8-4324-BFDB-FCCC5C558AE8}" type="slidenum">
              <a:rPr lang="en-US" altLang="zh-CN" smtClean="0"/>
              <a:t>26</a:t>
            </a:fld>
            <a:endParaRPr lang="en-US" altLang="zh-CN"/>
          </a:p>
        </p:txBody>
      </p:sp>
    </p:spTree>
  </p:cSld>
  <p:clrMapOvr>
    <a:masterClrMapping/>
  </p:clrMapOvr>
  <p:transition>
    <p:cover di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布尔类型</a:t>
            </a:r>
            <a:endParaRPr lang="zh-CN" altLang="en-US" dirty="0"/>
          </a:p>
        </p:txBody>
      </p:sp>
      <p:pic>
        <p:nvPicPr>
          <p:cNvPr id="6" name="内容占位符 5"/>
          <p:cNvPicPr>
            <a:picLocks noGrp="1" noChangeAspect="1"/>
          </p:cNvPicPr>
          <p:nvPr>
            <p:ph idx="1"/>
          </p:nvPr>
        </p:nvPicPr>
        <p:blipFill>
          <a:blip r:embed="rId2"/>
          <a:stretch>
            <a:fillRect/>
          </a:stretch>
        </p:blipFill>
        <p:spPr>
          <a:xfrm>
            <a:off x="685800" y="1752600"/>
            <a:ext cx="7951022" cy="3603171"/>
          </a:xfrm>
          <a:prstGeom prst="rect">
            <a:avLst/>
          </a:prstGeom>
        </p:spPr>
      </p:pic>
      <p:sp>
        <p:nvSpPr>
          <p:cNvPr id="3" name="灯片编号占位符 2">
            <a:extLst>
              <a:ext uri="{FF2B5EF4-FFF2-40B4-BE49-F238E27FC236}">
                <a16:creationId xmlns:a16="http://schemas.microsoft.com/office/drawing/2014/main" id="{493A97B3-A49C-9541-4ED5-4208EFCB3C26}"/>
              </a:ext>
            </a:extLst>
          </p:cNvPr>
          <p:cNvSpPr>
            <a:spLocks noGrp="1"/>
          </p:cNvSpPr>
          <p:nvPr>
            <p:ph type="sldNum" sz="quarter" idx="12"/>
          </p:nvPr>
        </p:nvSpPr>
        <p:spPr/>
        <p:txBody>
          <a:bodyPr/>
          <a:lstStyle/>
          <a:p>
            <a:pPr>
              <a:defRPr/>
            </a:pPr>
            <a:fld id="{2C687883-A9F8-4324-BFDB-FCCC5C558AE8}" type="slidenum">
              <a:rPr lang="en-US" altLang="zh-CN" smtClean="0"/>
              <a:t>27</a:t>
            </a:fld>
            <a:endParaRPr lang="en-US" altLang="zh-CN"/>
          </a:p>
        </p:txBody>
      </p:sp>
    </p:spTree>
  </p:cSld>
  <p:clrMapOvr>
    <a:masterClrMapping/>
  </p:clrMapOvr>
  <p:transition>
    <p:cover di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字符型</a:t>
            </a:r>
            <a:endParaRPr lang="zh-CN" altLang="en-US" dirty="0"/>
          </a:p>
        </p:txBody>
      </p:sp>
      <p:sp>
        <p:nvSpPr>
          <p:cNvPr id="3" name="内容占位符 2"/>
          <p:cNvSpPr>
            <a:spLocks noGrp="1"/>
          </p:cNvSpPr>
          <p:nvPr>
            <p:ph idx="1"/>
          </p:nvPr>
        </p:nvSpPr>
        <p:spPr/>
        <p:txBody>
          <a:bodyPr/>
          <a:lstStyle/>
          <a:p>
            <a:pPr marL="0" indent="0" algn="just">
              <a:buNone/>
            </a:pPr>
            <a:r>
              <a:rPr lang="zh-CN" altLang="zh-CN" dirty="0"/>
              <a:t>字符型（</a:t>
            </a:r>
            <a:r>
              <a:rPr lang="en-US" altLang="zh-CN" dirty="0"/>
              <a:t>char</a:t>
            </a:r>
            <a:r>
              <a:rPr lang="zh-CN" altLang="zh-CN" dirty="0"/>
              <a:t>）变量可以用来存放字符，其数值范围是</a:t>
            </a:r>
            <a:r>
              <a:rPr lang="en-US" altLang="zh-CN" dirty="0"/>
              <a:t>-128~+127</a:t>
            </a:r>
            <a:r>
              <a:rPr lang="zh-CN" altLang="zh-CN" dirty="0"/>
              <a:t>。例如：</a:t>
            </a:r>
            <a:endParaRPr lang="en-US" altLang="zh-CN" dirty="0"/>
          </a:p>
          <a:p>
            <a:pPr marL="0" indent="0">
              <a:buNone/>
            </a:pPr>
            <a:endParaRPr lang="en-US" altLang="zh-CN" dirty="0"/>
          </a:p>
          <a:p>
            <a:pPr marL="0" indent="0">
              <a:buNone/>
            </a:pPr>
            <a:r>
              <a:rPr lang="en-US" altLang="zh-CN" dirty="0"/>
              <a:t>char A=58;</a:t>
            </a:r>
            <a:endParaRPr lang="zh-CN" altLang="zh-CN" dirty="0"/>
          </a:p>
          <a:p>
            <a:pPr marL="0" indent="0">
              <a:buNone/>
            </a:pPr>
            <a:endParaRPr lang="zh-CN" altLang="en-US" dirty="0"/>
          </a:p>
        </p:txBody>
      </p:sp>
      <p:sp>
        <p:nvSpPr>
          <p:cNvPr id="4" name="灯片编号占位符 3">
            <a:extLst>
              <a:ext uri="{FF2B5EF4-FFF2-40B4-BE49-F238E27FC236}">
                <a16:creationId xmlns:a16="http://schemas.microsoft.com/office/drawing/2014/main" id="{E69DC3D0-0F0D-E494-C238-5C0DDF1FAAFD}"/>
              </a:ext>
            </a:extLst>
          </p:cNvPr>
          <p:cNvSpPr>
            <a:spLocks noGrp="1"/>
          </p:cNvSpPr>
          <p:nvPr>
            <p:ph type="sldNum" sz="quarter" idx="12"/>
          </p:nvPr>
        </p:nvSpPr>
        <p:spPr/>
        <p:txBody>
          <a:bodyPr/>
          <a:lstStyle/>
          <a:p>
            <a:pPr>
              <a:defRPr/>
            </a:pPr>
            <a:fld id="{2C687883-A9F8-4324-BFDB-FCCC5C558AE8}" type="slidenum">
              <a:rPr lang="en-US" altLang="zh-CN" smtClean="0"/>
              <a:t>28</a:t>
            </a:fld>
            <a:endParaRPr lang="en-US" altLang="zh-CN"/>
          </a:p>
        </p:txBody>
      </p:sp>
    </p:spTree>
  </p:cSld>
  <p:clrMapOvr>
    <a:masterClrMapping/>
  </p:clrMapOvr>
  <p:transition>
    <p:cover di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字节型</a:t>
            </a:r>
            <a:endParaRPr lang="zh-CN" altLang="en-US" dirty="0"/>
          </a:p>
        </p:txBody>
      </p:sp>
      <p:sp>
        <p:nvSpPr>
          <p:cNvPr id="3" name="内容占位符 2"/>
          <p:cNvSpPr>
            <a:spLocks noGrp="1"/>
          </p:cNvSpPr>
          <p:nvPr>
            <p:ph idx="1"/>
          </p:nvPr>
        </p:nvSpPr>
        <p:spPr/>
        <p:txBody>
          <a:bodyPr/>
          <a:lstStyle/>
          <a:p>
            <a:pPr marL="0" indent="0" algn="just">
              <a:buNone/>
            </a:pPr>
            <a:r>
              <a:rPr lang="zh-CN" altLang="zh-CN" dirty="0"/>
              <a:t>字节（</a:t>
            </a:r>
            <a:r>
              <a:rPr lang="en-US" altLang="zh-CN" dirty="0"/>
              <a:t>byte</a:t>
            </a:r>
            <a:r>
              <a:rPr lang="zh-CN" altLang="zh-CN" dirty="0"/>
              <a:t>）只能用一个字节（</a:t>
            </a:r>
            <a:r>
              <a:rPr lang="en-US" altLang="zh-CN" dirty="0"/>
              <a:t>8</a:t>
            </a:r>
            <a:r>
              <a:rPr lang="zh-CN" altLang="zh-CN" dirty="0"/>
              <a:t>位）的存储空间，它可以用来存储</a:t>
            </a:r>
            <a:r>
              <a:rPr lang="en-US" altLang="zh-CN" dirty="0"/>
              <a:t>0~255</a:t>
            </a:r>
            <a:r>
              <a:rPr lang="zh-CN" altLang="zh-CN" dirty="0"/>
              <a:t>之间的数字。例如：</a:t>
            </a:r>
            <a:endParaRPr lang="en-US" altLang="zh-CN" dirty="0"/>
          </a:p>
          <a:p>
            <a:pPr marL="0" indent="0">
              <a:buNone/>
            </a:pPr>
            <a:endParaRPr lang="en-US" altLang="zh-CN" dirty="0"/>
          </a:p>
          <a:p>
            <a:pPr marL="0" indent="0">
              <a:buNone/>
            </a:pPr>
            <a:r>
              <a:rPr lang="en-US" altLang="zh-CN" dirty="0"/>
              <a:t>byte B=8;</a:t>
            </a:r>
            <a:endParaRPr lang="zh-CN" altLang="en-US" dirty="0"/>
          </a:p>
        </p:txBody>
      </p:sp>
      <p:sp>
        <p:nvSpPr>
          <p:cNvPr id="4" name="灯片编号占位符 3">
            <a:extLst>
              <a:ext uri="{FF2B5EF4-FFF2-40B4-BE49-F238E27FC236}">
                <a16:creationId xmlns:a16="http://schemas.microsoft.com/office/drawing/2014/main" id="{7CF2A9B1-2DEA-CA65-6DD0-6958F492D429}"/>
              </a:ext>
            </a:extLst>
          </p:cNvPr>
          <p:cNvSpPr>
            <a:spLocks noGrp="1"/>
          </p:cNvSpPr>
          <p:nvPr>
            <p:ph type="sldNum" sz="quarter" idx="12"/>
          </p:nvPr>
        </p:nvSpPr>
        <p:spPr/>
        <p:txBody>
          <a:bodyPr/>
          <a:lstStyle/>
          <a:p>
            <a:pPr>
              <a:defRPr/>
            </a:pPr>
            <a:fld id="{2C687883-A9F8-4324-BFDB-FCCC5C558AE8}" type="slidenum">
              <a:rPr lang="en-US" altLang="zh-CN" smtClean="0"/>
              <a:t>29</a:t>
            </a:fld>
            <a:endParaRPr lang="en-US" altLang="zh-CN"/>
          </a:p>
        </p:txBody>
      </p:sp>
    </p:spTree>
  </p:cSld>
  <p:clrMapOvr>
    <a:masterClrMapping/>
  </p:clrMapOvr>
  <p:transition>
    <p:cover di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整型</a:t>
            </a:r>
            <a:endParaRPr lang="zh-CN" altLang="en-US" dirty="0"/>
          </a:p>
        </p:txBody>
      </p:sp>
      <p:sp>
        <p:nvSpPr>
          <p:cNvPr id="3" name="内容占位符 2"/>
          <p:cNvSpPr>
            <a:spLocks noGrp="1"/>
          </p:cNvSpPr>
          <p:nvPr>
            <p:ph idx="1"/>
          </p:nvPr>
        </p:nvSpPr>
        <p:spPr/>
        <p:txBody>
          <a:bodyPr/>
          <a:lstStyle/>
          <a:p>
            <a:pPr marL="0" indent="0" algn="just">
              <a:buNone/>
            </a:pPr>
            <a:r>
              <a:rPr lang="zh-CN" altLang="zh-CN" dirty="0"/>
              <a:t>整型（</a:t>
            </a:r>
            <a:r>
              <a:rPr lang="en-US" altLang="zh-CN" dirty="0" err="1"/>
              <a:t>int</a:t>
            </a:r>
            <a:r>
              <a:rPr lang="zh-CN" altLang="zh-CN" dirty="0"/>
              <a:t>）用</a:t>
            </a:r>
            <a:r>
              <a:rPr lang="zh-CN" altLang="en-US" dirty="0"/>
              <a:t>两</a:t>
            </a:r>
            <a:r>
              <a:rPr lang="zh-CN" altLang="zh-CN" dirty="0"/>
              <a:t>个字节表示一个存储空间，它可以用来存储</a:t>
            </a:r>
            <a:r>
              <a:rPr lang="en-US" altLang="zh-CN" dirty="0"/>
              <a:t>-32768~+32767</a:t>
            </a:r>
            <a:r>
              <a:rPr lang="zh-CN" altLang="zh-CN" dirty="0"/>
              <a:t>之间的数字。在</a:t>
            </a:r>
            <a:r>
              <a:rPr lang="en-US" altLang="zh-CN" dirty="0"/>
              <a:t>Arduino</a:t>
            </a:r>
            <a:r>
              <a:rPr lang="zh-CN" altLang="zh-CN" dirty="0"/>
              <a:t>中，整型是最常用的变量类型。例如：</a:t>
            </a:r>
            <a:endParaRPr lang="en-US" altLang="zh-CN" dirty="0"/>
          </a:p>
          <a:p>
            <a:pPr marL="0" indent="0" algn="just">
              <a:buNone/>
            </a:pPr>
            <a:endParaRPr lang="en-US" altLang="zh-CN" dirty="0"/>
          </a:p>
          <a:p>
            <a:pPr marL="0" indent="0" algn="just">
              <a:buNone/>
            </a:pPr>
            <a:r>
              <a:rPr lang="en-US" altLang="zh-CN" dirty="0" err="1"/>
              <a:t>int</a:t>
            </a:r>
            <a:r>
              <a:rPr lang="en-US" altLang="zh-CN" dirty="0"/>
              <a:t> C=13;</a:t>
            </a:r>
            <a:endParaRPr lang="zh-CN" altLang="zh-CN" dirty="0"/>
          </a:p>
          <a:p>
            <a:pPr marL="0" indent="0" algn="just">
              <a:buNone/>
            </a:pPr>
            <a:endParaRPr lang="zh-CN" altLang="en-US" dirty="0"/>
          </a:p>
        </p:txBody>
      </p:sp>
      <p:sp>
        <p:nvSpPr>
          <p:cNvPr id="4" name="灯片编号占位符 3">
            <a:extLst>
              <a:ext uri="{FF2B5EF4-FFF2-40B4-BE49-F238E27FC236}">
                <a16:creationId xmlns:a16="http://schemas.microsoft.com/office/drawing/2014/main" id="{A4EBD5CE-0CB9-65AE-5909-D9D81FB48B18}"/>
              </a:ext>
            </a:extLst>
          </p:cNvPr>
          <p:cNvSpPr>
            <a:spLocks noGrp="1"/>
          </p:cNvSpPr>
          <p:nvPr>
            <p:ph type="sldNum" sz="quarter" idx="12"/>
          </p:nvPr>
        </p:nvSpPr>
        <p:spPr/>
        <p:txBody>
          <a:bodyPr/>
          <a:lstStyle/>
          <a:p>
            <a:pPr>
              <a:defRPr/>
            </a:pPr>
            <a:fld id="{2C687883-A9F8-4324-BFDB-FCCC5C558AE8}" type="slidenum">
              <a:rPr lang="en-US" altLang="zh-CN" smtClean="0"/>
              <a:t>30</a:t>
            </a:fld>
            <a:endParaRPr lang="en-US" altLang="zh-CN"/>
          </a:p>
        </p:txBody>
      </p:sp>
    </p:spTree>
  </p:cSld>
  <p:clrMapOvr>
    <a:masterClrMapping/>
  </p:clrMapOvr>
  <p:transition>
    <p:cover di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无符号整型</a:t>
            </a:r>
            <a:endParaRPr lang="zh-CN" altLang="en-US" dirty="0"/>
          </a:p>
        </p:txBody>
      </p:sp>
      <p:sp>
        <p:nvSpPr>
          <p:cNvPr id="3" name="内容占位符 2"/>
          <p:cNvSpPr>
            <a:spLocks noGrp="1"/>
          </p:cNvSpPr>
          <p:nvPr>
            <p:ph idx="1"/>
          </p:nvPr>
        </p:nvSpPr>
        <p:spPr>
          <a:xfrm>
            <a:off x="685799" y="1981200"/>
            <a:ext cx="7892143" cy="4114800"/>
          </a:xfrm>
        </p:spPr>
        <p:txBody>
          <a:bodyPr/>
          <a:lstStyle/>
          <a:p>
            <a:pPr marL="0" indent="0" algn="just">
              <a:buNone/>
            </a:pPr>
            <a:r>
              <a:rPr lang="zh-CN" altLang="zh-CN" dirty="0"/>
              <a:t>同整型一样，无符号整型（</a:t>
            </a:r>
            <a:r>
              <a:rPr lang="en-US" altLang="zh-CN" dirty="0"/>
              <a:t>unsigned </a:t>
            </a:r>
            <a:r>
              <a:rPr lang="en-US" altLang="zh-CN" dirty="0" err="1"/>
              <a:t>int</a:t>
            </a:r>
            <a:r>
              <a:rPr lang="zh-CN" altLang="zh-CN" dirty="0"/>
              <a:t>）也用两个字节表示一个存储空间，它可以用来存储</a:t>
            </a:r>
            <a:r>
              <a:rPr lang="en-US" altLang="zh-CN" dirty="0"/>
              <a:t>0~65535</a:t>
            </a:r>
            <a:r>
              <a:rPr lang="zh-CN" altLang="zh-CN" dirty="0"/>
              <a:t>之间的数字，通过范围可以看出，无符号整型不能存储负数。例如：</a:t>
            </a:r>
            <a:endParaRPr lang="en-US" altLang="zh-CN" dirty="0"/>
          </a:p>
          <a:p>
            <a:pPr marL="0" indent="0" algn="just">
              <a:buNone/>
            </a:pPr>
            <a:endParaRPr lang="en-US" altLang="zh-CN" dirty="0"/>
          </a:p>
          <a:p>
            <a:pPr marL="0" indent="0" algn="just">
              <a:buNone/>
            </a:pPr>
            <a:r>
              <a:rPr lang="en-US" altLang="zh-CN" dirty="0"/>
              <a:t>unsigned </a:t>
            </a:r>
            <a:r>
              <a:rPr lang="en-US" altLang="zh-CN" dirty="0" err="1"/>
              <a:t>int</a:t>
            </a:r>
            <a:r>
              <a:rPr lang="en-US" altLang="zh-CN" dirty="0"/>
              <a:t> D=65535;</a:t>
            </a:r>
          </a:p>
          <a:p>
            <a:pPr marL="0" indent="0" algn="just">
              <a:buNone/>
            </a:pPr>
            <a:endParaRPr lang="zh-CN" altLang="en-US" dirty="0"/>
          </a:p>
        </p:txBody>
      </p:sp>
      <p:sp>
        <p:nvSpPr>
          <p:cNvPr id="4" name="灯片编号占位符 3">
            <a:extLst>
              <a:ext uri="{FF2B5EF4-FFF2-40B4-BE49-F238E27FC236}">
                <a16:creationId xmlns:a16="http://schemas.microsoft.com/office/drawing/2014/main" id="{E41D3571-9EC1-E231-5B99-CFEEA51C73F9}"/>
              </a:ext>
            </a:extLst>
          </p:cNvPr>
          <p:cNvSpPr>
            <a:spLocks noGrp="1"/>
          </p:cNvSpPr>
          <p:nvPr>
            <p:ph type="sldNum" sz="quarter" idx="12"/>
          </p:nvPr>
        </p:nvSpPr>
        <p:spPr/>
        <p:txBody>
          <a:bodyPr/>
          <a:lstStyle/>
          <a:p>
            <a:pPr>
              <a:defRPr/>
            </a:pPr>
            <a:fld id="{2C687883-A9F8-4324-BFDB-FCCC5C558AE8}" type="slidenum">
              <a:rPr lang="en-US" altLang="zh-CN" smtClean="0"/>
              <a:t>31</a:t>
            </a:fld>
            <a:endParaRPr lang="en-US" altLang="zh-CN"/>
          </a:p>
        </p:txBody>
      </p:sp>
    </p:spTree>
  </p:cSld>
  <p:clrMapOvr>
    <a:masterClrMapping/>
  </p:clrMapOvr>
  <p:transition>
    <p:cover dir="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长整型</a:t>
            </a:r>
            <a:endParaRPr lang="zh-CN" altLang="en-US" dirty="0"/>
          </a:p>
        </p:txBody>
      </p:sp>
      <p:sp>
        <p:nvSpPr>
          <p:cNvPr id="3" name="内容占位符 2"/>
          <p:cNvSpPr>
            <a:spLocks noGrp="1"/>
          </p:cNvSpPr>
          <p:nvPr>
            <p:ph idx="1"/>
          </p:nvPr>
        </p:nvSpPr>
        <p:spPr/>
        <p:txBody>
          <a:bodyPr/>
          <a:lstStyle/>
          <a:p>
            <a:pPr marL="0" indent="0" algn="just">
              <a:buNone/>
            </a:pPr>
            <a:r>
              <a:rPr lang="zh-CN" altLang="zh-CN" dirty="0"/>
              <a:t>长整型（</a:t>
            </a:r>
            <a:r>
              <a:rPr lang="en-US" altLang="zh-CN" dirty="0"/>
              <a:t>long</a:t>
            </a:r>
            <a:r>
              <a:rPr lang="zh-CN" altLang="zh-CN" dirty="0"/>
              <a:t>）可以用</a:t>
            </a:r>
            <a:r>
              <a:rPr lang="en-US" altLang="zh-CN" dirty="0"/>
              <a:t>4</a:t>
            </a:r>
            <a:r>
              <a:rPr lang="zh-CN" altLang="zh-CN" dirty="0"/>
              <a:t>个字节表示一个存储空间，其大小是</a:t>
            </a:r>
            <a:r>
              <a:rPr lang="en-US" altLang="zh-CN" dirty="0" err="1"/>
              <a:t>int</a:t>
            </a:r>
            <a:r>
              <a:rPr lang="zh-CN" altLang="zh-CN" dirty="0"/>
              <a:t>型的</a:t>
            </a:r>
            <a:r>
              <a:rPr lang="en-US" altLang="zh-CN" dirty="0"/>
              <a:t>2</a:t>
            </a:r>
            <a:r>
              <a:rPr lang="zh-CN" altLang="zh-CN" dirty="0"/>
              <a:t>倍。它可以用来存储</a:t>
            </a:r>
            <a:r>
              <a:rPr lang="en-US" altLang="zh-CN" dirty="0"/>
              <a:t>-2147483648~2147483647 </a:t>
            </a:r>
            <a:r>
              <a:rPr lang="zh-CN" altLang="zh-CN" dirty="0"/>
              <a:t>之间的数字。例如：</a:t>
            </a:r>
            <a:endParaRPr lang="en-US" altLang="zh-CN" dirty="0"/>
          </a:p>
          <a:p>
            <a:pPr marL="0" indent="0" algn="just">
              <a:buNone/>
            </a:pPr>
            <a:endParaRPr lang="en-US" altLang="zh-CN" dirty="0"/>
          </a:p>
          <a:p>
            <a:pPr marL="0" indent="0" algn="just">
              <a:buNone/>
            </a:pPr>
            <a:r>
              <a:rPr lang="en-US" altLang="zh-CN" dirty="0"/>
              <a:t>long E=2147483647;</a:t>
            </a:r>
            <a:endParaRPr lang="zh-CN" altLang="en-US" dirty="0"/>
          </a:p>
        </p:txBody>
      </p:sp>
      <p:sp>
        <p:nvSpPr>
          <p:cNvPr id="4" name="灯片编号占位符 3">
            <a:extLst>
              <a:ext uri="{FF2B5EF4-FFF2-40B4-BE49-F238E27FC236}">
                <a16:creationId xmlns:a16="http://schemas.microsoft.com/office/drawing/2014/main" id="{08DA7606-21CC-0C02-9DDB-CC4BB1F3E369}"/>
              </a:ext>
            </a:extLst>
          </p:cNvPr>
          <p:cNvSpPr>
            <a:spLocks noGrp="1"/>
          </p:cNvSpPr>
          <p:nvPr>
            <p:ph type="sldNum" sz="quarter" idx="12"/>
          </p:nvPr>
        </p:nvSpPr>
        <p:spPr/>
        <p:txBody>
          <a:bodyPr/>
          <a:lstStyle/>
          <a:p>
            <a:pPr>
              <a:defRPr/>
            </a:pPr>
            <a:fld id="{2C687883-A9F8-4324-BFDB-FCCC5C558AE8}" type="slidenum">
              <a:rPr lang="en-US" altLang="zh-CN" smtClean="0"/>
              <a:t>32</a:t>
            </a:fld>
            <a:endParaRPr lang="en-US" altLang="zh-CN"/>
          </a:p>
        </p:txBody>
      </p:sp>
    </p:spTree>
  </p:cSld>
  <p:clrMapOvr>
    <a:masterClrMapping/>
  </p:clrMapOvr>
  <p:transition>
    <p:cover di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无符号长整型</a:t>
            </a:r>
            <a:endParaRPr lang="zh-CN" altLang="en-US" dirty="0"/>
          </a:p>
        </p:txBody>
      </p:sp>
      <p:sp>
        <p:nvSpPr>
          <p:cNvPr id="3" name="内容占位符 2"/>
          <p:cNvSpPr>
            <a:spLocks noGrp="1"/>
          </p:cNvSpPr>
          <p:nvPr>
            <p:ph idx="1"/>
          </p:nvPr>
        </p:nvSpPr>
        <p:spPr>
          <a:xfrm>
            <a:off x="685799" y="1981200"/>
            <a:ext cx="7979229" cy="4114800"/>
          </a:xfrm>
        </p:spPr>
        <p:txBody>
          <a:bodyPr/>
          <a:lstStyle/>
          <a:p>
            <a:pPr marL="0" indent="0" algn="just">
              <a:buNone/>
            </a:pPr>
            <a:r>
              <a:rPr lang="zh-CN" altLang="zh-CN" dirty="0"/>
              <a:t>无符号长整型（</a:t>
            </a:r>
            <a:r>
              <a:rPr lang="en-US" altLang="zh-CN" dirty="0"/>
              <a:t>unsigned long</a:t>
            </a:r>
            <a:r>
              <a:rPr lang="zh-CN" altLang="zh-CN" dirty="0"/>
              <a:t>）同长整型一样，用</a:t>
            </a:r>
            <a:r>
              <a:rPr lang="en-US" altLang="zh-CN" dirty="0"/>
              <a:t>4</a:t>
            </a:r>
            <a:r>
              <a:rPr lang="zh-CN" altLang="zh-CN" dirty="0"/>
              <a:t>个字节表示一个存储空间，它可以用来存储</a:t>
            </a:r>
            <a:r>
              <a:rPr lang="en-US" altLang="zh-CN" dirty="0"/>
              <a:t>0~4294967296</a:t>
            </a:r>
            <a:r>
              <a:rPr lang="zh-CN" altLang="zh-CN" dirty="0"/>
              <a:t>之间的数字。例如：</a:t>
            </a:r>
            <a:endParaRPr lang="en-US" altLang="zh-CN" dirty="0"/>
          </a:p>
          <a:p>
            <a:pPr marL="0" indent="0" algn="just">
              <a:buNone/>
            </a:pPr>
            <a:endParaRPr lang="en-US" altLang="zh-CN" dirty="0"/>
          </a:p>
          <a:p>
            <a:pPr marL="0" indent="0" algn="just">
              <a:buNone/>
            </a:pPr>
            <a:r>
              <a:rPr lang="en-US" altLang="zh-CN" dirty="0"/>
              <a:t>unsigned long F=4294967295;</a:t>
            </a:r>
            <a:endParaRPr lang="zh-CN" altLang="en-US" dirty="0"/>
          </a:p>
        </p:txBody>
      </p:sp>
      <p:sp>
        <p:nvSpPr>
          <p:cNvPr id="4" name="灯片编号占位符 3">
            <a:extLst>
              <a:ext uri="{FF2B5EF4-FFF2-40B4-BE49-F238E27FC236}">
                <a16:creationId xmlns:a16="http://schemas.microsoft.com/office/drawing/2014/main" id="{FD3C1C48-1074-4306-B706-2108EBC4A49D}"/>
              </a:ext>
            </a:extLst>
          </p:cNvPr>
          <p:cNvSpPr>
            <a:spLocks noGrp="1"/>
          </p:cNvSpPr>
          <p:nvPr>
            <p:ph type="sldNum" sz="quarter" idx="12"/>
          </p:nvPr>
        </p:nvSpPr>
        <p:spPr/>
        <p:txBody>
          <a:bodyPr/>
          <a:lstStyle/>
          <a:p>
            <a:pPr>
              <a:defRPr/>
            </a:pPr>
            <a:fld id="{2C687883-A9F8-4324-BFDB-FCCC5C558AE8}" type="slidenum">
              <a:rPr lang="en-US" altLang="zh-CN" smtClean="0"/>
              <a:t>33</a:t>
            </a:fld>
            <a:endParaRPr lang="en-US" altLang="zh-CN"/>
          </a:p>
        </p:txBody>
      </p:sp>
    </p:spTree>
  </p:cSld>
  <p:clrMapOvr>
    <a:masterClrMapping/>
  </p:clrMapOvr>
  <p:transition>
    <p:cover di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浮点型</a:t>
            </a:r>
            <a:endParaRPr lang="zh-CN" altLang="en-US" dirty="0"/>
          </a:p>
        </p:txBody>
      </p:sp>
      <p:sp>
        <p:nvSpPr>
          <p:cNvPr id="3" name="内容占位符 2"/>
          <p:cNvSpPr>
            <a:spLocks noGrp="1"/>
          </p:cNvSpPr>
          <p:nvPr>
            <p:ph idx="1"/>
          </p:nvPr>
        </p:nvSpPr>
        <p:spPr/>
        <p:txBody>
          <a:bodyPr/>
          <a:lstStyle/>
          <a:p>
            <a:pPr marL="0" indent="0" algn="just">
              <a:buNone/>
            </a:pPr>
            <a:r>
              <a:rPr lang="zh-CN" altLang="zh-CN" dirty="0"/>
              <a:t>浮点数（</a:t>
            </a:r>
            <a:r>
              <a:rPr lang="en-US" altLang="zh-CN" dirty="0"/>
              <a:t>float</a:t>
            </a:r>
            <a:r>
              <a:rPr lang="zh-CN" altLang="zh-CN" dirty="0"/>
              <a:t>）可以用来表示含有小数点的数，例如：</a:t>
            </a:r>
            <a:r>
              <a:rPr lang="en-US" altLang="zh-CN" dirty="0"/>
              <a:t>1.24</a:t>
            </a:r>
            <a:r>
              <a:rPr lang="zh-CN" altLang="zh-CN" dirty="0"/>
              <a:t>。当需要用变量表示小数时，浮点数便是所需要的数据类型。浮点数占有</a:t>
            </a:r>
            <a:r>
              <a:rPr lang="en-US" altLang="zh-CN" dirty="0"/>
              <a:t>4</a:t>
            </a:r>
            <a:r>
              <a:rPr lang="zh-CN" altLang="zh-CN" dirty="0"/>
              <a:t>个字节的内存，其存储空间很大，能够存储带小数的数字。例如：</a:t>
            </a:r>
            <a:endParaRPr lang="en-US" altLang="zh-CN" dirty="0"/>
          </a:p>
          <a:p>
            <a:pPr marL="0" indent="0" algn="just">
              <a:buNone/>
            </a:pPr>
            <a:endParaRPr lang="en-US" altLang="zh-CN" dirty="0"/>
          </a:p>
          <a:p>
            <a:pPr marL="0" indent="0" algn="just">
              <a:buNone/>
            </a:pPr>
            <a:r>
              <a:rPr lang="en-US" altLang="zh-CN" dirty="0"/>
              <a:t>float a = 3.33</a:t>
            </a:r>
            <a:r>
              <a:rPr lang="zh-CN" altLang="en-US" dirty="0"/>
              <a:t>；</a:t>
            </a:r>
          </a:p>
        </p:txBody>
      </p:sp>
      <p:sp>
        <p:nvSpPr>
          <p:cNvPr id="4" name="灯片编号占位符 3">
            <a:extLst>
              <a:ext uri="{FF2B5EF4-FFF2-40B4-BE49-F238E27FC236}">
                <a16:creationId xmlns:a16="http://schemas.microsoft.com/office/drawing/2014/main" id="{7017AB57-B863-5F57-DAAF-D6D62F566F83}"/>
              </a:ext>
            </a:extLst>
          </p:cNvPr>
          <p:cNvSpPr>
            <a:spLocks noGrp="1"/>
          </p:cNvSpPr>
          <p:nvPr>
            <p:ph type="sldNum" sz="quarter" idx="12"/>
          </p:nvPr>
        </p:nvSpPr>
        <p:spPr/>
        <p:txBody>
          <a:bodyPr/>
          <a:lstStyle/>
          <a:p>
            <a:pPr>
              <a:defRPr/>
            </a:pPr>
            <a:fld id="{2C687883-A9F8-4324-BFDB-FCCC5C558AE8}" type="slidenum">
              <a:rPr lang="en-US" altLang="zh-CN" smtClean="0"/>
              <a:t>34</a:t>
            </a:fld>
            <a:endParaRPr lang="en-US" altLang="zh-CN"/>
          </a:p>
        </p:txBody>
      </p:sp>
    </p:spTree>
  </p:cSld>
  <p:clrMapOvr>
    <a:masterClrMapping/>
  </p:clrMapOvr>
  <p:transition>
    <p:cover dir="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双精度浮点型</a:t>
            </a:r>
            <a:endParaRPr lang="zh-CN" altLang="en-US" dirty="0"/>
          </a:p>
        </p:txBody>
      </p:sp>
      <p:sp>
        <p:nvSpPr>
          <p:cNvPr id="3" name="内容占位符 2"/>
          <p:cNvSpPr>
            <a:spLocks noGrp="1"/>
          </p:cNvSpPr>
          <p:nvPr>
            <p:ph idx="1"/>
          </p:nvPr>
        </p:nvSpPr>
        <p:spPr/>
        <p:txBody>
          <a:bodyPr/>
          <a:lstStyle/>
          <a:p>
            <a:pPr marL="0" indent="0" algn="just">
              <a:buNone/>
            </a:pPr>
            <a:r>
              <a:rPr lang="zh-CN" altLang="zh-CN" dirty="0"/>
              <a:t>双精度浮点型（</a:t>
            </a:r>
            <a:r>
              <a:rPr lang="en-US" altLang="zh-CN" dirty="0"/>
              <a:t>double</a:t>
            </a:r>
            <a:r>
              <a:rPr lang="zh-CN" altLang="zh-CN" dirty="0"/>
              <a:t>）同</a:t>
            </a:r>
            <a:r>
              <a:rPr lang="en-US" altLang="zh-CN" dirty="0"/>
              <a:t>float</a:t>
            </a:r>
            <a:r>
              <a:rPr lang="zh-CN" altLang="zh-CN" dirty="0"/>
              <a:t>类似，它通常占有</a:t>
            </a:r>
            <a:r>
              <a:rPr lang="en-US" altLang="zh-CN" dirty="0"/>
              <a:t>8</a:t>
            </a:r>
            <a:r>
              <a:rPr lang="zh-CN" altLang="zh-CN" dirty="0"/>
              <a:t>个字节的内存，但是，双精度浮点型数据比浮点型数据的精度高，而且范围广。但是，双精度浮点型数据和浮点型数据在</a:t>
            </a:r>
            <a:r>
              <a:rPr lang="en-US" altLang="zh-CN" dirty="0"/>
              <a:t>Arduino</a:t>
            </a:r>
            <a:r>
              <a:rPr lang="zh-CN" altLang="zh-CN" dirty="0"/>
              <a:t>中是一样的。</a:t>
            </a:r>
            <a:endParaRPr lang="zh-CN" altLang="en-US" dirty="0"/>
          </a:p>
        </p:txBody>
      </p:sp>
      <p:sp>
        <p:nvSpPr>
          <p:cNvPr id="4" name="灯片编号占位符 3">
            <a:extLst>
              <a:ext uri="{FF2B5EF4-FFF2-40B4-BE49-F238E27FC236}">
                <a16:creationId xmlns:a16="http://schemas.microsoft.com/office/drawing/2014/main" id="{D638A371-3D10-2A09-5112-F49613B2E522}"/>
              </a:ext>
            </a:extLst>
          </p:cNvPr>
          <p:cNvSpPr>
            <a:spLocks noGrp="1"/>
          </p:cNvSpPr>
          <p:nvPr>
            <p:ph type="sldNum" sz="quarter" idx="12"/>
          </p:nvPr>
        </p:nvSpPr>
        <p:spPr/>
        <p:txBody>
          <a:bodyPr/>
          <a:lstStyle/>
          <a:p>
            <a:pPr>
              <a:defRPr/>
            </a:pPr>
            <a:fld id="{2C687883-A9F8-4324-BFDB-FCCC5C558AE8}" type="slidenum">
              <a:rPr lang="en-US" altLang="zh-CN" smtClean="0"/>
              <a:t>35</a:t>
            </a:fld>
            <a:endParaRPr lang="en-US" altLang="zh-CN"/>
          </a:p>
        </p:txBody>
      </p:sp>
    </p:spTree>
  </p:cSld>
  <p:clrMapOvr>
    <a:masterClrMapping/>
  </p:clrMapOvr>
  <p:transition>
    <p:cover dir="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数据类型转换</a:t>
            </a:r>
            <a:endParaRPr lang="zh-CN" altLang="en-US" dirty="0"/>
          </a:p>
        </p:txBody>
      </p:sp>
      <p:sp>
        <p:nvSpPr>
          <p:cNvPr id="3" name="内容占位符 2"/>
          <p:cNvSpPr>
            <a:spLocks noGrp="1"/>
          </p:cNvSpPr>
          <p:nvPr>
            <p:ph idx="1"/>
          </p:nvPr>
        </p:nvSpPr>
        <p:spPr/>
        <p:txBody>
          <a:bodyPr/>
          <a:lstStyle/>
          <a:p>
            <a:pPr marL="0" indent="0">
              <a:buNone/>
            </a:pPr>
            <a:r>
              <a:rPr lang="en-US" altLang="zh-CN" dirty="0"/>
              <a:t>char()</a:t>
            </a:r>
            <a:endParaRPr lang="zh-CN" altLang="zh-CN" dirty="0"/>
          </a:p>
          <a:p>
            <a:pPr marL="0" indent="0">
              <a:buNone/>
            </a:pPr>
            <a:r>
              <a:rPr lang="zh-CN" altLang="zh-CN" dirty="0"/>
              <a:t>功能：将一个变量的类型变为</a:t>
            </a:r>
            <a:r>
              <a:rPr lang="en-US" altLang="zh-CN" dirty="0"/>
              <a:t>char</a:t>
            </a:r>
            <a:r>
              <a:rPr lang="zh-CN" altLang="zh-CN" dirty="0"/>
              <a:t>。</a:t>
            </a:r>
          </a:p>
          <a:p>
            <a:pPr marL="0" indent="0">
              <a:buNone/>
            </a:pPr>
            <a:r>
              <a:rPr lang="zh-CN" altLang="zh-CN" dirty="0"/>
              <a:t>语法：</a:t>
            </a:r>
            <a:r>
              <a:rPr lang="en-US" altLang="zh-CN" dirty="0"/>
              <a:t>char(x)</a:t>
            </a:r>
            <a:endParaRPr lang="zh-CN" altLang="zh-CN" dirty="0"/>
          </a:p>
          <a:p>
            <a:pPr marL="0" indent="0">
              <a:buNone/>
            </a:pPr>
            <a:r>
              <a:rPr lang="zh-CN" altLang="zh-CN" dirty="0"/>
              <a:t>参数：</a:t>
            </a:r>
            <a:r>
              <a:rPr lang="en-US" altLang="zh-CN" dirty="0"/>
              <a:t>x</a:t>
            </a:r>
            <a:r>
              <a:rPr lang="zh-CN" altLang="zh-CN" dirty="0"/>
              <a:t>：任何类型的值</a:t>
            </a:r>
          </a:p>
          <a:p>
            <a:pPr marL="0" indent="0">
              <a:buNone/>
            </a:pPr>
            <a:r>
              <a:rPr lang="zh-CN" altLang="zh-CN" dirty="0"/>
              <a:t>返回值：</a:t>
            </a:r>
            <a:r>
              <a:rPr lang="en-US" altLang="zh-CN" dirty="0"/>
              <a:t>char</a:t>
            </a:r>
            <a:r>
              <a:rPr lang="zh-CN" altLang="zh-CN" dirty="0"/>
              <a:t>型值</a:t>
            </a:r>
            <a:endParaRPr lang="zh-CN" altLang="en-US" dirty="0"/>
          </a:p>
        </p:txBody>
      </p:sp>
      <p:sp>
        <p:nvSpPr>
          <p:cNvPr id="4" name="灯片编号占位符 3">
            <a:extLst>
              <a:ext uri="{FF2B5EF4-FFF2-40B4-BE49-F238E27FC236}">
                <a16:creationId xmlns:a16="http://schemas.microsoft.com/office/drawing/2014/main" id="{D29DA146-E304-7D75-B6D2-11AAC0A28183}"/>
              </a:ext>
            </a:extLst>
          </p:cNvPr>
          <p:cNvSpPr>
            <a:spLocks noGrp="1"/>
          </p:cNvSpPr>
          <p:nvPr>
            <p:ph type="sldNum" sz="quarter" idx="12"/>
          </p:nvPr>
        </p:nvSpPr>
        <p:spPr/>
        <p:txBody>
          <a:bodyPr/>
          <a:lstStyle/>
          <a:p>
            <a:pPr>
              <a:defRPr/>
            </a:pPr>
            <a:fld id="{2C687883-A9F8-4324-BFDB-FCCC5C558AE8}" type="slidenum">
              <a:rPr lang="en-US" altLang="zh-CN" smtClean="0"/>
              <a:t>36</a:t>
            </a:fld>
            <a:endParaRPr lang="en-US" altLang="zh-CN"/>
          </a:p>
        </p:txBody>
      </p:sp>
    </p:spTree>
  </p:cSld>
  <p:clrMapOvr>
    <a:masterClrMapping/>
  </p:clrMapOvr>
  <p:transition>
    <p:cover dir="d"/>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数据类型转换</a:t>
            </a:r>
            <a:endParaRPr lang="zh-CN" altLang="en-US" dirty="0"/>
          </a:p>
        </p:txBody>
      </p:sp>
      <p:sp>
        <p:nvSpPr>
          <p:cNvPr id="3" name="内容占位符 2"/>
          <p:cNvSpPr>
            <a:spLocks noGrp="1"/>
          </p:cNvSpPr>
          <p:nvPr>
            <p:ph idx="1"/>
          </p:nvPr>
        </p:nvSpPr>
        <p:spPr/>
        <p:txBody>
          <a:bodyPr/>
          <a:lstStyle/>
          <a:p>
            <a:pPr marL="0" indent="0">
              <a:buNone/>
            </a:pPr>
            <a:r>
              <a:rPr lang="en-US" altLang="zh-CN" dirty="0"/>
              <a:t>byte()</a:t>
            </a:r>
            <a:endParaRPr lang="zh-CN" altLang="zh-CN" dirty="0"/>
          </a:p>
          <a:p>
            <a:pPr marL="0" indent="0">
              <a:buNone/>
            </a:pPr>
            <a:r>
              <a:rPr lang="zh-CN" altLang="zh-CN" dirty="0"/>
              <a:t>功能：将一个值转换为字节型数值。</a:t>
            </a:r>
          </a:p>
          <a:p>
            <a:pPr marL="0" indent="0">
              <a:buNone/>
            </a:pPr>
            <a:r>
              <a:rPr lang="zh-CN" altLang="zh-CN" dirty="0"/>
              <a:t>语法：</a:t>
            </a:r>
            <a:r>
              <a:rPr lang="en-US" altLang="zh-CN" dirty="0"/>
              <a:t>byte(x)</a:t>
            </a:r>
            <a:endParaRPr lang="zh-CN" altLang="zh-CN" dirty="0"/>
          </a:p>
          <a:p>
            <a:pPr marL="0" indent="0">
              <a:buNone/>
            </a:pPr>
            <a:r>
              <a:rPr lang="zh-CN" altLang="zh-CN" dirty="0"/>
              <a:t>参数：</a:t>
            </a:r>
            <a:r>
              <a:rPr lang="en-US" altLang="zh-CN" dirty="0"/>
              <a:t>x</a:t>
            </a:r>
            <a:r>
              <a:rPr lang="zh-CN" altLang="zh-CN" dirty="0"/>
              <a:t>：任何类型的值</a:t>
            </a:r>
          </a:p>
          <a:p>
            <a:pPr marL="0" indent="0">
              <a:buNone/>
            </a:pPr>
            <a:r>
              <a:rPr lang="zh-CN" altLang="zh-CN" dirty="0"/>
              <a:t>返回值：字节</a:t>
            </a:r>
            <a:endParaRPr lang="zh-CN" altLang="en-US" dirty="0"/>
          </a:p>
        </p:txBody>
      </p:sp>
      <p:sp>
        <p:nvSpPr>
          <p:cNvPr id="4" name="灯片编号占位符 3">
            <a:extLst>
              <a:ext uri="{FF2B5EF4-FFF2-40B4-BE49-F238E27FC236}">
                <a16:creationId xmlns:a16="http://schemas.microsoft.com/office/drawing/2014/main" id="{742B6888-ECCB-26A7-8665-8B8FBBE68604}"/>
              </a:ext>
            </a:extLst>
          </p:cNvPr>
          <p:cNvSpPr>
            <a:spLocks noGrp="1"/>
          </p:cNvSpPr>
          <p:nvPr>
            <p:ph type="sldNum" sz="quarter" idx="12"/>
          </p:nvPr>
        </p:nvSpPr>
        <p:spPr/>
        <p:txBody>
          <a:bodyPr/>
          <a:lstStyle/>
          <a:p>
            <a:pPr>
              <a:defRPr/>
            </a:pPr>
            <a:fld id="{2C687883-A9F8-4324-BFDB-FCCC5C558AE8}" type="slidenum">
              <a:rPr lang="en-US" altLang="zh-CN" smtClean="0"/>
              <a:t>37</a:t>
            </a:fld>
            <a:endParaRPr lang="en-US" altLang="zh-CN"/>
          </a:p>
        </p:txBody>
      </p:sp>
    </p:spTree>
  </p:cSld>
  <p:clrMapOvr>
    <a:masterClrMapping/>
  </p:clrMapOvr>
  <p:transition>
    <p:cover dir="d"/>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数据类型转换</a:t>
            </a:r>
            <a:endParaRPr lang="zh-CN" altLang="en-US" dirty="0"/>
          </a:p>
        </p:txBody>
      </p:sp>
      <p:sp>
        <p:nvSpPr>
          <p:cNvPr id="3" name="内容占位符 2"/>
          <p:cNvSpPr>
            <a:spLocks noGrp="1"/>
          </p:cNvSpPr>
          <p:nvPr>
            <p:ph idx="1"/>
          </p:nvPr>
        </p:nvSpPr>
        <p:spPr/>
        <p:txBody>
          <a:bodyPr/>
          <a:lstStyle/>
          <a:p>
            <a:pPr marL="0" indent="0">
              <a:buNone/>
            </a:pPr>
            <a:r>
              <a:rPr lang="en-US" altLang="zh-CN" dirty="0" err="1"/>
              <a:t>int</a:t>
            </a:r>
            <a:r>
              <a:rPr lang="en-US" altLang="zh-CN" dirty="0"/>
              <a:t>()</a:t>
            </a:r>
            <a:endParaRPr lang="zh-CN" altLang="zh-CN" dirty="0"/>
          </a:p>
          <a:p>
            <a:pPr marL="0" indent="0">
              <a:buNone/>
            </a:pPr>
            <a:r>
              <a:rPr lang="zh-CN" altLang="zh-CN" dirty="0"/>
              <a:t>功能：将一个值转换为整型数值。</a:t>
            </a:r>
          </a:p>
          <a:p>
            <a:pPr marL="0" indent="0">
              <a:buNone/>
            </a:pPr>
            <a:r>
              <a:rPr lang="zh-CN" altLang="zh-CN" dirty="0"/>
              <a:t>语法：</a:t>
            </a:r>
            <a:r>
              <a:rPr lang="en-US" altLang="zh-CN" dirty="0" err="1"/>
              <a:t>int</a:t>
            </a:r>
            <a:r>
              <a:rPr lang="en-US" altLang="zh-CN" dirty="0"/>
              <a:t>(x)</a:t>
            </a:r>
            <a:endParaRPr lang="zh-CN" altLang="zh-CN" dirty="0"/>
          </a:p>
          <a:p>
            <a:pPr marL="0" indent="0">
              <a:buNone/>
            </a:pPr>
            <a:r>
              <a:rPr lang="zh-CN" altLang="zh-CN" dirty="0"/>
              <a:t>参数：</a:t>
            </a:r>
            <a:r>
              <a:rPr lang="en-US" altLang="zh-CN" dirty="0"/>
              <a:t>x</a:t>
            </a:r>
            <a:r>
              <a:rPr lang="zh-CN" altLang="zh-CN" dirty="0"/>
              <a:t>：任何类型的值</a:t>
            </a:r>
          </a:p>
          <a:p>
            <a:pPr marL="0" indent="0">
              <a:buNone/>
            </a:pPr>
            <a:r>
              <a:rPr lang="zh-CN" altLang="zh-CN" dirty="0"/>
              <a:t>返回值：整型的值</a:t>
            </a:r>
            <a:endParaRPr lang="zh-CN" altLang="en-US" dirty="0"/>
          </a:p>
        </p:txBody>
      </p:sp>
      <p:sp>
        <p:nvSpPr>
          <p:cNvPr id="4" name="灯片编号占位符 3">
            <a:extLst>
              <a:ext uri="{FF2B5EF4-FFF2-40B4-BE49-F238E27FC236}">
                <a16:creationId xmlns:a16="http://schemas.microsoft.com/office/drawing/2014/main" id="{9B348042-BB67-7CA8-D464-49038B51D8CE}"/>
              </a:ext>
            </a:extLst>
          </p:cNvPr>
          <p:cNvSpPr>
            <a:spLocks noGrp="1"/>
          </p:cNvSpPr>
          <p:nvPr>
            <p:ph type="sldNum" sz="quarter" idx="12"/>
          </p:nvPr>
        </p:nvSpPr>
        <p:spPr/>
        <p:txBody>
          <a:bodyPr/>
          <a:lstStyle/>
          <a:p>
            <a:pPr>
              <a:defRPr/>
            </a:pPr>
            <a:fld id="{2C687883-A9F8-4324-BFDB-FCCC5C558AE8}" type="slidenum">
              <a:rPr lang="en-US" altLang="zh-CN" smtClean="0"/>
              <a:t>38</a:t>
            </a:fld>
            <a:endParaRPr lang="en-US" altLang="zh-CN"/>
          </a:p>
        </p:txBody>
      </p:sp>
    </p:spTree>
  </p:cSld>
  <p:clrMapOvr>
    <a:masterClrMapping/>
  </p:clrMapOvr>
  <p:transition>
    <p:cover di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数据类型转换</a:t>
            </a:r>
            <a:endParaRPr lang="zh-CN" altLang="en-US" dirty="0"/>
          </a:p>
        </p:txBody>
      </p:sp>
      <p:sp>
        <p:nvSpPr>
          <p:cNvPr id="3" name="内容占位符 2"/>
          <p:cNvSpPr>
            <a:spLocks noGrp="1"/>
          </p:cNvSpPr>
          <p:nvPr>
            <p:ph idx="1"/>
          </p:nvPr>
        </p:nvSpPr>
        <p:spPr/>
        <p:txBody>
          <a:bodyPr/>
          <a:lstStyle/>
          <a:p>
            <a:pPr marL="0" indent="0">
              <a:buNone/>
            </a:pPr>
            <a:r>
              <a:rPr lang="en-US" altLang="zh-CN" dirty="0"/>
              <a:t>long()</a:t>
            </a:r>
            <a:endParaRPr lang="zh-CN" altLang="zh-CN" dirty="0"/>
          </a:p>
          <a:p>
            <a:pPr marL="0" indent="0">
              <a:buNone/>
            </a:pPr>
            <a:r>
              <a:rPr lang="zh-CN" altLang="zh-CN" dirty="0"/>
              <a:t>功能：将一个值转换为长整型数值。</a:t>
            </a:r>
          </a:p>
          <a:p>
            <a:pPr marL="0" indent="0">
              <a:buNone/>
            </a:pPr>
            <a:r>
              <a:rPr lang="zh-CN" altLang="zh-CN" dirty="0"/>
              <a:t>语法：</a:t>
            </a:r>
            <a:r>
              <a:rPr lang="en-US" altLang="zh-CN" dirty="0"/>
              <a:t>long(x)</a:t>
            </a:r>
            <a:endParaRPr lang="zh-CN" altLang="zh-CN" dirty="0"/>
          </a:p>
          <a:p>
            <a:pPr marL="0" indent="0">
              <a:buNone/>
            </a:pPr>
            <a:r>
              <a:rPr lang="zh-CN" altLang="zh-CN" dirty="0"/>
              <a:t>参数：</a:t>
            </a:r>
            <a:r>
              <a:rPr lang="en-US" altLang="zh-CN" dirty="0"/>
              <a:t>x</a:t>
            </a:r>
            <a:r>
              <a:rPr lang="zh-CN" altLang="zh-CN" dirty="0"/>
              <a:t>：任何类型的值</a:t>
            </a:r>
          </a:p>
          <a:p>
            <a:pPr marL="0" indent="0">
              <a:buNone/>
            </a:pPr>
            <a:r>
              <a:rPr lang="zh-CN" altLang="zh-CN" dirty="0"/>
              <a:t>返回值：长整型的值</a:t>
            </a:r>
            <a:endParaRPr lang="zh-CN" altLang="en-US" dirty="0"/>
          </a:p>
        </p:txBody>
      </p:sp>
      <p:sp>
        <p:nvSpPr>
          <p:cNvPr id="4" name="灯片编号占位符 3">
            <a:extLst>
              <a:ext uri="{FF2B5EF4-FFF2-40B4-BE49-F238E27FC236}">
                <a16:creationId xmlns:a16="http://schemas.microsoft.com/office/drawing/2014/main" id="{6C9E912B-CBA0-DD1D-BDF6-D27FCFDD4DE2}"/>
              </a:ext>
            </a:extLst>
          </p:cNvPr>
          <p:cNvSpPr>
            <a:spLocks noGrp="1"/>
          </p:cNvSpPr>
          <p:nvPr>
            <p:ph type="sldNum" sz="quarter" idx="12"/>
          </p:nvPr>
        </p:nvSpPr>
        <p:spPr/>
        <p:txBody>
          <a:bodyPr/>
          <a:lstStyle/>
          <a:p>
            <a:pPr>
              <a:defRPr/>
            </a:pPr>
            <a:fld id="{2C687883-A9F8-4324-BFDB-FCCC5C558AE8}" type="slidenum">
              <a:rPr lang="en-US" altLang="zh-CN" smtClean="0"/>
              <a:t>39</a:t>
            </a:fld>
            <a:endParaRPr lang="en-US" altLang="zh-CN"/>
          </a:p>
        </p:txBody>
      </p:sp>
    </p:spTree>
  </p:cSld>
  <p:clrMapOvr>
    <a:masterClrMapping/>
  </p:clrMapOvr>
  <p:transition>
    <p:cover dir="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数据类型转换</a:t>
            </a:r>
          </a:p>
        </p:txBody>
      </p:sp>
      <p:sp>
        <p:nvSpPr>
          <p:cNvPr id="3" name="内容占位符 2"/>
          <p:cNvSpPr>
            <a:spLocks noGrp="1"/>
          </p:cNvSpPr>
          <p:nvPr>
            <p:ph idx="1"/>
          </p:nvPr>
        </p:nvSpPr>
        <p:spPr/>
        <p:txBody>
          <a:bodyPr/>
          <a:lstStyle/>
          <a:p>
            <a:pPr marL="0" indent="0">
              <a:buNone/>
            </a:pPr>
            <a:r>
              <a:rPr lang="en-US" altLang="zh-CN" dirty="0"/>
              <a:t>float()</a:t>
            </a:r>
            <a:endParaRPr lang="zh-CN" altLang="zh-CN" dirty="0"/>
          </a:p>
          <a:p>
            <a:pPr marL="0" indent="0">
              <a:buNone/>
            </a:pPr>
            <a:r>
              <a:rPr lang="zh-CN" altLang="zh-CN" dirty="0"/>
              <a:t>功能：将一个值转换换浮点型数值。</a:t>
            </a:r>
          </a:p>
          <a:p>
            <a:pPr marL="0" indent="0">
              <a:buNone/>
            </a:pPr>
            <a:r>
              <a:rPr lang="zh-CN" altLang="zh-CN" dirty="0"/>
              <a:t>语法：</a:t>
            </a:r>
            <a:r>
              <a:rPr lang="en-US" altLang="zh-CN" dirty="0"/>
              <a:t>float(x)</a:t>
            </a:r>
            <a:endParaRPr lang="zh-CN" altLang="zh-CN" dirty="0"/>
          </a:p>
          <a:p>
            <a:pPr marL="0" indent="0">
              <a:buNone/>
            </a:pPr>
            <a:r>
              <a:rPr lang="zh-CN" altLang="zh-CN" dirty="0"/>
              <a:t>参数：</a:t>
            </a:r>
            <a:r>
              <a:rPr lang="en-US" altLang="zh-CN" dirty="0"/>
              <a:t>x</a:t>
            </a:r>
            <a:r>
              <a:rPr lang="zh-CN" altLang="zh-CN" dirty="0"/>
              <a:t>：任何类型的值</a:t>
            </a:r>
          </a:p>
          <a:p>
            <a:pPr marL="0" indent="0">
              <a:buNone/>
            </a:pPr>
            <a:r>
              <a:rPr lang="zh-CN" altLang="zh-CN" dirty="0"/>
              <a:t>返回值：浮点型的值</a:t>
            </a:r>
            <a:endParaRPr lang="zh-CN" altLang="en-US" dirty="0"/>
          </a:p>
        </p:txBody>
      </p:sp>
      <p:sp>
        <p:nvSpPr>
          <p:cNvPr id="4" name="灯片编号占位符 3">
            <a:extLst>
              <a:ext uri="{FF2B5EF4-FFF2-40B4-BE49-F238E27FC236}">
                <a16:creationId xmlns:a16="http://schemas.microsoft.com/office/drawing/2014/main" id="{835D581F-4C61-8D82-21A7-B5500EDBCFB4}"/>
              </a:ext>
            </a:extLst>
          </p:cNvPr>
          <p:cNvSpPr>
            <a:spLocks noGrp="1"/>
          </p:cNvSpPr>
          <p:nvPr>
            <p:ph type="sldNum" sz="quarter" idx="12"/>
          </p:nvPr>
        </p:nvSpPr>
        <p:spPr/>
        <p:txBody>
          <a:bodyPr/>
          <a:lstStyle/>
          <a:p>
            <a:pPr>
              <a:defRPr/>
            </a:pPr>
            <a:fld id="{2C687883-A9F8-4324-BFDB-FCCC5C558AE8}" type="slidenum">
              <a:rPr lang="en-US" altLang="zh-CN" smtClean="0"/>
              <a:t>40</a:t>
            </a:fld>
            <a:endParaRPr lang="en-US" altLang="zh-CN"/>
          </a:p>
        </p:txBody>
      </p:sp>
    </p:spTree>
  </p:cSld>
  <p:clrMapOvr>
    <a:masterClrMapping/>
  </p:clrMapOvr>
  <p:transition>
    <p:cover dir="d"/>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自定义数据类型</a:t>
            </a:r>
            <a:endParaRPr lang="zh-CN" altLang="en-US" dirty="0"/>
          </a:p>
        </p:txBody>
      </p:sp>
      <p:sp>
        <p:nvSpPr>
          <p:cNvPr id="3" name="内容占位符 2"/>
          <p:cNvSpPr>
            <a:spLocks noGrp="1"/>
          </p:cNvSpPr>
          <p:nvPr>
            <p:ph idx="1"/>
          </p:nvPr>
        </p:nvSpPr>
        <p:spPr/>
        <p:txBody>
          <a:bodyPr/>
          <a:lstStyle/>
          <a:p>
            <a:pPr marL="0" indent="0">
              <a:buNone/>
            </a:pPr>
            <a:r>
              <a:rPr lang="zh-CN" altLang="zh-CN" dirty="0"/>
              <a:t>在</a:t>
            </a:r>
            <a:r>
              <a:rPr lang="en-US" altLang="zh-CN" dirty="0"/>
              <a:t>Arduino</a:t>
            </a:r>
            <a:r>
              <a:rPr lang="zh-CN" altLang="zh-CN" dirty="0"/>
              <a:t>中可以根据自己的需要定义结构类型的数据，其方法和</a:t>
            </a:r>
            <a:r>
              <a:rPr lang="en-US" altLang="zh-CN" dirty="0"/>
              <a:t>C</a:t>
            </a:r>
            <a:r>
              <a:rPr lang="zh-CN" altLang="zh-CN" dirty="0"/>
              <a:t>语言是一致的。</a:t>
            </a:r>
          </a:p>
          <a:p>
            <a:pPr marL="0" indent="0">
              <a:buNone/>
            </a:pPr>
            <a:r>
              <a:rPr lang="en-US" altLang="zh-CN" dirty="0" err="1"/>
              <a:t>struct</a:t>
            </a:r>
            <a:r>
              <a:rPr lang="en-US" altLang="zh-CN" dirty="0"/>
              <a:t>  </a:t>
            </a:r>
            <a:r>
              <a:rPr lang="zh-CN" altLang="zh-CN" dirty="0"/>
              <a:t>名称</a:t>
            </a:r>
          </a:p>
          <a:p>
            <a:pPr marL="0" indent="0">
              <a:buNone/>
            </a:pPr>
            <a:r>
              <a:rPr lang="en-US" altLang="zh-CN" dirty="0"/>
              <a:t>{</a:t>
            </a:r>
            <a:endParaRPr lang="zh-CN" altLang="zh-CN" dirty="0"/>
          </a:p>
          <a:p>
            <a:pPr marL="0" indent="0">
              <a:buNone/>
            </a:pPr>
            <a:r>
              <a:rPr lang="en-US" altLang="zh-CN" dirty="0"/>
              <a:t>	</a:t>
            </a:r>
            <a:r>
              <a:rPr lang="zh-CN" altLang="zh-CN" dirty="0"/>
              <a:t>成员列表；</a:t>
            </a:r>
          </a:p>
          <a:p>
            <a:pPr marL="0" indent="0">
              <a:buNone/>
            </a:pPr>
            <a:r>
              <a:rPr lang="en-US" altLang="zh-CN" dirty="0"/>
              <a:t>};</a:t>
            </a:r>
            <a:endParaRPr lang="zh-CN" altLang="en-US" dirty="0"/>
          </a:p>
        </p:txBody>
      </p:sp>
      <p:sp>
        <p:nvSpPr>
          <p:cNvPr id="4" name="灯片编号占位符 3">
            <a:extLst>
              <a:ext uri="{FF2B5EF4-FFF2-40B4-BE49-F238E27FC236}">
                <a16:creationId xmlns:a16="http://schemas.microsoft.com/office/drawing/2014/main" id="{8D64FD5D-E200-5541-81F3-6B90F0D9399B}"/>
              </a:ext>
            </a:extLst>
          </p:cNvPr>
          <p:cNvSpPr>
            <a:spLocks noGrp="1"/>
          </p:cNvSpPr>
          <p:nvPr>
            <p:ph type="sldNum" sz="quarter" idx="12"/>
          </p:nvPr>
        </p:nvSpPr>
        <p:spPr/>
        <p:txBody>
          <a:bodyPr/>
          <a:lstStyle/>
          <a:p>
            <a:pPr>
              <a:defRPr/>
            </a:pPr>
            <a:fld id="{2C687883-A9F8-4324-BFDB-FCCC5C558AE8}" type="slidenum">
              <a:rPr lang="en-US" altLang="zh-CN" smtClean="0"/>
              <a:t>41</a:t>
            </a:fld>
            <a:endParaRPr lang="en-US" altLang="zh-CN"/>
          </a:p>
        </p:txBody>
      </p:sp>
    </p:spTree>
  </p:cSld>
  <p:clrMapOvr>
    <a:masterClrMapping/>
  </p:clrMapOvr>
  <p:transition>
    <p:cover dir="d"/>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创建或声明一个数组</a:t>
            </a:r>
            <a:endParaRPr lang="zh-CN" altLang="en-US" dirty="0"/>
          </a:p>
        </p:txBody>
      </p:sp>
      <p:sp>
        <p:nvSpPr>
          <p:cNvPr id="3" name="内容占位符 2"/>
          <p:cNvSpPr>
            <a:spLocks noGrp="1"/>
          </p:cNvSpPr>
          <p:nvPr>
            <p:ph idx="1"/>
          </p:nvPr>
        </p:nvSpPr>
        <p:spPr>
          <a:xfrm>
            <a:off x="685800" y="1752600"/>
            <a:ext cx="7772400" cy="4343400"/>
          </a:xfrm>
        </p:spPr>
        <p:txBody>
          <a:bodyPr/>
          <a:lstStyle/>
          <a:p>
            <a:pPr marL="0" indent="0">
              <a:buNone/>
            </a:pPr>
            <a:r>
              <a:rPr lang="en-US" altLang="zh-CN" sz="2800" dirty="0"/>
              <a:t>int </a:t>
            </a:r>
            <a:r>
              <a:rPr lang="en-US" altLang="zh-CN" sz="2800" dirty="0" err="1"/>
              <a:t>arrayInts</a:t>
            </a:r>
            <a:r>
              <a:rPr lang="en-US" altLang="zh-CN" sz="2800" dirty="0"/>
              <a:t> [6];</a:t>
            </a:r>
            <a:endParaRPr lang="zh-CN" altLang="zh-CN" sz="2800" dirty="0"/>
          </a:p>
          <a:p>
            <a:pPr marL="0" indent="0">
              <a:buNone/>
            </a:pPr>
            <a:r>
              <a:rPr lang="en-US" altLang="zh-CN" sz="2800" dirty="0"/>
              <a:t>int </a:t>
            </a:r>
            <a:r>
              <a:rPr lang="en-US" altLang="zh-CN" sz="2800" dirty="0" err="1"/>
              <a:t>arrayNums</a:t>
            </a:r>
            <a:r>
              <a:rPr lang="en-US" altLang="zh-CN" sz="2800" dirty="0"/>
              <a:t> [] = {2</a:t>
            </a:r>
            <a:r>
              <a:rPr lang="zh-CN" altLang="zh-CN" sz="2800" dirty="0"/>
              <a:t>，</a:t>
            </a:r>
            <a:r>
              <a:rPr lang="en-US" altLang="zh-CN" sz="2800" dirty="0"/>
              <a:t>4</a:t>
            </a:r>
            <a:r>
              <a:rPr lang="zh-CN" altLang="zh-CN" sz="2800" dirty="0"/>
              <a:t>，</a:t>
            </a:r>
            <a:r>
              <a:rPr lang="en-US" altLang="zh-CN" sz="2800" dirty="0"/>
              <a:t>6</a:t>
            </a:r>
            <a:r>
              <a:rPr lang="zh-CN" altLang="zh-CN" sz="2800" dirty="0"/>
              <a:t>，</a:t>
            </a:r>
            <a:r>
              <a:rPr lang="en-US" altLang="zh-CN" sz="2800" dirty="0"/>
              <a:t>8</a:t>
            </a:r>
            <a:r>
              <a:rPr lang="zh-CN" altLang="zh-CN" sz="2800" dirty="0"/>
              <a:t>，</a:t>
            </a:r>
            <a:r>
              <a:rPr lang="en-US" altLang="zh-CN" sz="2800" dirty="0"/>
              <a:t>11};</a:t>
            </a:r>
            <a:endParaRPr lang="zh-CN" altLang="zh-CN" sz="2800" dirty="0"/>
          </a:p>
          <a:p>
            <a:pPr marL="0" indent="0">
              <a:buNone/>
            </a:pPr>
            <a:r>
              <a:rPr lang="en-US" altLang="zh-CN" sz="2800" dirty="0"/>
              <a:t>int </a:t>
            </a:r>
            <a:r>
              <a:rPr lang="en-US" altLang="zh-CN" sz="2800" dirty="0" err="1"/>
              <a:t>arrayVals</a:t>
            </a:r>
            <a:r>
              <a:rPr lang="en-US" altLang="zh-CN" sz="2800" dirty="0"/>
              <a:t> [6] = {2</a:t>
            </a:r>
            <a:r>
              <a:rPr lang="zh-CN" altLang="zh-CN" sz="2800" dirty="0"/>
              <a:t>，</a:t>
            </a:r>
            <a:r>
              <a:rPr lang="en-US" altLang="zh-CN" sz="2800" dirty="0"/>
              <a:t>4</a:t>
            </a:r>
            <a:r>
              <a:rPr lang="zh-CN" altLang="zh-CN" sz="2800" dirty="0"/>
              <a:t>，</a:t>
            </a:r>
            <a:r>
              <a:rPr lang="en-US" altLang="zh-CN" sz="2800" dirty="0"/>
              <a:t>-8</a:t>
            </a:r>
            <a:r>
              <a:rPr lang="zh-CN" altLang="zh-CN" sz="2800" dirty="0"/>
              <a:t>，</a:t>
            </a:r>
            <a:r>
              <a:rPr lang="en-US" altLang="zh-CN" sz="2800" dirty="0"/>
              <a:t>3</a:t>
            </a:r>
            <a:r>
              <a:rPr lang="zh-CN" altLang="zh-CN" sz="2800" dirty="0"/>
              <a:t>，</a:t>
            </a:r>
            <a:r>
              <a:rPr lang="en-US" altLang="zh-CN" sz="2800" dirty="0"/>
              <a:t>5};</a:t>
            </a:r>
            <a:endParaRPr lang="zh-CN" altLang="zh-CN" sz="2800" dirty="0"/>
          </a:p>
          <a:p>
            <a:pPr marL="0" indent="0">
              <a:buNone/>
            </a:pPr>
            <a:r>
              <a:rPr lang="en-US" altLang="zh-CN" sz="2800" dirty="0"/>
              <a:t>char </a:t>
            </a:r>
            <a:r>
              <a:rPr lang="en-US" altLang="zh-CN" sz="2800" dirty="0" err="1"/>
              <a:t>arrayString</a:t>
            </a:r>
            <a:r>
              <a:rPr lang="en-US" altLang="zh-CN" sz="2800" dirty="0"/>
              <a:t>[7] = "Arduino";</a:t>
            </a:r>
            <a:endParaRPr lang="zh-CN" altLang="zh-CN" sz="2800" dirty="0"/>
          </a:p>
          <a:p>
            <a:pPr marL="0" indent="0" algn="just">
              <a:buNone/>
            </a:pPr>
            <a:r>
              <a:rPr lang="en-US" altLang="zh-CN" dirty="0"/>
              <a:t>Arduino</a:t>
            </a:r>
            <a:r>
              <a:rPr lang="zh-CN" altLang="zh-CN" dirty="0"/>
              <a:t>数组的创建可以指定初始值，如果没有指定，那么编译器默认为</a:t>
            </a:r>
            <a:r>
              <a:rPr lang="en-US" altLang="zh-CN" dirty="0"/>
              <a:t>0</a:t>
            </a:r>
            <a:r>
              <a:rPr lang="zh-CN" altLang="zh-CN" dirty="0"/>
              <a:t>，同时，数组的大小可以不指定，编译器在监察时会计算元素的个数来指定数组的大小。</a:t>
            </a:r>
            <a:endParaRPr lang="zh-CN" altLang="en-US" dirty="0"/>
          </a:p>
        </p:txBody>
      </p:sp>
      <p:sp>
        <p:nvSpPr>
          <p:cNvPr id="4" name="灯片编号占位符 3">
            <a:extLst>
              <a:ext uri="{FF2B5EF4-FFF2-40B4-BE49-F238E27FC236}">
                <a16:creationId xmlns:a16="http://schemas.microsoft.com/office/drawing/2014/main" id="{0754EC30-61C1-7342-7DD2-F7D906DE9CA7}"/>
              </a:ext>
            </a:extLst>
          </p:cNvPr>
          <p:cNvSpPr>
            <a:spLocks noGrp="1"/>
          </p:cNvSpPr>
          <p:nvPr>
            <p:ph type="sldNum" sz="quarter" idx="12"/>
          </p:nvPr>
        </p:nvSpPr>
        <p:spPr/>
        <p:txBody>
          <a:bodyPr/>
          <a:lstStyle/>
          <a:p>
            <a:pPr>
              <a:defRPr/>
            </a:pPr>
            <a:fld id="{2C687883-A9F8-4324-BFDB-FCCC5C558AE8}" type="slidenum">
              <a:rPr lang="en-US" altLang="zh-CN" smtClean="0"/>
              <a:t>42</a:t>
            </a:fld>
            <a:endParaRPr lang="en-US" altLang="zh-CN"/>
          </a:p>
        </p:txBody>
      </p:sp>
    </p:spTree>
  </p:cSld>
  <p:clrMapOvr>
    <a:masterClrMapping/>
  </p:clrMapOvr>
  <p:transition>
    <p:cover dir="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指定或访问数组</a:t>
            </a:r>
            <a:endParaRPr lang="zh-CN" altLang="en-US" dirty="0"/>
          </a:p>
        </p:txBody>
      </p:sp>
      <p:sp>
        <p:nvSpPr>
          <p:cNvPr id="3" name="内容占位符 2"/>
          <p:cNvSpPr>
            <a:spLocks noGrp="1"/>
          </p:cNvSpPr>
          <p:nvPr>
            <p:ph idx="1"/>
          </p:nvPr>
        </p:nvSpPr>
        <p:spPr>
          <a:xfrm>
            <a:off x="685800" y="1752600"/>
            <a:ext cx="7772400" cy="4546600"/>
          </a:xfrm>
        </p:spPr>
        <p:txBody>
          <a:bodyPr/>
          <a:lstStyle/>
          <a:p>
            <a:pPr marL="0" indent="0">
              <a:buNone/>
            </a:pPr>
            <a:r>
              <a:rPr lang="zh-CN" altLang="zh-CN" dirty="0"/>
              <a:t>在创建完数组之后，可以指定数组的某个元素的值。</a:t>
            </a:r>
            <a:endParaRPr lang="en-US" altLang="zh-CN" dirty="0"/>
          </a:p>
          <a:p>
            <a:pPr marL="0" indent="0">
              <a:buNone/>
            </a:pPr>
            <a:r>
              <a:rPr lang="en-US" altLang="zh-CN" sz="2800" dirty="0" err="1"/>
              <a:t>int</a:t>
            </a:r>
            <a:r>
              <a:rPr lang="en-US" altLang="zh-CN" sz="2800" dirty="0"/>
              <a:t> </a:t>
            </a:r>
            <a:r>
              <a:rPr lang="en-US" altLang="zh-CN" sz="2800" dirty="0" err="1"/>
              <a:t>intArray</a:t>
            </a:r>
            <a:r>
              <a:rPr lang="en-US" altLang="zh-CN" sz="2800" dirty="0"/>
              <a:t>[3];</a:t>
            </a:r>
            <a:endParaRPr lang="zh-CN" altLang="zh-CN" sz="2800" dirty="0"/>
          </a:p>
          <a:p>
            <a:pPr marL="0" indent="0">
              <a:buNone/>
            </a:pPr>
            <a:r>
              <a:rPr lang="en-US" altLang="zh-CN" sz="2800" dirty="0" err="1"/>
              <a:t>intArray</a:t>
            </a:r>
            <a:r>
              <a:rPr lang="en-US" altLang="zh-CN" sz="2800" dirty="0"/>
              <a:t>[2]=2;</a:t>
            </a:r>
          </a:p>
          <a:p>
            <a:pPr marL="0" indent="0" algn="just">
              <a:buNone/>
            </a:pPr>
            <a:r>
              <a:rPr lang="zh-CN" altLang="zh-CN" dirty="0"/>
              <a:t>数组是从零开始索引的，也就说，数组初始化之后，数组第一个元素的索引为</a:t>
            </a:r>
            <a:r>
              <a:rPr lang="en-US" altLang="zh-CN" dirty="0"/>
              <a:t>0</a:t>
            </a:r>
            <a:r>
              <a:rPr lang="zh-CN" altLang="zh-CN" dirty="0"/>
              <a:t>，如上例所示，</a:t>
            </a:r>
            <a:r>
              <a:rPr lang="en-US" altLang="zh-CN" dirty="0" err="1"/>
              <a:t>arrayString</a:t>
            </a:r>
            <a:r>
              <a:rPr lang="en-US" altLang="zh-CN" dirty="0"/>
              <a:t>[0]</a:t>
            </a:r>
            <a:r>
              <a:rPr lang="zh-CN" altLang="zh-CN" dirty="0"/>
              <a:t>为“</a:t>
            </a:r>
            <a:r>
              <a:rPr lang="en-US" altLang="zh-CN" dirty="0"/>
              <a:t>A</a:t>
            </a:r>
            <a:r>
              <a:rPr lang="zh-CN" altLang="zh-CN" dirty="0"/>
              <a:t>”即数组的第一个元素是</a:t>
            </a:r>
            <a:r>
              <a:rPr lang="en-US" altLang="zh-CN" dirty="0"/>
              <a:t>0</a:t>
            </a:r>
            <a:r>
              <a:rPr lang="zh-CN" altLang="zh-CN" dirty="0"/>
              <a:t>号索引，并以此类推。</a:t>
            </a:r>
          </a:p>
          <a:p>
            <a:pPr marL="0" indent="0">
              <a:buNone/>
            </a:pPr>
            <a:endParaRPr lang="zh-CN" altLang="en-US" dirty="0"/>
          </a:p>
        </p:txBody>
      </p:sp>
      <p:sp>
        <p:nvSpPr>
          <p:cNvPr id="4" name="灯片编号占位符 3">
            <a:extLst>
              <a:ext uri="{FF2B5EF4-FFF2-40B4-BE49-F238E27FC236}">
                <a16:creationId xmlns:a16="http://schemas.microsoft.com/office/drawing/2014/main" id="{86C1AA44-BAE2-E665-3349-9EA07344CAD0}"/>
              </a:ext>
            </a:extLst>
          </p:cNvPr>
          <p:cNvSpPr>
            <a:spLocks noGrp="1"/>
          </p:cNvSpPr>
          <p:nvPr>
            <p:ph type="sldNum" sz="quarter" idx="12"/>
          </p:nvPr>
        </p:nvSpPr>
        <p:spPr/>
        <p:txBody>
          <a:bodyPr/>
          <a:lstStyle/>
          <a:p>
            <a:pPr>
              <a:defRPr/>
            </a:pPr>
            <a:fld id="{2C687883-A9F8-4324-BFDB-FCCC5C558AE8}" type="slidenum">
              <a:rPr lang="en-US" altLang="zh-CN" smtClean="0"/>
              <a:t>43</a:t>
            </a:fld>
            <a:endParaRPr lang="en-US" altLang="zh-CN"/>
          </a:p>
        </p:txBody>
      </p:sp>
    </p:spTree>
  </p:cSld>
  <p:clrMapOvr>
    <a:masterClrMapping/>
  </p:clrMapOvr>
  <p:transition>
    <p:cover dir="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指定或访问数组</a:t>
            </a:r>
            <a:endParaRPr lang="zh-CN" altLang="en-US" dirty="0"/>
          </a:p>
        </p:txBody>
      </p:sp>
      <p:sp>
        <p:nvSpPr>
          <p:cNvPr id="3" name="内容占位符 2"/>
          <p:cNvSpPr>
            <a:spLocks noGrp="1"/>
          </p:cNvSpPr>
          <p:nvPr>
            <p:ph idx="1"/>
          </p:nvPr>
        </p:nvSpPr>
        <p:spPr>
          <a:xfrm>
            <a:off x="685800" y="1981200"/>
            <a:ext cx="8342086" cy="4114800"/>
          </a:xfrm>
        </p:spPr>
        <p:txBody>
          <a:bodyPr/>
          <a:lstStyle/>
          <a:p>
            <a:pPr marL="0" indent="0" algn="just">
              <a:buNone/>
            </a:pPr>
            <a:r>
              <a:rPr lang="zh-CN" altLang="zh-CN" dirty="0"/>
              <a:t>在访问数组时应该注意</a:t>
            </a:r>
            <a:r>
              <a:rPr lang="zh-CN" altLang="en-US" dirty="0"/>
              <a:t>，</a:t>
            </a:r>
            <a:r>
              <a:rPr lang="zh-CN" altLang="zh-CN" dirty="0"/>
              <a:t>如果访问的数据超出数组的末尾，则将从其他内存中读取数据。从这些地方读取的数据，除了产生无效的数据外，没有任何作用。向随机存储器中写入数据绝对是一个坏主意，通常会导致一些意外的结果，如导致系统崩溃或程序故障。顺便说一句，不同于</a:t>
            </a:r>
            <a:r>
              <a:rPr lang="en-US" altLang="zh-CN" dirty="0"/>
              <a:t>Basic</a:t>
            </a:r>
            <a:r>
              <a:rPr lang="zh-CN" altLang="zh-CN" dirty="0"/>
              <a:t>或</a:t>
            </a:r>
            <a:r>
              <a:rPr lang="en-US" altLang="zh-CN" dirty="0"/>
              <a:t>Java</a:t>
            </a:r>
            <a:r>
              <a:rPr lang="zh-CN" altLang="zh-CN" dirty="0"/>
              <a:t>，</a:t>
            </a:r>
            <a:r>
              <a:rPr lang="en-US" altLang="zh-CN" dirty="0"/>
              <a:t>C</a:t>
            </a:r>
            <a:r>
              <a:rPr lang="zh-CN" altLang="zh-CN" dirty="0"/>
              <a:t>语言编译器不会检查访问的数组是否大于声明的数组。</a:t>
            </a:r>
            <a:endParaRPr lang="zh-CN" altLang="en-US" dirty="0"/>
          </a:p>
        </p:txBody>
      </p:sp>
      <p:sp>
        <p:nvSpPr>
          <p:cNvPr id="4" name="灯片编号占位符 3">
            <a:extLst>
              <a:ext uri="{FF2B5EF4-FFF2-40B4-BE49-F238E27FC236}">
                <a16:creationId xmlns:a16="http://schemas.microsoft.com/office/drawing/2014/main" id="{67DD5721-8844-8F46-1A32-B3BB75B494C8}"/>
              </a:ext>
            </a:extLst>
          </p:cNvPr>
          <p:cNvSpPr>
            <a:spLocks noGrp="1"/>
          </p:cNvSpPr>
          <p:nvPr>
            <p:ph type="sldNum" sz="quarter" idx="12"/>
          </p:nvPr>
        </p:nvSpPr>
        <p:spPr/>
        <p:txBody>
          <a:bodyPr/>
          <a:lstStyle/>
          <a:p>
            <a:pPr>
              <a:defRPr/>
            </a:pPr>
            <a:fld id="{2C687883-A9F8-4324-BFDB-FCCC5C558AE8}" type="slidenum">
              <a:rPr lang="en-US" altLang="zh-CN" smtClean="0"/>
              <a:t>44</a:t>
            </a:fld>
            <a:endParaRPr lang="en-US" altLang="zh-CN"/>
          </a:p>
        </p:txBody>
      </p:sp>
    </p:spTree>
  </p:cSld>
  <p:clrMapOvr>
    <a:masterClrMapping/>
  </p:clrMapOvr>
  <p:transition>
    <p:cover dir="d"/>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2681514" cy="595086"/>
          </a:xfrm>
          <a:solidFill>
            <a:schemeClr val="bg1">
              <a:lumMod val="85000"/>
            </a:schemeClr>
          </a:solidFill>
        </p:spPr>
        <p:txBody>
          <a:bodyPr/>
          <a:lstStyle/>
          <a:p>
            <a:pPr algn="l"/>
            <a:r>
              <a:rPr lang="zh-CN" altLang="zh-CN" sz="3200" b="1" dirty="0"/>
              <a:t>串口打印数组</a:t>
            </a:r>
            <a:endParaRPr lang="zh-CN" altLang="en-US" sz="3200" b="1" dirty="0"/>
          </a:p>
        </p:txBody>
      </p:sp>
      <p:sp>
        <p:nvSpPr>
          <p:cNvPr id="3" name="内容占位符 2"/>
          <p:cNvSpPr>
            <a:spLocks noGrp="1"/>
          </p:cNvSpPr>
          <p:nvPr>
            <p:ph idx="1"/>
          </p:nvPr>
        </p:nvSpPr>
        <p:spPr>
          <a:xfrm>
            <a:off x="685800" y="1204686"/>
            <a:ext cx="7772400" cy="4891314"/>
          </a:xfrm>
        </p:spPr>
        <p:txBody>
          <a:bodyPr/>
          <a:lstStyle/>
          <a:p>
            <a:pPr marL="0" indent="0">
              <a:buNone/>
            </a:pPr>
            <a:r>
              <a:rPr lang="en-US" altLang="zh-CN" sz="2400" dirty="0"/>
              <a:t>void setup() {</a:t>
            </a:r>
          </a:p>
          <a:p>
            <a:pPr marL="0" indent="0">
              <a:buNone/>
            </a:pPr>
            <a:r>
              <a:rPr lang="en-US" altLang="zh-CN" sz="2400" dirty="0"/>
              <a:t>  	</a:t>
            </a:r>
            <a:r>
              <a:rPr lang="en-US" altLang="zh-CN" sz="2400" dirty="0" err="1"/>
              <a:t>Serial.begin</a:t>
            </a:r>
            <a:r>
              <a:rPr lang="en-US" altLang="zh-CN" sz="2400" dirty="0"/>
              <a:t>(9600);</a:t>
            </a:r>
          </a:p>
          <a:p>
            <a:pPr marL="0" indent="0">
              <a:buNone/>
            </a:pPr>
            <a:r>
              <a:rPr lang="en-US" altLang="zh-CN" sz="2400" dirty="0"/>
              <a:t>	int </a:t>
            </a:r>
            <a:r>
              <a:rPr lang="en-US" altLang="zh-CN" sz="2400" dirty="0" err="1"/>
              <a:t>intArray</a:t>
            </a:r>
            <a:r>
              <a:rPr lang="en-US" altLang="zh-CN" sz="2400" dirty="0"/>
              <a:t>[10] = {1,2,3,4,5,6,7,8,9,10};  </a:t>
            </a:r>
          </a:p>
          <a:p>
            <a:pPr marL="0" indent="0">
              <a:buNone/>
            </a:pPr>
            <a:r>
              <a:rPr lang="en-US" altLang="zh-CN" sz="2400" dirty="0"/>
              <a:t> 	for (int </a:t>
            </a:r>
            <a:r>
              <a:rPr lang="en-US" altLang="zh-CN" sz="2400" dirty="0" err="1"/>
              <a:t>i</a:t>
            </a:r>
            <a:r>
              <a:rPr lang="en-US" altLang="zh-CN" sz="2400" dirty="0"/>
              <a:t> = 0; </a:t>
            </a:r>
            <a:r>
              <a:rPr lang="en-US" altLang="zh-CN" sz="2400" dirty="0" err="1"/>
              <a:t>i</a:t>
            </a:r>
            <a:r>
              <a:rPr lang="en-US" altLang="zh-CN" sz="2400" dirty="0"/>
              <a:t> &lt; 10; </a:t>
            </a:r>
            <a:r>
              <a:rPr lang="en-US" altLang="zh-CN" sz="2400" dirty="0" err="1"/>
              <a:t>i</a:t>
            </a:r>
            <a:r>
              <a:rPr lang="en-US" altLang="zh-CN" sz="2400" dirty="0"/>
              <a:t>++) {   //</a:t>
            </a:r>
            <a:r>
              <a:rPr lang="zh-CN" altLang="en-US" sz="2400" dirty="0"/>
              <a:t>循环遍历数组</a:t>
            </a:r>
          </a:p>
          <a:p>
            <a:pPr marL="0" indent="0">
              <a:buNone/>
            </a:pPr>
            <a:r>
              <a:rPr lang="zh-CN" altLang="en-US" sz="2400" dirty="0"/>
              <a:t>		</a:t>
            </a:r>
            <a:r>
              <a:rPr lang="en-US" altLang="zh-CN" sz="2400" dirty="0" err="1"/>
              <a:t>Serial.println</a:t>
            </a:r>
            <a:r>
              <a:rPr lang="en-US" altLang="zh-CN" sz="2400" dirty="0"/>
              <a:t>(</a:t>
            </a:r>
            <a:r>
              <a:rPr lang="en-US" altLang="zh-CN" sz="2400" dirty="0" err="1"/>
              <a:t>intArray</a:t>
            </a:r>
            <a:r>
              <a:rPr lang="en-US" altLang="zh-CN" sz="2400" dirty="0"/>
              <a:t>[</a:t>
            </a:r>
            <a:r>
              <a:rPr lang="en-US" altLang="zh-CN" sz="2400" dirty="0" err="1"/>
              <a:t>i</a:t>
            </a:r>
            <a:r>
              <a:rPr lang="en-US" altLang="zh-CN" sz="2400" dirty="0"/>
              <a:t>]); //</a:t>
            </a:r>
            <a:r>
              <a:rPr lang="zh-CN" altLang="en-US" sz="2400" dirty="0"/>
              <a:t>打印数组元素</a:t>
            </a:r>
          </a:p>
          <a:p>
            <a:pPr marL="0" indent="0">
              <a:buNone/>
            </a:pPr>
            <a:r>
              <a:rPr lang="zh-CN" altLang="en-US" sz="2400" dirty="0"/>
              <a:t> 	</a:t>
            </a:r>
            <a:r>
              <a:rPr lang="en-US" altLang="zh-CN" sz="2400" dirty="0"/>
              <a:t>}</a:t>
            </a:r>
          </a:p>
          <a:p>
            <a:pPr marL="0" indent="0">
              <a:buNone/>
            </a:pPr>
            <a:r>
              <a:rPr lang="en-US" altLang="zh-CN" sz="2400" dirty="0"/>
              <a:t>}</a:t>
            </a:r>
          </a:p>
          <a:p>
            <a:pPr marL="0" indent="0">
              <a:buNone/>
            </a:pPr>
            <a:r>
              <a:rPr lang="en-US" altLang="zh-CN" sz="2400" dirty="0"/>
              <a:t>void loop() {</a:t>
            </a:r>
          </a:p>
          <a:p>
            <a:pPr marL="0" indent="0">
              <a:buNone/>
            </a:pPr>
            <a:r>
              <a:rPr lang="en-US" altLang="zh-CN" sz="2400" dirty="0"/>
              <a:t>  	// put your main code here, to run repeatedly: </a:t>
            </a:r>
          </a:p>
          <a:p>
            <a:pPr marL="0" indent="0">
              <a:buNone/>
            </a:pPr>
            <a:r>
              <a:rPr lang="en-US" altLang="zh-CN" sz="2400" dirty="0"/>
              <a:t>}</a:t>
            </a:r>
          </a:p>
          <a:p>
            <a:pPr marL="0" indent="0">
              <a:buNone/>
            </a:pPr>
            <a:endParaRPr lang="en-US" altLang="zh-CN" sz="2400" dirty="0"/>
          </a:p>
        </p:txBody>
      </p:sp>
      <p:sp>
        <p:nvSpPr>
          <p:cNvPr id="4" name="灯片编号占位符 3">
            <a:extLst>
              <a:ext uri="{FF2B5EF4-FFF2-40B4-BE49-F238E27FC236}">
                <a16:creationId xmlns:a16="http://schemas.microsoft.com/office/drawing/2014/main" id="{B5F5815D-CBD5-E8B6-8303-804B5D1264A7}"/>
              </a:ext>
            </a:extLst>
          </p:cNvPr>
          <p:cNvSpPr>
            <a:spLocks noGrp="1"/>
          </p:cNvSpPr>
          <p:nvPr>
            <p:ph type="sldNum" sz="quarter" idx="12"/>
          </p:nvPr>
        </p:nvSpPr>
        <p:spPr/>
        <p:txBody>
          <a:bodyPr/>
          <a:lstStyle/>
          <a:p>
            <a:pPr>
              <a:defRPr/>
            </a:pPr>
            <a:fld id="{2C687883-A9F8-4324-BFDB-FCCC5C558AE8}" type="slidenum">
              <a:rPr lang="en-US" altLang="zh-CN" smtClean="0"/>
              <a:t>45</a:t>
            </a:fld>
            <a:endParaRPr lang="en-US" altLang="zh-CN"/>
          </a:p>
        </p:txBody>
      </p:sp>
    </p:spTree>
  </p:cSld>
  <p:clrMapOvr>
    <a:masterClrMapping/>
  </p:clrMapOvr>
  <p:transition>
    <p:cover dir="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a:t>
            </a:r>
            <a:r>
              <a:rPr lang="zh-CN" altLang="zh-CN" dirty="0"/>
              <a:t>语法——运算符</a:t>
            </a:r>
            <a:endParaRPr lang="zh-CN" altLang="en-US" dirty="0"/>
          </a:p>
        </p:txBody>
      </p:sp>
      <p:sp>
        <p:nvSpPr>
          <p:cNvPr id="3" name="内容占位符 2"/>
          <p:cNvSpPr>
            <a:spLocks noGrp="1"/>
          </p:cNvSpPr>
          <p:nvPr>
            <p:ph idx="1"/>
          </p:nvPr>
        </p:nvSpPr>
        <p:spPr/>
        <p:txBody>
          <a:bodyPr/>
          <a:lstStyle/>
          <a:p>
            <a:r>
              <a:rPr lang="zh-CN" altLang="zh-CN" dirty="0"/>
              <a:t>赋值运算符</a:t>
            </a:r>
            <a:endParaRPr lang="en-US" altLang="zh-CN" dirty="0"/>
          </a:p>
          <a:p>
            <a:r>
              <a:rPr lang="zh-CN" altLang="zh-CN" dirty="0"/>
              <a:t>算数运算符</a:t>
            </a:r>
            <a:endParaRPr lang="en-US" altLang="zh-CN" dirty="0"/>
          </a:p>
          <a:p>
            <a:r>
              <a:rPr lang="zh-CN" altLang="zh-CN" dirty="0"/>
              <a:t>关系运算符</a:t>
            </a:r>
            <a:endParaRPr lang="en-US" altLang="zh-CN" dirty="0"/>
          </a:p>
          <a:p>
            <a:r>
              <a:rPr lang="zh-CN" altLang="zh-CN" dirty="0"/>
              <a:t>逻辑运算符</a:t>
            </a:r>
            <a:endParaRPr lang="en-US" altLang="zh-CN" dirty="0"/>
          </a:p>
          <a:p>
            <a:r>
              <a:rPr lang="zh-CN" altLang="zh-CN" dirty="0"/>
              <a:t>递增</a:t>
            </a:r>
            <a:r>
              <a:rPr lang="en-US" altLang="zh-CN" dirty="0"/>
              <a:t>/</a:t>
            </a:r>
            <a:r>
              <a:rPr lang="zh-CN" altLang="zh-CN" dirty="0"/>
              <a:t>减运算符</a:t>
            </a:r>
            <a:endParaRPr lang="zh-CN" altLang="en-US" dirty="0"/>
          </a:p>
        </p:txBody>
      </p:sp>
      <p:sp>
        <p:nvSpPr>
          <p:cNvPr id="4" name="灯片编号占位符 3">
            <a:extLst>
              <a:ext uri="{FF2B5EF4-FFF2-40B4-BE49-F238E27FC236}">
                <a16:creationId xmlns:a16="http://schemas.microsoft.com/office/drawing/2014/main" id="{28372035-54F5-256F-E1F2-2E57EF708D7C}"/>
              </a:ext>
            </a:extLst>
          </p:cNvPr>
          <p:cNvSpPr>
            <a:spLocks noGrp="1"/>
          </p:cNvSpPr>
          <p:nvPr>
            <p:ph type="sldNum" sz="quarter" idx="12"/>
          </p:nvPr>
        </p:nvSpPr>
        <p:spPr/>
        <p:txBody>
          <a:bodyPr/>
          <a:lstStyle/>
          <a:p>
            <a:pPr>
              <a:defRPr/>
            </a:pPr>
            <a:fld id="{2C687883-A9F8-4324-BFDB-FCCC5C558AE8}" type="slidenum">
              <a:rPr lang="en-US" altLang="zh-CN" smtClean="0"/>
              <a:t>46</a:t>
            </a:fld>
            <a:endParaRPr lang="en-US" altLang="zh-CN"/>
          </a:p>
        </p:txBody>
      </p:sp>
    </p:spTree>
  </p:cSld>
  <p:clrMapOvr>
    <a:masterClrMapping/>
  </p:clrMapOvr>
  <p:transition>
    <p:cover dir="d"/>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赋值运算符</a:t>
            </a:r>
            <a:endParaRPr lang="zh-CN" altLang="en-US" dirty="0"/>
          </a:p>
        </p:txBody>
      </p:sp>
      <p:sp>
        <p:nvSpPr>
          <p:cNvPr id="3" name="内容占位符 2"/>
          <p:cNvSpPr>
            <a:spLocks noGrp="1"/>
          </p:cNvSpPr>
          <p:nvPr>
            <p:ph idx="1"/>
          </p:nvPr>
        </p:nvSpPr>
        <p:spPr/>
        <p:txBody>
          <a:bodyPr/>
          <a:lstStyle/>
          <a:p>
            <a:pPr algn="just"/>
            <a:r>
              <a:rPr lang="en-US" altLang="zh-CN" b="1" dirty="0">
                <a:solidFill>
                  <a:schemeClr val="accent6"/>
                </a:solidFill>
              </a:rPr>
              <a:t>=</a:t>
            </a:r>
            <a:r>
              <a:rPr lang="zh-CN" altLang="zh-CN" dirty="0"/>
              <a:t>（等于）为指定某个变量的值，例如：</a:t>
            </a:r>
            <a:r>
              <a:rPr lang="en-US" altLang="zh-CN" dirty="0"/>
              <a:t>A=x</a:t>
            </a:r>
            <a:r>
              <a:rPr lang="zh-CN" altLang="zh-CN" dirty="0"/>
              <a:t>，将</a:t>
            </a:r>
            <a:r>
              <a:rPr lang="en-US" altLang="zh-CN" dirty="0"/>
              <a:t>x</a:t>
            </a:r>
            <a:r>
              <a:rPr lang="zh-CN" altLang="zh-CN" dirty="0"/>
              <a:t>变量的值放入</a:t>
            </a:r>
            <a:r>
              <a:rPr lang="en-US" altLang="zh-CN" dirty="0"/>
              <a:t>A</a:t>
            </a:r>
            <a:r>
              <a:rPr lang="zh-CN" altLang="zh-CN" dirty="0"/>
              <a:t>变量。</a:t>
            </a:r>
            <a:endParaRPr lang="en-US" altLang="zh-CN" dirty="0"/>
          </a:p>
          <a:p>
            <a:pPr algn="just"/>
            <a:r>
              <a:rPr lang="en-US" altLang="zh-CN" b="1" dirty="0">
                <a:solidFill>
                  <a:schemeClr val="accent6"/>
                </a:solidFill>
              </a:rPr>
              <a:t>+=</a:t>
            </a:r>
            <a:r>
              <a:rPr lang="zh-CN" altLang="zh-CN" dirty="0"/>
              <a:t>（加等于）为加入某个变量的值，例如：</a:t>
            </a:r>
            <a:r>
              <a:rPr lang="en-US" altLang="zh-CN" dirty="0"/>
              <a:t>B+=x</a:t>
            </a:r>
            <a:r>
              <a:rPr lang="zh-CN" altLang="zh-CN" dirty="0"/>
              <a:t>，将</a:t>
            </a:r>
            <a:r>
              <a:rPr lang="en-US" altLang="zh-CN" dirty="0"/>
              <a:t>B</a:t>
            </a:r>
            <a:r>
              <a:rPr lang="zh-CN" altLang="zh-CN" dirty="0"/>
              <a:t>变量的值与</a:t>
            </a:r>
            <a:r>
              <a:rPr lang="en-US" altLang="zh-CN" dirty="0"/>
              <a:t>x</a:t>
            </a:r>
            <a:r>
              <a:rPr lang="zh-CN" altLang="zh-CN" dirty="0"/>
              <a:t>变量的值相加，其和放入</a:t>
            </a:r>
            <a:r>
              <a:rPr lang="en-US" altLang="zh-CN" dirty="0"/>
              <a:t>B</a:t>
            </a:r>
            <a:r>
              <a:rPr lang="zh-CN" altLang="zh-CN" dirty="0"/>
              <a:t>变量，这与</a:t>
            </a:r>
            <a:r>
              <a:rPr lang="en-US" altLang="zh-CN" dirty="0"/>
              <a:t>B=</a:t>
            </a:r>
            <a:r>
              <a:rPr lang="en-US" altLang="zh-CN" dirty="0" err="1"/>
              <a:t>B+x</a:t>
            </a:r>
            <a:r>
              <a:rPr lang="zh-CN" altLang="zh-CN" dirty="0"/>
              <a:t>表达式相同。</a:t>
            </a:r>
            <a:endParaRPr lang="en-US" altLang="zh-CN" dirty="0"/>
          </a:p>
          <a:p>
            <a:endParaRPr lang="zh-CN" altLang="en-US" dirty="0"/>
          </a:p>
        </p:txBody>
      </p:sp>
      <p:sp>
        <p:nvSpPr>
          <p:cNvPr id="4" name="灯片编号占位符 3">
            <a:extLst>
              <a:ext uri="{FF2B5EF4-FFF2-40B4-BE49-F238E27FC236}">
                <a16:creationId xmlns:a16="http://schemas.microsoft.com/office/drawing/2014/main" id="{7C776DB4-BD27-33C2-8D0B-91823063C40E}"/>
              </a:ext>
            </a:extLst>
          </p:cNvPr>
          <p:cNvSpPr>
            <a:spLocks noGrp="1"/>
          </p:cNvSpPr>
          <p:nvPr>
            <p:ph type="sldNum" sz="quarter" idx="12"/>
          </p:nvPr>
        </p:nvSpPr>
        <p:spPr/>
        <p:txBody>
          <a:bodyPr/>
          <a:lstStyle/>
          <a:p>
            <a:pPr>
              <a:defRPr/>
            </a:pPr>
            <a:fld id="{2C687883-A9F8-4324-BFDB-FCCC5C558AE8}" type="slidenum">
              <a:rPr lang="en-US" altLang="zh-CN" smtClean="0"/>
              <a:t>47</a:t>
            </a:fld>
            <a:endParaRPr lang="en-US" altLang="zh-CN"/>
          </a:p>
        </p:txBody>
      </p:sp>
    </p:spTree>
  </p:cSld>
  <p:clrMapOvr>
    <a:masterClrMapping/>
  </p:clrMapOvr>
  <p:transition>
    <p:cover dir="d"/>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赋值运算符</a:t>
            </a:r>
            <a:endParaRPr lang="zh-CN" altLang="en-US" dirty="0"/>
          </a:p>
        </p:txBody>
      </p:sp>
      <p:sp>
        <p:nvSpPr>
          <p:cNvPr id="3" name="内容占位符 2"/>
          <p:cNvSpPr>
            <a:spLocks noGrp="1"/>
          </p:cNvSpPr>
          <p:nvPr>
            <p:ph idx="1"/>
          </p:nvPr>
        </p:nvSpPr>
        <p:spPr>
          <a:xfrm>
            <a:off x="685799" y="1981200"/>
            <a:ext cx="8095343" cy="4114800"/>
          </a:xfrm>
        </p:spPr>
        <p:txBody>
          <a:bodyPr/>
          <a:lstStyle/>
          <a:p>
            <a:pPr algn="just"/>
            <a:r>
              <a:rPr lang="en-US" altLang="zh-CN" b="1" dirty="0">
                <a:solidFill>
                  <a:schemeClr val="accent6"/>
                </a:solidFill>
              </a:rPr>
              <a:t>-=</a:t>
            </a:r>
            <a:r>
              <a:rPr lang="zh-CN" altLang="zh-CN" dirty="0"/>
              <a:t>（减等于）为减去某个变量的值，例如：</a:t>
            </a:r>
            <a:r>
              <a:rPr lang="en-US" altLang="zh-CN" dirty="0"/>
              <a:t>C-=x</a:t>
            </a:r>
            <a:r>
              <a:rPr lang="zh-CN" altLang="zh-CN" dirty="0"/>
              <a:t>，将</a:t>
            </a:r>
            <a:r>
              <a:rPr lang="en-US" altLang="zh-CN" dirty="0"/>
              <a:t>C</a:t>
            </a:r>
            <a:r>
              <a:rPr lang="zh-CN" altLang="zh-CN" dirty="0"/>
              <a:t>变量的值减去</a:t>
            </a:r>
            <a:r>
              <a:rPr lang="en-US" altLang="zh-CN" dirty="0"/>
              <a:t>x</a:t>
            </a:r>
            <a:r>
              <a:rPr lang="zh-CN" altLang="zh-CN" dirty="0"/>
              <a:t>变量的值，其差放入</a:t>
            </a:r>
            <a:r>
              <a:rPr lang="en-US" altLang="zh-CN" dirty="0"/>
              <a:t>C</a:t>
            </a:r>
            <a:r>
              <a:rPr lang="zh-CN" altLang="zh-CN" dirty="0"/>
              <a:t>变量，与</a:t>
            </a:r>
            <a:r>
              <a:rPr lang="en-US" altLang="zh-CN" dirty="0"/>
              <a:t>C=C-x</a:t>
            </a:r>
            <a:r>
              <a:rPr lang="zh-CN" altLang="zh-CN" dirty="0"/>
              <a:t>表达式相同。</a:t>
            </a:r>
            <a:endParaRPr lang="en-US" altLang="zh-CN" dirty="0"/>
          </a:p>
          <a:p>
            <a:pPr algn="just"/>
            <a:r>
              <a:rPr lang="en-US" altLang="zh-CN" b="1" dirty="0">
                <a:solidFill>
                  <a:schemeClr val="accent6"/>
                </a:solidFill>
              </a:rPr>
              <a:t>*=</a:t>
            </a:r>
            <a:r>
              <a:rPr lang="zh-CN" altLang="zh-CN" dirty="0"/>
              <a:t>（乘等于）为乘入某个变量的值，例如：</a:t>
            </a:r>
            <a:r>
              <a:rPr lang="en-US" altLang="zh-CN" dirty="0"/>
              <a:t>D*=x</a:t>
            </a:r>
            <a:r>
              <a:rPr lang="zh-CN" altLang="zh-CN" dirty="0"/>
              <a:t>，将</a:t>
            </a:r>
            <a:r>
              <a:rPr lang="en-US" altLang="zh-CN" dirty="0"/>
              <a:t>D</a:t>
            </a:r>
            <a:r>
              <a:rPr lang="zh-CN" altLang="zh-CN" dirty="0"/>
              <a:t>变量的值与</a:t>
            </a:r>
            <a:r>
              <a:rPr lang="en-US" altLang="zh-CN" dirty="0"/>
              <a:t>x</a:t>
            </a:r>
            <a:r>
              <a:rPr lang="zh-CN" altLang="zh-CN" dirty="0"/>
              <a:t>变量的值相乘，其积放入</a:t>
            </a:r>
            <a:r>
              <a:rPr lang="en-US" altLang="zh-CN" dirty="0"/>
              <a:t>D</a:t>
            </a:r>
            <a:r>
              <a:rPr lang="zh-CN" altLang="zh-CN" dirty="0"/>
              <a:t>变量，与</a:t>
            </a:r>
            <a:r>
              <a:rPr lang="en-US" altLang="zh-CN" dirty="0"/>
              <a:t>D=D*x</a:t>
            </a:r>
            <a:r>
              <a:rPr lang="zh-CN" altLang="zh-CN" dirty="0"/>
              <a:t>表达式相同。</a:t>
            </a:r>
            <a:endParaRPr lang="zh-CN" altLang="en-US" dirty="0"/>
          </a:p>
        </p:txBody>
      </p:sp>
      <p:sp>
        <p:nvSpPr>
          <p:cNvPr id="4" name="灯片编号占位符 3">
            <a:extLst>
              <a:ext uri="{FF2B5EF4-FFF2-40B4-BE49-F238E27FC236}">
                <a16:creationId xmlns:a16="http://schemas.microsoft.com/office/drawing/2014/main" id="{8B20F9C9-D1BF-38BD-1F8B-61CECCF7EFA3}"/>
              </a:ext>
            </a:extLst>
          </p:cNvPr>
          <p:cNvSpPr>
            <a:spLocks noGrp="1"/>
          </p:cNvSpPr>
          <p:nvPr>
            <p:ph type="sldNum" sz="quarter" idx="12"/>
          </p:nvPr>
        </p:nvSpPr>
        <p:spPr/>
        <p:txBody>
          <a:bodyPr/>
          <a:lstStyle/>
          <a:p>
            <a:pPr>
              <a:defRPr/>
            </a:pPr>
            <a:fld id="{2C687883-A9F8-4324-BFDB-FCCC5C558AE8}" type="slidenum">
              <a:rPr lang="en-US" altLang="zh-CN" smtClean="0"/>
              <a:t>48</a:t>
            </a:fld>
            <a:endParaRPr lang="en-US" altLang="zh-CN"/>
          </a:p>
        </p:txBody>
      </p:sp>
    </p:spTree>
  </p:cSld>
  <p:clrMapOvr>
    <a:masterClrMapping/>
  </p:clrMapOvr>
  <p:transition>
    <p:cover dir="d"/>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赋值运算符</a:t>
            </a:r>
            <a:endParaRPr lang="zh-CN" altLang="en-US" dirty="0"/>
          </a:p>
        </p:txBody>
      </p:sp>
      <p:sp>
        <p:nvSpPr>
          <p:cNvPr id="3" name="内容占位符 2"/>
          <p:cNvSpPr>
            <a:spLocks noGrp="1"/>
          </p:cNvSpPr>
          <p:nvPr>
            <p:ph idx="1"/>
          </p:nvPr>
        </p:nvSpPr>
        <p:spPr/>
        <p:txBody>
          <a:bodyPr/>
          <a:lstStyle/>
          <a:p>
            <a:pPr algn="just"/>
            <a:r>
              <a:rPr lang="en-US" altLang="zh-CN" b="1" dirty="0">
                <a:solidFill>
                  <a:schemeClr val="accent6"/>
                </a:solidFill>
              </a:rPr>
              <a:t>/=</a:t>
            </a:r>
            <a:r>
              <a:rPr lang="zh-CN" altLang="zh-CN" dirty="0"/>
              <a:t>（除等于）为和某个变量的值做商，例如：</a:t>
            </a:r>
            <a:r>
              <a:rPr lang="en-US" altLang="zh-CN" dirty="0"/>
              <a:t>E/=x</a:t>
            </a:r>
            <a:r>
              <a:rPr lang="zh-CN" altLang="zh-CN" dirty="0"/>
              <a:t>，将</a:t>
            </a:r>
            <a:r>
              <a:rPr lang="en-US" altLang="zh-CN" dirty="0"/>
              <a:t>E</a:t>
            </a:r>
            <a:r>
              <a:rPr lang="zh-CN" altLang="zh-CN" dirty="0"/>
              <a:t>变量的值除以</a:t>
            </a:r>
            <a:r>
              <a:rPr lang="en-US" altLang="zh-CN" dirty="0"/>
              <a:t>x</a:t>
            </a:r>
            <a:r>
              <a:rPr lang="zh-CN" altLang="zh-CN" dirty="0"/>
              <a:t>变量的值，其商放入</a:t>
            </a:r>
            <a:r>
              <a:rPr lang="en-US" altLang="zh-CN" dirty="0"/>
              <a:t>E</a:t>
            </a:r>
            <a:r>
              <a:rPr lang="zh-CN" altLang="zh-CN" dirty="0"/>
              <a:t>变量，与</a:t>
            </a:r>
            <a:r>
              <a:rPr lang="en-US" altLang="zh-CN" dirty="0"/>
              <a:t>E=E/x</a:t>
            </a:r>
            <a:r>
              <a:rPr lang="zh-CN" altLang="zh-CN" dirty="0"/>
              <a:t>表达式相同。</a:t>
            </a:r>
            <a:endParaRPr lang="en-US" altLang="zh-CN" dirty="0"/>
          </a:p>
          <a:p>
            <a:pPr algn="just"/>
            <a:r>
              <a:rPr lang="en-US" altLang="zh-CN" b="1" dirty="0">
                <a:solidFill>
                  <a:schemeClr val="accent6"/>
                </a:solidFill>
              </a:rPr>
              <a:t>%=</a:t>
            </a:r>
            <a:r>
              <a:rPr lang="zh-CN" altLang="zh-CN" dirty="0"/>
              <a:t>（取余等于）对某个变量的值进行取余数，例如：</a:t>
            </a:r>
            <a:r>
              <a:rPr lang="en-US" altLang="zh-CN" dirty="0"/>
              <a:t>F%=x</a:t>
            </a:r>
            <a:r>
              <a:rPr lang="zh-CN" altLang="zh-CN" dirty="0"/>
              <a:t>，将</a:t>
            </a:r>
            <a:r>
              <a:rPr lang="en-US" altLang="zh-CN" dirty="0"/>
              <a:t>F</a:t>
            </a:r>
            <a:r>
              <a:rPr lang="zh-CN" altLang="zh-CN" dirty="0"/>
              <a:t>变量的值除以</a:t>
            </a:r>
            <a:r>
              <a:rPr lang="en-US" altLang="zh-CN" dirty="0"/>
              <a:t>x</a:t>
            </a:r>
            <a:r>
              <a:rPr lang="zh-CN" altLang="zh-CN" dirty="0"/>
              <a:t>变量的值，其余数放入</a:t>
            </a:r>
            <a:r>
              <a:rPr lang="en-US" altLang="zh-CN" dirty="0"/>
              <a:t>F</a:t>
            </a:r>
            <a:r>
              <a:rPr lang="zh-CN" altLang="zh-CN" dirty="0"/>
              <a:t>变量，与</a:t>
            </a:r>
            <a:r>
              <a:rPr lang="en-US" altLang="zh-CN" dirty="0"/>
              <a:t>F=</a:t>
            </a:r>
            <a:r>
              <a:rPr lang="en-US" altLang="zh-CN" dirty="0" err="1"/>
              <a:t>F%x</a:t>
            </a:r>
            <a:r>
              <a:rPr lang="zh-CN" altLang="zh-CN" dirty="0"/>
              <a:t>表达式相同。</a:t>
            </a:r>
            <a:endParaRPr lang="zh-CN" altLang="en-US" dirty="0"/>
          </a:p>
        </p:txBody>
      </p:sp>
      <p:sp>
        <p:nvSpPr>
          <p:cNvPr id="4" name="灯片编号占位符 3">
            <a:extLst>
              <a:ext uri="{FF2B5EF4-FFF2-40B4-BE49-F238E27FC236}">
                <a16:creationId xmlns:a16="http://schemas.microsoft.com/office/drawing/2014/main" id="{5FD5E9A8-AC35-CE7A-3282-CA6767FE8054}"/>
              </a:ext>
            </a:extLst>
          </p:cNvPr>
          <p:cNvSpPr>
            <a:spLocks noGrp="1"/>
          </p:cNvSpPr>
          <p:nvPr>
            <p:ph type="sldNum" sz="quarter" idx="12"/>
          </p:nvPr>
        </p:nvSpPr>
        <p:spPr/>
        <p:txBody>
          <a:bodyPr/>
          <a:lstStyle/>
          <a:p>
            <a:pPr>
              <a:defRPr/>
            </a:pPr>
            <a:fld id="{2C687883-A9F8-4324-BFDB-FCCC5C558AE8}" type="slidenum">
              <a:rPr lang="en-US" altLang="zh-CN" smtClean="0"/>
              <a:t>49</a:t>
            </a:fld>
            <a:endParaRPr lang="en-US" altLang="zh-CN"/>
          </a:p>
        </p:txBody>
      </p:sp>
    </p:spTree>
  </p:cSld>
  <p:clrMapOvr>
    <a:masterClrMapping/>
  </p:clrMapOvr>
  <p:transition>
    <p:cover dir="d"/>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赋值运算符</a:t>
            </a:r>
            <a:endParaRPr lang="zh-CN" altLang="en-US" dirty="0"/>
          </a:p>
        </p:txBody>
      </p:sp>
      <p:sp>
        <p:nvSpPr>
          <p:cNvPr id="3" name="内容占位符 2"/>
          <p:cNvSpPr>
            <a:spLocks noGrp="1"/>
          </p:cNvSpPr>
          <p:nvPr>
            <p:ph idx="1"/>
          </p:nvPr>
        </p:nvSpPr>
        <p:spPr/>
        <p:txBody>
          <a:bodyPr/>
          <a:lstStyle/>
          <a:p>
            <a:pPr algn="just"/>
            <a:r>
              <a:rPr lang="en-US" altLang="zh-CN" b="1" dirty="0">
                <a:solidFill>
                  <a:schemeClr val="accent6"/>
                </a:solidFill>
              </a:rPr>
              <a:t>&amp;=</a:t>
            </a:r>
            <a:r>
              <a:rPr lang="zh-CN" altLang="zh-CN" dirty="0"/>
              <a:t>（与等于）对某个变量的值按位进行与运算，例如：</a:t>
            </a:r>
            <a:r>
              <a:rPr lang="en-US" altLang="zh-CN" dirty="0"/>
              <a:t>G&amp;=x</a:t>
            </a:r>
            <a:r>
              <a:rPr lang="zh-CN" altLang="zh-CN" dirty="0"/>
              <a:t>，将</a:t>
            </a:r>
            <a:r>
              <a:rPr lang="en-US" altLang="zh-CN" dirty="0"/>
              <a:t>G</a:t>
            </a:r>
            <a:r>
              <a:rPr lang="zh-CN" altLang="zh-CN" dirty="0"/>
              <a:t>变量的值与</a:t>
            </a:r>
            <a:r>
              <a:rPr lang="en-US" altLang="zh-CN" dirty="0"/>
              <a:t>x</a:t>
            </a:r>
            <a:r>
              <a:rPr lang="zh-CN" altLang="zh-CN" dirty="0"/>
              <a:t>变量的值做</a:t>
            </a:r>
            <a:r>
              <a:rPr lang="en-US" altLang="zh-CN" dirty="0"/>
              <a:t>AND</a:t>
            </a:r>
            <a:r>
              <a:rPr lang="zh-CN" altLang="zh-CN" dirty="0"/>
              <a:t>运算，其结果放入</a:t>
            </a:r>
            <a:r>
              <a:rPr lang="en-US" altLang="zh-CN" dirty="0"/>
              <a:t>G</a:t>
            </a:r>
            <a:r>
              <a:rPr lang="zh-CN" altLang="zh-CN" dirty="0"/>
              <a:t>变量，与</a:t>
            </a:r>
            <a:r>
              <a:rPr lang="en-US" altLang="zh-CN" dirty="0"/>
              <a:t>G=</a:t>
            </a:r>
            <a:r>
              <a:rPr lang="en-US" altLang="zh-CN" dirty="0" err="1"/>
              <a:t>G&amp;x</a:t>
            </a:r>
            <a:r>
              <a:rPr lang="zh-CN" altLang="zh-CN" dirty="0"/>
              <a:t>表达式相同。</a:t>
            </a:r>
            <a:endParaRPr lang="en-US" altLang="zh-CN" dirty="0"/>
          </a:p>
          <a:p>
            <a:pPr algn="just"/>
            <a:r>
              <a:rPr lang="en-US" altLang="zh-CN" b="1" dirty="0">
                <a:solidFill>
                  <a:schemeClr val="accent6"/>
                </a:solidFill>
              </a:rPr>
              <a:t>|=</a:t>
            </a:r>
            <a:r>
              <a:rPr lang="zh-CN" altLang="zh-CN" dirty="0"/>
              <a:t>（或等于）对某个变量的值按位进行或运算，例如：</a:t>
            </a:r>
            <a:r>
              <a:rPr lang="en-US" altLang="zh-CN" dirty="0"/>
              <a:t>H|=x</a:t>
            </a:r>
            <a:r>
              <a:rPr lang="zh-CN" altLang="zh-CN" dirty="0"/>
              <a:t>，将</a:t>
            </a:r>
            <a:r>
              <a:rPr lang="en-US" altLang="zh-CN" dirty="0"/>
              <a:t>H</a:t>
            </a:r>
            <a:r>
              <a:rPr lang="zh-CN" altLang="zh-CN" dirty="0"/>
              <a:t>变量的值与</a:t>
            </a:r>
            <a:r>
              <a:rPr lang="en-US" altLang="zh-CN" dirty="0"/>
              <a:t>x</a:t>
            </a:r>
            <a:r>
              <a:rPr lang="zh-CN" altLang="zh-CN" dirty="0"/>
              <a:t>变量的值相</a:t>
            </a:r>
            <a:r>
              <a:rPr lang="en-US" altLang="zh-CN" dirty="0"/>
              <a:t>OR</a:t>
            </a:r>
            <a:r>
              <a:rPr lang="zh-CN" altLang="zh-CN" dirty="0"/>
              <a:t>运算，其结果放入变量</a:t>
            </a:r>
            <a:r>
              <a:rPr lang="en-US" altLang="zh-CN" dirty="0"/>
              <a:t>H</a:t>
            </a:r>
            <a:r>
              <a:rPr lang="zh-CN" altLang="zh-CN" dirty="0"/>
              <a:t>，与</a:t>
            </a:r>
            <a:r>
              <a:rPr lang="en-US" altLang="zh-CN" dirty="0"/>
              <a:t>H=</a:t>
            </a:r>
            <a:r>
              <a:rPr lang="en-US" altLang="zh-CN" dirty="0" err="1"/>
              <a:t>H|x</a:t>
            </a:r>
            <a:r>
              <a:rPr lang="zh-CN" altLang="zh-CN" dirty="0"/>
              <a:t>相同。</a:t>
            </a:r>
            <a:endParaRPr lang="zh-CN" altLang="en-US" dirty="0"/>
          </a:p>
        </p:txBody>
      </p:sp>
      <p:sp>
        <p:nvSpPr>
          <p:cNvPr id="4" name="灯片编号占位符 3">
            <a:extLst>
              <a:ext uri="{FF2B5EF4-FFF2-40B4-BE49-F238E27FC236}">
                <a16:creationId xmlns:a16="http://schemas.microsoft.com/office/drawing/2014/main" id="{982E5BDE-5E45-9C5D-EBEB-7F0DAB521F86}"/>
              </a:ext>
            </a:extLst>
          </p:cNvPr>
          <p:cNvSpPr>
            <a:spLocks noGrp="1"/>
          </p:cNvSpPr>
          <p:nvPr>
            <p:ph type="sldNum" sz="quarter" idx="12"/>
          </p:nvPr>
        </p:nvSpPr>
        <p:spPr/>
        <p:txBody>
          <a:bodyPr/>
          <a:lstStyle/>
          <a:p>
            <a:pPr>
              <a:defRPr/>
            </a:pPr>
            <a:fld id="{2C687883-A9F8-4324-BFDB-FCCC5C558AE8}" type="slidenum">
              <a:rPr lang="en-US" altLang="zh-CN" smtClean="0"/>
              <a:t>50</a:t>
            </a:fld>
            <a:endParaRPr lang="en-US" altLang="zh-CN"/>
          </a:p>
        </p:txBody>
      </p:sp>
    </p:spTree>
  </p:cSld>
  <p:clrMapOvr>
    <a:masterClrMapping/>
  </p:clrMapOvr>
  <p:transition>
    <p:cover dir="d"/>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8687" y="609600"/>
            <a:ext cx="8269513" cy="1143000"/>
          </a:xfrm>
        </p:spPr>
        <p:txBody>
          <a:bodyPr/>
          <a:lstStyle/>
          <a:p>
            <a:pPr algn="l"/>
            <a:r>
              <a:rPr lang="zh-CN" altLang="zh-CN" dirty="0"/>
              <a:t>赋值运算符</a:t>
            </a:r>
            <a:endParaRPr lang="zh-CN" altLang="en-US" dirty="0"/>
          </a:p>
        </p:txBody>
      </p:sp>
      <p:sp>
        <p:nvSpPr>
          <p:cNvPr id="3" name="内容占位符 2"/>
          <p:cNvSpPr>
            <a:spLocks noGrp="1"/>
          </p:cNvSpPr>
          <p:nvPr>
            <p:ph idx="1"/>
          </p:nvPr>
        </p:nvSpPr>
        <p:spPr>
          <a:xfrm>
            <a:off x="188686" y="1752599"/>
            <a:ext cx="8955313" cy="4517571"/>
          </a:xfrm>
        </p:spPr>
        <p:txBody>
          <a:bodyPr/>
          <a:lstStyle/>
          <a:p>
            <a:pPr algn="just"/>
            <a:r>
              <a:rPr lang="en-US" altLang="zh-CN" sz="3000" b="1" dirty="0">
                <a:solidFill>
                  <a:schemeClr val="accent6"/>
                </a:solidFill>
              </a:rPr>
              <a:t>^=</a:t>
            </a:r>
            <a:r>
              <a:rPr lang="zh-CN" altLang="zh-CN" sz="3000" dirty="0"/>
              <a:t>（异或等于）对某个变量的值按位进行异或运算，例如：</a:t>
            </a:r>
            <a:r>
              <a:rPr lang="en-US" altLang="zh-CN" sz="3000" dirty="0"/>
              <a:t>I^=x</a:t>
            </a:r>
            <a:r>
              <a:rPr lang="zh-CN" altLang="zh-CN" sz="3000" dirty="0"/>
              <a:t>，将</a:t>
            </a:r>
            <a:r>
              <a:rPr lang="en-US" altLang="zh-CN" sz="3000" dirty="0"/>
              <a:t>I</a:t>
            </a:r>
            <a:r>
              <a:rPr lang="zh-CN" altLang="zh-CN" sz="3000" dirty="0"/>
              <a:t>变量的值与</a:t>
            </a:r>
            <a:r>
              <a:rPr lang="en-US" altLang="zh-CN" sz="3000" dirty="0"/>
              <a:t>x</a:t>
            </a:r>
            <a:r>
              <a:rPr lang="zh-CN" altLang="zh-CN" sz="3000" dirty="0"/>
              <a:t>变量的值做</a:t>
            </a:r>
            <a:r>
              <a:rPr lang="en-US" altLang="zh-CN" sz="3000" dirty="0"/>
              <a:t>XOR</a:t>
            </a:r>
            <a:r>
              <a:rPr lang="zh-CN" altLang="zh-CN" sz="3000" dirty="0"/>
              <a:t>运算，其结果放入变量</a:t>
            </a:r>
            <a:r>
              <a:rPr lang="en-US" altLang="zh-CN" sz="3000" dirty="0"/>
              <a:t>I</a:t>
            </a:r>
            <a:r>
              <a:rPr lang="zh-CN" altLang="zh-CN" sz="3000" dirty="0"/>
              <a:t>，与</a:t>
            </a:r>
            <a:r>
              <a:rPr lang="en-US" altLang="zh-CN" sz="3000" dirty="0"/>
              <a:t>I=</a:t>
            </a:r>
            <a:r>
              <a:rPr lang="en-US" altLang="zh-CN" sz="3000" dirty="0" err="1"/>
              <a:t>I^x</a:t>
            </a:r>
            <a:r>
              <a:rPr lang="zh-CN" altLang="zh-CN" sz="3000" dirty="0"/>
              <a:t>相同。</a:t>
            </a:r>
            <a:endParaRPr lang="en-US" altLang="zh-CN" sz="3000" dirty="0"/>
          </a:p>
          <a:p>
            <a:pPr algn="just"/>
            <a:r>
              <a:rPr lang="en-US" altLang="zh-CN" sz="3000" b="1" dirty="0">
                <a:solidFill>
                  <a:schemeClr val="accent6"/>
                </a:solidFill>
              </a:rPr>
              <a:t>&lt;&lt;=</a:t>
            </a:r>
            <a:r>
              <a:rPr lang="zh-CN" altLang="zh-CN" sz="3000" dirty="0"/>
              <a:t>（左移等于）将某个变量的值按位进行左移，例如：</a:t>
            </a:r>
            <a:r>
              <a:rPr lang="en-US" altLang="zh-CN" sz="3000" dirty="0"/>
              <a:t>J&lt;&lt;=n</a:t>
            </a:r>
            <a:r>
              <a:rPr lang="zh-CN" altLang="zh-CN" sz="3000" dirty="0"/>
              <a:t>，将</a:t>
            </a:r>
            <a:r>
              <a:rPr lang="en-US" altLang="zh-CN" sz="3000" dirty="0"/>
              <a:t>J</a:t>
            </a:r>
            <a:r>
              <a:rPr lang="zh-CN" altLang="zh-CN" sz="3000" dirty="0"/>
              <a:t>变量的值左移</a:t>
            </a:r>
            <a:r>
              <a:rPr lang="en-US" altLang="zh-CN" sz="3000" dirty="0"/>
              <a:t>n</a:t>
            </a:r>
            <a:r>
              <a:rPr lang="zh-CN" altLang="zh-CN" sz="3000" dirty="0"/>
              <a:t>位，与</a:t>
            </a:r>
            <a:r>
              <a:rPr lang="en-US" altLang="zh-CN" sz="3000" dirty="0"/>
              <a:t>J=J&lt;&lt;n</a:t>
            </a:r>
            <a:r>
              <a:rPr lang="zh-CN" altLang="zh-CN" sz="3000" dirty="0"/>
              <a:t>相同。</a:t>
            </a:r>
            <a:endParaRPr lang="en-US" altLang="zh-CN" sz="3000" dirty="0"/>
          </a:p>
          <a:p>
            <a:pPr algn="just"/>
            <a:r>
              <a:rPr lang="en-US" altLang="zh-CN" sz="3000" b="1" dirty="0">
                <a:solidFill>
                  <a:schemeClr val="accent6"/>
                </a:solidFill>
              </a:rPr>
              <a:t>&gt;&gt;=</a:t>
            </a:r>
            <a:r>
              <a:rPr lang="zh-CN" altLang="zh-CN" sz="3000" dirty="0"/>
              <a:t>（右移等于）将某个变量的值按位进行右移，例如：</a:t>
            </a:r>
            <a:r>
              <a:rPr lang="en-US" altLang="zh-CN" sz="3000" dirty="0"/>
              <a:t>K&gt;&gt;=n</a:t>
            </a:r>
            <a:r>
              <a:rPr lang="zh-CN" altLang="zh-CN" sz="3000" dirty="0"/>
              <a:t>，将</a:t>
            </a:r>
            <a:r>
              <a:rPr lang="en-US" altLang="zh-CN" sz="3000" dirty="0"/>
              <a:t>K</a:t>
            </a:r>
            <a:r>
              <a:rPr lang="zh-CN" altLang="zh-CN" sz="3000" dirty="0"/>
              <a:t>变量的值右移</a:t>
            </a:r>
            <a:r>
              <a:rPr lang="en-US" altLang="zh-CN" sz="3000" dirty="0"/>
              <a:t>n</a:t>
            </a:r>
            <a:r>
              <a:rPr lang="zh-CN" altLang="zh-CN" sz="3000" dirty="0"/>
              <a:t>位，与</a:t>
            </a:r>
            <a:r>
              <a:rPr lang="en-US" altLang="zh-CN" sz="3000" dirty="0"/>
              <a:t>K=K&gt;&gt;n</a:t>
            </a:r>
            <a:r>
              <a:rPr lang="zh-CN" altLang="zh-CN" sz="3000" dirty="0"/>
              <a:t>相同。</a:t>
            </a:r>
            <a:endParaRPr lang="zh-CN" altLang="en-US" sz="3000" dirty="0"/>
          </a:p>
        </p:txBody>
      </p:sp>
      <p:sp>
        <p:nvSpPr>
          <p:cNvPr id="4" name="灯片编号占位符 3">
            <a:extLst>
              <a:ext uri="{FF2B5EF4-FFF2-40B4-BE49-F238E27FC236}">
                <a16:creationId xmlns:a16="http://schemas.microsoft.com/office/drawing/2014/main" id="{348568B1-0B7B-0AA8-D413-7469B68C99A6}"/>
              </a:ext>
            </a:extLst>
          </p:cNvPr>
          <p:cNvSpPr>
            <a:spLocks noGrp="1"/>
          </p:cNvSpPr>
          <p:nvPr>
            <p:ph type="sldNum" sz="quarter" idx="12"/>
          </p:nvPr>
        </p:nvSpPr>
        <p:spPr/>
        <p:txBody>
          <a:bodyPr/>
          <a:lstStyle/>
          <a:p>
            <a:pPr>
              <a:defRPr/>
            </a:pPr>
            <a:fld id="{2C687883-A9F8-4324-BFDB-FCCC5C558AE8}" type="slidenum">
              <a:rPr lang="en-US" altLang="zh-CN" smtClean="0"/>
              <a:t>51</a:t>
            </a:fld>
            <a:endParaRPr lang="en-US" altLang="zh-CN"/>
          </a:p>
        </p:txBody>
      </p:sp>
    </p:spTree>
  </p:cSld>
  <p:clrMapOvr>
    <a:masterClrMapping/>
  </p:clrMapOvr>
  <p:transition>
    <p:cover dir="d"/>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算数运算符</a:t>
            </a:r>
            <a:endParaRPr lang="zh-CN" altLang="en-US" dirty="0"/>
          </a:p>
        </p:txBody>
      </p:sp>
      <p:sp>
        <p:nvSpPr>
          <p:cNvPr id="3" name="内容占位符 2"/>
          <p:cNvSpPr>
            <a:spLocks noGrp="1"/>
          </p:cNvSpPr>
          <p:nvPr>
            <p:ph idx="1"/>
          </p:nvPr>
        </p:nvSpPr>
        <p:spPr>
          <a:xfrm>
            <a:off x="685800" y="1752600"/>
            <a:ext cx="8255000" cy="4343400"/>
          </a:xfrm>
        </p:spPr>
        <p:txBody>
          <a:bodyPr/>
          <a:lstStyle/>
          <a:p>
            <a:pPr algn="just"/>
            <a:r>
              <a:rPr lang="en-US" altLang="zh-CN" b="1" dirty="0">
                <a:solidFill>
                  <a:schemeClr val="accent6"/>
                </a:solidFill>
              </a:rPr>
              <a:t>+</a:t>
            </a:r>
            <a:r>
              <a:rPr lang="zh-CN" altLang="zh-CN" dirty="0"/>
              <a:t>（加）对两个值进行求和，例如：</a:t>
            </a:r>
            <a:r>
              <a:rPr lang="en-US" altLang="zh-CN" dirty="0"/>
              <a:t>A=</a:t>
            </a:r>
            <a:r>
              <a:rPr lang="en-US" altLang="zh-CN" dirty="0" err="1"/>
              <a:t>x+y</a:t>
            </a:r>
            <a:r>
              <a:rPr lang="zh-CN" altLang="zh-CN" dirty="0"/>
              <a:t>，将</a:t>
            </a:r>
            <a:r>
              <a:rPr lang="en-US" altLang="zh-CN" dirty="0"/>
              <a:t>x</a:t>
            </a:r>
            <a:r>
              <a:rPr lang="zh-CN" altLang="zh-CN" dirty="0"/>
              <a:t>与</a:t>
            </a:r>
            <a:r>
              <a:rPr lang="en-US" altLang="zh-CN" dirty="0"/>
              <a:t>y</a:t>
            </a:r>
            <a:r>
              <a:rPr lang="zh-CN" altLang="zh-CN" dirty="0"/>
              <a:t>变量的值相加，其和放入</a:t>
            </a:r>
            <a:r>
              <a:rPr lang="en-US" altLang="zh-CN" dirty="0"/>
              <a:t>A</a:t>
            </a:r>
            <a:r>
              <a:rPr lang="zh-CN" altLang="zh-CN" dirty="0"/>
              <a:t>变量。</a:t>
            </a:r>
            <a:endParaRPr lang="en-US" altLang="zh-CN" dirty="0"/>
          </a:p>
          <a:p>
            <a:pPr algn="just"/>
            <a:r>
              <a:rPr lang="en-US" altLang="zh-CN" b="1" dirty="0">
                <a:solidFill>
                  <a:schemeClr val="accent6"/>
                </a:solidFill>
              </a:rPr>
              <a:t>-</a:t>
            </a:r>
            <a:r>
              <a:rPr lang="zh-CN" altLang="zh-CN" dirty="0"/>
              <a:t>（减）对两个值进行做差，例如：</a:t>
            </a:r>
            <a:r>
              <a:rPr lang="en-US" altLang="zh-CN" dirty="0"/>
              <a:t>B=x-y</a:t>
            </a:r>
            <a:r>
              <a:rPr lang="zh-CN" altLang="zh-CN" dirty="0"/>
              <a:t>，将</a:t>
            </a:r>
            <a:r>
              <a:rPr lang="en-US" altLang="zh-CN" dirty="0"/>
              <a:t>x</a:t>
            </a:r>
            <a:r>
              <a:rPr lang="zh-CN" altLang="zh-CN" dirty="0"/>
              <a:t>变量的值减去</a:t>
            </a:r>
            <a:r>
              <a:rPr lang="en-US" altLang="zh-CN" dirty="0"/>
              <a:t>y</a:t>
            </a:r>
            <a:r>
              <a:rPr lang="zh-CN" altLang="zh-CN" dirty="0"/>
              <a:t>变量的值，其差放入</a:t>
            </a:r>
            <a:r>
              <a:rPr lang="en-US" altLang="zh-CN" dirty="0"/>
              <a:t>B</a:t>
            </a:r>
            <a:r>
              <a:rPr lang="zh-CN" altLang="zh-CN" dirty="0"/>
              <a:t>变量。</a:t>
            </a:r>
            <a:endParaRPr lang="en-US" altLang="zh-CN" dirty="0"/>
          </a:p>
          <a:p>
            <a:pPr algn="just"/>
            <a:r>
              <a:rPr lang="en-US" altLang="zh-CN" b="1" dirty="0">
                <a:solidFill>
                  <a:schemeClr val="accent6"/>
                </a:solidFill>
              </a:rPr>
              <a:t>*</a:t>
            </a:r>
            <a:r>
              <a:rPr lang="zh-CN" altLang="zh-CN" dirty="0"/>
              <a:t>（乘）对两个值进行乘法运算，例如：</a:t>
            </a:r>
            <a:r>
              <a:rPr lang="en-US" altLang="zh-CN" dirty="0"/>
              <a:t>C=x*y</a:t>
            </a:r>
            <a:r>
              <a:rPr lang="zh-CN" altLang="zh-CN" dirty="0"/>
              <a:t>，将</a:t>
            </a:r>
            <a:r>
              <a:rPr lang="en-US" altLang="zh-CN" dirty="0"/>
              <a:t>x</a:t>
            </a:r>
            <a:r>
              <a:rPr lang="zh-CN" altLang="zh-CN" dirty="0"/>
              <a:t>与</a:t>
            </a:r>
            <a:r>
              <a:rPr lang="en-US" altLang="zh-CN" dirty="0"/>
              <a:t>y</a:t>
            </a:r>
            <a:r>
              <a:rPr lang="zh-CN" altLang="zh-CN" dirty="0"/>
              <a:t>变量的值相乘，其积放入</a:t>
            </a:r>
            <a:r>
              <a:rPr lang="en-US" altLang="zh-CN" dirty="0"/>
              <a:t>C</a:t>
            </a:r>
            <a:r>
              <a:rPr lang="zh-CN" altLang="zh-CN" dirty="0"/>
              <a:t>变量。</a:t>
            </a:r>
            <a:endParaRPr lang="zh-CN" altLang="en-US" dirty="0"/>
          </a:p>
        </p:txBody>
      </p:sp>
      <p:sp>
        <p:nvSpPr>
          <p:cNvPr id="4" name="灯片编号占位符 3">
            <a:extLst>
              <a:ext uri="{FF2B5EF4-FFF2-40B4-BE49-F238E27FC236}">
                <a16:creationId xmlns:a16="http://schemas.microsoft.com/office/drawing/2014/main" id="{0A67587B-394F-5A8A-7EF9-DEF5E4E03C25}"/>
              </a:ext>
            </a:extLst>
          </p:cNvPr>
          <p:cNvSpPr>
            <a:spLocks noGrp="1"/>
          </p:cNvSpPr>
          <p:nvPr>
            <p:ph type="sldNum" sz="quarter" idx="12"/>
          </p:nvPr>
        </p:nvSpPr>
        <p:spPr/>
        <p:txBody>
          <a:bodyPr/>
          <a:lstStyle/>
          <a:p>
            <a:pPr>
              <a:defRPr/>
            </a:pPr>
            <a:fld id="{2C687883-A9F8-4324-BFDB-FCCC5C558AE8}" type="slidenum">
              <a:rPr lang="en-US" altLang="zh-CN" smtClean="0"/>
              <a:t>52</a:t>
            </a:fld>
            <a:endParaRPr lang="en-US" altLang="zh-CN"/>
          </a:p>
        </p:txBody>
      </p:sp>
    </p:spTree>
  </p:cSld>
  <p:clrMapOvr>
    <a:masterClrMapping/>
  </p:clrMapOvr>
  <p:transition>
    <p:cover dir="d"/>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算数运算符</a:t>
            </a:r>
            <a:endParaRPr lang="zh-CN" altLang="en-US" dirty="0"/>
          </a:p>
        </p:txBody>
      </p:sp>
      <p:sp>
        <p:nvSpPr>
          <p:cNvPr id="3" name="内容占位符 2"/>
          <p:cNvSpPr>
            <a:spLocks noGrp="1"/>
          </p:cNvSpPr>
          <p:nvPr>
            <p:ph idx="1"/>
          </p:nvPr>
        </p:nvSpPr>
        <p:spPr/>
        <p:txBody>
          <a:bodyPr/>
          <a:lstStyle/>
          <a:p>
            <a:pPr algn="just"/>
            <a:r>
              <a:rPr lang="en-US" altLang="zh-CN" b="1" dirty="0">
                <a:solidFill>
                  <a:schemeClr val="accent6"/>
                </a:solidFill>
              </a:rPr>
              <a:t>/</a:t>
            </a:r>
            <a:r>
              <a:rPr lang="zh-CN" altLang="zh-CN" dirty="0"/>
              <a:t>（除）对两个值进行除法运算，例如：</a:t>
            </a:r>
            <a:r>
              <a:rPr lang="en-US" altLang="zh-CN" dirty="0"/>
              <a:t>D=x/y</a:t>
            </a:r>
            <a:r>
              <a:rPr lang="zh-CN" altLang="zh-CN" dirty="0"/>
              <a:t>，将</a:t>
            </a:r>
            <a:r>
              <a:rPr lang="en-US" altLang="zh-CN" dirty="0"/>
              <a:t>x</a:t>
            </a:r>
            <a:r>
              <a:rPr lang="zh-CN" altLang="zh-CN" dirty="0"/>
              <a:t>变量的值除以</a:t>
            </a:r>
            <a:r>
              <a:rPr lang="en-US" altLang="zh-CN" dirty="0"/>
              <a:t>y</a:t>
            </a:r>
            <a:r>
              <a:rPr lang="zh-CN" altLang="zh-CN" dirty="0"/>
              <a:t>变量的值，其商放入</a:t>
            </a:r>
            <a:r>
              <a:rPr lang="en-US" altLang="zh-CN" dirty="0"/>
              <a:t>D</a:t>
            </a:r>
            <a:r>
              <a:rPr lang="zh-CN" altLang="zh-CN" dirty="0"/>
              <a:t>变量。</a:t>
            </a:r>
            <a:endParaRPr lang="en-US" altLang="zh-CN" dirty="0"/>
          </a:p>
          <a:p>
            <a:pPr algn="just"/>
            <a:r>
              <a:rPr lang="en-US" altLang="zh-CN" b="1" dirty="0">
                <a:solidFill>
                  <a:schemeClr val="accent6"/>
                </a:solidFill>
              </a:rPr>
              <a:t>%</a:t>
            </a:r>
            <a:r>
              <a:rPr lang="zh-CN" altLang="zh-CN" dirty="0"/>
              <a:t>（取余）对两个值进行取余运算，例如：</a:t>
            </a:r>
            <a:r>
              <a:rPr lang="en-US" altLang="zh-CN" dirty="0"/>
              <a:t>E=</a:t>
            </a:r>
            <a:r>
              <a:rPr lang="en-US" altLang="zh-CN" dirty="0" err="1"/>
              <a:t>x%y</a:t>
            </a:r>
            <a:r>
              <a:rPr lang="zh-CN" altLang="zh-CN" dirty="0"/>
              <a:t>，将</a:t>
            </a:r>
            <a:r>
              <a:rPr lang="en-US" altLang="zh-CN" dirty="0"/>
              <a:t>x</a:t>
            </a:r>
            <a:r>
              <a:rPr lang="zh-CN" altLang="zh-CN" dirty="0"/>
              <a:t>变量的值除以</a:t>
            </a:r>
            <a:r>
              <a:rPr lang="en-US" altLang="zh-CN" dirty="0"/>
              <a:t>y</a:t>
            </a:r>
            <a:r>
              <a:rPr lang="zh-CN" altLang="zh-CN" dirty="0"/>
              <a:t>变量的值，其余数放入</a:t>
            </a:r>
            <a:r>
              <a:rPr lang="en-US" altLang="zh-CN" dirty="0"/>
              <a:t>E</a:t>
            </a:r>
            <a:r>
              <a:rPr lang="zh-CN" altLang="zh-CN" dirty="0"/>
              <a:t>变量。</a:t>
            </a:r>
            <a:endParaRPr lang="zh-CN" altLang="en-US" dirty="0"/>
          </a:p>
        </p:txBody>
      </p:sp>
      <p:sp>
        <p:nvSpPr>
          <p:cNvPr id="4" name="灯片编号占位符 3">
            <a:extLst>
              <a:ext uri="{FF2B5EF4-FFF2-40B4-BE49-F238E27FC236}">
                <a16:creationId xmlns:a16="http://schemas.microsoft.com/office/drawing/2014/main" id="{A0BCE133-FC37-B7AA-D390-3763DC322F35}"/>
              </a:ext>
            </a:extLst>
          </p:cNvPr>
          <p:cNvSpPr>
            <a:spLocks noGrp="1"/>
          </p:cNvSpPr>
          <p:nvPr>
            <p:ph type="sldNum" sz="quarter" idx="12"/>
          </p:nvPr>
        </p:nvSpPr>
        <p:spPr/>
        <p:txBody>
          <a:bodyPr/>
          <a:lstStyle/>
          <a:p>
            <a:pPr>
              <a:defRPr/>
            </a:pPr>
            <a:fld id="{2C687883-A9F8-4324-BFDB-FCCC5C558AE8}" type="slidenum">
              <a:rPr lang="en-US" altLang="zh-CN" smtClean="0"/>
              <a:t>53</a:t>
            </a:fld>
            <a:endParaRPr lang="en-US" altLang="zh-CN"/>
          </a:p>
        </p:txBody>
      </p:sp>
    </p:spTree>
  </p:cSld>
  <p:clrMapOvr>
    <a:masterClrMapping/>
  </p:clrMapOvr>
  <p:transition>
    <p:cover dir="d"/>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关系运算符</a:t>
            </a:r>
            <a:endParaRPr lang="zh-CN" altLang="en-US" dirty="0"/>
          </a:p>
        </p:txBody>
      </p:sp>
      <p:sp>
        <p:nvSpPr>
          <p:cNvPr id="3" name="内容占位符 2"/>
          <p:cNvSpPr>
            <a:spLocks noGrp="1"/>
          </p:cNvSpPr>
          <p:nvPr>
            <p:ph idx="1"/>
          </p:nvPr>
        </p:nvSpPr>
        <p:spPr/>
        <p:txBody>
          <a:bodyPr/>
          <a:lstStyle/>
          <a:p>
            <a:pPr algn="just"/>
            <a:r>
              <a:rPr lang="en-US" altLang="zh-CN" b="1" dirty="0">
                <a:solidFill>
                  <a:schemeClr val="accent6"/>
                </a:solidFill>
              </a:rPr>
              <a:t>==</a:t>
            </a:r>
            <a:r>
              <a:rPr lang="zh-CN" altLang="zh-CN" dirty="0"/>
              <a:t>（相等）判断两个值是否相等，例如：</a:t>
            </a:r>
            <a:r>
              <a:rPr lang="en-US" altLang="zh-CN" dirty="0"/>
              <a:t>x==y</a:t>
            </a:r>
            <a:r>
              <a:rPr lang="zh-CN" altLang="zh-CN" dirty="0"/>
              <a:t>，比较</a:t>
            </a:r>
            <a:r>
              <a:rPr lang="en-US" altLang="zh-CN" dirty="0"/>
              <a:t>x</a:t>
            </a:r>
            <a:r>
              <a:rPr lang="zh-CN" altLang="zh-CN" dirty="0"/>
              <a:t>与</a:t>
            </a:r>
            <a:r>
              <a:rPr lang="en-US" altLang="zh-CN" dirty="0"/>
              <a:t>y</a:t>
            </a:r>
            <a:r>
              <a:rPr lang="zh-CN" altLang="zh-CN" dirty="0"/>
              <a:t>变量的值是否相等，相等则其结果为</a:t>
            </a:r>
            <a:r>
              <a:rPr lang="en-US" altLang="zh-CN" dirty="0"/>
              <a:t>1</a:t>
            </a:r>
            <a:r>
              <a:rPr lang="zh-CN" altLang="zh-CN" dirty="0"/>
              <a:t>，不相等则为</a:t>
            </a:r>
            <a:r>
              <a:rPr lang="en-US" altLang="zh-CN" dirty="0"/>
              <a:t>0</a:t>
            </a:r>
            <a:r>
              <a:rPr lang="zh-CN" altLang="zh-CN" dirty="0"/>
              <a:t>。</a:t>
            </a:r>
            <a:endParaRPr lang="en-US" altLang="zh-CN" dirty="0"/>
          </a:p>
          <a:p>
            <a:pPr algn="just"/>
            <a:r>
              <a:rPr lang="en-US" altLang="zh-CN" b="1" dirty="0">
                <a:solidFill>
                  <a:schemeClr val="accent6"/>
                </a:solidFill>
              </a:rPr>
              <a:t>!=</a:t>
            </a:r>
            <a:r>
              <a:rPr lang="zh-CN" altLang="zh-CN" dirty="0"/>
              <a:t>（不等）判断两个值是否不等，例如：</a:t>
            </a:r>
            <a:r>
              <a:rPr lang="en-US" altLang="zh-CN" dirty="0"/>
              <a:t>x!=y</a:t>
            </a:r>
            <a:r>
              <a:rPr lang="zh-CN" altLang="zh-CN" dirty="0"/>
              <a:t>，比较</a:t>
            </a:r>
            <a:r>
              <a:rPr lang="en-US" altLang="zh-CN" dirty="0"/>
              <a:t>x</a:t>
            </a:r>
            <a:r>
              <a:rPr lang="zh-CN" altLang="zh-CN" dirty="0"/>
              <a:t>与</a:t>
            </a:r>
            <a:r>
              <a:rPr lang="en-US" altLang="zh-CN" dirty="0"/>
              <a:t>y</a:t>
            </a:r>
            <a:r>
              <a:rPr lang="zh-CN" altLang="zh-CN" dirty="0"/>
              <a:t>变量的值是否相等，不相等则其结果为</a:t>
            </a:r>
            <a:r>
              <a:rPr lang="en-US" altLang="zh-CN" dirty="0"/>
              <a:t>1</a:t>
            </a:r>
            <a:r>
              <a:rPr lang="zh-CN" altLang="zh-CN" dirty="0"/>
              <a:t>，相等则为</a:t>
            </a:r>
            <a:r>
              <a:rPr lang="en-US" altLang="zh-CN" dirty="0"/>
              <a:t>0</a:t>
            </a:r>
            <a:r>
              <a:rPr lang="zh-CN" altLang="zh-CN" dirty="0"/>
              <a:t>。</a:t>
            </a:r>
            <a:endParaRPr lang="zh-CN" altLang="en-US" dirty="0"/>
          </a:p>
        </p:txBody>
      </p:sp>
      <p:sp>
        <p:nvSpPr>
          <p:cNvPr id="4" name="灯片编号占位符 3">
            <a:extLst>
              <a:ext uri="{FF2B5EF4-FFF2-40B4-BE49-F238E27FC236}">
                <a16:creationId xmlns:a16="http://schemas.microsoft.com/office/drawing/2014/main" id="{E3C31A89-737B-AC72-31DC-22BB4011FECE}"/>
              </a:ext>
            </a:extLst>
          </p:cNvPr>
          <p:cNvSpPr>
            <a:spLocks noGrp="1"/>
          </p:cNvSpPr>
          <p:nvPr>
            <p:ph type="sldNum" sz="quarter" idx="12"/>
          </p:nvPr>
        </p:nvSpPr>
        <p:spPr/>
        <p:txBody>
          <a:bodyPr/>
          <a:lstStyle/>
          <a:p>
            <a:pPr>
              <a:defRPr/>
            </a:pPr>
            <a:fld id="{2C687883-A9F8-4324-BFDB-FCCC5C558AE8}" type="slidenum">
              <a:rPr lang="en-US" altLang="zh-CN" smtClean="0"/>
              <a:t>54</a:t>
            </a:fld>
            <a:endParaRPr lang="en-US" altLang="zh-CN"/>
          </a:p>
        </p:txBody>
      </p:sp>
    </p:spTree>
  </p:cSld>
  <p:clrMapOvr>
    <a:masterClrMapping/>
  </p:clrMapOvr>
  <p:transition>
    <p:cover dir="d"/>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关系运算符</a:t>
            </a:r>
            <a:endParaRPr lang="zh-CN" altLang="en-US" dirty="0"/>
          </a:p>
        </p:txBody>
      </p:sp>
      <p:sp>
        <p:nvSpPr>
          <p:cNvPr id="3" name="内容占位符 2"/>
          <p:cNvSpPr>
            <a:spLocks noGrp="1"/>
          </p:cNvSpPr>
          <p:nvPr>
            <p:ph idx="1"/>
          </p:nvPr>
        </p:nvSpPr>
        <p:spPr/>
        <p:txBody>
          <a:bodyPr/>
          <a:lstStyle/>
          <a:p>
            <a:pPr algn="just"/>
            <a:r>
              <a:rPr lang="en-US" altLang="zh-CN" b="1" dirty="0">
                <a:solidFill>
                  <a:schemeClr val="accent6"/>
                </a:solidFill>
              </a:rPr>
              <a:t>&lt;</a:t>
            </a:r>
            <a:r>
              <a:rPr lang="zh-CN" altLang="zh-CN" dirty="0"/>
              <a:t>（小于）判断运算符左边的值是否小于右边的值，例如：</a:t>
            </a:r>
            <a:r>
              <a:rPr lang="en-US" altLang="zh-CN" dirty="0"/>
              <a:t>x&lt;y</a:t>
            </a:r>
            <a:r>
              <a:rPr lang="zh-CN" altLang="zh-CN" dirty="0"/>
              <a:t>，若</a:t>
            </a:r>
            <a:r>
              <a:rPr lang="en-US" altLang="zh-CN" dirty="0"/>
              <a:t>x</a:t>
            </a:r>
            <a:r>
              <a:rPr lang="zh-CN" altLang="zh-CN" dirty="0"/>
              <a:t>变量的值小于</a:t>
            </a:r>
            <a:r>
              <a:rPr lang="en-US" altLang="zh-CN" dirty="0"/>
              <a:t>y</a:t>
            </a:r>
            <a:r>
              <a:rPr lang="zh-CN" altLang="zh-CN" dirty="0"/>
              <a:t>变量的值，其结果为</a:t>
            </a:r>
            <a:r>
              <a:rPr lang="en-US" altLang="zh-CN" dirty="0"/>
              <a:t>1</a:t>
            </a:r>
            <a:r>
              <a:rPr lang="zh-CN" altLang="zh-CN" dirty="0"/>
              <a:t>，否则为</a:t>
            </a:r>
            <a:r>
              <a:rPr lang="en-US" altLang="zh-CN" dirty="0"/>
              <a:t>0</a:t>
            </a:r>
            <a:r>
              <a:rPr lang="zh-CN" altLang="zh-CN" dirty="0"/>
              <a:t>。</a:t>
            </a:r>
            <a:endParaRPr lang="en-US" altLang="zh-CN" dirty="0"/>
          </a:p>
          <a:p>
            <a:pPr algn="just"/>
            <a:r>
              <a:rPr lang="en-US" altLang="zh-CN" b="1" dirty="0">
                <a:solidFill>
                  <a:schemeClr val="accent6"/>
                </a:solidFill>
              </a:rPr>
              <a:t>&gt;</a:t>
            </a:r>
            <a:r>
              <a:rPr lang="zh-CN" altLang="zh-CN" dirty="0"/>
              <a:t>（大于）判断运算符左边的值是否大于右边的值，例如：</a:t>
            </a:r>
            <a:r>
              <a:rPr lang="en-US" altLang="zh-CN" dirty="0"/>
              <a:t>x&gt;y</a:t>
            </a:r>
            <a:r>
              <a:rPr lang="zh-CN" altLang="zh-CN" dirty="0"/>
              <a:t>，若</a:t>
            </a:r>
            <a:r>
              <a:rPr lang="en-US" altLang="zh-CN" dirty="0"/>
              <a:t>x</a:t>
            </a:r>
            <a:r>
              <a:rPr lang="zh-CN" altLang="zh-CN" dirty="0"/>
              <a:t>变量的值大于</a:t>
            </a:r>
            <a:r>
              <a:rPr lang="en-US" altLang="zh-CN" dirty="0"/>
              <a:t>y</a:t>
            </a:r>
            <a:r>
              <a:rPr lang="zh-CN" altLang="zh-CN" dirty="0"/>
              <a:t>变量的值，其结果为</a:t>
            </a:r>
            <a:r>
              <a:rPr lang="en-US" altLang="zh-CN" dirty="0"/>
              <a:t>1</a:t>
            </a:r>
            <a:r>
              <a:rPr lang="zh-CN" altLang="zh-CN" dirty="0"/>
              <a:t>，否则为</a:t>
            </a:r>
            <a:r>
              <a:rPr lang="en-US" altLang="zh-CN" dirty="0"/>
              <a:t>0</a:t>
            </a:r>
            <a:r>
              <a:rPr lang="zh-CN" altLang="zh-CN" dirty="0"/>
              <a:t>。</a:t>
            </a:r>
            <a:endParaRPr lang="zh-CN" altLang="en-US" dirty="0"/>
          </a:p>
        </p:txBody>
      </p:sp>
      <p:sp>
        <p:nvSpPr>
          <p:cNvPr id="4" name="灯片编号占位符 3">
            <a:extLst>
              <a:ext uri="{FF2B5EF4-FFF2-40B4-BE49-F238E27FC236}">
                <a16:creationId xmlns:a16="http://schemas.microsoft.com/office/drawing/2014/main" id="{3BF50977-66F3-CDB4-00D8-738FC74CB56B}"/>
              </a:ext>
            </a:extLst>
          </p:cNvPr>
          <p:cNvSpPr>
            <a:spLocks noGrp="1"/>
          </p:cNvSpPr>
          <p:nvPr>
            <p:ph type="sldNum" sz="quarter" idx="12"/>
          </p:nvPr>
        </p:nvSpPr>
        <p:spPr/>
        <p:txBody>
          <a:bodyPr/>
          <a:lstStyle/>
          <a:p>
            <a:pPr>
              <a:defRPr/>
            </a:pPr>
            <a:fld id="{2C687883-A9F8-4324-BFDB-FCCC5C558AE8}" type="slidenum">
              <a:rPr lang="en-US" altLang="zh-CN" smtClean="0"/>
              <a:t>55</a:t>
            </a:fld>
            <a:endParaRPr lang="en-US" altLang="zh-CN"/>
          </a:p>
        </p:txBody>
      </p:sp>
    </p:spTree>
  </p:cSld>
  <p:clrMapOvr>
    <a:masterClrMapping/>
  </p:clrMapOvr>
  <p:transition>
    <p:cover dir="d"/>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关系运算符</a:t>
            </a:r>
            <a:endParaRPr lang="zh-CN" altLang="en-US" dirty="0"/>
          </a:p>
        </p:txBody>
      </p:sp>
      <p:sp>
        <p:nvSpPr>
          <p:cNvPr id="3" name="内容占位符 2"/>
          <p:cNvSpPr>
            <a:spLocks noGrp="1"/>
          </p:cNvSpPr>
          <p:nvPr>
            <p:ph idx="1"/>
          </p:nvPr>
        </p:nvSpPr>
        <p:spPr/>
        <p:txBody>
          <a:bodyPr/>
          <a:lstStyle/>
          <a:p>
            <a:pPr algn="just"/>
            <a:r>
              <a:rPr lang="en-US" altLang="zh-CN" b="1" dirty="0">
                <a:solidFill>
                  <a:schemeClr val="accent6"/>
                </a:solidFill>
              </a:rPr>
              <a:t>&lt;=</a:t>
            </a:r>
            <a:r>
              <a:rPr lang="zh-CN" altLang="zh-CN" dirty="0"/>
              <a:t>（小等于）判断运算符左边的值是否小于等于右边的值，例如：</a:t>
            </a:r>
            <a:r>
              <a:rPr lang="en-US" altLang="zh-CN" dirty="0"/>
              <a:t>x&lt;=y</a:t>
            </a:r>
            <a:r>
              <a:rPr lang="zh-CN" altLang="zh-CN" dirty="0"/>
              <a:t>，若</a:t>
            </a:r>
            <a:r>
              <a:rPr lang="en-US" altLang="zh-CN" dirty="0"/>
              <a:t>x</a:t>
            </a:r>
            <a:r>
              <a:rPr lang="zh-CN" altLang="zh-CN" dirty="0"/>
              <a:t>变量的值小等于</a:t>
            </a:r>
            <a:r>
              <a:rPr lang="en-US" altLang="zh-CN" dirty="0"/>
              <a:t>y</a:t>
            </a:r>
            <a:r>
              <a:rPr lang="zh-CN" altLang="zh-CN" dirty="0"/>
              <a:t>变量的值，其结果为</a:t>
            </a:r>
            <a:r>
              <a:rPr lang="en-US" altLang="zh-CN" dirty="0"/>
              <a:t>1</a:t>
            </a:r>
            <a:r>
              <a:rPr lang="zh-CN" altLang="zh-CN" dirty="0"/>
              <a:t>，否则为</a:t>
            </a:r>
            <a:r>
              <a:rPr lang="en-US" altLang="zh-CN" dirty="0"/>
              <a:t>0</a:t>
            </a:r>
            <a:r>
              <a:rPr lang="zh-CN" altLang="zh-CN" dirty="0"/>
              <a:t>。</a:t>
            </a:r>
            <a:endParaRPr lang="en-US" altLang="zh-CN" dirty="0"/>
          </a:p>
          <a:p>
            <a:pPr algn="just"/>
            <a:r>
              <a:rPr lang="en-US" altLang="zh-CN" b="1" dirty="0">
                <a:solidFill>
                  <a:schemeClr val="accent6"/>
                </a:solidFill>
              </a:rPr>
              <a:t>&gt;=</a:t>
            </a:r>
            <a:r>
              <a:rPr lang="zh-CN" altLang="zh-CN" dirty="0"/>
              <a:t>（大等于）判断运算符左边的值是否大于等于右边的值，例如：</a:t>
            </a:r>
            <a:r>
              <a:rPr lang="en-US" altLang="zh-CN" dirty="0"/>
              <a:t>x&gt;=y</a:t>
            </a:r>
            <a:r>
              <a:rPr lang="zh-CN" altLang="zh-CN" dirty="0"/>
              <a:t>，若</a:t>
            </a:r>
            <a:r>
              <a:rPr lang="en-US" altLang="zh-CN" dirty="0"/>
              <a:t>x</a:t>
            </a:r>
            <a:r>
              <a:rPr lang="zh-CN" altLang="zh-CN" dirty="0"/>
              <a:t>变量的值大等于</a:t>
            </a:r>
            <a:r>
              <a:rPr lang="en-US" altLang="zh-CN" dirty="0"/>
              <a:t>y</a:t>
            </a:r>
            <a:r>
              <a:rPr lang="zh-CN" altLang="zh-CN" dirty="0"/>
              <a:t>变量的值，其结果为</a:t>
            </a:r>
            <a:r>
              <a:rPr lang="en-US" altLang="zh-CN" dirty="0"/>
              <a:t>1</a:t>
            </a:r>
            <a:r>
              <a:rPr lang="zh-CN" altLang="zh-CN" dirty="0"/>
              <a:t>，否则为</a:t>
            </a:r>
            <a:r>
              <a:rPr lang="en-US" altLang="zh-CN" dirty="0"/>
              <a:t>0</a:t>
            </a:r>
            <a:r>
              <a:rPr lang="zh-CN" altLang="zh-CN" dirty="0"/>
              <a:t>。</a:t>
            </a:r>
            <a:endParaRPr lang="zh-CN" altLang="en-US" dirty="0"/>
          </a:p>
        </p:txBody>
      </p:sp>
      <p:sp>
        <p:nvSpPr>
          <p:cNvPr id="4" name="灯片编号占位符 3">
            <a:extLst>
              <a:ext uri="{FF2B5EF4-FFF2-40B4-BE49-F238E27FC236}">
                <a16:creationId xmlns:a16="http://schemas.microsoft.com/office/drawing/2014/main" id="{4C883A60-B366-4DFC-7344-37815F923E14}"/>
              </a:ext>
            </a:extLst>
          </p:cNvPr>
          <p:cNvSpPr>
            <a:spLocks noGrp="1"/>
          </p:cNvSpPr>
          <p:nvPr>
            <p:ph type="sldNum" sz="quarter" idx="12"/>
          </p:nvPr>
        </p:nvSpPr>
        <p:spPr/>
        <p:txBody>
          <a:bodyPr/>
          <a:lstStyle/>
          <a:p>
            <a:pPr>
              <a:defRPr/>
            </a:pPr>
            <a:fld id="{2C687883-A9F8-4324-BFDB-FCCC5C558AE8}" type="slidenum">
              <a:rPr lang="en-US" altLang="zh-CN" smtClean="0"/>
              <a:t>56</a:t>
            </a:fld>
            <a:endParaRPr lang="en-US" altLang="zh-CN"/>
          </a:p>
        </p:txBody>
      </p:sp>
    </p:spTree>
  </p:cSld>
  <p:clrMapOvr>
    <a:masterClrMapping/>
  </p:clrMapOvr>
  <p:transition>
    <p:cover dir="d"/>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逻辑运算符</a:t>
            </a:r>
            <a:endParaRPr lang="zh-CN" altLang="en-US" dirty="0"/>
          </a:p>
        </p:txBody>
      </p:sp>
      <p:sp>
        <p:nvSpPr>
          <p:cNvPr id="3" name="内容占位符 2"/>
          <p:cNvSpPr>
            <a:spLocks noGrp="1"/>
          </p:cNvSpPr>
          <p:nvPr>
            <p:ph idx="1"/>
          </p:nvPr>
        </p:nvSpPr>
        <p:spPr/>
        <p:txBody>
          <a:bodyPr/>
          <a:lstStyle/>
          <a:p>
            <a:pPr algn="just"/>
            <a:r>
              <a:rPr lang="en-US" altLang="zh-CN" b="1" dirty="0">
                <a:solidFill>
                  <a:schemeClr val="accent6"/>
                </a:solidFill>
              </a:rPr>
              <a:t>&amp;&amp;</a:t>
            </a:r>
            <a:r>
              <a:rPr lang="zh-CN" altLang="zh-CN" dirty="0"/>
              <a:t>（与运算）对两个表达式的布尔值进行按位与运算，例如：（</a:t>
            </a:r>
            <a:r>
              <a:rPr lang="en-US" altLang="zh-CN" dirty="0"/>
              <a:t>x&gt;y</a:t>
            </a:r>
            <a:r>
              <a:rPr lang="zh-CN" altLang="zh-CN" dirty="0"/>
              <a:t>）</a:t>
            </a:r>
            <a:r>
              <a:rPr lang="en-US" altLang="zh-CN" dirty="0"/>
              <a:t>&amp;&amp;</a:t>
            </a:r>
            <a:r>
              <a:rPr lang="zh-CN" altLang="zh-CN" dirty="0"/>
              <a:t>（</a:t>
            </a:r>
            <a:r>
              <a:rPr lang="en-US" altLang="zh-CN" dirty="0"/>
              <a:t>y&gt;z</a:t>
            </a:r>
            <a:r>
              <a:rPr lang="zh-CN" altLang="zh-CN" dirty="0"/>
              <a:t>），若</a:t>
            </a:r>
            <a:r>
              <a:rPr lang="en-US" altLang="zh-CN" dirty="0"/>
              <a:t>x</a:t>
            </a:r>
            <a:r>
              <a:rPr lang="zh-CN" altLang="zh-CN" dirty="0"/>
              <a:t>变量的值大于</a:t>
            </a:r>
            <a:r>
              <a:rPr lang="en-US" altLang="zh-CN" dirty="0"/>
              <a:t>y</a:t>
            </a:r>
            <a:r>
              <a:rPr lang="zh-CN" altLang="zh-CN" dirty="0"/>
              <a:t>变量的值，且</a:t>
            </a:r>
            <a:r>
              <a:rPr lang="en-US" altLang="zh-CN" dirty="0"/>
              <a:t>y</a:t>
            </a:r>
            <a:r>
              <a:rPr lang="zh-CN" altLang="zh-CN" dirty="0"/>
              <a:t>变量的值大于</a:t>
            </a:r>
            <a:r>
              <a:rPr lang="en-US" altLang="zh-CN" dirty="0"/>
              <a:t>z</a:t>
            </a:r>
            <a:r>
              <a:rPr lang="zh-CN" altLang="zh-CN" dirty="0"/>
              <a:t>变量的值，则其结果为</a:t>
            </a:r>
            <a:r>
              <a:rPr lang="en-US" altLang="zh-CN" dirty="0"/>
              <a:t>1</a:t>
            </a:r>
            <a:r>
              <a:rPr lang="zh-CN" altLang="zh-CN" dirty="0"/>
              <a:t>，否则为</a:t>
            </a:r>
            <a:r>
              <a:rPr lang="en-US" altLang="zh-CN" dirty="0"/>
              <a:t>0</a:t>
            </a:r>
            <a:r>
              <a:rPr lang="zh-CN" altLang="zh-CN" dirty="0"/>
              <a:t>。</a:t>
            </a:r>
            <a:endParaRPr lang="en-US" altLang="zh-CN" dirty="0"/>
          </a:p>
          <a:p>
            <a:endParaRPr lang="zh-CN" altLang="en-US" dirty="0"/>
          </a:p>
        </p:txBody>
      </p:sp>
      <p:sp>
        <p:nvSpPr>
          <p:cNvPr id="4" name="灯片编号占位符 3">
            <a:extLst>
              <a:ext uri="{FF2B5EF4-FFF2-40B4-BE49-F238E27FC236}">
                <a16:creationId xmlns:a16="http://schemas.microsoft.com/office/drawing/2014/main" id="{3247FB59-7BAF-9000-C5DF-E0C054D0160C}"/>
              </a:ext>
            </a:extLst>
          </p:cNvPr>
          <p:cNvSpPr>
            <a:spLocks noGrp="1"/>
          </p:cNvSpPr>
          <p:nvPr>
            <p:ph type="sldNum" sz="quarter" idx="12"/>
          </p:nvPr>
        </p:nvSpPr>
        <p:spPr/>
        <p:txBody>
          <a:bodyPr/>
          <a:lstStyle/>
          <a:p>
            <a:pPr>
              <a:defRPr/>
            </a:pPr>
            <a:fld id="{2C687883-A9F8-4324-BFDB-FCCC5C558AE8}" type="slidenum">
              <a:rPr lang="en-US" altLang="zh-CN" smtClean="0"/>
              <a:t>57</a:t>
            </a:fld>
            <a:endParaRPr lang="en-US" altLang="zh-CN"/>
          </a:p>
        </p:txBody>
      </p:sp>
    </p:spTree>
  </p:cSld>
  <p:clrMapOvr>
    <a:masterClrMapping/>
  </p:clrMapOvr>
  <p:transition>
    <p:cover dir="d"/>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逻辑运算符</a:t>
            </a:r>
            <a:endParaRPr lang="zh-CN" altLang="en-US" dirty="0"/>
          </a:p>
        </p:txBody>
      </p:sp>
      <p:sp>
        <p:nvSpPr>
          <p:cNvPr id="3" name="内容占位符 2"/>
          <p:cNvSpPr>
            <a:spLocks noGrp="1"/>
          </p:cNvSpPr>
          <p:nvPr>
            <p:ph idx="1"/>
          </p:nvPr>
        </p:nvSpPr>
        <p:spPr>
          <a:xfrm>
            <a:off x="685799" y="1981200"/>
            <a:ext cx="7993743" cy="4114800"/>
          </a:xfrm>
        </p:spPr>
        <p:txBody>
          <a:bodyPr/>
          <a:lstStyle/>
          <a:p>
            <a:pPr algn="just"/>
            <a:r>
              <a:rPr lang="en-US" altLang="zh-CN" b="1" dirty="0">
                <a:solidFill>
                  <a:schemeClr val="accent6"/>
                </a:solidFill>
              </a:rPr>
              <a:t>||</a:t>
            </a:r>
            <a:r>
              <a:rPr lang="zh-CN" altLang="zh-CN" dirty="0"/>
              <a:t>（或运算）对两个表达式的布尔值进行按位或运算，例如：（</a:t>
            </a:r>
            <a:r>
              <a:rPr lang="en-US" altLang="zh-CN" dirty="0"/>
              <a:t>x&gt;y)||</a:t>
            </a:r>
            <a:r>
              <a:rPr lang="zh-CN" altLang="zh-CN" dirty="0"/>
              <a:t>（</a:t>
            </a:r>
            <a:r>
              <a:rPr lang="en-US" altLang="zh-CN" dirty="0"/>
              <a:t>y&gt;z</a:t>
            </a:r>
            <a:r>
              <a:rPr lang="zh-CN" altLang="zh-CN" dirty="0"/>
              <a:t>），若</a:t>
            </a:r>
            <a:r>
              <a:rPr lang="en-US" altLang="zh-CN" dirty="0"/>
              <a:t>x</a:t>
            </a:r>
            <a:r>
              <a:rPr lang="zh-CN" altLang="zh-CN" dirty="0"/>
              <a:t>变量的值大于</a:t>
            </a:r>
            <a:r>
              <a:rPr lang="en-US" altLang="zh-CN" dirty="0"/>
              <a:t>y</a:t>
            </a:r>
            <a:r>
              <a:rPr lang="zh-CN" altLang="zh-CN" dirty="0"/>
              <a:t>变量的值，或</a:t>
            </a:r>
            <a:r>
              <a:rPr lang="en-US" altLang="zh-CN" dirty="0"/>
              <a:t>y</a:t>
            </a:r>
            <a:r>
              <a:rPr lang="zh-CN" altLang="zh-CN" dirty="0"/>
              <a:t>变量的值大于</a:t>
            </a:r>
            <a:r>
              <a:rPr lang="en-US" altLang="zh-CN" dirty="0"/>
              <a:t>z</a:t>
            </a:r>
            <a:r>
              <a:rPr lang="zh-CN" altLang="zh-CN" dirty="0"/>
              <a:t>变量的值，则其结果为</a:t>
            </a:r>
            <a:r>
              <a:rPr lang="en-US" altLang="zh-CN" dirty="0"/>
              <a:t>1</a:t>
            </a:r>
            <a:r>
              <a:rPr lang="zh-CN" altLang="zh-CN" dirty="0"/>
              <a:t>，否则为</a:t>
            </a:r>
            <a:r>
              <a:rPr lang="en-US" altLang="zh-CN" dirty="0"/>
              <a:t>0</a:t>
            </a:r>
            <a:r>
              <a:rPr lang="zh-CN" altLang="zh-CN" dirty="0"/>
              <a:t>。</a:t>
            </a:r>
            <a:endParaRPr lang="en-US" altLang="zh-CN" dirty="0"/>
          </a:p>
          <a:p>
            <a:pPr algn="just"/>
            <a:r>
              <a:rPr lang="zh-CN" altLang="zh-CN" b="1" dirty="0">
                <a:solidFill>
                  <a:schemeClr val="accent6"/>
                </a:solidFill>
              </a:rPr>
              <a:t>！</a:t>
            </a:r>
            <a:r>
              <a:rPr lang="zh-CN" altLang="zh-CN" dirty="0"/>
              <a:t>（非运算）对某个布尔值进行非运算，例如：</a:t>
            </a:r>
            <a:r>
              <a:rPr lang="en-US" altLang="zh-CN" dirty="0"/>
              <a:t>!</a:t>
            </a:r>
            <a:r>
              <a:rPr lang="zh-CN" altLang="zh-CN" dirty="0"/>
              <a:t>（</a:t>
            </a:r>
            <a:r>
              <a:rPr lang="en-US" altLang="zh-CN" dirty="0"/>
              <a:t>x&gt;y</a:t>
            </a:r>
            <a:r>
              <a:rPr lang="zh-CN" altLang="zh-CN" dirty="0"/>
              <a:t>），若</a:t>
            </a:r>
            <a:r>
              <a:rPr lang="en-US" altLang="zh-CN" dirty="0"/>
              <a:t>x</a:t>
            </a:r>
            <a:r>
              <a:rPr lang="zh-CN" altLang="zh-CN" dirty="0"/>
              <a:t>变量的值大于</a:t>
            </a:r>
            <a:r>
              <a:rPr lang="en-US" altLang="zh-CN" dirty="0"/>
              <a:t>y</a:t>
            </a:r>
            <a:r>
              <a:rPr lang="zh-CN" altLang="zh-CN" dirty="0"/>
              <a:t>变量的值，则其结果为</a:t>
            </a:r>
            <a:r>
              <a:rPr lang="en-US" altLang="zh-CN" dirty="0"/>
              <a:t>0</a:t>
            </a:r>
            <a:r>
              <a:rPr lang="zh-CN" altLang="zh-CN" dirty="0"/>
              <a:t>，否则为</a:t>
            </a:r>
            <a:r>
              <a:rPr lang="en-US" altLang="zh-CN" dirty="0"/>
              <a:t>1</a:t>
            </a:r>
            <a:r>
              <a:rPr lang="zh-CN" altLang="zh-CN" dirty="0"/>
              <a:t>。</a:t>
            </a:r>
            <a:endParaRPr lang="zh-CN" altLang="en-US" dirty="0"/>
          </a:p>
        </p:txBody>
      </p:sp>
      <p:sp>
        <p:nvSpPr>
          <p:cNvPr id="4" name="灯片编号占位符 3">
            <a:extLst>
              <a:ext uri="{FF2B5EF4-FFF2-40B4-BE49-F238E27FC236}">
                <a16:creationId xmlns:a16="http://schemas.microsoft.com/office/drawing/2014/main" id="{5ADE82C8-8794-89CE-0D96-8B7D3CA8A239}"/>
              </a:ext>
            </a:extLst>
          </p:cNvPr>
          <p:cNvSpPr>
            <a:spLocks noGrp="1"/>
          </p:cNvSpPr>
          <p:nvPr>
            <p:ph type="sldNum" sz="quarter" idx="12"/>
          </p:nvPr>
        </p:nvSpPr>
        <p:spPr/>
        <p:txBody>
          <a:bodyPr/>
          <a:lstStyle/>
          <a:p>
            <a:pPr>
              <a:defRPr/>
            </a:pPr>
            <a:fld id="{2C687883-A9F8-4324-BFDB-FCCC5C558AE8}" type="slidenum">
              <a:rPr lang="en-US" altLang="zh-CN" smtClean="0"/>
              <a:t>58</a:t>
            </a:fld>
            <a:endParaRPr lang="en-US" altLang="zh-CN"/>
          </a:p>
        </p:txBody>
      </p:sp>
    </p:spTree>
  </p:cSld>
  <p:clrMapOvr>
    <a:masterClrMapping/>
  </p:clrMapOvr>
  <p:transition>
    <p:cover dir="d"/>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自</a:t>
            </a:r>
            <a:r>
              <a:rPr lang="zh-CN" altLang="zh-CN" dirty="0"/>
              <a:t>增</a:t>
            </a:r>
            <a:r>
              <a:rPr lang="en-US" altLang="zh-CN" dirty="0"/>
              <a:t>/</a:t>
            </a:r>
            <a:r>
              <a:rPr lang="zh-CN" altLang="zh-CN" dirty="0"/>
              <a:t>减运算符</a:t>
            </a:r>
            <a:endParaRPr lang="zh-CN" altLang="en-US" dirty="0"/>
          </a:p>
        </p:txBody>
      </p:sp>
      <p:sp>
        <p:nvSpPr>
          <p:cNvPr id="3" name="内容占位符 2"/>
          <p:cNvSpPr>
            <a:spLocks noGrp="1"/>
          </p:cNvSpPr>
          <p:nvPr>
            <p:ph idx="1"/>
          </p:nvPr>
        </p:nvSpPr>
        <p:spPr/>
        <p:txBody>
          <a:bodyPr/>
          <a:lstStyle/>
          <a:p>
            <a:pPr algn="just"/>
            <a:r>
              <a:rPr lang="en-US" altLang="zh-CN" b="1" dirty="0">
                <a:solidFill>
                  <a:schemeClr val="accent6"/>
                </a:solidFill>
              </a:rPr>
              <a:t>++</a:t>
            </a:r>
            <a:r>
              <a:rPr lang="zh-CN" altLang="zh-CN" dirty="0"/>
              <a:t>（加</a:t>
            </a:r>
            <a:r>
              <a:rPr lang="en-US" altLang="zh-CN" dirty="0"/>
              <a:t>1</a:t>
            </a:r>
            <a:r>
              <a:rPr lang="zh-CN" altLang="zh-CN" dirty="0"/>
              <a:t>）将运算符左边的值自增</a:t>
            </a:r>
            <a:r>
              <a:rPr lang="en-US" altLang="zh-CN" dirty="0"/>
              <a:t>1</a:t>
            </a:r>
            <a:r>
              <a:rPr lang="zh-CN" altLang="zh-CN" dirty="0"/>
              <a:t>，例如：</a:t>
            </a:r>
            <a:r>
              <a:rPr lang="en-US" altLang="zh-CN" dirty="0"/>
              <a:t>x++</a:t>
            </a:r>
            <a:r>
              <a:rPr lang="zh-CN" altLang="zh-CN" dirty="0"/>
              <a:t>，将</a:t>
            </a:r>
            <a:r>
              <a:rPr lang="en-US" altLang="zh-CN" dirty="0"/>
              <a:t>x</a:t>
            </a:r>
            <a:r>
              <a:rPr lang="zh-CN" altLang="zh-CN" dirty="0"/>
              <a:t>变量的值加</a:t>
            </a:r>
            <a:r>
              <a:rPr lang="en-US" altLang="zh-CN" dirty="0"/>
              <a:t>1</a:t>
            </a:r>
            <a:r>
              <a:rPr lang="zh-CN" altLang="zh-CN" dirty="0"/>
              <a:t>，表示在使用</a:t>
            </a:r>
            <a:r>
              <a:rPr lang="en-US" altLang="zh-CN" dirty="0"/>
              <a:t>x</a:t>
            </a:r>
            <a:r>
              <a:rPr lang="zh-CN" altLang="zh-CN" dirty="0"/>
              <a:t>之后，再使</a:t>
            </a:r>
            <a:r>
              <a:rPr lang="en-US" altLang="zh-CN" dirty="0"/>
              <a:t>x</a:t>
            </a:r>
            <a:r>
              <a:rPr lang="zh-CN" altLang="zh-CN" dirty="0"/>
              <a:t>值加</a:t>
            </a:r>
            <a:r>
              <a:rPr lang="en-US" altLang="zh-CN" dirty="0"/>
              <a:t>1</a:t>
            </a:r>
            <a:r>
              <a:rPr lang="zh-CN" altLang="zh-CN" dirty="0"/>
              <a:t>。</a:t>
            </a:r>
          </a:p>
          <a:p>
            <a:pPr algn="just"/>
            <a:r>
              <a:rPr lang="en-US" altLang="zh-CN" b="1" dirty="0">
                <a:solidFill>
                  <a:schemeClr val="accent6"/>
                </a:solidFill>
              </a:rPr>
              <a:t>--</a:t>
            </a:r>
            <a:r>
              <a:rPr lang="zh-CN" altLang="zh-CN" dirty="0"/>
              <a:t>（减</a:t>
            </a:r>
            <a:r>
              <a:rPr lang="en-US" altLang="zh-CN" dirty="0"/>
              <a:t>1</a:t>
            </a:r>
            <a:r>
              <a:rPr lang="zh-CN" altLang="zh-CN" dirty="0"/>
              <a:t>）将运算符左边的值自减</a:t>
            </a:r>
            <a:r>
              <a:rPr lang="en-US" altLang="zh-CN" dirty="0"/>
              <a:t>1</a:t>
            </a:r>
            <a:r>
              <a:rPr lang="zh-CN" altLang="zh-CN" dirty="0"/>
              <a:t>，例如：</a:t>
            </a:r>
            <a:r>
              <a:rPr lang="en-US" altLang="zh-CN" dirty="0"/>
              <a:t>x--</a:t>
            </a:r>
            <a:r>
              <a:rPr lang="zh-CN" altLang="zh-CN" dirty="0"/>
              <a:t>，将</a:t>
            </a:r>
            <a:r>
              <a:rPr lang="en-US" altLang="zh-CN" dirty="0"/>
              <a:t>x</a:t>
            </a:r>
            <a:r>
              <a:rPr lang="zh-CN" altLang="zh-CN" dirty="0"/>
              <a:t>变量的值减</a:t>
            </a:r>
            <a:r>
              <a:rPr lang="en-US" altLang="zh-CN" dirty="0"/>
              <a:t>1</a:t>
            </a:r>
            <a:r>
              <a:rPr lang="zh-CN" altLang="zh-CN" dirty="0"/>
              <a:t>，表示在使用</a:t>
            </a:r>
            <a:r>
              <a:rPr lang="en-US" altLang="zh-CN" dirty="0"/>
              <a:t>x</a:t>
            </a:r>
            <a:r>
              <a:rPr lang="zh-CN" altLang="zh-CN" dirty="0"/>
              <a:t>之后，再使</a:t>
            </a:r>
            <a:r>
              <a:rPr lang="en-US" altLang="zh-CN" dirty="0"/>
              <a:t>x</a:t>
            </a:r>
            <a:r>
              <a:rPr lang="zh-CN" altLang="zh-CN" dirty="0"/>
              <a:t>值减</a:t>
            </a:r>
            <a:r>
              <a:rPr lang="en-US" altLang="zh-CN" dirty="0"/>
              <a:t>1</a:t>
            </a:r>
            <a:r>
              <a:rPr lang="zh-CN" altLang="zh-CN" dirty="0"/>
              <a:t>。</a:t>
            </a:r>
            <a:endParaRPr lang="zh-CN" altLang="en-US" dirty="0"/>
          </a:p>
        </p:txBody>
      </p:sp>
      <p:sp>
        <p:nvSpPr>
          <p:cNvPr id="4" name="灯片编号占位符 3">
            <a:extLst>
              <a:ext uri="{FF2B5EF4-FFF2-40B4-BE49-F238E27FC236}">
                <a16:creationId xmlns:a16="http://schemas.microsoft.com/office/drawing/2014/main" id="{D74D9FB7-D7FE-B72A-D183-FA4F392C3E42}"/>
              </a:ext>
            </a:extLst>
          </p:cNvPr>
          <p:cNvSpPr>
            <a:spLocks noGrp="1"/>
          </p:cNvSpPr>
          <p:nvPr>
            <p:ph type="sldNum" sz="quarter" idx="12"/>
          </p:nvPr>
        </p:nvSpPr>
        <p:spPr/>
        <p:txBody>
          <a:bodyPr/>
          <a:lstStyle/>
          <a:p>
            <a:pPr>
              <a:defRPr/>
            </a:pPr>
            <a:fld id="{2C687883-A9F8-4324-BFDB-FCCC5C558AE8}" type="slidenum">
              <a:rPr lang="en-US" altLang="zh-CN" smtClean="0"/>
              <a:t>59</a:t>
            </a:fld>
            <a:endParaRPr lang="en-US" altLang="zh-CN"/>
          </a:p>
        </p:txBody>
      </p:sp>
    </p:spTree>
  </p:cSld>
  <p:clrMapOvr>
    <a:masterClrMapping/>
  </p:clrMapOvr>
  <p:transition>
    <p:cover dir="d"/>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a:t>
            </a:r>
            <a:r>
              <a:rPr lang="zh-CN" altLang="zh-CN" dirty="0"/>
              <a:t>语法——条件判断语句</a:t>
            </a:r>
            <a:endParaRPr lang="zh-CN" altLang="en-US" dirty="0"/>
          </a:p>
        </p:txBody>
      </p:sp>
      <p:sp>
        <p:nvSpPr>
          <p:cNvPr id="3" name="内容占位符 2"/>
          <p:cNvSpPr>
            <a:spLocks noGrp="1"/>
          </p:cNvSpPr>
          <p:nvPr>
            <p:ph idx="1"/>
          </p:nvPr>
        </p:nvSpPr>
        <p:spPr/>
        <p:txBody>
          <a:bodyPr/>
          <a:lstStyle/>
          <a:p>
            <a:pPr marL="0" indent="0" algn="just">
              <a:buNone/>
            </a:pPr>
            <a:r>
              <a:rPr lang="zh-CN" altLang="zh-CN" dirty="0"/>
              <a:t>在考虑问题和解决问题的过程中，很多事情不是一帆风顺的，需要进行判断再做出不同的行为。这里就需要用到了条件语句，有些语句并不是一直执行的，需要一定的条件去触发。同时，针对同一个变量，不同的值进行不同的判断，也需要用到条件语句。同样，程序如果需要运行一部分，也可以进行条件判断。</a:t>
            </a:r>
            <a:endParaRPr lang="zh-CN" altLang="en-US" dirty="0"/>
          </a:p>
        </p:txBody>
      </p:sp>
      <p:sp>
        <p:nvSpPr>
          <p:cNvPr id="4" name="灯片编号占位符 3">
            <a:extLst>
              <a:ext uri="{FF2B5EF4-FFF2-40B4-BE49-F238E27FC236}">
                <a16:creationId xmlns:a16="http://schemas.microsoft.com/office/drawing/2014/main" id="{5D0ECD94-D4B9-84EC-4A3D-996C9E3A79D9}"/>
              </a:ext>
            </a:extLst>
          </p:cNvPr>
          <p:cNvSpPr>
            <a:spLocks noGrp="1"/>
          </p:cNvSpPr>
          <p:nvPr>
            <p:ph type="sldNum" sz="quarter" idx="12"/>
          </p:nvPr>
        </p:nvSpPr>
        <p:spPr/>
        <p:txBody>
          <a:bodyPr/>
          <a:lstStyle/>
          <a:p>
            <a:pPr>
              <a:defRPr/>
            </a:pPr>
            <a:fld id="{2C687883-A9F8-4324-BFDB-FCCC5C558AE8}" type="slidenum">
              <a:rPr lang="en-US" altLang="zh-CN" smtClean="0"/>
              <a:t>60</a:t>
            </a:fld>
            <a:endParaRPr lang="en-US" altLang="zh-CN"/>
          </a:p>
        </p:txBody>
      </p:sp>
    </p:spTree>
  </p:cSld>
  <p:clrMapOvr>
    <a:masterClrMapping/>
  </p:clrMapOvr>
  <p:transition>
    <p:cover dir="d"/>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条件判断语句</a:t>
            </a:r>
            <a:endParaRPr lang="zh-CN" altLang="en-US" dirty="0"/>
          </a:p>
        </p:txBody>
      </p:sp>
      <p:sp>
        <p:nvSpPr>
          <p:cNvPr id="3" name="内容占位符 2"/>
          <p:cNvSpPr>
            <a:spLocks noGrp="1"/>
          </p:cNvSpPr>
          <p:nvPr>
            <p:ph idx="1"/>
          </p:nvPr>
        </p:nvSpPr>
        <p:spPr/>
        <p:txBody>
          <a:bodyPr/>
          <a:lstStyle/>
          <a:p>
            <a:pPr marL="0" indent="0">
              <a:buNone/>
            </a:pPr>
            <a:r>
              <a:rPr lang="en-US" altLang="zh-CN" dirty="0"/>
              <a:t>if</a:t>
            </a:r>
            <a:r>
              <a:rPr lang="zh-CN" altLang="zh-CN" dirty="0"/>
              <a:t>的语法如下：</a:t>
            </a:r>
          </a:p>
          <a:p>
            <a:pPr marL="0" indent="0">
              <a:buNone/>
            </a:pPr>
            <a:r>
              <a:rPr lang="en-US" altLang="zh-CN" dirty="0"/>
              <a:t>if(</a:t>
            </a:r>
            <a:r>
              <a:rPr lang="en-US" altLang="zh-CN" dirty="0" err="1"/>
              <a:t>delayTime</a:t>
            </a:r>
            <a:r>
              <a:rPr lang="en-US" altLang="zh-CN" dirty="0"/>
              <a:t>&lt;100)</a:t>
            </a:r>
            <a:endParaRPr lang="zh-CN" altLang="zh-CN" dirty="0"/>
          </a:p>
          <a:p>
            <a:pPr marL="0" indent="0">
              <a:buNone/>
            </a:pPr>
            <a:r>
              <a:rPr lang="en-US" altLang="zh-CN" dirty="0"/>
              <a:t>{</a:t>
            </a:r>
            <a:endParaRPr lang="zh-CN" altLang="zh-CN" dirty="0"/>
          </a:p>
          <a:p>
            <a:pPr marL="0" indent="0">
              <a:buNone/>
            </a:pPr>
            <a:r>
              <a:rPr lang="en-US" altLang="zh-CN" dirty="0"/>
              <a:t>	</a:t>
            </a:r>
            <a:r>
              <a:rPr lang="en-US" altLang="zh-CN" dirty="0" err="1"/>
              <a:t>delayTime</a:t>
            </a:r>
            <a:r>
              <a:rPr lang="en-US" altLang="zh-CN" dirty="0"/>
              <a:t>=1000;</a:t>
            </a:r>
            <a:endParaRPr lang="zh-CN" altLang="zh-CN" dirty="0"/>
          </a:p>
          <a:p>
            <a:pPr marL="0" indent="0">
              <a:buNone/>
            </a:pPr>
            <a:r>
              <a:rPr lang="en-US" altLang="zh-CN" dirty="0"/>
              <a:t>}</a:t>
            </a:r>
            <a:endParaRPr lang="zh-CN" altLang="zh-CN" dirty="0"/>
          </a:p>
          <a:p>
            <a:pPr marL="0" indent="0">
              <a:buNone/>
            </a:pPr>
            <a:r>
              <a:rPr lang="zh-CN" altLang="zh-CN" dirty="0"/>
              <a:t>如果</a:t>
            </a:r>
            <a:r>
              <a:rPr lang="en-US" altLang="zh-CN" dirty="0"/>
              <a:t>if</a:t>
            </a:r>
            <a:r>
              <a:rPr lang="zh-CN" altLang="zh-CN" dirty="0"/>
              <a:t>后面的条件满足，就执行</a:t>
            </a:r>
            <a:r>
              <a:rPr lang="en-US" altLang="zh-CN" dirty="0"/>
              <a:t>{ }</a:t>
            </a:r>
            <a:r>
              <a:rPr lang="zh-CN" altLang="zh-CN" dirty="0"/>
              <a:t>内的语句。</a:t>
            </a:r>
            <a:endParaRPr lang="zh-CN" altLang="en-US" dirty="0"/>
          </a:p>
        </p:txBody>
      </p:sp>
      <p:sp>
        <p:nvSpPr>
          <p:cNvPr id="4" name="灯片编号占位符 3">
            <a:extLst>
              <a:ext uri="{FF2B5EF4-FFF2-40B4-BE49-F238E27FC236}">
                <a16:creationId xmlns:a16="http://schemas.microsoft.com/office/drawing/2014/main" id="{D204A66D-E1A2-F9AA-FB21-44FD6ADB34C2}"/>
              </a:ext>
            </a:extLst>
          </p:cNvPr>
          <p:cNvSpPr>
            <a:spLocks noGrp="1"/>
          </p:cNvSpPr>
          <p:nvPr>
            <p:ph type="sldNum" sz="quarter" idx="12"/>
          </p:nvPr>
        </p:nvSpPr>
        <p:spPr/>
        <p:txBody>
          <a:bodyPr/>
          <a:lstStyle/>
          <a:p>
            <a:pPr>
              <a:defRPr/>
            </a:pPr>
            <a:fld id="{2C687883-A9F8-4324-BFDB-FCCC5C558AE8}" type="slidenum">
              <a:rPr lang="en-US" altLang="zh-CN" smtClean="0"/>
              <a:t>61</a:t>
            </a:fld>
            <a:endParaRPr lang="en-US" altLang="zh-CN"/>
          </a:p>
        </p:txBody>
      </p:sp>
    </p:spTree>
  </p:cSld>
  <p:clrMapOvr>
    <a:masterClrMapping/>
  </p:clrMapOvr>
  <p:transition>
    <p:cover dir="d"/>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290286"/>
            <a:ext cx="4742543" cy="493486"/>
          </a:xfrm>
          <a:solidFill>
            <a:schemeClr val="bg1">
              <a:lumMod val="85000"/>
            </a:schemeClr>
          </a:solidFill>
        </p:spPr>
        <p:txBody>
          <a:bodyPr/>
          <a:lstStyle/>
          <a:p>
            <a:pPr algn="l"/>
            <a:r>
              <a:rPr lang="zh-CN" altLang="zh-CN" sz="3200" b="1" dirty="0"/>
              <a:t>改变闪烁频率的闪灯程序</a:t>
            </a:r>
            <a:endParaRPr lang="zh-CN" altLang="en-US" sz="3200" b="1" dirty="0"/>
          </a:p>
        </p:txBody>
      </p:sp>
      <p:sp>
        <p:nvSpPr>
          <p:cNvPr id="3" name="内容占位符 2"/>
          <p:cNvSpPr>
            <a:spLocks noGrp="1"/>
          </p:cNvSpPr>
          <p:nvPr>
            <p:ph idx="1"/>
          </p:nvPr>
        </p:nvSpPr>
        <p:spPr>
          <a:xfrm>
            <a:off x="685800" y="783772"/>
            <a:ext cx="7772400" cy="5907314"/>
          </a:xfrm>
        </p:spPr>
        <p:txBody>
          <a:bodyPr/>
          <a:lstStyle/>
          <a:p>
            <a:pPr marL="0" indent="0">
              <a:buNone/>
            </a:pPr>
            <a:r>
              <a:rPr lang="en-US" altLang="zh-CN" sz="2000" dirty="0" err="1"/>
              <a:t>int</a:t>
            </a:r>
            <a:r>
              <a:rPr lang="en-US" altLang="zh-CN" sz="2000" dirty="0"/>
              <a:t> </a:t>
            </a:r>
            <a:r>
              <a:rPr lang="en-US" altLang="zh-CN" sz="2000" dirty="0" err="1"/>
              <a:t>ledPin</a:t>
            </a:r>
            <a:r>
              <a:rPr lang="en-US" altLang="zh-CN" sz="2000" dirty="0"/>
              <a:t> = 13;</a:t>
            </a:r>
            <a:endParaRPr lang="zh-CN" altLang="zh-CN" sz="2000" dirty="0"/>
          </a:p>
          <a:p>
            <a:pPr marL="0" indent="0">
              <a:buNone/>
            </a:pPr>
            <a:r>
              <a:rPr lang="en-US" altLang="zh-CN" sz="2000" dirty="0" err="1"/>
              <a:t>int</a:t>
            </a:r>
            <a:r>
              <a:rPr lang="en-US" altLang="zh-CN" sz="2000" dirty="0"/>
              <a:t> </a:t>
            </a:r>
            <a:r>
              <a:rPr lang="en-US" altLang="zh-CN" sz="2000" dirty="0" err="1"/>
              <a:t>delayTime</a:t>
            </a:r>
            <a:r>
              <a:rPr lang="en-US" altLang="zh-CN" sz="2000" dirty="0"/>
              <a:t> = 1000;</a:t>
            </a:r>
            <a:endParaRPr lang="zh-CN" altLang="zh-CN" sz="2000" dirty="0"/>
          </a:p>
          <a:p>
            <a:pPr marL="0" indent="0">
              <a:buNone/>
            </a:pPr>
            <a:r>
              <a:rPr lang="en-US" altLang="zh-CN" sz="2000" dirty="0"/>
              <a:t>void setup(){</a:t>
            </a:r>
            <a:endParaRPr lang="zh-CN" altLang="zh-CN" sz="2000" dirty="0"/>
          </a:p>
          <a:p>
            <a:pPr marL="0" indent="0">
              <a:buNone/>
            </a:pPr>
            <a:r>
              <a:rPr lang="en-US" altLang="zh-CN" sz="2000" dirty="0"/>
              <a:t>	</a:t>
            </a:r>
            <a:r>
              <a:rPr lang="en-US" altLang="zh-CN" sz="2000" dirty="0" err="1"/>
              <a:t>pinMode</a:t>
            </a:r>
            <a:r>
              <a:rPr lang="en-US" altLang="zh-CN" sz="2000" dirty="0"/>
              <a:t>(</a:t>
            </a:r>
            <a:r>
              <a:rPr lang="en-US" altLang="zh-CN" sz="2000" dirty="0" err="1"/>
              <a:t>ledPin,OUTPUT</a:t>
            </a:r>
            <a:r>
              <a:rPr lang="en-US" altLang="zh-CN" sz="2000" dirty="0"/>
              <a:t>);</a:t>
            </a:r>
            <a:endParaRPr lang="zh-CN" altLang="zh-CN" sz="2000" dirty="0"/>
          </a:p>
          <a:p>
            <a:pPr marL="0" indent="0">
              <a:buNone/>
            </a:pPr>
            <a:r>
              <a:rPr lang="en-US" altLang="zh-CN" sz="2000" dirty="0"/>
              <a:t>}</a:t>
            </a:r>
            <a:endParaRPr lang="zh-CN" altLang="zh-CN" sz="2000" dirty="0"/>
          </a:p>
          <a:p>
            <a:pPr marL="0" indent="0">
              <a:buNone/>
            </a:pPr>
            <a:r>
              <a:rPr lang="en-US" altLang="zh-CN" sz="2000" dirty="0"/>
              <a:t>void loop(){</a:t>
            </a:r>
            <a:endParaRPr lang="zh-CN" altLang="zh-CN" sz="2000" dirty="0"/>
          </a:p>
          <a:p>
            <a:pPr marL="0" indent="0">
              <a:buNone/>
            </a:pPr>
            <a:r>
              <a:rPr lang="en-US" altLang="zh-CN" sz="2000" dirty="0"/>
              <a:t>	</a:t>
            </a:r>
            <a:r>
              <a:rPr lang="en-US" altLang="zh-CN" sz="2000" dirty="0" err="1"/>
              <a:t>digitalWrite</a:t>
            </a:r>
            <a:r>
              <a:rPr lang="en-US" altLang="zh-CN" sz="2000" dirty="0"/>
              <a:t>(</a:t>
            </a:r>
            <a:r>
              <a:rPr lang="en-US" altLang="zh-CN" sz="2000" dirty="0" err="1"/>
              <a:t>ledPin,HIGH</a:t>
            </a:r>
            <a:r>
              <a:rPr lang="en-US" altLang="zh-CN" sz="2000" dirty="0"/>
              <a:t>);	//</a:t>
            </a:r>
            <a:r>
              <a:rPr lang="zh-CN" altLang="zh-CN" sz="2000" dirty="0"/>
              <a:t>点亮小灯</a:t>
            </a:r>
          </a:p>
          <a:p>
            <a:pPr marL="0" indent="0">
              <a:buNone/>
            </a:pPr>
            <a:r>
              <a:rPr lang="en-US" altLang="zh-CN" sz="2000" dirty="0"/>
              <a:t>	delay(</a:t>
            </a:r>
            <a:r>
              <a:rPr lang="en-US" altLang="zh-CN" sz="2000" dirty="0" err="1"/>
              <a:t>delayTime</a:t>
            </a:r>
            <a:r>
              <a:rPr lang="en-US" altLang="zh-CN" sz="2000" dirty="0"/>
              <a:t>);		//</a:t>
            </a:r>
            <a:r>
              <a:rPr lang="zh-CN" altLang="zh-CN" sz="2000" dirty="0"/>
              <a:t>延时</a:t>
            </a:r>
          </a:p>
          <a:p>
            <a:pPr marL="0" indent="0">
              <a:buNone/>
            </a:pPr>
            <a:r>
              <a:rPr lang="en-US" altLang="zh-CN" sz="2000" dirty="0"/>
              <a:t>	</a:t>
            </a:r>
            <a:r>
              <a:rPr lang="en-US" altLang="zh-CN" sz="2000" dirty="0" err="1"/>
              <a:t>digitalWrite</a:t>
            </a:r>
            <a:r>
              <a:rPr lang="en-US" altLang="zh-CN" sz="2000" dirty="0"/>
              <a:t>(</a:t>
            </a:r>
            <a:r>
              <a:rPr lang="en-US" altLang="zh-CN" sz="2000" dirty="0" err="1"/>
              <a:t>ledPin,LOW</a:t>
            </a:r>
            <a:r>
              <a:rPr lang="en-US" altLang="zh-CN" sz="2000" dirty="0"/>
              <a:t>);	//</a:t>
            </a:r>
            <a:r>
              <a:rPr lang="zh-CN" altLang="zh-CN" sz="2000" dirty="0"/>
              <a:t>熄灭小灯</a:t>
            </a:r>
          </a:p>
          <a:p>
            <a:pPr marL="0" indent="0">
              <a:buNone/>
            </a:pPr>
            <a:r>
              <a:rPr lang="en-US" altLang="zh-CN" sz="2000" dirty="0"/>
              <a:t>	delay(</a:t>
            </a:r>
            <a:r>
              <a:rPr lang="en-US" altLang="zh-CN" sz="2000" dirty="0" err="1"/>
              <a:t>delayTime</a:t>
            </a:r>
            <a:r>
              <a:rPr lang="en-US" altLang="zh-CN" sz="2000" dirty="0"/>
              <a:t>);</a:t>
            </a:r>
            <a:endParaRPr lang="zh-CN" altLang="zh-CN" sz="2000" dirty="0"/>
          </a:p>
          <a:p>
            <a:pPr marL="0" indent="0">
              <a:buNone/>
            </a:pPr>
            <a:r>
              <a:rPr lang="en-US" altLang="zh-CN" sz="2000" dirty="0"/>
              <a:t>	</a:t>
            </a:r>
            <a:r>
              <a:rPr lang="en-US" altLang="zh-CN" sz="2000" dirty="0" err="1"/>
              <a:t>delayTime</a:t>
            </a:r>
            <a:r>
              <a:rPr lang="en-US" altLang="zh-CN" sz="2000" dirty="0"/>
              <a:t>=delayTime-100;	//</a:t>
            </a:r>
            <a:r>
              <a:rPr lang="zh-CN" altLang="zh-CN" sz="2000" dirty="0"/>
              <a:t>每次将延时时间减少</a:t>
            </a:r>
            <a:r>
              <a:rPr lang="en-US" altLang="zh-CN" sz="2000" dirty="0"/>
              <a:t>0.1s</a:t>
            </a:r>
            <a:endParaRPr lang="zh-CN" altLang="zh-CN" sz="2000" dirty="0"/>
          </a:p>
          <a:p>
            <a:pPr marL="0" indent="0">
              <a:buNone/>
            </a:pPr>
            <a:r>
              <a:rPr lang="en-US" altLang="zh-CN" sz="2000" dirty="0"/>
              <a:t>	if(</a:t>
            </a:r>
            <a:r>
              <a:rPr lang="en-US" altLang="zh-CN" sz="2000" dirty="0" err="1"/>
              <a:t>delayTime</a:t>
            </a:r>
            <a:r>
              <a:rPr lang="en-US" altLang="zh-CN" sz="2000" dirty="0"/>
              <a:t>&lt;100)</a:t>
            </a:r>
            <a:endParaRPr lang="zh-CN" altLang="zh-CN" sz="2000" dirty="0"/>
          </a:p>
          <a:p>
            <a:pPr marL="0" indent="0">
              <a:buNone/>
            </a:pPr>
            <a:r>
              <a:rPr lang="en-US" altLang="zh-CN" sz="2000" dirty="0"/>
              <a:t>	{</a:t>
            </a:r>
            <a:endParaRPr lang="zh-CN" altLang="zh-CN" sz="2000" dirty="0"/>
          </a:p>
          <a:p>
            <a:pPr marL="0" indent="0">
              <a:buNone/>
            </a:pPr>
            <a:r>
              <a:rPr lang="en-US" altLang="zh-CN" sz="2000" dirty="0"/>
              <a:t>		</a:t>
            </a:r>
            <a:r>
              <a:rPr lang="en-US" altLang="zh-CN" sz="2000" dirty="0" err="1"/>
              <a:t>delayTime</a:t>
            </a:r>
            <a:r>
              <a:rPr lang="en-US" altLang="zh-CN" sz="2000" dirty="0"/>
              <a:t>=1000;		//</a:t>
            </a:r>
            <a:r>
              <a:rPr lang="zh-CN" altLang="zh-CN" sz="2000" dirty="0"/>
              <a:t>重新校准延时为</a:t>
            </a:r>
            <a:r>
              <a:rPr lang="en-US" altLang="zh-CN" sz="2000" dirty="0"/>
              <a:t>1s</a:t>
            </a:r>
            <a:endParaRPr lang="zh-CN" altLang="zh-CN" sz="2000" dirty="0"/>
          </a:p>
          <a:p>
            <a:pPr marL="0" indent="0">
              <a:buNone/>
            </a:pPr>
            <a:r>
              <a:rPr lang="en-US" altLang="zh-CN" sz="2000" dirty="0"/>
              <a:t>	}</a:t>
            </a:r>
            <a:endParaRPr lang="zh-CN" altLang="zh-CN" sz="2000" dirty="0"/>
          </a:p>
          <a:p>
            <a:pPr marL="0" indent="0">
              <a:buNone/>
            </a:pPr>
            <a:r>
              <a:rPr lang="en-US" altLang="zh-CN" sz="2000" dirty="0"/>
              <a:t>}</a:t>
            </a:r>
            <a:endParaRPr lang="zh-CN" altLang="zh-CN" sz="2000" dirty="0"/>
          </a:p>
          <a:p>
            <a:pPr marL="0" indent="0">
              <a:buNone/>
            </a:pPr>
            <a:endParaRPr lang="zh-CN" altLang="en-US" dirty="0"/>
          </a:p>
        </p:txBody>
      </p:sp>
      <p:sp>
        <p:nvSpPr>
          <p:cNvPr id="4" name="灯片编号占位符 3">
            <a:extLst>
              <a:ext uri="{FF2B5EF4-FFF2-40B4-BE49-F238E27FC236}">
                <a16:creationId xmlns:a16="http://schemas.microsoft.com/office/drawing/2014/main" id="{FE741668-08B2-8FD7-F791-DD49F04C5714}"/>
              </a:ext>
            </a:extLst>
          </p:cNvPr>
          <p:cNvSpPr>
            <a:spLocks noGrp="1"/>
          </p:cNvSpPr>
          <p:nvPr>
            <p:ph type="sldNum" sz="quarter" idx="12"/>
          </p:nvPr>
        </p:nvSpPr>
        <p:spPr/>
        <p:txBody>
          <a:bodyPr/>
          <a:lstStyle/>
          <a:p>
            <a:pPr>
              <a:defRPr/>
            </a:pPr>
            <a:fld id="{2C687883-A9F8-4324-BFDB-FCCC5C558AE8}" type="slidenum">
              <a:rPr lang="en-US" altLang="zh-CN" smtClean="0"/>
              <a:t>62</a:t>
            </a:fld>
            <a:endParaRPr lang="en-US" altLang="zh-CN"/>
          </a:p>
        </p:txBody>
      </p:sp>
    </p:spTree>
  </p:cSld>
  <p:clrMapOvr>
    <a:masterClrMapping/>
  </p:clrMapOvr>
  <p:transition>
    <p:cover dir="d"/>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87086"/>
            <a:ext cx="4582886" cy="449943"/>
          </a:xfrm>
          <a:solidFill>
            <a:schemeClr val="bg1">
              <a:lumMod val="85000"/>
            </a:schemeClr>
          </a:solidFill>
        </p:spPr>
        <p:txBody>
          <a:bodyPr/>
          <a:lstStyle/>
          <a:p>
            <a:pPr algn="l"/>
            <a:r>
              <a:rPr lang="zh-CN" altLang="zh-CN" sz="3200" b="1" dirty="0"/>
              <a:t>使用</a:t>
            </a:r>
            <a:r>
              <a:rPr lang="en-US" altLang="zh-CN" sz="3200" b="1" dirty="0"/>
              <a:t>else</a:t>
            </a:r>
            <a:r>
              <a:rPr lang="zh-CN" altLang="zh-CN" sz="3200" b="1" dirty="0"/>
              <a:t>语句的闪灯程序</a:t>
            </a:r>
            <a:endParaRPr lang="zh-CN" altLang="en-US" sz="3200" b="1" dirty="0"/>
          </a:p>
        </p:txBody>
      </p:sp>
      <p:sp>
        <p:nvSpPr>
          <p:cNvPr id="3" name="内容占位符 2"/>
          <p:cNvSpPr>
            <a:spLocks noGrp="1"/>
          </p:cNvSpPr>
          <p:nvPr>
            <p:ph idx="1"/>
          </p:nvPr>
        </p:nvSpPr>
        <p:spPr>
          <a:xfrm>
            <a:off x="685800" y="537029"/>
            <a:ext cx="7772400" cy="6168571"/>
          </a:xfrm>
        </p:spPr>
        <p:txBody>
          <a:bodyPr/>
          <a:lstStyle/>
          <a:p>
            <a:pPr marL="0" indent="0">
              <a:buNone/>
            </a:pPr>
            <a:r>
              <a:rPr lang="en-US" altLang="zh-CN" sz="2000" dirty="0" err="1"/>
              <a:t>int</a:t>
            </a:r>
            <a:r>
              <a:rPr lang="en-US" altLang="zh-CN" sz="2000" dirty="0"/>
              <a:t> </a:t>
            </a:r>
            <a:r>
              <a:rPr lang="en-US" altLang="zh-CN" sz="2000" dirty="0" err="1"/>
              <a:t>ledPin</a:t>
            </a:r>
            <a:r>
              <a:rPr lang="en-US" altLang="zh-CN" sz="2000" dirty="0"/>
              <a:t> = 13;</a:t>
            </a:r>
            <a:endParaRPr lang="zh-CN" altLang="zh-CN" sz="2000" dirty="0"/>
          </a:p>
          <a:p>
            <a:pPr marL="0" indent="0">
              <a:buNone/>
            </a:pPr>
            <a:r>
              <a:rPr lang="en-US" altLang="zh-CN" sz="2000" dirty="0" err="1"/>
              <a:t>int</a:t>
            </a:r>
            <a:r>
              <a:rPr lang="en-US" altLang="zh-CN" sz="2000" dirty="0"/>
              <a:t> </a:t>
            </a:r>
            <a:r>
              <a:rPr lang="en-US" altLang="zh-CN" sz="2000" dirty="0" err="1"/>
              <a:t>delayTime</a:t>
            </a:r>
            <a:r>
              <a:rPr lang="en-US" altLang="zh-CN" sz="2000" dirty="0"/>
              <a:t> = 1000;</a:t>
            </a:r>
            <a:endParaRPr lang="zh-CN" altLang="zh-CN" sz="2000" dirty="0"/>
          </a:p>
          <a:p>
            <a:pPr marL="0" indent="0">
              <a:buNone/>
            </a:pPr>
            <a:r>
              <a:rPr lang="en-US" altLang="zh-CN" sz="2000" dirty="0"/>
              <a:t>void setup(){</a:t>
            </a:r>
            <a:endParaRPr lang="zh-CN" altLang="zh-CN" sz="2000" dirty="0"/>
          </a:p>
          <a:p>
            <a:pPr marL="0" indent="0">
              <a:buNone/>
            </a:pPr>
            <a:r>
              <a:rPr lang="en-US" altLang="zh-CN" sz="2000" dirty="0"/>
              <a:t>	</a:t>
            </a:r>
            <a:r>
              <a:rPr lang="en-US" altLang="zh-CN" sz="2000" dirty="0" err="1"/>
              <a:t>pinMode</a:t>
            </a:r>
            <a:r>
              <a:rPr lang="en-US" altLang="zh-CN" sz="2000" dirty="0"/>
              <a:t>(</a:t>
            </a:r>
            <a:r>
              <a:rPr lang="en-US" altLang="zh-CN" sz="2000" dirty="0" err="1"/>
              <a:t>ledPin,OUTPUT</a:t>
            </a:r>
            <a:r>
              <a:rPr lang="en-US" altLang="zh-CN" sz="2000" dirty="0"/>
              <a:t>);</a:t>
            </a:r>
            <a:endParaRPr lang="zh-CN" altLang="zh-CN" sz="2000" dirty="0"/>
          </a:p>
          <a:p>
            <a:pPr marL="0" indent="0">
              <a:buNone/>
            </a:pPr>
            <a:r>
              <a:rPr lang="en-US" altLang="zh-CN" sz="2000" dirty="0"/>
              <a:t>}</a:t>
            </a:r>
            <a:endParaRPr lang="zh-CN" altLang="zh-CN" sz="2000" dirty="0"/>
          </a:p>
          <a:p>
            <a:pPr marL="0" indent="0">
              <a:buNone/>
            </a:pPr>
            <a:r>
              <a:rPr lang="en-US" altLang="zh-CN" sz="2000" dirty="0"/>
              <a:t>void loop(){</a:t>
            </a:r>
            <a:endParaRPr lang="zh-CN" altLang="zh-CN" sz="2000" dirty="0"/>
          </a:p>
          <a:p>
            <a:pPr marL="0" indent="0">
              <a:buNone/>
            </a:pPr>
            <a:r>
              <a:rPr lang="en-US" altLang="zh-CN" sz="2000" dirty="0"/>
              <a:t>	</a:t>
            </a:r>
            <a:r>
              <a:rPr lang="en-US" altLang="zh-CN" sz="2000" dirty="0" err="1"/>
              <a:t>digitalWrite</a:t>
            </a:r>
            <a:r>
              <a:rPr lang="en-US" altLang="zh-CN" sz="2000" dirty="0"/>
              <a:t>(</a:t>
            </a:r>
            <a:r>
              <a:rPr lang="en-US" altLang="zh-CN" sz="2000" dirty="0" err="1"/>
              <a:t>ledPin,HIGH</a:t>
            </a:r>
            <a:r>
              <a:rPr lang="en-US" altLang="zh-CN" sz="2000" dirty="0"/>
              <a:t>);</a:t>
            </a:r>
            <a:endParaRPr lang="zh-CN" altLang="zh-CN" sz="2000" dirty="0"/>
          </a:p>
          <a:p>
            <a:pPr marL="0" indent="0">
              <a:buNone/>
            </a:pPr>
            <a:r>
              <a:rPr lang="en-US" altLang="zh-CN" sz="2000" dirty="0"/>
              <a:t>	delay(</a:t>
            </a:r>
            <a:r>
              <a:rPr lang="en-US" altLang="zh-CN" sz="2000" dirty="0" err="1"/>
              <a:t>delayTime</a:t>
            </a:r>
            <a:r>
              <a:rPr lang="en-US" altLang="zh-CN" sz="2000" dirty="0"/>
              <a:t>);</a:t>
            </a:r>
            <a:endParaRPr lang="zh-CN" altLang="zh-CN" sz="2000" dirty="0"/>
          </a:p>
          <a:p>
            <a:pPr marL="0" indent="0">
              <a:buNone/>
            </a:pPr>
            <a:r>
              <a:rPr lang="en-US" altLang="zh-CN" sz="2000" dirty="0"/>
              <a:t>	</a:t>
            </a:r>
            <a:r>
              <a:rPr lang="en-US" altLang="zh-CN" sz="2000" dirty="0" err="1"/>
              <a:t>digitalWrite</a:t>
            </a:r>
            <a:r>
              <a:rPr lang="en-US" altLang="zh-CN" sz="2000" dirty="0"/>
              <a:t>(</a:t>
            </a:r>
            <a:r>
              <a:rPr lang="en-US" altLang="zh-CN" sz="2000" dirty="0" err="1"/>
              <a:t>ledPin,LOW</a:t>
            </a:r>
            <a:r>
              <a:rPr lang="en-US" altLang="zh-CN" sz="2000" dirty="0"/>
              <a:t>);</a:t>
            </a:r>
            <a:endParaRPr lang="zh-CN" altLang="zh-CN" sz="2000" dirty="0"/>
          </a:p>
          <a:p>
            <a:pPr marL="0" indent="0">
              <a:buNone/>
            </a:pPr>
            <a:r>
              <a:rPr lang="en-US" altLang="zh-CN" sz="2000" dirty="0"/>
              <a:t>	delay(</a:t>
            </a:r>
            <a:r>
              <a:rPr lang="en-US" altLang="zh-CN" sz="2000" dirty="0" err="1"/>
              <a:t>delayTime</a:t>
            </a:r>
            <a:r>
              <a:rPr lang="en-US" altLang="zh-CN" sz="2000" dirty="0"/>
              <a:t>);</a:t>
            </a:r>
            <a:endParaRPr lang="zh-CN" altLang="zh-CN" sz="2000" dirty="0"/>
          </a:p>
          <a:p>
            <a:pPr marL="0" indent="0">
              <a:buNone/>
            </a:pPr>
            <a:r>
              <a:rPr lang="en-US" altLang="zh-CN" sz="2000" dirty="0"/>
              <a:t>	if(</a:t>
            </a:r>
            <a:r>
              <a:rPr lang="en-US" altLang="zh-CN" sz="2000" dirty="0" err="1"/>
              <a:t>delayTime</a:t>
            </a:r>
            <a:r>
              <a:rPr lang="en-US" altLang="zh-CN" sz="2000" dirty="0"/>
              <a:t>&lt;100){</a:t>
            </a:r>
            <a:endParaRPr lang="zh-CN" altLang="zh-CN" sz="2000" dirty="0"/>
          </a:p>
          <a:p>
            <a:pPr marL="0" indent="0">
              <a:buNone/>
            </a:pPr>
            <a:r>
              <a:rPr lang="en-US" altLang="zh-CN" sz="2000" dirty="0"/>
              <a:t>		</a:t>
            </a:r>
            <a:r>
              <a:rPr lang="en-US" altLang="zh-CN" sz="2000" dirty="0" err="1"/>
              <a:t>delayTime</a:t>
            </a:r>
            <a:r>
              <a:rPr lang="en-US" altLang="zh-CN" sz="2000" dirty="0"/>
              <a:t>=1000;		//</a:t>
            </a:r>
            <a:r>
              <a:rPr lang="zh-CN" altLang="zh-CN" sz="2000" dirty="0"/>
              <a:t>校准延时时间为</a:t>
            </a:r>
            <a:r>
              <a:rPr lang="en-US" altLang="zh-CN" sz="2000" dirty="0"/>
              <a:t>1s</a:t>
            </a:r>
            <a:endParaRPr lang="zh-CN" altLang="zh-CN" sz="2000" dirty="0"/>
          </a:p>
          <a:p>
            <a:pPr marL="0" indent="0">
              <a:buNone/>
            </a:pPr>
            <a:r>
              <a:rPr lang="en-US" altLang="zh-CN" sz="2000" dirty="0"/>
              <a:t>	}else{</a:t>
            </a:r>
            <a:endParaRPr lang="zh-CN" altLang="zh-CN" sz="2000" dirty="0"/>
          </a:p>
          <a:p>
            <a:pPr marL="0" indent="0">
              <a:buNone/>
            </a:pPr>
            <a:r>
              <a:rPr lang="en-US" altLang="zh-CN" sz="2000" dirty="0"/>
              <a:t>		</a:t>
            </a:r>
            <a:r>
              <a:rPr lang="en-US" altLang="zh-CN" sz="2000" dirty="0" err="1"/>
              <a:t>delayTime</a:t>
            </a:r>
            <a:r>
              <a:rPr lang="en-US" altLang="zh-CN" sz="2000" dirty="0"/>
              <a:t>=delayTime-100;	//</a:t>
            </a:r>
            <a:r>
              <a:rPr lang="zh-CN" altLang="zh-CN" sz="2000" dirty="0"/>
              <a:t>将延时时间缩短</a:t>
            </a:r>
          </a:p>
          <a:p>
            <a:pPr marL="0" indent="0">
              <a:buNone/>
            </a:pPr>
            <a:r>
              <a:rPr lang="en-US" altLang="zh-CN" sz="2000" dirty="0"/>
              <a:t>	}</a:t>
            </a:r>
            <a:endParaRPr lang="zh-CN" altLang="zh-CN" sz="2000" dirty="0"/>
          </a:p>
          <a:p>
            <a:pPr marL="0" indent="0">
              <a:buNone/>
            </a:pPr>
            <a:r>
              <a:rPr lang="en-US" altLang="zh-CN" sz="2000" dirty="0"/>
              <a:t>}</a:t>
            </a:r>
            <a:endParaRPr lang="zh-CN" altLang="zh-CN" sz="2000" dirty="0"/>
          </a:p>
          <a:p>
            <a:pPr marL="0" indent="0">
              <a:buNone/>
            </a:pPr>
            <a:endParaRPr lang="zh-CN" altLang="en-US" dirty="0"/>
          </a:p>
        </p:txBody>
      </p:sp>
      <p:sp>
        <p:nvSpPr>
          <p:cNvPr id="4" name="灯片编号占位符 3">
            <a:extLst>
              <a:ext uri="{FF2B5EF4-FFF2-40B4-BE49-F238E27FC236}">
                <a16:creationId xmlns:a16="http://schemas.microsoft.com/office/drawing/2014/main" id="{078A6A94-E333-B5E7-5AB9-A14202933BE2}"/>
              </a:ext>
            </a:extLst>
          </p:cNvPr>
          <p:cNvSpPr>
            <a:spLocks noGrp="1"/>
          </p:cNvSpPr>
          <p:nvPr>
            <p:ph type="sldNum" sz="quarter" idx="12"/>
          </p:nvPr>
        </p:nvSpPr>
        <p:spPr/>
        <p:txBody>
          <a:bodyPr/>
          <a:lstStyle/>
          <a:p>
            <a:pPr>
              <a:defRPr/>
            </a:pPr>
            <a:fld id="{2C687883-A9F8-4324-BFDB-FCCC5C558AE8}" type="slidenum">
              <a:rPr lang="en-US" altLang="zh-CN" smtClean="0"/>
              <a:t>63</a:t>
            </a:fld>
            <a:endParaRPr lang="en-US" altLang="zh-CN"/>
          </a:p>
        </p:txBody>
      </p:sp>
    </p:spTree>
  </p:cSld>
  <p:clrMapOvr>
    <a:masterClrMapping/>
  </p:clrMapOvr>
  <p:transition>
    <p:cover dir="d"/>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a:t>
            </a:r>
            <a:r>
              <a:rPr lang="zh-CN" altLang="zh-CN" dirty="0"/>
              <a:t>语法——循环语句</a:t>
            </a:r>
            <a:endParaRPr lang="zh-CN" altLang="en-US" dirty="0"/>
          </a:p>
        </p:txBody>
      </p:sp>
      <p:sp>
        <p:nvSpPr>
          <p:cNvPr id="3" name="内容占位符 2"/>
          <p:cNvSpPr>
            <a:spLocks noGrp="1"/>
          </p:cNvSpPr>
          <p:nvPr>
            <p:ph idx="1"/>
          </p:nvPr>
        </p:nvSpPr>
        <p:spPr/>
        <p:txBody>
          <a:bodyPr/>
          <a:lstStyle/>
          <a:p>
            <a:pPr marL="0" indent="0" algn="just">
              <a:buNone/>
            </a:pPr>
            <a:r>
              <a:rPr lang="zh-CN" altLang="zh-CN" dirty="0"/>
              <a:t>循环语句用来重复执行某一些语句，为了避免死循环，必须在循环语句中加入条件，满足条件时执行循环，不满足条件时退出循环。</a:t>
            </a:r>
            <a:endParaRPr lang="en-US" altLang="zh-CN" dirty="0"/>
          </a:p>
          <a:p>
            <a:pPr algn="just"/>
            <a:r>
              <a:rPr lang="en-US" altLang="zh-CN" dirty="0"/>
              <a:t>for</a:t>
            </a:r>
          </a:p>
          <a:p>
            <a:pPr algn="just"/>
            <a:r>
              <a:rPr lang="en-US" altLang="zh-CN" dirty="0"/>
              <a:t>while</a:t>
            </a:r>
            <a:endParaRPr lang="zh-CN" altLang="en-US" dirty="0"/>
          </a:p>
        </p:txBody>
      </p:sp>
      <p:sp>
        <p:nvSpPr>
          <p:cNvPr id="4" name="灯片编号占位符 3">
            <a:extLst>
              <a:ext uri="{FF2B5EF4-FFF2-40B4-BE49-F238E27FC236}">
                <a16:creationId xmlns:a16="http://schemas.microsoft.com/office/drawing/2014/main" id="{30413C01-3DFE-44F5-EFA9-F63E824EB3A3}"/>
              </a:ext>
            </a:extLst>
          </p:cNvPr>
          <p:cNvSpPr>
            <a:spLocks noGrp="1"/>
          </p:cNvSpPr>
          <p:nvPr>
            <p:ph type="sldNum" sz="quarter" idx="12"/>
          </p:nvPr>
        </p:nvSpPr>
        <p:spPr/>
        <p:txBody>
          <a:bodyPr/>
          <a:lstStyle/>
          <a:p>
            <a:pPr>
              <a:defRPr/>
            </a:pPr>
            <a:fld id="{2C687883-A9F8-4324-BFDB-FCCC5C558AE8}" type="slidenum">
              <a:rPr lang="en-US" altLang="zh-CN" smtClean="0"/>
              <a:t>64</a:t>
            </a:fld>
            <a:endParaRPr lang="en-US" altLang="zh-CN"/>
          </a:p>
        </p:txBody>
      </p:sp>
    </p:spTree>
  </p:cSld>
  <p:clrMapOvr>
    <a:masterClrMapping/>
  </p:clrMapOvr>
  <p:transition>
    <p:cover dir="d"/>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48343" y="609600"/>
            <a:ext cx="8109857" cy="1143000"/>
          </a:xfrm>
        </p:spPr>
        <p:txBody>
          <a:bodyPr/>
          <a:lstStyle/>
          <a:p>
            <a:pPr algn="l"/>
            <a:r>
              <a:rPr lang="en-US" altLang="zh-CN" dirty="0"/>
              <a:t>for</a:t>
            </a:r>
            <a:r>
              <a:rPr lang="zh-CN" altLang="zh-CN" dirty="0"/>
              <a:t>循环</a:t>
            </a:r>
            <a:endParaRPr lang="zh-CN" altLang="en-US" dirty="0"/>
          </a:p>
        </p:txBody>
      </p:sp>
      <p:sp>
        <p:nvSpPr>
          <p:cNvPr id="3" name="内容占位符 2"/>
          <p:cNvSpPr>
            <a:spLocks noGrp="1"/>
          </p:cNvSpPr>
          <p:nvPr>
            <p:ph idx="1"/>
          </p:nvPr>
        </p:nvSpPr>
        <p:spPr>
          <a:xfrm>
            <a:off x="246743" y="1752601"/>
            <a:ext cx="8752113" cy="4691742"/>
          </a:xfrm>
        </p:spPr>
        <p:txBody>
          <a:bodyPr/>
          <a:lstStyle/>
          <a:p>
            <a:pPr marL="0" indent="0">
              <a:buNone/>
            </a:pPr>
            <a:r>
              <a:rPr lang="en-US" altLang="zh-CN" dirty="0"/>
              <a:t>for</a:t>
            </a:r>
            <a:r>
              <a:rPr lang="zh-CN" altLang="zh-CN" dirty="0"/>
              <a:t>循环包括</a:t>
            </a:r>
            <a:r>
              <a:rPr lang="en-US" altLang="zh-CN" dirty="0"/>
              <a:t>3</a:t>
            </a:r>
            <a:r>
              <a:rPr lang="zh-CN" altLang="zh-CN" dirty="0"/>
              <a:t>个部分：</a:t>
            </a:r>
          </a:p>
          <a:p>
            <a:pPr marL="0" indent="0">
              <a:buNone/>
            </a:pPr>
            <a:r>
              <a:rPr lang="en-US" altLang="zh-CN" dirty="0"/>
              <a:t>for(</a:t>
            </a:r>
            <a:r>
              <a:rPr lang="zh-CN" altLang="zh-CN" dirty="0"/>
              <a:t>初始化，条件检测，循环状态</a:t>
            </a:r>
            <a:r>
              <a:rPr lang="en-US" altLang="zh-CN" dirty="0"/>
              <a:t>){</a:t>
            </a:r>
            <a:r>
              <a:rPr lang="zh-CN" altLang="zh-CN" dirty="0"/>
              <a:t>程序语句</a:t>
            </a:r>
            <a:r>
              <a:rPr lang="en-US" altLang="zh-CN" dirty="0"/>
              <a:t>}</a:t>
            </a:r>
          </a:p>
          <a:p>
            <a:pPr marL="0" indent="0">
              <a:buNone/>
            </a:pPr>
            <a:endParaRPr lang="en-US" altLang="zh-CN" dirty="0"/>
          </a:p>
          <a:p>
            <a:pPr marL="0" indent="0" algn="just">
              <a:buNone/>
            </a:pPr>
            <a:r>
              <a:rPr lang="zh-CN" altLang="zh-CN" dirty="0"/>
              <a:t>初始化语句是对变量进行条件初始化，条件检测是对变量的值进行条件判断，如果为真则运行</a:t>
            </a:r>
            <a:r>
              <a:rPr lang="en-US" altLang="zh-CN" dirty="0"/>
              <a:t>for</a:t>
            </a:r>
            <a:r>
              <a:rPr lang="zh-CN" altLang="zh-CN" dirty="0"/>
              <a:t>循环语句大括号中的内容，若为假则跳出循环。循环状态则是在大括号语句执行完之后，执行循环状态语句，之后重新执行条件判断语句。</a:t>
            </a:r>
            <a:endParaRPr lang="zh-CN" altLang="en-US" dirty="0"/>
          </a:p>
        </p:txBody>
      </p:sp>
      <p:sp>
        <p:nvSpPr>
          <p:cNvPr id="4" name="灯片编号占位符 3">
            <a:extLst>
              <a:ext uri="{FF2B5EF4-FFF2-40B4-BE49-F238E27FC236}">
                <a16:creationId xmlns:a16="http://schemas.microsoft.com/office/drawing/2014/main" id="{AD771AC8-069B-7463-6460-B7396B2A3237}"/>
              </a:ext>
            </a:extLst>
          </p:cNvPr>
          <p:cNvSpPr>
            <a:spLocks noGrp="1"/>
          </p:cNvSpPr>
          <p:nvPr>
            <p:ph type="sldNum" sz="quarter" idx="12"/>
          </p:nvPr>
        </p:nvSpPr>
        <p:spPr/>
        <p:txBody>
          <a:bodyPr/>
          <a:lstStyle/>
          <a:p>
            <a:pPr>
              <a:defRPr/>
            </a:pPr>
            <a:fld id="{2C687883-A9F8-4324-BFDB-FCCC5C558AE8}" type="slidenum">
              <a:rPr lang="en-US" altLang="zh-CN" smtClean="0"/>
              <a:t>65</a:t>
            </a:fld>
            <a:endParaRPr lang="en-US" altLang="zh-CN"/>
          </a:p>
        </p:txBody>
      </p:sp>
    </p:spTree>
  </p:cSld>
  <p:clrMapOvr>
    <a:masterClrMapping/>
  </p:clrMapOvr>
  <p:transition>
    <p:cover dir="d"/>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90287" y="130629"/>
            <a:ext cx="4437743" cy="624114"/>
          </a:xfrm>
          <a:solidFill>
            <a:schemeClr val="bg1">
              <a:lumMod val="85000"/>
            </a:schemeClr>
          </a:solidFill>
        </p:spPr>
        <p:txBody>
          <a:bodyPr/>
          <a:lstStyle/>
          <a:p>
            <a:pPr algn="l"/>
            <a:r>
              <a:rPr lang="zh-CN" altLang="zh-CN" sz="3200" b="1" dirty="0"/>
              <a:t>使用</a:t>
            </a:r>
            <a:r>
              <a:rPr lang="en-US" altLang="zh-CN" sz="3200" b="1" dirty="0"/>
              <a:t>for</a:t>
            </a:r>
            <a:r>
              <a:rPr lang="zh-CN" altLang="zh-CN" sz="3200" b="1" dirty="0"/>
              <a:t>语句的闪灯程序</a:t>
            </a:r>
            <a:endParaRPr lang="zh-CN" altLang="en-US" sz="3200" b="1" dirty="0"/>
          </a:p>
        </p:txBody>
      </p:sp>
      <p:sp>
        <p:nvSpPr>
          <p:cNvPr id="3" name="内容占位符 2"/>
          <p:cNvSpPr>
            <a:spLocks noGrp="1"/>
          </p:cNvSpPr>
          <p:nvPr>
            <p:ph idx="1"/>
          </p:nvPr>
        </p:nvSpPr>
        <p:spPr>
          <a:xfrm>
            <a:off x="290287" y="754743"/>
            <a:ext cx="8708570" cy="5660571"/>
          </a:xfrm>
        </p:spPr>
        <p:txBody>
          <a:bodyPr/>
          <a:lstStyle/>
          <a:p>
            <a:pPr marL="0" indent="0">
              <a:spcBef>
                <a:spcPts val="0"/>
              </a:spcBef>
              <a:buNone/>
            </a:pPr>
            <a:r>
              <a:rPr lang="en-US" altLang="zh-CN" sz="2400" dirty="0"/>
              <a:t>int </a:t>
            </a:r>
            <a:r>
              <a:rPr lang="en-US" altLang="zh-CN" sz="2400" dirty="0" err="1"/>
              <a:t>ledPin</a:t>
            </a:r>
            <a:r>
              <a:rPr lang="en-US" altLang="zh-CN" sz="2400" dirty="0"/>
              <a:t> = 3;</a:t>
            </a:r>
          </a:p>
          <a:p>
            <a:pPr marL="0" indent="0">
              <a:spcBef>
                <a:spcPts val="0"/>
              </a:spcBef>
              <a:buNone/>
            </a:pPr>
            <a:r>
              <a:rPr lang="en-US" altLang="zh-CN" sz="2400" dirty="0"/>
              <a:t>int </a:t>
            </a:r>
            <a:r>
              <a:rPr lang="en-US" altLang="zh-CN" sz="2400" dirty="0" err="1"/>
              <a:t>delayTime</a:t>
            </a:r>
            <a:r>
              <a:rPr lang="en-US" altLang="zh-CN" sz="2400" dirty="0"/>
              <a:t> = 1000;		//</a:t>
            </a:r>
            <a:r>
              <a:rPr lang="zh-CN" altLang="en-US" sz="2400" dirty="0"/>
              <a:t>定义延时变量</a:t>
            </a:r>
            <a:r>
              <a:rPr lang="en-US" altLang="zh-CN" sz="2400" dirty="0" err="1"/>
              <a:t>delayTime</a:t>
            </a:r>
            <a:r>
              <a:rPr lang="zh-CN" altLang="en-US" sz="2400" dirty="0"/>
              <a:t>为</a:t>
            </a:r>
            <a:r>
              <a:rPr lang="en-US" altLang="zh-CN" sz="2400" dirty="0"/>
              <a:t>1s</a:t>
            </a:r>
          </a:p>
          <a:p>
            <a:pPr marL="0" indent="0">
              <a:spcBef>
                <a:spcPts val="0"/>
              </a:spcBef>
              <a:buNone/>
            </a:pPr>
            <a:r>
              <a:rPr lang="en-US" altLang="zh-CN" sz="2400" dirty="0"/>
              <a:t>int delayTime2 = 3000;	//</a:t>
            </a:r>
            <a:r>
              <a:rPr lang="zh-CN" altLang="en-US" sz="2400" dirty="0"/>
              <a:t>定义延时变量</a:t>
            </a:r>
            <a:r>
              <a:rPr lang="en-US" altLang="zh-CN" sz="2400" dirty="0"/>
              <a:t>delayTime2</a:t>
            </a:r>
            <a:r>
              <a:rPr lang="zh-CN" altLang="en-US" sz="2400" dirty="0"/>
              <a:t>为</a:t>
            </a:r>
            <a:r>
              <a:rPr lang="en-US" altLang="zh-CN" sz="2400" dirty="0"/>
              <a:t>3s</a:t>
            </a:r>
          </a:p>
          <a:p>
            <a:pPr marL="0" indent="0">
              <a:spcBef>
                <a:spcPts val="0"/>
              </a:spcBef>
              <a:buNone/>
            </a:pPr>
            <a:r>
              <a:rPr lang="en-US" altLang="zh-CN" sz="2400" dirty="0"/>
              <a:t>void setup(){</a:t>
            </a:r>
          </a:p>
          <a:p>
            <a:pPr marL="0" indent="0">
              <a:spcBef>
                <a:spcPts val="0"/>
              </a:spcBef>
              <a:buNone/>
            </a:pPr>
            <a:r>
              <a:rPr lang="en-US" altLang="zh-CN" sz="2400" dirty="0"/>
              <a:t>	</a:t>
            </a:r>
            <a:r>
              <a:rPr lang="en-US" altLang="zh-CN" sz="2400" dirty="0" err="1"/>
              <a:t>pinMode</a:t>
            </a:r>
            <a:r>
              <a:rPr lang="en-US" altLang="zh-CN" sz="2400" dirty="0"/>
              <a:t>(</a:t>
            </a:r>
            <a:r>
              <a:rPr lang="en-US" altLang="zh-CN" sz="2400" dirty="0" err="1"/>
              <a:t>ledPin,OUTPUT</a:t>
            </a:r>
            <a:r>
              <a:rPr lang="en-US" altLang="zh-CN" sz="2400" dirty="0"/>
              <a:t>);</a:t>
            </a:r>
          </a:p>
          <a:p>
            <a:pPr marL="0" indent="0">
              <a:spcBef>
                <a:spcPts val="0"/>
              </a:spcBef>
              <a:buNone/>
            </a:pPr>
            <a:r>
              <a:rPr lang="en-US" altLang="zh-CN" sz="2400" dirty="0"/>
              <a:t>}</a:t>
            </a:r>
          </a:p>
          <a:p>
            <a:pPr marL="0" indent="0">
              <a:spcBef>
                <a:spcPts val="0"/>
              </a:spcBef>
              <a:buNone/>
            </a:pPr>
            <a:r>
              <a:rPr lang="en-US" altLang="zh-CN" sz="2400" dirty="0"/>
              <a:t>void loop(){</a:t>
            </a:r>
          </a:p>
          <a:p>
            <a:pPr marL="0" indent="0">
              <a:spcBef>
                <a:spcPts val="0"/>
              </a:spcBef>
              <a:buNone/>
            </a:pPr>
            <a:r>
              <a:rPr lang="en-US" altLang="zh-CN" sz="2400" dirty="0"/>
              <a:t>	for(int count=0;count&lt;3;count ++)	 {			</a:t>
            </a:r>
          </a:p>
          <a:p>
            <a:pPr marL="0" indent="0">
              <a:spcBef>
                <a:spcPts val="0"/>
              </a:spcBef>
              <a:buNone/>
            </a:pPr>
            <a:r>
              <a:rPr lang="en-US" altLang="zh-CN" sz="2400" dirty="0"/>
              <a:t>    		</a:t>
            </a:r>
            <a:r>
              <a:rPr lang="en-US" altLang="zh-CN" sz="2400" dirty="0" err="1"/>
              <a:t>digitalWrite</a:t>
            </a:r>
            <a:r>
              <a:rPr lang="en-US" altLang="zh-CN" sz="2400" dirty="0"/>
              <a:t>(</a:t>
            </a:r>
            <a:r>
              <a:rPr lang="en-US" altLang="zh-CN" sz="2400" dirty="0" err="1"/>
              <a:t>ledPin,HIGH</a:t>
            </a:r>
            <a:r>
              <a:rPr lang="en-US" altLang="zh-CN" sz="2400" dirty="0"/>
              <a:t>);</a:t>
            </a:r>
          </a:p>
          <a:p>
            <a:pPr marL="0" indent="0">
              <a:spcBef>
                <a:spcPts val="0"/>
              </a:spcBef>
              <a:buNone/>
            </a:pPr>
            <a:r>
              <a:rPr lang="en-US" altLang="zh-CN" sz="2400" dirty="0"/>
              <a:t>		delay(</a:t>
            </a:r>
            <a:r>
              <a:rPr lang="en-US" altLang="zh-CN" sz="2400" dirty="0" err="1"/>
              <a:t>delayTime</a:t>
            </a:r>
            <a:r>
              <a:rPr lang="en-US" altLang="zh-CN" sz="2400" dirty="0"/>
              <a:t>);</a:t>
            </a:r>
          </a:p>
          <a:p>
            <a:pPr marL="0" indent="0">
              <a:spcBef>
                <a:spcPts val="0"/>
              </a:spcBef>
              <a:buNone/>
            </a:pPr>
            <a:r>
              <a:rPr lang="en-US" altLang="zh-CN" sz="2400" dirty="0"/>
              <a:t>		</a:t>
            </a:r>
            <a:r>
              <a:rPr lang="en-US" altLang="zh-CN" sz="2400" dirty="0" err="1"/>
              <a:t>digitalWrite</a:t>
            </a:r>
            <a:r>
              <a:rPr lang="en-US" altLang="zh-CN" sz="2400" dirty="0"/>
              <a:t>(</a:t>
            </a:r>
            <a:r>
              <a:rPr lang="en-US" altLang="zh-CN" sz="2400" dirty="0" err="1"/>
              <a:t>ledPin,LOW</a:t>
            </a:r>
            <a:r>
              <a:rPr lang="en-US" altLang="zh-CN" sz="2400" dirty="0"/>
              <a:t>);</a:t>
            </a:r>
          </a:p>
          <a:p>
            <a:pPr marL="0" indent="0">
              <a:spcBef>
                <a:spcPts val="0"/>
              </a:spcBef>
              <a:buNone/>
            </a:pPr>
            <a:r>
              <a:rPr lang="en-US" altLang="zh-CN" sz="2400" dirty="0"/>
              <a:t>		delay(</a:t>
            </a:r>
            <a:r>
              <a:rPr lang="en-US" altLang="zh-CN" sz="2400" dirty="0" err="1"/>
              <a:t>delayTime</a:t>
            </a:r>
            <a:r>
              <a:rPr lang="en-US" altLang="zh-CN" sz="2400" dirty="0"/>
              <a:t>);</a:t>
            </a:r>
          </a:p>
          <a:p>
            <a:pPr marL="0" indent="0">
              <a:spcBef>
                <a:spcPts val="0"/>
              </a:spcBef>
              <a:buNone/>
            </a:pPr>
            <a:r>
              <a:rPr lang="en-US" altLang="zh-CN" sz="2400" dirty="0"/>
              <a:t>	}</a:t>
            </a:r>
          </a:p>
          <a:p>
            <a:pPr marL="0" indent="0">
              <a:spcBef>
                <a:spcPts val="0"/>
              </a:spcBef>
              <a:buNone/>
            </a:pPr>
            <a:r>
              <a:rPr lang="en-US" altLang="zh-CN" sz="2400" dirty="0"/>
              <a:t>	delay(delayTime2);	 //</a:t>
            </a:r>
            <a:r>
              <a:rPr lang="zh-CN" altLang="en-US" sz="2400" dirty="0"/>
              <a:t>执行</a:t>
            </a:r>
            <a:r>
              <a:rPr lang="en-US" altLang="zh-CN" sz="2400" dirty="0"/>
              <a:t>3</a:t>
            </a:r>
            <a:r>
              <a:rPr lang="zh-CN" altLang="en-US" sz="2400" dirty="0"/>
              <a:t>次延时</a:t>
            </a:r>
            <a:r>
              <a:rPr lang="en-US" altLang="zh-CN" sz="2400" dirty="0"/>
              <a:t>3s</a:t>
            </a:r>
          </a:p>
          <a:p>
            <a:pPr marL="0" indent="0">
              <a:spcBef>
                <a:spcPts val="0"/>
              </a:spcBef>
              <a:buNone/>
            </a:pPr>
            <a:r>
              <a:rPr lang="en-US" altLang="zh-CN" sz="2400" dirty="0"/>
              <a:t>}</a:t>
            </a:r>
          </a:p>
          <a:p>
            <a:pPr marL="0" indent="0">
              <a:spcBef>
                <a:spcPts val="0"/>
              </a:spcBef>
              <a:buNone/>
            </a:pPr>
            <a:endParaRPr lang="en-US" altLang="zh-CN" sz="2400" dirty="0"/>
          </a:p>
        </p:txBody>
      </p:sp>
      <p:sp>
        <p:nvSpPr>
          <p:cNvPr id="4" name="灯片编号占位符 3">
            <a:extLst>
              <a:ext uri="{FF2B5EF4-FFF2-40B4-BE49-F238E27FC236}">
                <a16:creationId xmlns:a16="http://schemas.microsoft.com/office/drawing/2014/main" id="{DE8E27FC-23DD-AE7D-A1DF-7AF45204A77D}"/>
              </a:ext>
            </a:extLst>
          </p:cNvPr>
          <p:cNvSpPr>
            <a:spLocks noGrp="1"/>
          </p:cNvSpPr>
          <p:nvPr>
            <p:ph type="sldNum" sz="quarter" idx="12"/>
          </p:nvPr>
        </p:nvSpPr>
        <p:spPr/>
        <p:txBody>
          <a:bodyPr/>
          <a:lstStyle/>
          <a:p>
            <a:pPr>
              <a:defRPr/>
            </a:pPr>
            <a:fld id="{2C687883-A9F8-4324-BFDB-FCCC5C558AE8}" type="slidenum">
              <a:rPr lang="en-US" altLang="zh-CN" smtClean="0"/>
              <a:t>66</a:t>
            </a:fld>
            <a:endParaRPr lang="en-US" altLang="zh-CN"/>
          </a:p>
        </p:txBody>
      </p:sp>
    </p:spTree>
  </p:cSld>
  <p:clrMapOvr>
    <a:masterClrMapping/>
  </p:clrMapOvr>
  <p:transition>
    <p:cover dir="d"/>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while</a:t>
            </a:r>
            <a:r>
              <a:rPr lang="zh-CN" altLang="zh-CN" dirty="0"/>
              <a:t>循环</a:t>
            </a:r>
            <a:endParaRPr lang="zh-CN" altLang="en-US" dirty="0"/>
          </a:p>
        </p:txBody>
      </p:sp>
      <p:sp>
        <p:nvSpPr>
          <p:cNvPr id="3" name="内容占位符 2"/>
          <p:cNvSpPr>
            <a:spLocks noGrp="1"/>
          </p:cNvSpPr>
          <p:nvPr>
            <p:ph idx="1"/>
          </p:nvPr>
        </p:nvSpPr>
        <p:spPr/>
        <p:txBody>
          <a:bodyPr/>
          <a:lstStyle/>
          <a:p>
            <a:pPr marL="0" indent="0" algn="just">
              <a:buNone/>
            </a:pPr>
            <a:r>
              <a:rPr lang="zh-CN" altLang="zh-CN" dirty="0"/>
              <a:t>相比</a:t>
            </a:r>
            <a:r>
              <a:rPr lang="en-US" altLang="zh-CN" dirty="0"/>
              <a:t>for</a:t>
            </a:r>
            <a:r>
              <a:rPr lang="zh-CN" altLang="zh-CN" dirty="0"/>
              <a:t>，</a:t>
            </a:r>
            <a:r>
              <a:rPr lang="en-US" altLang="zh-CN" dirty="0"/>
              <a:t>while</a:t>
            </a:r>
            <a:r>
              <a:rPr lang="zh-CN" altLang="zh-CN" dirty="0"/>
              <a:t>语句更简单一些，但是实现的功能和</a:t>
            </a:r>
            <a:r>
              <a:rPr lang="en-US" altLang="zh-CN" dirty="0"/>
              <a:t>for</a:t>
            </a:r>
            <a:r>
              <a:rPr lang="zh-CN" altLang="zh-CN" dirty="0"/>
              <a:t>是一致的。</a:t>
            </a:r>
            <a:r>
              <a:rPr lang="en-US" altLang="zh-CN" dirty="0"/>
              <a:t>while</a:t>
            </a:r>
            <a:r>
              <a:rPr lang="zh-CN" altLang="zh-CN" dirty="0"/>
              <a:t>语句语法为“</a:t>
            </a:r>
            <a:r>
              <a:rPr lang="en-US" altLang="zh-CN" dirty="0"/>
              <a:t>while(</a:t>
            </a:r>
            <a:r>
              <a:rPr lang="zh-CN" altLang="zh-CN" dirty="0"/>
              <a:t>条件语句</a:t>
            </a:r>
            <a:r>
              <a:rPr lang="en-US" altLang="zh-CN" dirty="0"/>
              <a:t>){</a:t>
            </a:r>
            <a:r>
              <a:rPr lang="zh-CN" altLang="zh-CN" dirty="0"/>
              <a:t>程序语句</a:t>
            </a:r>
            <a:r>
              <a:rPr lang="en-US" altLang="zh-CN" dirty="0"/>
              <a:t>}</a:t>
            </a:r>
            <a:r>
              <a:rPr lang="zh-CN" altLang="zh-CN" dirty="0"/>
              <a:t>”。条件语句结果为真时则执行循环中的程序语句，如果条件语句为假时则跳出</a:t>
            </a:r>
            <a:r>
              <a:rPr lang="en-US" altLang="zh-CN" dirty="0"/>
              <a:t>while</a:t>
            </a:r>
            <a:r>
              <a:rPr lang="zh-CN" altLang="zh-CN" dirty="0"/>
              <a:t>循环语句。相比</a:t>
            </a:r>
            <a:r>
              <a:rPr lang="en-US" altLang="zh-CN" dirty="0"/>
              <a:t>for</a:t>
            </a:r>
            <a:r>
              <a:rPr lang="zh-CN" altLang="zh-CN" dirty="0"/>
              <a:t>语句，</a:t>
            </a:r>
            <a:r>
              <a:rPr lang="en-US" altLang="zh-CN" dirty="0"/>
              <a:t>while</a:t>
            </a:r>
            <a:r>
              <a:rPr lang="zh-CN" altLang="zh-CN" dirty="0"/>
              <a:t>语句循环状态可以写到程序语句中，更方便易读。</a:t>
            </a:r>
            <a:endParaRPr lang="zh-CN" altLang="en-US" dirty="0"/>
          </a:p>
        </p:txBody>
      </p:sp>
      <p:sp>
        <p:nvSpPr>
          <p:cNvPr id="4" name="灯片编号占位符 3">
            <a:extLst>
              <a:ext uri="{FF2B5EF4-FFF2-40B4-BE49-F238E27FC236}">
                <a16:creationId xmlns:a16="http://schemas.microsoft.com/office/drawing/2014/main" id="{5BC7CF03-A585-FC47-5662-55F5556DF8CA}"/>
              </a:ext>
            </a:extLst>
          </p:cNvPr>
          <p:cNvSpPr>
            <a:spLocks noGrp="1"/>
          </p:cNvSpPr>
          <p:nvPr>
            <p:ph type="sldNum" sz="quarter" idx="12"/>
          </p:nvPr>
        </p:nvSpPr>
        <p:spPr/>
        <p:txBody>
          <a:bodyPr/>
          <a:lstStyle/>
          <a:p>
            <a:pPr>
              <a:defRPr/>
            </a:pPr>
            <a:fld id="{2C687883-A9F8-4324-BFDB-FCCC5C558AE8}" type="slidenum">
              <a:rPr lang="en-US" altLang="zh-CN" smtClean="0"/>
              <a:t>67</a:t>
            </a:fld>
            <a:endParaRPr lang="en-US" altLang="zh-CN"/>
          </a:p>
        </p:txBody>
      </p:sp>
    </p:spTree>
  </p:cSld>
  <p:clrMapOvr>
    <a:masterClrMapping/>
  </p:clrMapOvr>
  <p:transition>
    <p:cover dir="d"/>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51971" y="130629"/>
            <a:ext cx="4844143" cy="493486"/>
          </a:xfrm>
          <a:solidFill>
            <a:schemeClr val="bg1">
              <a:lumMod val="85000"/>
            </a:schemeClr>
          </a:solidFill>
        </p:spPr>
        <p:txBody>
          <a:bodyPr/>
          <a:lstStyle/>
          <a:p>
            <a:pPr algn="l"/>
            <a:r>
              <a:rPr lang="zh-CN" altLang="zh-CN" sz="3200" b="1" dirty="0"/>
              <a:t>使用</a:t>
            </a:r>
            <a:r>
              <a:rPr lang="en-US" altLang="zh-CN" sz="3200" b="1" dirty="0"/>
              <a:t>while</a:t>
            </a:r>
            <a:r>
              <a:rPr lang="zh-CN" altLang="zh-CN" sz="3200" b="1" dirty="0"/>
              <a:t>语句的闪灯程序</a:t>
            </a:r>
            <a:endParaRPr lang="zh-CN" altLang="en-US" sz="3200" b="1" dirty="0"/>
          </a:p>
        </p:txBody>
      </p:sp>
      <p:sp>
        <p:nvSpPr>
          <p:cNvPr id="3" name="内容占位符 2"/>
          <p:cNvSpPr>
            <a:spLocks noGrp="1"/>
          </p:cNvSpPr>
          <p:nvPr>
            <p:ph idx="1"/>
          </p:nvPr>
        </p:nvSpPr>
        <p:spPr>
          <a:xfrm>
            <a:off x="377371" y="624115"/>
            <a:ext cx="8389257" cy="5747656"/>
          </a:xfrm>
        </p:spPr>
        <p:txBody>
          <a:bodyPr/>
          <a:lstStyle/>
          <a:p>
            <a:r>
              <a:rPr lang="en-US" altLang="zh-CN" sz="1400" b="0" dirty="0">
                <a:solidFill>
                  <a:srgbClr val="00979D"/>
                </a:solidFill>
                <a:effectLst/>
                <a:latin typeface="Consolas" panose="020B0609020204030204" pitchFamily="49" charset="0"/>
              </a:rPr>
              <a:t>int</a:t>
            </a:r>
            <a:r>
              <a:rPr lang="en-US" altLang="zh-CN" sz="1400" b="0" dirty="0">
                <a:solidFill>
                  <a:srgbClr val="4E5B61"/>
                </a:solidFill>
                <a:effectLst/>
                <a:latin typeface="Consolas" panose="020B0609020204030204" pitchFamily="49" charset="0"/>
              </a:rPr>
              <a:t> </a:t>
            </a:r>
            <a:r>
              <a:rPr lang="en-US" altLang="zh-CN" sz="1400" b="0" dirty="0" err="1">
                <a:solidFill>
                  <a:srgbClr val="4E5B61"/>
                </a:solidFill>
                <a:effectLst/>
                <a:latin typeface="Consolas" panose="020B0609020204030204" pitchFamily="49" charset="0"/>
              </a:rPr>
              <a:t>ledPin</a:t>
            </a:r>
            <a:r>
              <a:rPr lang="en-US" altLang="zh-CN" sz="1400" b="0" dirty="0">
                <a:solidFill>
                  <a:srgbClr val="4E5B61"/>
                </a:solidFill>
                <a:effectLst/>
                <a:latin typeface="Consolas" panose="020B0609020204030204" pitchFamily="49" charset="0"/>
              </a:rPr>
              <a:t> = </a:t>
            </a:r>
            <a:r>
              <a:rPr lang="en-US" altLang="zh-CN" sz="1400" b="0" dirty="0">
                <a:solidFill>
                  <a:srgbClr val="005C5F"/>
                </a:solidFill>
                <a:effectLst/>
                <a:latin typeface="Consolas" panose="020B0609020204030204" pitchFamily="49" charset="0"/>
              </a:rPr>
              <a:t>3</a:t>
            </a:r>
            <a:r>
              <a:rPr lang="en-US" altLang="zh-CN" sz="1400" b="0" dirty="0">
                <a:solidFill>
                  <a:srgbClr val="4E5B61"/>
                </a:solidFill>
                <a:effectLst/>
                <a:latin typeface="Consolas" panose="020B0609020204030204" pitchFamily="49" charset="0"/>
              </a:rPr>
              <a:t>;</a:t>
            </a:r>
          </a:p>
          <a:p>
            <a:r>
              <a:rPr lang="en-US" altLang="zh-CN" sz="1400" b="0" dirty="0">
                <a:solidFill>
                  <a:srgbClr val="00979D"/>
                </a:solidFill>
                <a:effectLst/>
                <a:latin typeface="Consolas" panose="020B0609020204030204" pitchFamily="49" charset="0"/>
              </a:rPr>
              <a:t>int</a:t>
            </a:r>
            <a:r>
              <a:rPr lang="en-US" altLang="zh-CN" sz="1400" b="0" dirty="0">
                <a:solidFill>
                  <a:srgbClr val="4E5B61"/>
                </a:solidFill>
                <a:effectLst/>
                <a:latin typeface="Consolas" panose="020B0609020204030204" pitchFamily="49" charset="0"/>
              </a:rPr>
              <a:t> </a:t>
            </a:r>
            <a:r>
              <a:rPr lang="en-US" altLang="zh-CN" sz="1400" b="0" dirty="0" err="1">
                <a:solidFill>
                  <a:srgbClr val="4E5B61"/>
                </a:solidFill>
                <a:effectLst/>
                <a:latin typeface="Consolas" panose="020B0609020204030204" pitchFamily="49" charset="0"/>
              </a:rPr>
              <a:t>delayTime</a:t>
            </a:r>
            <a:r>
              <a:rPr lang="en-US" altLang="zh-CN" sz="1400" b="0" dirty="0">
                <a:solidFill>
                  <a:srgbClr val="4E5B61"/>
                </a:solidFill>
                <a:effectLst/>
                <a:latin typeface="Consolas" panose="020B0609020204030204" pitchFamily="49" charset="0"/>
              </a:rPr>
              <a:t> = </a:t>
            </a:r>
            <a:r>
              <a:rPr lang="en-US" altLang="zh-CN" sz="1400" b="0" dirty="0">
                <a:solidFill>
                  <a:srgbClr val="005C5F"/>
                </a:solidFill>
                <a:effectLst/>
                <a:latin typeface="Consolas" panose="020B0609020204030204" pitchFamily="49" charset="0"/>
              </a:rPr>
              <a:t>1000</a:t>
            </a:r>
            <a:r>
              <a:rPr lang="en-US" altLang="zh-CN" sz="1400" b="0" dirty="0">
                <a:solidFill>
                  <a:srgbClr val="4E5B61"/>
                </a:solidFill>
                <a:effectLst/>
                <a:latin typeface="Consolas" panose="020B0609020204030204" pitchFamily="49" charset="0"/>
              </a:rPr>
              <a:t>;</a:t>
            </a:r>
            <a:r>
              <a:rPr lang="en-US" altLang="zh-CN" sz="1400" b="0" dirty="0">
                <a:solidFill>
                  <a:srgbClr val="95A5A6"/>
                </a:solidFill>
                <a:effectLst/>
                <a:latin typeface="Consolas" panose="020B0609020204030204" pitchFamily="49" charset="0"/>
              </a:rPr>
              <a:t> //</a:t>
            </a:r>
            <a:r>
              <a:rPr lang="zh-CN" altLang="en-US" sz="1400" b="0" dirty="0">
                <a:solidFill>
                  <a:srgbClr val="95A5A6"/>
                </a:solidFill>
                <a:effectLst/>
                <a:latin typeface="Consolas" panose="020B0609020204030204" pitchFamily="49" charset="0"/>
              </a:rPr>
              <a:t>定义延时变量</a:t>
            </a:r>
            <a:r>
              <a:rPr lang="en-US" altLang="zh-CN" sz="1400" b="0" dirty="0" err="1">
                <a:solidFill>
                  <a:srgbClr val="95A5A6"/>
                </a:solidFill>
                <a:effectLst/>
                <a:latin typeface="Consolas" panose="020B0609020204030204" pitchFamily="49" charset="0"/>
              </a:rPr>
              <a:t>delayTime</a:t>
            </a:r>
            <a:r>
              <a:rPr lang="zh-CN" altLang="en-US" sz="1400" b="0" dirty="0">
                <a:solidFill>
                  <a:srgbClr val="95A5A6"/>
                </a:solidFill>
                <a:effectLst/>
                <a:latin typeface="Consolas" panose="020B0609020204030204" pitchFamily="49" charset="0"/>
              </a:rPr>
              <a:t>为</a:t>
            </a:r>
            <a:r>
              <a:rPr lang="en-US" altLang="zh-CN" sz="1400" b="0" dirty="0">
                <a:solidFill>
                  <a:srgbClr val="95A5A6"/>
                </a:solidFill>
                <a:effectLst/>
                <a:latin typeface="Consolas" panose="020B0609020204030204" pitchFamily="49" charset="0"/>
              </a:rPr>
              <a:t>1s</a:t>
            </a:r>
            <a:endParaRPr lang="en-US" altLang="zh-CN" sz="1400" b="0" dirty="0">
              <a:solidFill>
                <a:srgbClr val="4E5B61"/>
              </a:solidFill>
              <a:effectLst/>
              <a:latin typeface="Consolas" panose="020B0609020204030204" pitchFamily="49" charset="0"/>
            </a:endParaRPr>
          </a:p>
          <a:p>
            <a:br>
              <a:rPr lang="en-US" altLang="zh-CN" sz="1400" b="0" dirty="0">
                <a:solidFill>
                  <a:srgbClr val="4E5B61"/>
                </a:solidFill>
                <a:effectLst/>
                <a:latin typeface="Consolas" panose="020B0609020204030204" pitchFamily="49" charset="0"/>
              </a:rPr>
            </a:br>
            <a:r>
              <a:rPr lang="en-US" altLang="zh-CN" sz="1400" b="0" dirty="0">
                <a:solidFill>
                  <a:srgbClr val="00979D"/>
                </a:solidFill>
                <a:effectLst/>
                <a:latin typeface="Consolas" panose="020B0609020204030204" pitchFamily="49" charset="0"/>
              </a:rPr>
              <a:t>void</a:t>
            </a:r>
            <a:r>
              <a:rPr lang="en-US" altLang="zh-CN" sz="1400" b="0" dirty="0">
                <a:solidFill>
                  <a:srgbClr val="4E5B61"/>
                </a:solidFill>
                <a:effectLst/>
                <a:latin typeface="Consolas" panose="020B0609020204030204" pitchFamily="49" charset="0"/>
              </a:rPr>
              <a:t> </a:t>
            </a:r>
            <a:r>
              <a:rPr lang="en-US" altLang="zh-CN" sz="1400" b="0" dirty="0">
                <a:solidFill>
                  <a:srgbClr val="D35400"/>
                </a:solidFill>
                <a:effectLst/>
                <a:latin typeface="Consolas" panose="020B0609020204030204" pitchFamily="49" charset="0"/>
              </a:rPr>
              <a:t>setup</a:t>
            </a:r>
            <a:r>
              <a:rPr lang="en-US" altLang="zh-CN" sz="1400" b="0" dirty="0">
                <a:solidFill>
                  <a:srgbClr val="434F54"/>
                </a:solidFill>
                <a:effectLst/>
                <a:latin typeface="Consolas" panose="020B0609020204030204" pitchFamily="49" charset="0"/>
              </a:rPr>
              <a:t>(){</a:t>
            </a:r>
            <a:endParaRPr lang="en-US" altLang="zh-CN" sz="1400" b="0" dirty="0">
              <a:solidFill>
                <a:srgbClr val="4E5B61"/>
              </a:solidFill>
              <a:effectLst/>
              <a:latin typeface="Consolas" panose="020B0609020204030204" pitchFamily="49" charset="0"/>
            </a:endParaRPr>
          </a:p>
          <a:p>
            <a:r>
              <a:rPr lang="en-US" altLang="zh-CN" sz="1400" b="0" dirty="0">
                <a:solidFill>
                  <a:srgbClr val="4E5B61"/>
                </a:solidFill>
                <a:effectLst/>
                <a:latin typeface="Consolas" panose="020B0609020204030204" pitchFamily="49" charset="0"/>
              </a:rPr>
              <a:t>  </a:t>
            </a:r>
            <a:r>
              <a:rPr lang="en-US" altLang="zh-CN" sz="1400" b="0" dirty="0" err="1">
                <a:solidFill>
                  <a:srgbClr val="D35400"/>
                </a:solidFill>
                <a:effectLst/>
                <a:latin typeface="Consolas" panose="020B0609020204030204" pitchFamily="49" charset="0"/>
              </a:rPr>
              <a:t>Serial</a:t>
            </a:r>
            <a:r>
              <a:rPr lang="en-US" altLang="zh-CN" sz="1400" b="0" dirty="0" err="1">
                <a:solidFill>
                  <a:srgbClr val="4E5B61"/>
                </a:solidFill>
                <a:effectLst/>
                <a:latin typeface="Consolas" panose="020B0609020204030204" pitchFamily="49" charset="0"/>
              </a:rPr>
              <a:t>.</a:t>
            </a:r>
            <a:r>
              <a:rPr lang="en-US" altLang="zh-CN" sz="1400" b="0" dirty="0" err="1">
                <a:solidFill>
                  <a:srgbClr val="D35400"/>
                </a:solidFill>
                <a:effectLst/>
                <a:latin typeface="Consolas" panose="020B0609020204030204" pitchFamily="49" charset="0"/>
              </a:rPr>
              <a:t>begin</a:t>
            </a:r>
            <a:r>
              <a:rPr lang="en-US" altLang="zh-CN" sz="1400" b="0" dirty="0">
                <a:solidFill>
                  <a:srgbClr val="434F54"/>
                </a:solidFill>
                <a:effectLst/>
                <a:latin typeface="Consolas" panose="020B0609020204030204" pitchFamily="49" charset="0"/>
              </a:rPr>
              <a:t>(</a:t>
            </a:r>
            <a:r>
              <a:rPr lang="en-US" altLang="zh-CN" sz="1400" b="0" dirty="0">
                <a:solidFill>
                  <a:srgbClr val="005C5F"/>
                </a:solidFill>
                <a:effectLst/>
                <a:latin typeface="Consolas" panose="020B0609020204030204" pitchFamily="49" charset="0"/>
              </a:rPr>
              <a:t>9600</a:t>
            </a:r>
            <a:r>
              <a:rPr lang="en-US" altLang="zh-CN" sz="1400" b="0" dirty="0">
                <a:solidFill>
                  <a:srgbClr val="434F54"/>
                </a:solidFill>
                <a:effectLst/>
                <a:latin typeface="Consolas" panose="020B0609020204030204" pitchFamily="49" charset="0"/>
              </a:rPr>
              <a:t>)</a:t>
            </a:r>
            <a:r>
              <a:rPr lang="en-US" altLang="zh-CN" sz="1400" b="0" dirty="0">
                <a:solidFill>
                  <a:srgbClr val="4E5B61"/>
                </a:solidFill>
                <a:effectLst/>
                <a:latin typeface="Consolas" panose="020B0609020204030204" pitchFamily="49" charset="0"/>
              </a:rPr>
              <a:t>;</a:t>
            </a:r>
          </a:p>
          <a:p>
            <a:r>
              <a:rPr lang="en-US" altLang="zh-CN" sz="1400" b="0" dirty="0">
                <a:solidFill>
                  <a:srgbClr val="4E5B61"/>
                </a:solidFill>
                <a:effectLst/>
                <a:latin typeface="Consolas" panose="020B0609020204030204" pitchFamily="49" charset="0"/>
              </a:rPr>
              <a:t>  </a:t>
            </a:r>
            <a:r>
              <a:rPr lang="en-US" altLang="zh-CN" sz="1400" b="0" dirty="0" err="1">
                <a:solidFill>
                  <a:srgbClr val="D35400"/>
                </a:solidFill>
                <a:effectLst/>
                <a:latin typeface="Consolas" panose="020B0609020204030204" pitchFamily="49" charset="0"/>
              </a:rPr>
              <a:t>pinMode</a:t>
            </a:r>
            <a:r>
              <a:rPr lang="en-US" altLang="zh-CN" sz="1400" b="0" dirty="0">
                <a:solidFill>
                  <a:srgbClr val="434F54"/>
                </a:solidFill>
                <a:effectLst/>
                <a:latin typeface="Consolas" panose="020B0609020204030204" pitchFamily="49" charset="0"/>
              </a:rPr>
              <a:t>(</a:t>
            </a:r>
            <a:r>
              <a:rPr lang="en-US" altLang="zh-CN" sz="1400" b="0" dirty="0" err="1">
                <a:solidFill>
                  <a:srgbClr val="4E5B61"/>
                </a:solidFill>
                <a:effectLst/>
                <a:latin typeface="Consolas" panose="020B0609020204030204" pitchFamily="49" charset="0"/>
              </a:rPr>
              <a:t>ledPin,OUTPUT</a:t>
            </a:r>
            <a:r>
              <a:rPr lang="en-US" altLang="zh-CN" sz="1400" b="0" dirty="0">
                <a:solidFill>
                  <a:srgbClr val="434F54"/>
                </a:solidFill>
                <a:effectLst/>
                <a:latin typeface="Consolas" panose="020B0609020204030204" pitchFamily="49" charset="0"/>
              </a:rPr>
              <a:t>)</a:t>
            </a:r>
            <a:r>
              <a:rPr lang="en-US" altLang="zh-CN" sz="1400" b="0" dirty="0">
                <a:solidFill>
                  <a:srgbClr val="4E5B61"/>
                </a:solidFill>
                <a:effectLst/>
                <a:latin typeface="Consolas" panose="020B0609020204030204" pitchFamily="49" charset="0"/>
              </a:rPr>
              <a:t>;</a:t>
            </a:r>
          </a:p>
          <a:p>
            <a:br>
              <a:rPr lang="en-US" altLang="zh-CN" sz="1400" b="0" dirty="0">
                <a:solidFill>
                  <a:srgbClr val="4E5B61"/>
                </a:solidFill>
                <a:effectLst/>
                <a:latin typeface="Consolas" panose="020B0609020204030204" pitchFamily="49" charset="0"/>
              </a:rPr>
            </a:br>
            <a:r>
              <a:rPr lang="en-US" altLang="zh-CN" sz="1400" b="0" dirty="0">
                <a:solidFill>
                  <a:srgbClr val="4E5B61"/>
                </a:solidFill>
                <a:effectLst/>
                <a:latin typeface="Consolas" panose="020B0609020204030204" pitchFamily="49" charset="0"/>
              </a:rPr>
              <a:t>  </a:t>
            </a:r>
            <a:r>
              <a:rPr lang="en-US" altLang="zh-CN" sz="1400" b="0" dirty="0">
                <a:solidFill>
                  <a:srgbClr val="00979D"/>
                </a:solidFill>
                <a:effectLst/>
                <a:latin typeface="Consolas" panose="020B0609020204030204" pitchFamily="49" charset="0"/>
              </a:rPr>
              <a:t>int</a:t>
            </a:r>
            <a:r>
              <a:rPr lang="en-US" altLang="zh-CN" sz="1400" b="0" dirty="0">
                <a:solidFill>
                  <a:srgbClr val="4E5B61"/>
                </a:solidFill>
                <a:effectLst/>
                <a:latin typeface="Consolas" panose="020B0609020204030204" pitchFamily="49" charset="0"/>
              </a:rPr>
              <a:t> count = </a:t>
            </a:r>
            <a:r>
              <a:rPr lang="en-US" altLang="zh-CN" sz="1400" b="0" dirty="0">
                <a:solidFill>
                  <a:srgbClr val="005C5F"/>
                </a:solidFill>
                <a:effectLst/>
                <a:latin typeface="Consolas" panose="020B0609020204030204" pitchFamily="49" charset="0"/>
              </a:rPr>
              <a:t>0</a:t>
            </a:r>
            <a:r>
              <a:rPr lang="en-US" altLang="zh-CN" sz="1400" b="0" dirty="0">
                <a:solidFill>
                  <a:srgbClr val="4E5B61"/>
                </a:solidFill>
                <a:effectLst/>
                <a:latin typeface="Consolas" panose="020B0609020204030204" pitchFamily="49" charset="0"/>
              </a:rPr>
              <a:t>;</a:t>
            </a:r>
            <a:r>
              <a:rPr lang="en-US" altLang="zh-CN" sz="1400" b="0" dirty="0">
                <a:solidFill>
                  <a:srgbClr val="95A5A6"/>
                </a:solidFill>
                <a:effectLst/>
                <a:latin typeface="Consolas" panose="020B0609020204030204" pitchFamily="49" charset="0"/>
              </a:rPr>
              <a:t>  //</a:t>
            </a:r>
            <a:r>
              <a:rPr lang="zh-CN" altLang="en-US" sz="1400" b="0" dirty="0">
                <a:solidFill>
                  <a:srgbClr val="95A5A6"/>
                </a:solidFill>
                <a:effectLst/>
                <a:latin typeface="Consolas" panose="020B0609020204030204" pitchFamily="49" charset="0"/>
              </a:rPr>
              <a:t>定义计数器变量并初始化为</a:t>
            </a:r>
            <a:r>
              <a:rPr lang="en-US" altLang="zh-CN" sz="1400" b="0" dirty="0">
                <a:solidFill>
                  <a:srgbClr val="95A5A6"/>
                </a:solidFill>
                <a:effectLst/>
                <a:latin typeface="Consolas" panose="020B0609020204030204" pitchFamily="49" charset="0"/>
              </a:rPr>
              <a:t>0</a:t>
            </a:r>
            <a:endParaRPr lang="zh-CN" altLang="en-US" sz="1400" b="0" dirty="0">
              <a:solidFill>
                <a:srgbClr val="4E5B61"/>
              </a:solidFill>
              <a:effectLst/>
              <a:latin typeface="Consolas" panose="020B0609020204030204" pitchFamily="49" charset="0"/>
            </a:endParaRPr>
          </a:p>
          <a:p>
            <a:br>
              <a:rPr lang="zh-CN" altLang="en-US" sz="1400" b="0" dirty="0">
                <a:solidFill>
                  <a:srgbClr val="4E5B61"/>
                </a:solidFill>
                <a:effectLst/>
                <a:latin typeface="Consolas" panose="020B0609020204030204" pitchFamily="49" charset="0"/>
              </a:rPr>
            </a:br>
            <a:r>
              <a:rPr lang="zh-CN" altLang="en-US" sz="1400" b="0" dirty="0">
                <a:solidFill>
                  <a:srgbClr val="4E5B61"/>
                </a:solidFill>
                <a:effectLst/>
                <a:latin typeface="Consolas" panose="020B0609020204030204" pitchFamily="49" charset="0"/>
              </a:rPr>
              <a:t>  </a:t>
            </a:r>
            <a:r>
              <a:rPr lang="en-US" altLang="zh-CN" sz="1400" b="0" dirty="0">
                <a:solidFill>
                  <a:srgbClr val="728E00"/>
                </a:solidFill>
                <a:effectLst/>
                <a:latin typeface="Consolas" panose="020B0609020204030204" pitchFamily="49" charset="0"/>
              </a:rPr>
              <a:t>while</a:t>
            </a:r>
            <a:r>
              <a:rPr lang="en-US" altLang="zh-CN" sz="1400" b="0" dirty="0">
                <a:solidFill>
                  <a:srgbClr val="434F54"/>
                </a:solidFill>
                <a:effectLst/>
                <a:latin typeface="Consolas" panose="020B0609020204030204" pitchFamily="49" charset="0"/>
              </a:rPr>
              <a:t>(</a:t>
            </a:r>
            <a:r>
              <a:rPr lang="en-US" altLang="zh-CN" sz="1400" b="0" dirty="0">
                <a:solidFill>
                  <a:srgbClr val="4E5B61"/>
                </a:solidFill>
                <a:effectLst/>
                <a:latin typeface="Consolas" panose="020B0609020204030204" pitchFamily="49" charset="0"/>
              </a:rPr>
              <a:t>count &lt; </a:t>
            </a:r>
            <a:r>
              <a:rPr lang="en-US" altLang="zh-CN" sz="1400" b="0" dirty="0">
                <a:solidFill>
                  <a:srgbClr val="005C5F"/>
                </a:solidFill>
                <a:effectLst/>
                <a:latin typeface="Consolas" panose="020B0609020204030204" pitchFamily="49" charset="0"/>
              </a:rPr>
              <a:t>3</a:t>
            </a:r>
            <a:r>
              <a:rPr lang="en-US" altLang="zh-CN" sz="1400" b="0" dirty="0">
                <a:solidFill>
                  <a:srgbClr val="434F54"/>
                </a:solidFill>
                <a:effectLst/>
                <a:latin typeface="Consolas" panose="020B0609020204030204" pitchFamily="49" charset="0"/>
              </a:rPr>
              <a:t>)</a:t>
            </a:r>
            <a:r>
              <a:rPr lang="en-US" altLang="zh-CN" sz="1400" b="0" dirty="0">
                <a:solidFill>
                  <a:srgbClr val="4E5B61"/>
                </a:solidFill>
                <a:effectLst/>
                <a:latin typeface="Consolas" panose="020B0609020204030204" pitchFamily="49" charset="0"/>
              </a:rPr>
              <a:t> </a:t>
            </a:r>
            <a:r>
              <a:rPr lang="en-US" altLang="zh-CN" sz="1400" b="0" dirty="0">
                <a:solidFill>
                  <a:srgbClr val="434F54"/>
                </a:solidFill>
                <a:effectLst/>
                <a:latin typeface="Consolas" panose="020B0609020204030204" pitchFamily="49" charset="0"/>
              </a:rPr>
              <a:t>{</a:t>
            </a:r>
            <a:r>
              <a:rPr lang="en-US" altLang="zh-CN" sz="1400" b="0" dirty="0">
                <a:solidFill>
                  <a:srgbClr val="95A5A6"/>
                </a:solidFill>
                <a:effectLst/>
                <a:latin typeface="Consolas" panose="020B0609020204030204" pitchFamily="49" charset="0"/>
              </a:rPr>
              <a:t>   //</a:t>
            </a:r>
            <a:r>
              <a:rPr lang="zh-CN" altLang="en-US" sz="1400" b="0" dirty="0">
                <a:solidFill>
                  <a:srgbClr val="95A5A6"/>
                </a:solidFill>
                <a:effectLst/>
                <a:latin typeface="Consolas" panose="020B0609020204030204" pitchFamily="49" charset="0"/>
              </a:rPr>
              <a:t>计数器数值小于</a:t>
            </a:r>
            <a:r>
              <a:rPr lang="en-US" altLang="zh-CN" sz="1400" b="0" dirty="0">
                <a:solidFill>
                  <a:srgbClr val="95A5A6"/>
                </a:solidFill>
                <a:effectLst/>
                <a:latin typeface="Consolas" panose="020B0609020204030204" pitchFamily="49" charset="0"/>
              </a:rPr>
              <a:t>3</a:t>
            </a:r>
            <a:r>
              <a:rPr lang="zh-CN" altLang="en-US" sz="1400" b="0" dirty="0">
                <a:solidFill>
                  <a:srgbClr val="95A5A6"/>
                </a:solidFill>
                <a:effectLst/>
                <a:latin typeface="Consolas" panose="020B0609020204030204" pitchFamily="49" charset="0"/>
              </a:rPr>
              <a:t>时，执行循环     </a:t>
            </a:r>
            <a:endParaRPr lang="zh-CN" altLang="en-US" sz="1400" b="0" dirty="0">
              <a:solidFill>
                <a:srgbClr val="4E5B61"/>
              </a:solidFill>
              <a:effectLst/>
              <a:latin typeface="Consolas" panose="020B0609020204030204" pitchFamily="49" charset="0"/>
            </a:endParaRPr>
          </a:p>
          <a:p>
            <a:r>
              <a:rPr lang="zh-CN" altLang="en-US" sz="1400" b="0" dirty="0">
                <a:solidFill>
                  <a:srgbClr val="4E5B61"/>
                </a:solidFill>
                <a:effectLst/>
                <a:latin typeface="Consolas" panose="020B0609020204030204" pitchFamily="49" charset="0"/>
              </a:rPr>
              <a:t>    </a:t>
            </a:r>
            <a:r>
              <a:rPr lang="en-US" altLang="zh-CN" sz="1400" b="0" dirty="0" err="1">
                <a:solidFill>
                  <a:srgbClr val="D35400"/>
                </a:solidFill>
                <a:effectLst/>
                <a:latin typeface="Consolas" panose="020B0609020204030204" pitchFamily="49" charset="0"/>
              </a:rPr>
              <a:t>Serial</a:t>
            </a:r>
            <a:r>
              <a:rPr lang="en-US" altLang="zh-CN" sz="1400" b="0" dirty="0" err="1">
                <a:solidFill>
                  <a:srgbClr val="4E5B61"/>
                </a:solidFill>
                <a:effectLst/>
                <a:latin typeface="Consolas" panose="020B0609020204030204" pitchFamily="49" charset="0"/>
              </a:rPr>
              <a:t>.</a:t>
            </a:r>
            <a:r>
              <a:rPr lang="en-US" altLang="zh-CN" sz="1400" b="0" dirty="0" err="1">
                <a:solidFill>
                  <a:srgbClr val="D35400"/>
                </a:solidFill>
                <a:effectLst/>
                <a:latin typeface="Consolas" panose="020B0609020204030204" pitchFamily="49" charset="0"/>
              </a:rPr>
              <a:t>println</a:t>
            </a:r>
            <a:r>
              <a:rPr lang="en-US" altLang="zh-CN" sz="1400" b="0" dirty="0">
                <a:solidFill>
                  <a:srgbClr val="434F54"/>
                </a:solidFill>
                <a:effectLst/>
                <a:latin typeface="Consolas" panose="020B0609020204030204" pitchFamily="49" charset="0"/>
              </a:rPr>
              <a:t>(</a:t>
            </a:r>
            <a:r>
              <a:rPr lang="en-US" altLang="zh-CN" sz="1400" b="0" dirty="0">
                <a:solidFill>
                  <a:srgbClr val="4E5B61"/>
                </a:solidFill>
                <a:effectLst/>
                <a:latin typeface="Consolas" panose="020B0609020204030204" pitchFamily="49" charset="0"/>
              </a:rPr>
              <a:t>count</a:t>
            </a:r>
            <a:r>
              <a:rPr lang="en-US" altLang="zh-CN" sz="1400" b="0" dirty="0">
                <a:solidFill>
                  <a:srgbClr val="434F54"/>
                </a:solidFill>
                <a:effectLst/>
                <a:latin typeface="Consolas" panose="020B0609020204030204" pitchFamily="49" charset="0"/>
              </a:rPr>
              <a:t>)</a:t>
            </a:r>
            <a:r>
              <a:rPr lang="en-US" altLang="zh-CN" sz="1400" b="0" dirty="0">
                <a:solidFill>
                  <a:srgbClr val="4E5B61"/>
                </a:solidFill>
                <a:effectLst/>
                <a:latin typeface="Consolas" panose="020B0609020204030204" pitchFamily="49" charset="0"/>
              </a:rPr>
              <a:t>;</a:t>
            </a:r>
          </a:p>
          <a:p>
            <a:r>
              <a:rPr lang="en-US" altLang="zh-CN" sz="1400" b="0" dirty="0">
                <a:solidFill>
                  <a:srgbClr val="4E5B61"/>
                </a:solidFill>
                <a:effectLst/>
                <a:latin typeface="Consolas" panose="020B0609020204030204" pitchFamily="49" charset="0"/>
              </a:rPr>
              <a:t>    </a:t>
            </a:r>
            <a:r>
              <a:rPr lang="en-US" altLang="zh-CN" sz="1400" b="0" dirty="0" err="1">
                <a:solidFill>
                  <a:srgbClr val="D35400"/>
                </a:solidFill>
                <a:effectLst/>
                <a:latin typeface="Consolas" panose="020B0609020204030204" pitchFamily="49" charset="0"/>
              </a:rPr>
              <a:t>digitalWrite</a:t>
            </a:r>
            <a:r>
              <a:rPr lang="en-US" altLang="zh-CN" sz="1400" b="0" dirty="0">
                <a:solidFill>
                  <a:srgbClr val="434F54"/>
                </a:solidFill>
                <a:effectLst/>
                <a:latin typeface="Consolas" panose="020B0609020204030204" pitchFamily="49" charset="0"/>
              </a:rPr>
              <a:t>(</a:t>
            </a:r>
            <a:r>
              <a:rPr lang="en-US" altLang="zh-CN" sz="1400" b="0" dirty="0" err="1">
                <a:solidFill>
                  <a:srgbClr val="4E5B61"/>
                </a:solidFill>
                <a:effectLst/>
                <a:latin typeface="Consolas" panose="020B0609020204030204" pitchFamily="49" charset="0"/>
              </a:rPr>
              <a:t>ledPin,HIGH</a:t>
            </a:r>
            <a:r>
              <a:rPr lang="en-US" altLang="zh-CN" sz="1400" b="0" dirty="0">
                <a:solidFill>
                  <a:srgbClr val="434F54"/>
                </a:solidFill>
                <a:effectLst/>
                <a:latin typeface="Consolas" panose="020B0609020204030204" pitchFamily="49" charset="0"/>
              </a:rPr>
              <a:t>)</a:t>
            </a:r>
            <a:r>
              <a:rPr lang="en-US" altLang="zh-CN" sz="1400" b="0" dirty="0">
                <a:solidFill>
                  <a:srgbClr val="4E5B61"/>
                </a:solidFill>
                <a:effectLst/>
                <a:latin typeface="Consolas" panose="020B0609020204030204" pitchFamily="49" charset="0"/>
              </a:rPr>
              <a:t>;</a:t>
            </a:r>
          </a:p>
          <a:p>
            <a:r>
              <a:rPr lang="en-US" altLang="zh-CN" sz="1400" b="0" dirty="0">
                <a:solidFill>
                  <a:srgbClr val="4E5B61"/>
                </a:solidFill>
                <a:effectLst/>
                <a:latin typeface="Consolas" panose="020B0609020204030204" pitchFamily="49" charset="0"/>
              </a:rPr>
              <a:t>    </a:t>
            </a:r>
            <a:r>
              <a:rPr lang="en-US" altLang="zh-CN" sz="1400" b="0" dirty="0">
                <a:solidFill>
                  <a:srgbClr val="D35400"/>
                </a:solidFill>
                <a:effectLst/>
                <a:latin typeface="Consolas" panose="020B0609020204030204" pitchFamily="49" charset="0"/>
              </a:rPr>
              <a:t>delay</a:t>
            </a:r>
            <a:r>
              <a:rPr lang="en-US" altLang="zh-CN" sz="1400" b="0" dirty="0">
                <a:solidFill>
                  <a:srgbClr val="434F54"/>
                </a:solidFill>
                <a:effectLst/>
                <a:latin typeface="Consolas" panose="020B0609020204030204" pitchFamily="49" charset="0"/>
              </a:rPr>
              <a:t>(</a:t>
            </a:r>
            <a:r>
              <a:rPr lang="en-US" altLang="zh-CN" sz="1400" b="0" dirty="0" err="1">
                <a:solidFill>
                  <a:srgbClr val="4E5B61"/>
                </a:solidFill>
                <a:effectLst/>
                <a:latin typeface="Consolas" panose="020B0609020204030204" pitchFamily="49" charset="0"/>
              </a:rPr>
              <a:t>delayTime</a:t>
            </a:r>
            <a:r>
              <a:rPr lang="en-US" altLang="zh-CN" sz="1400" b="0" dirty="0">
                <a:solidFill>
                  <a:srgbClr val="434F54"/>
                </a:solidFill>
                <a:effectLst/>
                <a:latin typeface="Consolas" panose="020B0609020204030204" pitchFamily="49" charset="0"/>
              </a:rPr>
              <a:t>)</a:t>
            </a:r>
            <a:r>
              <a:rPr lang="en-US" altLang="zh-CN" sz="1400" b="0" dirty="0">
                <a:solidFill>
                  <a:srgbClr val="4E5B61"/>
                </a:solidFill>
                <a:effectLst/>
                <a:latin typeface="Consolas" panose="020B0609020204030204" pitchFamily="49" charset="0"/>
              </a:rPr>
              <a:t>;</a:t>
            </a:r>
          </a:p>
          <a:p>
            <a:r>
              <a:rPr lang="en-US" altLang="zh-CN" sz="1400" b="0" dirty="0">
                <a:solidFill>
                  <a:srgbClr val="4E5B61"/>
                </a:solidFill>
                <a:effectLst/>
                <a:latin typeface="Consolas" panose="020B0609020204030204" pitchFamily="49" charset="0"/>
              </a:rPr>
              <a:t>    </a:t>
            </a:r>
            <a:r>
              <a:rPr lang="en-US" altLang="zh-CN" sz="1400" b="0" dirty="0" err="1">
                <a:solidFill>
                  <a:srgbClr val="D35400"/>
                </a:solidFill>
                <a:effectLst/>
                <a:latin typeface="Consolas" panose="020B0609020204030204" pitchFamily="49" charset="0"/>
              </a:rPr>
              <a:t>digitalWrite</a:t>
            </a:r>
            <a:r>
              <a:rPr lang="en-US" altLang="zh-CN" sz="1400" b="0" dirty="0">
                <a:solidFill>
                  <a:srgbClr val="434F54"/>
                </a:solidFill>
                <a:effectLst/>
                <a:latin typeface="Consolas" panose="020B0609020204030204" pitchFamily="49" charset="0"/>
              </a:rPr>
              <a:t>(</a:t>
            </a:r>
            <a:r>
              <a:rPr lang="en-US" altLang="zh-CN" sz="1400" b="0" dirty="0" err="1">
                <a:solidFill>
                  <a:srgbClr val="4E5B61"/>
                </a:solidFill>
                <a:effectLst/>
                <a:latin typeface="Consolas" panose="020B0609020204030204" pitchFamily="49" charset="0"/>
              </a:rPr>
              <a:t>ledPin,LOW</a:t>
            </a:r>
            <a:r>
              <a:rPr lang="en-US" altLang="zh-CN" sz="1400" b="0" dirty="0">
                <a:solidFill>
                  <a:srgbClr val="434F54"/>
                </a:solidFill>
                <a:effectLst/>
                <a:latin typeface="Consolas" panose="020B0609020204030204" pitchFamily="49" charset="0"/>
              </a:rPr>
              <a:t>)</a:t>
            </a:r>
            <a:r>
              <a:rPr lang="en-US" altLang="zh-CN" sz="1400" b="0" dirty="0">
                <a:solidFill>
                  <a:srgbClr val="4E5B61"/>
                </a:solidFill>
                <a:effectLst/>
                <a:latin typeface="Consolas" panose="020B0609020204030204" pitchFamily="49" charset="0"/>
              </a:rPr>
              <a:t>;</a:t>
            </a:r>
          </a:p>
          <a:p>
            <a:r>
              <a:rPr lang="en-US" altLang="zh-CN" sz="1400" b="0" dirty="0">
                <a:solidFill>
                  <a:srgbClr val="4E5B61"/>
                </a:solidFill>
                <a:effectLst/>
                <a:latin typeface="Consolas" panose="020B0609020204030204" pitchFamily="49" charset="0"/>
              </a:rPr>
              <a:t>    </a:t>
            </a:r>
            <a:r>
              <a:rPr lang="en-US" altLang="zh-CN" sz="1400" b="0" dirty="0">
                <a:solidFill>
                  <a:srgbClr val="D35400"/>
                </a:solidFill>
                <a:effectLst/>
                <a:latin typeface="Consolas" panose="020B0609020204030204" pitchFamily="49" charset="0"/>
              </a:rPr>
              <a:t>delay</a:t>
            </a:r>
            <a:r>
              <a:rPr lang="en-US" altLang="zh-CN" sz="1400" b="0" dirty="0">
                <a:solidFill>
                  <a:srgbClr val="434F54"/>
                </a:solidFill>
                <a:effectLst/>
                <a:latin typeface="Consolas" panose="020B0609020204030204" pitchFamily="49" charset="0"/>
              </a:rPr>
              <a:t>(</a:t>
            </a:r>
            <a:r>
              <a:rPr lang="en-US" altLang="zh-CN" sz="1400" b="0" dirty="0" err="1">
                <a:solidFill>
                  <a:srgbClr val="4E5B61"/>
                </a:solidFill>
                <a:effectLst/>
                <a:latin typeface="Consolas" panose="020B0609020204030204" pitchFamily="49" charset="0"/>
              </a:rPr>
              <a:t>delayTime</a:t>
            </a:r>
            <a:r>
              <a:rPr lang="en-US" altLang="zh-CN" sz="1400" b="0" dirty="0">
                <a:solidFill>
                  <a:srgbClr val="434F54"/>
                </a:solidFill>
                <a:effectLst/>
                <a:latin typeface="Consolas" panose="020B0609020204030204" pitchFamily="49" charset="0"/>
              </a:rPr>
              <a:t>)</a:t>
            </a:r>
            <a:r>
              <a:rPr lang="en-US" altLang="zh-CN" sz="1400" b="0" dirty="0">
                <a:solidFill>
                  <a:srgbClr val="4E5B61"/>
                </a:solidFill>
                <a:effectLst/>
                <a:latin typeface="Consolas" panose="020B0609020204030204" pitchFamily="49" charset="0"/>
              </a:rPr>
              <a:t>;</a:t>
            </a:r>
          </a:p>
          <a:p>
            <a:r>
              <a:rPr lang="en-US" altLang="zh-CN" sz="1400" b="0" dirty="0">
                <a:solidFill>
                  <a:srgbClr val="4E5B61"/>
                </a:solidFill>
                <a:effectLst/>
                <a:latin typeface="Consolas" panose="020B0609020204030204" pitchFamily="49" charset="0"/>
              </a:rPr>
              <a:t>    count++;</a:t>
            </a:r>
            <a:r>
              <a:rPr lang="en-US" altLang="zh-CN" sz="1400" b="0" dirty="0">
                <a:solidFill>
                  <a:srgbClr val="95A5A6"/>
                </a:solidFill>
                <a:effectLst/>
                <a:latin typeface="Consolas" panose="020B0609020204030204" pitchFamily="49" charset="0"/>
              </a:rPr>
              <a:t>  //</a:t>
            </a:r>
            <a:r>
              <a:rPr lang="zh-CN" altLang="en-US" sz="1400" b="0" dirty="0">
                <a:solidFill>
                  <a:srgbClr val="95A5A6"/>
                </a:solidFill>
                <a:effectLst/>
                <a:latin typeface="Consolas" panose="020B0609020204030204" pitchFamily="49" charset="0"/>
              </a:rPr>
              <a:t>计数器数值自增</a:t>
            </a:r>
            <a:r>
              <a:rPr lang="en-US" altLang="zh-CN" sz="1400" b="0" dirty="0">
                <a:solidFill>
                  <a:srgbClr val="95A5A6"/>
                </a:solidFill>
                <a:effectLst/>
                <a:latin typeface="Consolas" panose="020B0609020204030204" pitchFamily="49" charset="0"/>
              </a:rPr>
              <a:t>1</a:t>
            </a:r>
            <a:endParaRPr lang="zh-CN" altLang="en-US" sz="1400" b="0" dirty="0">
              <a:solidFill>
                <a:srgbClr val="4E5B61"/>
              </a:solidFill>
              <a:effectLst/>
              <a:latin typeface="Consolas" panose="020B0609020204030204" pitchFamily="49" charset="0"/>
            </a:endParaRPr>
          </a:p>
          <a:p>
            <a:r>
              <a:rPr lang="zh-CN" altLang="en-US" sz="1400" b="0" dirty="0">
                <a:solidFill>
                  <a:srgbClr val="4E5B61"/>
                </a:solidFill>
                <a:effectLst/>
                <a:latin typeface="Consolas" panose="020B0609020204030204" pitchFamily="49" charset="0"/>
              </a:rPr>
              <a:t>  </a:t>
            </a:r>
            <a:r>
              <a:rPr lang="en-US" altLang="zh-CN" sz="1400" b="0" dirty="0">
                <a:solidFill>
                  <a:srgbClr val="434F54"/>
                </a:solidFill>
                <a:effectLst/>
                <a:latin typeface="Consolas" panose="020B0609020204030204" pitchFamily="49" charset="0"/>
              </a:rPr>
              <a:t>}</a:t>
            </a:r>
            <a:endParaRPr lang="zh-CN" altLang="en-US" sz="1400" b="0" dirty="0">
              <a:solidFill>
                <a:srgbClr val="4E5B61"/>
              </a:solidFill>
              <a:effectLst/>
              <a:latin typeface="Consolas" panose="020B0609020204030204" pitchFamily="49" charset="0"/>
            </a:endParaRPr>
          </a:p>
          <a:p>
            <a:r>
              <a:rPr lang="en-US" altLang="zh-CN" sz="1400" b="0" dirty="0">
                <a:solidFill>
                  <a:srgbClr val="434F54"/>
                </a:solidFill>
                <a:effectLst/>
                <a:latin typeface="Consolas" panose="020B0609020204030204" pitchFamily="49" charset="0"/>
              </a:rPr>
              <a:t>}</a:t>
            </a:r>
            <a:endParaRPr lang="zh-CN" altLang="en-US" sz="1400" b="0" dirty="0">
              <a:solidFill>
                <a:srgbClr val="4E5B61"/>
              </a:solidFill>
              <a:effectLst/>
              <a:latin typeface="Consolas" panose="020B0609020204030204" pitchFamily="49" charset="0"/>
            </a:endParaRPr>
          </a:p>
          <a:p>
            <a:r>
              <a:rPr lang="en-US" altLang="zh-CN" sz="1400" b="0" dirty="0">
                <a:solidFill>
                  <a:srgbClr val="00979D"/>
                </a:solidFill>
                <a:effectLst/>
                <a:latin typeface="Consolas" panose="020B0609020204030204" pitchFamily="49" charset="0"/>
              </a:rPr>
              <a:t>void</a:t>
            </a:r>
            <a:r>
              <a:rPr lang="en-US" altLang="zh-CN" sz="1400" b="0" dirty="0">
                <a:solidFill>
                  <a:srgbClr val="4E5B61"/>
                </a:solidFill>
                <a:effectLst/>
                <a:latin typeface="Consolas" panose="020B0609020204030204" pitchFamily="49" charset="0"/>
              </a:rPr>
              <a:t> </a:t>
            </a:r>
            <a:r>
              <a:rPr lang="en-US" altLang="zh-CN" sz="1400" b="0" dirty="0">
                <a:solidFill>
                  <a:srgbClr val="D35400"/>
                </a:solidFill>
                <a:effectLst/>
                <a:latin typeface="Consolas" panose="020B0609020204030204" pitchFamily="49" charset="0"/>
              </a:rPr>
              <a:t>loop</a:t>
            </a:r>
            <a:r>
              <a:rPr lang="en-US" altLang="zh-CN" sz="1400" b="0" dirty="0">
                <a:solidFill>
                  <a:srgbClr val="434F54"/>
                </a:solidFill>
                <a:effectLst/>
                <a:latin typeface="Consolas" panose="020B0609020204030204" pitchFamily="49" charset="0"/>
              </a:rPr>
              <a:t>(){</a:t>
            </a:r>
            <a:endParaRPr lang="en-US" altLang="zh-CN" sz="1400" b="0" dirty="0">
              <a:solidFill>
                <a:srgbClr val="4E5B61"/>
              </a:solidFill>
              <a:effectLst/>
              <a:latin typeface="Consolas" panose="020B0609020204030204" pitchFamily="49" charset="0"/>
            </a:endParaRPr>
          </a:p>
          <a:p>
            <a:br>
              <a:rPr lang="en-US" altLang="zh-CN" sz="1400" b="0" dirty="0">
                <a:solidFill>
                  <a:srgbClr val="4E5B61"/>
                </a:solidFill>
                <a:effectLst/>
                <a:latin typeface="Consolas" panose="020B0609020204030204" pitchFamily="49" charset="0"/>
              </a:rPr>
            </a:br>
            <a:r>
              <a:rPr lang="en-US" altLang="zh-CN" sz="1400" b="0" dirty="0">
                <a:solidFill>
                  <a:srgbClr val="434F54"/>
                </a:solidFill>
                <a:effectLst/>
                <a:latin typeface="Consolas" panose="020B0609020204030204" pitchFamily="49" charset="0"/>
              </a:rPr>
              <a:t>}</a:t>
            </a:r>
            <a:br>
              <a:rPr lang="en-US" altLang="zh-CN" sz="1400" b="0" dirty="0">
                <a:solidFill>
                  <a:srgbClr val="4E5B61"/>
                </a:solidFill>
                <a:effectLst/>
                <a:latin typeface="Consolas" panose="020B0609020204030204" pitchFamily="49" charset="0"/>
              </a:rPr>
            </a:br>
            <a:br>
              <a:rPr lang="en-US" altLang="zh-CN" sz="1400" b="0" dirty="0">
                <a:solidFill>
                  <a:srgbClr val="4E5B61"/>
                </a:solidFill>
                <a:effectLst/>
                <a:latin typeface="Consolas" panose="020B0609020204030204" pitchFamily="49" charset="0"/>
              </a:rPr>
            </a:br>
            <a:endParaRPr lang="en-US" altLang="zh-CN" sz="1400" b="0" dirty="0">
              <a:solidFill>
                <a:srgbClr val="4E5B61"/>
              </a:solidFill>
              <a:effectLst/>
              <a:latin typeface="Consolas" panose="020B0609020204030204" pitchFamily="49" charset="0"/>
            </a:endParaRPr>
          </a:p>
        </p:txBody>
      </p:sp>
      <p:sp>
        <p:nvSpPr>
          <p:cNvPr id="4" name="灯片编号占位符 3">
            <a:extLst>
              <a:ext uri="{FF2B5EF4-FFF2-40B4-BE49-F238E27FC236}">
                <a16:creationId xmlns:a16="http://schemas.microsoft.com/office/drawing/2014/main" id="{7B11AB31-8725-F2D5-FAA1-54970959D0A0}"/>
              </a:ext>
            </a:extLst>
          </p:cNvPr>
          <p:cNvSpPr>
            <a:spLocks noGrp="1"/>
          </p:cNvSpPr>
          <p:nvPr>
            <p:ph type="sldNum" sz="quarter" idx="12"/>
          </p:nvPr>
        </p:nvSpPr>
        <p:spPr/>
        <p:txBody>
          <a:bodyPr/>
          <a:lstStyle/>
          <a:p>
            <a:pPr>
              <a:defRPr/>
            </a:pPr>
            <a:fld id="{2C687883-A9F8-4324-BFDB-FCCC5C558AE8}" type="slidenum">
              <a:rPr lang="en-US" altLang="zh-CN" smtClean="0"/>
              <a:t>68</a:t>
            </a:fld>
            <a:endParaRPr lang="en-US" altLang="zh-CN"/>
          </a:p>
        </p:txBody>
      </p:sp>
    </p:spTree>
  </p:cSld>
  <p:clrMapOvr>
    <a:masterClrMapping/>
  </p:clrMapOvr>
  <p:transition>
    <p:cover dir="d"/>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a:t>
            </a:r>
            <a:r>
              <a:rPr lang="zh-CN" altLang="zh-CN" dirty="0"/>
              <a:t>语法—函数</a:t>
            </a:r>
            <a:endParaRPr lang="zh-CN" altLang="en-US" dirty="0"/>
          </a:p>
        </p:txBody>
      </p:sp>
      <p:sp>
        <p:nvSpPr>
          <p:cNvPr id="3" name="内容占位符 2"/>
          <p:cNvSpPr>
            <a:spLocks noGrp="1"/>
          </p:cNvSpPr>
          <p:nvPr>
            <p:ph idx="1"/>
          </p:nvPr>
        </p:nvSpPr>
        <p:spPr/>
        <p:txBody>
          <a:bodyPr/>
          <a:lstStyle/>
          <a:p>
            <a:pPr marL="0" indent="0" algn="just">
              <a:buNone/>
            </a:pPr>
            <a:r>
              <a:rPr lang="zh-CN" altLang="zh-CN" dirty="0"/>
              <a:t>在编写程序的过程中，有时一个功能需要多次使用，反复写同一段代码既不方便又难以维护。开发语言提供的函数无法满足特定的需求，同时，一些功能写起来并不容易，为了方便开发和阅读维护，函数的重要性便不言而喻，使用函数可以使程序变得简单。</a:t>
            </a:r>
            <a:endParaRPr lang="zh-CN" altLang="en-US" dirty="0"/>
          </a:p>
        </p:txBody>
      </p:sp>
      <p:sp>
        <p:nvSpPr>
          <p:cNvPr id="4" name="灯片编号占位符 3">
            <a:extLst>
              <a:ext uri="{FF2B5EF4-FFF2-40B4-BE49-F238E27FC236}">
                <a16:creationId xmlns:a16="http://schemas.microsoft.com/office/drawing/2014/main" id="{0B917046-F530-207A-F778-B6030BDC7D80}"/>
              </a:ext>
            </a:extLst>
          </p:cNvPr>
          <p:cNvSpPr>
            <a:spLocks noGrp="1"/>
          </p:cNvSpPr>
          <p:nvPr>
            <p:ph type="sldNum" sz="quarter" idx="12"/>
          </p:nvPr>
        </p:nvSpPr>
        <p:spPr/>
        <p:txBody>
          <a:bodyPr/>
          <a:lstStyle/>
          <a:p>
            <a:pPr>
              <a:defRPr/>
            </a:pPr>
            <a:fld id="{2C687883-A9F8-4324-BFDB-FCCC5C558AE8}" type="slidenum">
              <a:rPr lang="en-US" altLang="zh-CN" smtClean="0"/>
              <a:t>69</a:t>
            </a:fld>
            <a:endParaRPr lang="en-US" altLang="zh-CN"/>
          </a:p>
        </p:txBody>
      </p:sp>
    </p:spTree>
  </p:cSld>
  <p:clrMapOvr>
    <a:masterClrMapping/>
  </p:clrMapOvr>
  <p:transition>
    <p:cover dir="d"/>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4800" y="116115"/>
            <a:ext cx="5540829" cy="493486"/>
          </a:xfrm>
          <a:solidFill>
            <a:schemeClr val="bg1">
              <a:lumMod val="85000"/>
            </a:schemeClr>
          </a:solidFill>
        </p:spPr>
        <p:txBody>
          <a:bodyPr/>
          <a:lstStyle/>
          <a:p>
            <a:pPr algn="l"/>
            <a:r>
              <a:rPr lang="zh-CN" altLang="zh-CN" sz="3200" b="1" dirty="0"/>
              <a:t>使用闪灯函数的闪灯程序</a:t>
            </a:r>
            <a:endParaRPr lang="zh-CN" altLang="en-US" sz="3200" b="1" dirty="0"/>
          </a:p>
        </p:txBody>
      </p:sp>
      <p:sp>
        <p:nvSpPr>
          <p:cNvPr id="3" name="内容占位符 2"/>
          <p:cNvSpPr>
            <a:spLocks noGrp="1"/>
          </p:cNvSpPr>
          <p:nvPr>
            <p:ph idx="1"/>
          </p:nvPr>
        </p:nvSpPr>
        <p:spPr>
          <a:xfrm>
            <a:off x="304800" y="609601"/>
            <a:ext cx="8153400" cy="5849256"/>
          </a:xfrm>
        </p:spPr>
        <p:txBody>
          <a:bodyPr/>
          <a:lstStyle/>
          <a:p>
            <a:r>
              <a:rPr lang="en-US" altLang="zh-CN" sz="1600" b="0" dirty="0">
                <a:solidFill>
                  <a:srgbClr val="00979D"/>
                </a:solidFill>
                <a:effectLst/>
                <a:latin typeface="Consolas" panose="020B0609020204030204" pitchFamily="49" charset="0"/>
              </a:rPr>
              <a:t>int</a:t>
            </a:r>
            <a:r>
              <a:rPr lang="en-US" altLang="zh-CN" sz="1600" b="0" dirty="0">
                <a:solidFill>
                  <a:srgbClr val="4E5B61"/>
                </a:solidFill>
                <a:effectLst/>
                <a:latin typeface="Consolas" panose="020B0609020204030204" pitchFamily="49" charset="0"/>
              </a:rPr>
              <a:t> </a:t>
            </a:r>
            <a:r>
              <a:rPr lang="en-US" altLang="zh-CN" sz="1600" b="0" dirty="0" err="1">
                <a:solidFill>
                  <a:srgbClr val="4E5B61"/>
                </a:solidFill>
                <a:effectLst/>
                <a:latin typeface="Consolas" panose="020B0609020204030204" pitchFamily="49" charset="0"/>
              </a:rPr>
              <a:t>ledPin</a:t>
            </a:r>
            <a:r>
              <a:rPr lang="en-US" altLang="zh-CN" sz="1600" b="0" dirty="0">
                <a:solidFill>
                  <a:srgbClr val="4E5B61"/>
                </a:solidFill>
                <a:effectLst/>
                <a:latin typeface="Consolas" panose="020B0609020204030204" pitchFamily="49" charset="0"/>
              </a:rPr>
              <a:t> = </a:t>
            </a:r>
            <a:r>
              <a:rPr lang="en-US" altLang="zh-CN" sz="1600" b="0" dirty="0">
                <a:solidFill>
                  <a:srgbClr val="005C5F"/>
                </a:solidFill>
                <a:effectLst/>
                <a:latin typeface="Consolas" panose="020B0609020204030204" pitchFamily="49" charset="0"/>
              </a:rPr>
              <a:t>3</a:t>
            </a:r>
            <a:r>
              <a:rPr lang="en-US" altLang="zh-CN" sz="1600" b="0" dirty="0">
                <a:solidFill>
                  <a:srgbClr val="4E5B61"/>
                </a:solidFill>
                <a:effectLst/>
                <a:latin typeface="Consolas" panose="020B0609020204030204" pitchFamily="49" charset="0"/>
              </a:rPr>
              <a:t>;</a:t>
            </a:r>
          </a:p>
          <a:p>
            <a:r>
              <a:rPr lang="en-US" altLang="zh-CN" sz="1600" b="0" dirty="0">
                <a:solidFill>
                  <a:srgbClr val="00979D"/>
                </a:solidFill>
                <a:effectLst/>
                <a:latin typeface="Consolas" panose="020B0609020204030204" pitchFamily="49" charset="0"/>
              </a:rPr>
              <a:t>int</a:t>
            </a:r>
            <a:r>
              <a:rPr lang="en-US" altLang="zh-CN" sz="1600" b="0" dirty="0">
                <a:solidFill>
                  <a:srgbClr val="4E5B61"/>
                </a:solidFill>
                <a:effectLst/>
                <a:latin typeface="Consolas" panose="020B0609020204030204" pitchFamily="49" charset="0"/>
              </a:rPr>
              <a:t> </a:t>
            </a:r>
            <a:r>
              <a:rPr lang="en-US" altLang="zh-CN" sz="1600" b="0" dirty="0" err="1">
                <a:solidFill>
                  <a:srgbClr val="4E5B61"/>
                </a:solidFill>
                <a:effectLst/>
                <a:latin typeface="Consolas" panose="020B0609020204030204" pitchFamily="49" charset="0"/>
              </a:rPr>
              <a:t>delayTime</a:t>
            </a:r>
            <a:r>
              <a:rPr lang="en-US" altLang="zh-CN" sz="1600" b="0" dirty="0">
                <a:solidFill>
                  <a:srgbClr val="4E5B61"/>
                </a:solidFill>
                <a:effectLst/>
                <a:latin typeface="Consolas" panose="020B0609020204030204" pitchFamily="49" charset="0"/>
              </a:rPr>
              <a:t> = </a:t>
            </a:r>
            <a:r>
              <a:rPr lang="en-US" altLang="zh-CN" sz="1600" b="0" dirty="0">
                <a:solidFill>
                  <a:srgbClr val="005C5F"/>
                </a:solidFill>
                <a:effectLst/>
                <a:latin typeface="Consolas" panose="020B0609020204030204" pitchFamily="49" charset="0"/>
              </a:rPr>
              <a:t>1000</a:t>
            </a:r>
            <a:r>
              <a:rPr lang="en-US" altLang="zh-CN" sz="1600" b="0" dirty="0">
                <a:solidFill>
                  <a:srgbClr val="4E5B61"/>
                </a:solidFill>
                <a:effectLst/>
                <a:latin typeface="Consolas" panose="020B0609020204030204" pitchFamily="49" charset="0"/>
              </a:rPr>
              <a:t>;</a:t>
            </a:r>
            <a:r>
              <a:rPr lang="en-US" altLang="zh-CN" sz="1600" b="0" dirty="0">
                <a:solidFill>
                  <a:srgbClr val="95A5A6"/>
                </a:solidFill>
                <a:effectLst/>
                <a:latin typeface="Consolas" panose="020B0609020204030204" pitchFamily="49" charset="0"/>
              </a:rPr>
              <a:t> //</a:t>
            </a:r>
            <a:r>
              <a:rPr lang="zh-CN" altLang="en-US" sz="1600" b="0" dirty="0">
                <a:solidFill>
                  <a:srgbClr val="95A5A6"/>
                </a:solidFill>
                <a:effectLst/>
                <a:latin typeface="Consolas" panose="020B0609020204030204" pitchFamily="49" charset="0"/>
              </a:rPr>
              <a:t>定义延时变量</a:t>
            </a:r>
            <a:r>
              <a:rPr lang="en-US" altLang="zh-CN" sz="1600" b="0" dirty="0" err="1">
                <a:solidFill>
                  <a:srgbClr val="95A5A6"/>
                </a:solidFill>
                <a:effectLst/>
                <a:latin typeface="Consolas" panose="020B0609020204030204" pitchFamily="49" charset="0"/>
              </a:rPr>
              <a:t>delayTime</a:t>
            </a:r>
            <a:r>
              <a:rPr lang="zh-CN" altLang="en-US" sz="1600" b="0" dirty="0">
                <a:solidFill>
                  <a:srgbClr val="95A5A6"/>
                </a:solidFill>
                <a:effectLst/>
                <a:latin typeface="Consolas" panose="020B0609020204030204" pitchFamily="49" charset="0"/>
              </a:rPr>
              <a:t>为</a:t>
            </a:r>
            <a:r>
              <a:rPr lang="en-US" altLang="zh-CN" sz="1600" b="0" dirty="0">
                <a:solidFill>
                  <a:srgbClr val="95A5A6"/>
                </a:solidFill>
                <a:effectLst/>
                <a:latin typeface="Consolas" panose="020B0609020204030204" pitchFamily="49" charset="0"/>
              </a:rPr>
              <a:t>1s</a:t>
            </a:r>
            <a:endParaRPr lang="en-US" altLang="zh-CN" sz="1600" b="0" dirty="0">
              <a:solidFill>
                <a:srgbClr val="4E5B61"/>
              </a:solidFill>
              <a:effectLst/>
              <a:latin typeface="Consolas" panose="020B0609020204030204" pitchFamily="49" charset="0"/>
            </a:endParaRPr>
          </a:p>
          <a:p>
            <a:r>
              <a:rPr lang="en-US" altLang="zh-CN" sz="1600" b="0" dirty="0">
                <a:solidFill>
                  <a:srgbClr val="00979D"/>
                </a:solidFill>
                <a:effectLst/>
                <a:latin typeface="Consolas" panose="020B0609020204030204" pitchFamily="49" charset="0"/>
              </a:rPr>
              <a:t>int</a:t>
            </a:r>
            <a:r>
              <a:rPr lang="en-US" altLang="zh-CN" sz="1600" b="0" dirty="0">
                <a:solidFill>
                  <a:srgbClr val="4E5B61"/>
                </a:solidFill>
                <a:effectLst/>
                <a:latin typeface="Consolas" panose="020B0609020204030204" pitchFamily="49" charset="0"/>
              </a:rPr>
              <a:t> delayTime2 = </a:t>
            </a:r>
            <a:r>
              <a:rPr lang="en-US" altLang="zh-CN" sz="1600" b="0" dirty="0">
                <a:solidFill>
                  <a:srgbClr val="005C5F"/>
                </a:solidFill>
                <a:effectLst/>
                <a:latin typeface="Consolas" panose="020B0609020204030204" pitchFamily="49" charset="0"/>
              </a:rPr>
              <a:t>3000</a:t>
            </a:r>
            <a:r>
              <a:rPr lang="en-US" altLang="zh-CN" sz="1600" b="0" dirty="0">
                <a:solidFill>
                  <a:srgbClr val="4E5B61"/>
                </a:solidFill>
                <a:effectLst/>
                <a:latin typeface="Consolas" panose="020B0609020204030204" pitchFamily="49" charset="0"/>
              </a:rPr>
              <a:t>;</a:t>
            </a:r>
            <a:r>
              <a:rPr lang="en-US" altLang="zh-CN" sz="1600" b="0" dirty="0">
                <a:solidFill>
                  <a:srgbClr val="95A5A6"/>
                </a:solidFill>
                <a:effectLst/>
                <a:latin typeface="Consolas" panose="020B0609020204030204" pitchFamily="49" charset="0"/>
              </a:rPr>
              <a:t>  //</a:t>
            </a:r>
            <a:r>
              <a:rPr lang="zh-CN" altLang="en-US" sz="1600" b="0" dirty="0">
                <a:solidFill>
                  <a:srgbClr val="95A5A6"/>
                </a:solidFill>
                <a:effectLst/>
                <a:latin typeface="Consolas" panose="020B0609020204030204" pitchFamily="49" charset="0"/>
              </a:rPr>
              <a:t>定义延时变量</a:t>
            </a:r>
            <a:r>
              <a:rPr lang="en-US" altLang="zh-CN" sz="1600" b="0" dirty="0">
                <a:solidFill>
                  <a:srgbClr val="95A5A6"/>
                </a:solidFill>
                <a:effectLst/>
                <a:latin typeface="Consolas" panose="020B0609020204030204" pitchFamily="49" charset="0"/>
              </a:rPr>
              <a:t>delayTime2</a:t>
            </a:r>
            <a:r>
              <a:rPr lang="zh-CN" altLang="en-US" sz="1600" b="0" dirty="0">
                <a:solidFill>
                  <a:srgbClr val="95A5A6"/>
                </a:solidFill>
                <a:effectLst/>
                <a:latin typeface="Consolas" panose="020B0609020204030204" pitchFamily="49" charset="0"/>
              </a:rPr>
              <a:t>为</a:t>
            </a:r>
            <a:r>
              <a:rPr lang="en-US" altLang="zh-CN" sz="1600" b="0" dirty="0">
                <a:solidFill>
                  <a:srgbClr val="95A5A6"/>
                </a:solidFill>
                <a:effectLst/>
                <a:latin typeface="Consolas" panose="020B0609020204030204" pitchFamily="49" charset="0"/>
              </a:rPr>
              <a:t>3s</a:t>
            </a:r>
            <a:endParaRPr lang="en-US" altLang="zh-CN" sz="1600" b="0" dirty="0">
              <a:solidFill>
                <a:srgbClr val="4E5B61"/>
              </a:solidFill>
              <a:effectLst/>
              <a:latin typeface="Consolas" panose="020B0609020204030204" pitchFamily="49" charset="0"/>
            </a:endParaRPr>
          </a:p>
          <a:p>
            <a:br>
              <a:rPr lang="en-US" altLang="zh-CN" sz="1600" b="0" dirty="0">
                <a:solidFill>
                  <a:srgbClr val="4E5B61"/>
                </a:solidFill>
                <a:effectLst/>
                <a:latin typeface="Consolas" panose="020B0609020204030204" pitchFamily="49" charset="0"/>
              </a:rPr>
            </a:br>
            <a:r>
              <a:rPr lang="en-US" altLang="zh-CN" sz="1600" b="0" dirty="0">
                <a:solidFill>
                  <a:srgbClr val="00979D"/>
                </a:solidFill>
                <a:effectLst/>
                <a:latin typeface="Consolas" panose="020B0609020204030204" pitchFamily="49" charset="0"/>
              </a:rPr>
              <a:t>void</a:t>
            </a:r>
            <a:r>
              <a:rPr lang="en-US" altLang="zh-CN" sz="1600" b="0" dirty="0">
                <a:solidFill>
                  <a:srgbClr val="4E5B61"/>
                </a:solidFill>
                <a:effectLst/>
                <a:latin typeface="Consolas" panose="020B0609020204030204" pitchFamily="49" charset="0"/>
              </a:rPr>
              <a:t> </a:t>
            </a:r>
            <a:r>
              <a:rPr lang="en-US" altLang="zh-CN" sz="1600" b="0" dirty="0">
                <a:solidFill>
                  <a:srgbClr val="D35400"/>
                </a:solidFill>
                <a:effectLst/>
                <a:latin typeface="Consolas" panose="020B0609020204030204" pitchFamily="49" charset="0"/>
              </a:rPr>
              <a:t>flash</a:t>
            </a:r>
            <a:r>
              <a:rPr lang="en-US" altLang="zh-CN" sz="1600" b="0" dirty="0">
                <a:solidFill>
                  <a:srgbClr val="434F54"/>
                </a:solidFill>
                <a:effectLst/>
                <a:latin typeface="Consolas" panose="020B0609020204030204" pitchFamily="49" charset="0"/>
              </a:rPr>
              <a:t>(</a:t>
            </a:r>
            <a:r>
              <a:rPr lang="en-US" altLang="zh-CN" sz="1600" b="0" dirty="0">
                <a:solidFill>
                  <a:srgbClr val="00979D"/>
                </a:solidFill>
                <a:effectLst/>
                <a:latin typeface="Consolas" panose="020B0609020204030204" pitchFamily="49" charset="0"/>
              </a:rPr>
              <a:t>int</a:t>
            </a:r>
            <a:r>
              <a:rPr lang="en-US" altLang="zh-CN" sz="1600" b="0" dirty="0">
                <a:solidFill>
                  <a:srgbClr val="4E5B61"/>
                </a:solidFill>
                <a:effectLst/>
                <a:latin typeface="Consolas" panose="020B0609020204030204" pitchFamily="49" charset="0"/>
              </a:rPr>
              <a:t> </a:t>
            </a:r>
            <a:r>
              <a:rPr lang="en-US" altLang="zh-CN" sz="1600" b="0" dirty="0">
                <a:solidFill>
                  <a:srgbClr val="434F54"/>
                </a:solidFill>
                <a:effectLst/>
                <a:latin typeface="Consolas" panose="020B0609020204030204" pitchFamily="49" charset="0"/>
              </a:rPr>
              <a:t>delayTime3)</a:t>
            </a:r>
            <a:r>
              <a:rPr lang="en-US" altLang="zh-CN" sz="1600" b="0" dirty="0">
                <a:solidFill>
                  <a:srgbClr val="4E5B61"/>
                </a:solidFill>
                <a:effectLst/>
                <a:latin typeface="Consolas" panose="020B0609020204030204" pitchFamily="49" charset="0"/>
              </a:rPr>
              <a:t>  </a:t>
            </a:r>
            <a:r>
              <a:rPr lang="en-US" altLang="zh-CN" sz="1600" b="0" dirty="0">
                <a:solidFill>
                  <a:srgbClr val="434F54"/>
                </a:solidFill>
                <a:effectLst/>
                <a:latin typeface="Consolas" panose="020B0609020204030204" pitchFamily="49" charset="0"/>
              </a:rPr>
              <a:t>{</a:t>
            </a:r>
            <a:r>
              <a:rPr lang="en-US" altLang="zh-CN" sz="1600" b="0" dirty="0">
                <a:solidFill>
                  <a:srgbClr val="95A5A6"/>
                </a:solidFill>
                <a:effectLst/>
                <a:latin typeface="Consolas" panose="020B0609020204030204" pitchFamily="49" charset="0"/>
              </a:rPr>
              <a:t> //</a:t>
            </a:r>
            <a:r>
              <a:rPr lang="zh-CN" altLang="en-US" sz="1600" b="0" dirty="0">
                <a:solidFill>
                  <a:srgbClr val="95A5A6"/>
                </a:solidFill>
                <a:effectLst/>
                <a:latin typeface="Consolas" panose="020B0609020204030204" pitchFamily="49" charset="0"/>
              </a:rPr>
              <a:t>定义具有参数的闪灯函数</a:t>
            </a:r>
            <a:endParaRPr lang="zh-CN" altLang="en-US" sz="1600" b="0" dirty="0">
              <a:solidFill>
                <a:srgbClr val="4E5B61"/>
              </a:solidFill>
              <a:effectLst/>
              <a:latin typeface="Consolas" panose="020B0609020204030204" pitchFamily="49" charset="0"/>
            </a:endParaRPr>
          </a:p>
          <a:p>
            <a:r>
              <a:rPr lang="zh-CN" altLang="en-US" sz="1600" b="0" dirty="0">
                <a:solidFill>
                  <a:srgbClr val="4E5B61"/>
                </a:solidFill>
                <a:effectLst/>
                <a:latin typeface="Consolas" panose="020B0609020204030204" pitchFamily="49" charset="0"/>
              </a:rPr>
              <a:t>  </a:t>
            </a:r>
            <a:r>
              <a:rPr lang="en-US" altLang="zh-CN" sz="1600" b="0" dirty="0" err="1">
                <a:solidFill>
                  <a:srgbClr val="D35400"/>
                </a:solidFill>
                <a:effectLst/>
                <a:latin typeface="Consolas" panose="020B0609020204030204" pitchFamily="49" charset="0"/>
              </a:rPr>
              <a:t>digitalWrite</a:t>
            </a:r>
            <a:r>
              <a:rPr lang="en-US" altLang="zh-CN" sz="1600" b="0" dirty="0">
                <a:solidFill>
                  <a:srgbClr val="434F54"/>
                </a:solidFill>
                <a:effectLst/>
                <a:latin typeface="Consolas" panose="020B0609020204030204" pitchFamily="49" charset="0"/>
              </a:rPr>
              <a:t>(</a:t>
            </a:r>
            <a:r>
              <a:rPr lang="en-US" altLang="zh-CN" sz="1600" b="0" dirty="0" err="1">
                <a:solidFill>
                  <a:srgbClr val="4E5B61"/>
                </a:solidFill>
                <a:effectLst/>
                <a:latin typeface="Consolas" panose="020B0609020204030204" pitchFamily="49" charset="0"/>
              </a:rPr>
              <a:t>ledPin,HIGH</a:t>
            </a:r>
            <a:r>
              <a:rPr lang="en-US" altLang="zh-CN" sz="1600" b="0" dirty="0">
                <a:solidFill>
                  <a:srgbClr val="434F54"/>
                </a:solidFill>
                <a:effectLst/>
                <a:latin typeface="Consolas" panose="020B0609020204030204" pitchFamily="49" charset="0"/>
              </a:rPr>
              <a:t>)</a:t>
            </a:r>
            <a:r>
              <a:rPr lang="en-US" altLang="zh-CN" sz="1600" b="0" dirty="0">
                <a:solidFill>
                  <a:srgbClr val="4E5B61"/>
                </a:solidFill>
                <a:effectLst/>
                <a:latin typeface="Consolas" panose="020B0609020204030204" pitchFamily="49" charset="0"/>
              </a:rPr>
              <a:t>;</a:t>
            </a:r>
          </a:p>
          <a:p>
            <a:r>
              <a:rPr lang="en-US" altLang="zh-CN" sz="1600" b="0" dirty="0">
                <a:solidFill>
                  <a:srgbClr val="4E5B61"/>
                </a:solidFill>
                <a:effectLst/>
                <a:latin typeface="Consolas" panose="020B0609020204030204" pitchFamily="49" charset="0"/>
              </a:rPr>
              <a:t>  </a:t>
            </a:r>
            <a:r>
              <a:rPr lang="en-US" altLang="zh-CN" sz="1600" b="0" dirty="0">
                <a:solidFill>
                  <a:srgbClr val="D35400"/>
                </a:solidFill>
                <a:effectLst/>
                <a:latin typeface="Consolas" panose="020B0609020204030204" pitchFamily="49" charset="0"/>
              </a:rPr>
              <a:t>delay</a:t>
            </a:r>
            <a:r>
              <a:rPr lang="en-US" altLang="zh-CN" sz="1600" b="0" dirty="0">
                <a:solidFill>
                  <a:srgbClr val="434F54"/>
                </a:solidFill>
                <a:effectLst/>
                <a:latin typeface="Consolas" panose="020B0609020204030204" pitchFamily="49" charset="0"/>
              </a:rPr>
              <a:t>(</a:t>
            </a:r>
            <a:r>
              <a:rPr lang="en-US" altLang="zh-CN" sz="1600" b="0" dirty="0">
                <a:solidFill>
                  <a:srgbClr val="4E5B61"/>
                </a:solidFill>
                <a:effectLst/>
                <a:latin typeface="Consolas" panose="020B0609020204030204" pitchFamily="49" charset="0"/>
              </a:rPr>
              <a:t>delayTime3</a:t>
            </a:r>
            <a:r>
              <a:rPr lang="en-US" altLang="zh-CN" sz="1600" b="0" dirty="0">
                <a:solidFill>
                  <a:srgbClr val="434F54"/>
                </a:solidFill>
                <a:effectLst/>
                <a:latin typeface="Consolas" panose="020B0609020204030204" pitchFamily="49" charset="0"/>
              </a:rPr>
              <a:t>)</a:t>
            </a:r>
            <a:r>
              <a:rPr lang="en-US" altLang="zh-CN" sz="1600" b="0" dirty="0">
                <a:solidFill>
                  <a:srgbClr val="4E5B61"/>
                </a:solidFill>
                <a:effectLst/>
                <a:latin typeface="Consolas" panose="020B0609020204030204" pitchFamily="49" charset="0"/>
              </a:rPr>
              <a:t>;</a:t>
            </a:r>
          </a:p>
          <a:p>
            <a:r>
              <a:rPr lang="en-US" altLang="zh-CN" sz="1600" b="0" dirty="0">
                <a:solidFill>
                  <a:srgbClr val="4E5B61"/>
                </a:solidFill>
                <a:effectLst/>
                <a:latin typeface="Consolas" panose="020B0609020204030204" pitchFamily="49" charset="0"/>
              </a:rPr>
              <a:t>  </a:t>
            </a:r>
            <a:r>
              <a:rPr lang="en-US" altLang="zh-CN" sz="1600" b="0" dirty="0" err="1">
                <a:solidFill>
                  <a:srgbClr val="D35400"/>
                </a:solidFill>
                <a:effectLst/>
                <a:latin typeface="Consolas" panose="020B0609020204030204" pitchFamily="49" charset="0"/>
              </a:rPr>
              <a:t>digitalWrite</a:t>
            </a:r>
            <a:r>
              <a:rPr lang="en-US" altLang="zh-CN" sz="1600" b="0" dirty="0">
                <a:solidFill>
                  <a:srgbClr val="434F54"/>
                </a:solidFill>
                <a:effectLst/>
                <a:latin typeface="Consolas" panose="020B0609020204030204" pitchFamily="49" charset="0"/>
              </a:rPr>
              <a:t>(</a:t>
            </a:r>
            <a:r>
              <a:rPr lang="en-US" altLang="zh-CN" sz="1600" b="0" dirty="0" err="1">
                <a:solidFill>
                  <a:srgbClr val="4E5B61"/>
                </a:solidFill>
                <a:effectLst/>
                <a:latin typeface="Consolas" panose="020B0609020204030204" pitchFamily="49" charset="0"/>
              </a:rPr>
              <a:t>ledPin,LOW</a:t>
            </a:r>
            <a:r>
              <a:rPr lang="en-US" altLang="zh-CN" sz="1600" b="0" dirty="0">
                <a:solidFill>
                  <a:srgbClr val="434F54"/>
                </a:solidFill>
                <a:effectLst/>
                <a:latin typeface="Consolas" panose="020B0609020204030204" pitchFamily="49" charset="0"/>
              </a:rPr>
              <a:t>)</a:t>
            </a:r>
            <a:r>
              <a:rPr lang="en-US" altLang="zh-CN" sz="1600" b="0" dirty="0">
                <a:solidFill>
                  <a:srgbClr val="4E5B61"/>
                </a:solidFill>
                <a:effectLst/>
                <a:latin typeface="Consolas" panose="020B0609020204030204" pitchFamily="49" charset="0"/>
              </a:rPr>
              <a:t>;</a:t>
            </a:r>
          </a:p>
          <a:p>
            <a:r>
              <a:rPr lang="en-US" altLang="zh-CN" sz="1600" b="0" dirty="0">
                <a:solidFill>
                  <a:srgbClr val="4E5B61"/>
                </a:solidFill>
                <a:effectLst/>
                <a:latin typeface="Consolas" panose="020B0609020204030204" pitchFamily="49" charset="0"/>
              </a:rPr>
              <a:t>  </a:t>
            </a:r>
            <a:r>
              <a:rPr lang="en-US" altLang="zh-CN" sz="1600" b="0" dirty="0">
                <a:solidFill>
                  <a:srgbClr val="D35400"/>
                </a:solidFill>
                <a:effectLst/>
                <a:latin typeface="Consolas" panose="020B0609020204030204" pitchFamily="49" charset="0"/>
              </a:rPr>
              <a:t>delay</a:t>
            </a:r>
            <a:r>
              <a:rPr lang="en-US" altLang="zh-CN" sz="1600" b="0" dirty="0">
                <a:solidFill>
                  <a:srgbClr val="434F54"/>
                </a:solidFill>
                <a:effectLst/>
                <a:latin typeface="Consolas" panose="020B0609020204030204" pitchFamily="49" charset="0"/>
              </a:rPr>
              <a:t>(</a:t>
            </a:r>
            <a:r>
              <a:rPr lang="en-US" altLang="zh-CN" sz="1600" b="0" dirty="0">
                <a:solidFill>
                  <a:srgbClr val="4E5B61"/>
                </a:solidFill>
                <a:effectLst/>
                <a:latin typeface="Consolas" panose="020B0609020204030204" pitchFamily="49" charset="0"/>
              </a:rPr>
              <a:t>delayTime3</a:t>
            </a:r>
            <a:r>
              <a:rPr lang="en-US" altLang="zh-CN" sz="1600" b="0" dirty="0">
                <a:solidFill>
                  <a:srgbClr val="434F54"/>
                </a:solidFill>
                <a:effectLst/>
                <a:latin typeface="Consolas" panose="020B0609020204030204" pitchFamily="49" charset="0"/>
              </a:rPr>
              <a:t>)</a:t>
            </a:r>
            <a:r>
              <a:rPr lang="en-US" altLang="zh-CN" sz="1600" b="0" dirty="0">
                <a:solidFill>
                  <a:srgbClr val="4E5B61"/>
                </a:solidFill>
                <a:effectLst/>
                <a:latin typeface="Consolas" panose="020B0609020204030204" pitchFamily="49" charset="0"/>
              </a:rPr>
              <a:t>;</a:t>
            </a:r>
          </a:p>
          <a:p>
            <a:r>
              <a:rPr lang="en-US" altLang="zh-CN" sz="1600" b="0" dirty="0">
                <a:solidFill>
                  <a:srgbClr val="434F54"/>
                </a:solidFill>
                <a:effectLst/>
                <a:latin typeface="Consolas" panose="020B0609020204030204" pitchFamily="49" charset="0"/>
              </a:rPr>
              <a:t>}</a:t>
            </a:r>
            <a:endParaRPr lang="en-US" altLang="zh-CN" sz="1600" b="0" dirty="0">
              <a:solidFill>
                <a:srgbClr val="4E5B61"/>
              </a:solidFill>
              <a:effectLst/>
              <a:latin typeface="Consolas" panose="020B0609020204030204" pitchFamily="49" charset="0"/>
            </a:endParaRPr>
          </a:p>
          <a:p>
            <a:br>
              <a:rPr lang="en-US" altLang="zh-CN" sz="1600" b="0" dirty="0">
                <a:solidFill>
                  <a:srgbClr val="4E5B61"/>
                </a:solidFill>
                <a:effectLst/>
                <a:latin typeface="Consolas" panose="020B0609020204030204" pitchFamily="49" charset="0"/>
              </a:rPr>
            </a:br>
            <a:r>
              <a:rPr lang="en-US" altLang="zh-CN" sz="1600" b="0" dirty="0">
                <a:solidFill>
                  <a:srgbClr val="00979D"/>
                </a:solidFill>
                <a:effectLst/>
                <a:latin typeface="Consolas" panose="020B0609020204030204" pitchFamily="49" charset="0"/>
              </a:rPr>
              <a:t>void</a:t>
            </a:r>
            <a:r>
              <a:rPr lang="en-US" altLang="zh-CN" sz="1600" b="0" dirty="0">
                <a:solidFill>
                  <a:srgbClr val="4E5B61"/>
                </a:solidFill>
                <a:effectLst/>
                <a:latin typeface="Consolas" panose="020B0609020204030204" pitchFamily="49" charset="0"/>
              </a:rPr>
              <a:t> </a:t>
            </a:r>
            <a:r>
              <a:rPr lang="en-US" altLang="zh-CN" sz="1600" b="0" dirty="0">
                <a:solidFill>
                  <a:srgbClr val="D35400"/>
                </a:solidFill>
                <a:effectLst/>
                <a:latin typeface="Consolas" panose="020B0609020204030204" pitchFamily="49" charset="0"/>
              </a:rPr>
              <a:t>setup</a:t>
            </a:r>
            <a:r>
              <a:rPr lang="en-US" altLang="zh-CN" sz="1600" b="0" dirty="0">
                <a:solidFill>
                  <a:srgbClr val="434F54"/>
                </a:solidFill>
                <a:effectLst/>
                <a:latin typeface="Consolas" panose="020B0609020204030204" pitchFamily="49" charset="0"/>
              </a:rPr>
              <a:t>(){</a:t>
            </a:r>
            <a:endParaRPr lang="en-US" altLang="zh-CN" sz="1600" b="0" dirty="0">
              <a:solidFill>
                <a:srgbClr val="4E5B61"/>
              </a:solidFill>
              <a:effectLst/>
              <a:latin typeface="Consolas" panose="020B0609020204030204" pitchFamily="49" charset="0"/>
            </a:endParaRPr>
          </a:p>
          <a:p>
            <a:r>
              <a:rPr lang="en-US" altLang="zh-CN" sz="1600" b="0" dirty="0">
                <a:solidFill>
                  <a:srgbClr val="4E5B61"/>
                </a:solidFill>
                <a:effectLst/>
                <a:latin typeface="Consolas" panose="020B0609020204030204" pitchFamily="49" charset="0"/>
              </a:rPr>
              <a:t>  </a:t>
            </a:r>
            <a:r>
              <a:rPr lang="en-US" altLang="zh-CN" sz="1600" b="0" dirty="0" err="1">
                <a:solidFill>
                  <a:srgbClr val="D35400"/>
                </a:solidFill>
                <a:effectLst/>
                <a:latin typeface="Consolas" panose="020B0609020204030204" pitchFamily="49" charset="0"/>
              </a:rPr>
              <a:t>pinMode</a:t>
            </a:r>
            <a:r>
              <a:rPr lang="en-US" altLang="zh-CN" sz="1600" b="0" dirty="0">
                <a:solidFill>
                  <a:srgbClr val="434F54"/>
                </a:solidFill>
                <a:effectLst/>
                <a:latin typeface="Consolas" panose="020B0609020204030204" pitchFamily="49" charset="0"/>
              </a:rPr>
              <a:t>(</a:t>
            </a:r>
            <a:r>
              <a:rPr lang="en-US" altLang="zh-CN" sz="1600" b="0" dirty="0" err="1">
                <a:solidFill>
                  <a:srgbClr val="4E5B61"/>
                </a:solidFill>
                <a:effectLst/>
                <a:latin typeface="Consolas" panose="020B0609020204030204" pitchFamily="49" charset="0"/>
              </a:rPr>
              <a:t>ledPin,OUTPUT</a:t>
            </a:r>
            <a:r>
              <a:rPr lang="en-US" altLang="zh-CN" sz="1600" b="0" dirty="0">
                <a:solidFill>
                  <a:srgbClr val="434F54"/>
                </a:solidFill>
                <a:effectLst/>
                <a:latin typeface="Consolas" panose="020B0609020204030204" pitchFamily="49" charset="0"/>
              </a:rPr>
              <a:t>)</a:t>
            </a:r>
            <a:r>
              <a:rPr lang="en-US" altLang="zh-CN" sz="1600" b="0" dirty="0">
                <a:solidFill>
                  <a:srgbClr val="4E5B61"/>
                </a:solidFill>
                <a:effectLst/>
                <a:latin typeface="Consolas" panose="020B0609020204030204" pitchFamily="49" charset="0"/>
              </a:rPr>
              <a:t>;</a:t>
            </a:r>
          </a:p>
          <a:p>
            <a:r>
              <a:rPr lang="en-US" altLang="zh-CN" sz="1600" b="0" dirty="0">
                <a:solidFill>
                  <a:srgbClr val="434F54"/>
                </a:solidFill>
                <a:effectLst/>
                <a:latin typeface="Consolas" panose="020B0609020204030204" pitchFamily="49" charset="0"/>
              </a:rPr>
              <a:t>}</a:t>
            </a:r>
            <a:endParaRPr lang="en-US" altLang="zh-CN" sz="1600" b="0" dirty="0">
              <a:solidFill>
                <a:srgbClr val="4E5B61"/>
              </a:solidFill>
              <a:effectLst/>
              <a:latin typeface="Consolas" panose="020B0609020204030204" pitchFamily="49" charset="0"/>
            </a:endParaRPr>
          </a:p>
          <a:p>
            <a:r>
              <a:rPr lang="en-US" altLang="zh-CN" sz="1600" b="0" dirty="0">
                <a:solidFill>
                  <a:srgbClr val="00979D"/>
                </a:solidFill>
                <a:effectLst/>
                <a:latin typeface="Consolas" panose="020B0609020204030204" pitchFamily="49" charset="0"/>
              </a:rPr>
              <a:t>void</a:t>
            </a:r>
            <a:r>
              <a:rPr lang="en-US" altLang="zh-CN" sz="1600" b="0" dirty="0">
                <a:solidFill>
                  <a:srgbClr val="4E5B61"/>
                </a:solidFill>
                <a:effectLst/>
                <a:latin typeface="Consolas" panose="020B0609020204030204" pitchFamily="49" charset="0"/>
              </a:rPr>
              <a:t> </a:t>
            </a:r>
            <a:r>
              <a:rPr lang="en-US" altLang="zh-CN" sz="1600" b="0" dirty="0">
                <a:solidFill>
                  <a:srgbClr val="D35400"/>
                </a:solidFill>
                <a:effectLst/>
                <a:latin typeface="Consolas" panose="020B0609020204030204" pitchFamily="49" charset="0"/>
              </a:rPr>
              <a:t>loop</a:t>
            </a:r>
            <a:r>
              <a:rPr lang="en-US" altLang="zh-CN" sz="1600" b="0" dirty="0">
                <a:solidFill>
                  <a:srgbClr val="434F54"/>
                </a:solidFill>
                <a:effectLst/>
                <a:latin typeface="Consolas" panose="020B0609020204030204" pitchFamily="49" charset="0"/>
              </a:rPr>
              <a:t>(){</a:t>
            </a:r>
            <a:r>
              <a:rPr lang="en-US" altLang="zh-CN" sz="1600" b="0" dirty="0">
                <a:solidFill>
                  <a:srgbClr val="4E5B61"/>
                </a:solidFill>
                <a:effectLst/>
                <a:latin typeface="Consolas" panose="020B0609020204030204" pitchFamily="49" charset="0"/>
              </a:rPr>
              <a:t>  </a:t>
            </a:r>
          </a:p>
          <a:p>
            <a:r>
              <a:rPr lang="en-US" altLang="zh-CN" sz="1600" b="0" dirty="0">
                <a:solidFill>
                  <a:srgbClr val="4E5B61"/>
                </a:solidFill>
                <a:effectLst/>
                <a:latin typeface="Consolas" panose="020B0609020204030204" pitchFamily="49" charset="0"/>
              </a:rPr>
              <a:t>  </a:t>
            </a:r>
            <a:r>
              <a:rPr lang="en-US" altLang="zh-CN" sz="1600" b="0" dirty="0">
                <a:solidFill>
                  <a:srgbClr val="728E00"/>
                </a:solidFill>
                <a:effectLst/>
                <a:latin typeface="Consolas" panose="020B0609020204030204" pitchFamily="49" charset="0"/>
              </a:rPr>
              <a:t>for</a:t>
            </a:r>
            <a:r>
              <a:rPr lang="en-US" altLang="zh-CN" sz="1600" b="0" dirty="0">
                <a:solidFill>
                  <a:srgbClr val="434F54"/>
                </a:solidFill>
                <a:effectLst/>
                <a:latin typeface="Consolas" panose="020B0609020204030204" pitchFamily="49" charset="0"/>
              </a:rPr>
              <a:t>(</a:t>
            </a:r>
            <a:r>
              <a:rPr lang="en-US" altLang="zh-CN" sz="1600" b="0" dirty="0">
                <a:solidFill>
                  <a:srgbClr val="00979D"/>
                </a:solidFill>
                <a:effectLst/>
                <a:latin typeface="Consolas" panose="020B0609020204030204" pitchFamily="49" charset="0"/>
              </a:rPr>
              <a:t>int</a:t>
            </a:r>
            <a:r>
              <a:rPr lang="en-US" altLang="zh-CN" sz="1600" b="0" dirty="0">
                <a:solidFill>
                  <a:srgbClr val="4E5B61"/>
                </a:solidFill>
                <a:effectLst/>
                <a:latin typeface="Consolas" panose="020B0609020204030204" pitchFamily="49" charset="0"/>
              </a:rPr>
              <a:t> count=</a:t>
            </a:r>
            <a:r>
              <a:rPr lang="en-US" altLang="zh-CN" sz="1600" b="0" dirty="0">
                <a:solidFill>
                  <a:srgbClr val="005C5F"/>
                </a:solidFill>
                <a:effectLst/>
                <a:latin typeface="Consolas" panose="020B0609020204030204" pitchFamily="49" charset="0"/>
              </a:rPr>
              <a:t>0</a:t>
            </a:r>
            <a:r>
              <a:rPr lang="en-US" altLang="zh-CN" sz="1600" b="0" dirty="0">
                <a:solidFill>
                  <a:srgbClr val="4E5B61"/>
                </a:solidFill>
                <a:effectLst/>
                <a:latin typeface="Consolas" panose="020B0609020204030204" pitchFamily="49" charset="0"/>
              </a:rPr>
              <a:t>;count&lt;</a:t>
            </a:r>
            <a:r>
              <a:rPr lang="en-US" altLang="zh-CN" sz="1600" b="0" dirty="0">
                <a:solidFill>
                  <a:srgbClr val="005C5F"/>
                </a:solidFill>
                <a:effectLst/>
                <a:latin typeface="Consolas" panose="020B0609020204030204" pitchFamily="49" charset="0"/>
              </a:rPr>
              <a:t>3</a:t>
            </a:r>
            <a:r>
              <a:rPr lang="en-US" altLang="zh-CN" sz="1600" b="0" dirty="0">
                <a:solidFill>
                  <a:srgbClr val="4E5B61"/>
                </a:solidFill>
                <a:effectLst/>
                <a:latin typeface="Consolas" panose="020B0609020204030204" pitchFamily="49" charset="0"/>
              </a:rPr>
              <a:t>;count ++</a:t>
            </a:r>
            <a:r>
              <a:rPr lang="en-US" altLang="zh-CN" sz="1600" b="0" dirty="0">
                <a:solidFill>
                  <a:srgbClr val="434F54"/>
                </a:solidFill>
                <a:effectLst/>
                <a:latin typeface="Consolas" panose="020B0609020204030204" pitchFamily="49" charset="0"/>
              </a:rPr>
              <a:t>)</a:t>
            </a:r>
            <a:r>
              <a:rPr lang="en-US" altLang="zh-CN" sz="1600" b="0" dirty="0">
                <a:solidFill>
                  <a:srgbClr val="4E5B61"/>
                </a:solidFill>
                <a:effectLst/>
                <a:latin typeface="Consolas" panose="020B0609020204030204" pitchFamily="49" charset="0"/>
              </a:rPr>
              <a:t> </a:t>
            </a:r>
            <a:r>
              <a:rPr lang="en-US" altLang="zh-CN" sz="1600" b="0" dirty="0">
                <a:solidFill>
                  <a:srgbClr val="434F54"/>
                </a:solidFill>
                <a:effectLst/>
                <a:latin typeface="Consolas" panose="020B0609020204030204" pitchFamily="49" charset="0"/>
              </a:rPr>
              <a:t>{</a:t>
            </a:r>
            <a:endParaRPr lang="en-US" altLang="zh-CN" sz="1600" b="0" dirty="0">
              <a:solidFill>
                <a:srgbClr val="4E5B61"/>
              </a:solidFill>
              <a:effectLst/>
              <a:latin typeface="Consolas" panose="020B0609020204030204" pitchFamily="49" charset="0"/>
            </a:endParaRPr>
          </a:p>
          <a:p>
            <a:r>
              <a:rPr lang="en-US" altLang="zh-CN" sz="1600" b="0" dirty="0">
                <a:solidFill>
                  <a:srgbClr val="4E5B61"/>
                </a:solidFill>
                <a:effectLst/>
                <a:latin typeface="Consolas" panose="020B0609020204030204" pitchFamily="49" charset="0"/>
              </a:rPr>
              <a:t>    </a:t>
            </a:r>
            <a:r>
              <a:rPr lang="en-US" altLang="zh-CN" sz="1600" b="0" dirty="0">
                <a:solidFill>
                  <a:srgbClr val="D35400"/>
                </a:solidFill>
                <a:effectLst/>
                <a:latin typeface="Consolas" panose="020B0609020204030204" pitchFamily="49" charset="0"/>
              </a:rPr>
              <a:t>flash</a:t>
            </a:r>
            <a:r>
              <a:rPr lang="en-US" altLang="zh-CN" sz="1600" b="0" dirty="0">
                <a:solidFill>
                  <a:srgbClr val="434F54"/>
                </a:solidFill>
                <a:effectLst/>
                <a:latin typeface="Consolas" panose="020B0609020204030204" pitchFamily="49" charset="0"/>
              </a:rPr>
              <a:t>(</a:t>
            </a:r>
            <a:r>
              <a:rPr lang="en-US" altLang="zh-CN" sz="1600" b="0" dirty="0" err="1">
                <a:solidFill>
                  <a:srgbClr val="4E5B61"/>
                </a:solidFill>
                <a:effectLst/>
                <a:latin typeface="Consolas" panose="020B0609020204030204" pitchFamily="49" charset="0"/>
              </a:rPr>
              <a:t>delayTime</a:t>
            </a:r>
            <a:r>
              <a:rPr lang="en-US" altLang="zh-CN" sz="1600" b="0" dirty="0">
                <a:solidFill>
                  <a:srgbClr val="434F54"/>
                </a:solidFill>
                <a:effectLst/>
                <a:latin typeface="Consolas" panose="020B0609020204030204" pitchFamily="49" charset="0"/>
              </a:rPr>
              <a:t>)</a:t>
            </a:r>
            <a:r>
              <a:rPr lang="en-US" altLang="zh-CN" sz="1600" b="0" dirty="0">
                <a:solidFill>
                  <a:srgbClr val="4E5B61"/>
                </a:solidFill>
                <a:effectLst/>
                <a:latin typeface="Consolas" panose="020B0609020204030204" pitchFamily="49" charset="0"/>
              </a:rPr>
              <a:t>;</a:t>
            </a:r>
            <a:r>
              <a:rPr lang="en-US" altLang="zh-CN" sz="1600" b="0" dirty="0">
                <a:solidFill>
                  <a:srgbClr val="95A5A6"/>
                </a:solidFill>
                <a:effectLst/>
                <a:latin typeface="Consolas" panose="020B0609020204030204" pitchFamily="49" charset="0"/>
              </a:rPr>
              <a:t>   //</a:t>
            </a:r>
            <a:r>
              <a:rPr lang="zh-CN" altLang="en-US" sz="1600" b="0" dirty="0">
                <a:solidFill>
                  <a:srgbClr val="95A5A6"/>
                </a:solidFill>
                <a:effectLst/>
                <a:latin typeface="Consolas" panose="020B0609020204030204" pitchFamily="49" charset="0"/>
              </a:rPr>
              <a:t>调用</a:t>
            </a:r>
            <a:r>
              <a:rPr lang="en-US" altLang="zh-CN" sz="1600" b="0" dirty="0">
                <a:solidFill>
                  <a:srgbClr val="95A5A6"/>
                </a:solidFill>
                <a:effectLst/>
                <a:latin typeface="Consolas" panose="020B0609020204030204" pitchFamily="49" charset="0"/>
              </a:rPr>
              <a:t>3</a:t>
            </a:r>
            <a:r>
              <a:rPr lang="zh-CN" altLang="en-US" sz="1600" b="0" dirty="0">
                <a:solidFill>
                  <a:srgbClr val="95A5A6"/>
                </a:solidFill>
                <a:effectLst/>
                <a:latin typeface="Consolas" panose="020B0609020204030204" pitchFamily="49" charset="0"/>
              </a:rPr>
              <a:t>次闪烁灯光的函数 </a:t>
            </a:r>
            <a:endParaRPr lang="zh-CN" altLang="en-US" sz="1600" b="0" dirty="0">
              <a:solidFill>
                <a:srgbClr val="4E5B61"/>
              </a:solidFill>
              <a:effectLst/>
              <a:latin typeface="Consolas" panose="020B0609020204030204" pitchFamily="49" charset="0"/>
            </a:endParaRPr>
          </a:p>
          <a:p>
            <a:r>
              <a:rPr lang="zh-CN" altLang="en-US" sz="1600" b="0" dirty="0">
                <a:solidFill>
                  <a:srgbClr val="4E5B61"/>
                </a:solidFill>
                <a:effectLst/>
                <a:latin typeface="Consolas" panose="020B0609020204030204" pitchFamily="49" charset="0"/>
              </a:rPr>
              <a:t>  </a:t>
            </a:r>
            <a:r>
              <a:rPr lang="en-US" altLang="zh-CN" sz="1600" b="0" dirty="0">
                <a:solidFill>
                  <a:srgbClr val="434F54"/>
                </a:solidFill>
                <a:effectLst/>
                <a:latin typeface="Consolas" panose="020B0609020204030204" pitchFamily="49" charset="0"/>
              </a:rPr>
              <a:t>}</a:t>
            </a:r>
            <a:endParaRPr lang="zh-CN" altLang="en-US" sz="1600" b="0" dirty="0">
              <a:solidFill>
                <a:srgbClr val="4E5B61"/>
              </a:solidFill>
              <a:effectLst/>
              <a:latin typeface="Consolas" panose="020B0609020204030204" pitchFamily="49" charset="0"/>
            </a:endParaRPr>
          </a:p>
          <a:p>
            <a:r>
              <a:rPr lang="zh-CN" altLang="en-US" sz="1600" b="0" dirty="0">
                <a:solidFill>
                  <a:srgbClr val="4E5B61"/>
                </a:solidFill>
                <a:effectLst/>
                <a:latin typeface="Consolas" panose="020B0609020204030204" pitchFamily="49" charset="0"/>
              </a:rPr>
              <a:t>  </a:t>
            </a:r>
            <a:r>
              <a:rPr lang="en-US" altLang="zh-CN" sz="1600" b="0" dirty="0">
                <a:solidFill>
                  <a:srgbClr val="D35400"/>
                </a:solidFill>
                <a:effectLst/>
                <a:latin typeface="Consolas" panose="020B0609020204030204" pitchFamily="49" charset="0"/>
              </a:rPr>
              <a:t>delay</a:t>
            </a:r>
            <a:r>
              <a:rPr lang="en-US" altLang="zh-CN" sz="1600" b="0" dirty="0">
                <a:solidFill>
                  <a:srgbClr val="434F54"/>
                </a:solidFill>
                <a:effectLst/>
                <a:latin typeface="Consolas" panose="020B0609020204030204" pitchFamily="49" charset="0"/>
              </a:rPr>
              <a:t>(</a:t>
            </a:r>
            <a:r>
              <a:rPr lang="en-US" altLang="zh-CN" sz="1600" b="0" dirty="0">
                <a:solidFill>
                  <a:srgbClr val="4E5B61"/>
                </a:solidFill>
                <a:effectLst/>
                <a:latin typeface="Consolas" panose="020B0609020204030204" pitchFamily="49" charset="0"/>
              </a:rPr>
              <a:t>delayTime2</a:t>
            </a:r>
            <a:r>
              <a:rPr lang="en-US" altLang="zh-CN" sz="1600" b="0" dirty="0">
                <a:solidFill>
                  <a:srgbClr val="434F54"/>
                </a:solidFill>
                <a:effectLst/>
                <a:latin typeface="Consolas" panose="020B0609020204030204" pitchFamily="49" charset="0"/>
              </a:rPr>
              <a:t>)</a:t>
            </a:r>
            <a:r>
              <a:rPr lang="en-US" altLang="zh-CN" sz="1600" b="0" dirty="0">
                <a:solidFill>
                  <a:srgbClr val="4E5B61"/>
                </a:solidFill>
                <a:effectLst/>
                <a:latin typeface="Consolas" panose="020B0609020204030204" pitchFamily="49" charset="0"/>
              </a:rPr>
              <a:t>;</a:t>
            </a:r>
            <a:r>
              <a:rPr lang="en-US" altLang="zh-CN" sz="1600" b="0" dirty="0">
                <a:solidFill>
                  <a:srgbClr val="95A5A6"/>
                </a:solidFill>
                <a:effectLst/>
                <a:latin typeface="Consolas" panose="020B0609020204030204" pitchFamily="49" charset="0"/>
              </a:rPr>
              <a:t>  //</a:t>
            </a:r>
            <a:r>
              <a:rPr lang="zh-CN" altLang="en-US" sz="1600" b="0" dirty="0">
                <a:solidFill>
                  <a:srgbClr val="95A5A6"/>
                </a:solidFill>
                <a:effectLst/>
                <a:latin typeface="Consolas" panose="020B0609020204030204" pitchFamily="49" charset="0"/>
              </a:rPr>
              <a:t>延时</a:t>
            </a:r>
            <a:r>
              <a:rPr lang="en-US" altLang="zh-CN" sz="1600" b="0" dirty="0">
                <a:solidFill>
                  <a:srgbClr val="95A5A6"/>
                </a:solidFill>
                <a:effectLst/>
                <a:latin typeface="Consolas" panose="020B0609020204030204" pitchFamily="49" charset="0"/>
              </a:rPr>
              <a:t>3s</a:t>
            </a:r>
            <a:endParaRPr lang="en-US" altLang="zh-CN" sz="1600" b="0" dirty="0">
              <a:solidFill>
                <a:srgbClr val="4E5B61"/>
              </a:solidFill>
              <a:effectLst/>
              <a:latin typeface="Consolas" panose="020B0609020204030204" pitchFamily="49" charset="0"/>
            </a:endParaRPr>
          </a:p>
          <a:p>
            <a:r>
              <a:rPr lang="en-US" altLang="zh-CN" sz="1600" b="0" dirty="0">
                <a:solidFill>
                  <a:srgbClr val="434F54"/>
                </a:solidFill>
                <a:effectLst/>
                <a:latin typeface="Consolas" panose="020B0609020204030204" pitchFamily="49" charset="0"/>
              </a:rPr>
              <a:t>}</a:t>
            </a:r>
            <a:endParaRPr lang="en-US" altLang="zh-CN" sz="1600" b="0" dirty="0">
              <a:solidFill>
                <a:srgbClr val="4E5B61"/>
              </a:solidFill>
              <a:effectLst/>
              <a:latin typeface="Consolas" panose="020B0609020204030204" pitchFamily="49" charset="0"/>
            </a:endParaRPr>
          </a:p>
          <a:p>
            <a:br>
              <a:rPr lang="en-US" altLang="zh-CN" sz="1600" b="0" dirty="0">
                <a:solidFill>
                  <a:srgbClr val="4E5B61"/>
                </a:solidFill>
                <a:effectLst/>
                <a:latin typeface="Consolas" panose="020B0609020204030204" pitchFamily="49" charset="0"/>
              </a:rPr>
            </a:br>
            <a:endParaRPr lang="en-US" altLang="zh-CN" sz="1600" b="0" dirty="0">
              <a:solidFill>
                <a:srgbClr val="4E5B61"/>
              </a:solidFill>
              <a:effectLst/>
              <a:latin typeface="Consolas" panose="020B0609020204030204" pitchFamily="49" charset="0"/>
            </a:endParaRPr>
          </a:p>
        </p:txBody>
      </p:sp>
      <p:sp>
        <p:nvSpPr>
          <p:cNvPr id="4" name="灯片编号占位符 3">
            <a:extLst>
              <a:ext uri="{FF2B5EF4-FFF2-40B4-BE49-F238E27FC236}">
                <a16:creationId xmlns:a16="http://schemas.microsoft.com/office/drawing/2014/main" id="{005D00B5-A852-E1C4-8497-64C0BF306190}"/>
              </a:ext>
            </a:extLst>
          </p:cNvPr>
          <p:cNvSpPr>
            <a:spLocks noGrp="1"/>
          </p:cNvSpPr>
          <p:nvPr>
            <p:ph type="sldNum" sz="quarter" idx="12"/>
          </p:nvPr>
        </p:nvSpPr>
        <p:spPr/>
        <p:txBody>
          <a:bodyPr/>
          <a:lstStyle/>
          <a:p>
            <a:pPr>
              <a:defRPr/>
            </a:pPr>
            <a:fld id="{2C687883-A9F8-4324-BFDB-FCCC5C558AE8}" type="slidenum">
              <a:rPr lang="en-US" altLang="zh-CN" smtClean="0"/>
              <a:t>70</a:t>
            </a:fld>
            <a:endParaRPr lang="en-US" altLang="zh-CN"/>
          </a:p>
        </p:txBody>
      </p:sp>
    </p:spTree>
  </p:cSld>
  <p:clrMapOvr>
    <a:masterClrMapping/>
  </p:clrMapOvr>
  <p:transition>
    <p:cover dir="d"/>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9057" y="145143"/>
            <a:ext cx="4582886" cy="580571"/>
          </a:xfrm>
          <a:solidFill>
            <a:schemeClr val="bg1">
              <a:lumMod val="85000"/>
            </a:schemeClr>
          </a:solidFill>
        </p:spPr>
        <p:txBody>
          <a:bodyPr/>
          <a:lstStyle/>
          <a:p>
            <a:pPr algn="l"/>
            <a:r>
              <a:rPr lang="zh-CN" altLang="zh-CN" sz="3200" b="1" dirty="0"/>
              <a:t>具有返回值的函数</a:t>
            </a:r>
            <a:r>
              <a:rPr lang="en-US" altLang="zh-CN" sz="3200" b="1" dirty="0"/>
              <a:t>Max()</a:t>
            </a:r>
            <a:endParaRPr lang="zh-CN" altLang="en-US" sz="3200" b="1" dirty="0"/>
          </a:p>
        </p:txBody>
      </p:sp>
      <p:sp>
        <p:nvSpPr>
          <p:cNvPr id="3" name="内容占位符 2"/>
          <p:cNvSpPr>
            <a:spLocks noGrp="1"/>
          </p:cNvSpPr>
          <p:nvPr>
            <p:ph idx="1"/>
          </p:nvPr>
        </p:nvSpPr>
        <p:spPr>
          <a:xfrm>
            <a:off x="439057" y="725713"/>
            <a:ext cx="8400143" cy="5921829"/>
          </a:xfrm>
        </p:spPr>
        <p:txBody>
          <a:bodyPr/>
          <a:lstStyle/>
          <a:p>
            <a:r>
              <a:rPr lang="en-US" altLang="zh-CN" sz="2000" b="0" dirty="0">
                <a:solidFill>
                  <a:srgbClr val="00979D"/>
                </a:solidFill>
                <a:effectLst/>
                <a:latin typeface="Consolas" panose="020B0609020204030204" pitchFamily="49" charset="0"/>
              </a:rPr>
              <a:t>int</a:t>
            </a:r>
            <a:r>
              <a:rPr lang="en-US" altLang="zh-CN" sz="2000" b="0" dirty="0">
                <a:solidFill>
                  <a:srgbClr val="4E5B61"/>
                </a:solidFill>
                <a:effectLst/>
                <a:latin typeface="Consolas" panose="020B0609020204030204" pitchFamily="49" charset="0"/>
              </a:rPr>
              <a:t> </a:t>
            </a:r>
            <a:r>
              <a:rPr lang="en-US" altLang="zh-CN" sz="2000" b="0" dirty="0">
                <a:solidFill>
                  <a:srgbClr val="D35400"/>
                </a:solidFill>
                <a:effectLst/>
                <a:latin typeface="Consolas" panose="020B0609020204030204" pitchFamily="49" charset="0"/>
              </a:rPr>
              <a:t>Max</a:t>
            </a:r>
            <a:r>
              <a:rPr lang="en-US" altLang="zh-CN" sz="2000" b="0" dirty="0">
                <a:solidFill>
                  <a:srgbClr val="434F54"/>
                </a:solidFill>
                <a:effectLst/>
                <a:latin typeface="Consolas" panose="020B0609020204030204" pitchFamily="49" charset="0"/>
              </a:rPr>
              <a:t>(</a:t>
            </a:r>
            <a:r>
              <a:rPr lang="en-US" altLang="zh-CN" sz="2000" b="0" dirty="0">
                <a:solidFill>
                  <a:srgbClr val="00979D"/>
                </a:solidFill>
                <a:effectLst/>
                <a:latin typeface="Consolas" panose="020B0609020204030204" pitchFamily="49" charset="0"/>
              </a:rPr>
              <a:t>int</a:t>
            </a:r>
            <a:r>
              <a:rPr lang="en-US" altLang="zh-CN" sz="2000" b="0" dirty="0">
                <a:solidFill>
                  <a:srgbClr val="4E5B61"/>
                </a:solidFill>
                <a:effectLst/>
                <a:latin typeface="Consolas" panose="020B0609020204030204" pitchFamily="49" charset="0"/>
              </a:rPr>
              <a:t> </a:t>
            </a:r>
            <a:r>
              <a:rPr lang="en-US" altLang="zh-CN" sz="2000" b="0" dirty="0">
                <a:solidFill>
                  <a:srgbClr val="434F54"/>
                </a:solidFill>
                <a:effectLst/>
                <a:latin typeface="Consolas" panose="020B0609020204030204" pitchFamily="49" charset="0"/>
              </a:rPr>
              <a:t>a</a:t>
            </a:r>
            <a:r>
              <a:rPr lang="en-US" altLang="zh-CN" sz="2000" b="0" dirty="0">
                <a:solidFill>
                  <a:srgbClr val="4E5B61"/>
                </a:solidFill>
                <a:effectLst/>
                <a:latin typeface="Consolas" panose="020B0609020204030204" pitchFamily="49" charset="0"/>
              </a:rPr>
              <a:t>, </a:t>
            </a:r>
            <a:r>
              <a:rPr lang="en-US" altLang="zh-CN" sz="2000" b="0" dirty="0">
                <a:solidFill>
                  <a:srgbClr val="00979D"/>
                </a:solidFill>
                <a:effectLst/>
                <a:latin typeface="Consolas" panose="020B0609020204030204" pitchFamily="49" charset="0"/>
              </a:rPr>
              <a:t>int</a:t>
            </a:r>
            <a:r>
              <a:rPr lang="en-US" altLang="zh-CN" sz="2000" b="0" dirty="0">
                <a:solidFill>
                  <a:srgbClr val="4E5B61"/>
                </a:solidFill>
                <a:effectLst/>
                <a:latin typeface="Consolas" panose="020B0609020204030204" pitchFamily="49" charset="0"/>
              </a:rPr>
              <a:t> </a:t>
            </a:r>
            <a:r>
              <a:rPr lang="en-US" altLang="zh-CN" sz="2000" b="0" dirty="0">
                <a:solidFill>
                  <a:srgbClr val="434F54"/>
                </a:solidFill>
                <a:effectLst/>
                <a:latin typeface="Consolas" panose="020B0609020204030204" pitchFamily="49" charset="0"/>
              </a:rPr>
              <a:t>b){</a:t>
            </a:r>
            <a:r>
              <a:rPr lang="en-US" altLang="zh-CN" sz="2000" b="0" dirty="0">
                <a:solidFill>
                  <a:srgbClr val="95A5A6"/>
                </a:solidFill>
                <a:effectLst/>
                <a:latin typeface="Consolas" panose="020B0609020204030204" pitchFamily="49" charset="0"/>
              </a:rPr>
              <a:t> //</a:t>
            </a:r>
            <a:r>
              <a:rPr lang="zh-CN" altLang="en-US" sz="2000" b="0" dirty="0">
                <a:solidFill>
                  <a:srgbClr val="95A5A6"/>
                </a:solidFill>
                <a:effectLst/>
                <a:latin typeface="Consolas" panose="020B0609020204030204" pitchFamily="49" charset="0"/>
              </a:rPr>
              <a:t>定义具有参数和返回值的求两个数最大值的函数  </a:t>
            </a:r>
            <a:endParaRPr lang="zh-CN" altLang="en-US" sz="2000" b="0" dirty="0">
              <a:solidFill>
                <a:srgbClr val="4E5B61"/>
              </a:solidFill>
              <a:effectLst/>
              <a:latin typeface="Consolas" panose="020B0609020204030204" pitchFamily="49" charset="0"/>
            </a:endParaRPr>
          </a:p>
          <a:p>
            <a:r>
              <a:rPr lang="zh-CN" altLang="en-US" sz="2000" b="0" dirty="0">
                <a:solidFill>
                  <a:srgbClr val="4E5B61"/>
                </a:solidFill>
                <a:effectLst/>
                <a:latin typeface="Consolas" panose="020B0609020204030204" pitchFamily="49" charset="0"/>
              </a:rPr>
              <a:t>  </a:t>
            </a:r>
            <a:r>
              <a:rPr lang="en-US" altLang="zh-CN" sz="2000" b="0" dirty="0">
                <a:solidFill>
                  <a:srgbClr val="728E00"/>
                </a:solidFill>
                <a:effectLst/>
                <a:latin typeface="Consolas" panose="020B0609020204030204" pitchFamily="49" charset="0"/>
              </a:rPr>
              <a:t>return</a:t>
            </a:r>
            <a:r>
              <a:rPr lang="en-US" altLang="zh-CN" sz="2000" b="0" dirty="0">
                <a:solidFill>
                  <a:srgbClr val="4E5B61"/>
                </a:solidFill>
                <a:effectLst/>
                <a:latin typeface="Consolas" panose="020B0609020204030204" pitchFamily="49" charset="0"/>
              </a:rPr>
              <a:t> a &gt; b ? a : b;</a:t>
            </a:r>
          </a:p>
          <a:p>
            <a:r>
              <a:rPr lang="en-US" altLang="zh-CN" sz="2000" b="0" dirty="0">
                <a:solidFill>
                  <a:srgbClr val="434F54"/>
                </a:solidFill>
                <a:effectLst/>
                <a:latin typeface="Consolas" panose="020B0609020204030204" pitchFamily="49" charset="0"/>
              </a:rPr>
              <a:t>}</a:t>
            </a:r>
            <a:endParaRPr lang="en-US" altLang="zh-CN" sz="2000" b="0" dirty="0">
              <a:solidFill>
                <a:srgbClr val="4E5B61"/>
              </a:solidFill>
              <a:effectLst/>
              <a:latin typeface="Consolas" panose="020B0609020204030204" pitchFamily="49" charset="0"/>
            </a:endParaRPr>
          </a:p>
          <a:p>
            <a:br>
              <a:rPr lang="en-US" altLang="zh-CN" sz="2000" b="0" dirty="0">
                <a:solidFill>
                  <a:srgbClr val="4E5B61"/>
                </a:solidFill>
                <a:effectLst/>
                <a:latin typeface="Consolas" panose="020B0609020204030204" pitchFamily="49" charset="0"/>
              </a:rPr>
            </a:br>
            <a:r>
              <a:rPr lang="en-US" altLang="zh-CN" sz="2000" b="0" dirty="0">
                <a:solidFill>
                  <a:srgbClr val="00979D"/>
                </a:solidFill>
                <a:effectLst/>
                <a:latin typeface="Consolas" panose="020B0609020204030204" pitchFamily="49" charset="0"/>
              </a:rPr>
              <a:t>void</a:t>
            </a:r>
            <a:r>
              <a:rPr lang="en-US" altLang="zh-CN" sz="2000" b="0" dirty="0">
                <a:solidFill>
                  <a:srgbClr val="4E5B61"/>
                </a:solidFill>
                <a:effectLst/>
                <a:latin typeface="Consolas" panose="020B0609020204030204" pitchFamily="49" charset="0"/>
              </a:rPr>
              <a:t> </a:t>
            </a:r>
            <a:r>
              <a:rPr lang="en-US" altLang="zh-CN" sz="2000" b="0" dirty="0">
                <a:solidFill>
                  <a:srgbClr val="D35400"/>
                </a:solidFill>
                <a:effectLst/>
                <a:latin typeface="Consolas" panose="020B0609020204030204" pitchFamily="49" charset="0"/>
              </a:rPr>
              <a:t>setup</a:t>
            </a:r>
            <a:r>
              <a:rPr lang="en-US" altLang="zh-CN" sz="2000" b="0" dirty="0">
                <a:solidFill>
                  <a:srgbClr val="434F54"/>
                </a:solidFill>
                <a:effectLst/>
                <a:latin typeface="Consolas" panose="020B0609020204030204" pitchFamily="49" charset="0"/>
              </a:rPr>
              <a:t>()</a:t>
            </a:r>
            <a:r>
              <a:rPr lang="en-US" altLang="zh-CN" sz="2000" b="0" dirty="0">
                <a:solidFill>
                  <a:srgbClr val="4E5B61"/>
                </a:solidFill>
                <a:effectLst/>
                <a:latin typeface="Consolas" panose="020B0609020204030204" pitchFamily="49" charset="0"/>
              </a:rPr>
              <a:t> </a:t>
            </a:r>
            <a:r>
              <a:rPr lang="en-US" altLang="zh-CN" sz="2000" b="0" dirty="0">
                <a:solidFill>
                  <a:srgbClr val="434F54"/>
                </a:solidFill>
                <a:effectLst/>
                <a:latin typeface="Consolas" panose="020B0609020204030204" pitchFamily="49" charset="0"/>
              </a:rPr>
              <a:t>{</a:t>
            </a:r>
            <a:endParaRPr lang="en-US" altLang="zh-CN" sz="2000" b="0" dirty="0">
              <a:solidFill>
                <a:srgbClr val="4E5B61"/>
              </a:solidFill>
              <a:effectLst/>
              <a:latin typeface="Consolas" panose="020B0609020204030204" pitchFamily="49" charset="0"/>
            </a:endParaRPr>
          </a:p>
          <a:p>
            <a:r>
              <a:rPr lang="en-US" altLang="zh-CN" sz="2000" b="0" dirty="0">
                <a:solidFill>
                  <a:srgbClr val="4E5B61"/>
                </a:solidFill>
                <a:effectLst/>
                <a:latin typeface="Consolas" panose="020B0609020204030204" pitchFamily="49" charset="0"/>
              </a:rPr>
              <a:t>  </a:t>
            </a:r>
            <a:r>
              <a:rPr lang="en-US" altLang="zh-CN" sz="2000" b="0" dirty="0" err="1">
                <a:solidFill>
                  <a:srgbClr val="D35400"/>
                </a:solidFill>
                <a:effectLst/>
                <a:latin typeface="Consolas" panose="020B0609020204030204" pitchFamily="49" charset="0"/>
              </a:rPr>
              <a:t>Serial</a:t>
            </a:r>
            <a:r>
              <a:rPr lang="en-US" altLang="zh-CN" sz="2000" b="0" dirty="0" err="1">
                <a:solidFill>
                  <a:srgbClr val="4E5B61"/>
                </a:solidFill>
                <a:effectLst/>
                <a:latin typeface="Consolas" panose="020B0609020204030204" pitchFamily="49" charset="0"/>
              </a:rPr>
              <a:t>.</a:t>
            </a:r>
            <a:r>
              <a:rPr lang="en-US" altLang="zh-CN" sz="2000" b="0" dirty="0" err="1">
                <a:solidFill>
                  <a:srgbClr val="D35400"/>
                </a:solidFill>
                <a:effectLst/>
                <a:latin typeface="Consolas" panose="020B0609020204030204" pitchFamily="49" charset="0"/>
              </a:rPr>
              <a:t>begin</a:t>
            </a:r>
            <a:r>
              <a:rPr lang="en-US" altLang="zh-CN" sz="2000" b="0" dirty="0">
                <a:solidFill>
                  <a:srgbClr val="434F54"/>
                </a:solidFill>
                <a:effectLst/>
                <a:latin typeface="Consolas" panose="020B0609020204030204" pitchFamily="49" charset="0"/>
              </a:rPr>
              <a:t>(</a:t>
            </a:r>
            <a:r>
              <a:rPr lang="en-US" altLang="zh-CN" sz="2000" b="0" dirty="0">
                <a:solidFill>
                  <a:srgbClr val="005C5F"/>
                </a:solidFill>
                <a:effectLst/>
                <a:latin typeface="Consolas" panose="020B0609020204030204" pitchFamily="49" charset="0"/>
              </a:rPr>
              <a:t>9600</a:t>
            </a:r>
            <a:r>
              <a:rPr lang="en-US" altLang="zh-CN" sz="2000" b="0" dirty="0">
                <a:solidFill>
                  <a:srgbClr val="434F54"/>
                </a:solidFill>
                <a:effectLst/>
                <a:latin typeface="Consolas" panose="020B0609020204030204" pitchFamily="49" charset="0"/>
              </a:rPr>
              <a:t>)</a:t>
            </a:r>
            <a:r>
              <a:rPr lang="en-US" altLang="zh-CN" sz="2000" b="0" dirty="0">
                <a:solidFill>
                  <a:srgbClr val="4E5B61"/>
                </a:solidFill>
                <a:effectLst/>
                <a:latin typeface="Consolas" panose="020B0609020204030204" pitchFamily="49" charset="0"/>
              </a:rPr>
              <a:t>;</a:t>
            </a:r>
          </a:p>
          <a:p>
            <a:r>
              <a:rPr lang="en-US" altLang="zh-CN" sz="2000" b="0" dirty="0">
                <a:solidFill>
                  <a:srgbClr val="4E5B61"/>
                </a:solidFill>
                <a:effectLst/>
                <a:latin typeface="Consolas" panose="020B0609020204030204" pitchFamily="49" charset="0"/>
              </a:rPr>
              <a:t>  </a:t>
            </a:r>
            <a:r>
              <a:rPr lang="en-US" altLang="zh-CN" sz="2000" b="0" dirty="0">
                <a:solidFill>
                  <a:srgbClr val="00979D"/>
                </a:solidFill>
                <a:effectLst/>
                <a:latin typeface="Consolas" panose="020B0609020204030204" pitchFamily="49" charset="0"/>
              </a:rPr>
              <a:t>int</a:t>
            </a:r>
            <a:r>
              <a:rPr lang="en-US" altLang="zh-CN" sz="2000" b="0" dirty="0">
                <a:solidFill>
                  <a:srgbClr val="4E5B61"/>
                </a:solidFill>
                <a:effectLst/>
                <a:latin typeface="Consolas" panose="020B0609020204030204" pitchFamily="49" charset="0"/>
              </a:rPr>
              <a:t> x = </a:t>
            </a:r>
            <a:r>
              <a:rPr lang="en-US" altLang="zh-CN" sz="2000" b="0" dirty="0">
                <a:solidFill>
                  <a:srgbClr val="D35400"/>
                </a:solidFill>
                <a:effectLst/>
                <a:latin typeface="Consolas" panose="020B0609020204030204" pitchFamily="49" charset="0"/>
              </a:rPr>
              <a:t>Max</a:t>
            </a:r>
            <a:r>
              <a:rPr lang="en-US" altLang="zh-CN" sz="2000" b="0" dirty="0">
                <a:solidFill>
                  <a:srgbClr val="434F54"/>
                </a:solidFill>
                <a:effectLst/>
                <a:latin typeface="Consolas" panose="020B0609020204030204" pitchFamily="49" charset="0"/>
              </a:rPr>
              <a:t>(</a:t>
            </a:r>
            <a:r>
              <a:rPr lang="en-US" altLang="zh-CN" sz="2000" b="0" dirty="0">
                <a:solidFill>
                  <a:srgbClr val="005C5F"/>
                </a:solidFill>
                <a:effectLst/>
                <a:latin typeface="Consolas" panose="020B0609020204030204" pitchFamily="49" charset="0"/>
              </a:rPr>
              <a:t>10</a:t>
            </a:r>
            <a:r>
              <a:rPr lang="en-US" altLang="zh-CN" sz="2000" b="0" dirty="0">
                <a:solidFill>
                  <a:srgbClr val="4E5B61"/>
                </a:solidFill>
                <a:effectLst/>
                <a:latin typeface="Consolas" panose="020B0609020204030204" pitchFamily="49" charset="0"/>
              </a:rPr>
              <a:t>,</a:t>
            </a:r>
            <a:r>
              <a:rPr lang="en-US" altLang="zh-CN" sz="2000" b="0" dirty="0">
                <a:solidFill>
                  <a:srgbClr val="005C5F"/>
                </a:solidFill>
                <a:effectLst/>
                <a:latin typeface="Consolas" panose="020B0609020204030204" pitchFamily="49" charset="0"/>
              </a:rPr>
              <a:t>20</a:t>
            </a:r>
            <a:r>
              <a:rPr lang="en-US" altLang="zh-CN" sz="2000" b="0" dirty="0">
                <a:solidFill>
                  <a:srgbClr val="434F54"/>
                </a:solidFill>
                <a:effectLst/>
                <a:latin typeface="Consolas" panose="020B0609020204030204" pitchFamily="49" charset="0"/>
              </a:rPr>
              <a:t>)</a:t>
            </a:r>
            <a:r>
              <a:rPr lang="en-US" altLang="zh-CN" sz="2000" b="0" dirty="0">
                <a:solidFill>
                  <a:srgbClr val="4E5B61"/>
                </a:solidFill>
                <a:effectLst/>
                <a:latin typeface="Consolas" panose="020B0609020204030204" pitchFamily="49" charset="0"/>
              </a:rPr>
              <a:t>;</a:t>
            </a:r>
            <a:r>
              <a:rPr lang="en-US" altLang="zh-CN" sz="2000" b="0" dirty="0">
                <a:solidFill>
                  <a:srgbClr val="95A5A6"/>
                </a:solidFill>
                <a:effectLst/>
                <a:latin typeface="Consolas" panose="020B0609020204030204" pitchFamily="49" charset="0"/>
              </a:rPr>
              <a:t>     //</a:t>
            </a:r>
            <a:r>
              <a:rPr lang="zh-CN" altLang="en-US" sz="2000" b="0" dirty="0">
                <a:solidFill>
                  <a:srgbClr val="95A5A6"/>
                </a:solidFill>
                <a:effectLst/>
                <a:latin typeface="Consolas" panose="020B0609020204030204" pitchFamily="49" charset="0"/>
              </a:rPr>
              <a:t>调用</a:t>
            </a:r>
            <a:r>
              <a:rPr lang="en-US" altLang="zh-CN" sz="2000" b="0" dirty="0">
                <a:solidFill>
                  <a:srgbClr val="95A5A6"/>
                </a:solidFill>
                <a:effectLst/>
                <a:latin typeface="Consolas" panose="020B0609020204030204" pitchFamily="49" charset="0"/>
              </a:rPr>
              <a:t>Max()</a:t>
            </a:r>
            <a:r>
              <a:rPr lang="zh-CN" altLang="en-US" sz="2000" b="0" dirty="0">
                <a:solidFill>
                  <a:srgbClr val="95A5A6"/>
                </a:solidFill>
                <a:effectLst/>
                <a:latin typeface="Consolas" panose="020B0609020204030204" pitchFamily="49" charset="0"/>
              </a:rPr>
              <a:t>函数</a:t>
            </a:r>
            <a:endParaRPr lang="zh-CN" altLang="en-US" sz="2000" b="0" dirty="0">
              <a:solidFill>
                <a:srgbClr val="4E5B61"/>
              </a:solidFill>
              <a:effectLst/>
              <a:latin typeface="Consolas" panose="020B0609020204030204" pitchFamily="49" charset="0"/>
            </a:endParaRPr>
          </a:p>
          <a:p>
            <a:r>
              <a:rPr lang="zh-CN" altLang="en-US" sz="2000" b="0" dirty="0">
                <a:solidFill>
                  <a:srgbClr val="4E5B61"/>
                </a:solidFill>
                <a:effectLst/>
                <a:latin typeface="Consolas" panose="020B0609020204030204" pitchFamily="49" charset="0"/>
              </a:rPr>
              <a:t>  </a:t>
            </a:r>
            <a:r>
              <a:rPr lang="en-US" altLang="zh-CN" sz="2000" b="0" dirty="0" err="1">
                <a:solidFill>
                  <a:srgbClr val="D35400"/>
                </a:solidFill>
                <a:effectLst/>
                <a:latin typeface="Consolas" panose="020B0609020204030204" pitchFamily="49" charset="0"/>
              </a:rPr>
              <a:t>Serial</a:t>
            </a:r>
            <a:r>
              <a:rPr lang="en-US" altLang="zh-CN" sz="2000" b="0" dirty="0" err="1">
                <a:solidFill>
                  <a:srgbClr val="4E5B61"/>
                </a:solidFill>
                <a:effectLst/>
                <a:latin typeface="Consolas" panose="020B0609020204030204" pitchFamily="49" charset="0"/>
              </a:rPr>
              <a:t>.</a:t>
            </a:r>
            <a:r>
              <a:rPr lang="en-US" altLang="zh-CN" sz="2000" b="0" dirty="0" err="1">
                <a:solidFill>
                  <a:srgbClr val="D35400"/>
                </a:solidFill>
                <a:effectLst/>
                <a:latin typeface="Consolas" panose="020B0609020204030204" pitchFamily="49" charset="0"/>
              </a:rPr>
              <a:t>println</a:t>
            </a:r>
            <a:r>
              <a:rPr lang="en-US" altLang="zh-CN" sz="2000" b="0" dirty="0">
                <a:solidFill>
                  <a:srgbClr val="434F54"/>
                </a:solidFill>
                <a:effectLst/>
                <a:latin typeface="Consolas" panose="020B0609020204030204" pitchFamily="49" charset="0"/>
              </a:rPr>
              <a:t>(</a:t>
            </a:r>
            <a:r>
              <a:rPr lang="en-US" altLang="zh-CN" sz="2000" b="0" dirty="0">
                <a:solidFill>
                  <a:srgbClr val="4E5B61"/>
                </a:solidFill>
                <a:effectLst/>
                <a:latin typeface="Consolas" panose="020B0609020204030204" pitchFamily="49" charset="0"/>
              </a:rPr>
              <a:t>x</a:t>
            </a:r>
            <a:r>
              <a:rPr lang="en-US" altLang="zh-CN" sz="2000" b="0" dirty="0">
                <a:solidFill>
                  <a:srgbClr val="434F54"/>
                </a:solidFill>
                <a:effectLst/>
                <a:latin typeface="Consolas" panose="020B0609020204030204" pitchFamily="49" charset="0"/>
              </a:rPr>
              <a:t>)</a:t>
            </a:r>
            <a:r>
              <a:rPr lang="en-US" altLang="zh-CN" sz="2000" b="0" dirty="0">
                <a:solidFill>
                  <a:srgbClr val="4E5B61"/>
                </a:solidFill>
                <a:effectLst/>
                <a:latin typeface="Consolas" panose="020B0609020204030204" pitchFamily="49" charset="0"/>
              </a:rPr>
              <a:t>;</a:t>
            </a:r>
          </a:p>
          <a:p>
            <a:r>
              <a:rPr lang="en-US" altLang="zh-CN" sz="2000" b="0" dirty="0">
                <a:solidFill>
                  <a:srgbClr val="434F54"/>
                </a:solidFill>
                <a:effectLst/>
                <a:latin typeface="Consolas" panose="020B0609020204030204" pitchFamily="49" charset="0"/>
              </a:rPr>
              <a:t>}</a:t>
            </a:r>
            <a:endParaRPr lang="en-US" altLang="zh-CN" sz="2000" b="0" dirty="0">
              <a:solidFill>
                <a:srgbClr val="4E5B61"/>
              </a:solidFill>
              <a:effectLst/>
              <a:latin typeface="Consolas" panose="020B0609020204030204" pitchFamily="49" charset="0"/>
            </a:endParaRPr>
          </a:p>
          <a:p>
            <a:br>
              <a:rPr lang="en-US" altLang="zh-CN" sz="2000" b="0" dirty="0">
                <a:solidFill>
                  <a:srgbClr val="4E5B61"/>
                </a:solidFill>
                <a:effectLst/>
                <a:latin typeface="Consolas" panose="020B0609020204030204" pitchFamily="49" charset="0"/>
              </a:rPr>
            </a:br>
            <a:r>
              <a:rPr lang="en-US" altLang="zh-CN" sz="2000" b="0" dirty="0">
                <a:solidFill>
                  <a:srgbClr val="00979D"/>
                </a:solidFill>
                <a:effectLst/>
                <a:latin typeface="Consolas" panose="020B0609020204030204" pitchFamily="49" charset="0"/>
              </a:rPr>
              <a:t>void</a:t>
            </a:r>
            <a:r>
              <a:rPr lang="en-US" altLang="zh-CN" sz="2000" b="0" dirty="0">
                <a:solidFill>
                  <a:srgbClr val="4E5B61"/>
                </a:solidFill>
                <a:effectLst/>
                <a:latin typeface="Consolas" panose="020B0609020204030204" pitchFamily="49" charset="0"/>
              </a:rPr>
              <a:t> </a:t>
            </a:r>
            <a:r>
              <a:rPr lang="en-US" altLang="zh-CN" sz="2000" b="0" dirty="0">
                <a:solidFill>
                  <a:srgbClr val="D35400"/>
                </a:solidFill>
                <a:effectLst/>
                <a:latin typeface="Consolas" panose="020B0609020204030204" pitchFamily="49" charset="0"/>
              </a:rPr>
              <a:t>loop</a:t>
            </a:r>
            <a:r>
              <a:rPr lang="en-US" altLang="zh-CN" sz="2000" b="0" dirty="0">
                <a:solidFill>
                  <a:srgbClr val="434F54"/>
                </a:solidFill>
                <a:effectLst/>
                <a:latin typeface="Consolas" panose="020B0609020204030204" pitchFamily="49" charset="0"/>
              </a:rPr>
              <a:t>()</a:t>
            </a:r>
            <a:r>
              <a:rPr lang="en-US" altLang="zh-CN" sz="2000" b="0" dirty="0">
                <a:solidFill>
                  <a:srgbClr val="4E5B61"/>
                </a:solidFill>
                <a:effectLst/>
                <a:latin typeface="Consolas" panose="020B0609020204030204" pitchFamily="49" charset="0"/>
              </a:rPr>
              <a:t> </a:t>
            </a:r>
            <a:r>
              <a:rPr lang="en-US" altLang="zh-CN" sz="2000" b="0" dirty="0">
                <a:solidFill>
                  <a:srgbClr val="434F54"/>
                </a:solidFill>
                <a:effectLst/>
                <a:latin typeface="Consolas" panose="020B0609020204030204" pitchFamily="49" charset="0"/>
              </a:rPr>
              <a:t>{</a:t>
            </a:r>
            <a:endParaRPr lang="en-US" altLang="zh-CN" sz="2000" b="0" dirty="0">
              <a:solidFill>
                <a:srgbClr val="4E5B61"/>
              </a:solidFill>
              <a:effectLst/>
              <a:latin typeface="Consolas" panose="020B0609020204030204" pitchFamily="49" charset="0"/>
            </a:endParaRPr>
          </a:p>
          <a:p>
            <a:r>
              <a:rPr lang="en-US" altLang="zh-CN" sz="2000" b="0" dirty="0">
                <a:solidFill>
                  <a:srgbClr val="95A5A6"/>
                </a:solidFill>
                <a:effectLst/>
                <a:latin typeface="Consolas" panose="020B0609020204030204" pitchFamily="49" charset="0"/>
              </a:rPr>
              <a:t>  // put your main code here, to run repeatedly: </a:t>
            </a:r>
            <a:endParaRPr lang="en-US" altLang="zh-CN" sz="2000" b="0" dirty="0">
              <a:solidFill>
                <a:srgbClr val="4E5B61"/>
              </a:solidFill>
              <a:effectLst/>
              <a:latin typeface="Consolas" panose="020B0609020204030204" pitchFamily="49" charset="0"/>
            </a:endParaRPr>
          </a:p>
          <a:p>
            <a:r>
              <a:rPr lang="en-US" altLang="zh-CN" sz="2000" b="0" dirty="0">
                <a:solidFill>
                  <a:srgbClr val="434F54"/>
                </a:solidFill>
                <a:effectLst/>
                <a:latin typeface="Consolas" panose="020B0609020204030204" pitchFamily="49" charset="0"/>
              </a:rPr>
              <a:t>}</a:t>
            </a:r>
            <a:endParaRPr lang="en-US" altLang="zh-CN" sz="2000" b="0" dirty="0">
              <a:solidFill>
                <a:srgbClr val="4E5B61"/>
              </a:solidFill>
              <a:effectLst/>
              <a:latin typeface="Consolas" panose="020B0609020204030204" pitchFamily="49" charset="0"/>
            </a:endParaRPr>
          </a:p>
          <a:p>
            <a:br>
              <a:rPr lang="en-US" altLang="zh-CN" sz="2000" b="0" dirty="0">
                <a:solidFill>
                  <a:srgbClr val="4E5B61"/>
                </a:solidFill>
                <a:effectLst/>
                <a:latin typeface="Consolas" panose="020B0609020204030204" pitchFamily="49" charset="0"/>
              </a:rPr>
            </a:br>
            <a:br>
              <a:rPr lang="en-US" altLang="zh-CN" sz="2000" b="0" dirty="0">
                <a:solidFill>
                  <a:srgbClr val="4E5B61"/>
                </a:solidFill>
                <a:effectLst/>
                <a:latin typeface="Consolas" panose="020B0609020204030204" pitchFamily="49" charset="0"/>
              </a:rPr>
            </a:br>
            <a:endParaRPr lang="en-US" altLang="zh-CN" sz="2000" b="0" dirty="0">
              <a:solidFill>
                <a:srgbClr val="4E5B61"/>
              </a:solidFill>
              <a:effectLst/>
              <a:latin typeface="Consolas" panose="020B0609020204030204" pitchFamily="49" charset="0"/>
            </a:endParaRPr>
          </a:p>
        </p:txBody>
      </p:sp>
      <p:sp>
        <p:nvSpPr>
          <p:cNvPr id="4" name="灯片编号占位符 3">
            <a:extLst>
              <a:ext uri="{FF2B5EF4-FFF2-40B4-BE49-F238E27FC236}">
                <a16:creationId xmlns:a16="http://schemas.microsoft.com/office/drawing/2014/main" id="{C082B746-A824-CBB3-6511-ABDA59257E77}"/>
              </a:ext>
            </a:extLst>
          </p:cNvPr>
          <p:cNvSpPr>
            <a:spLocks noGrp="1"/>
          </p:cNvSpPr>
          <p:nvPr>
            <p:ph type="sldNum" sz="quarter" idx="12"/>
          </p:nvPr>
        </p:nvSpPr>
        <p:spPr/>
        <p:txBody>
          <a:bodyPr/>
          <a:lstStyle/>
          <a:p>
            <a:pPr>
              <a:defRPr/>
            </a:pPr>
            <a:fld id="{2C687883-A9F8-4324-BFDB-FCCC5C558AE8}" type="slidenum">
              <a:rPr lang="en-US" altLang="zh-CN" smtClean="0"/>
              <a:t>71</a:t>
            </a:fld>
            <a:endParaRPr lang="en-US" altLang="zh-CN"/>
          </a:p>
        </p:txBody>
      </p:sp>
    </p:spTree>
  </p:cSld>
  <p:clrMapOvr>
    <a:masterClrMapping/>
  </p:clrMapOvr>
  <p:transition>
    <p:cover dir="d"/>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4457" y="609600"/>
            <a:ext cx="7772400" cy="1143000"/>
          </a:xfrm>
        </p:spPr>
        <p:txBody>
          <a:bodyPr/>
          <a:lstStyle/>
          <a:p>
            <a:pPr algn="l"/>
            <a:r>
              <a:rPr lang="zh-CN" altLang="zh-CN" dirty="0"/>
              <a:t>模拟输入输出</a:t>
            </a:r>
            <a:endParaRPr lang="zh-CN" altLang="en-US" dirty="0"/>
          </a:p>
        </p:txBody>
      </p:sp>
      <p:sp>
        <p:nvSpPr>
          <p:cNvPr id="3" name="内容占位符 2"/>
          <p:cNvSpPr>
            <a:spLocks noGrp="1"/>
          </p:cNvSpPr>
          <p:nvPr>
            <p:ph idx="1"/>
          </p:nvPr>
        </p:nvSpPr>
        <p:spPr>
          <a:xfrm>
            <a:off x="464457" y="1981200"/>
            <a:ext cx="8331200" cy="4114800"/>
          </a:xfrm>
        </p:spPr>
        <p:txBody>
          <a:bodyPr/>
          <a:lstStyle/>
          <a:p>
            <a:pPr marL="0" indent="0" algn="just">
              <a:buNone/>
            </a:pPr>
            <a:r>
              <a:rPr lang="en-US" altLang="zh-CN" dirty="0"/>
              <a:t>Arduino</a:t>
            </a:r>
            <a:r>
              <a:rPr lang="zh-CN" altLang="zh-CN" dirty="0"/>
              <a:t>开发板上数字输入输出引脚中的</a:t>
            </a:r>
            <a:r>
              <a:rPr lang="en-US" altLang="zh-CN" dirty="0"/>
              <a:t>3</a:t>
            </a:r>
            <a:r>
              <a:rPr lang="zh-CN" altLang="zh-CN" dirty="0"/>
              <a:t>、</a:t>
            </a:r>
            <a:r>
              <a:rPr lang="en-US" altLang="zh-CN" dirty="0"/>
              <a:t>5</a:t>
            </a:r>
            <a:r>
              <a:rPr lang="zh-CN" altLang="zh-CN" dirty="0"/>
              <a:t>、</a:t>
            </a:r>
            <a:r>
              <a:rPr lang="en-US" altLang="zh-CN" dirty="0"/>
              <a:t>6</a:t>
            </a:r>
            <a:r>
              <a:rPr lang="zh-CN" altLang="zh-CN" dirty="0"/>
              <a:t>、</a:t>
            </a:r>
            <a:r>
              <a:rPr lang="en-US" altLang="zh-CN" dirty="0"/>
              <a:t>9</a:t>
            </a:r>
            <a:r>
              <a:rPr lang="zh-CN" altLang="en-US" dirty="0"/>
              <a:t>、</a:t>
            </a:r>
            <a:r>
              <a:rPr lang="en-US" altLang="zh-CN" dirty="0"/>
              <a:t>10</a:t>
            </a:r>
            <a:r>
              <a:rPr lang="zh-CN" altLang="en-US" dirty="0"/>
              <a:t>、</a:t>
            </a:r>
            <a:r>
              <a:rPr lang="en-US" altLang="zh-CN" dirty="0"/>
              <a:t>11</a:t>
            </a:r>
            <a:r>
              <a:rPr lang="zh-CN" altLang="zh-CN" dirty="0"/>
              <a:t>都提供</a:t>
            </a:r>
            <a:r>
              <a:rPr lang="en-US" altLang="zh-CN" dirty="0"/>
              <a:t>0V</a:t>
            </a:r>
            <a:r>
              <a:rPr lang="zh-CN" altLang="zh-CN" dirty="0"/>
              <a:t>和</a:t>
            </a:r>
            <a:r>
              <a:rPr lang="en-US" altLang="zh-CN" dirty="0"/>
              <a:t>5V</a:t>
            </a:r>
            <a:r>
              <a:rPr lang="zh-CN" altLang="zh-CN" dirty="0"/>
              <a:t>之外的可变输出。在这些引脚的旁边，会标有</a:t>
            </a:r>
            <a:r>
              <a:rPr lang="en-US" altLang="zh-CN" dirty="0"/>
              <a:t>PWM</a:t>
            </a:r>
            <a:r>
              <a:rPr lang="zh-CN" altLang="zh-CN" dirty="0"/>
              <a:t>——脉冲宽度调制，</a:t>
            </a:r>
            <a:r>
              <a:rPr lang="en-US" altLang="zh-CN" dirty="0"/>
              <a:t>PWM</a:t>
            </a:r>
            <a:r>
              <a:rPr lang="zh-CN" altLang="zh-CN" dirty="0"/>
              <a:t>是英文“</a:t>
            </a:r>
            <a:r>
              <a:rPr lang="en-US" altLang="zh-CN" dirty="0"/>
              <a:t>Pulse Width Modulation</a:t>
            </a:r>
            <a:r>
              <a:rPr lang="zh-CN" altLang="zh-CN" dirty="0"/>
              <a:t>”的缩写，简称脉宽调制，是利用微处理器的数字输出来对模拟电路进行控制的一种有效技术，这种技术被广泛应用在从测量、通信到功率控制与变换的许多领域中。</a:t>
            </a:r>
            <a:endParaRPr lang="zh-CN" altLang="en-US" dirty="0"/>
          </a:p>
        </p:txBody>
      </p:sp>
      <p:sp>
        <p:nvSpPr>
          <p:cNvPr id="4" name="灯片编号占位符 3">
            <a:extLst>
              <a:ext uri="{FF2B5EF4-FFF2-40B4-BE49-F238E27FC236}">
                <a16:creationId xmlns:a16="http://schemas.microsoft.com/office/drawing/2014/main" id="{90B97745-856A-DC99-19D9-88E70E47CA1D}"/>
              </a:ext>
            </a:extLst>
          </p:cNvPr>
          <p:cNvSpPr>
            <a:spLocks noGrp="1"/>
          </p:cNvSpPr>
          <p:nvPr>
            <p:ph type="sldNum" sz="quarter" idx="12"/>
          </p:nvPr>
        </p:nvSpPr>
        <p:spPr/>
        <p:txBody>
          <a:bodyPr/>
          <a:lstStyle/>
          <a:p>
            <a:pPr>
              <a:defRPr/>
            </a:pPr>
            <a:fld id="{2C687883-A9F8-4324-BFDB-FCCC5C558AE8}" type="slidenum">
              <a:rPr lang="en-US" altLang="zh-CN" smtClean="0"/>
              <a:t>72</a:t>
            </a:fld>
            <a:endParaRPr lang="en-US" altLang="zh-CN"/>
          </a:p>
        </p:txBody>
      </p:sp>
    </p:spTree>
  </p:cSld>
  <p:clrMapOvr>
    <a:masterClrMapping/>
  </p:clrMapOvr>
  <p:transition>
    <p:cover dir="d"/>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51972" y="130629"/>
            <a:ext cx="7772400" cy="1143000"/>
          </a:xfrm>
        </p:spPr>
        <p:txBody>
          <a:bodyPr/>
          <a:lstStyle/>
          <a:p>
            <a:pPr algn="l"/>
            <a:r>
              <a:rPr lang="zh-CN" altLang="zh-CN" dirty="0"/>
              <a:t>模拟输入输出</a:t>
            </a:r>
            <a:endParaRPr lang="zh-CN" altLang="en-US" dirty="0"/>
          </a:p>
        </p:txBody>
      </p:sp>
      <p:sp>
        <p:nvSpPr>
          <p:cNvPr id="3" name="内容占位符 2"/>
          <p:cNvSpPr>
            <a:spLocks noGrp="1"/>
          </p:cNvSpPr>
          <p:nvPr>
            <p:ph idx="1"/>
          </p:nvPr>
        </p:nvSpPr>
        <p:spPr>
          <a:xfrm>
            <a:off x="246743" y="1088571"/>
            <a:ext cx="8665027" cy="5413829"/>
          </a:xfrm>
        </p:spPr>
        <p:txBody>
          <a:bodyPr/>
          <a:lstStyle/>
          <a:p>
            <a:pPr marL="0" indent="0" algn="just">
              <a:buNone/>
            </a:pPr>
            <a:r>
              <a:rPr lang="zh-CN" altLang="zh-CN" sz="3100" dirty="0"/>
              <a:t>数字输出与模拟输出最直观的区别就是数字输出是二值的，即只有</a:t>
            </a:r>
            <a:r>
              <a:rPr lang="en-US" altLang="zh-CN" sz="3100" dirty="0"/>
              <a:t>0</a:t>
            </a:r>
            <a:r>
              <a:rPr lang="zh-CN" altLang="zh-CN" sz="3100" dirty="0"/>
              <a:t>和</a:t>
            </a:r>
            <a:r>
              <a:rPr lang="en-US" altLang="zh-CN" sz="3100" dirty="0"/>
              <a:t>1</a:t>
            </a:r>
            <a:r>
              <a:rPr lang="zh-CN" altLang="zh-CN" sz="3100" dirty="0"/>
              <a:t>，而模拟输出可以在</a:t>
            </a:r>
            <a:r>
              <a:rPr lang="en-US" altLang="zh-CN" sz="3100" dirty="0"/>
              <a:t>0~255</a:t>
            </a:r>
            <a:r>
              <a:rPr lang="zh-CN" altLang="zh-CN" sz="3100" dirty="0"/>
              <a:t>之间变化。就好比是一辆汽车，数字输出控制着汽车跑或者不跑，而模拟输出可以精确地控制汽车跑的速度。模拟输出用到的函数为</a:t>
            </a:r>
            <a:r>
              <a:rPr lang="en-US" altLang="zh-CN" sz="3100" dirty="0" err="1"/>
              <a:t>analogWrite</a:t>
            </a:r>
            <a:r>
              <a:rPr lang="en-US" altLang="zh-CN" sz="3100" dirty="0"/>
              <a:t>(pin, value)</a:t>
            </a:r>
            <a:r>
              <a:rPr lang="zh-CN" altLang="zh-CN" sz="3100" dirty="0"/>
              <a:t>，其中</a:t>
            </a:r>
            <a:r>
              <a:rPr lang="en-US" altLang="zh-CN" sz="3100" dirty="0"/>
              <a:t>pin</a:t>
            </a:r>
            <a:r>
              <a:rPr lang="zh-CN" altLang="zh-CN" sz="3100" dirty="0"/>
              <a:t>是输出的引脚号，</a:t>
            </a:r>
            <a:r>
              <a:rPr lang="en-US" altLang="zh-CN" sz="3100" dirty="0"/>
              <a:t>value</a:t>
            </a:r>
            <a:r>
              <a:rPr lang="zh-CN" altLang="zh-CN" sz="3100" dirty="0"/>
              <a:t>为</a:t>
            </a:r>
            <a:r>
              <a:rPr lang="en-US" altLang="zh-CN" sz="3100" dirty="0"/>
              <a:t>0~255</a:t>
            </a:r>
            <a:r>
              <a:rPr lang="zh-CN" altLang="zh-CN" sz="3100" dirty="0"/>
              <a:t>之间的数值。通过这种函数，硬件</a:t>
            </a:r>
            <a:r>
              <a:rPr lang="en-US" altLang="zh-CN" sz="3100" dirty="0"/>
              <a:t>PWM</a:t>
            </a:r>
            <a:r>
              <a:rPr lang="zh-CN" altLang="zh-CN" sz="3100" dirty="0"/>
              <a:t>通过</a:t>
            </a:r>
            <a:r>
              <a:rPr lang="en-US" altLang="zh-CN" sz="3100" dirty="0"/>
              <a:t>0~255</a:t>
            </a:r>
            <a:r>
              <a:rPr lang="zh-CN" altLang="zh-CN" sz="3100" dirty="0"/>
              <a:t>之间的任意值来编程，其中</a:t>
            </a:r>
            <a:r>
              <a:rPr lang="en-US" altLang="zh-CN" sz="3100" dirty="0"/>
              <a:t>0</a:t>
            </a:r>
            <a:r>
              <a:rPr lang="zh-CN" altLang="zh-CN" sz="3100" dirty="0"/>
              <a:t>为关闭，</a:t>
            </a:r>
            <a:r>
              <a:rPr lang="en-US" altLang="zh-CN" sz="3100" dirty="0"/>
              <a:t>255</a:t>
            </a:r>
            <a:r>
              <a:rPr lang="zh-CN" altLang="zh-CN" sz="3100" dirty="0"/>
              <a:t>为全功率，</a:t>
            </a:r>
            <a:r>
              <a:rPr lang="en-US" altLang="zh-CN" sz="3100" dirty="0"/>
              <a:t>0~255</a:t>
            </a:r>
            <a:r>
              <a:rPr lang="zh-CN" altLang="zh-CN" sz="3100" dirty="0"/>
              <a:t>之间的任意一个值都会产生一个约</a:t>
            </a:r>
            <a:r>
              <a:rPr lang="en-US" altLang="zh-CN" sz="3100" dirty="0"/>
              <a:t>490Hz</a:t>
            </a:r>
            <a:r>
              <a:rPr lang="zh-CN" altLang="zh-CN" sz="3100" dirty="0"/>
              <a:t>的占空比可变的脉冲序列。</a:t>
            </a:r>
            <a:r>
              <a:rPr lang="en-US" altLang="zh-CN" sz="3100" dirty="0"/>
              <a:t>Arduino</a:t>
            </a:r>
            <a:r>
              <a:rPr lang="zh-CN" altLang="zh-CN" sz="3100" dirty="0"/>
              <a:t>软件限制</a:t>
            </a:r>
            <a:r>
              <a:rPr lang="en-US" altLang="zh-CN" sz="3100" dirty="0"/>
              <a:t>PWM</a:t>
            </a:r>
            <a:r>
              <a:rPr lang="zh-CN" altLang="zh-CN" sz="3100" dirty="0"/>
              <a:t>通道为</a:t>
            </a:r>
            <a:r>
              <a:rPr lang="en-US" altLang="zh-CN" sz="3100" dirty="0"/>
              <a:t>8</a:t>
            </a:r>
            <a:r>
              <a:rPr lang="zh-CN" altLang="zh-CN" sz="3100" dirty="0"/>
              <a:t>位计数器。</a:t>
            </a:r>
            <a:endParaRPr lang="zh-CN" altLang="en-US" sz="3100" dirty="0"/>
          </a:p>
        </p:txBody>
      </p:sp>
      <p:sp>
        <p:nvSpPr>
          <p:cNvPr id="4" name="灯片编号占位符 3">
            <a:extLst>
              <a:ext uri="{FF2B5EF4-FFF2-40B4-BE49-F238E27FC236}">
                <a16:creationId xmlns:a16="http://schemas.microsoft.com/office/drawing/2014/main" id="{1A6138B4-2192-3BC6-0C7C-F19627EF5351}"/>
              </a:ext>
            </a:extLst>
          </p:cNvPr>
          <p:cNvSpPr>
            <a:spLocks noGrp="1"/>
          </p:cNvSpPr>
          <p:nvPr>
            <p:ph type="sldNum" sz="quarter" idx="12"/>
          </p:nvPr>
        </p:nvSpPr>
        <p:spPr/>
        <p:txBody>
          <a:bodyPr/>
          <a:lstStyle/>
          <a:p>
            <a:pPr>
              <a:defRPr/>
            </a:pPr>
            <a:fld id="{2C687883-A9F8-4324-BFDB-FCCC5C558AE8}" type="slidenum">
              <a:rPr lang="en-US" altLang="zh-CN" smtClean="0"/>
              <a:t>73</a:t>
            </a:fld>
            <a:endParaRPr lang="en-US" altLang="zh-CN"/>
          </a:p>
        </p:txBody>
      </p:sp>
    </p:spTree>
  </p:cSld>
  <p:clrMapOvr>
    <a:masterClrMapping/>
  </p:clrMapOvr>
  <p:transition>
    <p:cover dir="d"/>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zh-CN" dirty="0"/>
              <a:t>使用</a:t>
            </a:r>
            <a:r>
              <a:rPr lang="en-US" altLang="zh-CN" dirty="0"/>
              <a:t>PWM</a:t>
            </a:r>
            <a:r>
              <a:rPr lang="zh-CN" altLang="zh-CN" dirty="0"/>
              <a:t>控制小灯</a:t>
            </a:r>
            <a:r>
              <a:rPr lang="zh-CN" altLang="en-US" dirty="0"/>
              <a:t>亮度</a:t>
            </a:r>
          </a:p>
        </p:txBody>
      </p:sp>
      <p:sp>
        <p:nvSpPr>
          <p:cNvPr id="3" name="内容占位符 2"/>
          <p:cNvSpPr>
            <a:spLocks noGrp="1"/>
          </p:cNvSpPr>
          <p:nvPr>
            <p:ph idx="1"/>
          </p:nvPr>
        </p:nvSpPr>
        <p:spPr>
          <a:xfrm>
            <a:off x="685800" y="1752601"/>
            <a:ext cx="7772400" cy="4894942"/>
          </a:xfrm>
        </p:spPr>
        <p:txBody>
          <a:bodyPr/>
          <a:lstStyle/>
          <a:p>
            <a:r>
              <a:rPr lang="en-US" altLang="zh-CN" sz="1800" b="0" dirty="0">
                <a:solidFill>
                  <a:srgbClr val="00979D"/>
                </a:solidFill>
                <a:effectLst/>
                <a:latin typeface="Consolas" panose="020B0609020204030204" pitchFamily="49" charset="0"/>
              </a:rPr>
              <a:t>int</a:t>
            </a:r>
            <a:r>
              <a:rPr lang="en-US" altLang="zh-CN" sz="1800" b="0" dirty="0">
                <a:solidFill>
                  <a:srgbClr val="4E5B61"/>
                </a:solidFill>
                <a:effectLst/>
                <a:latin typeface="Consolas" panose="020B0609020204030204" pitchFamily="49" charset="0"/>
              </a:rPr>
              <a:t> led = </a:t>
            </a:r>
            <a:r>
              <a:rPr lang="en-US" altLang="zh-CN" sz="1800" b="0" dirty="0">
                <a:solidFill>
                  <a:srgbClr val="005C5F"/>
                </a:solidFill>
                <a:effectLst/>
                <a:latin typeface="Consolas" panose="020B0609020204030204" pitchFamily="49" charset="0"/>
              </a:rPr>
              <a:t>3</a:t>
            </a:r>
            <a:r>
              <a:rPr lang="en-US" altLang="zh-CN" sz="1800" b="0" dirty="0">
                <a:solidFill>
                  <a:srgbClr val="4E5B61"/>
                </a:solidFill>
                <a:effectLst/>
                <a:latin typeface="Consolas" panose="020B0609020204030204" pitchFamily="49" charset="0"/>
              </a:rPr>
              <a:t>;</a:t>
            </a:r>
          </a:p>
          <a:p>
            <a:r>
              <a:rPr lang="en-US" altLang="zh-CN" sz="1800" b="0" dirty="0">
                <a:solidFill>
                  <a:srgbClr val="00979D"/>
                </a:solidFill>
                <a:effectLst/>
                <a:latin typeface="Consolas" panose="020B0609020204030204" pitchFamily="49" charset="0"/>
              </a:rPr>
              <a:t>void</a:t>
            </a:r>
            <a:r>
              <a:rPr lang="en-US" altLang="zh-CN" sz="1800" b="0" dirty="0">
                <a:solidFill>
                  <a:srgbClr val="4E5B61"/>
                </a:solidFill>
                <a:effectLst/>
                <a:latin typeface="Consolas" panose="020B0609020204030204" pitchFamily="49" charset="0"/>
              </a:rPr>
              <a:t> </a:t>
            </a:r>
            <a:r>
              <a:rPr lang="en-US" altLang="zh-CN" sz="1800" b="0" dirty="0">
                <a:solidFill>
                  <a:srgbClr val="D35400"/>
                </a:solidFill>
                <a:effectLst/>
                <a:latin typeface="Consolas" panose="020B0609020204030204" pitchFamily="49" charset="0"/>
              </a:rPr>
              <a:t>setup</a:t>
            </a:r>
            <a:r>
              <a:rPr lang="en-US" altLang="zh-CN" sz="1800" b="0" dirty="0">
                <a:solidFill>
                  <a:srgbClr val="434F54"/>
                </a:solidFill>
                <a:effectLst/>
                <a:latin typeface="Consolas" panose="020B0609020204030204" pitchFamily="49" charset="0"/>
              </a:rPr>
              <a:t>()</a:t>
            </a:r>
            <a:r>
              <a:rPr lang="en-US" altLang="zh-CN" sz="1800" b="0" dirty="0">
                <a:solidFill>
                  <a:srgbClr val="4E5B61"/>
                </a:solidFill>
                <a:effectLst/>
                <a:latin typeface="Consolas" panose="020B0609020204030204" pitchFamily="49" charset="0"/>
              </a:rPr>
              <a:t> </a:t>
            </a:r>
            <a:r>
              <a:rPr lang="en-US" altLang="zh-CN" sz="1800" b="0" dirty="0">
                <a:solidFill>
                  <a:srgbClr val="434F54"/>
                </a:solidFill>
                <a:effectLst/>
                <a:latin typeface="Consolas" panose="020B0609020204030204" pitchFamily="49" charset="0"/>
              </a:rPr>
              <a:t>{</a:t>
            </a:r>
            <a:r>
              <a:rPr lang="en-US" altLang="zh-CN" sz="1800" b="0" dirty="0">
                <a:solidFill>
                  <a:srgbClr val="4E5B61"/>
                </a:solidFill>
                <a:effectLst/>
                <a:latin typeface="Consolas" panose="020B0609020204030204" pitchFamily="49" charset="0"/>
              </a:rPr>
              <a:t>                </a:t>
            </a:r>
          </a:p>
          <a:p>
            <a:r>
              <a:rPr lang="en-US" altLang="zh-CN" sz="1800" b="0" dirty="0">
                <a:solidFill>
                  <a:srgbClr val="434F54"/>
                </a:solidFill>
                <a:effectLst/>
                <a:latin typeface="Consolas" panose="020B0609020204030204" pitchFamily="49" charset="0"/>
              </a:rPr>
              <a:t>}</a:t>
            </a:r>
            <a:endParaRPr lang="en-US" altLang="zh-CN" sz="1800" b="0" dirty="0">
              <a:solidFill>
                <a:srgbClr val="4E5B61"/>
              </a:solidFill>
              <a:effectLst/>
              <a:latin typeface="Consolas" panose="020B0609020204030204" pitchFamily="49" charset="0"/>
            </a:endParaRPr>
          </a:p>
          <a:p>
            <a:r>
              <a:rPr lang="en-US" altLang="zh-CN" sz="1800" b="0" dirty="0">
                <a:solidFill>
                  <a:srgbClr val="00979D"/>
                </a:solidFill>
                <a:effectLst/>
                <a:latin typeface="Consolas" panose="020B0609020204030204" pitchFamily="49" charset="0"/>
              </a:rPr>
              <a:t>void</a:t>
            </a:r>
            <a:r>
              <a:rPr lang="en-US" altLang="zh-CN" sz="1800" b="0" dirty="0">
                <a:solidFill>
                  <a:srgbClr val="4E5B61"/>
                </a:solidFill>
                <a:effectLst/>
                <a:latin typeface="Consolas" panose="020B0609020204030204" pitchFamily="49" charset="0"/>
              </a:rPr>
              <a:t> </a:t>
            </a:r>
            <a:r>
              <a:rPr lang="en-US" altLang="zh-CN" sz="1800" b="0" dirty="0">
                <a:solidFill>
                  <a:srgbClr val="D35400"/>
                </a:solidFill>
                <a:effectLst/>
                <a:latin typeface="Consolas" panose="020B0609020204030204" pitchFamily="49" charset="0"/>
              </a:rPr>
              <a:t>loop</a:t>
            </a:r>
            <a:r>
              <a:rPr lang="en-US" altLang="zh-CN" sz="1800" b="0" dirty="0">
                <a:solidFill>
                  <a:srgbClr val="434F54"/>
                </a:solidFill>
                <a:effectLst/>
                <a:latin typeface="Consolas" panose="020B0609020204030204" pitchFamily="49" charset="0"/>
              </a:rPr>
              <a:t>()</a:t>
            </a:r>
            <a:r>
              <a:rPr lang="en-US" altLang="zh-CN" sz="1800" b="0" dirty="0">
                <a:solidFill>
                  <a:srgbClr val="4E5B61"/>
                </a:solidFill>
                <a:effectLst/>
                <a:latin typeface="Consolas" panose="020B0609020204030204" pitchFamily="49" charset="0"/>
              </a:rPr>
              <a:t> </a:t>
            </a:r>
            <a:r>
              <a:rPr lang="en-US" altLang="zh-CN" sz="1800" b="0" dirty="0">
                <a:solidFill>
                  <a:srgbClr val="434F54"/>
                </a:solidFill>
                <a:effectLst/>
                <a:latin typeface="Consolas" panose="020B0609020204030204" pitchFamily="49" charset="0"/>
              </a:rPr>
              <a:t>{</a:t>
            </a:r>
            <a:endParaRPr lang="en-US" altLang="zh-CN" sz="1800" b="0" dirty="0">
              <a:solidFill>
                <a:srgbClr val="4E5B61"/>
              </a:solidFill>
              <a:effectLst/>
              <a:latin typeface="Consolas" panose="020B0609020204030204" pitchFamily="49" charset="0"/>
            </a:endParaRPr>
          </a:p>
          <a:p>
            <a:r>
              <a:rPr lang="en-US" altLang="zh-CN" sz="1800" b="0" dirty="0">
                <a:solidFill>
                  <a:srgbClr val="4E5B61"/>
                </a:solidFill>
                <a:effectLst/>
                <a:latin typeface="Consolas" panose="020B0609020204030204" pitchFamily="49" charset="0"/>
              </a:rPr>
              <a:t>  </a:t>
            </a:r>
            <a:r>
              <a:rPr lang="en-US" altLang="zh-CN" sz="1800" b="0" dirty="0">
                <a:solidFill>
                  <a:srgbClr val="728E00"/>
                </a:solidFill>
                <a:effectLst/>
                <a:latin typeface="Consolas" panose="020B0609020204030204" pitchFamily="49" charset="0"/>
              </a:rPr>
              <a:t>for</a:t>
            </a:r>
            <a:r>
              <a:rPr lang="en-US" altLang="zh-CN" sz="1800" b="0" dirty="0">
                <a:solidFill>
                  <a:srgbClr val="4E5B61"/>
                </a:solidFill>
                <a:effectLst/>
                <a:latin typeface="Consolas" panose="020B0609020204030204" pitchFamily="49" charset="0"/>
              </a:rPr>
              <a:t> </a:t>
            </a:r>
            <a:r>
              <a:rPr lang="en-US" altLang="zh-CN" sz="1800" b="0" dirty="0">
                <a:solidFill>
                  <a:srgbClr val="434F54"/>
                </a:solidFill>
                <a:effectLst/>
                <a:latin typeface="Consolas" panose="020B0609020204030204" pitchFamily="49" charset="0"/>
              </a:rPr>
              <a:t>(</a:t>
            </a:r>
            <a:r>
              <a:rPr lang="en-US" altLang="zh-CN" sz="1800" b="0" dirty="0">
                <a:solidFill>
                  <a:srgbClr val="00979D"/>
                </a:solidFill>
                <a:effectLst/>
                <a:latin typeface="Consolas" panose="020B0609020204030204" pitchFamily="49" charset="0"/>
              </a:rPr>
              <a:t>int</a:t>
            </a:r>
            <a:r>
              <a:rPr lang="en-US" altLang="zh-CN" sz="1800" b="0" dirty="0">
                <a:solidFill>
                  <a:srgbClr val="4E5B61"/>
                </a:solidFill>
                <a:effectLst/>
                <a:latin typeface="Consolas" panose="020B0609020204030204" pitchFamily="49" charset="0"/>
              </a:rPr>
              <a:t> </a:t>
            </a:r>
            <a:r>
              <a:rPr lang="en-US" altLang="zh-CN" sz="1800" b="0" dirty="0" err="1">
                <a:solidFill>
                  <a:srgbClr val="4E5B61"/>
                </a:solidFill>
                <a:effectLst/>
                <a:latin typeface="Consolas" panose="020B0609020204030204" pitchFamily="49" charset="0"/>
              </a:rPr>
              <a:t>i</a:t>
            </a:r>
            <a:r>
              <a:rPr lang="en-US" altLang="zh-CN" sz="1800" b="0" dirty="0">
                <a:solidFill>
                  <a:srgbClr val="4E5B61"/>
                </a:solidFill>
                <a:effectLst/>
                <a:latin typeface="Consolas" panose="020B0609020204030204" pitchFamily="49" charset="0"/>
              </a:rPr>
              <a:t> = </a:t>
            </a:r>
            <a:r>
              <a:rPr lang="en-US" altLang="zh-CN" sz="1800" b="0" dirty="0">
                <a:solidFill>
                  <a:srgbClr val="005C5F"/>
                </a:solidFill>
                <a:effectLst/>
                <a:latin typeface="Consolas" panose="020B0609020204030204" pitchFamily="49" charset="0"/>
              </a:rPr>
              <a:t>0</a:t>
            </a:r>
            <a:r>
              <a:rPr lang="en-US" altLang="zh-CN" sz="1800" b="0" dirty="0">
                <a:solidFill>
                  <a:srgbClr val="4E5B61"/>
                </a:solidFill>
                <a:effectLst/>
                <a:latin typeface="Consolas" panose="020B0609020204030204" pitchFamily="49" charset="0"/>
              </a:rPr>
              <a:t>; </a:t>
            </a:r>
            <a:r>
              <a:rPr lang="en-US" altLang="zh-CN" sz="1800" b="0" dirty="0" err="1">
                <a:solidFill>
                  <a:srgbClr val="4E5B61"/>
                </a:solidFill>
                <a:effectLst/>
                <a:latin typeface="Consolas" panose="020B0609020204030204" pitchFamily="49" charset="0"/>
              </a:rPr>
              <a:t>i</a:t>
            </a:r>
            <a:r>
              <a:rPr lang="en-US" altLang="zh-CN" sz="1800" b="0" dirty="0">
                <a:solidFill>
                  <a:srgbClr val="4E5B61"/>
                </a:solidFill>
                <a:effectLst/>
                <a:latin typeface="Consolas" panose="020B0609020204030204" pitchFamily="49" charset="0"/>
              </a:rPr>
              <a:t> &lt; </a:t>
            </a:r>
            <a:r>
              <a:rPr lang="en-US" altLang="zh-CN" sz="1800" b="0" dirty="0">
                <a:solidFill>
                  <a:srgbClr val="005C5F"/>
                </a:solidFill>
                <a:effectLst/>
                <a:latin typeface="Consolas" panose="020B0609020204030204" pitchFamily="49" charset="0"/>
              </a:rPr>
              <a:t>100</a:t>
            </a:r>
            <a:r>
              <a:rPr lang="en-US" altLang="zh-CN" sz="1800" b="0" dirty="0">
                <a:solidFill>
                  <a:srgbClr val="4E5B61"/>
                </a:solidFill>
                <a:effectLst/>
                <a:latin typeface="Consolas" panose="020B0609020204030204" pitchFamily="49" charset="0"/>
              </a:rPr>
              <a:t>; </a:t>
            </a:r>
            <a:r>
              <a:rPr lang="en-US" altLang="zh-CN" sz="1800" b="0" dirty="0" err="1">
                <a:solidFill>
                  <a:srgbClr val="4E5B61"/>
                </a:solidFill>
                <a:effectLst/>
                <a:latin typeface="Consolas" panose="020B0609020204030204" pitchFamily="49" charset="0"/>
              </a:rPr>
              <a:t>i</a:t>
            </a:r>
            <a:r>
              <a:rPr lang="en-US" altLang="zh-CN" sz="1800" b="0" dirty="0">
                <a:solidFill>
                  <a:srgbClr val="4E5B61"/>
                </a:solidFill>
                <a:effectLst/>
                <a:latin typeface="Consolas" panose="020B0609020204030204" pitchFamily="49" charset="0"/>
              </a:rPr>
              <a:t>++</a:t>
            </a:r>
            <a:r>
              <a:rPr lang="en-US" altLang="zh-CN" sz="1800" b="0" dirty="0">
                <a:solidFill>
                  <a:srgbClr val="434F54"/>
                </a:solidFill>
                <a:effectLst/>
                <a:latin typeface="Consolas" panose="020B0609020204030204" pitchFamily="49" charset="0"/>
              </a:rPr>
              <a:t>)</a:t>
            </a:r>
            <a:r>
              <a:rPr lang="en-US" altLang="zh-CN" sz="1800" b="0" dirty="0">
                <a:solidFill>
                  <a:srgbClr val="4E5B61"/>
                </a:solidFill>
                <a:effectLst/>
                <a:latin typeface="Consolas" panose="020B0609020204030204" pitchFamily="49" charset="0"/>
              </a:rPr>
              <a:t> </a:t>
            </a:r>
            <a:r>
              <a:rPr lang="en-US" altLang="zh-CN" sz="1800" b="0" dirty="0">
                <a:solidFill>
                  <a:srgbClr val="434F54"/>
                </a:solidFill>
                <a:effectLst/>
                <a:latin typeface="Consolas" panose="020B0609020204030204" pitchFamily="49" charset="0"/>
              </a:rPr>
              <a:t>{</a:t>
            </a:r>
            <a:endParaRPr lang="en-US" altLang="zh-CN" sz="1800" b="0" dirty="0">
              <a:solidFill>
                <a:srgbClr val="4E5B61"/>
              </a:solidFill>
              <a:effectLst/>
              <a:latin typeface="Consolas" panose="020B0609020204030204" pitchFamily="49" charset="0"/>
            </a:endParaRPr>
          </a:p>
          <a:p>
            <a:r>
              <a:rPr lang="en-US" altLang="zh-CN" sz="1800" b="0" dirty="0">
                <a:solidFill>
                  <a:srgbClr val="4E5B61"/>
                </a:solidFill>
                <a:effectLst/>
                <a:latin typeface="Consolas" panose="020B0609020204030204" pitchFamily="49" charset="0"/>
              </a:rPr>
              <a:t>    </a:t>
            </a:r>
            <a:r>
              <a:rPr lang="en-US" altLang="zh-CN" sz="1800" b="0" dirty="0" err="1">
                <a:solidFill>
                  <a:srgbClr val="D35400"/>
                </a:solidFill>
                <a:effectLst/>
                <a:latin typeface="Consolas" panose="020B0609020204030204" pitchFamily="49" charset="0"/>
              </a:rPr>
              <a:t>analogWrite</a:t>
            </a:r>
            <a:r>
              <a:rPr lang="en-US" altLang="zh-CN" sz="1800" b="0" dirty="0">
                <a:solidFill>
                  <a:srgbClr val="434F54"/>
                </a:solidFill>
                <a:effectLst/>
                <a:latin typeface="Consolas" panose="020B0609020204030204" pitchFamily="49" charset="0"/>
              </a:rPr>
              <a:t>(</a:t>
            </a:r>
            <a:r>
              <a:rPr lang="en-US" altLang="zh-CN" sz="1800" b="0" dirty="0">
                <a:solidFill>
                  <a:srgbClr val="4E5B61"/>
                </a:solidFill>
                <a:effectLst/>
                <a:latin typeface="Consolas" panose="020B0609020204030204" pitchFamily="49" charset="0"/>
              </a:rPr>
              <a:t>led, </a:t>
            </a:r>
            <a:r>
              <a:rPr lang="en-US" altLang="zh-CN" sz="1800" b="0" dirty="0" err="1">
                <a:solidFill>
                  <a:srgbClr val="4E5B61"/>
                </a:solidFill>
                <a:effectLst/>
                <a:latin typeface="Consolas" panose="020B0609020204030204" pitchFamily="49" charset="0"/>
              </a:rPr>
              <a:t>i</a:t>
            </a:r>
            <a:r>
              <a:rPr lang="en-US" altLang="zh-CN" sz="1800" b="0" dirty="0">
                <a:solidFill>
                  <a:srgbClr val="434F54"/>
                </a:solidFill>
                <a:effectLst/>
                <a:latin typeface="Consolas" panose="020B0609020204030204" pitchFamily="49" charset="0"/>
              </a:rPr>
              <a:t>)</a:t>
            </a:r>
            <a:r>
              <a:rPr lang="en-US" altLang="zh-CN" sz="1800" b="0" dirty="0">
                <a:solidFill>
                  <a:srgbClr val="4E5B61"/>
                </a:solidFill>
                <a:effectLst/>
                <a:latin typeface="Consolas" panose="020B0609020204030204" pitchFamily="49" charset="0"/>
              </a:rPr>
              <a:t>;</a:t>
            </a:r>
          </a:p>
          <a:p>
            <a:r>
              <a:rPr lang="en-US" altLang="zh-CN" sz="1800" b="0" dirty="0">
                <a:solidFill>
                  <a:srgbClr val="4E5B61"/>
                </a:solidFill>
                <a:effectLst/>
                <a:latin typeface="Consolas" panose="020B0609020204030204" pitchFamily="49" charset="0"/>
              </a:rPr>
              <a:t>    </a:t>
            </a:r>
            <a:r>
              <a:rPr lang="en-US" altLang="zh-CN" sz="1800" b="0" dirty="0">
                <a:solidFill>
                  <a:srgbClr val="D35400"/>
                </a:solidFill>
                <a:effectLst/>
                <a:latin typeface="Consolas" panose="020B0609020204030204" pitchFamily="49" charset="0"/>
              </a:rPr>
              <a:t>delay</a:t>
            </a:r>
            <a:r>
              <a:rPr lang="en-US" altLang="zh-CN" sz="1800" b="0" dirty="0">
                <a:solidFill>
                  <a:srgbClr val="434F54"/>
                </a:solidFill>
                <a:effectLst/>
                <a:latin typeface="Consolas" panose="020B0609020204030204" pitchFamily="49" charset="0"/>
              </a:rPr>
              <a:t>(</a:t>
            </a:r>
            <a:r>
              <a:rPr lang="en-US" altLang="zh-CN" sz="1800" b="0" dirty="0">
                <a:solidFill>
                  <a:srgbClr val="005C5F"/>
                </a:solidFill>
                <a:effectLst/>
                <a:latin typeface="Consolas" panose="020B0609020204030204" pitchFamily="49" charset="0"/>
              </a:rPr>
              <a:t>20</a:t>
            </a:r>
            <a:r>
              <a:rPr lang="en-US" altLang="zh-CN" sz="1800" b="0" dirty="0">
                <a:solidFill>
                  <a:srgbClr val="434F54"/>
                </a:solidFill>
                <a:effectLst/>
                <a:latin typeface="Consolas" panose="020B0609020204030204" pitchFamily="49" charset="0"/>
              </a:rPr>
              <a:t>)</a:t>
            </a:r>
            <a:r>
              <a:rPr lang="en-US" altLang="zh-CN" sz="1800" b="0" dirty="0">
                <a:solidFill>
                  <a:srgbClr val="4E5B61"/>
                </a:solidFill>
                <a:effectLst/>
                <a:latin typeface="Consolas" panose="020B0609020204030204" pitchFamily="49" charset="0"/>
              </a:rPr>
              <a:t>;</a:t>
            </a:r>
          </a:p>
          <a:p>
            <a:r>
              <a:rPr lang="en-US" altLang="zh-CN" sz="1800" b="0" dirty="0">
                <a:solidFill>
                  <a:srgbClr val="4E5B61"/>
                </a:solidFill>
                <a:effectLst/>
                <a:latin typeface="Consolas" panose="020B0609020204030204" pitchFamily="49" charset="0"/>
              </a:rPr>
              <a:t>  </a:t>
            </a:r>
            <a:r>
              <a:rPr lang="en-US" altLang="zh-CN" sz="1800" b="0" dirty="0">
                <a:solidFill>
                  <a:srgbClr val="434F54"/>
                </a:solidFill>
                <a:effectLst/>
                <a:latin typeface="Consolas" panose="020B0609020204030204" pitchFamily="49" charset="0"/>
              </a:rPr>
              <a:t>}</a:t>
            </a:r>
            <a:endParaRPr lang="en-US" altLang="zh-CN" sz="1800" b="0" dirty="0">
              <a:solidFill>
                <a:srgbClr val="4E5B61"/>
              </a:solidFill>
              <a:effectLst/>
              <a:latin typeface="Consolas" panose="020B0609020204030204" pitchFamily="49" charset="0"/>
            </a:endParaRPr>
          </a:p>
          <a:p>
            <a:r>
              <a:rPr lang="en-US" altLang="zh-CN" sz="1800" b="0" dirty="0">
                <a:solidFill>
                  <a:srgbClr val="4E5B61"/>
                </a:solidFill>
                <a:effectLst/>
                <a:latin typeface="Consolas" panose="020B0609020204030204" pitchFamily="49" charset="0"/>
              </a:rPr>
              <a:t>  </a:t>
            </a:r>
            <a:r>
              <a:rPr lang="en-US" altLang="zh-CN" sz="1800" b="0" dirty="0">
                <a:solidFill>
                  <a:srgbClr val="D35400"/>
                </a:solidFill>
                <a:effectLst/>
                <a:latin typeface="Consolas" panose="020B0609020204030204" pitchFamily="49" charset="0"/>
              </a:rPr>
              <a:t>delay</a:t>
            </a:r>
            <a:r>
              <a:rPr lang="en-US" altLang="zh-CN" sz="1800" b="0" dirty="0">
                <a:solidFill>
                  <a:srgbClr val="434F54"/>
                </a:solidFill>
                <a:effectLst/>
                <a:latin typeface="Consolas" panose="020B0609020204030204" pitchFamily="49" charset="0"/>
              </a:rPr>
              <a:t>(</a:t>
            </a:r>
            <a:r>
              <a:rPr lang="en-US" altLang="zh-CN" sz="1800" b="0" dirty="0">
                <a:solidFill>
                  <a:srgbClr val="005C5F"/>
                </a:solidFill>
                <a:effectLst/>
                <a:latin typeface="Consolas" panose="020B0609020204030204" pitchFamily="49" charset="0"/>
              </a:rPr>
              <a:t>200</a:t>
            </a:r>
            <a:r>
              <a:rPr lang="en-US" altLang="zh-CN" sz="1800" b="0" dirty="0">
                <a:solidFill>
                  <a:srgbClr val="434F54"/>
                </a:solidFill>
                <a:effectLst/>
                <a:latin typeface="Consolas" panose="020B0609020204030204" pitchFamily="49" charset="0"/>
              </a:rPr>
              <a:t>)</a:t>
            </a:r>
            <a:r>
              <a:rPr lang="en-US" altLang="zh-CN" sz="1800" b="0" dirty="0">
                <a:solidFill>
                  <a:srgbClr val="4E5B61"/>
                </a:solidFill>
                <a:effectLst/>
                <a:latin typeface="Consolas" panose="020B0609020204030204" pitchFamily="49" charset="0"/>
              </a:rPr>
              <a:t>;</a:t>
            </a:r>
          </a:p>
          <a:p>
            <a:r>
              <a:rPr lang="en-US" altLang="zh-CN" sz="1800" b="0" dirty="0">
                <a:solidFill>
                  <a:srgbClr val="4E5B61"/>
                </a:solidFill>
                <a:effectLst/>
                <a:latin typeface="Consolas" panose="020B0609020204030204" pitchFamily="49" charset="0"/>
              </a:rPr>
              <a:t>  </a:t>
            </a:r>
            <a:r>
              <a:rPr lang="en-US" altLang="zh-CN" sz="1800" b="0" dirty="0">
                <a:solidFill>
                  <a:srgbClr val="728E00"/>
                </a:solidFill>
                <a:effectLst/>
                <a:latin typeface="Consolas" panose="020B0609020204030204" pitchFamily="49" charset="0"/>
              </a:rPr>
              <a:t>for</a:t>
            </a:r>
            <a:r>
              <a:rPr lang="en-US" altLang="zh-CN" sz="1800" b="0" dirty="0">
                <a:solidFill>
                  <a:srgbClr val="4E5B61"/>
                </a:solidFill>
                <a:effectLst/>
                <a:latin typeface="Consolas" panose="020B0609020204030204" pitchFamily="49" charset="0"/>
              </a:rPr>
              <a:t> </a:t>
            </a:r>
            <a:r>
              <a:rPr lang="en-US" altLang="zh-CN" sz="1800" b="0" dirty="0">
                <a:solidFill>
                  <a:srgbClr val="434F54"/>
                </a:solidFill>
                <a:effectLst/>
                <a:latin typeface="Consolas" panose="020B0609020204030204" pitchFamily="49" charset="0"/>
              </a:rPr>
              <a:t>(</a:t>
            </a:r>
            <a:r>
              <a:rPr lang="en-US" altLang="zh-CN" sz="1800" b="0" dirty="0">
                <a:solidFill>
                  <a:srgbClr val="00979D"/>
                </a:solidFill>
                <a:effectLst/>
                <a:latin typeface="Consolas" panose="020B0609020204030204" pitchFamily="49" charset="0"/>
              </a:rPr>
              <a:t>int</a:t>
            </a:r>
            <a:r>
              <a:rPr lang="en-US" altLang="zh-CN" sz="1800" b="0" dirty="0">
                <a:solidFill>
                  <a:srgbClr val="4E5B61"/>
                </a:solidFill>
                <a:effectLst/>
                <a:latin typeface="Consolas" panose="020B0609020204030204" pitchFamily="49" charset="0"/>
              </a:rPr>
              <a:t> </a:t>
            </a:r>
            <a:r>
              <a:rPr lang="en-US" altLang="zh-CN" sz="1800" b="0" dirty="0" err="1">
                <a:solidFill>
                  <a:srgbClr val="4E5B61"/>
                </a:solidFill>
                <a:effectLst/>
                <a:latin typeface="Consolas" panose="020B0609020204030204" pitchFamily="49" charset="0"/>
              </a:rPr>
              <a:t>i</a:t>
            </a:r>
            <a:r>
              <a:rPr lang="en-US" altLang="zh-CN" sz="1800" b="0" dirty="0">
                <a:solidFill>
                  <a:srgbClr val="4E5B61"/>
                </a:solidFill>
                <a:effectLst/>
                <a:latin typeface="Consolas" panose="020B0609020204030204" pitchFamily="49" charset="0"/>
              </a:rPr>
              <a:t> = </a:t>
            </a:r>
            <a:r>
              <a:rPr lang="en-US" altLang="zh-CN" sz="1800" b="0" dirty="0">
                <a:solidFill>
                  <a:srgbClr val="005C5F"/>
                </a:solidFill>
                <a:effectLst/>
                <a:latin typeface="Consolas" panose="020B0609020204030204" pitchFamily="49" charset="0"/>
              </a:rPr>
              <a:t>100</a:t>
            </a:r>
            <a:r>
              <a:rPr lang="en-US" altLang="zh-CN" sz="1800" b="0" dirty="0">
                <a:solidFill>
                  <a:srgbClr val="4E5B61"/>
                </a:solidFill>
                <a:effectLst/>
                <a:latin typeface="Consolas" panose="020B0609020204030204" pitchFamily="49" charset="0"/>
              </a:rPr>
              <a:t>; </a:t>
            </a:r>
            <a:r>
              <a:rPr lang="en-US" altLang="zh-CN" sz="1800" b="0" dirty="0" err="1">
                <a:solidFill>
                  <a:srgbClr val="4E5B61"/>
                </a:solidFill>
                <a:effectLst/>
                <a:latin typeface="Consolas" panose="020B0609020204030204" pitchFamily="49" charset="0"/>
              </a:rPr>
              <a:t>i</a:t>
            </a:r>
            <a:r>
              <a:rPr lang="en-US" altLang="zh-CN" sz="1800" b="0" dirty="0">
                <a:solidFill>
                  <a:srgbClr val="4E5B61"/>
                </a:solidFill>
                <a:effectLst/>
                <a:latin typeface="Consolas" panose="020B0609020204030204" pitchFamily="49" charset="0"/>
              </a:rPr>
              <a:t> &gt; </a:t>
            </a:r>
            <a:r>
              <a:rPr lang="en-US" altLang="zh-CN" sz="1800" b="0" dirty="0">
                <a:solidFill>
                  <a:srgbClr val="005C5F"/>
                </a:solidFill>
                <a:effectLst/>
                <a:latin typeface="Consolas" panose="020B0609020204030204" pitchFamily="49" charset="0"/>
              </a:rPr>
              <a:t>0</a:t>
            </a:r>
            <a:r>
              <a:rPr lang="en-US" altLang="zh-CN" sz="1800" b="0" dirty="0">
                <a:solidFill>
                  <a:srgbClr val="4E5B61"/>
                </a:solidFill>
                <a:effectLst/>
                <a:latin typeface="Consolas" panose="020B0609020204030204" pitchFamily="49" charset="0"/>
              </a:rPr>
              <a:t>; </a:t>
            </a:r>
            <a:r>
              <a:rPr lang="en-US" altLang="zh-CN" sz="1800" b="0" dirty="0" err="1">
                <a:solidFill>
                  <a:srgbClr val="4E5B61"/>
                </a:solidFill>
                <a:effectLst/>
                <a:latin typeface="Consolas" panose="020B0609020204030204" pitchFamily="49" charset="0"/>
              </a:rPr>
              <a:t>i</a:t>
            </a:r>
            <a:r>
              <a:rPr lang="en-US" altLang="zh-CN" sz="1800" b="0" dirty="0">
                <a:solidFill>
                  <a:srgbClr val="4E5B61"/>
                </a:solidFill>
                <a:effectLst/>
                <a:latin typeface="Consolas" panose="020B0609020204030204" pitchFamily="49" charset="0"/>
              </a:rPr>
              <a:t>--</a:t>
            </a:r>
            <a:r>
              <a:rPr lang="en-US" altLang="zh-CN" sz="1800" b="0" dirty="0">
                <a:solidFill>
                  <a:srgbClr val="434F54"/>
                </a:solidFill>
                <a:effectLst/>
                <a:latin typeface="Consolas" panose="020B0609020204030204" pitchFamily="49" charset="0"/>
              </a:rPr>
              <a:t>)</a:t>
            </a:r>
            <a:r>
              <a:rPr lang="en-US" altLang="zh-CN" sz="1800" b="0" dirty="0">
                <a:solidFill>
                  <a:srgbClr val="4E5B61"/>
                </a:solidFill>
                <a:effectLst/>
                <a:latin typeface="Consolas" panose="020B0609020204030204" pitchFamily="49" charset="0"/>
              </a:rPr>
              <a:t> </a:t>
            </a:r>
            <a:r>
              <a:rPr lang="en-US" altLang="zh-CN" sz="1800" b="0" dirty="0">
                <a:solidFill>
                  <a:srgbClr val="434F54"/>
                </a:solidFill>
                <a:effectLst/>
                <a:latin typeface="Consolas" panose="020B0609020204030204" pitchFamily="49" charset="0"/>
              </a:rPr>
              <a:t>{</a:t>
            </a:r>
            <a:endParaRPr lang="en-US" altLang="zh-CN" sz="1800" b="0" dirty="0">
              <a:solidFill>
                <a:srgbClr val="4E5B61"/>
              </a:solidFill>
              <a:effectLst/>
              <a:latin typeface="Consolas" panose="020B0609020204030204" pitchFamily="49" charset="0"/>
            </a:endParaRPr>
          </a:p>
          <a:p>
            <a:r>
              <a:rPr lang="en-US" altLang="zh-CN" sz="1800" b="0" dirty="0">
                <a:solidFill>
                  <a:srgbClr val="4E5B61"/>
                </a:solidFill>
                <a:effectLst/>
                <a:latin typeface="Consolas" panose="020B0609020204030204" pitchFamily="49" charset="0"/>
              </a:rPr>
              <a:t>    </a:t>
            </a:r>
            <a:r>
              <a:rPr lang="en-US" altLang="zh-CN" sz="1800" b="0" dirty="0" err="1">
                <a:solidFill>
                  <a:srgbClr val="D35400"/>
                </a:solidFill>
                <a:effectLst/>
                <a:latin typeface="Consolas" panose="020B0609020204030204" pitchFamily="49" charset="0"/>
              </a:rPr>
              <a:t>analogWrite</a:t>
            </a:r>
            <a:r>
              <a:rPr lang="en-US" altLang="zh-CN" sz="1800" b="0" dirty="0">
                <a:solidFill>
                  <a:srgbClr val="434F54"/>
                </a:solidFill>
                <a:effectLst/>
                <a:latin typeface="Consolas" panose="020B0609020204030204" pitchFamily="49" charset="0"/>
              </a:rPr>
              <a:t>(</a:t>
            </a:r>
            <a:r>
              <a:rPr lang="en-US" altLang="zh-CN" sz="1800" b="0" dirty="0">
                <a:solidFill>
                  <a:srgbClr val="4E5B61"/>
                </a:solidFill>
                <a:effectLst/>
                <a:latin typeface="Consolas" panose="020B0609020204030204" pitchFamily="49" charset="0"/>
              </a:rPr>
              <a:t>led, </a:t>
            </a:r>
            <a:r>
              <a:rPr lang="en-US" altLang="zh-CN" sz="1800" b="0" dirty="0" err="1">
                <a:solidFill>
                  <a:srgbClr val="4E5B61"/>
                </a:solidFill>
                <a:effectLst/>
                <a:latin typeface="Consolas" panose="020B0609020204030204" pitchFamily="49" charset="0"/>
              </a:rPr>
              <a:t>i</a:t>
            </a:r>
            <a:r>
              <a:rPr lang="en-US" altLang="zh-CN" sz="1800" b="0" dirty="0">
                <a:solidFill>
                  <a:srgbClr val="434F54"/>
                </a:solidFill>
                <a:effectLst/>
                <a:latin typeface="Consolas" panose="020B0609020204030204" pitchFamily="49" charset="0"/>
              </a:rPr>
              <a:t>)</a:t>
            </a:r>
            <a:r>
              <a:rPr lang="en-US" altLang="zh-CN" sz="1800" b="0" dirty="0">
                <a:solidFill>
                  <a:srgbClr val="4E5B61"/>
                </a:solidFill>
                <a:effectLst/>
                <a:latin typeface="Consolas" panose="020B0609020204030204" pitchFamily="49" charset="0"/>
              </a:rPr>
              <a:t>;</a:t>
            </a:r>
          </a:p>
          <a:p>
            <a:r>
              <a:rPr lang="en-US" altLang="zh-CN" sz="1800" b="0" dirty="0">
                <a:solidFill>
                  <a:srgbClr val="4E5B61"/>
                </a:solidFill>
                <a:effectLst/>
                <a:latin typeface="Consolas" panose="020B0609020204030204" pitchFamily="49" charset="0"/>
              </a:rPr>
              <a:t>    </a:t>
            </a:r>
            <a:r>
              <a:rPr lang="en-US" altLang="zh-CN" sz="1800" b="0" dirty="0">
                <a:solidFill>
                  <a:srgbClr val="D35400"/>
                </a:solidFill>
                <a:effectLst/>
                <a:latin typeface="Consolas" panose="020B0609020204030204" pitchFamily="49" charset="0"/>
              </a:rPr>
              <a:t>delay</a:t>
            </a:r>
            <a:r>
              <a:rPr lang="en-US" altLang="zh-CN" sz="1800" b="0" dirty="0">
                <a:solidFill>
                  <a:srgbClr val="434F54"/>
                </a:solidFill>
                <a:effectLst/>
                <a:latin typeface="Consolas" panose="020B0609020204030204" pitchFamily="49" charset="0"/>
              </a:rPr>
              <a:t>(</a:t>
            </a:r>
            <a:r>
              <a:rPr lang="en-US" altLang="zh-CN" sz="1800" b="0" dirty="0">
                <a:solidFill>
                  <a:srgbClr val="005C5F"/>
                </a:solidFill>
                <a:effectLst/>
                <a:latin typeface="Consolas" panose="020B0609020204030204" pitchFamily="49" charset="0"/>
              </a:rPr>
              <a:t>20</a:t>
            </a:r>
            <a:r>
              <a:rPr lang="en-US" altLang="zh-CN" sz="1800" b="0" dirty="0">
                <a:solidFill>
                  <a:srgbClr val="434F54"/>
                </a:solidFill>
                <a:effectLst/>
                <a:latin typeface="Consolas" panose="020B0609020204030204" pitchFamily="49" charset="0"/>
              </a:rPr>
              <a:t>)</a:t>
            </a:r>
            <a:r>
              <a:rPr lang="en-US" altLang="zh-CN" sz="1800" b="0" dirty="0">
                <a:solidFill>
                  <a:srgbClr val="4E5B61"/>
                </a:solidFill>
                <a:effectLst/>
                <a:latin typeface="Consolas" panose="020B0609020204030204" pitchFamily="49" charset="0"/>
              </a:rPr>
              <a:t>;</a:t>
            </a:r>
          </a:p>
          <a:p>
            <a:r>
              <a:rPr lang="en-US" altLang="zh-CN" sz="1800" b="0" dirty="0">
                <a:solidFill>
                  <a:srgbClr val="4E5B61"/>
                </a:solidFill>
                <a:effectLst/>
                <a:latin typeface="Consolas" panose="020B0609020204030204" pitchFamily="49" charset="0"/>
              </a:rPr>
              <a:t>  </a:t>
            </a:r>
            <a:r>
              <a:rPr lang="en-US" altLang="zh-CN" sz="1800" b="0" dirty="0">
                <a:solidFill>
                  <a:srgbClr val="434F54"/>
                </a:solidFill>
                <a:effectLst/>
                <a:latin typeface="Consolas" panose="020B0609020204030204" pitchFamily="49" charset="0"/>
              </a:rPr>
              <a:t>}</a:t>
            </a:r>
            <a:endParaRPr lang="en-US" altLang="zh-CN" sz="1800" b="0" dirty="0">
              <a:solidFill>
                <a:srgbClr val="4E5B61"/>
              </a:solidFill>
              <a:effectLst/>
              <a:latin typeface="Consolas" panose="020B0609020204030204" pitchFamily="49" charset="0"/>
            </a:endParaRPr>
          </a:p>
          <a:p>
            <a:r>
              <a:rPr lang="en-US" altLang="zh-CN" sz="1800" b="0" dirty="0">
                <a:solidFill>
                  <a:srgbClr val="4E5B61"/>
                </a:solidFill>
                <a:effectLst/>
                <a:latin typeface="Consolas" panose="020B0609020204030204" pitchFamily="49" charset="0"/>
              </a:rPr>
              <a:t>  </a:t>
            </a:r>
            <a:r>
              <a:rPr lang="en-US" altLang="zh-CN" sz="1800" b="0" dirty="0">
                <a:solidFill>
                  <a:srgbClr val="D35400"/>
                </a:solidFill>
                <a:effectLst/>
                <a:latin typeface="Consolas" panose="020B0609020204030204" pitchFamily="49" charset="0"/>
              </a:rPr>
              <a:t>delay</a:t>
            </a:r>
            <a:r>
              <a:rPr lang="en-US" altLang="zh-CN" sz="1800" b="0" dirty="0">
                <a:solidFill>
                  <a:srgbClr val="434F54"/>
                </a:solidFill>
                <a:effectLst/>
                <a:latin typeface="Consolas" panose="020B0609020204030204" pitchFamily="49" charset="0"/>
              </a:rPr>
              <a:t>(</a:t>
            </a:r>
            <a:r>
              <a:rPr lang="en-US" altLang="zh-CN" sz="1800" b="0" dirty="0">
                <a:solidFill>
                  <a:srgbClr val="005C5F"/>
                </a:solidFill>
                <a:effectLst/>
                <a:latin typeface="Consolas" panose="020B0609020204030204" pitchFamily="49" charset="0"/>
              </a:rPr>
              <a:t>200</a:t>
            </a:r>
            <a:r>
              <a:rPr lang="en-US" altLang="zh-CN" sz="1800" b="0" dirty="0">
                <a:solidFill>
                  <a:srgbClr val="434F54"/>
                </a:solidFill>
                <a:effectLst/>
                <a:latin typeface="Consolas" panose="020B0609020204030204" pitchFamily="49" charset="0"/>
              </a:rPr>
              <a:t>)</a:t>
            </a:r>
            <a:r>
              <a:rPr lang="en-US" altLang="zh-CN" sz="1800" b="0" dirty="0">
                <a:solidFill>
                  <a:srgbClr val="4E5B61"/>
                </a:solidFill>
                <a:effectLst/>
                <a:latin typeface="Consolas" panose="020B0609020204030204" pitchFamily="49" charset="0"/>
              </a:rPr>
              <a:t>;</a:t>
            </a:r>
          </a:p>
          <a:p>
            <a:r>
              <a:rPr lang="en-US" altLang="zh-CN" sz="1800" b="0" dirty="0">
                <a:solidFill>
                  <a:srgbClr val="434F54"/>
                </a:solidFill>
                <a:effectLst/>
                <a:latin typeface="Consolas" panose="020B0609020204030204" pitchFamily="49" charset="0"/>
              </a:rPr>
              <a:t>}</a:t>
            </a:r>
            <a:endParaRPr lang="en-US" altLang="zh-CN" sz="1800" b="0" dirty="0">
              <a:solidFill>
                <a:srgbClr val="4E5B61"/>
              </a:solidFill>
              <a:effectLst/>
              <a:latin typeface="Consolas" panose="020B0609020204030204" pitchFamily="49" charset="0"/>
            </a:endParaRPr>
          </a:p>
          <a:p>
            <a:br>
              <a:rPr lang="en-US" altLang="zh-CN" sz="1800" b="0" dirty="0">
                <a:solidFill>
                  <a:srgbClr val="4E5B61"/>
                </a:solidFill>
                <a:effectLst/>
                <a:latin typeface="Consolas" panose="020B0609020204030204" pitchFamily="49" charset="0"/>
              </a:rPr>
            </a:br>
            <a:endParaRPr lang="en-US" altLang="zh-CN" sz="1800" b="0" dirty="0">
              <a:solidFill>
                <a:srgbClr val="4E5B61"/>
              </a:solidFill>
              <a:effectLst/>
              <a:latin typeface="Consolas" panose="020B0609020204030204" pitchFamily="49" charset="0"/>
            </a:endParaRPr>
          </a:p>
        </p:txBody>
      </p:sp>
      <p:sp>
        <p:nvSpPr>
          <p:cNvPr id="4" name="灯片编号占位符 3">
            <a:extLst>
              <a:ext uri="{FF2B5EF4-FFF2-40B4-BE49-F238E27FC236}">
                <a16:creationId xmlns:a16="http://schemas.microsoft.com/office/drawing/2014/main" id="{C9BFCC7B-CE97-22D6-F316-02DE8A7FB088}"/>
              </a:ext>
            </a:extLst>
          </p:cNvPr>
          <p:cNvSpPr>
            <a:spLocks noGrp="1"/>
          </p:cNvSpPr>
          <p:nvPr>
            <p:ph type="sldNum" sz="quarter" idx="12"/>
          </p:nvPr>
        </p:nvSpPr>
        <p:spPr/>
        <p:txBody>
          <a:bodyPr/>
          <a:lstStyle/>
          <a:p>
            <a:pPr>
              <a:defRPr/>
            </a:pPr>
            <a:fld id="{2C687883-A9F8-4324-BFDB-FCCC5C558AE8}" type="slidenum">
              <a:rPr lang="en-US" altLang="zh-CN" smtClean="0"/>
              <a:t>74</a:t>
            </a:fld>
            <a:endParaRPr lang="en-US" altLang="zh-CN"/>
          </a:p>
        </p:txBody>
      </p:sp>
    </p:spTree>
  </p:cSld>
  <p:clrMapOvr>
    <a:masterClrMapping/>
  </p:clrMapOvr>
  <p:transition>
    <p:cover dir="d"/>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模拟输入</a:t>
            </a:r>
          </a:p>
        </p:txBody>
      </p:sp>
      <p:sp>
        <p:nvSpPr>
          <p:cNvPr id="3" name="内容占位符 2"/>
          <p:cNvSpPr>
            <a:spLocks noGrp="1"/>
          </p:cNvSpPr>
          <p:nvPr>
            <p:ph idx="1"/>
          </p:nvPr>
        </p:nvSpPr>
        <p:spPr/>
        <p:txBody>
          <a:bodyPr/>
          <a:lstStyle/>
          <a:p>
            <a:pPr marL="0" indent="0" algn="just">
              <a:buNone/>
            </a:pPr>
            <a:r>
              <a:rPr lang="zh-CN" altLang="zh-CN" dirty="0"/>
              <a:t>除了</a:t>
            </a:r>
            <a:r>
              <a:rPr lang="en-US" altLang="zh-CN" dirty="0"/>
              <a:t>PWM</a:t>
            </a:r>
            <a:r>
              <a:rPr lang="zh-CN" altLang="zh-CN" dirty="0"/>
              <a:t>，在</a:t>
            </a:r>
            <a:r>
              <a:rPr lang="en-US" altLang="zh-CN" dirty="0"/>
              <a:t>Arduino</a:t>
            </a:r>
            <a:r>
              <a:rPr lang="zh-CN" altLang="zh-CN" dirty="0"/>
              <a:t>开发板上，有一排标着</a:t>
            </a:r>
            <a:r>
              <a:rPr lang="en-US" altLang="zh-CN" dirty="0"/>
              <a:t>A0-A5(</a:t>
            </a:r>
            <a:r>
              <a:rPr lang="zh-CN" altLang="en-US" dirty="0"/>
              <a:t>对应</a:t>
            </a:r>
            <a:r>
              <a:rPr lang="en-US" altLang="zh-CN" dirty="0"/>
              <a:t>14-19)</a:t>
            </a:r>
            <a:r>
              <a:rPr lang="zh-CN" altLang="zh-CN" dirty="0"/>
              <a:t>的引脚，这些引脚不仅具有数字输入输出的功能，还具有模拟信号输入的功能。</a:t>
            </a:r>
            <a:r>
              <a:rPr lang="en-US" altLang="zh-CN" dirty="0"/>
              <a:t>Arduino</a:t>
            </a:r>
            <a:r>
              <a:rPr lang="zh-CN" altLang="zh-CN" dirty="0"/>
              <a:t>中的片内</a:t>
            </a:r>
            <a:r>
              <a:rPr lang="en-US" altLang="zh-CN" dirty="0"/>
              <a:t>ADC</a:t>
            </a:r>
            <a:r>
              <a:rPr lang="zh-CN" altLang="zh-CN" dirty="0"/>
              <a:t>设备通过逐次逼近法测量输入电压的大小得到输入电压，模拟输入可以给</a:t>
            </a:r>
            <a:r>
              <a:rPr lang="en-US" altLang="zh-CN" dirty="0"/>
              <a:t>Arduino</a:t>
            </a:r>
            <a:r>
              <a:rPr lang="zh-CN" altLang="zh-CN" dirty="0"/>
              <a:t>输入</a:t>
            </a:r>
            <a:r>
              <a:rPr lang="en-US" altLang="zh-CN" dirty="0"/>
              <a:t>0~1023</a:t>
            </a:r>
            <a:r>
              <a:rPr lang="zh-CN" altLang="zh-CN" dirty="0"/>
              <a:t>的任意值。</a:t>
            </a:r>
            <a:endParaRPr lang="en-US" altLang="zh-CN" dirty="0"/>
          </a:p>
          <a:p>
            <a:pPr marL="0" indent="0" algn="just">
              <a:buNone/>
            </a:pPr>
            <a:r>
              <a:rPr lang="en-US" altLang="zh-CN" dirty="0" err="1"/>
              <a:t>analogRead</a:t>
            </a:r>
            <a:r>
              <a:rPr lang="en-US" altLang="zh-CN" dirty="0"/>
              <a:t>(pin)</a:t>
            </a:r>
            <a:endParaRPr lang="zh-CN" altLang="en-US" dirty="0"/>
          </a:p>
        </p:txBody>
      </p:sp>
      <p:sp>
        <p:nvSpPr>
          <p:cNvPr id="4" name="灯片编号占位符 3">
            <a:extLst>
              <a:ext uri="{FF2B5EF4-FFF2-40B4-BE49-F238E27FC236}">
                <a16:creationId xmlns:a16="http://schemas.microsoft.com/office/drawing/2014/main" id="{3095DC81-359E-813B-830A-F022DEF3D938}"/>
              </a:ext>
            </a:extLst>
          </p:cNvPr>
          <p:cNvSpPr>
            <a:spLocks noGrp="1"/>
          </p:cNvSpPr>
          <p:nvPr>
            <p:ph type="sldNum" sz="quarter" idx="12"/>
          </p:nvPr>
        </p:nvSpPr>
        <p:spPr/>
        <p:txBody>
          <a:bodyPr/>
          <a:lstStyle/>
          <a:p>
            <a:pPr>
              <a:defRPr/>
            </a:pPr>
            <a:fld id="{2C687883-A9F8-4324-BFDB-FCCC5C558AE8}" type="slidenum">
              <a:rPr lang="en-US" altLang="zh-CN" smtClean="0"/>
              <a:t>75</a:t>
            </a:fld>
            <a:endParaRPr lang="en-US" altLang="zh-CN"/>
          </a:p>
        </p:txBody>
      </p:sp>
    </p:spTree>
  </p:cSld>
  <p:clrMapOvr>
    <a:masterClrMapping/>
  </p:clrMapOvr>
  <p:transition>
    <p:cover dir="d"/>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8681" y="2273147"/>
            <a:ext cx="7962441" cy="1143000"/>
          </a:xfrm>
        </p:spPr>
        <p:txBody>
          <a:bodyPr/>
          <a:lstStyle/>
          <a:p>
            <a:r>
              <a:rPr lang="zh-CN" altLang="en-US" sz="6000" dirty="0"/>
              <a:t>外设及第三方库的使用</a:t>
            </a:r>
          </a:p>
        </p:txBody>
      </p:sp>
    </p:spTree>
  </p:cSld>
  <p:clrMapOvr>
    <a:masterClrMapping/>
  </p:clrMapOvr>
  <p:transition>
    <p:cover dir="d"/>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err="1"/>
              <a:t>Wifi</a:t>
            </a:r>
            <a:r>
              <a:rPr lang="zh-CN" altLang="en-US" dirty="0"/>
              <a:t>模块 </a:t>
            </a:r>
            <a:r>
              <a:rPr lang="en-US" altLang="zh-CN" dirty="0"/>
              <a:t>esp8266</a:t>
            </a:r>
            <a:r>
              <a:rPr lang="zh-CN" altLang="en-US" dirty="0"/>
              <a:t>配置</a:t>
            </a:r>
          </a:p>
        </p:txBody>
      </p:sp>
      <p:sp>
        <p:nvSpPr>
          <p:cNvPr id="5" name="文本框 4"/>
          <p:cNvSpPr txBox="1"/>
          <p:nvPr/>
        </p:nvSpPr>
        <p:spPr>
          <a:xfrm>
            <a:off x="5007340" y="1752600"/>
            <a:ext cx="3657600" cy="4524315"/>
          </a:xfrm>
          <a:prstGeom prst="rect">
            <a:avLst/>
          </a:prstGeom>
          <a:noFill/>
        </p:spPr>
        <p:txBody>
          <a:bodyPr wrap="square" rtlCol="0">
            <a:spAutoFit/>
          </a:bodyPr>
          <a:lstStyle/>
          <a:p>
            <a:r>
              <a:rPr lang="zh-CN" altLang="en-US" sz="3200" b="0" i="0" dirty="0">
                <a:solidFill>
                  <a:srgbClr val="404040"/>
                </a:solidFill>
                <a:effectLst/>
                <a:latin typeface="-apple-system"/>
              </a:rPr>
              <a:t>是一款</a:t>
            </a:r>
            <a:r>
              <a:rPr lang="zh-CN" altLang="en-US" sz="3200" b="1" i="0" dirty="0">
                <a:solidFill>
                  <a:srgbClr val="404040"/>
                </a:solidFill>
                <a:effectLst/>
                <a:latin typeface="-apple-system"/>
              </a:rPr>
              <a:t>低成本</a:t>
            </a:r>
            <a:r>
              <a:rPr lang="zh-CN" altLang="en-US" sz="3200" b="0" i="0" dirty="0">
                <a:solidFill>
                  <a:srgbClr val="404040"/>
                </a:solidFill>
                <a:effectLst/>
                <a:latin typeface="-apple-system"/>
              </a:rPr>
              <a:t>的 </a:t>
            </a:r>
            <a:r>
              <a:rPr lang="en-US" altLang="zh-CN" sz="3200" b="0" i="0" dirty="0">
                <a:solidFill>
                  <a:srgbClr val="404040"/>
                </a:solidFill>
                <a:effectLst/>
                <a:latin typeface="-apple-system"/>
              </a:rPr>
              <a:t>Wi-Fi </a:t>
            </a:r>
            <a:r>
              <a:rPr lang="zh-CN" altLang="en-US" sz="3200" b="0" i="0" dirty="0">
                <a:solidFill>
                  <a:srgbClr val="404040"/>
                </a:solidFill>
                <a:effectLst/>
                <a:latin typeface="-apple-system"/>
              </a:rPr>
              <a:t>芯片，具有完整的 </a:t>
            </a:r>
            <a:r>
              <a:rPr lang="en-US" altLang="zh-CN" sz="3200" b="0" i="0" dirty="0">
                <a:solidFill>
                  <a:srgbClr val="404040"/>
                </a:solidFill>
                <a:effectLst/>
                <a:latin typeface="-apple-system"/>
              </a:rPr>
              <a:t>TCP / IP </a:t>
            </a:r>
            <a:r>
              <a:rPr lang="zh-CN" altLang="en-US" sz="3200" b="0" i="0" dirty="0">
                <a:solidFill>
                  <a:srgbClr val="404040"/>
                </a:solidFill>
                <a:effectLst/>
                <a:latin typeface="-apple-system"/>
              </a:rPr>
              <a:t>协议栈和微控制器功能。它专为移动设备、可穿戴电子产品和物联网应用设计，功耗很低且</a:t>
            </a:r>
            <a:r>
              <a:rPr lang="zh-CN" altLang="en-US" sz="3200" b="1" i="0" dirty="0">
                <a:solidFill>
                  <a:srgbClr val="404040"/>
                </a:solidFill>
                <a:effectLst/>
                <a:latin typeface="-apple-system"/>
              </a:rPr>
              <a:t>价格非常低廉</a:t>
            </a:r>
            <a:r>
              <a:rPr lang="zh-CN" altLang="en-US" sz="3200" b="0" i="0" dirty="0">
                <a:solidFill>
                  <a:srgbClr val="404040"/>
                </a:solidFill>
                <a:effectLst/>
                <a:latin typeface="-apple-system"/>
              </a:rPr>
              <a:t>。</a:t>
            </a:r>
            <a:endParaRPr lang="zh-CN" altLang="en-US" sz="3200" dirty="0"/>
          </a:p>
        </p:txBody>
      </p:sp>
      <p:pic>
        <p:nvPicPr>
          <p:cNvPr id="8" name="内容占位符 7">
            <a:extLst>
              <a:ext uri="{FF2B5EF4-FFF2-40B4-BE49-F238E27FC236}">
                <a16:creationId xmlns:a16="http://schemas.microsoft.com/office/drawing/2014/main" id="{23555C0A-E435-4180-B218-31C0897FB76A}"/>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rot="5400000">
            <a:off x="834842" y="2286480"/>
            <a:ext cx="4271037" cy="3203278"/>
          </a:xfrm>
        </p:spPr>
      </p:pic>
    </p:spTree>
  </p:cSld>
  <p:clrMapOvr>
    <a:masterClrMapping/>
  </p:clrMapOvr>
  <p:transition>
    <p:cover dir="d"/>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 </a:t>
            </a:r>
            <a:r>
              <a:rPr lang="en-US" altLang="zh-CN" dirty="0"/>
              <a:t>ESP8266</a:t>
            </a:r>
            <a:r>
              <a:rPr lang="zh-CN" altLang="en-US" dirty="0"/>
              <a:t>引脚</a:t>
            </a:r>
          </a:p>
        </p:txBody>
      </p:sp>
      <p:pic>
        <p:nvPicPr>
          <p:cNvPr id="6" name="内容占位符 5">
            <a:extLst>
              <a:ext uri="{FF2B5EF4-FFF2-40B4-BE49-F238E27FC236}">
                <a16:creationId xmlns:a16="http://schemas.microsoft.com/office/drawing/2014/main" id="{3DABDCEF-C75C-258D-7666-1B90832F4A97}"/>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55109" y="2160619"/>
            <a:ext cx="3041930" cy="2011331"/>
          </a:xfrm>
        </p:spPr>
      </p:pic>
      <p:graphicFrame>
        <p:nvGraphicFramePr>
          <p:cNvPr id="10" name="表格 9">
            <a:extLst>
              <a:ext uri="{FF2B5EF4-FFF2-40B4-BE49-F238E27FC236}">
                <a16:creationId xmlns:a16="http://schemas.microsoft.com/office/drawing/2014/main" id="{512790B9-D53D-DC5A-0B8F-C5693BBC6D88}"/>
              </a:ext>
            </a:extLst>
          </p:cNvPr>
          <p:cNvGraphicFramePr>
            <a:graphicFrameLocks noGrp="1"/>
          </p:cNvGraphicFramePr>
          <p:nvPr>
            <p:extLst>
              <p:ext uri="{D42A27DB-BD31-4B8C-83A1-F6EECF244321}">
                <p14:modId xmlns:p14="http://schemas.microsoft.com/office/powerpoint/2010/main" val="3288785198"/>
              </p:ext>
            </p:extLst>
          </p:nvPr>
        </p:nvGraphicFramePr>
        <p:xfrm>
          <a:off x="3609975" y="1609725"/>
          <a:ext cx="5312266" cy="4465300"/>
        </p:xfrm>
        <a:graphic>
          <a:graphicData uri="http://schemas.openxmlformats.org/drawingml/2006/table">
            <a:tbl>
              <a:tblPr>
                <a:tableStyleId>{5940675A-B579-460E-94D1-54222C63F5DA}</a:tableStyleId>
              </a:tblPr>
              <a:tblGrid>
                <a:gridCol w="622157">
                  <a:extLst>
                    <a:ext uri="{9D8B030D-6E8A-4147-A177-3AD203B41FA5}">
                      <a16:colId xmlns:a16="http://schemas.microsoft.com/office/drawing/2014/main" val="802486400"/>
                    </a:ext>
                  </a:extLst>
                </a:gridCol>
                <a:gridCol w="4690109">
                  <a:extLst>
                    <a:ext uri="{9D8B030D-6E8A-4147-A177-3AD203B41FA5}">
                      <a16:colId xmlns:a16="http://schemas.microsoft.com/office/drawing/2014/main" val="565163422"/>
                    </a:ext>
                  </a:extLst>
                </a:gridCol>
              </a:tblGrid>
              <a:tr h="597404">
                <a:tc>
                  <a:txBody>
                    <a:bodyPr/>
                    <a:lstStyle/>
                    <a:p>
                      <a:pPr algn="l" fontAlgn="b"/>
                      <a:r>
                        <a:rPr lang="zh-CN" altLang="en-US" sz="2000" u="none" strike="noStrike" dirty="0">
                          <a:effectLst/>
                        </a:rPr>
                        <a:t>引脚</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b"/>
                </a:tc>
                <a:tc>
                  <a:txBody>
                    <a:bodyPr/>
                    <a:lstStyle/>
                    <a:p>
                      <a:pPr algn="l" fontAlgn="b"/>
                      <a:r>
                        <a:rPr lang="zh-CN" altLang="en-US" sz="2000" u="none" strike="noStrike" dirty="0">
                          <a:effectLst/>
                        </a:rPr>
                        <a:t>功能</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b"/>
                </a:tc>
                <a:extLst>
                  <a:ext uri="{0D108BD9-81ED-4DB2-BD59-A6C34878D82A}">
                    <a16:rowId xmlns:a16="http://schemas.microsoft.com/office/drawing/2014/main" val="2545738598"/>
                  </a:ext>
                </a:extLst>
              </a:tr>
              <a:tr h="427224">
                <a:tc>
                  <a:txBody>
                    <a:bodyPr/>
                    <a:lstStyle/>
                    <a:p>
                      <a:pPr algn="l" fontAlgn="b"/>
                      <a:r>
                        <a:rPr lang="en-US" sz="2000" u="none" strike="noStrike" dirty="0">
                          <a:effectLst/>
                        </a:rPr>
                        <a:t>3V3</a:t>
                      </a:r>
                      <a:endParaRPr lang="en-US" sz="20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b"/>
                </a:tc>
                <a:tc>
                  <a:txBody>
                    <a:bodyPr/>
                    <a:lstStyle/>
                    <a:p>
                      <a:pPr algn="l" fontAlgn="b"/>
                      <a:r>
                        <a:rPr lang="en-US" altLang="zh-CN" sz="2000" u="none" strike="noStrike" dirty="0">
                          <a:effectLst/>
                        </a:rPr>
                        <a:t>3.3V</a:t>
                      </a:r>
                      <a:r>
                        <a:rPr lang="zh-CN" altLang="en-US" sz="2000" u="none" strike="noStrike" dirty="0">
                          <a:effectLst/>
                        </a:rPr>
                        <a:t>供电，避免使用</a:t>
                      </a:r>
                      <a:r>
                        <a:rPr lang="en-US" altLang="zh-CN" sz="2000" u="none" strike="noStrike" dirty="0">
                          <a:effectLst/>
                        </a:rPr>
                        <a:t>5V</a:t>
                      </a:r>
                      <a:r>
                        <a:rPr lang="zh-CN" altLang="en-US" sz="2000" u="none" strike="noStrike" dirty="0">
                          <a:effectLst/>
                        </a:rPr>
                        <a:t>供电</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b"/>
                </a:tc>
                <a:extLst>
                  <a:ext uri="{0D108BD9-81ED-4DB2-BD59-A6C34878D82A}">
                    <a16:rowId xmlns:a16="http://schemas.microsoft.com/office/drawing/2014/main" val="1349323730"/>
                  </a:ext>
                </a:extLst>
              </a:tr>
              <a:tr h="260132">
                <a:tc>
                  <a:txBody>
                    <a:bodyPr/>
                    <a:lstStyle/>
                    <a:p>
                      <a:pPr algn="l" fontAlgn="b"/>
                      <a:r>
                        <a:rPr lang="en-US" sz="2000" u="none" strike="noStrike" dirty="0">
                          <a:effectLst/>
                        </a:rPr>
                        <a:t>RX</a:t>
                      </a:r>
                      <a:endParaRPr lang="en-US" sz="20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b"/>
                </a:tc>
                <a:tc>
                  <a:txBody>
                    <a:bodyPr/>
                    <a:lstStyle/>
                    <a:p>
                      <a:pPr algn="l" fontAlgn="b"/>
                      <a:r>
                        <a:rPr lang="en-US" sz="2000" u="none" strike="noStrike" dirty="0">
                          <a:effectLst/>
                        </a:rPr>
                        <a:t>UART_RXD，</a:t>
                      </a:r>
                      <a:r>
                        <a:rPr lang="zh-CN" altLang="en-US" sz="2000" u="none" strike="noStrike" dirty="0">
                          <a:effectLst/>
                        </a:rPr>
                        <a:t>异步串口接受端</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b"/>
                </a:tc>
                <a:extLst>
                  <a:ext uri="{0D108BD9-81ED-4DB2-BD59-A6C34878D82A}">
                    <a16:rowId xmlns:a16="http://schemas.microsoft.com/office/drawing/2014/main" val="3409742035"/>
                  </a:ext>
                </a:extLst>
              </a:tr>
              <a:tr h="427224">
                <a:tc>
                  <a:txBody>
                    <a:bodyPr/>
                    <a:lstStyle/>
                    <a:p>
                      <a:pPr algn="l" fontAlgn="b"/>
                      <a:r>
                        <a:rPr lang="en-US" sz="2000" u="none" strike="noStrike" dirty="0">
                          <a:effectLst/>
                        </a:rPr>
                        <a:t>RST</a:t>
                      </a:r>
                      <a:endParaRPr lang="en-US" sz="20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b"/>
                </a:tc>
                <a:tc>
                  <a:txBody>
                    <a:bodyPr/>
                    <a:lstStyle/>
                    <a:p>
                      <a:pPr algn="l" fontAlgn="b"/>
                      <a:r>
                        <a:rPr lang="zh-CN" altLang="en-US" sz="2000" u="none" strike="noStrike" dirty="0">
                          <a:effectLst/>
                        </a:rPr>
                        <a:t>外部复位引脚，低电平有效，默认高电平</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b"/>
                </a:tc>
                <a:extLst>
                  <a:ext uri="{0D108BD9-81ED-4DB2-BD59-A6C34878D82A}">
                    <a16:rowId xmlns:a16="http://schemas.microsoft.com/office/drawing/2014/main" val="4097712394"/>
                  </a:ext>
                </a:extLst>
              </a:tr>
              <a:tr h="427224">
                <a:tc>
                  <a:txBody>
                    <a:bodyPr/>
                    <a:lstStyle/>
                    <a:p>
                      <a:pPr algn="l" fontAlgn="b"/>
                      <a:r>
                        <a:rPr lang="en-US" sz="2000" u="none" strike="noStrike" dirty="0">
                          <a:effectLst/>
                        </a:rPr>
                        <a:t>IO0</a:t>
                      </a:r>
                      <a:endParaRPr lang="en-US" sz="20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b"/>
                </a:tc>
                <a:tc>
                  <a:txBody>
                    <a:bodyPr/>
                    <a:lstStyle/>
                    <a:p>
                      <a:pPr algn="l" fontAlgn="b"/>
                      <a:r>
                        <a:rPr lang="en-US" altLang="zh-CN" sz="2000" u="none" strike="noStrike" dirty="0">
                          <a:effectLst/>
                        </a:rPr>
                        <a:t>GPIO 0</a:t>
                      </a:r>
                      <a:r>
                        <a:rPr lang="zh-CN" altLang="en-US" sz="2000" u="none" strike="noStrike" dirty="0">
                          <a:effectLst/>
                        </a:rPr>
                        <a:t>引脚；状态：</a:t>
                      </a:r>
                      <a:r>
                        <a:rPr lang="en-US" altLang="zh-CN" sz="2000" u="none" strike="noStrike" dirty="0">
                          <a:effectLst/>
                        </a:rPr>
                        <a:t>1.</a:t>
                      </a:r>
                      <a:r>
                        <a:rPr lang="zh-CN" altLang="en-US" sz="2000" u="none" strike="noStrike" dirty="0">
                          <a:effectLst/>
                        </a:rPr>
                        <a:t>悬空：</a:t>
                      </a:r>
                      <a:r>
                        <a:rPr lang="en-US" altLang="zh-CN" sz="2000" u="none" strike="noStrike" dirty="0">
                          <a:effectLst/>
                        </a:rPr>
                        <a:t>Flash</a:t>
                      </a:r>
                      <a:r>
                        <a:rPr lang="zh-CN" altLang="en-US" sz="2000" u="none" strike="noStrike" dirty="0">
                          <a:effectLst/>
                        </a:rPr>
                        <a:t>下载模式和工作模式；</a:t>
                      </a:r>
                      <a:r>
                        <a:rPr lang="en-US" altLang="zh-CN" sz="2000" u="none" strike="noStrike" dirty="0">
                          <a:effectLst/>
                        </a:rPr>
                        <a:t>2.</a:t>
                      </a:r>
                      <a:r>
                        <a:rPr lang="zh-CN" altLang="en-US" sz="2000" u="none" strike="noStrike" dirty="0">
                          <a:effectLst/>
                        </a:rPr>
                        <a:t>下拉：串口下载模式</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b"/>
                </a:tc>
                <a:extLst>
                  <a:ext uri="{0D108BD9-81ED-4DB2-BD59-A6C34878D82A}">
                    <a16:rowId xmlns:a16="http://schemas.microsoft.com/office/drawing/2014/main" val="2904324721"/>
                  </a:ext>
                </a:extLst>
              </a:tr>
              <a:tr h="427224">
                <a:tc>
                  <a:txBody>
                    <a:bodyPr/>
                    <a:lstStyle/>
                    <a:p>
                      <a:pPr algn="l" fontAlgn="b"/>
                      <a:r>
                        <a:rPr lang="en-US" sz="2000" u="none" strike="noStrike" dirty="0">
                          <a:effectLst/>
                        </a:rPr>
                        <a:t>EN</a:t>
                      </a:r>
                      <a:endParaRPr lang="en-US" sz="20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b"/>
                </a:tc>
                <a:tc>
                  <a:txBody>
                    <a:bodyPr/>
                    <a:lstStyle/>
                    <a:p>
                      <a:pPr algn="l" fontAlgn="b"/>
                      <a:r>
                        <a:rPr lang="zh-CN" altLang="en-US" sz="2000" u="none" strike="noStrike" dirty="0">
                          <a:effectLst/>
                        </a:rPr>
                        <a:t>使能端口，高电平工作，低电平模块不工作</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b"/>
                </a:tc>
                <a:extLst>
                  <a:ext uri="{0D108BD9-81ED-4DB2-BD59-A6C34878D82A}">
                    <a16:rowId xmlns:a16="http://schemas.microsoft.com/office/drawing/2014/main" val="4052568723"/>
                  </a:ext>
                </a:extLst>
              </a:tr>
              <a:tr h="427224">
                <a:tc>
                  <a:txBody>
                    <a:bodyPr/>
                    <a:lstStyle/>
                    <a:p>
                      <a:pPr algn="l" fontAlgn="b"/>
                      <a:r>
                        <a:rPr lang="en-US" sz="2000" u="none" strike="noStrike">
                          <a:effectLst/>
                        </a:rPr>
                        <a:t>IO2</a:t>
                      </a:r>
                      <a:endParaRPr lang="en-US" sz="20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b"/>
                </a:tc>
                <a:tc>
                  <a:txBody>
                    <a:bodyPr/>
                    <a:lstStyle/>
                    <a:p>
                      <a:pPr algn="l" fontAlgn="b"/>
                      <a:r>
                        <a:rPr lang="en-US" altLang="zh-CN" sz="2000" u="none" strike="noStrike" dirty="0">
                          <a:effectLst/>
                        </a:rPr>
                        <a:t>GPIO 2</a:t>
                      </a:r>
                      <a:r>
                        <a:rPr lang="zh-CN" altLang="en-US" sz="2000" u="none" strike="noStrike" dirty="0">
                          <a:effectLst/>
                        </a:rPr>
                        <a:t>引脚，开机上电时禁止下拉，默认高电平</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b"/>
                </a:tc>
                <a:extLst>
                  <a:ext uri="{0D108BD9-81ED-4DB2-BD59-A6C34878D82A}">
                    <a16:rowId xmlns:a16="http://schemas.microsoft.com/office/drawing/2014/main" val="341211739"/>
                  </a:ext>
                </a:extLst>
              </a:tr>
              <a:tr h="427224">
                <a:tc>
                  <a:txBody>
                    <a:bodyPr/>
                    <a:lstStyle/>
                    <a:p>
                      <a:pPr algn="l" fontAlgn="b"/>
                      <a:r>
                        <a:rPr lang="en-US" sz="2000" u="none" strike="noStrike" dirty="0">
                          <a:effectLst/>
                        </a:rPr>
                        <a:t>TX</a:t>
                      </a:r>
                      <a:endParaRPr lang="en-US" sz="20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b"/>
                </a:tc>
                <a:tc>
                  <a:txBody>
                    <a:bodyPr/>
                    <a:lstStyle/>
                    <a:p>
                      <a:pPr algn="l" fontAlgn="b"/>
                      <a:r>
                        <a:rPr lang="en-US" sz="2000" u="none" strike="noStrike" dirty="0">
                          <a:effectLst/>
                        </a:rPr>
                        <a:t>UART_TXD，</a:t>
                      </a:r>
                      <a:r>
                        <a:rPr lang="zh-CN" altLang="en-US" sz="2000" u="none" strike="noStrike" dirty="0">
                          <a:effectLst/>
                        </a:rPr>
                        <a:t>异步串口发送端</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b"/>
                </a:tc>
                <a:extLst>
                  <a:ext uri="{0D108BD9-81ED-4DB2-BD59-A6C34878D82A}">
                    <a16:rowId xmlns:a16="http://schemas.microsoft.com/office/drawing/2014/main" val="2326776663"/>
                  </a:ext>
                </a:extLst>
              </a:tr>
              <a:tr h="427224">
                <a:tc>
                  <a:txBody>
                    <a:bodyPr/>
                    <a:lstStyle/>
                    <a:p>
                      <a:pPr algn="l" fontAlgn="b"/>
                      <a:r>
                        <a:rPr lang="en-US" sz="2000" u="none" strike="noStrike" dirty="0">
                          <a:effectLst/>
                        </a:rPr>
                        <a:t>GND</a:t>
                      </a:r>
                      <a:endParaRPr lang="en-US" sz="20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b"/>
                </a:tc>
                <a:tc>
                  <a:txBody>
                    <a:bodyPr/>
                    <a:lstStyle/>
                    <a:p>
                      <a:pPr algn="l" fontAlgn="b"/>
                      <a:r>
                        <a:rPr lang="en-US" sz="2000" u="none" strike="noStrike" dirty="0">
                          <a:effectLst/>
                        </a:rPr>
                        <a:t>GND</a:t>
                      </a:r>
                      <a:r>
                        <a:rPr lang="zh-CN" altLang="en-US" sz="2000" u="none" strike="noStrike" dirty="0">
                          <a:effectLst/>
                        </a:rPr>
                        <a:t>接地引脚</a:t>
                      </a:r>
                      <a:endParaRPr lang="zh-CN" altLang="en-US" sz="2000" b="0"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b"/>
                </a:tc>
                <a:extLst>
                  <a:ext uri="{0D108BD9-81ED-4DB2-BD59-A6C34878D82A}">
                    <a16:rowId xmlns:a16="http://schemas.microsoft.com/office/drawing/2014/main" val="3385503922"/>
                  </a:ext>
                </a:extLst>
              </a:tr>
            </a:tbl>
          </a:graphicData>
        </a:graphic>
      </p:graphicFrame>
    </p:spTree>
    <p:extLst>
      <p:ext uri="{BB962C8B-B14F-4D97-AF65-F5344CB8AC3E}">
        <p14:creationId xmlns:p14="http://schemas.microsoft.com/office/powerpoint/2010/main" val="660810033"/>
      </p:ext>
    </p:extLst>
  </p:cSld>
  <p:clrMapOvr>
    <a:masterClrMapping/>
  </p:clrMapOvr>
  <p:transition>
    <p:cover dir="d"/>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 </a:t>
            </a:r>
            <a:r>
              <a:rPr lang="en-US" altLang="zh-CN" dirty="0"/>
              <a:t>ESP8266</a:t>
            </a:r>
            <a:r>
              <a:rPr lang="zh-CN" altLang="en-US" dirty="0"/>
              <a:t>工作模式</a:t>
            </a:r>
          </a:p>
        </p:txBody>
      </p:sp>
      <p:graphicFrame>
        <p:nvGraphicFramePr>
          <p:cNvPr id="7" name="表格 6">
            <a:extLst>
              <a:ext uri="{FF2B5EF4-FFF2-40B4-BE49-F238E27FC236}">
                <a16:creationId xmlns:a16="http://schemas.microsoft.com/office/drawing/2014/main" id="{5209EC1A-970A-A50A-12F1-60DE6606FFEF}"/>
              </a:ext>
            </a:extLst>
          </p:cNvPr>
          <p:cNvGraphicFramePr>
            <a:graphicFrameLocks noGrp="1"/>
          </p:cNvGraphicFramePr>
          <p:nvPr>
            <p:extLst>
              <p:ext uri="{D42A27DB-BD31-4B8C-83A1-F6EECF244321}">
                <p14:modId xmlns:p14="http://schemas.microsoft.com/office/powerpoint/2010/main" val="3758005196"/>
              </p:ext>
            </p:extLst>
          </p:nvPr>
        </p:nvGraphicFramePr>
        <p:xfrm>
          <a:off x="4437231" y="2368953"/>
          <a:ext cx="4249569" cy="2120094"/>
        </p:xfrm>
        <a:graphic>
          <a:graphicData uri="http://schemas.openxmlformats.org/drawingml/2006/table">
            <a:tbl>
              <a:tblPr>
                <a:tableStyleId>{ED083AE6-46FA-4A59-8FB0-9F97EB10719F}</a:tableStyleId>
              </a:tblPr>
              <a:tblGrid>
                <a:gridCol w="2411244">
                  <a:extLst>
                    <a:ext uri="{9D8B030D-6E8A-4147-A177-3AD203B41FA5}">
                      <a16:colId xmlns:a16="http://schemas.microsoft.com/office/drawing/2014/main" val="1137794670"/>
                    </a:ext>
                  </a:extLst>
                </a:gridCol>
                <a:gridCol w="1838325">
                  <a:extLst>
                    <a:ext uri="{9D8B030D-6E8A-4147-A177-3AD203B41FA5}">
                      <a16:colId xmlns:a16="http://schemas.microsoft.com/office/drawing/2014/main" val="3451099766"/>
                    </a:ext>
                  </a:extLst>
                </a:gridCol>
              </a:tblGrid>
              <a:tr h="593845">
                <a:tc>
                  <a:txBody>
                    <a:bodyPr/>
                    <a:lstStyle/>
                    <a:p>
                      <a:pPr marL="0" algn="l" defTabSz="914400" rtl="0" eaLnBrk="1" fontAlgn="b" latinLnBrk="0" hangingPunct="1"/>
                      <a:r>
                        <a:rPr lang="zh-CN" altLang="en-US" sz="1800" u="none" strike="noStrike" kern="1200" dirty="0">
                          <a:solidFill>
                            <a:schemeClr val="tx1"/>
                          </a:solidFill>
                          <a:effectLst/>
                          <a:latin typeface="+mn-lt"/>
                          <a:ea typeface="+mn-ea"/>
                          <a:cs typeface="+mn-cs"/>
                        </a:rPr>
                        <a:t>模式</a:t>
                      </a:r>
                    </a:p>
                  </a:txBody>
                  <a:tcPr marL="6350" marR="6350" marT="6350" marB="0" anchor="b"/>
                </a:tc>
                <a:tc>
                  <a:txBody>
                    <a:bodyPr/>
                    <a:lstStyle/>
                    <a:p>
                      <a:pPr marL="0" algn="l" defTabSz="914400" rtl="0" eaLnBrk="1" fontAlgn="b" latinLnBrk="0" hangingPunct="1"/>
                      <a:r>
                        <a:rPr lang="en-US" sz="1800" u="none" strike="noStrike" kern="1200" dirty="0">
                          <a:solidFill>
                            <a:schemeClr val="tx1"/>
                          </a:solidFill>
                          <a:effectLst/>
                          <a:latin typeface="+mn-lt"/>
                          <a:ea typeface="+mn-ea"/>
                          <a:cs typeface="+mn-cs"/>
                        </a:rPr>
                        <a:t>ESP</a:t>
                      </a:r>
                      <a:r>
                        <a:rPr lang="en-US" altLang="zh-CN" dirty="0"/>
                        <a:t>8266</a:t>
                      </a:r>
                      <a:r>
                        <a:rPr lang="en-US" sz="1800" u="none" strike="noStrike" kern="1200" dirty="0">
                          <a:solidFill>
                            <a:schemeClr val="tx1"/>
                          </a:solidFill>
                          <a:effectLst/>
                          <a:latin typeface="+mn-lt"/>
                          <a:ea typeface="+mn-ea"/>
                          <a:cs typeface="+mn-cs"/>
                        </a:rPr>
                        <a:t>-01</a:t>
                      </a:r>
                      <a:r>
                        <a:rPr lang="zh-CN" altLang="en-US" sz="1800" u="none" strike="noStrike" kern="1200" dirty="0">
                          <a:solidFill>
                            <a:schemeClr val="tx1"/>
                          </a:solidFill>
                          <a:effectLst/>
                          <a:latin typeface="+mn-lt"/>
                          <a:ea typeface="+mn-ea"/>
                          <a:cs typeface="+mn-cs"/>
                        </a:rPr>
                        <a:t>引脚</a:t>
                      </a:r>
                    </a:p>
                  </a:txBody>
                  <a:tcPr marL="6350" marR="6350" marT="6350" marB="0" anchor="b"/>
                </a:tc>
                <a:extLst>
                  <a:ext uri="{0D108BD9-81ED-4DB2-BD59-A6C34878D82A}">
                    <a16:rowId xmlns:a16="http://schemas.microsoft.com/office/drawing/2014/main" val="1912970400"/>
                  </a:ext>
                </a:extLst>
              </a:tr>
              <a:tr h="511520">
                <a:tc>
                  <a:txBody>
                    <a:bodyPr/>
                    <a:lstStyle/>
                    <a:p>
                      <a:pPr marL="0" algn="l" defTabSz="914400" rtl="0" eaLnBrk="1" fontAlgn="b" latinLnBrk="0" hangingPunct="1"/>
                      <a:r>
                        <a:rPr lang="en-US" sz="1800" u="none" strike="noStrike" kern="1200" dirty="0" err="1">
                          <a:solidFill>
                            <a:schemeClr val="tx1"/>
                          </a:solidFill>
                          <a:effectLst/>
                          <a:latin typeface="+mn-lt"/>
                          <a:ea typeface="+mn-ea"/>
                          <a:cs typeface="+mn-cs"/>
                        </a:rPr>
                        <a:t>FlashBoot</a:t>
                      </a:r>
                      <a:r>
                        <a:rPr lang="en-US" sz="1800" u="none" strike="noStrike" kern="1200" dirty="0">
                          <a:solidFill>
                            <a:schemeClr val="tx1"/>
                          </a:solidFill>
                          <a:effectLst/>
                          <a:latin typeface="+mn-lt"/>
                          <a:ea typeface="+mn-ea"/>
                          <a:cs typeface="+mn-cs"/>
                        </a:rPr>
                        <a:t>(</a:t>
                      </a:r>
                      <a:r>
                        <a:rPr lang="zh-CN" altLang="en-US" sz="1800" u="none" strike="noStrike" kern="1200" dirty="0">
                          <a:solidFill>
                            <a:schemeClr val="tx1"/>
                          </a:solidFill>
                          <a:effectLst/>
                          <a:latin typeface="+mn-lt"/>
                          <a:ea typeface="+mn-ea"/>
                          <a:cs typeface="+mn-cs"/>
                        </a:rPr>
                        <a:t>固件库下载</a:t>
                      </a:r>
                      <a:r>
                        <a:rPr lang="en-US" altLang="zh-CN" sz="1800" u="none" strike="noStrike" kern="1200" dirty="0">
                          <a:solidFill>
                            <a:schemeClr val="tx1"/>
                          </a:solidFill>
                          <a:effectLst/>
                          <a:latin typeface="+mn-lt"/>
                          <a:ea typeface="+mn-ea"/>
                          <a:cs typeface="+mn-cs"/>
                        </a:rPr>
                        <a:t>)</a:t>
                      </a:r>
                    </a:p>
                  </a:txBody>
                  <a:tcPr marL="6350" marR="6350" marT="6350" marB="0" anchor="b"/>
                </a:tc>
                <a:tc>
                  <a:txBody>
                    <a:bodyPr/>
                    <a:lstStyle/>
                    <a:p>
                      <a:pPr marL="0" algn="l" defTabSz="914400" rtl="0" eaLnBrk="1" fontAlgn="b" latinLnBrk="0" hangingPunct="1"/>
                      <a:r>
                        <a:rPr lang="en-US" sz="1800" u="none" strike="noStrike" kern="1200" dirty="0">
                          <a:solidFill>
                            <a:schemeClr val="tx1"/>
                          </a:solidFill>
                          <a:effectLst/>
                          <a:latin typeface="+mn-lt"/>
                          <a:ea typeface="+mn-ea"/>
                          <a:cs typeface="+mn-cs"/>
                        </a:rPr>
                        <a:t>IO0</a:t>
                      </a:r>
                      <a:r>
                        <a:rPr lang="zh-CN" altLang="en-US" sz="1800" u="none" strike="noStrike" kern="1200" dirty="0">
                          <a:solidFill>
                            <a:schemeClr val="tx1"/>
                          </a:solidFill>
                          <a:effectLst/>
                          <a:latin typeface="+mn-lt"/>
                          <a:ea typeface="+mn-ea"/>
                          <a:cs typeface="+mn-cs"/>
                        </a:rPr>
                        <a:t>悬空；</a:t>
                      </a:r>
                      <a:r>
                        <a:rPr lang="en-US" sz="1800" u="none" strike="noStrike" kern="1200" dirty="0">
                          <a:solidFill>
                            <a:schemeClr val="tx1"/>
                          </a:solidFill>
                          <a:effectLst/>
                          <a:latin typeface="+mn-lt"/>
                          <a:ea typeface="+mn-ea"/>
                          <a:cs typeface="+mn-cs"/>
                        </a:rPr>
                        <a:t>IO2</a:t>
                      </a:r>
                      <a:r>
                        <a:rPr lang="zh-CN" altLang="en-US" sz="1800" u="none" strike="noStrike" kern="1200" dirty="0">
                          <a:solidFill>
                            <a:schemeClr val="tx1"/>
                          </a:solidFill>
                          <a:effectLst/>
                          <a:latin typeface="+mn-lt"/>
                          <a:ea typeface="+mn-ea"/>
                          <a:cs typeface="+mn-cs"/>
                        </a:rPr>
                        <a:t>悬空</a:t>
                      </a:r>
                    </a:p>
                  </a:txBody>
                  <a:tcPr marL="6350" marR="6350" marT="6350" marB="0" anchor="b"/>
                </a:tc>
                <a:extLst>
                  <a:ext uri="{0D108BD9-81ED-4DB2-BD59-A6C34878D82A}">
                    <a16:rowId xmlns:a16="http://schemas.microsoft.com/office/drawing/2014/main" val="473384806"/>
                  </a:ext>
                </a:extLst>
              </a:tr>
              <a:tr h="511520">
                <a:tc>
                  <a:txBody>
                    <a:bodyPr/>
                    <a:lstStyle/>
                    <a:p>
                      <a:pPr marL="0" algn="l" defTabSz="914400" rtl="0" eaLnBrk="1" fontAlgn="b" latinLnBrk="0" hangingPunct="1"/>
                      <a:r>
                        <a:rPr lang="zh-CN" altLang="en-US" sz="1800" u="none" strike="noStrike" kern="1200" dirty="0">
                          <a:solidFill>
                            <a:schemeClr val="tx1"/>
                          </a:solidFill>
                          <a:effectLst/>
                          <a:latin typeface="+mn-lt"/>
                          <a:ea typeface="+mn-ea"/>
                          <a:cs typeface="+mn-cs"/>
                        </a:rPr>
                        <a:t>下载程序（</a:t>
                      </a:r>
                      <a:r>
                        <a:rPr lang="en-US" altLang="zh-CN" sz="1800" u="none" strike="noStrike" kern="1200" dirty="0">
                          <a:solidFill>
                            <a:schemeClr val="tx1"/>
                          </a:solidFill>
                          <a:effectLst/>
                          <a:latin typeface="+mn-lt"/>
                          <a:ea typeface="+mn-ea"/>
                          <a:cs typeface="+mn-cs"/>
                        </a:rPr>
                        <a:t>AT</a:t>
                      </a:r>
                      <a:r>
                        <a:rPr lang="zh-CN" altLang="en-US" sz="1800" u="none" strike="noStrike" kern="1200" dirty="0">
                          <a:solidFill>
                            <a:schemeClr val="tx1"/>
                          </a:solidFill>
                          <a:effectLst/>
                          <a:latin typeface="+mn-lt"/>
                          <a:ea typeface="+mn-ea"/>
                          <a:cs typeface="+mn-cs"/>
                        </a:rPr>
                        <a:t>指令等）</a:t>
                      </a:r>
                    </a:p>
                  </a:txBody>
                  <a:tcPr marL="6350" marR="6350" marT="6350" marB="0" anchor="b"/>
                </a:tc>
                <a:tc>
                  <a:txBody>
                    <a:bodyPr/>
                    <a:lstStyle/>
                    <a:p>
                      <a:pPr marL="0" algn="l" defTabSz="914400" rtl="0" eaLnBrk="1" fontAlgn="b" latinLnBrk="0" hangingPunct="1"/>
                      <a:r>
                        <a:rPr lang="en-US" sz="1800" u="none" strike="noStrike" kern="1200" dirty="0">
                          <a:solidFill>
                            <a:schemeClr val="tx1"/>
                          </a:solidFill>
                          <a:effectLst/>
                          <a:latin typeface="+mn-lt"/>
                          <a:ea typeface="+mn-ea"/>
                          <a:cs typeface="+mn-cs"/>
                        </a:rPr>
                        <a:t>IO0</a:t>
                      </a:r>
                      <a:r>
                        <a:rPr lang="zh-CN" altLang="en-US" sz="1800" u="none" strike="noStrike" kern="1200" dirty="0">
                          <a:solidFill>
                            <a:schemeClr val="tx1"/>
                          </a:solidFill>
                          <a:effectLst/>
                          <a:latin typeface="+mn-lt"/>
                          <a:ea typeface="+mn-ea"/>
                          <a:cs typeface="+mn-cs"/>
                        </a:rPr>
                        <a:t>接地；</a:t>
                      </a:r>
                      <a:r>
                        <a:rPr lang="en-US" sz="1800" u="none" strike="noStrike" kern="1200" dirty="0">
                          <a:solidFill>
                            <a:schemeClr val="tx1"/>
                          </a:solidFill>
                          <a:effectLst/>
                          <a:latin typeface="+mn-lt"/>
                          <a:ea typeface="+mn-ea"/>
                          <a:cs typeface="+mn-cs"/>
                        </a:rPr>
                        <a:t>IO2</a:t>
                      </a:r>
                      <a:r>
                        <a:rPr lang="zh-CN" altLang="en-US" sz="1800" u="none" strike="noStrike" kern="1200" dirty="0">
                          <a:solidFill>
                            <a:schemeClr val="tx1"/>
                          </a:solidFill>
                          <a:effectLst/>
                          <a:latin typeface="+mn-lt"/>
                          <a:ea typeface="+mn-ea"/>
                          <a:cs typeface="+mn-cs"/>
                        </a:rPr>
                        <a:t>悬空</a:t>
                      </a:r>
                    </a:p>
                  </a:txBody>
                  <a:tcPr marL="6350" marR="6350" marT="6350" marB="0" anchor="b"/>
                </a:tc>
                <a:extLst>
                  <a:ext uri="{0D108BD9-81ED-4DB2-BD59-A6C34878D82A}">
                    <a16:rowId xmlns:a16="http://schemas.microsoft.com/office/drawing/2014/main" val="433400839"/>
                  </a:ext>
                </a:extLst>
              </a:tr>
              <a:tr h="416269">
                <a:tc>
                  <a:txBody>
                    <a:bodyPr/>
                    <a:lstStyle/>
                    <a:p>
                      <a:pPr marL="0" algn="l" defTabSz="914400" rtl="0" eaLnBrk="1" fontAlgn="b" latinLnBrk="0" hangingPunct="1"/>
                      <a:r>
                        <a:rPr lang="zh-CN" altLang="en-US" sz="1800" u="none" strike="noStrike" kern="1200" dirty="0">
                          <a:solidFill>
                            <a:schemeClr val="tx1"/>
                          </a:solidFill>
                          <a:effectLst/>
                          <a:latin typeface="+mn-lt"/>
                          <a:ea typeface="+mn-ea"/>
                          <a:cs typeface="+mn-cs"/>
                        </a:rPr>
                        <a:t>正常工作</a:t>
                      </a:r>
                    </a:p>
                  </a:txBody>
                  <a:tcPr marL="6350" marR="6350" marT="6350" marB="0" anchor="b"/>
                </a:tc>
                <a:tc>
                  <a:txBody>
                    <a:bodyPr/>
                    <a:lstStyle/>
                    <a:p>
                      <a:pPr marL="0" algn="l" defTabSz="914400" rtl="0" eaLnBrk="1" fontAlgn="b" latinLnBrk="0" hangingPunct="1"/>
                      <a:r>
                        <a:rPr lang="en-US" sz="1800" u="none" strike="noStrike" kern="1200" dirty="0">
                          <a:solidFill>
                            <a:schemeClr val="tx1"/>
                          </a:solidFill>
                          <a:effectLst/>
                          <a:latin typeface="+mn-lt"/>
                          <a:ea typeface="+mn-ea"/>
                          <a:cs typeface="+mn-cs"/>
                        </a:rPr>
                        <a:t>IO</a:t>
                      </a:r>
                      <a:r>
                        <a:rPr lang="zh-CN" altLang="en-US" sz="1800" u="none" strike="noStrike" kern="1200" dirty="0">
                          <a:solidFill>
                            <a:schemeClr val="tx1"/>
                          </a:solidFill>
                          <a:effectLst/>
                          <a:latin typeface="+mn-lt"/>
                          <a:ea typeface="+mn-ea"/>
                          <a:cs typeface="+mn-cs"/>
                        </a:rPr>
                        <a:t>口连接</a:t>
                      </a:r>
                    </a:p>
                  </a:txBody>
                  <a:tcPr marL="6350" marR="6350" marT="6350" marB="0" anchor="b"/>
                </a:tc>
                <a:extLst>
                  <a:ext uri="{0D108BD9-81ED-4DB2-BD59-A6C34878D82A}">
                    <a16:rowId xmlns:a16="http://schemas.microsoft.com/office/drawing/2014/main" val="2404092755"/>
                  </a:ext>
                </a:extLst>
              </a:tr>
            </a:tbl>
          </a:graphicData>
        </a:graphic>
      </p:graphicFrame>
      <p:pic>
        <p:nvPicPr>
          <p:cNvPr id="9" name="内容占位符 5">
            <a:extLst>
              <a:ext uri="{FF2B5EF4-FFF2-40B4-BE49-F238E27FC236}">
                <a16:creationId xmlns:a16="http://schemas.microsoft.com/office/drawing/2014/main" id="{B819E930-071F-00C8-7F36-C3F55F51CE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883388" y="2628900"/>
            <a:ext cx="3041930" cy="201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05513136"/>
      </p:ext>
    </p:extLst>
  </p:cSld>
  <p:clrMapOvr>
    <a:masterClrMapping/>
  </p:clrMapOvr>
  <p:transition>
    <p:cover dir="d"/>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 </a:t>
            </a:r>
            <a:r>
              <a:rPr lang="en-US" altLang="zh-CN" dirty="0"/>
              <a:t>ESP8266</a:t>
            </a:r>
            <a:r>
              <a:rPr lang="zh-CN" altLang="en-US" dirty="0"/>
              <a:t>与</a:t>
            </a:r>
            <a:r>
              <a:rPr lang="en-US" altLang="zh-CN" dirty="0" err="1"/>
              <a:t>arduino</a:t>
            </a:r>
            <a:r>
              <a:rPr lang="zh-CN" altLang="en-US" dirty="0"/>
              <a:t>接线</a:t>
            </a:r>
          </a:p>
        </p:txBody>
      </p:sp>
      <p:pic>
        <p:nvPicPr>
          <p:cNvPr id="12" name="图片 11">
            <a:extLst>
              <a:ext uri="{FF2B5EF4-FFF2-40B4-BE49-F238E27FC236}">
                <a16:creationId xmlns:a16="http://schemas.microsoft.com/office/drawing/2014/main" id="{AF9B1B31-A5A7-E3B8-F4E0-5D858A0BAB1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500" t="15694" b="7223"/>
          <a:stretch/>
        </p:blipFill>
        <p:spPr>
          <a:xfrm>
            <a:off x="4435030" y="1752600"/>
            <a:ext cx="4708970" cy="2943107"/>
          </a:xfrm>
          <a:prstGeom prst="rect">
            <a:avLst/>
          </a:prstGeom>
        </p:spPr>
      </p:pic>
      <p:graphicFrame>
        <p:nvGraphicFramePr>
          <p:cNvPr id="13" name="表格 4">
            <a:extLst>
              <a:ext uri="{FF2B5EF4-FFF2-40B4-BE49-F238E27FC236}">
                <a16:creationId xmlns:a16="http://schemas.microsoft.com/office/drawing/2014/main" id="{AFF2ED9F-D31E-BAE0-AF70-166809322B79}"/>
              </a:ext>
            </a:extLst>
          </p:cNvPr>
          <p:cNvGraphicFramePr>
            <a:graphicFrameLocks noGrp="1"/>
          </p:cNvGraphicFramePr>
          <p:nvPr>
            <p:extLst>
              <p:ext uri="{D42A27DB-BD31-4B8C-83A1-F6EECF244321}">
                <p14:modId xmlns:p14="http://schemas.microsoft.com/office/powerpoint/2010/main" val="1587659200"/>
              </p:ext>
            </p:extLst>
          </p:nvPr>
        </p:nvGraphicFramePr>
        <p:xfrm>
          <a:off x="75967" y="1704208"/>
          <a:ext cx="4276960" cy="3943348"/>
        </p:xfrm>
        <a:graphic>
          <a:graphicData uri="http://schemas.openxmlformats.org/drawingml/2006/table">
            <a:tbl>
              <a:tblPr firstRow="1" bandRow="1">
                <a:tableStyleId>{21E4AEA4-8DFA-4A89-87EB-49C32662AFE0}</a:tableStyleId>
              </a:tblPr>
              <a:tblGrid>
                <a:gridCol w="2138480">
                  <a:extLst>
                    <a:ext uri="{9D8B030D-6E8A-4147-A177-3AD203B41FA5}">
                      <a16:colId xmlns:a16="http://schemas.microsoft.com/office/drawing/2014/main" val="1808306244"/>
                    </a:ext>
                  </a:extLst>
                </a:gridCol>
                <a:gridCol w="2138480">
                  <a:extLst>
                    <a:ext uri="{9D8B030D-6E8A-4147-A177-3AD203B41FA5}">
                      <a16:colId xmlns:a16="http://schemas.microsoft.com/office/drawing/2014/main" val="521288285"/>
                    </a:ext>
                  </a:extLst>
                </a:gridCol>
              </a:tblGrid>
              <a:tr h="487000">
                <a:tc>
                  <a:txBody>
                    <a:bodyPr/>
                    <a:lstStyle/>
                    <a:p>
                      <a:pPr algn="ctr"/>
                      <a:r>
                        <a:rPr lang="en-US" altLang="zh-CN" dirty="0"/>
                        <a:t>ESP8266</a:t>
                      </a:r>
                      <a:endParaRPr lang="zh-CN" altLang="en-US" dirty="0"/>
                    </a:p>
                  </a:txBody>
                  <a:tcPr/>
                </a:tc>
                <a:tc>
                  <a:txBody>
                    <a:bodyPr/>
                    <a:lstStyle/>
                    <a:p>
                      <a:pPr algn="ctr"/>
                      <a:r>
                        <a:rPr lang="en-US" altLang="zh-CN" dirty="0"/>
                        <a:t>Arduino</a:t>
                      </a:r>
                      <a:endParaRPr lang="zh-CN" altLang="en-US" dirty="0"/>
                    </a:p>
                  </a:txBody>
                  <a:tcPr/>
                </a:tc>
                <a:extLst>
                  <a:ext uri="{0D108BD9-81ED-4DB2-BD59-A6C34878D82A}">
                    <a16:rowId xmlns:a16="http://schemas.microsoft.com/office/drawing/2014/main" val="699095066"/>
                  </a:ext>
                </a:extLst>
              </a:tr>
              <a:tr h="493764">
                <a:tc>
                  <a:txBody>
                    <a:bodyPr/>
                    <a:lstStyle/>
                    <a:p>
                      <a:pPr algn="ctr"/>
                      <a:r>
                        <a:rPr lang="en-US" altLang="zh-CN" dirty="0"/>
                        <a:t>TX</a:t>
                      </a:r>
                      <a:endParaRPr lang="zh-CN" altLang="en-US" dirty="0"/>
                    </a:p>
                  </a:txBody>
                  <a:tcPr/>
                </a:tc>
                <a:tc>
                  <a:txBody>
                    <a:bodyPr/>
                    <a:lstStyle/>
                    <a:p>
                      <a:pPr algn="ctr"/>
                      <a:r>
                        <a:rPr lang="en-US" altLang="zh-CN" dirty="0"/>
                        <a:t>TX</a:t>
                      </a:r>
                      <a:r>
                        <a:rPr lang="zh-CN" altLang="en-US" dirty="0">
                          <a:sym typeface="Wingdings" panose="05000000000000000000" pitchFamily="2" charset="2"/>
                        </a:rPr>
                        <a:t>→</a:t>
                      </a:r>
                      <a:r>
                        <a:rPr lang="en-US" altLang="zh-CN" dirty="0">
                          <a:sym typeface="Wingdings" panose="05000000000000000000" pitchFamily="2" charset="2"/>
                        </a:rPr>
                        <a:t>1</a:t>
                      </a:r>
                      <a:endParaRPr lang="zh-CN" altLang="en-US" dirty="0"/>
                    </a:p>
                  </a:txBody>
                  <a:tcPr/>
                </a:tc>
                <a:extLst>
                  <a:ext uri="{0D108BD9-81ED-4DB2-BD59-A6C34878D82A}">
                    <a16:rowId xmlns:a16="http://schemas.microsoft.com/office/drawing/2014/main" val="1850222828"/>
                  </a:ext>
                </a:extLst>
              </a:tr>
              <a:tr h="493764">
                <a:tc>
                  <a:txBody>
                    <a:bodyPr/>
                    <a:lstStyle/>
                    <a:p>
                      <a:pPr algn="ctr"/>
                      <a:r>
                        <a:rPr lang="en-US" altLang="zh-CN" dirty="0"/>
                        <a:t>GND</a:t>
                      </a:r>
                      <a:endParaRPr lang="zh-CN" altLang="en-US" dirty="0"/>
                    </a:p>
                  </a:txBody>
                  <a:tcPr/>
                </a:tc>
                <a:tc>
                  <a:txBody>
                    <a:bodyPr/>
                    <a:lstStyle/>
                    <a:p>
                      <a:pPr algn="ctr"/>
                      <a:r>
                        <a:rPr lang="en-US" altLang="zh-CN" dirty="0"/>
                        <a:t>GND</a:t>
                      </a:r>
                      <a:endParaRPr lang="zh-CN" altLang="en-US" dirty="0"/>
                    </a:p>
                  </a:txBody>
                  <a:tcPr/>
                </a:tc>
                <a:extLst>
                  <a:ext uri="{0D108BD9-81ED-4DB2-BD59-A6C34878D82A}">
                    <a16:rowId xmlns:a16="http://schemas.microsoft.com/office/drawing/2014/main" val="1382842885"/>
                  </a:ext>
                </a:extLst>
              </a:tr>
              <a:tr h="493764">
                <a:tc>
                  <a:txBody>
                    <a:bodyPr/>
                    <a:lstStyle/>
                    <a:p>
                      <a:pPr algn="ctr"/>
                      <a:r>
                        <a:rPr lang="en-US" altLang="zh-CN" dirty="0"/>
                        <a:t>EN</a:t>
                      </a:r>
                      <a:endParaRPr lang="zh-CN" altLang="en-US" dirty="0"/>
                    </a:p>
                  </a:txBody>
                  <a:tcPr/>
                </a:tc>
                <a:tc>
                  <a:txBody>
                    <a:bodyPr/>
                    <a:lstStyle/>
                    <a:p>
                      <a:pPr algn="ctr"/>
                      <a:r>
                        <a:rPr lang="zh-CN" altLang="en-US" dirty="0"/>
                        <a:t>串联电阻后连</a:t>
                      </a:r>
                      <a:r>
                        <a:rPr lang="en-US" altLang="zh-CN" dirty="0"/>
                        <a:t>3.3V</a:t>
                      </a:r>
                      <a:endParaRPr lang="zh-CN" altLang="en-US" dirty="0"/>
                    </a:p>
                  </a:txBody>
                  <a:tcPr/>
                </a:tc>
                <a:extLst>
                  <a:ext uri="{0D108BD9-81ED-4DB2-BD59-A6C34878D82A}">
                    <a16:rowId xmlns:a16="http://schemas.microsoft.com/office/drawing/2014/main" val="1790751984"/>
                  </a:ext>
                </a:extLst>
              </a:tr>
              <a:tr h="493764">
                <a:tc>
                  <a:txBody>
                    <a:bodyPr/>
                    <a:lstStyle/>
                    <a:p>
                      <a:pPr algn="ctr"/>
                      <a:r>
                        <a:rPr lang="en-US" altLang="zh-CN" dirty="0"/>
                        <a:t>3V3</a:t>
                      </a:r>
                      <a:endParaRPr lang="zh-CN" altLang="en-US" dirty="0"/>
                    </a:p>
                  </a:txBody>
                  <a:tcPr/>
                </a:tc>
                <a:tc>
                  <a:txBody>
                    <a:bodyPr/>
                    <a:lstStyle/>
                    <a:p>
                      <a:pPr algn="ctr"/>
                      <a:r>
                        <a:rPr lang="en-US" altLang="zh-CN" dirty="0"/>
                        <a:t>3.3V</a:t>
                      </a:r>
                      <a:endParaRPr lang="zh-CN" altLang="en-US" dirty="0"/>
                    </a:p>
                  </a:txBody>
                  <a:tcPr/>
                </a:tc>
                <a:extLst>
                  <a:ext uri="{0D108BD9-81ED-4DB2-BD59-A6C34878D82A}">
                    <a16:rowId xmlns:a16="http://schemas.microsoft.com/office/drawing/2014/main" val="4013878995"/>
                  </a:ext>
                </a:extLst>
              </a:tr>
              <a:tr h="493764">
                <a:tc>
                  <a:txBody>
                    <a:bodyPr/>
                    <a:lstStyle/>
                    <a:p>
                      <a:pPr algn="ctr"/>
                      <a:r>
                        <a:rPr lang="en-US" altLang="zh-CN" dirty="0"/>
                        <a:t>RX</a:t>
                      </a:r>
                      <a:endParaRPr lang="zh-CN" altLang="en-US" dirty="0"/>
                    </a:p>
                  </a:txBody>
                  <a:tcPr/>
                </a:tc>
                <a:tc>
                  <a:txBody>
                    <a:bodyPr/>
                    <a:lstStyle/>
                    <a:p>
                      <a:pPr algn="ctr"/>
                      <a:r>
                        <a:rPr lang="en-US" altLang="zh-CN" dirty="0"/>
                        <a:t>RX</a:t>
                      </a:r>
                      <a:r>
                        <a:rPr lang="zh-CN" altLang="en-US" sz="1800" kern="1200" dirty="0">
                          <a:solidFill>
                            <a:schemeClr val="dk1"/>
                          </a:solidFill>
                          <a:latin typeface="+mn-lt"/>
                          <a:ea typeface="+mn-ea"/>
                          <a:cs typeface="+mn-cs"/>
                          <a:sym typeface="Wingdings" panose="05000000000000000000" pitchFamily="2" charset="2"/>
                        </a:rPr>
                        <a:t>←</a:t>
                      </a:r>
                      <a:r>
                        <a:rPr lang="en-US" altLang="zh-CN" sz="1800" kern="1200" dirty="0">
                          <a:solidFill>
                            <a:schemeClr val="dk1"/>
                          </a:solidFill>
                          <a:latin typeface="+mn-lt"/>
                          <a:ea typeface="+mn-ea"/>
                          <a:cs typeface="+mn-cs"/>
                          <a:sym typeface="Wingdings" panose="05000000000000000000" pitchFamily="2" charset="2"/>
                        </a:rPr>
                        <a:t>0</a:t>
                      </a:r>
                      <a:endParaRPr lang="zh-CN" altLang="en-US" sz="1800" kern="1200" dirty="0">
                        <a:solidFill>
                          <a:schemeClr val="dk1"/>
                        </a:solidFill>
                        <a:latin typeface="+mn-lt"/>
                        <a:ea typeface="+mn-ea"/>
                        <a:cs typeface="+mn-cs"/>
                      </a:endParaRPr>
                    </a:p>
                  </a:txBody>
                  <a:tcPr/>
                </a:tc>
                <a:extLst>
                  <a:ext uri="{0D108BD9-81ED-4DB2-BD59-A6C34878D82A}">
                    <a16:rowId xmlns:a16="http://schemas.microsoft.com/office/drawing/2014/main" val="3265576672"/>
                  </a:ext>
                </a:extLst>
              </a:tr>
              <a:tr h="493764">
                <a:tc>
                  <a:txBody>
                    <a:bodyPr/>
                    <a:lstStyle/>
                    <a:p>
                      <a:pPr algn="ctr"/>
                      <a:r>
                        <a:rPr lang="en-US" altLang="zh-CN" dirty="0"/>
                        <a:t>IO0</a:t>
                      </a:r>
                      <a:r>
                        <a:rPr lang="zh-CN" altLang="en-US" dirty="0"/>
                        <a:t>（烧写模式）</a:t>
                      </a:r>
                    </a:p>
                  </a:txBody>
                  <a:tcPr/>
                </a:tc>
                <a:tc>
                  <a:txBody>
                    <a:bodyPr/>
                    <a:lstStyle/>
                    <a:p>
                      <a:pPr algn="ctr"/>
                      <a:r>
                        <a:rPr lang="en-US" altLang="zh-CN" sz="1800" kern="1200" dirty="0">
                          <a:solidFill>
                            <a:schemeClr val="dk1"/>
                          </a:solidFill>
                          <a:latin typeface="+mn-lt"/>
                          <a:ea typeface="+mn-ea"/>
                          <a:cs typeface="+mn-cs"/>
                        </a:rPr>
                        <a:t>GND</a:t>
                      </a:r>
                      <a:endParaRPr lang="zh-CN" altLang="en-US" sz="1800" kern="1200" dirty="0">
                        <a:solidFill>
                          <a:schemeClr val="dk1"/>
                        </a:solidFill>
                        <a:latin typeface="+mn-lt"/>
                        <a:ea typeface="+mn-ea"/>
                        <a:cs typeface="+mn-cs"/>
                      </a:endParaRPr>
                    </a:p>
                  </a:txBody>
                  <a:tcPr/>
                </a:tc>
                <a:extLst>
                  <a:ext uri="{0D108BD9-81ED-4DB2-BD59-A6C34878D82A}">
                    <a16:rowId xmlns:a16="http://schemas.microsoft.com/office/drawing/2014/main" val="2798748646"/>
                  </a:ext>
                </a:extLst>
              </a:tr>
              <a:tr h="493764">
                <a:tc>
                  <a:txBody>
                    <a:bodyPr/>
                    <a:lstStyle/>
                    <a:p>
                      <a:pPr algn="ctr"/>
                      <a:r>
                        <a:rPr lang="en-US" altLang="zh-CN" dirty="0"/>
                        <a:t>RST</a:t>
                      </a:r>
                      <a:r>
                        <a:rPr lang="zh-CN" altLang="en-US" dirty="0"/>
                        <a:t>（可选）</a:t>
                      </a:r>
                    </a:p>
                  </a:txBody>
                  <a:tcPr/>
                </a:tc>
                <a:tc>
                  <a:txBody>
                    <a:bodyPr/>
                    <a:lstStyle/>
                    <a:p>
                      <a:pPr algn="ctr"/>
                      <a:r>
                        <a:rPr lang="en-US" altLang="zh-CN" sz="1800" kern="1200" dirty="0">
                          <a:solidFill>
                            <a:schemeClr val="dk1"/>
                          </a:solidFill>
                          <a:latin typeface="+mn-lt"/>
                          <a:ea typeface="+mn-ea"/>
                          <a:cs typeface="+mn-cs"/>
                        </a:rPr>
                        <a:t>RESET</a:t>
                      </a:r>
                      <a:r>
                        <a:rPr lang="zh-CN" altLang="en-US" dirty="0"/>
                        <a:t>（可选）</a:t>
                      </a:r>
                      <a:endParaRPr lang="zh-CN" altLang="en-US" sz="1800" kern="1200" dirty="0">
                        <a:solidFill>
                          <a:schemeClr val="dk1"/>
                        </a:solidFill>
                        <a:latin typeface="+mn-lt"/>
                        <a:ea typeface="+mn-ea"/>
                        <a:cs typeface="+mn-cs"/>
                      </a:endParaRPr>
                    </a:p>
                  </a:txBody>
                  <a:tcPr/>
                </a:tc>
                <a:extLst>
                  <a:ext uri="{0D108BD9-81ED-4DB2-BD59-A6C34878D82A}">
                    <a16:rowId xmlns:a16="http://schemas.microsoft.com/office/drawing/2014/main" val="3926903863"/>
                  </a:ext>
                </a:extLst>
              </a:tr>
            </a:tbl>
          </a:graphicData>
        </a:graphic>
      </p:graphicFrame>
    </p:spTree>
    <p:extLst>
      <p:ext uri="{BB962C8B-B14F-4D97-AF65-F5344CB8AC3E}">
        <p14:creationId xmlns:p14="http://schemas.microsoft.com/office/powerpoint/2010/main" val="1914574256"/>
      </p:ext>
    </p:extLst>
  </p:cSld>
  <p:clrMapOvr>
    <a:masterClrMapping/>
  </p:clrMapOvr>
  <p:transition>
    <p:cover dir="d"/>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Arduino</a:t>
            </a:r>
            <a:r>
              <a:rPr lang="zh-CN" altLang="en-US" dirty="0"/>
              <a:t>与</a:t>
            </a:r>
            <a:r>
              <a:rPr lang="en-US" altLang="zh-CN" dirty="0"/>
              <a:t>ESP8266</a:t>
            </a:r>
            <a:r>
              <a:rPr lang="zh-CN" altLang="en-US" dirty="0"/>
              <a:t>连线</a:t>
            </a:r>
          </a:p>
        </p:txBody>
      </p:sp>
      <p:sp>
        <p:nvSpPr>
          <p:cNvPr id="3" name="内容占位符 2">
            <a:extLst>
              <a:ext uri="{FF2B5EF4-FFF2-40B4-BE49-F238E27FC236}">
                <a16:creationId xmlns:a16="http://schemas.microsoft.com/office/drawing/2014/main" id="{60240F98-7B40-420F-8F71-D6919518EC53}"/>
              </a:ext>
            </a:extLst>
          </p:cNvPr>
          <p:cNvSpPr>
            <a:spLocks noGrp="1"/>
          </p:cNvSpPr>
          <p:nvPr>
            <p:ph idx="1"/>
          </p:nvPr>
        </p:nvSpPr>
        <p:spPr>
          <a:xfrm>
            <a:off x="685800" y="1960880"/>
            <a:ext cx="7970520" cy="4135120"/>
          </a:xfrm>
        </p:spPr>
        <p:txBody>
          <a:bodyPr/>
          <a:lstStyle/>
          <a:p>
            <a:r>
              <a:rPr lang="zh-CN" altLang="en-US" dirty="0"/>
              <a:t>补充说明如何将</a:t>
            </a:r>
            <a:r>
              <a:rPr lang="en-US" altLang="zh-CN" dirty="0"/>
              <a:t>ESP8266</a:t>
            </a:r>
            <a:r>
              <a:rPr lang="zh-CN" altLang="en-US" dirty="0"/>
              <a:t>的</a:t>
            </a:r>
            <a:r>
              <a:rPr lang="en-US" altLang="zh-CN" dirty="0"/>
              <a:t>3V3</a:t>
            </a:r>
            <a:r>
              <a:rPr lang="zh-CN" altLang="en-US" dirty="0"/>
              <a:t>和</a:t>
            </a:r>
            <a:r>
              <a:rPr lang="en-US" altLang="zh-CN" dirty="0"/>
              <a:t>EN</a:t>
            </a:r>
            <a:r>
              <a:rPr lang="zh-CN" altLang="en-US" dirty="0"/>
              <a:t>同时连</a:t>
            </a:r>
            <a:r>
              <a:rPr lang="en-US" altLang="zh-CN" dirty="0"/>
              <a:t>Arduino</a:t>
            </a:r>
            <a:r>
              <a:rPr lang="zh-CN" altLang="en-US" dirty="0"/>
              <a:t>的</a:t>
            </a:r>
            <a:r>
              <a:rPr lang="en-US" altLang="zh-CN" dirty="0"/>
              <a:t>3.3V</a:t>
            </a:r>
          </a:p>
          <a:p>
            <a:endParaRPr lang="en-US" altLang="zh-CN" dirty="0"/>
          </a:p>
        </p:txBody>
      </p:sp>
      <p:pic>
        <p:nvPicPr>
          <p:cNvPr id="6" name="图片 5">
            <a:extLst>
              <a:ext uri="{FF2B5EF4-FFF2-40B4-BE49-F238E27FC236}">
                <a16:creationId xmlns:a16="http://schemas.microsoft.com/office/drawing/2014/main" id="{1B3A511D-38B2-4415-9323-B34B746630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30307" y="3051950"/>
            <a:ext cx="2851343" cy="2901148"/>
          </a:xfrm>
          <a:prstGeom prst="rect">
            <a:avLst/>
          </a:prstGeom>
        </p:spPr>
      </p:pic>
    </p:spTree>
    <p:extLst>
      <p:ext uri="{BB962C8B-B14F-4D97-AF65-F5344CB8AC3E}">
        <p14:creationId xmlns:p14="http://schemas.microsoft.com/office/powerpoint/2010/main" val="231893053"/>
      </p:ext>
    </p:extLst>
  </p:cSld>
  <p:clrMapOvr>
    <a:masterClrMapping/>
  </p:clrMapOvr>
  <p:transition>
    <p:cover dir="d"/>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添加</a:t>
            </a:r>
            <a:r>
              <a:rPr lang="en-US" altLang="zh-CN" dirty="0"/>
              <a:t>ESP8266</a:t>
            </a:r>
            <a:r>
              <a:rPr lang="zh-CN" altLang="en-US" dirty="0"/>
              <a:t>支持</a:t>
            </a:r>
          </a:p>
        </p:txBody>
      </p:sp>
      <p:sp>
        <p:nvSpPr>
          <p:cNvPr id="3" name="内容占位符 2">
            <a:extLst>
              <a:ext uri="{FF2B5EF4-FFF2-40B4-BE49-F238E27FC236}">
                <a16:creationId xmlns:a16="http://schemas.microsoft.com/office/drawing/2014/main" id="{60240F98-7B40-420F-8F71-D6919518EC53}"/>
              </a:ext>
            </a:extLst>
          </p:cNvPr>
          <p:cNvSpPr>
            <a:spLocks noGrp="1"/>
          </p:cNvSpPr>
          <p:nvPr>
            <p:ph idx="1"/>
          </p:nvPr>
        </p:nvSpPr>
        <p:spPr/>
        <p:txBody>
          <a:bodyPr/>
          <a:lstStyle/>
          <a:p>
            <a:r>
              <a:rPr lang="en-US" altLang="zh-CN" dirty="0"/>
              <a:t>(1)</a:t>
            </a:r>
            <a:r>
              <a:rPr lang="zh-CN" altLang="en-US" dirty="0"/>
              <a:t>进入文件</a:t>
            </a:r>
            <a:r>
              <a:rPr lang="en-US" altLang="zh-CN" dirty="0"/>
              <a:t>-</a:t>
            </a:r>
            <a:r>
              <a:rPr lang="zh-CN" altLang="en-US" b="1" dirty="0"/>
              <a:t>首选项</a:t>
            </a:r>
            <a:r>
              <a:rPr lang="zh-CN" altLang="en-US" dirty="0"/>
              <a:t>（</a:t>
            </a:r>
            <a:r>
              <a:rPr lang="en-US" altLang="zh-CN" dirty="0"/>
              <a:t>Preferences</a:t>
            </a:r>
            <a:r>
              <a:rPr lang="zh-CN" altLang="en-US" dirty="0"/>
              <a:t>），找到附加开发板管理器地址，并在其后添加如下信息：</a:t>
            </a:r>
            <a:r>
              <a:rPr lang="en-US" altLang="zh-CN" dirty="0">
                <a:hlinkClick r:id="rId2"/>
              </a:rPr>
              <a:t>http://arduino.esp8266.com/stable/package_esp8266com_index.json</a:t>
            </a:r>
            <a:endParaRPr lang="en-US" altLang="zh-CN" dirty="0"/>
          </a:p>
          <a:p>
            <a:r>
              <a:rPr lang="zh-CN" altLang="en-US" dirty="0"/>
              <a:t>重启</a:t>
            </a:r>
            <a:r>
              <a:rPr lang="en-US" altLang="zh-CN" dirty="0"/>
              <a:t>IDE</a:t>
            </a:r>
            <a:r>
              <a:rPr lang="zh-CN" altLang="en-US" dirty="0"/>
              <a:t>（可选）</a:t>
            </a:r>
            <a:endParaRPr lang="en-US" altLang="zh-CN" dirty="0"/>
          </a:p>
          <a:p>
            <a:endParaRPr lang="zh-CN" altLang="en-US" dirty="0"/>
          </a:p>
        </p:txBody>
      </p:sp>
    </p:spTree>
    <p:extLst>
      <p:ext uri="{BB962C8B-B14F-4D97-AF65-F5344CB8AC3E}">
        <p14:creationId xmlns:p14="http://schemas.microsoft.com/office/powerpoint/2010/main" val="578922478"/>
      </p:ext>
    </p:extLst>
  </p:cSld>
  <p:clrMapOvr>
    <a:masterClrMapping/>
  </p:clrMapOvr>
  <p:transition>
    <p:cover dir="d"/>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内容占位符 6">
            <a:extLst>
              <a:ext uri="{FF2B5EF4-FFF2-40B4-BE49-F238E27FC236}">
                <a16:creationId xmlns:a16="http://schemas.microsoft.com/office/drawing/2014/main" id="{23D5CC1B-01F5-AA08-8DF1-86DD1B203AF8}"/>
              </a:ext>
            </a:extLst>
          </p:cNvPr>
          <p:cNvPicPr>
            <a:picLocks noGrp="1" noChangeAspect="1"/>
          </p:cNvPicPr>
          <p:nvPr>
            <p:ph idx="1"/>
          </p:nvPr>
        </p:nvPicPr>
        <p:blipFill>
          <a:blip r:embed="rId3"/>
          <a:stretch>
            <a:fillRect/>
          </a:stretch>
        </p:blipFill>
        <p:spPr>
          <a:xfrm>
            <a:off x="2858591" y="1762125"/>
            <a:ext cx="5685334" cy="4114800"/>
          </a:xfrm>
        </p:spPr>
      </p:pic>
      <p:sp>
        <p:nvSpPr>
          <p:cNvPr id="2" name="标题 1"/>
          <p:cNvSpPr>
            <a:spLocks noGrp="1"/>
          </p:cNvSpPr>
          <p:nvPr>
            <p:ph type="title"/>
          </p:nvPr>
        </p:nvSpPr>
        <p:spPr/>
        <p:txBody>
          <a:bodyPr/>
          <a:lstStyle/>
          <a:p>
            <a:pPr algn="l"/>
            <a:r>
              <a:rPr lang="zh-CN" altLang="en-US" dirty="0"/>
              <a:t>添加</a:t>
            </a:r>
            <a:r>
              <a:rPr lang="en-US" altLang="zh-CN" dirty="0"/>
              <a:t>ESP8266</a:t>
            </a:r>
            <a:r>
              <a:rPr lang="zh-CN" altLang="en-US" dirty="0"/>
              <a:t>支持</a:t>
            </a:r>
          </a:p>
        </p:txBody>
      </p:sp>
      <p:sp>
        <p:nvSpPr>
          <p:cNvPr id="3" name="矩形 2">
            <a:extLst>
              <a:ext uri="{FF2B5EF4-FFF2-40B4-BE49-F238E27FC236}">
                <a16:creationId xmlns:a16="http://schemas.microsoft.com/office/drawing/2014/main" id="{4A362B22-2A14-EE5B-15B5-012478B2DEAB}"/>
              </a:ext>
            </a:extLst>
          </p:cNvPr>
          <p:cNvSpPr/>
          <p:nvPr/>
        </p:nvSpPr>
        <p:spPr bwMode="auto">
          <a:xfrm>
            <a:off x="3162300" y="4752975"/>
            <a:ext cx="4657725" cy="247650"/>
          </a:xfrm>
          <a:prstGeom prst="rect">
            <a:avLst/>
          </a:prstGeom>
          <a:noFill/>
          <a:ln w="9525"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p:txBody>
      </p:sp>
      <p:pic>
        <p:nvPicPr>
          <p:cNvPr id="6" name="图片 5">
            <a:extLst>
              <a:ext uri="{FF2B5EF4-FFF2-40B4-BE49-F238E27FC236}">
                <a16:creationId xmlns:a16="http://schemas.microsoft.com/office/drawing/2014/main" id="{853A7358-4B8A-00F7-6C05-895522484EB2}"/>
              </a:ext>
            </a:extLst>
          </p:cNvPr>
          <p:cNvPicPr>
            <a:picLocks noChangeAspect="1"/>
          </p:cNvPicPr>
          <p:nvPr/>
        </p:nvPicPr>
        <p:blipFill rotWithShape="1">
          <a:blip r:embed="rId4"/>
          <a:srcRect l="10104" t="6111" r="73333" b="45000"/>
          <a:stretch/>
        </p:blipFill>
        <p:spPr>
          <a:xfrm>
            <a:off x="809625" y="2266950"/>
            <a:ext cx="1514476" cy="2514600"/>
          </a:xfrm>
          <a:prstGeom prst="rect">
            <a:avLst/>
          </a:prstGeom>
        </p:spPr>
      </p:pic>
      <p:sp>
        <p:nvSpPr>
          <p:cNvPr id="4" name="矩形 3">
            <a:extLst>
              <a:ext uri="{FF2B5EF4-FFF2-40B4-BE49-F238E27FC236}">
                <a16:creationId xmlns:a16="http://schemas.microsoft.com/office/drawing/2014/main" id="{04150DFE-B438-2F17-B07D-82662F2CF25B}"/>
              </a:ext>
            </a:extLst>
          </p:cNvPr>
          <p:cNvSpPr/>
          <p:nvPr/>
        </p:nvSpPr>
        <p:spPr bwMode="auto">
          <a:xfrm>
            <a:off x="809625" y="4052887"/>
            <a:ext cx="1534616" cy="257175"/>
          </a:xfrm>
          <a:prstGeom prst="rect">
            <a:avLst/>
          </a:prstGeom>
          <a:noFill/>
          <a:ln w="9525"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864011865"/>
      </p:ext>
    </p:extLst>
  </p:cSld>
  <p:clrMapOvr>
    <a:masterClrMapping/>
  </p:clrMapOvr>
  <p:transition>
    <p:cover dir="d"/>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添加</a:t>
            </a:r>
            <a:r>
              <a:rPr lang="en-US" altLang="zh-CN" dirty="0"/>
              <a:t>ESP8266</a:t>
            </a:r>
            <a:r>
              <a:rPr lang="zh-CN" altLang="en-US" dirty="0"/>
              <a:t>支持</a:t>
            </a:r>
          </a:p>
        </p:txBody>
      </p:sp>
      <p:sp>
        <p:nvSpPr>
          <p:cNvPr id="3" name="内容占位符 2">
            <a:extLst>
              <a:ext uri="{FF2B5EF4-FFF2-40B4-BE49-F238E27FC236}">
                <a16:creationId xmlns:a16="http://schemas.microsoft.com/office/drawing/2014/main" id="{60240F98-7B40-420F-8F71-D6919518EC53}"/>
              </a:ext>
            </a:extLst>
          </p:cNvPr>
          <p:cNvSpPr>
            <a:spLocks noGrp="1"/>
          </p:cNvSpPr>
          <p:nvPr>
            <p:ph idx="1"/>
          </p:nvPr>
        </p:nvSpPr>
        <p:spPr/>
        <p:txBody>
          <a:bodyPr/>
          <a:lstStyle/>
          <a:p>
            <a:r>
              <a:rPr lang="en-US" altLang="zh-CN" dirty="0"/>
              <a:t>(2)</a:t>
            </a:r>
            <a:r>
              <a:rPr lang="zh-CN" altLang="en-US" dirty="0"/>
              <a:t>点击工具 </a:t>
            </a:r>
            <a:r>
              <a:rPr lang="en-US" altLang="zh-CN" dirty="0"/>
              <a:t>- </a:t>
            </a:r>
            <a:r>
              <a:rPr lang="zh-CN" altLang="en-US" dirty="0"/>
              <a:t>开发板 </a:t>
            </a:r>
            <a:r>
              <a:rPr lang="en-US" altLang="zh-CN" dirty="0"/>
              <a:t>- </a:t>
            </a:r>
            <a:r>
              <a:rPr lang="zh-CN" altLang="en-US" dirty="0"/>
              <a:t>开发板管理器，进入开发板管理器界面</a:t>
            </a:r>
            <a:r>
              <a:rPr lang="en-US" altLang="zh-CN" dirty="0"/>
              <a:t>(</a:t>
            </a:r>
            <a:r>
              <a:rPr lang="zh-CN" altLang="en-US" dirty="0"/>
              <a:t>或者直接点击左侧按钮</a:t>
            </a:r>
            <a:r>
              <a:rPr lang="en-US" altLang="zh-CN" dirty="0"/>
              <a:t>)</a:t>
            </a:r>
            <a:r>
              <a:rPr lang="zh-CN" altLang="en-US" dirty="0"/>
              <a:t>，搜索</a:t>
            </a:r>
            <a:r>
              <a:rPr lang="en-US" altLang="zh-CN" dirty="0"/>
              <a:t>esp8266 </a:t>
            </a:r>
            <a:r>
              <a:rPr lang="zh-CN" altLang="en-US" dirty="0"/>
              <a:t>并安装：</a:t>
            </a:r>
            <a:endParaRPr lang="en-US" altLang="zh-CN" dirty="0"/>
          </a:p>
          <a:p>
            <a:endParaRPr lang="zh-CN" altLang="en-US" dirty="0"/>
          </a:p>
        </p:txBody>
      </p:sp>
      <p:pic>
        <p:nvPicPr>
          <p:cNvPr id="5" name="图片 4">
            <a:extLst>
              <a:ext uri="{FF2B5EF4-FFF2-40B4-BE49-F238E27FC236}">
                <a16:creationId xmlns:a16="http://schemas.microsoft.com/office/drawing/2014/main" id="{00902E4D-6B5F-F75E-27E8-A9EC6BE59A83}"/>
              </a:ext>
            </a:extLst>
          </p:cNvPr>
          <p:cNvPicPr>
            <a:picLocks noChangeAspect="1"/>
          </p:cNvPicPr>
          <p:nvPr/>
        </p:nvPicPr>
        <p:blipFill rotWithShape="1">
          <a:blip r:embed="rId2"/>
          <a:srcRect b="52639"/>
          <a:stretch/>
        </p:blipFill>
        <p:spPr>
          <a:xfrm>
            <a:off x="1610252" y="3609975"/>
            <a:ext cx="2895073" cy="3248025"/>
          </a:xfrm>
          <a:prstGeom prst="rect">
            <a:avLst/>
          </a:prstGeom>
        </p:spPr>
      </p:pic>
      <p:sp>
        <p:nvSpPr>
          <p:cNvPr id="6" name="矩形 5">
            <a:extLst>
              <a:ext uri="{FF2B5EF4-FFF2-40B4-BE49-F238E27FC236}">
                <a16:creationId xmlns:a16="http://schemas.microsoft.com/office/drawing/2014/main" id="{23B073FD-F54D-4FFF-2275-E8688041495E}"/>
              </a:ext>
            </a:extLst>
          </p:cNvPr>
          <p:cNvSpPr/>
          <p:nvPr/>
        </p:nvSpPr>
        <p:spPr bwMode="auto">
          <a:xfrm>
            <a:off x="1533525" y="4267200"/>
            <a:ext cx="666750" cy="619125"/>
          </a:xfrm>
          <a:prstGeom prst="rect">
            <a:avLst/>
          </a:prstGeom>
          <a:noFill/>
          <a:ln w="9525"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2650304233"/>
      </p:ext>
    </p:extLst>
  </p:cSld>
  <p:clrMapOvr>
    <a:masterClrMapping/>
  </p:clrMapOvr>
  <p:transition>
    <p:cover dir="d"/>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添加</a:t>
            </a:r>
            <a:r>
              <a:rPr lang="en-US" altLang="zh-CN" dirty="0"/>
              <a:t>ESP8266</a:t>
            </a:r>
            <a:r>
              <a:rPr lang="zh-CN" altLang="en-US" dirty="0"/>
              <a:t>支持</a:t>
            </a:r>
          </a:p>
        </p:txBody>
      </p:sp>
      <p:sp>
        <p:nvSpPr>
          <p:cNvPr id="3" name="内容占位符 2">
            <a:extLst>
              <a:ext uri="{FF2B5EF4-FFF2-40B4-BE49-F238E27FC236}">
                <a16:creationId xmlns:a16="http://schemas.microsoft.com/office/drawing/2014/main" id="{60240F98-7B40-420F-8F71-D6919518EC53}"/>
              </a:ext>
            </a:extLst>
          </p:cNvPr>
          <p:cNvSpPr>
            <a:spLocks noGrp="1"/>
          </p:cNvSpPr>
          <p:nvPr>
            <p:ph idx="1"/>
          </p:nvPr>
        </p:nvSpPr>
        <p:spPr/>
        <p:txBody>
          <a:bodyPr/>
          <a:lstStyle/>
          <a:p>
            <a:r>
              <a:rPr lang="zh-CN" altLang="en-US" dirty="0"/>
              <a:t>如果安装时出现报错，有两种方法解决</a:t>
            </a:r>
            <a:endParaRPr lang="en-US" altLang="zh-CN" dirty="0"/>
          </a:p>
          <a:p>
            <a:r>
              <a:rPr lang="zh-CN" altLang="en-US" dirty="0"/>
              <a:t>科学上网</a:t>
            </a:r>
            <a:endParaRPr lang="en-US" altLang="zh-CN" dirty="0"/>
          </a:p>
          <a:p>
            <a:r>
              <a:rPr lang="zh-CN" altLang="en-US" dirty="0"/>
              <a:t>使用安装包</a:t>
            </a:r>
            <a:endParaRPr lang="en-US" altLang="zh-CN" dirty="0"/>
          </a:p>
          <a:p>
            <a:endParaRPr lang="zh-CN" altLang="en-US" dirty="0"/>
          </a:p>
        </p:txBody>
      </p:sp>
      <p:pic>
        <p:nvPicPr>
          <p:cNvPr id="7" name="图片 6">
            <a:extLst>
              <a:ext uri="{FF2B5EF4-FFF2-40B4-BE49-F238E27FC236}">
                <a16:creationId xmlns:a16="http://schemas.microsoft.com/office/drawing/2014/main" id="{9E424C18-AD47-022D-B455-040348466D5B}"/>
              </a:ext>
            </a:extLst>
          </p:cNvPr>
          <p:cNvPicPr>
            <a:picLocks noChangeAspect="1"/>
          </p:cNvPicPr>
          <p:nvPr/>
        </p:nvPicPr>
        <p:blipFill>
          <a:blip r:embed="rId2"/>
          <a:stretch>
            <a:fillRect/>
          </a:stretch>
        </p:blipFill>
        <p:spPr>
          <a:xfrm>
            <a:off x="1571973" y="4224715"/>
            <a:ext cx="5098504" cy="663933"/>
          </a:xfrm>
          <a:prstGeom prst="rect">
            <a:avLst/>
          </a:prstGeom>
        </p:spPr>
      </p:pic>
    </p:spTree>
    <p:extLst>
      <p:ext uri="{BB962C8B-B14F-4D97-AF65-F5344CB8AC3E}">
        <p14:creationId xmlns:p14="http://schemas.microsoft.com/office/powerpoint/2010/main" val="3352966220"/>
      </p:ext>
    </p:extLst>
  </p:cSld>
  <p:clrMapOvr>
    <a:masterClrMapping/>
  </p:clrMapOvr>
  <p:transition>
    <p:cover dir="d"/>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添加</a:t>
            </a:r>
            <a:r>
              <a:rPr lang="en-US" altLang="zh-CN" dirty="0"/>
              <a:t>ESP8266</a:t>
            </a:r>
            <a:r>
              <a:rPr lang="zh-CN" altLang="en-US" dirty="0"/>
              <a:t>支持</a:t>
            </a:r>
          </a:p>
        </p:txBody>
      </p:sp>
      <p:sp>
        <p:nvSpPr>
          <p:cNvPr id="3" name="内容占位符 2">
            <a:extLst>
              <a:ext uri="{FF2B5EF4-FFF2-40B4-BE49-F238E27FC236}">
                <a16:creationId xmlns:a16="http://schemas.microsoft.com/office/drawing/2014/main" id="{60240F98-7B40-420F-8F71-D6919518EC53}"/>
              </a:ext>
            </a:extLst>
          </p:cNvPr>
          <p:cNvSpPr>
            <a:spLocks noGrp="1"/>
          </p:cNvSpPr>
          <p:nvPr>
            <p:ph idx="1"/>
          </p:nvPr>
        </p:nvSpPr>
        <p:spPr>
          <a:xfrm>
            <a:off x="685800" y="1960880"/>
            <a:ext cx="7970520" cy="4135120"/>
          </a:xfrm>
        </p:spPr>
        <p:txBody>
          <a:bodyPr/>
          <a:lstStyle/>
          <a:p>
            <a:r>
              <a:rPr lang="en-US" altLang="zh-CN" dirty="0"/>
              <a:t>(3)</a:t>
            </a:r>
            <a:r>
              <a:rPr lang="zh-CN" altLang="en-US" dirty="0"/>
              <a:t>安装完成后选择</a:t>
            </a:r>
            <a:r>
              <a:rPr lang="en-US" altLang="zh-CN" dirty="0"/>
              <a:t>Generic ESP8266 </a:t>
            </a:r>
            <a:r>
              <a:rPr lang="en-US" altLang="zh-CN" dirty="0" err="1"/>
              <a:t>Moudule</a:t>
            </a:r>
            <a:r>
              <a:rPr lang="zh-CN" altLang="en-US" dirty="0"/>
              <a:t>开发板</a:t>
            </a:r>
            <a:endParaRPr lang="en-US" altLang="zh-CN" dirty="0"/>
          </a:p>
        </p:txBody>
      </p:sp>
      <p:pic>
        <p:nvPicPr>
          <p:cNvPr id="8" name="图片 7">
            <a:extLst>
              <a:ext uri="{FF2B5EF4-FFF2-40B4-BE49-F238E27FC236}">
                <a16:creationId xmlns:a16="http://schemas.microsoft.com/office/drawing/2014/main" id="{288450D3-9474-8275-4A22-3EF1F1C40DD3}"/>
              </a:ext>
            </a:extLst>
          </p:cNvPr>
          <p:cNvPicPr>
            <a:picLocks noChangeAspect="1"/>
          </p:cNvPicPr>
          <p:nvPr/>
        </p:nvPicPr>
        <p:blipFill rotWithShape="1">
          <a:blip r:embed="rId2"/>
          <a:srcRect r="20937" b="48333"/>
          <a:stretch/>
        </p:blipFill>
        <p:spPr>
          <a:xfrm>
            <a:off x="1056322" y="3333750"/>
            <a:ext cx="7229475" cy="2657475"/>
          </a:xfrm>
          <a:prstGeom prst="rect">
            <a:avLst/>
          </a:prstGeom>
        </p:spPr>
      </p:pic>
    </p:spTree>
    <p:extLst>
      <p:ext uri="{BB962C8B-B14F-4D97-AF65-F5344CB8AC3E}">
        <p14:creationId xmlns:p14="http://schemas.microsoft.com/office/powerpoint/2010/main" val="2824744147"/>
      </p:ext>
    </p:extLst>
  </p:cSld>
  <p:clrMapOvr>
    <a:masterClrMapping/>
  </p:clrMapOvr>
  <p:transition>
    <p:cover dir="d"/>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err="1"/>
              <a:t>Wifi</a:t>
            </a:r>
            <a:r>
              <a:rPr lang="zh-CN" altLang="en-US" dirty="0"/>
              <a:t>连接</a:t>
            </a:r>
            <a:r>
              <a:rPr lang="en-US" altLang="zh-CN" dirty="0"/>
              <a:t>demo</a:t>
            </a:r>
            <a:endParaRPr lang="zh-CN" altLang="en-US" dirty="0"/>
          </a:p>
        </p:txBody>
      </p:sp>
      <p:sp>
        <p:nvSpPr>
          <p:cNvPr id="3" name="内容占位符 2">
            <a:extLst>
              <a:ext uri="{FF2B5EF4-FFF2-40B4-BE49-F238E27FC236}">
                <a16:creationId xmlns:a16="http://schemas.microsoft.com/office/drawing/2014/main" id="{60240F98-7B40-420F-8F71-D6919518EC53}"/>
              </a:ext>
            </a:extLst>
          </p:cNvPr>
          <p:cNvSpPr>
            <a:spLocks noGrp="1"/>
          </p:cNvSpPr>
          <p:nvPr>
            <p:ph idx="1"/>
          </p:nvPr>
        </p:nvSpPr>
        <p:spPr>
          <a:xfrm>
            <a:off x="685800" y="1960880"/>
            <a:ext cx="3429000" cy="4135120"/>
          </a:xfrm>
        </p:spPr>
        <p:txBody>
          <a:bodyPr/>
          <a:lstStyle/>
          <a:p>
            <a:pPr marL="0" indent="0">
              <a:buNone/>
            </a:pPr>
            <a:r>
              <a:rPr lang="zh-CN" altLang="en-US" dirty="0"/>
              <a:t>通过</a:t>
            </a:r>
            <a:r>
              <a:rPr lang="en-US" altLang="zh-CN" dirty="0"/>
              <a:t>ESP8266</a:t>
            </a:r>
            <a:r>
              <a:rPr lang="zh-CN" altLang="en-US" dirty="0"/>
              <a:t>实现连接</a:t>
            </a:r>
            <a:r>
              <a:rPr lang="en-US" altLang="zh-CN" dirty="0" err="1"/>
              <a:t>wifi</a:t>
            </a:r>
            <a:r>
              <a:rPr lang="zh-CN" altLang="en-US" dirty="0"/>
              <a:t>功能</a:t>
            </a:r>
            <a:endParaRPr lang="en-US" altLang="zh-CN" dirty="0"/>
          </a:p>
          <a:p>
            <a:pPr marL="0" indent="0">
              <a:buNone/>
            </a:pPr>
            <a:r>
              <a:rPr lang="zh-CN" altLang="en-US" dirty="0"/>
              <a:t>（注意修改对应的</a:t>
            </a:r>
            <a:r>
              <a:rPr lang="en-US" altLang="zh-CN" dirty="0" err="1"/>
              <a:t>Wifi</a:t>
            </a:r>
            <a:r>
              <a:rPr lang="zh-CN" altLang="en-US" dirty="0"/>
              <a:t>账号和密码）</a:t>
            </a:r>
            <a:endParaRPr lang="en-US" altLang="zh-CN" dirty="0"/>
          </a:p>
        </p:txBody>
      </p:sp>
      <p:sp>
        <p:nvSpPr>
          <p:cNvPr id="7" name="文本框 6">
            <a:extLst>
              <a:ext uri="{FF2B5EF4-FFF2-40B4-BE49-F238E27FC236}">
                <a16:creationId xmlns:a16="http://schemas.microsoft.com/office/drawing/2014/main" id="{0B7E570B-CC3E-135B-AE83-D37D42FB060D}"/>
              </a:ext>
            </a:extLst>
          </p:cNvPr>
          <p:cNvSpPr txBox="1"/>
          <p:nvPr/>
        </p:nvSpPr>
        <p:spPr>
          <a:xfrm>
            <a:off x="5029199" y="251207"/>
            <a:ext cx="4878259" cy="6355586"/>
          </a:xfrm>
          <a:prstGeom prst="rect">
            <a:avLst/>
          </a:prstGeom>
          <a:noFill/>
        </p:spPr>
        <p:txBody>
          <a:bodyPr wrap="none" rtlCol="0">
            <a:spAutoFit/>
          </a:bodyPr>
          <a:lstStyle/>
          <a:p>
            <a:r>
              <a:rPr lang="en-US" altLang="zh-CN" sz="1100" b="0" dirty="0">
                <a:solidFill>
                  <a:srgbClr val="728E00"/>
                </a:solidFill>
                <a:effectLst/>
                <a:latin typeface="Consolas" panose="020B0609020204030204" pitchFamily="49" charset="0"/>
              </a:rPr>
              <a:t>#include</a:t>
            </a:r>
            <a:r>
              <a:rPr lang="en-US" altLang="zh-CN" sz="1100" b="0" dirty="0">
                <a:solidFill>
                  <a:srgbClr val="4E5B61"/>
                </a:solidFill>
                <a:effectLst/>
                <a:latin typeface="Consolas" panose="020B0609020204030204" pitchFamily="49" charset="0"/>
              </a:rPr>
              <a:t> </a:t>
            </a:r>
            <a:r>
              <a:rPr lang="en-US" altLang="zh-CN" sz="1100" b="0" dirty="0">
                <a:solidFill>
                  <a:srgbClr val="005C5F"/>
                </a:solidFill>
                <a:effectLst/>
                <a:latin typeface="Consolas" panose="020B0609020204030204" pitchFamily="49" charset="0"/>
              </a:rPr>
              <a:t>&lt;ESP8266WiFi.h&gt;</a:t>
            </a:r>
            <a:r>
              <a:rPr lang="en-US" altLang="zh-CN" sz="1100" b="0" dirty="0">
                <a:solidFill>
                  <a:srgbClr val="4E5B61"/>
                </a:solidFill>
                <a:effectLst/>
                <a:latin typeface="Consolas" panose="020B0609020204030204" pitchFamily="49" charset="0"/>
              </a:rPr>
              <a:t>                     </a:t>
            </a:r>
          </a:p>
          <a:p>
            <a:br>
              <a:rPr lang="en-US" altLang="zh-CN" sz="1100" b="0" dirty="0">
                <a:solidFill>
                  <a:srgbClr val="4E5B61"/>
                </a:solidFill>
                <a:effectLst/>
                <a:latin typeface="Consolas" panose="020B0609020204030204" pitchFamily="49" charset="0"/>
              </a:rPr>
            </a:br>
            <a:r>
              <a:rPr lang="en-US" altLang="zh-CN" sz="1100" b="0" dirty="0">
                <a:solidFill>
                  <a:srgbClr val="95A5A6"/>
                </a:solidFill>
                <a:effectLst/>
                <a:latin typeface="Consolas" panose="020B0609020204030204" pitchFamily="49" charset="0"/>
              </a:rPr>
              <a:t>// </a:t>
            </a:r>
            <a:r>
              <a:rPr lang="en-US" altLang="zh-CN" sz="1100" b="0" dirty="0" err="1">
                <a:solidFill>
                  <a:srgbClr val="95A5A6"/>
                </a:solidFill>
                <a:effectLst/>
                <a:latin typeface="Consolas" panose="020B0609020204030204" pitchFamily="49" charset="0"/>
              </a:rPr>
              <a:t>WiFi</a:t>
            </a:r>
            <a:r>
              <a:rPr lang="zh-CN" altLang="en-US" sz="1100" b="0" dirty="0">
                <a:solidFill>
                  <a:srgbClr val="95A5A6"/>
                </a:solidFill>
                <a:effectLst/>
                <a:latin typeface="Consolas" panose="020B0609020204030204" pitchFamily="49" charset="0"/>
              </a:rPr>
              <a:t>名称和密码</a:t>
            </a:r>
            <a:endParaRPr lang="zh-CN" altLang="en-US" sz="1100" b="0" dirty="0">
              <a:solidFill>
                <a:srgbClr val="4E5B61"/>
              </a:solidFill>
              <a:effectLst/>
              <a:latin typeface="Consolas" panose="020B0609020204030204" pitchFamily="49" charset="0"/>
            </a:endParaRPr>
          </a:p>
          <a:p>
            <a:r>
              <a:rPr lang="en-US" altLang="zh-CN" sz="1100" b="0" dirty="0">
                <a:solidFill>
                  <a:srgbClr val="00979D"/>
                </a:solidFill>
                <a:effectLst/>
                <a:latin typeface="Consolas" panose="020B0609020204030204" pitchFamily="49" charset="0"/>
              </a:rPr>
              <a:t>const</a:t>
            </a:r>
            <a:r>
              <a:rPr lang="en-US" altLang="zh-CN" sz="1100" b="0" dirty="0">
                <a:solidFill>
                  <a:srgbClr val="4E5B61"/>
                </a:solidFill>
                <a:effectLst/>
                <a:latin typeface="Consolas" panose="020B0609020204030204" pitchFamily="49" charset="0"/>
              </a:rPr>
              <a:t> </a:t>
            </a:r>
            <a:r>
              <a:rPr lang="en-US" altLang="zh-CN" sz="1100" b="0" dirty="0">
                <a:solidFill>
                  <a:srgbClr val="00979D"/>
                </a:solidFill>
                <a:effectLst/>
                <a:latin typeface="Consolas" panose="020B0609020204030204" pitchFamily="49" charset="0"/>
              </a:rPr>
              <a:t>char</a:t>
            </a:r>
            <a:r>
              <a:rPr lang="en-US" altLang="zh-CN" sz="1100" b="0" dirty="0">
                <a:solidFill>
                  <a:srgbClr val="4E5B61"/>
                </a:solidFill>
                <a:effectLst/>
                <a:latin typeface="Consolas" panose="020B0609020204030204" pitchFamily="49" charset="0"/>
              </a:rPr>
              <a:t> *</a:t>
            </a:r>
            <a:r>
              <a:rPr lang="en-US" altLang="zh-CN" sz="1100" b="0" dirty="0" err="1">
                <a:solidFill>
                  <a:srgbClr val="4E5B61"/>
                </a:solidFill>
                <a:effectLst/>
                <a:latin typeface="Consolas" panose="020B0609020204030204" pitchFamily="49" charset="0"/>
              </a:rPr>
              <a:t>ssid</a:t>
            </a:r>
            <a:r>
              <a:rPr lang="en-US" altLang="zh-CN" sz="1100" b="0" dirty="0">
                <a:solidFill>
                  <a:srgbClr val="4E5B61"/>
                </a:solidFill>
                <a:effectLst/>
                <a:latin typeface="Consolas" panose="020B0609020204030204" pitchFamily="49" charset="0"/>
              </a:rPr>
              <a:t>     = </a:t>
            </a:r>
            <a:r>
              <a:rPr lang="en-US" altLang="zh-CN" sz="1100" b="0" dirty="0">
                <a:solidFill>
                  <a:srgbClr val="005C5F"/>
                </a:solidFill>
                <a:effectLst/>
                <a:latin typeface="Consolas" panose="020B0609020204030204" pitchFamily="49" charset="0"/>
              </a:rPr>
              <a:t>"test"</a:t>
            </a:r>
            <a:r>
              <a:rPr lang="en-US" altLang="zh-CN" sz="1100" b="0" dirty="0">
                <a:solidFill>
                  <a:srgbClr val="4E5B61"/>
                </a:solidFill>
                <a:effectLst/>
                <a:latin typeface="Consolas" panose="020B0609020204030204" pitchFamily="49" charset="0"/>
              </a:rPr>
              <a:t>;     </a:t>
            </a:r>
          </a:p>
          <a:p>
            <a:r>
              <a:rPr lang="en-US" altLang="zh-CN" sz="1100" b="0" dirty="0">
                <a:solidFill>
                  <a:srgbClr val="00979D"/>
                </a:solidFill>
                <a:effectLst/>
                <a:latin typeface="Consolas" panose="020B0609020204030204" pitchFamily="49" charset="0"/>
              </a:rPr>
              <a:t>const</a:t>
            </a:r>
            <a:r>
              <a:rPr lang="en-US" altLang="zh-CN" sz="1100" b="0" dirty="0">
                <a:solidFill>
                  <a:srgbClr val="4E5B61"/>
                </a:solidFill>
                <a:effectLst/>
                <a:latin typeface="Consolas" panose="020B0609020204030204" pitchFamily="49" charset="0"/>
              </a:rPr>
              <a:t> </a:t>
            </a:r>
            <a:r>
              <a:rPr lang="en-US" altLang="zh-CN" sz="1100" b="0" dirty="0">
                <a:solidFill>
                  <a:srgbClr val="00979D"/>
                </a:solidFill>
                <a:effectLst/>
                <a:latin typeface="Consolas" panose="020B0609020204030204" pitchFamily="49" charset="0"/>
              </a:rPr>
              <a:t>char</a:t>
            </a:r>
            <a:r>
              <a:rPr lang="en-US" altLang="zh-CN" sz="1100" b="0" dirty="0">
                <a:solidFill>
                  <a:srgbClr val="4E5B61"/>
                </a:solidFill>
                <a:effectLst/>
                <a:latin typeface="Consolas" panose="020B0609020204030204" pitchFamily="49" charset="0"/>
              </a:rPr>
              <a:t> *password = </a:t>
            </a:r>
            <a:r>
              <a:rPr lang="en-US" altLang="zh-CN" sz="1100" b="0" dirty="0">
                <a:solidFill>
                  <a:srgbClr val="005C5F"/>
                </a:solidFill>
                <a:effectLst/>
                <a:latin typeface="Consolas" panose="020B0609020204030204" pitchFamily="49" charset="0"/>
              </a:rPr>
              <a:t>"88888888"</a:t>
            </a:r>
            <a:r>
              <a:rPr lang="en-US" altLang="zh-CN" sz="1100" b="0" dirty="0">
                <a:solidFill>
                  <a:srgbClr val="4E5B61"/>
                </a:solidFill>
                <a:effectLst/>
                <a:latin typeface="Consolas" panose="020B0609020204030204" pitchFamily="49" charset="0"/>
              </a:rPr>
              <a:t>;            </a:t>
            </a:r>
          </a:p>
          <a:p>
            <a:br>
              <a:rPr lang="en-US" altLang="zh-CN" sz="1100" b="0" dirty="0">
                <a:solidFill>
                  <a:srgbClr val="4E5B61"/>
                </a:solidFill>
                <a:effectLst/>
                <a:latin typeface="Consolas" panose="020B0609020204030204" pitchFamily="49" charset="0"/>
              </a:rPr>
            </a:br>
            <a:r>
              <a:rPr lang="en-US" altLang="zh-CN" sz="1100" b="0" dirty="0">
                <a:solidFill>
                  <a:srgbClr val="00979D"/>
                </a:solidFill>
                <a:effectLst/>
                <a:latin typeface="Consolas" panose="020B0609020204030204" pitchFamily="49" charset="0"/>
              </a:rPr>
              <a:t>void</a:t>
            </a:r>
            <a:r>
              <a:rPr lang="en-US" altLang="zh-CN" sz="1100" b="0" dirty="0">
                <a:solidFill>
                  <a:srgbClr val="4E5B61"/>
                </a:solidFill>
                <a:effectLst/>
                <a:latin typeface="Consolas" panose="020B0609020204030204" pitchFamily="49" charset="0"/>
              </a:rPr>
              <a:t> </a:t>
            </a:r>
            <a:r>
              <a:rPr lang="en-US" altLang="zh-CN" sz="1100" b="0" dirty="0">
                <a:solidFill>
                  <a:srgbClr val="D35400"/>
                </a:solidFill>
                <a:effectLst/>
                <a:latin typeface="Consolas" panose="020B0609020204030204" pitchFamily="49" charset="0"/>
              </a:rPr>
              <a:t>setup</a:t>
            </a:r>
            <a:r>
              <a:rPr lang="en-US" altLang="zh-CN" sz="1100" b="0" dirty="0">
                <a:solidFill>
                  <a:srgbClr val="434F54"/>
                </a:solidFill>
                <a:effectLst/>
                <a:latin typeface="Consolas" panose="020B0609020204030204" pitchFamily="49" charset="0"/>
              </a:rPr>
              <a:t>()</a:t>
            </a:r>
            <a:r>
              <a:rPr lang="en-US" altLang="zh-CN" sz="1100" b="0" dirty="0">
                <a:solidFill>
                  <a:srgbClr val="4E5B61"/>
                </a:solidFill>
                <a:effectLst/>
                <a:latin typeface="Consolas" panose="020B0609020204030204" pitchFamily="49" charset="0"/>
              </a:rPr>
              <a:t> </a:t>
            </a:r>
            <a:r>
              <a:rPr lang="en-US" altLang="zh-CN" sz="1100" b="0" dirty="0">
                <a:solidFill>
                  <a:srgbClr val="434F54"/>
                </a:solidFill>
                <a:effectLst/>
                <a:latin typeface="Consolas" panose="020B0609020204030204" pitchFamily="49" charset="0"/>
              </a:rPr>
              <a:t>{</a:t>
            </a:r>
            <a:endParaRPr lang="en-US" altLang="zh-CN" sz="1100" b="0" dirty="0">
              <a:solidFill>
                <a:srgbClr val="4E5B61"/>
              </a:solidFill>
              <a:effectLst/>
              <a:latin typeface="Consolas" panose="020B0609020204030204" pitchFamily="49" charset="0"/>
            </a:endParaRPr>
          </a:p>
          <a:p>
            <a:r>
              <a:rPr lang="en-US" altLang="zh-CN" sz="1100" b="0" dirty="0">
                <a:solidFill>
                  <a:srgbClr val="4E5B61"/>
                </a:solidFill>
                <a:effectLst/>
                <a:latin typeface="Consolas" panose="020B0609020204030204" pitchFamily="49" charset="0"/>
              </a:rPr>
              <a:t>    </a:t>
            </a:r>
            <a:r>
              <a:rPr lang="en-US" altLang="zh-CN" sz="1100" b="0" dirty="0" err="1">
                <a:solidFill>
                  <a:srgbClr val="D35400"/>
                </a:solidFill>
                <a:effectLst/>
                <a:latin typeface="Consolas" panose="020B0609020204030204" pitchFamily="49" charset="0"/>
              </a:rPr>
              <a:t>Serial</a:t>
            </a:r>
            <a:r>
              <a:rPr lang="en-US" altLang="zh-CN" sz="1100" b="0" dirty="0" err="1">
                <a:solidFill>
                  <a:srgbClr val="4E5B61"/>
                </a:solidFill>
                <a:effectLst/>
                <a:latin typeface="Consolas" panose="020B0609020204030204" pitchFamily="49" charset="0"/>
              </a:rPr>
              <a:t>.</a:t>
            </a:r>
            <a:r>
              <a:rPr lang="en-US" altLang="zh-CN" sz="1100" b="0" dirty="0" err="1">
                <a:solidFill>
                  <a:srgbClr val="D35400"/>
                </a:solidFill>
                <a:effectLst/>
                <a:latin typeface="Consolas" panose="020B0609020204030204" pitchFamily="49" charset="0"/>
              </a:rPr>
              <a:t>begin</a:t>
            </a:r>
            <a:r>
              <a:rPr lang="en-US" altLang="zh-CN" sz="1100" b="0" dirty="0">
                <a:solidFill>
                  <a:srgbClr val="434F54"/>
                </a:solidFill>
                <a:effectLst/>
                <a:latin typeface="Consolas" panose="020B0609020204030204" pitchFamily="49" charset="0"/>
              </a:rPr>
              <a:t>(</a:t>
            </a:r>
            <a:r>
              <a:rPr lang="en-US" altLang="zh-CN" sz="1100" b="0" dirty="0">
                <a:solidFill>
                  <a:srgbClr val="005C5F"/>
                </a:solidFill>
                <a:effectLst/>
                <a:latin typeface="Consolas" panose="020B0609020204030204" pitchFamily="49" charset="0"/>
              </a:rPr>
              <a:t>9600</a:t>
            </a:r>
            <a:r>
              <a:rPr lang="en-US" altLang="zh-CN" sz="1100" b="0" dirty="0">
                <a:solidFill>
                  <a:srgbClr val="434F54"/>
                </a:solidFill>
                <a:effectLst/>
                <a:latin typeface="Consolas" panose="020B0609020204030204" pitchFamily="49" charset="0"/>
              </a:rPr>
              <a:t>)</a:t>
            </a:r>
            <a:r>
              <a:rPr lang="en-US" altLang="zh-CN" sz="1100" b="0" dirty="0">
                <a:solidFill>
                  <a:srgbClr val="4E5B61"/>
                </a:solidFill>
                <a:effectLst/>
                <a:latin typeface="Consolas" panose="020B0609020204030204" pitchFamily="49" charset="0"/>
              </a:rPr>
              <a:t>;</a:t>
            </a:r>
          </a:p>
          <a:p>
            <a:br>
              <a:rPr lang="en-US" altLang="zh-CN" sz="1100" b="0" dirty="0">
                <a:solidFill>
                  <a:srgbClr val="4E5B61"/>
                </a:solidFill>
                <a:effectLst/>
                <a:latin typeface="Consolas" panose="020B0609020204030204" pitchFamily="49" charset="0"/>
              </a:rPr>
            </a:br>
            <a:r>
              <a:rPr lang="en-US" altLang="zh-CN" sz="1100" b="0" dirty="0">
                <a:solidFill>
                  <a:srgbClr val="95A5A6"/>
                </a:solidFill>
                <a:effectLst/>
                <a:latin typeface="Consolas" panose="020B0609020204030204" pitchFamily="49" charset="0"/>
              </a:rPr>
              <a:t>    // </a:t>
            </a:r>
            <a:r>
              <a:rPr lang="zh-CN" altLang="en-US" sz="1100" b="0" dirty="0">
                <a:solidFill>
                  <a:srgbClr val="95A5A6"/>
                </a:solidFill>
                <a:effectLst/>
                <a:latin typeface="Consolas" panose="020B0609020204030204" pitchFamily="49" charset="0"/>
              </a:rPr>
              <a:t>设置</a:t>
            </a:r>
            <a:r>
              <a:rPr lang="en-US" altLang="zh-CN" sz="1100" b="0" dirty="0" err="1">
                <a:solidFill>
                  <a:srgbClr val="95A5A6"/>
                </a:solidFill>
                <a:effectLst/>
                <a:latin typeface="Consolas" panose="020B0609020204030204" pitchFamily="49" charset="0"/>
              </a:rPr>
              <a:t>Wifi</a:t>
            </a:r>
            <a:r>
              <a:rPr lang="zh-CN" altLang="en-US" sz="1100" b="0" dirty="0">
                <a:solidFill>
                  <a:srgbClr val="95A5A6"/>
                </a:solidFill>
                <a:effectLst/>
                <a:latin typeface="Consolas" panose="020B0609020204030204" pitchFamily="49" charset="0"/>
              </a:rPr>
              <a:t>工作模式为</a:t>
            </a:r>
            <a:r>
              <a:rPr lang="en-US" altLang="zh-CN" sz="1100" b="0" dirty="0">
                <a:solidFill>
                  <a:srgbClr val="95A5A6"/>
                </a:solidFill>
                <a:effectLst/>
                <a:latin typeface="Consolas" panose="020B0609020204030204" pitchFamily="49" charset="0"/>
              </a:rPr>
              <a:t>STA</a:t>
            </a:r>
            <a:endParaRPr lang="en-US" altLang="zh-CN" sz="1100" b="0" dirty="0">
              <a:solidFill>
                <a:srgbClr val="4E5B61"/>
              </a:solidFill>
              <a:effectLst/>
              <a:latin typeface="Consolas" panose="020B0609020204030204" pitchFamily="49" charset="0"/>
            </a:endParaRPr>
          </a:p>
          <a:p>
            <a:r>
              <a:rPr lang="en-US" altLang="zh-CN" sz="1100" b="0" dirty="0">
                <a:solidFill>
                  <a:srgbClr val="4E5B61"/>
                </a:solidFill>
                <a:effectLst/>
                <a:latin typeface="Consolas" panose="020B0609020204030204" pitchFamily="49" charset="0"/>
              </a:rPr>
              <a:t>    </a:t>
            </a:r>
            <a:r>
              <a:rPr lang="en-US" altLang="zh-CN" sz="1100" b="0" dirty="0" err="1">
                <a:solidFill>
                  <a:srgbClr val="D35400"/>
                </a:solidFill>
                <a:effectLst/>
                <a:latin typeface="Consolas" panose="020B0609020204030204" pitchFamily="49" charset="0"/>
              </a:rPr>
              <a:t>WiFi</a:t>
            </a:r>
            <a:r>
              <a:rPr lang="en-US" altLang="zh-CN" sz="1100" b="0" dirty="0" err="1">
                <a:solidFill>
                  <a:srgbClr val="4E5B61"/>
                </a:solidFill>
                <a:effectLst/>
                <a:latin typeface="Consolas" panose="020B0609020204030204" pitchFamily="49" charset="0"/>
              </a:rPr>
              <a:t>.</a:t>
            </a:r>
            <a:r>
              <a:rPr lang="en-US" altLang="zh-CN" sz="1100" b="0" dirty="0" err="1">
                <a:solidFill>
                  <a:srgbClr val="D35400"/>
                </a:solidFill>
                <a:effectLst/>
                <a:latin typeface="Consolas" panose="020B0609020204030204" pitchFamily="49" charset="0"/>
              </a:rPr>
              <a:t>mode</a:t>
            </a:r>
            <a:r>
              <a:rPr lang="en-US" altLang="zh-CN" sz="1100" b="0" dirty="0">
                <a:solidFill>
                  <a:srgbClr val="434F54"/>
                </a:solidFill>
                <a:effectLst/>
                <a:latin typeface="Consolas" panose="020B0609020204030204" pitchFamily="49" charset="0"/>
              </a:rPr>
              <a:t>(</a:t>
            </a:r>
            <a:r>
              <a:rPr lang="en-US" altLang="zh-CN" sz="1100" b="0" dirty="0">
                <a:solidFill>
                  <a:srgbClr val="4E5B61"/>
                </a:solidFill>
                <a:effectLst/>
                <a:latin typeface="Consolas" panose="020B0609020204030204" pitchFamily="49" charset="0"/>
              </a:rPr>
              <a:t>WIFI_STA</a:t>
            </a:r>
            <a:r>
              <a:rPr lang="en-US" altLang="zh-CN" sz="1100" b="0" dirty="0">
                <a:solidFill>
                  <a:srgbClr val="434F54"/>
                </a:solidFill>
                <a:effectLst/>
                <a:latin typeface="Consolas" panose="020B0609020204030204" pitchFamily="49" charset="0"/>
              </a:rPr>
              <a:t>)</a:t>
            </a:r>
            <a:r>
              <a:rPr lang="en-US" altLang="zh-CN" sz="1100" b="0" dirty="0">
                <a:solidFill>
                  <a:srgbClr val="4E5B61"/>
                </a:solidFill>
                <a:effectLst/>
                <a:latin typeface="Consolas" panose="020B0609020204030204" pitchFamily="49" charset="0"/>
              </a:rPr>
              <a:t>;        </a:t>
            </a:r>
          </a:p>
          <a:p>
            <a:br>
              <a:rPr lang="en-US" altLang="zh-CN" sz="1100" b="0" dirty="0">
                <a:solidFill>
                  <a:srgbClr val="4E5B61"/>
                </a:solidFill>
                <a:effectLst/>
                <a:latin typeface="Consolas" panose="020B0609020204030204" pitchFamily="49" charset="0"/>
              </a:rPr>
            </a:br>
            <a:r>
              <a:rPr lang="en-US" altLang="zh-CN" sz="1100" b="0" dirty="0">
                <a:solidFill>
                  <a:srgbClr val="95A5A6"/>
                </a:solidFill>
                <a:effectLst/>
                <a:latin typeface="Consolas" panose="020B0609020204030204" pitchFamily="49" charset="0"/>
              </a:rPr>
              <a:t>    // </a:t>
            </a:r>
            <a:r>
              <a:rPr lang="zh-CN" altLang="en-US" sz="1100" b="0" dirty="0">
                <a:solidFill>
                  <a:srgbClr val="95A5A6"/>
                </a:solidFill>
                <a:effectLst/>
                <a:latin typeface="Consolas" panose="020B0609020204030204" pitchFamily="49" charset="0"/>
              </a:rPr>
              <a:t>通过</a:t>
            </a:r>
            <a:r>
              <a:rPr lang="en-US" altLang="zh-CN" sz="1100" b="0" dirty="0" err="1">
                <a:solidFill>
                  <a:srgbClr val="95A5A6"/>
                </a:solidFill>
                <a:effectLst/>
                <a:latin typeface="Consolas" panose="020B0609020204030204" pitchFamily="49" charset="0"/>
              </a:rPr>
              <a:t>wifi</a:t>
            </a:r>
            <a:r>
              <a:rPr lang="zh-CN" altLang="en-US" sz="1100" b="0" dirty="0">
                <a:solidFill>
                  <a:srgbClr val="95A5A6"/>
                </a:solidFill>
                <a:effectLst/>
                <a:latin typeface="Consolas" panose="020B0609020204030204" pitchFamily="49" charset="0"/>
              </a:rPr>
              <a:t>名和密码连接到</a:t>
            </a:r>
            <a:r>
              <a:rPr lang="en-US" altLang="zh-CN" sz="1100" b="0" dirty="0" err="1">
                <a:solidFill>
                  <a:srgbClr val="95A5A6"/>
                </a:solidFill>
                <a:effectLst/>
                <a:latin typeface="Consolas" panose="020B0609020204030204" pitchFamily="49" charset="0"/>
              </a:rPr>
              <a:t>Wifi</a:t>
            </a:r>
            <a:r>
              <a:rPr lang="en-US" altLang="zh-CN" sz="1100" b="0" dirty="0">
                <a:solidFill>
                  <a:srgbClr val="95A5A6"/>
                </a:solidFill>
                <a:effectLst/>
                <a:latin typeface="Consolas" panose="020B0609020204030204" pitchFamily="49" charset="0"/>
              </a:rPr>
              <a:t>                  </a:t>
            </a:r>
            <a:endParaRPr lang="en-US" altLang="zh-CN" sz="1100" b="0" dirty="0">
              <a:solidFill>
                <a:srgbClr val="4E5B61"/>
              </a:solidFill>
              <a:effectLst/>
              <a:latin typeface="Consolas" panose="020B0609020204030204" pitchFamily="49" charset="0"/>
            </a:endParaRPr>
          </a:p>
          <a:p>
            <a:r>
              <a:rPr lang="en-US" altLang="zh-CN" sz="1100" b="0" dirty="0">
                <a:solidFill>
                  <a:srgbClr val="4E5B61"/>
                </a:solidFill>
                <a:effectLst/>
                <a:latin typeface="Consolas" panose="020B0609020204030204" pitchFamily="49" charset="0"/>
              </a:rPr>
              <a:t>    </a:t>
            </a:r>
            <a:r>
              <a:rPr lang="en-US" altLang="zh-CN" sz="1100" b="0" dirty="0" err="1">
                <a:solidFill>
                  <a:srgbClr val="D35400"/>
                </a:solidFill>
                <a:effectLst/>
                <a:latin typeface="Consolas" panose="020B0609020204030204" pitchFamily="49" charset="0"/>
              </a:rPr>
              <a:t>WiFi</a:t>
            </a:r>
            <a:r>
              <a:rPr lang="en-US" altLang="zh-CN" sz="1100" b="0" dirty="0" err="1">
                <a:solidFill>
                  <a:srgbClr val="4E5B61"/>
                </a:solidFill>
                <a:effectLst/>
                <a:latin typeface="Consolas" panose="020B0609020204030204" pitchFamily="49" charset="0"/>
              </a:rPr>
              <a:t>.</a:t>
            </a:r>
            <a:r>
              <a:rPr lang="en-US" altLang="zh-CN" sz="1100" b="0" dirty="0" err="1">
                <a:solidFill>
                  <a:srgbClr val="D35400"/>
                </a:solidFill>
                <a:effectLst/>
                <a:latin typeface="Consolas" panose="020B0609020204030204" pitchFamily="49" charset="0"/>
              </a:rPr>
              <a:t>begin</a:t>
            </a:r>
            <a:r>
              <a:rPr lang="en-US" altLang="zh-CN" sz="1100" b="0" dirty="0">
                <a:solidFill>
                  <a:srgbClr val="434F54"/>
                </a:solidFill>
                <a:effectLst/>
                <a:latin typeface="Consolas" panose="020B0609020204030204" pitchFamily="49" charset="0"/>
              </a:rPr>
              <a:t>(</a:t>
            </a:r>
            <a:r>
              <a:rPr lang="en-US" altLang="zh-CN" sz="1100" b="0" dirty="0" err="1">
                <a:solidFill>
                  <a:srgbClr val="4E5B61"/>
                </a:solidFill>
                <a:effectLst/>
                <a:latin typeface="Consolas" panose="020B0609020204030204" pitchFamily="49" charset="0"/>
              </a:rPr>
              <a:t>ssid</a:t>
            </a:r>
            <a:r>
              <a:rPr lang="en-US" altLang="zh-CN" sz="1100" b="0" dirty="0">
                <a:solidFill>
                  <a:srgbClr val="4E5B61"/>
                </a:solidFill>
                <a:effectLst/>
                <a:latin typeface="Consolas" panose="020B0609020204030204" pitchFamily="49" charset="0"/>
              </a:rPr>
              <a:t>, password</a:t>
            </a:r>
            <a:r>
              <a:rPr lang="en-US" altLang="zh-CN" sz="1100" b="0" dirty="0">
                <a:solidFill>
                  <a:srgbClr val="434F54"/>
                </a:solidFill>
                <a:effectLst/>
                <a:latin typeface="Consolas" panose="020B0609020204030204" pitchFamily="49" charset="0"/>
              </a:rPr>
              <a:t>)</a:t>
            </a:r>
            <a:r>
              <a:rPr lang="en-US" altLang="zh-CN" sz="1100" b="0" dirty="0">
                <a:solidFill>
                  <a:srgbClr val="4E5B61"/>
                </a:solidFill>
                <a:effectLst/>
                <a:latin typeface="Consolas" panose="020B0609020204030204" pitchFamily="49" charset="0"/>
              </a:rPr>
              <a:t>;     </a:t>
            </a:r>
          </a:p>
          <a:p>
            <a:br>
              <a:rPr lang="en-US" altLang="zh-CN" sz="1100" b="0" dirty="0">
                <a:solidFill>
                  <a:srgbClr val="4E5B61"/>
                </a:solidFill>
                <a:effectLst/>
                <a:latin typeface="Consolas" panose="020B0609020204030204" pitchFamily="49" charset="0"/>
              </a:rPr>
            </a:br>
            <a:r>
              <a:rPr lang="en-US" altLang="zh-CN" sz="1100" b="0" dirty="0">
                <a:solidFill>
                  <a:srgbClr val="4E5B61"/>
                </a:solidFill>
                <a:effectLst/>
                <a:latin typeface="Consolas" panose="020B0609020204030204" pitchFamily="49" charset="0"/>
              </a:rPr>
              <a:t>    </a:t>
            </a:r>
            <a:r>
              <a:rPr lang="en-US" altLang="zh-CN" sz="1100" b="0" dirty="0" err="1">
                <a:solidFill>
                  <a:srgbClr val="D35400"/>
                </a:solidFill>
                <a:effectLst/>
                <a:latin typeface="Consolas" panose="020B0609020204030204" pitchFamily="49" charset="0"/>
              </a:rPr>
              <a:t>Serial</a:t>
            </a:r>
            <a:r>
              <a:rPr lang="en-US" altLang="zh-CN" sz="1100" b="0" dirty="0" err="1">
                <a:solidFill>
                  <a:srgbClr val="4E5B61"/>
                </a:solidFill>
                <a:effectLst/>
                <a:latin typeface="Consolas" panose="020B0609020204030204" pitchFamily="49" charset="0"/>
              </a:rPr>
              <a:t>.</a:t>
            </a:r>
            <a:r>
              <a:rPr lang="en-US" altLang="zh-CN" sz="1100" b="0" dirty="0" err="1">
                <a:solidFill>
                  <a:srgbClr val="D35400"/>
                </a:solidFill>
                <a:effectLst/>
                <a:latin typeface="Consolas" panose="020B0609020204030204" pitchFamily="49" charset="0"/>
              </a:rPr>
              <a:t>print</a:t>
            </a:r>
            <a:r>
              <a:rPr lang="en-US" altLang="zh-CN" sz="1100" b="0" dirty="0">
                <a:solidFill>
                  <a:srgbClr val="434F54"/>
                </a:solidFill>
                <a:effectLst/>
                <a:latin typeface="Consolas" panose="020B0609020204030204" pitchFamily="49" charset="0"/>
              </a:rPr>
              <a:t>(</a:t>
            </a:r>
            <a:r>
              <a:rPr lang="en-US" altLang="zh-CN" sz="1100" b="0" dirty="0">
                <a:solidFill>
                  <a:srgbClr val="005C5F"/>
                </a:solidFill>
                <a:effectLst/>
                <a:latin typeface="Consolas" panose="020B0609020204030204" pitchFamily="49" charset="0"/>
              </a:rPr>
              <a:t>"start connect to </a:t>
            </a:r>
            <a:r>
              <a:rPr lang="zh-CN" altLang="en-US" sz="1100" b="0" dirty="0">
                <a:solidFill>
                  <a:srgbClr val="005C5F"/>
                </a:solidFill>
                <a:effectLst/>
                <a:latin typeface="Consolas" panose="020B0609020204030204" pitchFamily="49" charset="0"/>
              </a:rPr>
              <a:t>：</a:t>
            </a:r>
            <a:r>
              <a:rPr lang="en-US" altLang="zh-CN" sz="1100" b="0" dirty="0">
                <a:solidFill>
                  <a:srgbClr val="005C5F"/>
                </a:solidFill>
                <a:effectLst/>
                <a:latin typeface="Consolas" panose="020B0609020204030204" pitchFamily="49" charset="0"/>
              </a:rPr>
              <a:t>"</a:t>
            </a:r>
            <a:r>
              <a:rPr lang="en-US" altLang="zh-CN" sz="1100" b="0" dirty="0">
                <a:solidFill>
                  <a:srgbClr val="434F54"/>
                </a:solidFill>
                <a:effectLst/>
                <a:latin typeface="Consolas" panose="020B0609020204030204" pitchFamily="49" charset="0"/>
              </a:rPr>
              <a:t>)</a:t>
            </a:r>
            <a:r>
              <a:rPr lang="en-US" altLang="zh-CN" sz="1100" b="0" dirty="0">
                <a:solidFill>
                  <a:srgbClr val="4E5B61"/>
                </a:solidFill>
                <a:effectLst/>
                <a:latin typeface="Consolas" panose="020B0609020204030204" pitchFamily="49" charset="0"/>
              </a:rPr>
              <a:t>;          </a:t>
            </a:r>
          </a:p>
          <a:p>
            <a:r>
              <a:rPr lang="en-US" altLang="zh-CN" sz="1100" b="0" dirty="0">
                <a:solidFill>
                  <a:srgbClr val="4E5B61"/>
                </a:solidFill>
                <a:effectLst/>
                <a:latin typeface="Consolas" panose="020B0609020204030204" pitchFamily="49" charset="0"/>
              </a:rPr>
              <a:t>    </a:t>
            </a:r>
            <a:r>
              <a:rPr lang="en-US" altLang="zh-CN" sz="1100" b="0" dirty="0" err="1">
                <a:solidFill>
                  <a:srgbClr val="D35400"/>
                </a:solidFill>
                <a:effectLst/>
                <a:latin typeface="Consolas" panose="020B0609020204030204" pitchFamily="49" charset="0"/>
              </a:rPr>
              <a:t>Serial</a:t>
            </a:r>
            <a:r>
              <a:rPr lang="en-US" altLang="zh-CN" sz="1100" b="0" dirty="0" err="1">
                <a:solidFill>
                  <a:srgbClr val="4E5B61"/>
                </a:solidFill>
                <a:effectLst/>
                <a:latin typeface="Consolas" panose="020B0609020204030204" pitchFamily="49" charset="0"/>
              </a:rPr>
              <a:t>.</a:t>
            </a:r>
            <a:r>
              <a:rPr lang="en-US" altLang="zh-CN" sz="1100" b="0" dirty="0" err="1">
                <a:solidFill>
                  <a:srgbClr val="D35400"/>
                </a:solidFill>
                <a:effectLst/>
                <a:latin typeface="Consolas" panose="020B0609020204030204" pitchFamily="49" charset="0"/>
              </a:rPr>
              <a:t>print</a:t>
            </a:r>
            <a:r>
              <a:rPr lang="en-US" altLang="zh-CN" sz="1100" b="0" dirty="0">
                <a:solidFill>
                  <a:srgbClr val="434F54"/>
                </a:solidFill>
                <a:effectLst/>
                <a:latin typeface="Consolas" panose="020B0609020204030204" pitchFamily="49" charset="0"/>
              </a:rPr>
              <a:t>(</a:t>
            </a:r>
            <a:r>
              <a:rPr lang="en-US" altLang="zh-CN" sz="1100" b="0" dirty="0" err="1">
                <a:solidFill>
                  <a:srgbClr val="4E5B61"/>
                </a:solidFill>
                <a:effectLst/>
                <a:latin typeface="Consolas" panose="020B0609020204030204" pitchFamily="49" charset="0"/>
              </a:rPr>
              <a:t>ssid</a:t>
            </a:r>
            <a:r>
              <a:rPr lang="en-US" altLang="zh-CN" sz="1100" b="0" dirty="0">
                <a:solidFill>
                  <a:srgbClr val="434F54"/>
                </a:solidFill>
                <a:effectLst/>
                <a:latin typeface="Consolas" panose="020B0609020204030204" pitchFamily="49" charset="0"/>
              </a:rPr>
              <a:t>)</a:t>
            </a:r>
            <a:r>
              <a:rPr lang="en-US" altLang="zh-CN" sz="1100" b="0" dirty="0">
                <a:solidFill>
                  <a:srgbClr val="4E5B61"/>
                </a:solidFill>
                <a:effectLst/>
                <a:latin typeface="Consolas" panose="020B0609020204030204" pitchFamily="49" charset="0"/>
              </a:rPr>
              <a:t>; </a:t>
            </a:r>
          </a:p>
          <a:p>
            <a:br>
              <a:rPr lang="en-US" altLang="zh-CN" sz="1100" b="0" dirty="0">
                <a:solidFill>
                  <a:srgbClr val="4E5B61"/>
                </a:solidFill>
                <a:effectLst/>
                <a:latin typeface="Consolas" panose="020B0609020204030204" pitchFamily="49" charset="0"/>
              </a:rPr>
            </a:br>
            <a:r>
              <a:rPr lang="en-US" altLang="zh-CN" sz="1100" b="0" dirty="0">
                <a:solidFill>
                  <a:srgbClr val="95A5A6"/>
                </a:solidFill>
                <a:effectLst/>
                <a:latin typeface="Consolas" panose="020B0609020204030204" pitchFamily="49" charset="0"/>
              </a:rPr>
              <a:t>    // </a:t>
            </a:r>
            <a:r>
              <a:rPr lang="zh-CN" altLang="en-US" sz="1100" b="0" dirty="0">
                <a:solidFill>
                  <a:srgbClr val="95A5A6"/>
                </a:solidFill>
                <a:effectLst/>
                <a:latin typeface="Consolas" panose="020B0609020204030204" pitchFamily="49" charset="0"/>
              </a:rPr>
              <a:t>检查</a:t>
            </a:r>
            <a:r>
              <a:rPr lang="en-US" altLang="zh-CN" sz="1100" b="0" dirty="0" err="1">
                <a:solidFill>
                  <a:srgbClr val="95A5A6"/>
                </a:solidFill>
                <a:effectLst/>
                <a:latin typeface="Consolas" panose="020B0609020204030204" pitchFamily="49" charset="0"/>
              </a:rPr>
              <a:t>WiFi</a:t>
            </a:r>
            <a:r>
              <a:rPr lang="zh-CN" altLang="en-US" sz="1100" b="0" dirty="0">
                <a:solidFill>
                  <a:srgbClr val="95A5A6"/>
                </a:solidFill>
                <a:effectLst/>
                <a:latin typeface="Consolas" panose="020B0609020204030204" pitchFamily="49" charset="0"/>
              </a:rPr>
              <a:t>是否连接成功</a:t>
            </a:r>
            <a:endParaRPr lang="zh-CN" altLang="en-US" sz="1100" b="0" dirty="0">
              <a:solidFill>
                <a:srgbClr val="4E5B61"/>
              </a:solidFill>
              <a:effectLst/>
              <a:latin typeface="Consolas" panose="020B0609020204030204" pitchFamily="49" charset="0"/>
            </a:endParaRPr>
          </a:p>
          <a:p>
            <a:r>
              <a:rPr lang="zh-CN" altLang="en-US" sz="1100" b="0" dirty="0">
                <a:solidFill>
                  <a:srgbClr val="4E5B61"/>
                </a:solidFill>
                <a:effectLst/>
                <a:latin typeface="Consolas" panose="020B0609020204030204" pitchFamily="49" charset="0"/>
              </a:rPr>
              <a:t>    </a:t>
            </a:r>
            <a:r>
              <a:rPr lang="en-US" altLang="zh-CN" sz="1100" b="0" dirty="0">
                <a:solidFill>
                  <a:srgbClr val="00979D"/>
                </a:solidFill>
                <a:effectLst/>
                <a:latin typeface="Consolas" panose="020B0609020204030204" pitchFamily="49" charset="0"/>
              </a:rPr>
              <a:t>int</a:t>
            </a:r>
            <a:r>
              <a:rPr lang="en-US" altLang="zh-CN" sz="1100" b="0" dirty="0">
                <a:solidFill>
                  <a:srgbClr val="4E5B61"/>
                </a:solidFill>
                <a:effectLst/>
                <a:latin typeface="Consolas" panose="020B0609020204030204" pitchFamily="49" charset="0"/>
              </a:rPr>
              <a:t> </a:t>
            </a:r>
            <a:r>
              <a:rPr lang="en-US" altLang="zh-CN" sz="1100" b="0" dirty="0" err="1">
                <a:solidFill>
                  <a:srgbClr val="4E5B61"/>
                </a:solidFill>
                <a:effectLst/>
                <a:latin typeface="Consolas" panose="020B0609020204030204" pitchFamily="49" charset="0"/>
              </a:rPr>
              <a:t>i</a:t>
            </a:r>
            <a:r>
              <a:rPr lang="en-US" altLang="zh-CN" sz="1100" b="0" dirty="0">
                <a:solidFill>
                  <a:srgbClr val="4E5B61"/>
                </a:solidFill>
                <a:effectLst/>
                <a:latin typeface="Consolas" panose="020B0609020204030204" pitchFamily="49" charset="0"/>
              </a:rPr>
              <a:t> = </a:t>
            </a:r>
            <a:r>
              <a:rPr lang="en-US" altLang="zh-CN" sz="1100" b="0" dirty="0">
                <a:solidFill>
                  <a:srgbClr val="005C5F"/>
                </a:solidFill>
                <a:effectLst/>
                <a:latin typeface="Consolas" panose="020B0609020204030204" pitchFamily="49" charset="0"/>
              </a:rPr>
              <a:t>0</a:t>
            </a:r>
            <a:r>
              <a:rPr lang="en-US" altLang="zh-CN" sz="1100" b="0" dirty="0">
                <a:solidFill>
                  <a:srgbClr val="4E5B61"/>
                </a:solidFill>
                <a:effectLst/>
                <a:latin typeface="Consolas" panose="020B0609020204030204" pitchFamily="49" charset="0"/>
              </a:rPr>
              <a:t>;                                    </a:t>
            </a:r>
          </a:p>
          <a:p>
            <a:r>
              <a:rPr lang="en-US" altLang="zh-CN" sz="1100" b="0" dirty="0">
                <a:solidFill>
                  <a:srgbClr val="4E5B61"/>
                </a:solidFill>
                <a:effectLst/>
                <a:latin typeface="Consolas" panose="020B0609020204030204" pitchFamily="49" charset="0"/>
              </a:rPr>
              <a:t>    </a:t>
            </a:r>
            <a:r>
              <a:rPr lang="en-US" altLang="zh-CN" sz="1100" b="0" dirty="0">
                <a:solidFill>
                  <a:srgbClr val="728E00"/>
                </a:solidFill>
                <a:effectLst/>
                <a:latin typeface="Consolas" panose="020B0609020204030204" pitchFamily="49" charset="0"/>
              </a:rPr>
              <a:t>while</a:t>
            </a:r>
            <a:r>
              <a:rPr lang="en-US" altLang="zh-CN" sz="1100" b="0" dirty="0">
                <a:solidFill>
                  <a:srgbClr val="4E5B61"/>
                </a:solidFill>
                <a:effectLst/>
                <a:latin typeface="Consolas" panose="020B0609020204030204" pitchFamily="49" charset="0"/>
              </a:rPr>
              <a:t> </a:t>
            </a:r>
            <a:r>
              <a:rPr lang="en-US" altLang="zh-CN" sz="1100" b="0" dirty="0">
                <a:solidFill>
                  <a:srgbClr val="434F54"/>
                </a:solidFill>
                <a:effectLst/>
                <a:latin typeface="Consolas" panose="020B0609020204030204" pitchFamily="49" charset="0"/>
              </a:rPr>
              <a:t>(</a:t>
            </a:r>
            <a:r>
              <a:rPr lang="en-US" altLang="zh-CN" sz="1100" b="0" dirty="0" err="1">
                <a:solidFill>
                  <a:srgbClr val="D35400"/>
                </a:solidFill>
                <a:effectLst/>
                <a:latin typeface="Consolas" panose="020B0609020204030204" pitchFamily="49" charset="0"/>
              </a:rPr>
              <a:t>WiFi</a:t>
            </a:r>
            <a:r>
              <a:rPr lang="en-US" altLang="zh-CN" sz="1100" b="0" dirty="0" err="1">
                <a:solidFill>
                  <a:srgbClr val="4E5B61"/>
                </a:solidFill>
                <a:effectLst/>
                <a:latin typeface="Consolas" panose="020B0609020204030204" pitchFamily="49" charset="0"/>
              </a:rPr>
              <a:t>.</a:t>
            </a:r>
            <a:r>
              <a:rPr lang="en-US" altLang="zh-CN" sz="1100" b="0" dirty="0" err="1">
                <a:solidFill>
                  <a:srgbClr val="D35400"/>
                </a:solidFill>
                <a:effectLst/>
                <a:latin typeface="Consolas" panose="020B0609020204030204" pitchFamily="49" charset="0"/>
              </a:rPr>
              <a:t>status</a:t>
            </a:r>
            <a:r>
              <a:rPr lang="en-US" altLang="zh-CN" sz="1100" b="0" dirty="0">
                <a:solidFill>
                  <a:srgbClr val="434F54"/>
                </a:solidFill>
                <a:effectLst/>
                <a:latin typeface="Consolas" panose="020B0609020204030204" pitchFamily="49" charset="0"/>
              </a:rPr>
              <a:t>()</a:t>
            </a:r>
            <a:r>
              <a:rPr lang="en-US" altLang="zh-CN" sz="1100" b="0" dirty="0">
                <a:solidFill>
                  <a:srgbClr val="4E5B61"/>
                </a:solidFill>
                <a:effectLst/>
                <a:latin typeface="Consolas" panose="020B0609020204030204" pitchFamily="49" charset="0"/>
              </a:rPr>
              <a:t> != WL_CONNECTED</a:t>
            </a:r>
            <a:r>
              <a:rPr lang="en-US" altLang="zh-CN" sz="1100" b="0" dirty="0">
                <a:solidFill>
                  <a:srgbClr val="434F54"/>
                </a:solidFill>
                <a:effectLst/>
                <a:latin typeface="Consolas" panose="020B0609020204030204" pitchFamily="49" charset="0"/>
              </a:rPr>
              <a:t>)</a:t>
            </a:r>
            <a:r>
              <a:rPr lang="en-US" altLang="zh-CN" sz="1100" b="0" dirty="0">
                <a:solidFill>
                  <a:srgbClr val="4E5B61"/>
                </a:solidFill>
                <a:effectLst/>
                <a:latin typeface="Consolas" panose="020B0609020204030204" pitchFamily="49" charset="0"/>
              </a:rPr>
              <a:t>         </a:t>
            </a:r>
          </a:p>
          <a:p>
            <a:r>
              <a:rPr lang="en-US" altLang="zh-CN" sz="1100" b="0" dirty="0">
                <a:solidFill>
                  <a:srgbClr val="4E5B61"/>
                </a:solidFill>
                <a:effectLst/>
                <a:latin typeface="Consolas" panose="020B0609020204030204" pitchFamily="49" charset="0"/>
              </a:rPr>
              <a:t>    </a:t>
            </a:r>
            <a:r>
              <a:rPr lang="en-US" altLang="zh-CN" sz="1100" b="0" dirty="0">
                <a:solidFill>
                  <a:srgbClr val="434F54"/>
                </a:solidFill>
                <a:effectLst/>
                <a:latin typeface="Consolas" panose="020B0609020204030204" pitchFamily="49" charset="0"/>
              </a:rPr>
              <a:t>{</a:t>
            </a:r>
            <a:r>
              <a:rPr lang="en-US" altLang="zh-CN" sz="1100" b="0" dirty="0">
                <a:solidFill>
                  <a:srgbClr val="4E5B61"/>
                </a:solidFill>
                <a:effectLst/>
                <a:latin typeface="Consolas" panose="020B0609020204030204" pitchFamily="49" charset="0"/>
              </a:rPr>
              <a:t>                                             </a:t>
            </a:r>
          </a:p>
          <a:p>
            <a:r>
              <a:rPr lang="en-US" altLang="zh-CN" sz="1100" b="0" dirty="0">
                <a:solidFill>
                  <a:srgbClr val="4E5B61"/>
                </a:solidFill>
                <a:effectLst/>
                <a:latin typeface="Consolas" panose="020B0609020204030204" pitchFamily="49" charset="0"/>
              </a:rPr>
              <a:t>        </a:t>
            </a:r>
            <a:r>
              <a:rPr lang="en-US" altLang="zh-CN" sz="1100" b="0" dirty="0">
                <a:solidFill>
                  <a:srgbClr val="D35400"/>
                </a:solidFill>
                <a:effectLst/>
                <a:latin typeface="Consolas" panose="020B0609020204030204" pitchFamily="49" charset="0"/>
              </a:rPr>
              <a:t>delay</a:t>
            </a:r>
            <a:r>
              <a:rPr lang="en-US" altLang="zh-CN" sz="1100" b="0" dirty="0">
                <a:solidFill>
                  <a:srgbClr val="434F54"/>
                </a:solidFill>
                <a:effectLst/>
                <a:latin typeface="Consolas" panose="020B0609020204030204" pitchFamily="49" charset="0"/>
              </a:rPr>
              <a:t>(</a:t>
            </a:r>
            <a:r>
              <a:rPr lang="en-US" altLang="zh-CN" sz="1100" b="0" dirty="0">
                <a:solidFill>
                  <a:srgbClr val="005C5F"/>
                </a:solidFill>
                <a:effectLst/>
                <a:latin typeface="Consolas" panose="020B0609020204030204" pitchFamily="49" charset="0"/>
              </a:rPr>
              <a:t>1000</a:t>
            </a:r>
            <a:r>
              <a:rPr lang="en-US" altLang="zh-CN" sz="1100" b="0" dirty="0">
                <a:solidFill>
                  <a:srgbClr val="434F54"/>
                </a:solidFill>
                <a:effectLst/>
                <a:latin typeface="Consolas" panose="020B0609020204030204" pitchFamily="49" charset="0"/>
              </a:rPr>
              <a:t>)</a:t>
            </a:r>
            <a:r>
              <a:rPr lang="en-US" altLang="zh-CN" sz="1100" b="0" dirty="0">
                <a:solidFill>
                  <a:srgbClr val="4E5B61"/>
                </a:solidFill>
                <a:effectLst/>
                <a:latin typeface="Consolas" panose="020B0609020204030204" pitchFamily="49" charset="0"/>
              </a:rPr>
              <a:t>;                               </a:t>
            </a:r>
          </a:p>
          <a:p>
            <a:r>
              <a:rPr lang="en-US" altLang="zh-CN" sz="1100" b="0" dirty="0">
                <a:solidFill>
                  <a:srgbClr val="4E5B61"/>
                </a:solidFill>
                <a:effectLst/>
                <a:latin typeface="Consolas" panose="020B0609020204030204" pitchFamily="49" charset="0"/>
              </a:rPr>
              <a:t>        </a:t>
            </a:r>
            <a:r>
              <a:rPr lang="en-US" altLang="zh-CN" sz="1100" b="0" dirty="0" err="1">
                <a:solidFill>
                  <a:srgbClr val="D35400"/>
                </a:solidFill>
                <a:effectLst/>
                <a:latin typeface="Consolas" panose="020B0609020204030204" pitchFamily="49" charset="0"/>
              </a:rPr>
              <a:t>Serial</a:t>
            </a:r>
            <a:r>
              <a:rPr lang="en-US" altLang="zh-CN" sz="1100" b="0" dirty="0" err="1">
                <a:solidFill>
                  <a:srgbClr val="4E5B61"/>
                </a:solidFill>
                <a:effectLst/>
                <a:latin typeface="Consolas" panose="020B0609020204030204" pitchFamily="49" charset="0"/>
              </a:rPr>
              <a:t>.</a:t>
            </a:r>
            <a:r>
              <a:rPr lang="en-US" altLang="zh-CN" sz="1100" b="0" dirty="0" err="1">
                <a:solidFill>
                  <a:srgbClr val="D35400"/>
                </a:solidFill>
                <a:effectLst/>
                <a:latin typeface="Consolas" panose="020B0609020204030204" pitchFamily="49" charset="0"/>
              </a:rPr>
              <a:t>print</a:t>
            </a:r>
            <a:r>
              <a:rPr lang="en-US" altLang="zh-CN" sz="1100" b="0" dirty="0">
                <a:solidFill>
                  <a:srgbClr val="434F54"/>
                </a:solidFill>
                <a:effectLst/>
                <a:latin typeface="Consolas" panose="020B0609020204030204" pitchFamily="49" charset="0"/>
              </a:rPr>
              <a:t>(</a:t>
            </a:r>
            <a:r>
              <a:rPr lang="en-US" altLang="zh-CN" sz="1100" b="0" dirty="0">
                <a:solidFill>
                  <a:srgbClr val="005C5F"/>
                </a:solidFill>
                <a:effectLst/>
                <a:latin typeface="Consolas" panose="020B0609020204030204" pitchFamily="49" charset="0"/>
              </a:rPr>
              <a:t>"wait for: "</a:t>
            </a:r>
            <a:r>
              <a:rPr lang="en-US" altLang="zh-CN" sz="1100" b="0" dirty="0">
                <a:solidFill>
                  <a:srgbClr val="434F54"/>
                </a:solidFill>
                <a:effectLst/>
                <a:latin typeface="Consolas" panose="020B0609020204030204" pitchFamily="49" charset="0"/>
              </a:rPr>
              <a:t>)</a:t>
            </a:r>
            <a:r>
              <a:rPr lang="en-US" altLang="zh-CN" sz="1100" b="0" dirty="0">
                <a:solidFill>
                  <a:srgbClr val="4E5B61"/>
                </a:solidFill>
                <a:effectLst/>
                <a:latin typeface="Consolas" panose="020B0609020204030204" pitchFamily="49" charset="0"/>
              </a:rPr>
              <a:t>;                          </a:t>
            </a:r>
          </a:p>
          <a:p>
            <a:r>
              <a:rPr lang="en-US" altLang="zh-CN" sz="1100" b="0" dirty="0">
                <a:solidFill>
                  <a:srgbClr val="4E5B61"/>
                </a:solidFill>
                <a:effectLst/>
                <a:latin typeface="Consolas" panose="020B0609020204030204" pitchFamily="49" charset="0"/>
              </a:rPr>
              <a:t>        </a:t>
            </a:r>
            <a:r>
              <a:rPr lang="en-US" altLang="zh-CN" sz="1100" b="0" dirty="0" err="1">
                <a:solidFill>
                  <a:srgbClr val="D35400"/>
                </a:solidFill>
                <a:effectLst/>
                <a:latin typeface="Consolas" panose="020B0609020204030204" pitchFamily="49" charset="0"/>
              </a:rPr>
              <a:t>Serial</a:t>
            </a:r>
            <a:r>
              <a:rPr lang="en-US" altLang="zh-CN" sz="1100" b="0" dirty="0" err="1">
                <a:solidFill>
                  <a:srgbClr val="4E5B61"/>
                </a:solidFill>
                <a:effectLst/>
                <a:latin typeface="Consolas" panose="020B0609020204030204" pitchFamily="49" charset="0"/>
              </a:rPr>
              <a:t>.</a:t>
            </a:r>
            <a:r>
              <a:rPr lang="en-US" altLang="zh-CN" sz="1100" b="0" dirty="0" err="1">
                <a:solidFill>
                  <a:srgbClr val="D35400"/>
                </a:solidFill>
                <a:effectLst/>
                <a:latin typeface="Consolas" panose="020B0609020204030204" pitchFamily="49" charset="0"/>
              </a:rPr>
              <a:t>print</a:t>
            </a:r>
            <a:r>
              <a:rPr lang="en-US" altLang="zh-CN" sz="1100" b="0" dirty="0">
                <a:solidFill>
                  <a:srgbClr val="434F54"/>
                </a:solidFill>
                <a:effectLst/>
                <a:latin typeface="Consolas" panose="020B0609020204030204" pitchFamily="49" charset="0"/>
              </a:rPr>
              <a:t>(</a:t>
            </a:r>
            <a:r>
              <a:rPr lang="en-US" altLang="zh-CN" sz="1100" b="0" dirty="0" err="1">
                <a:solidFill>
                  <a:srgbClr val="4E5B61"/>
                </a:solidFill>
                <a:effectLst/>
                <a:latin typeface="Consolas" panose="020B0609020204030204" pitchFamily="49" charset="0"/>
              </a:rPr>
              <a:t>i</a:t>
            </a:r>
            <a:r>
              <a:rPr lang="en-US" altLang="zh-CN" sz="1100" b="0" dirty="0">
                <a:solidFill>
                  <a:srgbClr val="4E5B61"/>
                </a:solidFill>
                <a:effectLst/>
                <a:latin typeface="Consolas" panose="020B0609020204030204" pitchFamily="49" charset="0"/>
              </a:rPr>
              <a:t>++</a:t>
            </a:r>
            <a:r>
              <a:rPr lang="en-US" altLang="zh-CN" sz="1100" b="0" dirty="0">
                <a:solidFill>
                  <a:srgbClr val="434F54"/>
                </a:solidFill>
                <a:effectLst/>
                <a:latin typeface="Consolas" panose="020B0609020204030204" pitchFamily="49" charset="0"/>
              </a:rPr>
              <a:t>)</a:t>
            </a:r>
            <a:r>
              <a:rPr lang="en-US" altLang="zh-CN" sz="1100" b="0" dirty="0">
                <a:solidFill>
                  <a:srgbClr val="4E5B61"/>
                </a:solidFill>
                <a:effectLst/>
                <a:latin typeface="Consolas" panose="020B0609020204030204" pitchFamily="49" charset="0"/>
              </a:rPr>
              <a:t>; </a:t>
            </a:r>
          </a:p>
          <a:p>
            <a:r>
              <a:rPr lang="en-US" altLang="zh-CN" sz="1100" b="0" dirty="0">
                <a:solidFill>
                  <a:srgbClr val="4E5B61"/>
                </a:solidFill>
                <a:effectLst/>
                <a:latin typeface="Consolas" panose="020B0609020204030204" pitchFamily="49" charset="0"/>
              </a:rPr>
              <a:t>        </a:t>
            </a:r>
            <a:r>
              <a:rPr lang="en-US" altLang="zh-CN" sz="1100" b="0" dirty="0" err="1">
                <a:solidFill>
                  <a:srgbClr val="D35400"/>
                </a:solidFill>
                <a:effectLst/>
                <a:latin typeface="Consolas" panose="020B0609020204030204" pitchFamily="49" charset="0"/>
              </a:rPr>
              <a:t>Serial</a:t>
            </a:r>
            <a:r>
              <a:rPr lang="en-US" altLang="zh-CN" sz="1100" b="0" dirty="0" err="1">
                <a:solidFill>
                  <a:srgbClr val="4E5B61"/>
                </a:solidFill>
                <a:effectLst/>
                <a:latin typeface="Consolas" panose="020B0609020204030204" pitchFamily="49" charset="0"/>
              </a:rPr>
              <a:t>.</a:t>
            </a:r>
            <a:r>
              <a:rPr lang="en-US" altLang="zh-CN" sz="1100" b="0" dirty="0" err="1">
                <a:solidFill>
                  <a:srgbClr val="D35400"/>
                </a:solidFill>
                <a:effectLst/>
                <a:latin typeface="Consolas" panose="020B0609020204030204" pitchFamily="49" charset="0"/>
              </a:rPr>
              <a:t>println</a:t>
            </a:r>
            <a:r>
              <a:rPr lang="en-US" altLang="zh-CN" sz="1100" b="0" dirty="0">
                <a:solidFill>
                  <a:srgbClr val="434F54"/>
                </a:solidFill>
                <a:effectLst/>
                <a:latin typeface="Consolas" panose="020B0609020204030204" pitchFamily="49" charset="0"/>
              </a:rPr>
              <a:t>(</a:t>
            </a:r>
            <a:r>
              <a:rPr lang="en-US" altLang="zh-CN" sz="1100" b="0" dirty="0">
                <a:solidFill>
                  <a:srgbClr val="005C5F"/>
                </a:solidFill>
                <a:effectLst/>
                <a:latin typeface="Consolas" panose="020B0609020204030204" pitchFamily="49" charset="0"/>
              </a:rPr>
              <a:t>"seconds..."</a:t>
            </a:r>
            <a:r>
              <a:rPr lang="en-US" altLang="zh-CN" sz="1100" b="0" dirty="0">
                <a:solidFill>
                  <a:srgbClr val="434F54"/>
                </a:solidFill>
                <a:effectLst/>
                <a:latin typeface="Consolas" panose="020B0609020204030204" pitchFamily="49" charset="0"/>
              </a:rPr>
              <a:t>)</a:t>
            </a:r>
            <a:r>
              <a:rPr lang="en-US" altLang="zh-CN" sz="1100" b="0" dirty="0">
                <a:solidFill>
                  <a:srgbClr val="4E5B61"/>
                </a:solidFill>
                <a:effectLst/>
                <a:latin typeface="Consolas" panose="020B0609020204030204" pitchFamily="49" charset="0"/>
              </a:rPr>
              <a:t>;       </a:t>
            </a:r>
          </a:p>
          <a:p>
            <a:r>
              <a:rPr lang="en-US" altLang="zh-CN" sz="1100" b="0" dirty="0">
                <a:solidFill>
                  <a:srgbClr val="4E5B61"/>
                </a:solidFill>
                <a:effectLst/>
                <a:latin typeface="Consolas" panose="020B0609020204030204" pitchFamily="49" charset="0"/>
              </a:rPr>
              <a:t>    </a:t>
            </a:r>
            <a:r>
              <a:rPr lang="en-US" altLang="zh-CN" sz="1100" b="0" dirty="0">
                <a:solidFill>
                  <a:srgbClr val="434F54"/>
                </a:solidFill>
                <a:effectLst/>
                <a:latin typeface="Consolas" panose="020B0609020204030204" pitchFamily="49" charset="0"/>
              </a:rPr>
              <a:t>}</a:t>
            </a:r>
            <a:r>
              <a:rPr lang="en-US" altLang="zh-CN" sz="1100" b="0" dirty="0">
                <a:solidFill>
                  <a:srgbClr val="4E5B61"/>
                </a:solidFill>
                <a:effectLst/>
                <a:latin typeface="Consolas" panose="020B0609020204030204" pitchFamily="49" charset="0"/>
              </a:rPr>
              <a:t>            </a:t>
            </a:r>
          </a:p>
          <a:p>
            <a:r>
              <a:rPr lang="en-US" altLang="zh-CN" sz="1100" b="0" dirty="0">
                <a:solidFill>
                  <a:srgbClr val="4E5B61"/>
                </a:solidFill>
                <a:effectLst/>
                <a:latin typeface="Consolas" panose="020B0609020204030204" pitchFamily="49" charset="0"/>
              </a:rPr>
              <a:t>                                   </a:t>
            </a:r>
          </a:p>
          <a:p>
            <a:r>
              <a:rPr lang="en-US" altLang="zh-CN" sz="1100" b="0" dirty="0">
                <a:solidFill>
                  <a:srgbClr val="4E5B61"/>
                </a:solidFill>
                <a:effectLst/>
                <a:latin typeface="Consolas" panose="020B0609020204030204" pitchFamily="49" charset="0"/>
              </a:rPr>
              <a:t>    </a:t>
            </a:r>
            <a:r>
              <a:rPr lang="en-US" altLang="zh-CN" sz="1100" b="0" dirty="0" err="1">
                <a:solidFill>
                  <a:srgbClr val="D35400"/>
                </a:solidFill>
                <a:effectLst/>
                <a:latin typeface="Consolas" panose="020B0609020204030204" pitchFamily="49" charset="0"/>
              </a:rPr>
              <a:t>Serial</a:t>
            </a:r>
            <a:r>
              <a:rPr lang="en-US" altLang="zh-CN" sz="1100" b="0" dirty="0" err="1">
                <a:solidFill>
                  <a:srgbClr val="4E5B61"/>
                </a:solidFill>
                <a:effectLst/>
                <a:latin typeface="Consolas" panose="020B0609020204030204" pitchFamily="49" charset="0"/>
              </a:rPr>
              <a:t>.</a:t>
            </a:r>
            <a:r>
              <a:rPr lang="en-US" altLang="zh-CN" sz="1100" b="0" dirty="0" err="1">
                <a:solidFill>
                  <a:srgbClr val="D35400"/>
                </a:solidFill>
                <a:effectLst/>
                <a:latin typeface="Consolas" panose="020B0609020204030204" pitchFamily="49" charset="0"/>
              </a:rPr>
              <a:t>println</a:t>
            </a:r>
            <a:r>
              <a:rPr lang="en-US" altLang="zh-CN" sz="1100" b="0" dirty="0">
                <a:solidFill>
                  <a:srgbClr val="434F54"/>
                </a:solidFill>
                <a:effectLst/>
                <a:latin typeface="Consolas" panose="020B0609020204030204" pitchFamily="49" charset="0"/>
              </a:rPr>
              <a:t>(</a:t>
            </a:r>
            <a:r>
              <a:rPr lang="en-US" altLang="zh-CN" sz="1100" b="0" dirty="0">
                <a:solidFill>
                  <a:srgbClr val="005C5F"/>
                </a:solidFill>
                <a:effectLst/>
                <a:latin typeface="Consolas" panose="020B0609020204030204" pitchFamily="49" charset="0"/>
              </a:rPr>
              <a:t>"connected!"</a:t>
            </a:r>
            <a:r>
              <a:rPr lang="en-US" altLang="zh-CN" sz="1100" b="0" dirty="0">
                <a:solidFill>
                  <a:srgbClr val="434F54"/>
                </a:solidFill>
                <a:effectLst/>
                <a:latin typeface="Consolas" panose="020B0609020204030204" pitchFamily="49" charset="0"/>
              </a:rPr>
              <a:t>)</a:t>
            </a:r>
            <a:r>
              <a:rPr lang="en-US" altLang="zh-CN" sz="1100" b="0" dirty="0">
                <a:solidFill>
                  <a:srgbClr val="4E5B61"/>
                </a:solidFill>
                <a:effectLst/>
                <a:latin typeface="Consolas" panose="020B0609020204030204" pitchFamily="49" charset="0"/>
              </a:rPr>
              <a:t>;           </a:t>
            </a:r>
          </a:p>
          <a:p>
            <a:r>
              <a:rPr lang="en-US" altLang="zh-CN" sz="1100" b="0" dirty="0">
                <a:solidFill>
                  <a:srgbClr val="4E5B61"/>
                </a:solidFill>
                <a:effectLst/>
                <a:latin typeface="Consolas" panose="020B0609020204030204" pitchFamily="49" charset="0"/>
              </a:rPr>
              <a:t>    </a:t>
            </a:r>
            <a:r>
              <a:rPr lang="en-US" altLang="zh-CN" sz="1100" b="0" dirty="0" err="1">
                <a:solidFill>
                  <a:srgbClr val="D35400"/>
                </a:solidFill>
                <a:effectLst/>
                <a:latin typeface="Consolas" panose="020B0609020204030204" pitchFamily="49" charset="0"/>
              </a:rPr>
              <a:t>Serial</a:t>
            </a:r>
            <a:r>
              <a:rPr lang="en-US" altLang="zh-CN" sz="1100" b="0" dirty="0" err="1">
                <a:solidFill>
                  <a:srgbClr val="4E5B61"/>
                </a:solidFill>
                <a:effectLst/>
                <a:latin typeface="Consolas" panose="020B0609020204030204" pitchFamily="49" charset="0"/>
              </a:rPr>
              <a:t>.</a:t>
            </a:r>
            <a:r>
              <a:rPr lang="en-US" altLang="zh-CN" sz="1100" b="0" dirty="0" err="1">
                <a:solidFill>
                  <a:srgbClr val="D35400"/>
                </a:solidFill>
                <a:effectLst/>
                <a:latin typeface="Consolas" panose="020B0609020204030204" pitchFamily="49" charset="0"/>
              </a:rPr>
              <a:t>print</a:t>
            </a:r>
            <a:r>
              <a:rPr lang="en-US" altLang="zh-CN" sz="1100" b="0" dirty="0">
                <a:solidFill>
                  <a:srgbClr val="434F54"/>
                </a:solidFill>
                <a:effectLst/>
                <a:latin typeface="Consolas" panose="020B0609020204030204" pitchFamily="49" charset="0"/>
              </a:rPr>
              <a:t>(</a:t>
            </a:r>
            <a:r>
              <a:rPr lang="en-US" altLang="zh-CN" sz="1100" b="0" dirty="0">
                <a:solidFill>
                  <a:srgbClr val="005C5F"/>
                </a:solidFill>
                <a:effectLst/>
                <a:latin typeface="Consolas" panose="020B0609020204030204" pitchFamily="49" charset="0"/>
              </a:rPr>
              <a:t>"</a:t>
            </a:r>
            <a:r>
              <a:rPr lang="en-US" altLang="zh-CN" sz="1100" b="0" dirty="0" err="1">
                <a:solidFill>
                  <a:srgbClr val="005C5F"/>
                </a:solidFill>
                <a:effectLst/>
                <a:latin typeface="Consolas" panose="020B0609020204030204" pitchFamily="49" charset="0"/>
              </a:rPr>
              <a:t>ip</a:t>
            </a:r>
            <a:r>
              <a:rPr lang="en-US" altLang="zh-CN" sz="1100" b="0" dirty="0">
                <a:solidFill>
                  <a:srgbClr val="005C5F"/>
                </a:solidFill>
                <a:effectLst/>
                <a:latin typeface="Consolas" panose="020B0609020204030204" pitchFamily="49" charset="0"/>
              </a:rPr>
              <a:t>:"</a:t>
            </a:r>
            <a:r>
              <a:rPr lang="en-US" altLang="zh-CN" sz="1100" b="0" dirty="0">
                <a:solidFill>
                  <a:srgbClr val="434F54"/>
                </a:solidFill>
                <a:effectLst/>
                <a:latin typeface="Consolas" panose="020B0609020204030204" pitchFamily="49" charset="0"/>
              </a:rPr>
              <a:t>)</a:t>
            </a:r>
            <a:r>
              <a:rPr lang="en-US" altLang="zh-CN" sz="1100" b="0" dirty="0">
                <a:solidFill>
                  <a:srgbClr val="4E5B61"/>
                </a:solidFill>
                <a:effectLst/>
                <a:latin typeface="Consolas" panose="020B0609020204030204" pitchFamily="49" charset="0"/>
              </a:rPr>
              <a:t>;                 </a:t>
            </a:r>
          </a:p>
          <a:p>
            <a:r>
              <a:rPr lang="en-US" altLang="zh-CN" sz="1100" b="0" dirty="0">
                <a:solidFill>
                  <a:srgbClr val="4E5B61"/>
                </a:solidFill>
                <a:effectLst/>
                <a:latin typeface="Consolas" panose="020B0609020204030204" pitchFamily="49" charset="0"/>
              </a:rPr>
              <a:t>    </a:t>
            </a:r>
            <a:r>
              <a:rPr lang="en-US" altLang="zh-CN" sz="1100" b="0" dirty="0" err="1">
                <a:solidFill>
                  <a:srgbClr val="D35400"/>
                </a:solidFill>
                <a:effectLst/>
                <a:latin typeface="Consolas" panose="020B0609020204030204" pitchFamily="49" charset="0"/>
              </a:rPr>
              <a:t>Serial</a:t>
            </a:r>
            <a:r>
              <a:rPr lang="en-US" altLang="zh-CN" sz="1100" b="0" dirty="0" err="1">
                <a:solidFill>
                  <a:srgbClr val="4E5B61"/>
                </a:solidFill>
                <a:effectLst/>
                <a:latin typeface="Consolas" panose="020B0609020204030204" pitchFamily="49" charset="0"/>
              </a:rPr>
              <a:t>.</a:t>
            </a:r>
            <a:r>
              <a:rPr lang="en-US" altLang="zh-CN" sz="1100" b="0" dirty="0" err="1">
                <a:solidFill>
                  <a:srgbClr val="D35400"/>
                </a:solidFill>
                <a:effectLst/>
                <a:latin typeface="Consolas" panose="020B0609020204030204" pitchFamily="49" charset="0"/>
              </a:rPr>
              <a:t>println</a:t>
            </a:r>
            <a:r>
              <a:rPr lang="en-US" altLang="zh-CN" sz="1100" b="0" dirty="0">
                <a:solidFill>
                  <a:srgbClr val="434F54"/>
                </a:solidFill>
                <a:effectLst/>
                <a:latin typeface="Consolas" panose="020B0609020204030204" pitchFamily="49" charset="0"/>
              </a:rPr>
              <a:t>(</a:t>
            </a:r>
            <a:r>
              <a:rPr lang="en-US" altLang="zh-CN" sz="1100" b="0" dirty="0" err="1">
                <a:solidFill>
                  <a:srgbClr val="D35400"/>
                </a:solidFill>
                <a:effectLst/>
                <a:latin typeface="Consolas" panose="020B0609020204030204" pitchFamily="49" charset="0"/>
              </a:rPr>
              <a:t>WiFi</a:t>
            </a:r>
            <a:r>
              <a:rPr lang="en-US" altLang="zh-CN" sz="1100" b="0" dirty="0" err="1">
                <a:solidFill>
                  <a:srgbClr val="4E5B61"/>
                </a:solidFill>
                <a:effectLst/>
                <a:latin typeface="Consolas" panose="020B0609020204030204" pitchFamily="49" charset="0"/>
              </a:rPr>
              <a:t>.</a:t>
            </a:r>
            <a:r>
              <a:rPr lang="en-US" altLang="zh-CN" sz="1100" b="0" dirty="0" err="1">
                <a:solidFill>
                  <a:srgbClr val="D35400"/>
                </a:solidFill>
                <a:effectLst/>
                <a:latin typeface="Consolas" panose="020B0609020204030204" pitchFamily="49" charset="0"/>
              </a:rPr>
              <a:t>localIP</a:t>
            </a:r>
            <a:r>
              <a:rPr lang="en-US" altLang="zh-CN" sz="1100" b="0" dirty="0">
                <a:solidFill>
                  <a:srgbClr val="434F54"/>
                </a:solidFill>
                <a:effectLst/>
                <a:latin typeface="Consolas" panose="020B0609020204030204" pitchFamily="49" charset="0"/>
              </a:rPr>
              <a:t>())</a:t>
            </a:r>
            <a:r>
              <a:rPr lang="en-US" altLang="zh-CN" sz="1100" b="0" dirty="0">
                <a:solidFill>
                  <a:srgbClr val="4E5B61"/>
                </a:solidFill>
                <a:effectLst/>
                <a:latin typeface="Consolas" panose="020B0609020204030204" pitchFamily="49" charset="0"/>
              </a:rPr>
              <a:t>;              </a:t>
            </a:r>
          </a:p>
          <a:p>
            <a:r>
              <a:rPr lang="en-US" altLang="zh-CN" sz="1100" b="0" dirty="0">
                <a:solidFill>
                  <a:srgbClr val="434F54"/>
                </a:solidFill>
                <a:effectLst/>
                <a:latin typeface="Consolas" panose="020B0609020204030204" pitchFamily="49" charset="0"/>
              </a:rPr>
              <a:t>}</a:t>
            </a:r>
            <a:endParaRPr lang="en-US" altLang="zh-CN" sz="1100" b="0" dirty="0">
              <a:solidFill>
                <a:srgbClr val="4E5B61"/>
              </a:solidFill>
              <a:effectLst/>
              <a:latin typeface="Consolas" panose="020B0609020204030204" pitchFamily="49" charset="0"/>
            </a:endParaRPr>
          </a:p>
          <a:p>
            <a:br>
              <a:rPr lang="en-US" altLang="zh-CN" sz="1100" b="0" dirty="0">
                <a:solidFill>
                  <a:srgbClr val="4E5B61"/>
                </a:solidFill>
                <a:effectLst/>
                <a:latin typeface="Consolas" panose="020B0609020204030204" pitchFamily="49" charset="0"/>
              </a:rPr>
            </a:br>
            <a:r>
              <a:rPr lang="en-US" altLang="zh-CN" sz="1100" b="0" dirty="0">
                <a:solidFill>
                  <a:srgbClr val="00979D"/>
                </a:solidFill>
                <a:effectLst/>
                <a:latin typeface="Consolas" panose="020B0609020204030204" pitchFamily="49" charset="0"/>
              </a:rPr>
              <a:t>void</a:t>
            </a:r>
            <a:r>
              <a:rPr lang="en-US" altLang="zh-CN" sz="1100" b="0" dirty="0">
                <a:solidFill>
                  <a:srgbClr val="4E5B61"/>
                </a:solidFill>
                <a:effectLst/>
                <a:latin typeface="Consolas" panose="020B0609020204030204" pitchFamily="49" charset="0"/>
              </a:rPr>
              <a:t> </a:t>
            </a:r>
            <a:r>
              <a:rPr lang="en-US" altLang="zh-CN" sz="1100" b="0" dirty="0">
                <a:solidFill>
                  <a:srgbClr val="D35400"/>
                </a:solidFill>
                <a:effectLst/>
                <a:latin typeface="Consolas" panose="020B0609020204030204" pitchFamily="49" charset="0"/>
              </a:rPr>
              <a:t>loop</a:t>
            </a:r>
            <a:r>
              <a:rPr lang="en-US" altLang="zh-CN" sz="1100" b="0" dirty="0">
                <a:solidFill>
                  <a:srgbClr val="434F54"/>
                </a:solidFill>
                <a:effectLst/>
                <a:latin typeface="Consolas" panose="020B0609020204030204" pitchFamily="49" charset="0"/>
              </a:rPr>
              <a:t>()</a:t>
            </a:r>
            <a:r>
              <a:rPr lang="en-US" altLang="zh-CN" sz="1100" b="0" dirty="0">
                <a:solidFill>
                  <a:srgbClr val="4E5B61"/>
                </a:solidFill>
                <a:effectLst/>
                <a:latin typeface="Consolas" panose="020B0609020204030204" pitchFamily="49" charset="0"/>
              </a:rPr>
              <a:t> </a:t>
            </a:r>
            <a:r>
              <a:rPr lang="en-US" altLang="zh-CN" sz="1100" b="0" dirty="0">
                <a:solidFill>
                  <a:srgbClr val="434F54"/>
                </a:solidFill>
                <a:effectLst/>
                <a:latin typeface="Consolas" panose="020B0609020204030204" pitchFamily="49" charset="0"/>
              </a:rPr>
              <a:t>{</a:t>
            </a:r>
            <a:endParaRPr lang="en-US" altLang="zh-CN" sz="1100" b="0" dirty="0">
              <a:solidFill>
                <a:srgbClr val="4E5B61"/>
              </a:solidFill>
              <a:effectLst/>
              <a:latin typeface="Consolas" panose="020B0609020204030204" pitchFamily="49" charset="0"/>
            </a:endParaRPr>
          </a:p>
          <a:p>
            <a:r>
              <a:rPr lang="en-US" altLang="zh-CN" sz="1100" b="0" dirty="0">
                <a:solidFill>
                  <a:srgbClr val="4E5B61"/>
                </a:solidFill>
                <a:effectLst/>
                <a:latin typeface="Consolas" panose="020B0609020204030204" pitchFamily="49" charset="0"/>
              </a:rPr>
              <a:t>   </a:t>
            </a:r>
          </a:p>
          <a:p>
            <a:r>
              <a:rPr lang="en-US" altLang="zh-CN" sz="1100" b="0" dirty="0">
                <a:solidFill>
                  <a:srgbClr val="434F54"/>
                </a:solidFill>
                <a:effectLst/>
                <a:latin typeface="Consolas" panose="020B0609020204030204" pitchFamily="49" charset="0"/>
              </a:rPr>
              <a:t>}</a:t>
            </a:r>
            <a:endParaRPr lang="en-US" altLang="zh-CN" sz="1100" b="0" dirty="0">
              <a:solidFill>
                <a:srgbClr val="4E5B61"/>
              </a:solidFill>
              <a:effectLst/>
              <a:latin typeface="Consolas" panose="020B0609020204030204" pitchFamily="49" charset="0"/>
            </a:endParaRPr>
          </a:p>
          <a:p>
            <a:endParaRPr lang="zh-CN" altLang="en-US" sz="1100" dirty="0"/>
          </a:p>
        </p:txBody>
      </p:sp>
    </p:spTree>
    <p:extLst>
      <p:ext uri="{BB962C8B-B14F-4D97-AF65-F5344CB8AC3E}">
        <p14:creationId xmlns:p14="http://schemas.microsoft.com/office/powerpoint/2010/main" val="3631060363"/>
      </p:ext>
    </p:extLst>
  </p:cSld>
  <p:clrMapOvr>
    <a:masterClrMapping/>
  </p:clrMapOvr>
  <p:transition>
    <p:cover dir="d"/>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err="1"/>
              <a:t>Wifi</a:t>
            </a:r>
            <a:r>
              <a:rPr lang="zh-CN" altLang="en-US" dirty="0"/>
              <a:t>连接</a:t>
            </a:r>
            <a:r>
              <a:rPr lang="en-US" altLang="zh-CN" dirty="0"/>
              <a:t>demo</a:t>
            </a:r>
            <a:endParaRPr lang="zh-CN" altLang="en-US" dirty="0"/>
          </a:p>
        </p:txBody>
      </p:sp>
      <p:sp>
        <p:nvSpPr>
          <p:cNvPr id="3" name="内容占位符 2">
            <a:extLst>
              <a:ext uri="{FF2B5EF4-FFF2-40B4-BE49-F238E27FC236}">
                <a16:creationId xmlns:a16="http://schemas.microsoft.com/office/drawing/2014/main" id="{60240F98-7B40-420F-8F71-D6919518EC53}"/>
              </a:ext>
            </a:extLst>
          </p:cNvPr>
          <p:cNvSpPr>
            <a:spLocks noGrp="1"/>
          </p:cNvSpPr>
          <p:nvPr>
            <p:ph idx="1"/>
          </p:nvPr>
        </p:nvSpPr>
        <p:spPr>
          <a:xfrm>
            <a:off x="685800" y="1960880"/>
            <a:ext cx="7970520" cy="4135120"/>
          </a:xfrm>
        </p:spPr>
        <p:txBody>
          <a:bodyPr/>
          <a:lstStyle/>
          <a:p>
            <a:pPr marL="0" indent="0">
              <a:buNone/>
            </a:pPr>
            <a:r>
              <a:rPr lang="zh-CN" altLang="en-US" dirty="0"/>
              <a:t>（</a:t>
            </a:r>
            <a:r>
              <a:rPr lang="en-US" altLang="zh-CN" dirty="0"/>
              <a:t>2</a:t>
            </a:r>
            <a:r>
              <a:rPr lang="zh-CN" altLang="en-US" dirty="0"/>
              <a:t>）编译烧写后通过串口监视器观察</a:t>
            </a:r>
            <a:r>
              <a:rPr lang="en-US" altLang="zh-CN" dirty="0" err="1"/>
              <a:t>wifi</a:t>
            </a:r>
            <a:r>
              <a:rPr lang="zh-CN" altLang="en-US" dirty="0"/>
              <a:t>是否连接成功</a:t>
            </a: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p:txBody>
      </p:sp>
      <p:pic>
        <p:nvPicPr>
          <p:cNvPr id="5" name="图片 4">
            <a:extLst>
              <a:ext uri="{FF2B5EF4-FFF2-40B4-BE49-F238E27FC236}">
                <a16:creationId xmlns:a16="http://schemas.microsoft.com/office/drawing/2014/main" id="{C53B06CA-A5AB-C044-60DE-7641F61F3FB9}"/>
              </a:ext>
            </a:extLst>
          </p:cNvPr>
          <p:cNvPicPr>
            <a:picLocks noChangeAspect="1"/>
          </p:cNvPicPr>
          <p:nvPr/>
        </p:nvPicPr>
        <p:blipFill>
          <a:blip r:embed="rId2"/>
          <a:stretch>
            <a:fillRect/>
          </a:stretch>
        </p:blipFill>
        <p:spPr>
          <a:xfrm>
            <a:off x="2886075" y="2867025"/>
            <a:ext cx="4305300" cy="3228975"/>
          </a:xfrm>
          <a:prstGeom prst="rect">
            <a:avLst/>
          </a:prstGeom>
        </p:spPr>
      </p:pic>
    </p:spTree>
    <p:extLst>
      <p:ext uri="{BB962C8B-B14F-4D97-AF65-F5344CB8AC3E}">
        <p14:creationId xmlns:p14="http://schemas.microsoft.com/office/powerpoint/2010/main" val="4084120884"/>
      </p:ext>
    </p:extLst>
  </p:cSld>
  <p:clrMapOvr>
    <a:masterClrMapping/>
  </p:clrMapOvr>
  <p:transition>
    <p:cover dir="d"/>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烧写</a:t>
            </a:r>
          </a:p>
        </p:txBody>
      </p:sp>
      <p:sp>
        <p:nvSpPr>
          <p:cNvPr id="3" name="内容占位符 2">
            <a:extLst>
              <a:ext uri="{FF2B5EF4-FFF2-40B4-BE49-F238E27FC236}">
                <a16:creationId xmlns:a16="http://schemas.microsoft.com/office/drawing/2014/main" id="{60240F98-7B40-420F-8F71-D6919518EC53}"/>
              </a:ext>
            </a:extLst>
          </p:cNvPr>
          <p:cNvSpPr>
            <a:spLocks noGrp="1"/>
          </p:cNvSpPr>
          <p:nvPr>
            <p:ph idx="1"/>
          </p:nvPr>
        </p:nvSpPr>
        <p:spPr>
          <a:xfrm>
            <a:off x="685799" y="1960880"/>
            <a:ext cx="8391525" cy="4135120"/>
          </a:xfrm>
        </p:spPr>
        <p:txBody>
          <a:bodyPr/>
          <a:lstStyle/>
          <a:p>
            <a:pPr marL="0" indent="0">
              <a:buNone/>
            </a:pPr>
            <a:r>
              <a:rPr lang="zh-CN" altLang="en-US" dirty="0"/>
              <a:t>（*）若出现报错</a:t>
            </a:r>
            <a:endParaRPr lang="en-US" altLang="zh-CN" dirty="0"/>
          </a:p>
          <a:p>
            <a:pPr marL="0" indent="0">
              <a:buNone/>
            </a:pPr>
            <a:endParaRPr lang="en-US" altLang="zh-CN" dirty="0"/>
          </a:p>
          <a:p>
            <a:pPr marL="0" indent="0">
              <a:buNone/>
            </a:pPr>
            <a:r>
              <a:rPr lang="zh-CN" altLang="en-US" dirty="0"/>
              <a:t>采用以下方法进行烧写：</a:t>
            </a:r>
            <a:endParaRPr lang="en-US" altLang="zh-CN" dirty="0"/>
          </a:p>
          <a:p>
            <a:pPr marL="514350" indent="-514350">
              <a:buAutoNum type="arabicPeriod"/>
            </a:pPr>
            <a:r>
              <a:rPr lang="zh-CN" altLang="en-US" dirty="0"/>
              <a:t>给</a:t>
            </a:r>
            <a:r>
              <a:rPr lang="en-US" altLang="zh-CN" dirty="0" err="1"/>
              <a:t>arduino</a:t>
            </a:r>
            <a:r>
              <a:rPr lang="zh-CN" altLang="en-US" dirty="0"/>
              <a:t>烧写空白程序，防止占用串口</a:t>
            </a:r>
            <a:endParaRPr lang="en-US" altLang="zh-CN" dirty="0"/>
          </a:p>
          <a:p>
            <a:pPr marL="514350" indent="-514350">
              <a:buAutoNum type="arabicPeriod"/>
            </a:pPr>
            <a:r>
              <a:rPr lang="zh-CN" altLang="en-US" dirty="0"/>
              <a:t>先将</a:t>
            </a:r>
            <a:r>
              <a:rPr lang="en-US" altLang="zh-CN" dirty="0"/>
              <a:t>IO0</a:t>
            </a:r>
            <a:r>
              <a:rPr lang="zh-CN" altLang="en-US" dirty="0"/>
              <a:t>和连到</a:t>
            </a:r>
            <a:r>
              <a:rPr lang="en-US" altLang="zh-CN" dirty="0"/>
              <a:t>Arduino3V3</a:t>
            </a:r>
            <a:r>
              <a:rPr lang="zh-CN" altLang="en-US" dirty="0"/>
              <a:t>上的线拔出</a:t>
            </a:r>
            <a:endParaRPr lang="en-US" altLang="zh-CN" dirty="0"/>
          </a:p>
          <a:p>
            <a:pPr marL="514350" indent="-514350">
              <a:buAutoNum type="arabicPeriod"/>
            </a:pPr>
            <a:r>
              <a:rPr lang="zh-CN" altLang="en-US" dirty="0"/>
              <a:t>点击上传按钮，编译上传程序</a:t>
            </a:r>
            <a:endParaRPr lang="en-US" altLang="zh-CN" dirty="0"/>
          </a:p>
          <a:p>
            <a:pPr marL="514350" indent="-514350">
              <a:buAutoNum type="arabicPeriod"/>
            </a:pPr>
            <a:r>
              <a:rPr lang="zh-CN" altLang="en-US" dirty="0"/>
              <a:t>当编译结束，开始上传时，先将</a:t>
            </a:r>
            <a:r>
              <a:rPr lang="en-US" altLang="zh-CN" dirty="0"/>
              <a:t>IO0</a:t>
            </a:r>
            <a:r>
              <a:rPr lang="zh-CN" altLang="en-US" dirty="0"/>
              <a:t>插好，再将</a:t>
            </a:r>
            <a:r>
              <a:rPr lang="en-US" altLang="zh-CN" dirty="0"/>
              <a:t>3V3</a:t>
            </a:r>
            <a:r>
              <a:rPr lang="zh-CN" altLang="en-US" dirty="0"/>
              <a:t>插好</a:t>
            </a:r>
            <a:endParaRPr lang="en-US" altLang="zh-CN" dirty="0"/>
          </a:p>
          <a:p>
            <a:pPr marL="0" indent="0">
              <a:buNone/>
            </a:pPr>
            <a:endParaRPr lang="en-US" altLang="zh-CN" dirty="0"/>
          </a:p>
          <a:p>
            <a:pPr marL="0" indent="0">
              <a:buNone/>
            </a:pPr>
            <a:endParaRPr lang="en-US" altLang="zh-CN" dirty="0"/>
          </a:p>
        </p:txBody>
      </p:sp>
      <p:pic>
        <p:nvPicPr>
          <p:cNvPr id="6" name="图片 5">
            <a:extLst>
              <a:ext uri="{FF2B5EF4-FFF2-40B4-BE49-F238E27FC236}">
                <a16:creationId xmlns:a16="http://schemas.microsoft.com/office/drawing/2014/main" id="{A0A3C38F-2EC4-0A6A-F3CC-97C6B48FFB6F}"/>
              </a:ext>
            </a:extLst>
          </p:cNvPr>
          <p:cNvPicPr>
            <a:picLocks noChangeAspect="1"/>
          </p:cNvPicPr>
          <p:nvPr/>
        </p:nvPicPr>
        <p:blipFill>
          <a:blip r:embed="rId2"/>
          <a:stretch>
            <a:fillRect/>
          </a:stretch>
        </p:blipFill>
        <p:spPr>
          <a:xfrm>
            <a:off x="4181475" y="1635899"/>
            <a:ext cx="4114800" cy="1335266"/>
          </a:xfrm>
          <a:prstGeom prst="rect">
            <a:avLst/>
          </a:prstGeom>
        </p:spPr>
      </p:pic>
    </p:spTree>
    <p:extLst>
      <p:ext uri="{BB962C8B-B14F-4D97-AF65-F5344CB8AC3E}">
        <p14:creationId xmlns:p14="http://schemas.microsoft.com/office/powerpoint/2010/main" val="2247939715"/>
      </p:ext>
    </p:extLst>
  </p:cSld>
  <p:clrMapOvr>
    <a:masterClrMapping/>
  </p:clrMapOvr>
  <p:transition>
    <p:cover dir="d"/>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作业</a:t>
            </a:r>
          </a:p>
        </p:txBody>
      </p:sp>
      <p:sp>
        <p:nvSpPr>
          <p:cNvPr id="3" name="内容占位符 2"/>
          <p:cNvSpPr>
            <a:spLocks noGrp="1"/>
          </p:cNvSpPr>
          <p:nvPr>
            <p:ph idx="1"/>
          </p:nvPr>
        </p:nvSpPr>
        <p:spPr/>
        <p:txBody>
          <a:bodyPr/>
          <a:lstStyle/>
          <a:p>
            <a:r>
              <a:rPr lang="zh-CN" altLang="en-US" sz="2800" dirty="0"/>
              <a:t>参考</a:t>
            </a:r>
            <a:r>
              <a:rPr lang="en-US" altLang="zh-CN" sz="2800" dirty="0"/>
              <a:t>ESP8266 API</a:t>
            </a:r>
            <a:r>
              <a:rPr lang="zh-CN" altLang="en-US" sz="2800" dirty="0"/>
              <a:t>文档，实现一个简易的</a:t>
            </a:r>
            <a:r>
              <a:rPr lang="en-US" altLang="zh-CN" sz="2800" dirty="0" err="1"/>
              <a:t>HttpServer</a:t>
            </a:r>
            <a:r>
              <a:rPr lang="zh-CN" altLang="en-US" sz="2800" dirty="0"/>
              <a:t>，并通过浏览器访问该</a:t>
            </a:r>
            <a:r>
              <a:rPr lang="en-US" altLang="zh-CN" sz="2800" dirty="0"/>
              <a:t>IP</a:t>
            </a:r>
            <a:r>
              <a:rPr lang="zh-CN" altLang="en-US" sz="2800" dirty="0"/>
              <a:t>，页面内容为小组所有成员学号</a:t>
            </a:r>
            <a:endParaRPr lang="en-US" altLang="zh-CN" sz="2800" dirty="0"/>
          </a:p>
          <a:p>
            <a:r>
              <a:rPr lang="en-US" altLang="zh-CN" sz="2800" dirty="0"/>
              <a:t>API</a:t>
            </a:r>
            <a:r>
              <a:rPr lang="zh-CN" altLang="en-US" sz="2800" dirty="0"/>
              <a:t>文档地址：</a:t>
            </a:r>
            <a:r>
              <a:rPr lang="en-US" altLang="zh-CN" sz="1600" dirty="0">
                <a:hlinkClick r:id="rId2"/>
              </a:rPr>
              <a:t>http://www.taichi-maker.com/homepage/iot-development/iot-dev-reference/esp8266-c-plus-plus-reference/</a:t>
            </a:r>
            <a:endParaRPr lang="en-US" altLang="zh-CN" sz="1600" dirty="0"/>
          </a:p>
          <a:p>
            <a:r>
              <a:rPr lang="zh-CN" altLang="en-US" sz="2800" dirty="0"/>
              <a:t>以</a:t>
            </a:r>
            <a:r>
              <a:rPr lang="en-US" altLang="zh-CN" sz="2800" dirty="0"/>
              <a:t>word</a:t>
            </a:r>
            <a:r>
              <a:rPr lang="zh-CN" altLang="en-US" sz="2800" dirty="0"/>
              <a:t>文档形式提交，命名为“成员</a:t>
            </a:r>
            <a:r>
              <a:rPr lang="en-US" altLang="zh-CN" sz="2800" dirty="0"/>
              <a:t>1-</a:t>
            </a:r>
            <a:r>
              <a:rPr lang="zh-CN" altLang="en-US" sz="2800" dirty="0"/>
              <a:t>成员</a:t>
            </a:r>
            <a:r>
              <a:rPr lang="en-US" altLang="zh-CN" sz="2800" dirty="0"/>
              <a:t>2-</a:t>
            </a:r>
            <a:r>
              <a:rPr lang="zh-CN" altLang="en-US" sz="2800" dirty="0"/>
              <a:t>成员</a:t>
            </a:r>
            <a:r>
              <a:rPr lang="en-US" altLang="zh-CN" sz="2800" dirty="0"/>
              <a:t>3-</a:t>
            </a:r>
            <a:r>
              <a:rPr lang="zh-CN" altLang="en-US" sz="2800" dirty="0"/>
              <a:t>实验报告</a:t>
            </a:r>
            <a:r>
              <a:rPr lang="en-US" altLang="zh-CN" sz="2800" dirty="0"/>
              <a:t>2.docx</a:t>
            </a:r>
            <a:r>
              <a:rPr lang="zh-CN" altLang="en-US" sz="2800" dirty="0"/>
              <a:t>”</a:t>
            </a:r>
            <a:endParaRPr lang="en-US" altLang="zh-CN" sz="2800" dirty="0"/>
          </a:p>
          <a:p>
            <a:r>
              <a:rPr lang="zh-CN" altLang="en-US" sz="2800" dirty="0"/>
              <a:t>内容为：程序代码、实验结果图片</a:t>
            </a:r>
            <a:endParaRPr lang="en-US" altLang="zh-CN" sz="2800" dirty="0"/>
          </a:p>
          <a:p>
            <a:r>
              <a:rPr lang="zh-CN" altLang="en-US" sz="2800" dirty="0">
                <a:hlinkClick r:id="rId3"/>
              </a:rPr>
              <a:t>下次课前发送到邮箱</a:t>
            </a:r>
            <a:r>
              <a:rPr lang="en-US" altLang="zh-CN" sz="2800" dirty="0">
                <a:hlinkClick r:id="rId3"/>
              </a:rPr>
              <a:t>qiushitong@buaa.edu.cn</a:t>
            </a:r>
            <a:endParaRPr lang="en-US" altLang="zh-CN" sz="2800" dirty="0"/>
          </a:p>
        </p:txBody>
      </p:sp>
    </p:spTree>
    <p:extLst>
      <p:ext uri="{BB962C8B-B14F-4D97-AF65-F5344CB8AC3E}">
        <p14:creationId xmlns:p14="http://schemas.microsoft.com/office/powerpoint/2010/main" val="670215440"/>
      </p:ext>
    </p:extLst>
  </p:cSld>
  <p:clrMapOvr>
    <a:masterClrMapping/>
  </p:clrMapOvr>
  <p:transition>
    <p:cover dir="d"/>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器材领取</a:t>
            </a:r>
          </a:p>
        </p:txBody>
      </p:sp>
      <p:sp>
        <p:nvSpPr>
          <p:cNvPr id="3" name="内容占位符 2"/>
          <p:cNvSpPr>
            <a:spLocks noGrp="1"/>
          </p:cNvSpPr>
          <p:nvPr>
            <p:ph idx="1"/>
          </p:nvPr>
        </p:nvSpPr>
        <p:spPr/>
        <p:txBody>
          <a:bodyPr/>
          <a:lstStyle/>
          <a:p>
            <a:r>
              <a:rPr lang="en-US" altLang="zh-CN" sz="2800" dirty="0"/>
              <a:t>1</a:t>
            </a:r>
            <a:r>
              <a:rPr lang="zh-CN" altLang="en-US" sz="2800" dirty="0"/>
              <a:t>*</a:t>
            </a:r>
            <a:r>
              <a:rPr lang="en-US" altLang="zh-CN" sz="2800" dirty="0"/>
              <a:t>esp8266</a:t>
            </a:r>
          </a:p>
          <a:p>
            <a:r>
              <a:rPr lang="en-US" altLang="zh-CN" sz="2800" dirty="0"/>
              <a:t>8</a:t>
            </a:r>
            <a:r>
              <a:rPr lang="zh-CN" altLang="en-US" sz="2800" dirty="0"/>
              <a:t>*公对母杜邦线</a:t>
            </a:r>
            <a:endParaRPr lang="en-US" altLang="zh-CN" sz="2800" dirty="0"/>
          </a:p>
          <a:p>
            <a:r>
              <a:rPr lang="en-US" altLang="zh-CN" sz="2800" dirty="0"/>
              <a:t>4*</a:t>
            </a:r>
            <a:r>
              <a:rPr lang="zh-CN" altLang="en-US" sz="2800" dirty="0"/>
              <a:t>母对母杜邦线</a:t>
            </a:r>
            <a:endParaRPr lang="en-US" altLang="zh-CN" sz="2800" dirty="0"/>
          </a:p>
          <a:p>
            <a:r>
              <a:rPr lang="en-US" altLang="zh-CN" sz="2800" dirty="0"/>
              <a:t>2</a:t>
            </a:r>
            <a:r>
              <a:rPr lang="zh-CN" altLang="en-US" sz="2800" dirty="0"/>
              <a:t>*电阻</a:t>
            </a:r>
            <a:endParaRPr lang="en-US" altLang="zh-CN" sz="2800" dirty="0"/>
          </a:p>
          <a:p>
            <a:endParaRPr lang="en-US" altLang="zh-CN" sz="2800" dirty="0"/>
          </a:p>
        </p:txBody>
      </p:sp>
    </p:spTree>
    <p:extLst>
      <p:ext uri="{BB962C8B-B14F-4D97-AF65-F5344CB8AC3E}">
        <p14:creationId xmlns:p14="http://schemas.microsoft.com/office/powerpoint/2010/main" val="927656247"/>
      </p:ext>
    </p:extLst>
  </p:cSld>
  <p:clrMapOvr>
    <a:masterClrMapping/>
  </p:clrMapOvr>
  <p:transition>
    <p:cover dir="d"/>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作业提示</a:t>
            </a:r>
          </a:p>
        </p:txBody>
      </p:sp>
      <p:sp>
        <p:nvSpPr>
          <p:cNvPr id="3" name="内容占位符 2"/>
          <p:cNvSpPr>
            <a:spLocks noGrp="1"/>
          </p:cNvSpPr>
          <p:nvPr>
            <p:ph idx="1"/>
          </p:nvPr>
        </p:nvSpPr>
        <p:spPr/>
        <p:txBody>
          <a:bodyPr/>
          <a:lstStyle/>
          <a:p>
            <a:endParaRPr lang="en-US" altLang="zh-CN" dirty="0"/>
          </a:p>
        </p:txBody>
      </p:sp>
      <p:pic>
        <p:nvPicPr>
          <p:cNvPr id="5" name="图片 4">
            <a:extLst>
              <a:ext uri="{FF2B5EF4-FFF2-40B4-BE49-F238E27FC236}">
                <a16:creationId xmlns:a16="http://schemas.microsoft.com/office/drawing/2014/main" id="{BE8727A3-7AB3-4D09-911E-864D265A9087}"/>
              </a:ext>
            </a:extLst>
          </p:cNvPr>
          <p:cNvPicPr>
            <a:picLocks noChangeAspect="1"/>
          </p:cNvPicPr>
          <p:nvPr/>
        </p:nvPicPr>
        <p:blipFill>
          <a:blip r:embed="rId2"/>
          <a:stretch>
            <a:fillRect/>
          </a:stretch>
        </p:blipFill>
        <p:spPr>
          <a:xfrm>
            <a:off x="582127" y="1981200"/>
            <a:ext cx="8191500" cy="4010025"/>
          </a:xfrm>
          <a:prstGeom prst="rect">
            <a:avLst/>
          </a:prstGeom>
        </p:spPr>
      </p:pic>
    </p:spTree>
    <p:extLst>
      <p:ext uri="{BB962C8B-B14F-4D97-AF65-F5344CB8AC3E}">
        <p14:creationId xmlns:p14="http://schemas.microsoft.com/office/powerpoint/2010/main" val="1738110411"/>
      </p:ext>
    </p:extLst>
  </p:cSld>
  <p:clrMapOvr>
    <a:masterClrMapping/>
  </p:clrMapOvr>
  <p:transition>
    <p:cover dir="d"/>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作业提示</a:t>
            </a:r>
          </a:p>
        </p:txBody>
      </p:sp>
      <p:sp>
        <p:nvSpPr>
          <p:cNvPr id="3" name="内容占位符 2"/>
          <p:cNvSpPr>
            <a:spLocks noGrp="1"/>
          </p:cNvSpPr>
          <p:nvPr>
            <p:ph idx="1"/>
          </p:nvPr>
        </p:nvSpPr>
        <p:spPr/>
        <p:txBody>
          <a:bodyPr/>
          <a:lstStyle/>
          <a:p>
            <a:endParaRPr lang="en-US" altLang="zh-CN" dirty="0"/>
          </a:p>
        </p:txBody>
      </p:sp>
      <p:pic>
        <p:nvPicPr>
          <p:cNvPr id="6" name="图片 5">
            <a:extLst>
              <a:ext uri="{FF2B5EF4-FFF2-40B4-BE49-F238E27FC236}">
                <a16:creationId xmlns:a16="http://schemas.microsoft.com/office/drawing/2014/main" id="{AD69B431-8E8A-4837-B6D0-D77F81413275}"/>
              </a:ext>
            </a:extLst>
          </p:cNvPr>
          <p:cNvPicPr>
            <a:picLocks noChangeAspect="1"/>
          </p:cNvPicPr>
          <p:nvPr/>
        </p:nvPicPr>
        <p:blipFill>
          <a:blip r:embed="rId2"/>
          <a:stretch>
            <a:fillRect/>
          </a:stretch>
        </p:blipFill>
        <p:spPr>
          <a:xfrm>
            <a:off x="247650" y="1485900"/>
            <a:ext cx="8648700" cy="5372100"/>
          </a:xfrm>
          <a:prstGeom prst="rect">
            <a:avLst/>
          </a:prstGeom>
        </p:spPr>
      </p:pic>
    </p:spTree>
    <p:extLst>
      <p:ext uri="{BB962C8B-B14F-4D97-AF65-F5344CB8AC3E}">
        <p14:creationId xmlns:p14="http://schemas.microsoft.com/office/powerpoint/2010/main" val="3782156396"/>
      </p:ext>
    </p:extLst>
  </p:cSld>
  <p:clrMapOvr>
    <a:masterClrMapping/>
  </p:clrMapOvr>
  <p:transition>
    <p:cover dir="d"/>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530</TotalTime>
  <Words>5888</Words>
  <Application>Microsoft Office PowerPoint</Application>
  <PresentationFormat>全屏显示(4:3)</PresentationFormat>
  <Paragraphs>573</Paragraphs>
  <Slides>93</Slides>
  <Notes>15</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93</vt:i4>
      </vt:variant>
    </vt:vector>
  </HeadingPairs>
  <TitlesOfParts>
    <vt:vector size="103" baseType="lpstr">
      <vt:lpstr>-apple-system</vt:lpstr>
      <vt:lpstr>等线</vt:lpstr>
      <vt:lpstr>Arial</vt:lpstr>
      <vt:lpstr>Calibri</vt:lpstr>
      <vt:lpstr>Calibri Light</vt:lpstr>
      <vt:lpstr>Consolas</vt:lpstr>
      <vt:lpstr>Times New Roman</vt:lpstr>
      <vt:lpstr>Wingdings</vt:lpstr>
      <vt:lpstr>Office 主题</vt:lpstr>
      <vt:lpstr>1_默认设计模板</vt:lpstr>
      <vt:lpstr>PlatformIO安装使用</vt:lpstr>
      <vt:lpstr>PlatformIO安装使用</vt:lpstr>
      <vt:lpstr>PlatformIO安装使用</vt:lpstr>
      <vt:lpstr>PlatformIO安装使用</vt:lpstr>
      <vt:lpstr>PlatformIO安装使用</vt:lpstr>
      <vt:lpstr>PlatformIO安装使用</vt:lpstr>
      <vt:lpstr>PlatformIO安装使用</vt:lpstr>
      <vt:lpstr>PlatformIO安装使用</vt:lpstr>
      <vt:lpstr>PlatformIO安装使用</vt:lpstr>
      <vt:lpstr>PlatformIO安装使用</vt:lpstr>
      <vt:lpstr>PlatformIO安装使用</vt:lpstr>
      <vt:lpstr>PlatformIO安装使用</vt:lpstr>
      <vt:lpstr>Arduino开发</vt:lpstr>
      <vt:lpstr>Arduino程序架构</vt:lpstr>
      <vt:lpstr>Arduino语法——变量</vt:lpstr>
      <vt:lpstr>Arduino语法——变量</vt:lpstr>
      <vt:lpstr>变量作用范围</vt:lpstr>
      <vt:lpstr>改变闪烁频率的闪灯程序</vt:lpstr>
      <vt:lpstr>Arduino语法——常量</vt:lpstr>
      <vt:lpstr>逻辑常量（布尔常量）：false和true</vt:lpstr>
      <vt:lpstr>数字引脚常量：INPUT和OUTPUT</vt:lpstr>
      <vt:lpstr>引脚电压常量：HIGH和LOW</vt:lpstr>
      <vt:lpstr>自定义常量</vt:lpstr>
      <vt:lpstr>Arduino语法——数据类型</vt:lpstr>
      <vt:lpstr>常用的数据类型</vt:lpstr>
      <vt:lpstr>布尔类型</vt:lpstr>
      <vt:lpstr>布尔类型</vt:lpstr>
      <vt:lpstr>字符型</vt:lpstr>
      <vt:lpstr>字节型</vt:lpstr>
      <vt:lpstr>整型</vt:lpstr>
      <vt:lpstr>无符号整型</vt:lpstr>
      <vt:lpstr>长整型</vt:lpstr>
      <vt:lpstr>无符号长整型</vt:lpstr>
      <vt:lpstr>浮点型</vt:lpstr>
      <vt:lpstr>双精度浮点型</vt:lpstr>
      <vt:lpstr>数据类型转换</vt:lpstr>
      <vt:lpstr>数据类型转换</vt:lpstr>
      <vt:lpstr>数据类型转换</vt:lpstr>
      <vt:lpstr>数据类型转换</vt:lpstr>
      <vt:lpstr>数据类型转换</vt:lpstr>
      <vt:lpstr>自定义数据类型</vt:lpstr>
      <vt:lpstr>创建或声明一个数组</vt:lpstr>
      <vt:lpstr>指定或访问数组</vt:lpstr>
      <vt:lpstr>指定或访问数组</vt:lpstr>
      <vt:lpstr>串口打印数组</vt:lpstr>
      <vt:lpstr>Arduino语法——运算符</vt:lpstr>
      <vt:lpstr>赋值运算符</vt:lpstr>
      <vt:lpstr>赋值运算符</vt:lpstr>
      <vt:lpstr>赋值运算符</vt:lpstr>
      <vt:lpstr>赋值运算符</vt:lpstr>
      <vt:lpstr>赋值运算符</vt:lpstr>
      <vt:lpstr>算数运算符</vt:lpstr>
      <vt:lpstr>算数运算符</vt:lpstr>
      <vt:lpstr>关系运算符</vt:lpstr>
      <vt:lpstr>关系运算符</vt:lpstr>
      <vt:lpstr>关系运算符</vt:lpstr>
      <vt:lpstr>逻辑运算符</vt:lpstr>
      <vt:lpstr>逻辑运算符</vt:lpstr>
      <vt:lpstr>自增/减运算符</vt:lpstr>
      <vt:lpstr>Arduino语法——条件判断语句</vt:lpstr>
      <vt:lpstr>条件判断语句</vt:lpstr>
      <vt:lpstr>改变闪烁频率的闪灯程序</vt:lpstr>
      <vt:lpstr>使用else语句的闪灯程序</vt:lpstr>
      <vt:lpstr>Arduino语法——循环语句</vt:lpstr>
      <vt:lpstr>for循环</vt:lpstr>
      <vt:lpstr>使用for语句的闪灯程序</vt:lpstr>
      <vt:lpstr>while循环</vt:lpstr>
      <vt:lpstr>使用while语句的闪灯程序</vt:lpstr>
      <vt:lpstr>Arduino语法—函数</vt:lpstr>
      <vt:lpstr>使用闪灯函数的闪灯程序</vt:lpstr>
      <vt:lpstr>具有返回值的函数Max()</vt:lpstr>
      <vt:lpstr>模拟输入输出</vt:lpstr>
      <vt:lpstr>模拟输入输出</vt:lpstr>
      <vt:lpstr>使用PWM控制小灯亮度</vt:lpstr>
      <vt:lpstr>模拟输入</vt:lpstr>
      <vt:lpstr>外设及第三方库的使用</vt:lpstr>
      <vt:lpstr>Wifi模块 esp8266配置</vt:lpstr>
      <vt:lpstr> ESP8266引脚</vt:lpstr>
      <vt:lpstr> ESP8266工作模式</vt:lpstr>
      <vt:lpstr> ESP8266与arduino接线</vt:lpstr>
      <vt:lpstr>Arduino与ESP8266连线</vt:lpstr>
      <vt:lpstr>添加ESP8266支持</vt:lpstr>
      <vt:lpstr>添加ESP8266支持</vt:lpstr>
      <vt:lpstr>添加ESP8266支持</vt:lpstr>
      <vt:lpstr>添加ESP8266支持</vt:lpstr>
      <vt:lpstr>添加ESP8266支持</vt:lpstr>
      <vt:lpstr>Wifi连接demo</vt:lpstr>
      <vt:lpstr>Wifi连接demo</vt:lpstr>
      <vt:lpstr>烧写</vt:lpstr>
      <vt:lpstr>作业</vt:lpstr>
      <vt:lpstr>器材领取</vt:lpstr>
      <vt:lpstr>作业提示</vt:lpstr>
      <vt:lpstr>作业提示</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Arduino开发</dc:title>
  <dc:creator>徐贤</dc:creator>
  <cp:lastModifiedBy>Administrator</cp:lastModifiedBy>
  <cp:revision>314</cp:revision>
  <dcterms:created xsi:type="dcterms:W3CDTF">2015-10-10T01:29:00Z</dcterms:created>
  <dcterms:modified xsi:type="dcterms:W3CDTF">2022-09-27T03:37:00Z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2052-11.3.0.9221</vt:lpwstr>
  </property>
</Properties>
</file>