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85"/>
  </p:notesMasterIdLst>
  <p:sldIdLst>
    <p:sldId id="256" r:id="rId3"/>
    <p:sldId id="257" r:id="rId4"/>
    <p:sldId id="258" r:id="rId5"/>
    <p:sldId id="259" r:id="rId6"/>
    <p:sldId id="260" r:id="rId7"/>
    <p:sldId id="261" r:id="rId8"/>
    <p:sldId id="262" r:id="rId9"/>
    <p:sldId id="263" r:id="rId10"/>
    <p:sldId id="265" r:id="rId11"/>
    <p:sldId id="266" r:id="rId12"/>
    <p:sldId id="267"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 id="318" r:id="rId62"/>
    <p:sldId id="319" r:id="rId63"/>
    <p:sldId id="320" r:id="rId64"/>
    <p:sldId id="321" r:id="rId65"/>
    <p:sldId id="322" r:id="rId66"/>
    <p:sldId id="323" r:id="rId67"/>
    <p:sldId id="324" r:id="rId68"/>
    <p:sldId id="325" r:id="rId69"/>
    <p:sldId id="326" r:id="rId70"/>
    <p:sldId id="327" r:id="rId71"/>
    <p:sldId id="328" r:id="rId72"/>
    <p:sldId id="329" r:id="rId73"/>
    <p:sldId id="330" r:id="rId74"/>
    <p:sldId id="332" r:id="rId75"/>
    <p:sldId id="333" r:id="rId76"/>
    <p:sldId id="334" r:id="rId77"/>
    <p:sldId id="335" r:id="rId78"/>
    <p:sldId id="336" r:id="rId79"/>
    <p:sldId id="337" r:id="rId80"/>
    <p:sldId id="338" r:id="rId81"/>
    <p:sldId id="339" r:id="rId82"/>
    <p:sldId id="340" r:id="rId83"/>
    <p:sldId id="341" r:id="rId8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2895" autoAdjust="0"/>
  </p:normalViewPr>
  <p:slideViewPr>
    <p:cSldViewPr snapToGrid="0">
      <p:cViewPr varScale="1">
        <p:scale>
          <a:sx n="48" d="100"/>
          <a:sy n="48" d="100"/>
        </p:scale>
        <p:origin x="496" y="24"/>
      </p:cViewPr>
      <p:guideLst>
        <p:guide orient="horz" pos="2160"/>
        <p:guide pos="288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slide" Target="slides/slide74.xml"/><Relationship Id="rId84" Type="http://schemas.openxmlformats.org/officeDocument/2006/relationships/slide" Target="slides/slide82.xml"/><Relationship Id="rId89"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87"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61304E-E066-49DC-8A90-C416C6FEE892}" type="datetimeFigureOut">
              <a:rPr lang="zh-CN" altLang="en-US" smtClean="0"/>
              <a:t>2021/10/18</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7118EC-1511-48C7-97BC-40120BB2DF18}"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在</a:t>
            </a:r>
            <a:r>
              <a:rPr lang="en-US" altLang="zh-CN" sz="1200" kern="1200" dirty="0">
                <a:solidFill>
                  <a:schemeClr val="tx1"/>
                </a:solidFill>
                <a:effectLst/>
                <a:latin typeface="+mn-lt"/>
                <a:ea typeface="+mn-ea"/>
                <a:cs typeface="+mn-cs"/>
              </a:rPr>
              <a:t>Arduino IDE</a:t>
            </a:r>
            <a:r>
              <a:rPr lang="zh-CN" altLang="zh-CN" sz="1200" kern="1200" dirty="0">
                <a:solidFill>
                  <a:schemeClr val="tx1"/>
                </a:solidFill>
                <a:effectLst/>
                <a:latin typeface="+mn-lt"/>
                <a:ea typeface="+mn-ea"/>
                <a:cs typeface="+mn-cs"/>
              </a:rPr>
              <a:t>编程并下载程序到开发板的过程，实际上是编译器将程序翻译为机器语言（即二进制语言）的过程。计算机将二进制的指令传送到单片机程序闪存中，单片机识别指令后进行工作。</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Arduino</a:t>
            </a:r>
            <a:r>
              <a:rPr lang="zh-CN" altLang="zh-CN" sz="1200" kern="1200" dirty="0">
                <a:solidFill>
                  <a:schemeClr val="tx1"/>
                </a:solidFill>
                <a:effectLst/>
                <a:latin typeface="+mn-lt"/>
                <a:ea typeface="+mn-ea"/>
                <a:cs typeface="+mn-cs"/>
              </a:rPr>
              <a:t>编译器的作用除了是一位必不可少的翻译官外，还是一位一丝不苟的检察官。写好的程序在编译器翻译成机器语言之前，需要检查程序是否存在语法错误，如果不符合程序框架，或者有些函数没有定义或者使用错误，还有变量类型不正确，编译器都会尽职尽责地检查出来，并明确错误位置。没有编译器，程序编写好后将无法进行解释和分析，也就无法转化成相应的机器语言。</a:t>
            </a:r>
            <a:endParaRPr lang="zh-CN" altLang="en-US" dirty="0"/>
          </a:p>
        </p:txBody>
      </p:sp>
      <p:sp>
        <p:nvSpPr>
          <p:cNvPr id="4" name="灯片编号占位符 3"/>
          <p:cNvSpPr>
            <a:spLocks noGrp="1"/>
          </p:cNvSpPr>
          <p:nvPr>
            <p:ph type="sldNum" sz="quarter" idx="10"/>
          </p:nvPr>
        </p:nvSpPr>
        <p:spPr/>
        <p:txBody>
          <a:bodyPr/>
          <a:lstStyle/>
          <a:p>
            <a:fld id="{567118EC-1511-48C7-97BC-40120BB2DF18}" type="slidenum">
              <a:rPr lang="zh-CN" altLang="en-US" smtClean="0"/>
              <a:t>4</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67118EC-1511-48C7-97BC-40120BB2DF18}" type="slidenum">
              <a:rPr lang="zh-CN" altLang="en-US" smtClean="0"/>
              <a:t>21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9B9B1F93-5D87-444E-BCCE-E441F88B707C}" type="datetimeFigureOut">
              <a:rPr lang="zh-CN" altLang="en-US" smtClean="0"/>
              <a:t>2021/10/18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0A874CA-4C8F-451B-884A-165441E778B4}"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B9B1F93-5D87-444E-BCCE-E441F88B707C}" type="datetimeFigureOut">
              <a:rPr lang="zh-CN" altLang="en-US" smtClean="0"/>
              <a:t>2021/10/18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0A874CA-4C8F-451B-884A-165441E778B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9B9B1F93-5D87-444E-BCCE-E441F88B707C}" type="datetimeFigureOut">
              <a:rPr lang="zh-CN" altLang="en-US" smtClean="0"/>
              <a:t>2021/10/18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0A874CA-4C8F-451B-884A-165441E778B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71487" y="1825625"/>
            <a:ext cx="2900363"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3486150" y="1825625"/>
            <a:ext cx="2900363"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B9B1F93-5D87-444E-BCCE-E441F88B707C}" type="datetimeFigureOut">
              <a:rPr lang="zh-CN" altLang="en-US" smtClean="0"/>
              <a:t>2021/10/18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0A874CA-4C8F-451B-884A-165441E778B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B9B1F93-5D87-444E-BCCE-E441F88B707C}" type="datetimeFigureOut">
              <a:rPr lang="zh-CN" altLang="en-US" smtClean="0"/>
              <a:t>2021/10/18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0A874CA-4C8F-451B-884A-165441E778B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B9B1F93-5D87-444E-BCCE-E441F88B707C}" type="datetimeFigureOut">
              <a:rPr lang="zh-CN" altLang="en-US" smtClean="0"/>
              <a:t>2021/10/18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0A874CA-4C8F-451B-884A-165441E778B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B9B1F93-5D87-444E-BCCE-E441F88B707C}" type="datetimeFigureOut">
              <a:rPr lang="zh-CN" altLang="en-US" smtClean="0"/>
              <a:t>2021/10/18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0A874CA-4C8F-451B-884A-165441E778B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B9B1F93-5D87-444E-BCCE-E441F88B707C}" type="datetimeFigureOut">
              <a:rPr lang="zh-CN" altLang="en-US" smtClean="0"/>
              <a:t>2021/10/18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0A874CA-4C8F-451B-884A-165441E778B4}"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B9B1F93-5D87-444E-BCCE-E441F88B707C}" type="datetimeFigureOut">
              <a:rPr lang="zh-CN" altLang="en-US" smtClean="0"/>
              <a:t>2021/10/18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0A874CA-4C8F-451B-884A-165441E778B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B9B1F93-5D87-444E-BCCE-E441F88B707C}" type="datetimeFigureOut">
              <a:rPr lang="zh-CN" altLang="en-US" smtClean="0"/>
              <a:t>2021/10/18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0A874CA-4C8F-451B-884A-165441E778B4}"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4907757" y="365125"/>
            <a:ext cx="1478756"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71488" y="365125"/>
            <a:ext cx="4321969"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B9B1F93-5D87-444E-BCCE-E441F88B707C}" type="datetimeFigureOut">
              <a:rPr lang="zh-CN" altLang="en-US" smtClean="0"/>
              <a:t>2021/10/18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0A874CA-4C8F-451B-884A-165441E778B4}"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7"/>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178C1384-3686-45C4-9274-264A95345C91}" type="slidenum">
              <a:rPr lang="en-US" altLang="zh-CN"/>
              <a:t>‹#›</a:t>
            </a:fld>
            <a:endParaRPr lang="en-US" altLang="zh-CN"/>
          </a:p>
        </p:txBody>
      </p:sp>
    </p:spTree>
  </p:cSld>
  <p:clrMapOvr>
    <a:masterClrMapping/>
  </p:clrMapOvr>
  <p:transition>
    <p:cover di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2C687883-A9F8-4324-BFDB-FCCC5C558AE8}" type="slidenum">
              <a:rPr lang="en-US" altLang="zh-CN"/>
              <a:t>‹#›</a:t>
            </a:fld>
            <a:endParaRPr lang="en-US" altLang="zh-CN"/>
          </a:p>
        </p:txBody>
      </p:sp>
    </p:spTree>
  </p:cSld>
  <p:clrMapOvr>
    <a:masterClrMapping/>
  </p:clrMapOvr>
  <p:transition>
    <p:cover dir="d"/>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2"/>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424A2B26-0FA3-473F-9174-F6D9E481BFA1}" type="slidenum">
              <a:rPr lang="en-US" altLang="zh-CN"/>
              <a:t>‹#›</a:t>
            </a:fld>
            <a:endParaRPr lang="en-US" altLang="zh-CN"/>
          </a:p>
        </p:txBody>
      </p:sp>
    </p:spTree>
  </p:cSld>
  <p:clrMapOvr>
    <a:masterClrMapping/>
  </p:clrMapOvr>
  <p:transition>
    <p:cover dir="d"/>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A0A41B2E-0564-49C7-AE47-7DBB17967741}" type="slidenum">
              <a:rPr lang="en-US" altLang="zh-CN"/>
              <a:t>‹#›</a:t>
            </a:fld>
            <a:endParaRPr lang="en-US" altLang="zh-CN"/>
          </a:p>
        </p:txBody>
      </p:sp>
    </p:spTree>
  </p:cSld>
  <p:clrMapOvr>
    <a:masterClrMapping/>
  </p:clrMapOvr>
  <p:transition>
    <p:cover dir="d"/>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0231B4C8-FC89-42E9-B91A-70FC8438C555}" type="slidenum">
              <a:rPr lang="en-US" altLang="zh-CN"/>
              <a:t>‹#›</a:t>
            </a:fld>
            <a:endParaRPr lang="en-US" altLang="zh-CN"/>
          </a:p>
        </p:txBody>
      </p:sp>
    </p:spTree>
  </p:cSld>
  <p:clrMapOvr>
    <a:masterClrMapping/>
  </p:clrMapOvr>
  <p:transition>
    <p:cover dir="d"/>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9E0CDD31-6EDA-4B63-885E-0EE493EA4FC2}" type="slidenum">
              <a:rPr lang="en-US" altLang="zh-CN"/>
              <a:t>‹#›</a:t>
            </a:fld>
            <a:endParaRPr lang="en-US" altLang="zh-CN"/>
          </a:p>
        </p:txBody>
      </p:sp>
    </p:spTree>
  </p:cSld>
  <p:clrMapOvr>
    <a:masterClrMapping/>
  </p:clrMapOvr>
  <p:transition>
    <p:cover dir="d"/>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9B8D6B41-AAF5-4D7C-9630-46E39E52E699}" type="slidenum">
              <a:rPr lang="en-US" altLang="zh-CN"/>
              <a:t>‹#›</a:t>
            </a:fld>
            <a:endParaRPr lang="en-US" altLang="zh-CN"/>
          </a:p>
        </p:txBody>
      </p:sp>
    </p:spTree>
  </p:cSld>
  <p:clrMapOvr>
    <a:masterClrMapping/>
  </p:clrMapOvr>
  <p:transition>
    <p:cover dir="d"/>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5AEBD598-5F9C-4349-AEB3-E05F3179A862}" type="slidenum">
              <a:rPr lang="en-US" altLang="zh-CN"/>
              <a:t>‹#›</a:t>
            </a:fld>
            <a:endParaRPr lang="en-US" altLang="zh-CN"/>
          </a:p>
        </p:txBody>
      </p:sp>
    </p:spTree>
  </p:cSld>
  <p:clrMapOvr>
    <a:masterClrMapping/>
  </p:clrMapOvr>
  <p:transition>
    <p:cover dir="d"/>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CA05A86F-E4C4-4AE8-BCC7-46675975EFC1}" type="slidenum">
              <a:rPr lang="en-US" altLang="zh-CN"/>
              <a:t>‹#›</a:t>
            </a:fld>
            <a:endParaRPr lang="en-US" altLang="zh-CN"/>
          </a:p>
        </p:txBody>
      </p:sp>
    </p:spTree>
  </p:cSld>
  <p:clrMapOvr>
    <a:masterClrMapping/>
  </p:clrMapOvr>
  <p:transition>
    <p:cover dir="d"/>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5E4AA024-4BD4-4C3E-9782-94B9F836E446}" type="slidenum">
              <a:rPr lang="en-US" altLang="zh-CN"/>
              <a:t>‹#›</a:t>
            </a:fld>
            <a:endParaRPr lang="en-US" altLang="zh-CN"/>
          </a:p>
        </p:txBody>
      </p:sp>
    </p:spTree>
  </p:cSld>
  <p:clrMapOvr>
    <a:masterClrMapping/>
  </p:clrMapOvr>
  <p:transition>
    <p:cover dir="d"/>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7A23B651-01C7-4ACB-A684-85A55AD844EF}" type="slidenum">
              <a:rPr lang="en-US" altLang="zh-CN"/>
              <a:t>‹#›</a:t>
            </a:fld>
            <a:endParaRPr lang="en-US" altLang="zh-CN"/>
          </a:p>
        </p:txBody>
      </p:sp>
    </p:spTree>
  </p:cSld>
  <p:clrMapOvr>
    <a:masterClrMapping/>
  </p:clrMapOvr>
  <p:transition>
    <p:cover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9B1F93-5D87-444E-BCCE-E441F88B707C}" type="datetimeFigureOut">
              <a:rPr lang="zh-CN" altLang="en-US" smtClean="0"/>
              <a:t>2021/10/18</a:t>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A874CA-4C8F-451B-884A-165441E778B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单击此处编辑母版标题样式</a:t>
            </a:r>
          </a:p>
        </p:txBody>
      </p:sp>
      <p:sp>
        <p:nvSpPr>
          <p:cNvPr id="2051"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400">
                <a:solidFill>
                  <a:srgbClr val="000000"/>
                </a:solidFill>
                <a:effectLst/>
                <a:ea typeface="+mn-ea"/>
              </a:defRPr>
            </a:lvl1pPr>
          </a:lstStyle>
          <a:p>
            <a:pPr fontAlgn="base">
              <a:spcBef>
                <a:spcPct val="0"/>
              </a:spcBef>
              <a:spcAft>
                <a:spcPct val="0"/>
              </a:spcAft>
              <a:defRPr/>
            </a:pPr>
            <a:endParaRPr kumimoji="1"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400">
                <a:solidFill>
                  <a:srgbClr val="000000"/>
                </a:solidFill>
                <a:effectLst/>
                <a:ea typeface="+mn-ea"/>
              </a:defRPr>
            </a:lvl1pPr>
          </a:lstStyle>
          <a:p>
            <a:pPr fontAlgn="base">
              <a:spcBef>
                <a:spcPct val="0"/>
              </a:spcBef>
              <a:spcAft>
                <a:spcPct val="0"/>
              </a:spcAft>
              <a:defRPr/>
            </a:pPr>
            <a:endParaRPr kumimoji="1"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400">
                <a:solidFill>
                  <a:srgbClr val="000000"/>
                </a:solidFill>
                <a:effectLst/>
                <a:ea typeface="宋体" panose="02010600030101010101" pitchFamily="2" charset="-122"/>
              </a:defRPr>
            </a:lvl1pPr>
          </a:lstStyle>
          <a:p>
            <a:pPr fontAlgn="base">
              <a:spcBef>
                <a:spcPct val="0"/>
              </a:spcBef>
              <a:spcAft>
                <a:spcPct val="0"/>
              </a:spcAft>
              <a:defRPr/>
            </a:pPr>
            <a:fld id="{913CEB95-6C5A-49F2-94B7-1C2B9AE0D82E}" type="slidenum">
              <a:rPr kumimoji="1" lang="en-US" altLang="zh-CN"/>
              <a:t>‹#›</a:t>
            </a:fld>
            <a:endParaRPr kumimoji="1" lang="en-US" altLang="zh-C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cover dir="d"/>
  </p:transition>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12800" y="2349500"/>
            <a:ext cx="7772400" cy="1143000"/>
          </a:xfrm>
        </p:spPr>
        <p:txBody>
          <a:bodyPr/>
          <a:lstStyle/>
          <a:p>
            <a:r>
              <a:rPr lang="en-US" altLang="zh-CN" sz="6600" dirty="0"/>
              <a:t>Arduino</a:t>
            </a:r>
            <a:r>
              <a:rPr lang="zh-CN" altLang="en-US" sz="6600" dirty="0"/>
              <a:t>开发</a:t>
            </a:r>
          </a:p>
        </p:txBody>
      </p:sp>
    </p:spTree>
  </p:cSld>
  <p:clrMapOvr>
    <a:masterClrMapping/>
  </p:clrMapOvr>
  <p:transition>
    <p:cover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a:t>
            </a:r>
            <a:r>
              <a:rPr lang="zh-CN" altLang="en-US" dirty="0"/>
              <a:t>程序架构</a:t>
            </a:r>
          </a:p>
        </p:txBody>
      </p:sp>
      <p:sp>
        <p:nvSpPr>
          <p:cNvPr id="3" name="内容占位符 2"/>
          <p:cNvSpPr>
            <a:spLocks noGrp="1"/>
          </p:cNvSpPr>
          <p:nvPr>
            <p:ph idx="1"/>
          </p:nvPr>
        </p:nvSpPr>
        <p:spPr>
          <a:xfrm>
            <a:off x="685800" y="1625600"/>
            <a:ext cx="7772400" cy="4851400"/>
          </a:xfrm>
        </p:spPr>
        <p:txBody>
          <a:bodyPr/>
          <a:lstStyle/>
          <a:p>
            <a:pPr marL="514350" indent="-514350" algn="just">
              <a:buFont typeface="+mj-lt"/>
              <a:buAutoNum type="arabicPeriod"/>
            </a:pPr>
            <a:r>
              <a:rPr lang="zh-CN" altLang="zh-CN" sz="2800" dirty="0"/>
              <a:t>声明变量及接口的名称。</a:t>
            </a:r>
          </a:p>
          <a:p>
            <a:pPr marL="514350" indent="-514350" algn="just">
              <a:buFont typeface="+mj-lt"/>
              <a:buAutoNum type="arabicPeriod"/>
            </a:pPr>
            <a:r>
              <a:rPr lang="en-US" altLang="zh-CN" sz="2800" dirty="0"/>
              <a:t>setup()</a:t>
            </a:r>
            <a:r>
              <a:rPr lang="zh-CN" altLang="zh-CN" sz="2800" dirty="0"/>
              <a:t>。在</a:t>
            </a:r>
            <a:r>
              <a:rPr lang="en-US" altLang="zh-CN" sz="2800" dirty="0"/>
              <a:t>Arduino</a:t>
            </a:r>
            <a:r>
              <a:rPr lang="zh-CN" altLang="zh-CN" sz="2800" dirty="0"/>
              <a:t>程序运行时首先要调用</a:t>
            </a:r>
            <a:r>
              <a:rPr lang="en-US" altLang="zh-CN" sz="2800" dirty="0"/>
              <a:t>setup()</a:t>
            </a:r>
            <a:r>
              <a:rPr lang="zh-CN" altLang="zh-CN" sz="2800" dirty="0"/>
              <a:t>函数，用于初始化变量、设置针脚的输出</a:t>
            </a:r>
            <a:r>
              <a:rPr lang="en-US" altLang="zh-CN" sz="2800" dirty="0"/>
              <a:t>/</a:t>
            </a:r>
            <a:r>
              <a:rPr lang="zh-CN" altLang="zh-CN" sz="2800" dirty="0"/>
              <a:t>输入类型、配置串口、引入类库文件等等。每次</a:t>
            </a:r>
            <a:r>
              <a:rPr lang="en-US" altLang="zh-CN" sz="2800" dirty="0"/>
              <a:t> Arduino </a:t>
            </a:r>
            <a:r>
              <a:rPr lang="zh-CN" altLang="zh-CN" sz="2800" dirty="0"/>
              <a:t>上电或重启后，</a:t>
            </a:r>
            <a:r>
              <a:rPr lang="en-US" altLang="zh-CN" sz="2800" dirty="0"/>
              <a:t>setup()</a:t>
            </a:r>
            <a:r>
              <a:rPr lang="zh-CN" altLang="zh-CN" sz="2800" dirty="0"/>
              <a:t>函数只运行一次。</a:t>
            </a:r>
          </a:p>
          <a:p>
            <a:pPr marL="514350" indent="-514350" algn="just">
              <a:buFont typeface="+mj-lt"/>
              <a:buAutoNum type="arabicPeriod"/>
            </a:pPr>
            <a:r>
              <a:rPr lang="en-US" altLang="zh-CN" sz="2800" dirty="0"/>
              <a:t>loop()</a:t>
            </a:r>
            <a:r>
              <a:rPr lang="zh-CN" altLang="zh-CN" sz="2800" dirty="0"/>
              <a:t>。在</a:t>
            </a:r>
            <a:r>
              <a:rPr lang="en-US" altLang="zh-CN" sz="2800" dirty="0"/>
              <a:t>setup()</a:t>
            </a:r>
            <a:r>
              <a:rPr lang="zh-CN" altLang="zh-CN" sz="2800" dirty="0"/>
              <a:t>函数中初始化和定义变量，然后执行</a:t>
            </a:r>
            <a:r>
              <a:rPr lang="en-US" altLang="zh-CN" sz="2800" dirty="0"/>
              <a:t>loop()</a:t>
            </a:r>
            <a:r>
              <a:rPr lang="zh-CN" altLang="zh-CN" sz="2800" dirty="0"/>
              <a:t>函数。顾名思义，该函数在程序运行过程中不断地循环，根据反馈，相应地改变执行情况。通过该函数动态控制</a:t>
            </a:r>
            <a:r>
              <a:rPr lang="en-US" altLang="zh-CN" sz="2800" dirty="0"/>
              <a:t>Arduino</a:t>
            </a:r>
            <a:r>
              <a:rPr lang="zh-CN" altLang="zh-CN" sz="2800" dirty="0"/>
              <a:t>主控板。</a:t>
            </a:r>
            <a:endParaRPr lang="zh-CN" altLang="en-US" sz="2800" dirty="0"/>
          </a:p>
        </p:txBody>
      </p:sp>
    </p:spTree>
  </p:cSld>
  <p:clrMapOvr>
    <a:masterClrMapping/>
  </p:clrMapOvr>
  <p:transition>
    <p:cover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9337" y="647700"/>
            <a:ext cx="1895373" cy="647700"/>
          </a:xfrm>
          <a:solidFill>
            <a:schemeClr val="bg1">
              <a:lumMod val="85000"/>
            </a:schemeClr>
          </a:solidFill>
        </p:spPr>
        <p:txBody>
          <a:bodyPr/>
          <a:lstStyle/>
          <a:p>
            <a:pPr algn="l"/>
            <a:r>
              <a:rPr lang="zh-CN" altLang="en-US" sz="3200" b="1" dirty="0"/>
              <a:t>闪灯程序</a:t>
            </a:r>
          </a:p>
        </p:txBody>
      </p:sp>
      <p:sp>
        <p:nvSpPr>
          <p:cNvPr id="4" name="文本框 3"/>
          <p:cNvSpPr txBox="1"/>
          <p:nvPr/>
        </p:nvSpPr>
        <p:spPr>
          <a:xfrm>
            <a:off x="641350" y="1295400"/>
            <a:ext cx="8312150" cy="4493538"/>
          </a:xfrm>
          <a:prstGeom prst="rect">
            <a:avLst/>
          </a:prstGeom>
          <a:noFill/>
        </p:spPr>
        <p:txBody>
          <a:bodyPr wrap="square" rtlCol="0">
            <a:spAutoFit/>
          </a:bodyPr>
          <a:lstStyle/>
          <a:p>
            <a:r>
              <a:rPr lang="en-US" altLang="zh-CN" sz="2200" dirty="0" err="1"/>
              <a:t>int</a:t>
            </a:r>
            <a:r>
              <a:rPr lang="en-US" altLang="zh-CN" sz="2200" dirty="0"/>
              <a:t> </a:t>
            </a:r>
            <a:r>
              <a:rPr lang="en-US" altLang="zh-CN" sz="2200" dirty="0" err="1"/>
              <a:t>LEDPin</a:t>
            </a:r>
            <a:r>
              <a:rPr lang="en-US" altLang="zh-CN" sz="2200" dirty="0"/>
              <a:t> = 3; </a:t>
            </a:r>
          </a:p>
          <a:p>
            <a:r>
              <a:rPr lang="en-US" altLang="zh-CN" sz="2200" dirty="0"/>
              <a:t>void setup()</a:t>
            </a:r>
          </a:p>
          <a:p>
            <a:r>
              <a:rPr lang="en-US" altLang="zh-CN" sz="2200" dirty="0"/>
              <a:t>{</a:t>
            </a:r>
          </a:p>
          <a:p>
            <a:r>
              <a:rPr lang="en-US" altLang="zh-CN" sz="2200" dirty="0"/>
              <a:t>  </a:t>
            </a:r>
            <a:r>
              <a:rPr lang="en-US" altLang="zh-CN" sz="2200" dirty="0" err="1"/>
              <a:t>pinMode</a:t>
            </a:r>
            <a:r>
              <a:rPr lang="en-US" altLang="zh-CN" sz="2200" dirty="0"/>
              <a:t>(</a:t>
            </a:r>
            <a:r>
              <a:rPr lang="en-US" altLang="zh-CN" sz="2200" dirty="0" err="1"/>
              <a:t>LEDPin</a:t>
            </a:r>
            <a:r>
              <a:rPr lang="en-US" altLang="zh-CN" sz="2200" dirty="0"/>
              <a:t>, OUTPUT);	//</a:t>
            </a:r>
            <a:r>
              <a:rPr lang="zh-CN" altLang="en-US" sz="2200" dirty="0"/>
              <a:t>将</a:t>
            </a:r>
            <a:r>
              <a:rPr lang="en-US" altLang="zh-CN" sz="2200" dirty="0"/>
              <a:t>3</a:t>
            </a:r>
            <a:r>
              <a:rPr lang="zh-CN" altLang="en-US" sz="2200" dirty="0"/>
              <a:t>引脚设置为输出引脚</a:t>
            </a:r>
          </a:p>
          <a:p>
            <a:r>
              <a:rPr lang="en-US" altLang="zh-CN" sz="2200" dirty="0"/>
              <a:t>} </a:t>
            </a:r>
          </a:p>
          <a:p>
            <a:endParaRPr lang="en-US" altLang="zh-CN" sz="2200" dirty="0"/>
          </a:p>
          <a:p>
            <a:r>
              <a:rPr lang="en-US" altLang="zh-CN" sz="2200" dirty="0"/>
              <a:t>void loop()</a:t>
            </a:r>
          </a:p>
          <a:p>
            <a:r>
              <a:rPr lang="en-US" altLang="zh-CN" sz="2200" dirty="0"/>
              <a:t>{</a:t>
            </a:r>
          </a:p>
          <a:p>
            <a:r>
              <a:rPr lang="en-US" altLang="zh-CN" sz="2200" dirty="0"/>
              <a:t>  </a:t>
            </a:r>
            <a:r>
              <a:rPr lang="en-US" altLang="zh-CN" sz="2200" dirty="0" err="1"/>
              <a:t>digitalWrite</a:t>
            </a:r>
            <a:r>
              <a:rPr lang="en-US" altLang="zh-CN" sz="2200" dirty="0"/>
              <a:t>(</a:t>
            </a:r>
            <a:r>
              <a:rPr lang="en-US" altLang="zh-CN" sz="2200" dirty="0" err="1"/>
              <a:t>LEDPin</a:t>
            </a:r>
            <a:r>
              <a:rPr lang="en-US" altLang="zh-CN" sz="2200" dirty="0"/>
              <a:t>, HIGH);  //3</a:t>
            </a:r>
            <a:r>
              <a:rPr lang="zh-CN" altLang="en-US" sz="2200" dirty="0"/>
              <a:t>引脚输出高电平，即将小灯点亮</a:t>
            </a:r>
          </a:p>
          <a:p>
            <a:r>
              <a:rPr lang="zh-CN" altLang="en-US" sz="2200" dirty="0"/>
              <a:t>  </a:t>
            </a:r>
            <a:r>
              <a:rPr lang="en-US" altLang="zh-CN" sz="2200" dirty="0"/>
              <a:t>delay(1000);</a:t>
            </a:r>
          </a:p>
          <a:p>
            <a:r>
              <a:rPr lang="en-US" altLang="zh-CN" sz="2200" dirty="0"/>
              <a:t>  </a:t>
            </a:r>
            <a:r>
              <a:rPr lang="en-US" altLang="zh-CN" sz="2200" dirty="0" err="1"/>
              <a:t>digitalWrite</a:t>
            </a:r>
            <a:r>
              <a:rPr lang="en-US" altLang="zh-CN" sz="2200" dirty="0"/>
              <a:t>(</a:t>
            </a:r>
            <a:r>
              <a:rPr lang="en-US" altLang="zh-CN" sz="2200" dirty="0" err="1"/>
              <a:t>LEDPin</a:t>
            </a:r>
            <a:r>
              <a:rPr lang="en-US" altLang="zh-CN" sz="2200" dirty="0"/>
              <a:t>, LOW);	//3</a:t>
            </a:r>
            <a:r>
              <a:rPr lang="zh-CN" altLang="en-US" sz="2200" dirty="0"/>
              <a:t>引脚输出低电平，即将小灯熄灭</a:t>
            </a:r>
          </a:p>
          <a:p>
            <a:r>
              <a:rPr lang="zh-CN" altLang="en-US" sz="2200" dirty="0"/>
              <a:t>  </a:t>
            </a:r>
            <a:r>
              <a:rPr lang="en-US" altLang="zh-CN" sz="2200" dirty="0"/>
              <a:t>delay(1000);</a:t>
            </a:r>
          </a:p>
          <a:p>
            <a:r>
              <a:rPr lang="en-US" altLang="zh-CN" sz="2200" dirty="0"/>
              <a:t>}</a:t>
            </a:r>
          </a:p>
        </p:txBody>
      </p:sp>
    </p:spTree>
  </p:cSld>
  <p:clrMapOvr>
    <a:masterClrMapping/>
  </p:clrMapOvr>
  <p:transition>
    <p:cover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Hello World</a:t>
            </a:r>
            <a:r>
              <a:rPr lang="zh-CN" altLang="en-US" dirty="0"/>
              <a:t>做了什么？</a:t>
            </a:r>
          </a:p>
        </p:txBody>
      </p:sp>
      <p:pic>
        <p:nvPicPr>
          <p:cNvPr id="4" name="图片 3"/>
          <p:cNvPicPr>
            <a:picLocks noChangeAspect="1"/>
          </p:cNvPicPr>
          <p:nvPr/>
        </p:nvPicPr>
        <p:blipFill>
          <a:blip r:embed="rId3"/>
          <a:stretch>
            <a:fillRect/>
          </a:stretch>
        </p:blipFill>
        <p:spPr>
          <a:xfrm>
            <a:off x="1366505" y="1817687"/>
            <a:ext cx="6410989" cy="4441825"/>
          </a:xfrm>
          <a:prstGeom prst="rect">
            <a:avLst/>
          </a:prstGeom>
        </p:spPr>
      </p:pic>
    </p:spTree>
  </p:cSld>
  <p:clrMapOvr>
    <a:masterClrMapping/>
  </p:clrMapOvr>
  <p:transition>
    <p:cover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a:t>
            </a:r>
            <a:r>
              <a:rPr lang="zh-CN" altLang="zh-CN" dirty="0"/>
              <a:t>语法——变量</a:t>
            </a:r>
            <a:endParaRPr lang="zh-CN" altLang="en-US" dirty="0"/>
          </a:p>
        </p:txBody>
      </p:sp>
      <p:sp>
        <p:nvSpPr>
          <p:cNvPr id="3" name="内容占位符 2"/>
          <p:cNvSpPr>
            <a:spLocks noGrp="1"/>
          </p:cNvSpPr>
          <p:nvPr>
            <p:ph idx="1"/>
          </p:nvPr>
        </p:nvSpPr>
        <p:spPr/>
        <p:txBody>
          <a:bodyPr/>
          <a:lstStyle/>
          <a:p>
            <a:pPr algn="just"/>
            <a:r>
              <a:rPr lang="zh-CN" altLang="zh-CN" dirty="0"/>
              <a:t>变量来源于数学，是计算机语言中能储存计算结果或者能表示某些值的一种抽象概念。通俗来说可以认为是给一个值命名。</a:t>
            </a:r>
            <a:endParaRPr lang="en-US" altLang="zh-CN" dirty="0"/>
          </a:p>
          <a:p>
            <a:pPr algn="just"/>
            <a:r>
              <a:rPr lang="zh-CN" altLang="zh-CN" dirty="0"/>
              <a:t>当定义一个变量时，必须指定变量的类型。</a:t>
            </a:r>
            <a:endParaRPr lang="en-US" altLang="zh-CN" dirty="0"/>
          </a:p>
          <a:p>
            <a:pPr algn="just"/>
            <a:r>
              <a:rPr lang="zh-CN" altLang="zh-CN" dirty="0"/>
              <a:t>一般变量的声明方法为类型名</a:t>
            </a:r>
            <a:r>
              <a:rPr lang="en-US" altLang="zh-CN" dirty="0"/>
              <a:t>+</a:t>
            </a:r>
            <a:r>
              <a:rPr lang="zh-CN" altLang="zh-CN" dirty="0"/>
              <a:t>变量名</a:t>
            </a:r>
            <a:r>
              <a:rPr lang="en-US" altLang="zh-CN" dirty="0"/>
              <a:t>+</a:t>
            </a:r>
            <a:r>
              <a:rPr lang="zh-CN" altLang="zh-CN" dirty="0"/>
              <a:t>变量初始化值。</a:t>
            </a:r>
            <a:endParaRPr lang="zh-CN" altLang="en-US" dirty="0"/>
          </a:p>
        </p:txBody>
      </p:sp>
    </p:spTree>
  </p:cSld>
  <p:clrMapOvr>
    <a:masterClrMapping/>
  </p:clrMapOvr>
  <p:transition>
    <p:cover di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a:t>
            </a:r>
            <a:r>
              <a:rPr lang="zh-CN" altLang="zh-CN" dirty="0"/>
              <a:t>语法——变量</a:t>
            </a:r>
            <a:endParaRPr lang="zh-CN" altLang="en-US" dirty="0"/>
          </a:p>
        </p:txBody>
      </p:sp>
      <p:sp>
        <p:nvSpPr>
          <p:cNvPr id="3" name="内容占位符 2"/>
          <p:cNvSpPr>
            <a:spLocks noGrp="1"/>
          </p:cNvSpPr>
          <p:nvPr>
            <p:ph idx="1"/>
          </p:nvPr>
        </p:nvSpPr>
        <p:spPr/>
        <p:txBody>
          <a:bodyPr/>
          <a:lstStyle/>
          <a:p>
            <a:pPr marL="0" indent="0" algn="just">
              <a:buNone/>
            </a:pPr>
            <a:r>
              <a:rPr lang="zh-CN" altLang="zh-CN" dirty="0"/>
              <a:t>如果要变量全是整数，这种变量称为整型（</a:t>
            </a:r>
            <a:r>
              <a:rPr lang="en-US" altLang="zh-CN" dirty="0" err="1"/>
              <a:t>int</a:t>
            </a:r>
            <a:r>
              <a:rPr lang="zh-CN" altLang="zh-CN" dirty="0"/>
              <a:t>），那么如果要定义一个名为</a:t>
            </a:r>
            <a:r>
              <a:rPr lang="en-US" altLang="zh-CN" dirty="0"/>
              <a:t>LED</a:t>
            </a:r>
            <a:r>
              <a:rPr lang="zh-CN" altLang="zh-CN" dirty="0"/>
              <a:t>的变量值为</a:t>
            </a:r>
            <a:r>
              <a:rPr lang="en-US" altLang="zh-CN" dirty="0"/>
              <a:t>11</a:t>
            </a:r>
            <a:r>
              <a:rPr lang="zh-CN" altLang="zh-CN" dirty="0"/>
              <a:t>，变量应该这样声明：</a:t>
            </a:r>
            <a:endParaRPr lang="en-US" altLang="zh-CN" dirty="0"/>
          </a:p>
          <a:p>
            <a:pPr marL="0" indent="0" algn="just">
              <a:buNone/>
            </a:pPr>
            <a:endParaRPr lang="en-US" altLang="zh-CN" dirty="0"/>
          </a:p>
          <a:p>
            <a:pPr marL="0" indent="0">
              <a:buNone/>
            </a:pPr>
            <a:r>
              <a:rPr lang="en-US" altLang="zh-CN" dirty="0"/>
              <a:t>int led = 11</a:t>
            </a:r>
            <a:r>
              <a:rPr lang="zh-CN" altLang="zh-CN" dirty="0"/>
              <a:t>；</a:t>
            </a:r>
            <a:endParaRPr lang="zh-CN" altLang="en-US" dirty="0"/>
          </a:p>
        </p:txBody>
      </p:sp>
    </p:spTree>
  </p:cSld>
  <p:clrMapOvr>
    <a:masterClrMapping/>
  </p:clrMapOvr>
  <p:transition>
    <p:cover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变量作用范围</a:t>
            </a:r>
          </a:p>
        </p:txBody>
      </p:sp>
      <p:sp>
        <p:nvSpPr>
          <p:cNvPr id="3" name="内容占位符 2"/>
          <p:cNvSpPr>
            <a:spLocks noGrp="1"/>
          </p:cNvSpPr>
          <p:nvPr>
            <p:ph idx="1"/>
          </p:nvPr>
        </p:nvSpPr>
        <p:spPr>
          <a:xfrm>
            <a:off x="685800" y="1632857"/>
            <a:ext cx="7772400" cy="4593772"/>
          </a:xfrm>
        </p:spPr>
        <p:txBody>
          <a:bodyPr/>
          <a:lstStyle/>
          <a:p>
            <a:r>
              <a:rPr lang="zh-CN" altLang="zh-CN" sz="2900" dirty="0"/>
              <a:t>全局变量：若在程序开头的声明区或是在没有大括号限制的声明区，所声明的变量作用域为整个程序。即整个程序都可以使用这个变量代表的值或范围，不局限于某个括号范围内。</a:t>
            </a:r>
          </a:p>
          <a:p>
            <a:r>
              <a:rPr lang="zh-CN" altLang="zh-CN" sz="2900" dirty="0"/>
              <a:t>局部变量：若在大括号内的声明区所声明的变量，其作用域将局限于大括号内。若在主程序与各函数中都声明了相同名称的变量，当离开主程序或函数时，该局部变量将自动消失。</a:t>
            </a:r>
            <a:endParaRPr lang="zh-CN" altLang="en-US" sz="2900" dirty="0"/>
          </a:p>
        </p:txBody>
      </p:sp>
    </p:spTree>
  </p:cSld>
  <p:clrMapOvr>
    <a:masterClrMapping/>
  </p:clrMapOvr>
  <p:transition>
    <p:cover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3505200" cy="489857"/>
          </a:xfrm>
          <a:solidFill>
            <a:schemeClr val="bg1">
              <a:lumMod val="85000"/>
            </a:schemeClr>
          </a:solidFill>
        </p:spPr>
        <p:txBody>
          <a:bodyPr/>
          <a:lstStyle/>
          <a:p>
            <a:pPr algn="l"/>
            <a:r>
              <a:rPr lang="zh-CN" altLang="zh-CN" sz="3200" b="1" dirty="0"/>
              <a:t>带变量的闪灯程序</a:t>
            </a:r>
            <a:endParaRPr lang="zh-CN" altLang="en-US" sz="3200" b="1" dirty="0"/>
          </a:p>
        </p:txBody>
      </p:sp>
      <p:sp>
        <p:nvSpPr>
          <p:cNvPr id="3" name="内容占位符 2"/>
          <p:cNvSpPr>
            <a:spLocks noGrp="1"/>
          </p:cNvSpPr>
          <p:nvPr>
            <p:ph idx="1"/>
          </p:nvPr>
        </p:nvSpPr>
        <p:spPr>
          <a:xfrm>
            <a:off x="685800" y="1099457"/>
            <a:ext cx="7772400" cy="5246914"/>
          </a:xfrm>
        </p:spPr>
        <p:txBody>
          <a:bodyPr/>
          <a:lstStyle/>
          <a:p>
            <a:pPr marL="0" indent="0">
              <a:buNone/>
            </a:pPr>
            <a:r>
              <a:rPr lang="en-US" altLang="zh-CN" sz="2200" dirty="0" err="1"/>
              <a:t>int</a:t>
            </a:r>
            <a:r>
              <a:rPr lang="en-US" altLang="zh-CN" sz="2200" dirty="0"/>
              <a:t> </a:t>
            </a:r>
            <a:r>
              <a:rPr lang="en-US" altLang="zh-CN" sz="2200" dirty="0" err="1"/>
              <a:t>ledPin</a:t>
            </a:r>
            <a:r>
              <a:rPr lang="en-US" altLang="zh-CN" sz="2200" dirty="0"/>
              <a:t> = 13;</a:t>
            </a:r>
          </a:p>
          <a:p>
            <a:pPr marL="0" indent="0">
              <a:buNone/>
            </a:pPr>
            <a:r>
              <a:rPr lang="en-US" altLang="zh-CN" sz="2200" dirty="0" err="1"/>
              <a:t>int</a:t>
            </a:r>
            <a:r>
              <a:rPr lang="en-US" altLang="zh-CN" sz="2200" dirty="0"/>
              <a:t> </a:t>
            </a:r>
            <a:r>
              <a:rPr lang="en-US" altLang="zh-CN" sz="2200" dirty="0" err="1"/>
              <a:t>delayTime</a:t>
            </a:r>
            <a:r>
              <a:rPr lang="en-US" altLang="zh-CN" sz="2200" dirty="0"/>
              <a:t> = 1000;</a:t>
            </a:r>
          </a:p>
          <a:p>
            <a:pPr marL="0" indent="0">
              <a:buNone/>
            </a:pPr>
            <a:r>
              <a:rPr lang="en-US" altLang="zh-CN" sz="2200" dirty="0"/>
              <a:t>void setup()</a:t>
            </a:r>
          </a:p>
          <a:p>
            <a:pPr marL="0" indent="0">
              <a:buNone/>
            </a:pPr>
            <a:r>
              <a:rPr lang="en-US" altLang="zh-CN" sz="2200" dirty="0"/>
              <a:t>{</a:t>
            </a:r>
          </a:p>
          <a:p>
            <a:pPr marL="0" indent="0">
              <a:buNone/>
            </a:pPr>
            <a:r>
              <a:rPr lang="en-US" altLang="zh-CN" sz="2200" dirty="0"/>
              <a:t>	</a:t>
            </a:r>
            <a:r>
              <a:rPr lang="en-US" altLang="zh-CN" sz="2200" dirty="0" err="1"/>
              <a:t>pinMode</a:t>
            </a:r>
            <a:r>
              <a:rPr lang="en-US" altLang="zh-CN" sz="2200" dirty="0"/>
              <a:t>(</a:t>
            </a:r>
            <a:r>
              <a:rPr lang="en-US" altLang="zh-CN" sz="2200" dirty="0" err="1"/>
              <a:t>ledPin,OUTPUT</a:t>
            </a:r>
            <a:r>
              <a:rPr lang="en-US" altLang="zh-CN" sz="2200" dirty="0"/>
              <a:t>);</a:t>
            </a:r>
          </a:p>
          <a:p>
            <a:pPr marL="0" indent="0">
              <a:buNone/>
            </a:pPr>
            <a:r>
              <a:rPr lang="en-US" altLang="zh-CN" sz="2200" dirty="0"/>
              <a:t>}</a:t>
            </a:r>
          </a:p>
          <a:p>
            <a:pPr marL="0" indent="0">
              <a:buNone/>
            </a:pPr>
            <a:r>
              <a:rPr lang="en-US" altLang="zh-CN" sz="2200" dirty="0"/>
              <a:t>void loop()</a:t>
            </a:r>
          </a:p>
          <a:p>
            <a:pPr marL="0" indent="0">
              <a:buNone/>
            </a:pPr>
            <a:r>
              <a:rPr lang="en-US" altLang="zh-CN" sz="2200" dirty="0"/>
              <a:t>{</a:t>
            </a:r>
          </a:p>
          <a:p>
            <a:pPr marL="0" indent="0">
              <a:buNone/>
            </a:pPr>
            <a:r>
              <a:rPr lang="en-US" altLang="zh-CN" sz="2200" dirty="0"/>
              <a:t>	</a:t>
            </a:r>
            <a:r>
              <a:rPr lang="en-US" altLang="zh-CN" sz="2200" dirty="0" err="1"/>
              <a:t>digitalWrite</a:t>
            </a:r>
            <a:r>
              <a:rPr lang="en-US" altLang="zh-CN" sz="2200" dirty="0"/>
              <a:t>(</a:t>
            </a:r>
            <a:r>
              <a:rPr lang="en-US" altLang="zh-CN" sz="2200" dirty="0" err="1"/>
              <a:t>ledPin,HIGH</a:t>
            </a:r>
            <a:r>
              <a:rPr lang="en-US" altLang="zh-CN" sz="2200" dirty="0"/>
              <a:t>);</a:t>
            </a:r>
          </a:p>
          <a:p>
            <a:pPr marL="0" indent="0">
              <a:buNone/>
            </a:pPr>
            <a:r>
              <a:rPr lang="en-US" altLang="zh-CN" sz="2200" dirty="0"/>
              <a:t>	delay(</a:t>
            </a:r>
            <a:r>
              <a:rPr lang="en-US" altLang="zh-CN" sz="2200" dirty="0" err="1"/>
              <a:t>delayTime</a:t>
            </a:r>
            <a:r>
              <a:rPr lang="en-US" altLang="zh-CN" sz="2200" dirty="0"/>
              <a:t>);				//</a:t>
            </a:r>
            <a:r>
              <a:rPr lang="zh-CN" altLang="en-US" sz="2200" dirty="0"/>
              <a:t>延时</a:t>
            </a:r>
            <a:r>
              <a:rPr lang="en-US" altLang="zh-CN" sz="2200" dirty="0"/>
              <a:t>1s</a:t>
            </a:r>
          </a:p>
          <a:p>
            <a:pPr marL="0" indent="0">
              <a:buNone/>
            </a:pPr>
            <a:r>
              <a:rPr lang="en-US" altLang="zh-CN" sz="2200" dirty="0"/>
              <a:t>	</a:t>
            </a:r>
            <a:r>
              <a:rPr lang="en-US" altLang="zh-CN" sz="2200" dirty="0" err="1"/>
              <a:t>digitalWrite</a:t>
            </a:r>
            <a:r>
              <a:rPr lang="en-US" altLang="zh-CN" sz="2200" dirty="0"/>
              <a:t>(</a:t>
            </a:r>
            <a:r>
              <a:rPr lang="en-US" altLang="zh-CN" sz="2200" dirty="0" err="1"/>
              <a:t>ledPin,LOW</a:t>
            </a:r>
            <a:r>
              <a:rPr lang="en-US" altLang="zh-CN" sz="2200" dirty="0"/>
              <a:t>);</a:t>
            </a:r>
          </a:p>
          <a:p>
            <a:pPr marL="0" indent="0">
              <a:buNone/>
            </a:pPr>
            <a:r>
              <a:rPr lang="en-US" altLang="zh-CN" sz="2200" dirty="0"/>
              <a:t>	delay(</a:t>
            </a:r>
            <a:r>
              <a:rPr lang="en-US" altLang="zh-CN" sz="2200" dirty="0" err="1"/>
              <a:t>delayTime</a:t>
            </a:r>
            <a:r>
              <a:rPr lang="en-US" altLang="zh-CN" sz="2200" dirty="0"/>
              <a:t>);				//</a:t>
            </a:r>
            <a:r>
              <a:rPr lang="zh-CN" altLang="en-US" sz="2200" dirty="0"/>
              <a:t>延时</a:t>
            </a:r>
            <a:r>
              <a:rPr lang="en-US" altLang="zh-CN" sz="2200" dirty="0"/>
              <a:t>1s</a:t>
            </a:r>
          </a:p>
          <a:p>
            <a:pPr marL="0" indent="0">
              <a:buNone/>
            </a:pPr>
            <a:r>
              <a:rPr lang="en-US" altLang="zh-CN" sz="2200" dirty="0"/>
              <a:t>}</a:t>
            </a:r>
          </a:p>
          <a:p>
            <a:pPr marL="0" indent="0">
              <a:buNone/>
            </a:pPr>
            <a:endParaRPr lang="zh-CN" altLang="en-US" dirty="0"/>
          </a:p>
        </p:txBody>
      </p:sp>
    </p:spTree>
  </p:cSld>
  <p:clrMapOvr>
    <a:masterClrMapping/>
  </p:clrMapOvr>
  <p:transition>
    <p:cover di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4702629" cy="533400"/>
          </a:xfrm>
          <a:solidFill>
            <a:schemeClr val="bg1">
              <a:lumMod val="85000"/>
            </a:schemeClr>
          </a:solidFill>
        </p:spPr>
        <p:txBody>
          <a:bodyPr/>
          <a:lstStyle/>
          <a:p>
            <a:pPr algn="l"/>
            <a:r>
              <a:rPr lang="zh-CN" altLang="zh-CN" sz="3200" b="1" dirty="0"/>
              <a:t>改变闪烁频率的闪灯程序</a:t>
            </a:r>
            <a:endParaRPr lang="zh-CN" altLang="en-US" sz="3200" b="1" dirty="0"/>
          </a:p>
        </p:txBody>
      </p:sp>
      <p:sp>
        <p:nvSpPr>
          <p:cNvPr id="3" name="内容占位符 2"/>
          <p:cNvSpPr>
            <a:spLocks noGrp="1"/>
          </p:cNvSpPr>
          <p:nvPr>
            <p:ph idx="1"/>
          </p:nvPr>
        </p:nvSpPr>
        <p:spPr>
          <a:xfrm>
            <a:off x="685800" y="1142999"/>
            <a:ext cx="7772400" cy="5138057"/>
          </a:xfrm>
        </p:spPr>
        <p:txBody>
          <a:bodyPr/>
          <a:lstStyle/>
          <a:p>
            <a:pPr marL="0" indent="0">
              <a:buNone/>
            </a:pPr>
            <a:r>
              <a:rPr lang="en-US" altLang="zh-CN" sz="2000" dirty="0" err="1"/>
              <a:t>int</a:t>
            </a:r>
            <a:r>
              <a:rPr lang="en-US" altLang="zh-CN" sz="2000" dirty="0"/>
              <a:t> </a:t>
            </a:r>
            <a:r>
              <a:rPr lang="en-US" altLang="zh-CN" sz="2000" dirty="0" err="1"/>
              <a:t>ledPin</a:t>
            </a:r>
            <a:r>
              <a:rPr lang="en-US" altLang="zh-CN" sz="2000" dirty="0"/>
              <a:t> = 13;</a:t>
            </a:r>
          </a:p>
          <a:p>
            <a:pPr marL="0" indent="0">
              <a:buNone/>
            </a:pPr>
            <a:r>
              <a:rPr lang="en-US" altLang="zh-CN" sz="2000" dirty="0" err="1"/>
              <a:t>int</a:t>
            </a:r>
            <a:r>
              <a:rPr lang="en-US" altLang="zh-CN" sz="2000" dirty="0"/>
              <a:t> </a:t>
            </a:r>
            <a:r>
              <a:rPr lang="en-US" altLang="zh-CN" sz="2000" dirty="0" err="1"/>
              <a:t>delayTime</a:t>
            </a:r>
            <a:r>
              <a:rPr lang="en-US" altLang="zh-CN" sz="2000" dirty="0"/>
              <a:t> = 1000;</a:t>
            </a:r>
          </a:p>
          <a:p>
            <a:pPr marL="0" indent="0">
              <a:buNone/>
            </a:pPr>
            <a:r>
              <a:rPr lang="en-US" altLang="zh-CN" sz="2000" dirty="0"/>
              <a:t>void setup()</a:t>
            </a:r>
          </a:p>
          <a:p>
            <a:pPr marL="0" indent="0">
              <a:buNone/>
            </a:pPr>
            <a:r>
              <a:rPr lang="en-US" altLang="zh-CN" sz="2000" dirty="0"/>
              <a:t>{</a:t>
            </a:r>
          </a:p>
          <a:p>
            <a:pPr marL="0" indent="0">
              <a:buNone/>
            </a:pPr>
            <a:r>
              <a:rPr lang="en-US" altLang="zh-CN" sz="2000" dirty="0"/>
              <a:t>	</a:t>
            </a:r>
            <a:r>
              <a:rPr lang="en-US" altLang="zh-CN" sz="2000" dirty="0" err="1"/>
              <a:t>pinMode</a:t>
            </a:r>
            <a:r>
              <a:rPr lang="en-US" altLang="zh-CN" sz="2000" dirty="0"/>
              <a:t>(</a:t>
            </a:r>
            <a:r>
              <a:rPr lang="en-US" altLang="zh-CN" sz="2000" dirty="0" err="1"/>
              <a:t>ledPin,OUTPUT</a:t>
            </a:r>
            <a:r>
              <a:rPr lang="en-US" altLang="zh-CN" sz="2000" dirty="0"/>
              <a:t>);</a:t>
            </a:r>
          </a:p>
          <a:p>
            <a:pPr marL="0" indent="0">
              <a:buNone/>
            </a:pPr>
            <a:r>
              <a:rPr lang="en-US" altLang="zh-CN" sz="2000" dirty="0"/>
              <a:t>}</a:t>
            </a:r>
          </a:p>
          <a:p>
            <a:pPr marL="0" indent="0">
              <a:buNone/>
            </a:pPr>
            <a:r>
              <a:rPr lang="en-US" altLang="zh-CN" sz="2000" dirty="0"/>
              <a:t>void loop()</a:t>
            </a:r>
          </a:p>
          <a:p>
            <a:pPr marL="0" indent="0">
              <a:buNone/>
            </a:pPr>
            <a:r>
              <a:rPr lang="en-US" altLang="zh-CN" sz="2000" dirty="0"/>
              <a:t>{</a:t>
            </a:r>
          </a:p>
          <a:p>
            <a:pPr marL="0" indent="0">
              <a:buNone/>
            </a:pPr>
            <a:r>
              <a:rPr lang="en-US" altLang="zh-CN" sz="2000" dirty="0"/>
              <a:t>	</a:t>
            </a:r>
            <a:r>
              <a:rPr lang="en-US" altLang="zh-CN" sz="2000" dirty="0" err="1"/>
              <a:t>digitalWrite</a:t>
            </a:r>
            <a:r>
              <a:rPr lang="en-US" altLang="zh-CN" sz="2000" dirty="0"/>
              <a:t>(</a:t>
            </a:r>
            <a:r>
              <a:rPr lang="en-US" altLang="zh-CN" sz="2000" dirty="0" err="1"/>
              <a:t>ledPin,HIGH</a:t>
            </a:r>
            <a:r>
              <a:rPr lang="en-US" altLang="zh-CN" sz="2000" dirty="0"/>
              <a:t>);</a:t>
            </a:r>
          </a:p>
          <a:p>
            <a:pPr marL="0" indent="0">
              <a:buNone/>
            </a:pPr>
            <a:r>
              <a:rPr lang="en-US" altLang="zh-CN" sz="2000" dirty="0"/>
              <a:t>	delay(</a:t>
            </a:r>
            <a:r>
              <a:rPr lang="en-US" altLang="zh-CN" sz="2000" dirty="0" err="1"/>
              <a:t>delayTime</a:t>
            </a:r>
            <a:r>
              <a:rPr lang="en-US" altLang="zh-CN" sz="2000" dirty="0"/>
              <a:t>);		//</a:t>
            </a:r>
            <a:r>
              <a:rPr lang="zh-CN" altLang="en-US" sz="2000" dirty="0"/>
              <a:t>延时</a:t>
            </a:r>
          </a:p>
          <a:p>
            <a:pPr marL="0" indent="0">
              <a:buNone/>
            </a:pPr>
            <a:r>
              <a:rPr lang="zh-CN" altLang="en-US" sz="2000" dirty="0"/>
              <a:t>	</a:t>
            </a:r>
            <a:r>
              <a:rPr lang="en-US" altLang="zh-CN" sz="2000" dirty="0" err="1"/>
              <a:t>digitalWrite</a:t>
            </a:r>
            <a:r>
              <a:rPr lang="en-US" altLang="zh-CN" sz="2000" dirty="0"/>
              <a:t>(</a:t>
            </a:r>
            <a:r>
              <a:rPr lang="en-US" altLang="zh-CN" sz="2000" dirty="0" err="1"/>
              <a:t>ledPin,LOW</a:t>
            </a:r>
            <a:r>
              <a:rPr lang="en-US" altLang="zh-CN" sz="2000" dirty="0"/>
              <a:t>);</a:t>
            </a:r>
          </a:p>
          <a:p>
            <a:pPr marL="0" indent="0">
              <a:buNone/>
            </a:pPr>
            <a:r>
              <a:rPr lang="en-US" altLang="zh-CN" sz="2000" dirty="0"/>
              <a:t>	delay(</a:t>
            </a:r>
            <a:r>
              <a:rPr lang="en-US" altLang="zh-CN" sz="2000" dirty="0" err="1"/>
              <a:t>delayTime</a:t>
            </a:r>
            <a:r>
              <a:rPr lang="en-US" altLang="zh-CN" sz="2000" dirty="0"/>
              <a:t>);</a:t>
            </a:r>
          </a:p>
          <a:p>
            <a:pPr marL="0" indent="0">
              <a:buNone/>
            </a:pPr>
            <a:r>
              <a:rPr lang="en-US" altLang="zh-CN" sz="2000" dirty="0"/>
              <a:t>	</a:t>
            </a:r>
            <a:r>
              <a:rPr lang="en-US" altLang="zh-CN" sz="2000" dirty="0" err="1"/>
              <a:t>delayTime</a:t>
            </a:r>
            <a:r>
              <a:rPr lang="en-US" altLang="zh-CN" sz="2000" dirty="0"/>
              <a:t>=delayTime+100;	//</a:t>
            </a:r>
            <a:r>
              <a:rPr lang="zh-CN" altLang="en-US" sz="2000" dirty="0"/>
              <a:t>每次增加延时时间</a:t>
            </a:r>
            <a:r>
              <a:rPr lang="en-US" altLang="zh-CN" sz="2000" dirty="0"/>
              <a:t>0.1s</a:t>
            </a:r>
          </a:p>
          <a:p>
            <a:pPr marL="0" indent="0">
              <a:buNone/>
            </a:pPr>
            <a:r>
              <a:rPr lang="en-US" altLang="zh-CN" sz="2000" dirty="0"/>
              <a:t>}</a:t>
            </a:r>
          </a:p>
          <a:p>
            <a:pPr marL="0" indent="0">
              <a:buNone/>
            </a:pPr>
            <a:endParaRPr lang="zh-CN" altLang="en-US" dirty="0"/>
          </a:p>
        </p:txBody>
      </p:sp>
    </p:spTree>
  </p:cSld>
  <p:clrMapOvr>
    <a:masterClrMapping/>
  </p:clrMapOvr>
  <p:transition>
    <p:cover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a:t>
            </a:r>
            <a:r>
              <a:rPr lang="zh-CN" altLang="zh-CN" dirty="0"/>
              <a:t>语法——</a:t>
            </a:r>
            <a:r>
              <a:rPr lang="zh-CN" altLang="en-US" dirty="0"/>
              <a:t>常</a:t>
            </a:r>
            <a:r>
              <a:rPr lang="zh-CN" altLang="zh-CN" dirty="0"/>
              <a:t>量</a:t>
            </a:r>
            <a:endParaRPr lang="zh-CN" altLang="en-US" dirty="0"/>
          </a:p>
        </p:txBody>
      </p:sp>
      <p:sp>
        <p:nvSpPr>
          <p:cNvPr id="3" name="内容占位符 2"/>
          <p:cNvSpPr>
            <a:spLocks noGrp="1"/>
          </p:cNvSpPr>
          <p:nvPr>
            <p:ph idx="1"/>
          </p:nvPr>
        </p:nvSpPr>
        <p:spPr/>
        <p:txBody>
          <a:bodyPr/>
          <a:lstStyle/>
          <a:p>
            <a:pPr marL="0" indent="0" algn="just">
              <a:buNone/>
            </a:pPr>
            <a:r>
              <a:rPr lang="zh-CN" altLang="zh-CN" dirty="0"/>
              <a:t>常量是指值不可以改变的量，例如定义常量</a:t>
            </a:r>
            <a:r>
              <a:rPr lang="en-US" altLang="zh-CN" dirty="0" err="1"/>
              <a:t>const</a:t>
            </a:r>
            <a:r>
              <a:rPr lang="en-US" altLang="zh-CN" dirty="0"/>
              <a:t> float pi = 3.14</a:t>
            </a:r>
            <a:r>
              <a:rPr lang="zh-CN" altLang="zh-CN" dirty="0"/>
              <a:t>，当</a:t>
            </a:r>
            <a:r>
              <a:rPr lang="en-US" altLang="zh-CN" dirty="0"/>
              <a:t>pi = 5</a:t>
            </a:r>
            <a:r>
              <a:rPr lang="zh-CN" altLang="zh-CN" dirty="0"/>
              <a:t>时就会报错，因为常量是不可以被赋值的。编程时，常量可以是自定义的，也可以是</a:t>
            </a:r>
            <a:r>
              <a:rPr lang="en-US" altLang="zh-CN" dirty="0"/>
              <a:t>Arduino</a:t>
            </a:r>
            <a:r>
              <a:rPr lang="zh-CN" altLang="zh-CN" dirty="0"/>
              <a:t>核心代码中自带的。</a:t>
            </a:r>
            <a:endParaRPr lang="zh-CN" altLang="en-US" dirty="0"/>
          </a:p>
        </p:txBody>
      </p:sp>
    </p:spTree>
  </p:cSld>
  <p:clrMapOvr>
    <a:masterClrMapping/>
  </p:clrMapOvr>
  <p:transition>
    <p:cover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sz="3600" dirty="0"/>
              <a:t>逻辑常量（布尔常量）：</a:t>
            </a:r>
            <a:r>
              <a:rPr lang="en-US" altLang="zh-CN" sz="3600" dirty="0"/>
              <a:t>false</a:t>
            </a:r>
            <a:r>
              <a:rPr lang="zh-CN" altLang="zh-CN" sz="3600" dirty="0"/>
              <a:t>和</a:t>
            </a:r>
            <a:r>
              <a:rPr lang="en-US" altLang="zh-CN" sz="3600" dirty="0"/>
              <a:t>true</a:t>
            </a:r>
            <a:endParaRPr lang="zh-CN" altLang="en-US" sz="3600" dirty="0"/>
          </a:p>
        </p:txBody>
      </p:sp>
      <p:sp>
        <p:nvSpPr>
          <p:cNvPr id="3" name="内容占位符 2"/>
          <p:cNvSpPr>
            <a:spLocks noGrp="1"/>
          </p:cNvSpPr>
          <p:nvPr>
            <p:ph idx="1"/>
          </p:nvPr>
        </p:nvSpPr>
        <p:spPr/>
        <p:txBody>
          <a:bodyPr/>
          <a:lstStyle/>
          <a:p>
            <a:pPr marL="0" indent="0" algn="just">
              <a:buNone/>
            </a:pPr>
            <a:r>
              <a:rPr lang="en-US" altLang="zh-CN" dirty="0"/>
              <a:t>false</a:t>
            </a:r>
            <a:r>
              <a:rPr lang="zh-CN" altLang="zh-CN" dirty="0"/>
              <a:t>的值为零，</a:t>
            </a:r>
            <a:r>
              <a:rPr lang="en-US" altLang="zh-CN" dirty="0"/>
              <a:t>true</a:t>
            </a:r>
            <a:r>
              <a:rPr lang="zh-CN" altLang="zh-CN" dirty="0"/>
              <a:t>通常情况下被定义为</a:t>
            </a:r>
            <a:r>
              <a:rPr lang="en-US" altLang="zh-CN" dirty="0"/>
              <a:t>1</a:t>
            </a:r>
            <a:r>
              <a:rPr lang="zh-CN" altLang="zh-CN" dirty="0"/>
              <a:t>，但</a:t>
            </a:r>
            <a:r>
              <a:rPr lang="en-US" altLang="zh-CN" dirty="0"/>
              <a:t>true</a:t>
            </a:r>
            <a:r>
              <a:rPr lang="zh-CN" altLang="zh-CN" dirty="0"/>
              <a:t>具有更广泛的定义。在布尔含义（</a:t>
            </a:r>
            <a:r>
              <a:rPr lang="en-US" altLang="zh-CN" dirty="0"/>
              <a:t>Boolean Sense</a:t>
            </a:r>
            <a:r>
              <a:rPr lang="zh-CN" altLang="zh-CN" dirty="0"/>
              <a:t>）里任何非零整数为</a:t>
            </a:r>
            <a:r>
              <a:rPr lang="en-US" altLang="zh-CN" dirty="0"/>
              <a:t>true</a:t>
            </a:r>
            <a:r>
              <a:rPr lang="zh-CN" altLang="zh-CN" dirty="0"/>
              <a:t>。所以在布尔含义中</a:t>
            </a:r>
            <a:r>
              <a:rPr lang="en-US" altLang="zh-CN" dirty="0"/>
              <a:t>-1</a:t>
            </a:r>
            <a:r>
              <a:rPr lang="zh-CN" altLang="zh-CN" dirty="0"/>
              <a:t>、</a:t>
            </a:r>
            <a:r>
              <a:rPr lang="en-US" altLang="zh-CN" dirty="0"/>
              <a:t>2</a:t>
            </a:r>
            <a:r>
              <a:rPr lang="zh-CN" altLang="zh-CN" dirty="0"/>
              <a:t>和</a:t>
            </a:r>
            <a:r>
              <a:rPr lang="en-US" altLang="zh-CN" dirty="0"/>
              <a:t>-200</a:t>
            </a:r>
            <a:r>
              <a:rPr lang="zh-CN" altLang="zh-CN" dirty="0"/>
              <a:t>都定义为</a:t>
            </a:r>
            <a:r>
              <a:rPr lang="en-US" altLang="zh-CN" dirty="0"/>
              <a:t>true</a:t>
            </a:r>
            <a:r>
              <a:rPr lang="zh-CN" altLang="zh-CN" dirty="0"/>
              <a:t>。</a:t>
            </a:r>
            <a:endParaRPr lang="zh-CN" altLang="en-US" dirty="0"/>
          </a:p>
        </p:txBody>
      </p:sp>
    </p:spTree>
  </p:cSld>
  <p:clrMapOvr>
    <a:masterClrMapping/>
  </p:clrMapOvr>
  <p:transition>
    <p:cover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799" y="609600"/>
            <a:ext cx="7772401" cy="1143000"/>
          </a:xfrm>
        </p:spPr>
        <p:txBody>
          <a:bodyPr/>
          <a:lstStyle/>
          <a:p>
            <a:pPr algn="l"/>
            <a:r>
              <a:rPr lang="zh-CN" altLang="zh-CN" sz="4000" dirty="0"/>
              <a:t>数字引脚常量：</a:t>
            </a:r>
            <a:r>
              <a:rPr lang="en-US" altLang="zh-CN" sz="4000" dirty="0"/>
              <a:t>INPUT</a:t>
            </a:r>
            <a:r>
              <a:rPr lang="zh-CN" altLang="zh-CN" sz="4000" dirty="0"/>
              <a:t>和</a:t>
            </a:r>
            <a:r>
              <a:rPr lang="en-US" altLang="zh-CN" sz="4000" dirty="0"/>
              <a:t>OUTPUT</a:t>
            </a:r>
            <a:endParaRPr lang="zh-CN" altLang="en-US" sz="4000" dirty="0"/>
          </a:p>
        </p:txBody>
      </p:sp>
      <p:sp>
        <p:nvSpPr>
          <p:cNvPr id="3" name="内容占位符 2"/>
          <p:cNvSpPr>
            <a:spLocks noGrp="1"/>
          </p:cNvSpPr>
          <p:nvPr>
            <p:ph idx="1"/>
          </p:nvPr>
        </p:nvSpPr>
        <p:spPr/>
        <p:txBody>
          <a:bodyPr/>
          <a:lstStyle/>
          <a:p>
            <a:pPr marL="0" indent="0" algn="just">
              <a:buNone/>
            </a:pPr>
            <a:r>
              <a:rPr lang="zh-CN" altLang="zh-CN" dirty="0"/>
              <a:t>这两个常量必须是大写的。当引脚被配置成</a:t>
            </a:r>
            <a:r>
              <a:rPr lang="en-US" altLang="zh-CN" dirty="0"/>
              <a:t>INPUT</a:t>
            </a:r>
            <a:r>
              <a:rPr lang="zh-CN" altLang="zh-CN" dirty="0"/>
              <a:t>时，此引脚就从引脚读取数据；当引脚被配置成</a:t>
            </a:r>
            <a:r>
              <a:rPr lang="en-US" altLang="zh-CN" dirty="0"/>
              <a:t>OUTPUT</a:t>
            </a:r>
            <a:r>
              <a:rPr lang="zh-CN" altLang="zh-CN" dirty="0"/>
              <a:t>时，此引脚向外部电路输出数据。在前面程序中经常出现的</a:t>
            </a:r>
            <a:r>
              <a:rPr lang="en-US" altLang="zh-CN" dirty="0" err="1"/>
              <a:t>pinMode</a:t>
            </a:r>
            <a:r>
              <a:rPr lang="en-US" altLang="zh-CN" dirty="0"/>
              <a:t>(</a:t>
            </a:r>
            <a:r>
              <a:rPr lang="en-US" altLang="zh-CN" dirty="0" err="1"/>
              <a:t>ledPin,OUTPUT</a:t>
            </a:r>
            <a:r>
              <a:rPr lang="en-US" altLang="zh-CN" dirty="0"/>
              <a:t>)</a:t>
            </a:r>
            <a:r>
              <a:rPr lang="zh-CN" altLang="zh-CN" dirty="0"/>
              <a:t>，表示从</a:t>
            </a:r>
            <a:r>
              <a:rPr lang="en-US" altLang="zh-CN" dirty="0" err="1"/>
              <a:t>ledPin</a:t>
            </a:r>
            <a:r>
              <a:rPr lang="zh-CN" altLang="zh-CN" dirty="0"/>
              <a:t>代表的引脚向外部电路输出数据，使得小灯能够变亮或者熄灭。</a:t>
            </a:r>
            <a:endParaRPr lang="zh-CN" altLang="en-US" dirty="0"/>
          </a:p>
        </p:txBody>
      </p:sp>
    </p:spTree>
  </p:cSld>
  <p:clrMapOvr>
    <a:masterClrMapping/>
  </p:clrMapOvr>
  <p:transition>
    <p:cover di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引脚电压常量：</a:t>
            </a:r>
            <a:r>
              <a:rPr lang="en-US" altLang="zh-CN" dirty="0"/>
              <a:t>HIGH</a:t>
            </a:r>
            <a:r>
              <a:rPr lang="zh-CN" altLang="zh-CN" dirty="0"/>
              <a:t>和</a:t>
            </a:r>
            <a:r>
              <a:rPr lang="en-US" altLang="zh-CN" dirty="0"/>
              <a:t>LOW</a:t>
            </a:r>
            <a:endParaRPr lang="zh-CN" altLang="en-US" dirty="0"/>
          </a:p>
        </p:txBody>
      </p:sp>
      <p:sp>
        <p:nvSpPr>
          <p:cNvPr id="3" name="内容占位符 2"/>
          <p:cNvSpPr>
            <a:spLocks noGrp="1"/>
          </p:cNvSpPr>
          <p:nvPr>
            <p:ph idx="1"/>
          </p:nvPr>
        </p:nvSpPr>
        <p:spPr>
          <a:xfrm>
            <a:off x="685800" y="1654629"/>
            <a:ext cx="7772400" cy="4844142"/>
          </a:xfrm>
        </p:spPr>
        <p:txBody>
          <a:bodyPr/>
          <a:lstStyle/>
          <a:p>
            <a:pPr marL="0" indent="0" algn="just">
              <a:buNone/>
            </a:pPr>
            <a:r>
              <a:rPr lang="zh-CN" altLang="zh-CN" sz="2800" dirty="0"/>
              <a:t>这两个常量也是必须大写的。</a:t>
            </a:r>
            <a:r>
              <a:rPr lang="en-US" altLang="zh-CN" sz="2800" dirty="0"/>
              <a:t>HIGH</a:t>
            </a:r>
            <a:r>
              <a:rPr lang="zh-CN" altLang="zh-CN" sz="2800" dirty="0"/>
              <a:t>表示的是高电位，</a:t>
            </a:r>
            <a:r>
              <a:rPr lang="en-US" altLang="zh-CN" sz="2800" dirty="0"/>
              <a:t>LOW</a:t>
            </a:r>
            <a:r>
              <a:rPr lang="zh-CN" altLang="zh-CN" sz="2800" dirty="0"/>
              <a:t>表示的是低电位。例如：</a:t>
            </a:r>
            <a:r>
              <a:rPr lang="en-US" altLang="zh-CN" sz="2800" dirty="0" err="1"/>
              <a:t>digitalWrite</a:t>
            </a:r>
            <a:r>
              <a:rPr lang="zh-CN" altLang="zh-CN" sz="2800" dirty="0"/>
              <a:t>（</a:t>
            </a:r>
            <a:r>
              <a:rPr lang="en-US" altLang="zh-CN" sz="2800" dirty="0"/>
              <a:t>pin</a:t>
            </a:r>
            <a:r>
              <a:rPr lang="zh-CN" altLang="zh-CN" sz="2800" dirty="0"/>
              <a:t>，</a:t>
            </a:r>
            <a:r>
              <a:rPr lang="en-US" altLang="zh-CN" sz="2800" dirty="0"/>
              <a:t>HIGH</a:t>
            </a:r>
            <a:r>
              <a:rPr lang="zh-CN" altLang="zh-CN" sz="2800" dirty="0"/>
              <a:t>）；就是将</a:t>
            </a:r>
            <a:r>
              <a:rPr lang="en-US" altLang="zh-CN" sz="2800" dirty="0"/>
              <a:t>pin</a:t>
            </a:r>
            <a:r>
              <a:rPr lang="zh-CN" altLang="zh-CN" sz="2800" dirty="0"/>
              <a:t>这个引脚设置成高电位的。还要注意，当一个引脚通过</a:t>
            </a:r>
            <a:r>
              <a:rPr lang="en-US" altLang="zh-CN" sz="2800" dirty="0" err="1"/>
              <a:t>pinMode</a:t>
            </a:r>
            <a:r>
              <a:rPr lang="zh-CN" altLang="zh-CN" sz="2800" dirty="0"/>
              <a:t>被设置为</a:t>
            </a:r>
            <a:r>
              <a:rPr lang="en-US" altLang="zh-CN" sz="2800" dirty="0"/>
              <a:t>INPUT</a:t>
            </a:r>
            <a:r>
              <a:rPr lang="zh-CN" altLang="zh-CN" sz="2800" dirty="0"/>
              <a:t>，并通过</a:t>
            </a:r>
            <a:r>
              <a:rPr lang="en-US" altLang="zh-CN" sz="2800" dirty="0" err="1"/>
              <a:t>digitalRead</a:t>
            </a:r>
            <a:r>
              <a:rPr lang="zh-CN" altLang="zh-CN" sz="2800" dirty="0"/>
              <a:t>读取（</a:t>
            </a:r>
            <a:r>
              <a:rPr lang="en-US" altLang="zh-CN" sz="2800" dirty="0"/>
              <a:t>read</a:t>
            </a:r>
            <a:r>
              <a:rPr lang="zh-CN" altLang="zh-CN" sz="2800" dirty="0"/>
              <a:t>）时。如果当前引脚的电压大于等于</a:t>
            </a:r>
            <a:r>
              <a:rPr lang="en-US" altLang="zh-CN" sz="2800" dirty="0"/>
              <a:t>3V</a:t>
            </a:r>
            <a:r>
              <a:rPr lang="zh-CN" altLang="zh-CN" sz="2800" dirty="0"/>
              <a:t>，微控制器将会返回为</a:t>
            </a:r>
            <a:r>
              <a:rPr lang="en-US" altLang="zh-CN" sz="2800" dirty="0"/>
              <a:t>HIGH</a:t>
            </a:r>
            <a:r>
              <a:rPr lang="zh-CN" altLang="zh-CN" sz="2800" dirty="0"/>
              <a:t>，引脚的电压小于等于</a:t>
            </a:r>
            <a:r>
              <a:rPr lang="en-US" altLang="zh-CN" sz="2800" dirty="0"/>
              <a:t>2V</a:t>
            </a:r>
            <a:r>
              <a:rPr lang="zh-CN" altLang="zh-CN" sz="2800" dirty="0"/>
              <a:t>，微控制器将返回为</a:t>
            </a:r>
            <a:r>
              <a:rPr lang="en-US" altLang="zh-CN" sz="2800" dirty="0"/>
              <a:t>LOW</a:t>
            </a:r>
            <a:r>
              <a:rPr lang="zh-CN" altLang="zh-CN" sz="2800" dirty="0"/>
              <a:t>。 当一个引脚通过</a:t>
            </a:r>
            <a:r>
              <a:rPr lang="en-US" altLang="zh-CN" sz="2800" dirty="0" err="1"/>
              <a:t>pinMode</a:t>
            </a:r>
            <a:r>
              <a:rPr lang="zh-CN" altLang="zh-CN" sz="2800" dirty="0"/>
              <a:t>配置为</a:t>
            </a:r>
            <a:r>
              <a:rPr lang="en-US" altLang="zh-CN" sz="2800" dirty="0"/>
              <a:t>OUTPUT</a:t>
            </a:r>
            <a:r>
              <a:rPr lang="zh-CN" altLang="zh-CN" sz="2800" dirty="0"/>
              <a:t>，并通过</a:t>
            </a:r>
            <a:r>
              <a:rPr lang="en-US" altLang="zh-CN" sz="2800" dirty="0" err="1"/>
              <a:t>digitalWrite</a:t>
            </a:r>
            <a:r>
              <a:rPr lang="zh-CN" altLang="zh-CN" sz="2800" dirty="0"/>
              <a:t>设置为</a:t>
            </a:r>
            <a:r>
              <a:rPr lang="en-US" altLang="zh-CN" sz="2800" dirty="0"/>
              <a:t>LOW</a:t>
            </a:r>
            <a:r>
              <a:rPr lang="zh-CN" altLang="zh-CN" sz="2800" dirty="0"/>
              <a:t>时，引脚为</a:t>
            </a:r>
            <a:r>
              <a:rPr lang="en-US" altLang="zh-CN" sz="2800" dirty="0"/>
              <a:t>0V</a:t>
            </a:r>
            <a:r>
              <a:rPr lang="zh-CN" altLang="zh-CN" sz="2800" dirty="0"/>
              <a:t>，当</a:t>
            </a:r>
            <a:r>
              <a:rPr lang="en-US" altLang="zh-CN" sz="2800" dirty="0" err="1"/>
              <a:t>digitalWrite</a:t>
            </a:r>
            <a:r>
              <a:rPr lang="zh-CN" altLang="zh-CN" sz="2800" dirty="0"/>
              <a:t>设置为</a:t>
            </a:r>
            <a:r>
              <a:rPr lang="en-US" altLang="zh-CN" sz="2800" dirty="0"/>
              <a:t>HIGH</a:t>
            </a:r>
            <a:r>
              <a:rPr lang="zh-CN" altLang="zh-CN" sz="2800" dirty="0"/>
              <a:t>时，引脚的电压应在</a:t>
            </a:r>
            <a:r>
              <a:rPr lang="en-US" altLang="zh-CN" sz="2800" dirty="0"/>
              <a:t>5V</a:t>
            </a:r>
            <a:r>
              <a:rPr lang="zh-CN" altLang="zh-CN" sz="2800" dirty="0"/>
              <a:t>。</a:t>
            </a:r>
            <a:endParaRPr lang="zh-CN" altLang="en-US" sz="2800" dirty="0"/>
          </a:p>
        </p:txBody>
      </p:sp>
    </p:spTree>
  </p:cSld>
  <p:clrMapOvr>
    <a:masterClrMapping/>
  </p:clrMapOvr>
  <p:transition>
    <p:cover di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自定义常量</a:t>
            </a:r>
            <a:endParaRPr lang="zh-CN" altLang="en-US" dirty="0"/>
          </a:p>
        </p:txBody>
      </p:sp>
      <p:sp>
        <p:nvSpPr>
          <p:cNvPr id="3" name="内容占位符 2"/>
          <p:cNvSpPr>
            <a:spLocks noGrp="1"/>
          </p:cNvSpPr>
          <p:nvPr>
            <p:ph idx="1"/>
          </p:nvPr>
        </p:nvSpPr>
        <p:spPr/>
        <p:txBody>
          <a:bodyPr/>
          <a:lstStyle/>
          <a:p>
            <a:pPr marL="0" indent="0" algn="just">
              <a:buNone/>
            </a:pPr>
            <a:r>
              <a:rPr lang="zh-CN" altLang="zh-CN" dirty="0"/>
              <a:t>在</a:t>
            </a:r>
            <a:r>
              <a:rPr lang="en-US" altLang="zh-CN" dirty="0"/>
              <a:t>Arduino</a:t>
            </a:r>
            <a:r>
              <a:rPr lang="zh-CN" altLang="zh-CN" dirty="0"/>
              <a:t>中自定义常量包括宏定义</a:t>
            </a:r>
            <a:r>
              <a:rPr lang="en-US" altLang="zh-CN" dirty="0"/>
              <a:t>#define</a:t>
            </a:r>
            <a:r>
              <a:rPr lang="zh-CN" altLang="zh-CN" dirty="0"/>
              <a:t>和使用关键字</a:t>
            </a:r>
            <a:r>
              <a:rPr lang="en-US" altLang="zh-CN" dirty="0" err="1"/>
              <a:t>const</a:t>
            </a:r>
            <a:r>
              <a:rPr lang="zh-CN" altLang="zh-CN" dirty="0"/>
              <a:t>来定义，它们之间有细微的区别。在定义数组时只能使用</a:t>
            </a:r>
            <a:r>
              <a:rPr lang="en-US" altLang="zh-CN" dirty="0" err="1"/>
              <a:t>const</a:t>
            </a:r>
            <a:r>
              <a:rPr lang="zh-CN" altLang="zh-CN" dirty="0"/>
              <a:t>。一般</a:t>
            </a:r>
            <a:r>
              <a:rPr lang="en-US" altLang="zh-CN" dirty="0" err="1"/>
              <a:t>const</a:t>
            </a:r>
            <a:r>
              <a:rPr lang="zh-CN" altLang="zh-CN" dirty="0"/>
              <a:t>相对的＃</a:t>
            </a:r>
            <a:r>
              <a:rPr lang="en-US" altLang="zh-CN" dirty="0"/>
              <a:t>define</a:t>
            </a:r>
            <a:r>
              <a:rPr lang="zh-CN" altLang="zh-CN" dirty="0"/>
              <a:t>是首选的定义常量语法。</a:t>
            </a:r>
            <a:endParaRPr lang="zh-CN" altLang="en-US" dirty="0"/>
          </a:p>
        </p:txBody>
      </p:sp>
    </p:spTree>
  </p:cSld>
  <p:clrMapOvr>
    <a:masterClrMapping/>
  </p:clrMapOvr>
  <p:transition>
    <p:cover di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a:t>
            </a:r>
            <a:r>
              <a:rPr lang="zh-CN" altLang="zh-CN" dirty="0"/>
              <a:t>语法——数据类型</a:t>
            </a:r>
            <a:endParaRPr lang="zh-CN" altLang="en-US" dirty="0"/>
          </a:p>
        </p:txBody>
      </p:sp>
      <p:sp>
        <p:nvSpPr>
          <p:cNvPr id="3" name="内容占位符 2"/>
          <p:cNvSpPr>
            <a:spLocks noGrp="1"/>
          </p:cNvSpPr>
          <p:nvPr>
            <p:ph idx="1"/>
          </p:nvPr>
        </p:nvSpPr>
        <p:spPr>
          <a:xfrm>
            <a:off x="685800" y="1752599"/>
            <a:ext cx="7772400" cy="4517571"/>
          </a:xfrm>
        </p:spPr>
        <p:txBody>
          <a:bodyPr/>
          <a:lstStyle/>
          <a:p>
            <a:pPr marL="0" indent="0" algn="just">
              <a:buNone/>
            </a:pPr>
            <a:r>
              <a:rPr lang="en-US" altLang="zh-CN" dirty="0"/>
              <a:t>Arduino</a:t>
            </a:r>
            <a:r>
              <a:rPr lang="zh-CN" altLang="zh-CN" dirty="0"/>
              <a:t>与</a:t>
            </a:r>
            <a:r>
              <a:rPr lang="en-US" altLang="zh-CN" dirty="0"/>
              <a:t>C</a:t>
            </a:r>
            <a:r>
              <a:rPr lang="zh-CN" altLang="zh-CN" dirty="0"/>
              <a:t>语言类似，有多种数据类型。数据类型在数据结构中的定义是一个值的集合，以及定义在这个值集上的一组操作，各种数据类型需要在特定的地方使用。一般来说，变量的数据类型决定了如何将代表这些值的位存储到计算机的内存中。在声明变量时需要指定它的数据类型，所有变量都具有数据类型，以便决定存储不同类型的数据。</a:t>
            </a:r>
            <a:endParaRPr lang="zh-CN" altLang="en-US" dirty="0"/>
          </a:p>
        </p:txBody>
      </p:sp>
    </p:spTree>
  </p:cSld>
  <p:clrMapOvr>
    <a:masterClrMapping/>
  </p:clrMapOvr>
  <p:transition>
    <p:cover di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常用的数据类型</a:t>
            </a:r>
            <a:endParaRPr lang="zh-CN" altLang="en-US" dirty="0"/>
          </a:p>
        </p:txBody>
      </p:sp>
      <p:sp>
        <p:nvSpPr>
          <p:cNvPr id="3" name="内容占位符 2"/>
          <p:cNvSpPr>
            <a:spLocks noGrp="1"/>
          </p:cNvSpPr>
          <p:nvPr>
            <p:ph idx="1"/>
          </p:nvPr>
        </p:nvSpPr>
        <p:spPr/>
        <p:txBody>
          <a:bodyPr/>
          <a:lstStyle/>
          <a:p>
            <a:pPr marL="0" indent="0" algn="just">
              <a:buNone/>
            </a:pPr>
            <a:r>
              <a:rPr lang="zh-CN" altLang="zh-CN" dirty="0"/>
              <a:t>常用的数据类型有</a:t>
            </a:r>
            <a:r>
              <a:rPr lang="zh-CN" altLang="zh-CN" dirty="0">
                <a:solidFill>
                  <a:schemeClr val="accent6"/>
                </a:solidFill>
              </a:rPr>
              <a:t>布尔类型</a:t>
            </a:r>
            <a:r>
              <a:rPr lang="zh-CN" altLang="zh-CN" dirty="0"/>
              <a:t>、</a:t>
            </a:r>
            <a:r>
              <a:rPr lang="zh-CN" altLang="zh-CN" dirty="0">
                <a:solidFill>
                  <a:schemeClr val="accent6"/>
                </a:solidFill>
              </a:rPr>
              <a:t>字符型</a:t>
            </a:r>
            <a:r>
              <a:rPr lang="zh-CN" altLang="zh-CN" dirty="0"/>
              <a:t>、</a:t>
            </a:r>
            <a:r>
              <a:rPr lang="zh-CN" altLang="zh-CN" dirty="0">
                <a:solidFill>
                  <a:schemeClr val="accent6"/>
                </a:solidFill>
              </a:rPr>
              <a:t>字节型</a:t>
            </a:r>
            <a:r>
              <a:rPr lang="zh-CN" altLang="zh-CN" dirty="0"/>
              <a:t>、</a:t>
            </a:r>
            <a:r>
              <a:rPr lang="zh-CN" altLang="zh-CN" dirty="0">
                <a:solidFill>
                  <a:schemeClr val="accent6"/>
                </a:solidFill>
              </a:rPr>
              <a:t>整型</a:t>
            </a:r>
            <a:r>
              <a:rPr lang="zh-CN" altLang="zh-CN" dirty="0"/>
              <a:t>、</a:t>
            </a:r>
            <a:r>
              <a:rPr lang="zh-CN" altLang="zh-CN" dirty="0">
                <a:solidFill>
                  <a:schemeClr val="accent6"/>
                </a:solidFill>
              </a:rPr>
              <a:t>无符号整型</a:t>
            </a:r>
            <a:r>
              <a:rPr lang="zh-CN" altLang="zh-CN" dirty="0"/>
              <a:t>、</a:t>
            </a:r>
            <a:r>
              <a:rPr lang="zh-CN" altLang="zh-CN" dirty="0">
                <a:solidFill>
                  <a:schemeClr val="accent6"/>
                </a:solidFill>
              </a:rPr>
              <a:t>长整型</a:t>
            </a:r>
            <a:r>
              <a:rPr lang="zh-CN" altLang="zh-CN" dirty="0"/>
              <a:t>、</a:t>
            </a:r>
            <a:r>
              <a:rPr lang="zh-CN" altLang="zh-CN" dirty="0">
                <a:solidFill>
                  <a:schemeClr val="accent6"/>
                </a:solidFill>
              </a:rPr>
              <a:t>无符号长整型</a:t>
            </a:r>
            <a:r>
              <a:rPr lang="zh-CN" altLang="zh-CN" dirty="0"/>
              <a:t>、</a:t>
            </a:r>
            <a:r>
              <a:rPr lang="zh-CN" altLang="zh-CN" dirty="0">
                <a:solidFill>
                  <a:schemeClr val="accent6"/>
                </a:solidFill>
              </a:rPr>
              <a:t>浮点型</a:t>
            </a:r>
            <a:r>
              <a:rPr lang="zh-CN" altLang="zh-CN" dirty="0"/>
              <a:t>、</a:t>
            </a:r>
            <a:r>
              <a:rPr lang="zh-CN" altLang="zh-CN" dirty="0">
                <a:solidFill>
                  <a:schemeClr val="accent6"/>
                </a:solidFill>
              </a:rPr>
              <a:t>双精度浮点</a:t>
            </a:r>
            <a:r>
              <a:rPr lang="zh-CN" altLang="zh-CN" dirty="0"/>
              <a:t>型等</a:t>
            </a:r>
            <a:r>
              <a:rPr lang="zh-CN" altLang="en-US" dirty="0"/>
              <a:t>。</a:t>
            </a:r>
          </a:p>
        </p:txBody>
      </p:sp>
    </p:spTree>
  </p:cSld>
  <p:clrMapOvr>
    <a:masterClrMapping/>
  </p:clrMapOvr>
  <p:transition>
    <p:cover di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布尔类型</a:t>
            </a:r>
            <a:endParaRPr lang="zh-CN" altLang="en-US" dirty="0"/>
          </a:p>
        </p:txBody>
      </p:sp>
      <p:sp>
        <p:nvSpPr>
          <p:cNvPr id="3" name="内容占位符 2"/>
          <p:cNvSpPr>
            <a:spLocks noGrp="1"/>
          </p:cNvSpPr>
          <p:nvPr>
            <p:ph idx="1"/>
          </p:nvPr>
        </p:nvSpPr>
        <p:spPr/>
        <p:txBody>
          <a:bodyPr/>
          <a:lstStyle/>
          <a:p>
            <a:pPr marL="0" indent="0" algn="just">
              <a:buNone/>
            </a:pPr>
            <a:r>
              <a:rPr lang="zh-CN" altLang="zh-CN" dirty="0"/>
              <a:t>布尔值（</a:t>
            </a:r>
            <a:r>
              <a:rPr lang="en-US" altLang="zh-CN" dirty="0" err="1"/>
              <a:t>boolean</a:t>
            </a:r>
            <a:r>
              <a:rPr lang="zh-CN" altLang="zh-CN" dirty="0"/>
              <a:t>）是一种逻辑值，其结果只能为真（</a:t>
            </a:r>
            <a:r>
              <a:rPr lang="en-US" altLang="zh-CN" dirty="0"/>
              <a:t>true</a:t>
            </a:r>
            <a:r>
              <a:rPr lang="zh-CN" altLang="zh-CN" dirty="0"/>
              <a:t>）或者假（</a:t>
            </a:r>
            <a:r>
              <a:rPr lang="en-US" altLang="zh-CN" dirty="0"/>
              <a:t>false</a:t>
            </a:r>
            <a:r>
              <a:rPr lang="zh-CN" altLang="zh-CN" dirty="0"/>
              <a:t>）。布尔值可以用来进行计算，最常用的布尔运算符是与运算（</a:t>
            </a:r>
            <a:r>
              <a:rPr lang="en-US" altLang="zh-CN" dirty="0"/>
              <a:t>&amp;&amp;</a:t>
            </a:r>
            <a:r>
              <a:rPr lang="zh-CN" altLang="zh-CN" dirty="0"/>
              <a:t>）、或运算（</a:t>
            </a:r>
            <a:r>
              <a:rPr lang="en-US" altLang="zh-CN" dirty="0"/>
              <a:t>||</a:t>
            </a:r>
            <a:r>
              <a:rPr lang="zh-CN" altLang="zh-CN" dirty="0"/>
              <a:t>）和非运算（！）。</a:t>
            </a:r>
            <a:endParaRPr lang="zh-CN" altLang="en-US" dirty="0"/>
          </a:p>
        </p:txBody>
      </p:sp>
    </p:spTree>
  </p:cSld>
  <p:clrMapOvr>
    <a:masterClrMapping/>
  </p:clrMapOvr>
  <p:transition>
    <p:cover di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布尔类型</a:t>
            </a:r>
            <a:endParaRPr lang="zh-CN" altLang="en-US" dirty="0"/>
          </a:p>
        </p:txBody>
      </p:sp>
      <p:pic>
        <p:nvPicPr>
          <p:cNvPr id="6" name="内容占位符 5"/>
          <p:cNvPicPr>
            <a:picLocks noGrp="1" noChangeAspect="1"/>
          </p:cNvPicPr>
          <p:nvPr>
            <p:ph idx="1"/>
          </p:nvPr>
        </p:nvPicPr>
        <p:blipFill>
          <a:blip r:embed="rId2"/>
          <a:stretch>
            <a:fillRect/>
          </a:stretch>
        </p:blipFill>
        <p:spPr>
          <a:xfrm>
            <a:off x="685800" y="1752600"/>
            <a:ext cx="7951022" cy="3603171"/>
          </a:xfrm>
          <a:prstGeom prst="rect">
            <a:avLst/>
          </a:prstGeom>
        </p:spPr>
      </p:pic>
    </p:spTree>
  </p:cSld>
  <p:clrMapOvr>
    <a:masterClrMapping/>
  </p:clrMapOvr>
  <p:transition>
    <p:cover di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字符型</a:t>
            </a:r>
            <a:endParaRPr lang="zh-CN" altLang="en-US" dirty="0"/>
          </a:p>
        </p:txBody>
      </p:sp>
      <p:sp>
        <p:nvSpPr>
          <p:cNvPr id="3" name="内容占位符 2"/>
          <p:cNvSpPr>
            <a:spLocks noGrp="1"/>
          </p:cNvSpPr>
          <p:nvPr>
            <p:ph idx="1"/>
          </p:nvPr>
        </p:nvSpPr>
        <p:spPr/>
        <p:txBody>
          <a:bodyPr/>
          <a:lstStyle/>
          <a:p>
            <a:pPr marL="0" indent="0" algn="just">
              <a:buNone/>
            </a:pPr>
            <a:r>
              <a:rPr lang="zh-CN" altLang="zh-CN" dirty="0"/>
              <a:t>字符型（</a:t>
            </a:r>
            <a:r>
              <a:rPr lang="en-US" altLang="zh-CN" dirty="0"/>
              <a:t>char</a:t>
            </a:r>
            <a:r>
              <a:rPr lang="zh-CN" altLang="zh-CN" dirty="0"/>
              <a:t>）变量可以用来存放字符，其数值范围是</a:t>
            </a:r>
            <a:r>
              <a:rPr lang="en-US" altLang="zh-CN" dirty="0"/>
              <a:t>-128~+128</a:t>
            </a:r>
            <a:r>
              <a:rPr lang="zh-CN" altLang="zh-CN" dirty="0"/>
              <a:t>。例如：</a:t>
            </a:r>
            <a:endParaRPr lang="en-US" altLang="zh-CN" dirty="0"/>
          </a:p>
          <a:p>
            <a:pPr marL="0" indent="0">
              <a:buNone/>
            </a:pPr>
            <a:endParaRPr lang="en-US" altLang="zh-CN" dirty="0"/>
          </a:p>
          <a:p>
            <a:pPr marL="0" indent="0">
              <a:buNone/>
            </a:pPr>
            <a:r>
              <a:rPr lang="en-US" altLang="zh-CN" dirty="0"/>
              <a:t>char A=58;</a:t>
            </a:r>
            <a:endParaRPr lang="zh-CN" altLang="zh-CN" dirty="0"/>
          </a:p>
          <a:p>
            <a:pPr marL="0" indent="0">
              <a:buNone/>
            </a:pPr>
            <a:endParaRPr lang="zh-CN" altLang="en-US" dirty="0"/>
          </a:p>
        </p:txBody>
      </p:sp>
    </p:spTree>
  </p:cSld>
  <p:clrMapOvr>
    <a:masterClrMapping/>
  </p:clrMapOvr>
  <p:transition>
    <p:cover di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字节型</a:t>
            </a:r>
            <a:endParaRPr lang="zh-CN" altLang="en-US" dirty="0"/>
          </a:p>
        </p:txBody>
      </p:sp>
      <p:sp>
        <p:nvSpPr>
          <p:cNvPr id="3" name="内容占位符 2"/>
          <p:cNvSpPr>
            <a:spLocks noGrp="1"/>
          </p:cNvSpPr>
          <p:nvPr>
            <p:ph idx="1"/>
          </p:nvPr>
        </p:nvSpPr>
        <p:spPr/>
        <p:txBody>
          <a:bodyPr/>
          <a:lstStyle/>
          <a:p>
            <a:pPr marL="0" indent="0" algn="just">
              <a:buNone/>
            </a:pPr>
            <a:r>
              <a:rPr lang="zh-CN" altLang="zh-CN" dirty="0"/>
              <a:t>字节（</a:t>
            </a:r>
            <a:r>
              <a:rPr lang="en-US" altLang="zh-CN" dirty="0"/>
              <a:t>byte</a:t>
            </a:r>
            <a:r>
              <a:rPr lang="zh-CN" altLang="zh-CN" dirty="0"/>
              <a:t>）只能用一个字节（</a:t>
            </a:r>
            <a:r>
              <a:rPr lang="en-US" altLang="zh-CN" dirty="0"/>
              <a:t>8</a:t>
            </a:r>
            <a:r>
              <a:rPr lang="zh-CN" altLang="zh-CN" dirty="0"/>
              <a:t>位）的存储空间，它可以用来存储</a:t>
            </a:r>
            <a:r>
              <a:rPr lang="en-US" altLang="zh-CN" dirty="0"/>
              <a:t>0~255</a:t>
            </a:r>
            <a:r>
              <a:rPr lang="zh-CN" altLang="zh-CN" dirty="0"/>
              <a:t>之间的数字。例如：</a:t>
            </a:r>
            <a:endParaRPr lang="en-US" altLang="zh-CN" dirty="0"/>
          </a:p>
          <a:p>
            <a:pPr marL="0" indent="0">
              <a:buNone/>
            </a:pPr>
            <a:endParaRPr lang="en-US" altLang="zh-CN" dirty="0"/>
          </a:p>
          <a:p>
            <a:pPr marL="0" indent="0">
              <a:buNone/>
            </a:pPr>
            <a:r>
              <a:rPr lang="en-US" altLang="zh-CN" dirty="0"/>
              <a:t>byte B=8;</a:t>
            </a:r>
            <a:endParaRPr lang="zh-CN" altLang="en-US" dirty="0"/>
          </a:p>
        </p:txBody>
      </p:sp>
    </p:spTree>
  </p:cSld>
  <p:clrMapOvr>
    <a:masterClrMapping/>
  </p:clrMapOvr>
  <p:transition>
    <p:cover di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整型</a:t>
            </a:r>
            <a:endParaRPr lang="zh-CN" altLang="en-US" dirty="0"/>
          </a:p>
        </p:txBody>
      </p:sp>
      <p:sp>
        <p:nvSpPr>
          <p:cNvPr id="3" name="内容占位符 2"/>
          <p:cNvSpPr>
            <a:spLocks noGrp="1"/>
          </p:cNvSpPr>
          <p:nvPr>
            <p:ph idx="1"/>
          </p:nvPr>
        </p:nvSpPr>
        <p:spPr/>
        <p:txBody>
          <a:bodyPr/>
          <a:lstStyle/>
          <a:p>
            <a:pPr marL="0" indent="0" algn="just">
              <a:buNone/>
            </a:pPr>
            <a:r>
              <a:rPr lang="zh-CN" altLang="zh-CN" dirty="0"/>
              <a:t>整型（</a:t>
            </a:r>
            <a:r>
              <a:rPr lang="en-US" altLang="zh-CN" dirty="0" err="1"/>
              <a:t>int</a:t>
            </a:r>
            <a:r>
              <a:rPr lang="zh-CN" altLang="zh-CN" dirty="0"/>
              <a:t>）用两个字节表示一个存储空间，它可以用来存储</a:t>
            </a:r>
            <a:r>
              <a:rPr lang="en-US" altLang="zh-CN" dirty="0"/>
              <a:t>-32768~+32767</a:t>
            </a:r>
            <a:r>
              <a:rPr lang="zh-CN" altLang="zh-CN" dirty="0"/>
              <a:t>之间的数字。在</a:t>
            </a:r>
            <a:r>
              <a:rPr lang="en-US" altLang="zh-CN" dirty="0"/>
              <a:t>Arduino</a:t>
            </a:r>
            <a:r>
              <a:rPr lang="zh-CN" altLang="zh-CN" dirty="0"/>
              <a:t>中，整型是最常用的变量类型。例如：</a:t>
            </a:r>
            <a:endParaRPr lang="en-US" altLang="zh-CN" dirty="0"/>
          </a:p>
          <a:p>
            <a:pPr marL="0" indent="0" algn="just">
              <a:buNone/>
            </a:pPr>
            <a:endParaRPr lang="en-US" altLang="zh-CN" dirty="0"/>
          </a:p>
          <a:p>
            <a:pPr marL="0" indent="0" algn="just">
              <a:buNone/>
            </a:pPr>
            <a:r>
              <a:rPr lang="en-US" altLang="zh-CN" dirty="0" err="1"/>
              <a:t>int</a:t>
            </a:r>
            <a:r>
              <a:rPr lang="en-US" altLang="zh-CN" dirty="0"/>
              <a:t> C=13;</a:t>
            </a:r>
            <a:endParaRPr lang="zh-CN" altLang="zh-CN" dirty="0"/>
          </a:p>
          <a:p>
            <a:pPr marL="0" indent="0" algn="just">
              <a:buNone/>
            </a:pPr>
            <a:endParaRPr lang="zh-CN" altLang="en-US" dirty="0"/>
          </a:p>
        </p:txBody>
      </p:sp>
    </p:spTree>
  </p:cSld>
  <p:clrMapOvr>
    <a:masterClrMapping/>
  </p:clrMapOvr>
  <p:transition>
    <p:cover di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无符号整型</a:t>
            </a:r>
            <a:endParaRPr lang="zh-CN" altLang="en-US" dirty="0"/>
          </a:p>
        </p:txBody>
      </p:sp>
      <p:sp>
        <p:nvSpPr>
          <p:cNvPr id="3" name="内容占位符 2"/>
          <p:cNvSpPr>
            <a:spLocks noGrp="1"/>
          </p:cNvSpPr>
          <p:nvPr>
            <p:ph idx="1"/>
          </p:nvPr>
        </p:nvSpPr>
        <p:spPr>
          <a:xfrm>
            <a:off x="685799" y="1981200"/>
            <a:ext cx="7892143" cy="4114800"/>
          </a:xfrm>
        </p:spPr>
        <p:txBody>
          <a:bodyPr/>
          <a:lstStyle/>
          <a:p>
            <a:pPr marL="0" indent="0" algn="just">
              <a:buNone/>
            </a:pPr>
            <a:r>
              <a:rPr lang="zh-CN" altLang="zh-CN" dirty="0"/>
              <a:t>同整型一样，无符号整型（</a:t>
            </a:r>
            <a:r>
              <a:rPr lang="en-US" altLang="zh-CN" dirty="0"/>
              <a:t>unsigned </a:t>
            </a:r>
            <a:r>
              <a:rPr lang="en-US" altLang="zh-CN" dirty="0" err="1"/>
              <a:t>int</a:t>
            </a:r>
            <a:r>
              <a:rPr lang="zh-CN" altLang="zh-CN" dirty="0"/>
              <a:t>）也用两个字节表示一个存储空间，它可以用来存储</a:t>
            </a:r>
            <a:r>
              <a:rPr lang="en-US" altLang="zh-CN" dirty="0"/>
              <a:t>0~65536</a:t>
            </a:r>
            <a:r>
              <a:rPr lang="zh-CN" altLang="zh-CN" dirty="0"/>
              <a:t>之间的数字，通过范围可以看出，无符号整型不能存储负数。例如：</a:t>
            </a:r>
            <a:endParaRPr lang="en-US" altLang="zh-CN" dirty="0"/>
          </a:p>
          <a:p>
            <a:pPr marL="0" indent="0" algn="just">
              <a:buNone/>
            </a:pPr>
            <a:endParaRPr lang="en-US" altLang="zh-CN" dirty="0"/>
          </a:p>
          <a:p>
            <a:pPr marL="0" indent="0" algn="just">
              <a:buNone/>
            </a:pPr>
            <a:r>
              <a:rPr lang="en-US" altLang="zh-CN" dirty="0"/>
              <a:t>unsigned </a:t>
            </a:r>
            <a:r>
              <a:rPr lang="en-US" altLang="zh-CN" dirty="0" err="1"/>
              <a:t>int</a:t>
            </a:r>
            <a:r>
              <a:rPr lang="en-US" altLang="zh-CN" dirty="0"/>
              <a:t> D=65535;</a:t>
            </a:r>
          </a:p>
          <a:p>
            <a:pPr marL="0" indent="0" algn="just">
              <a:buNone/>
            </a:pPr>
            <a:endParaRPr lang="zh-CN" altLang="en-US" dirty="0"/>
          </a:p>
        </p:txBody>
      </p:sp>
    </p:spTree>
  </p:cSld>
  <p:clrMapOvr>
    <a:masterClrMapping/>
  </p:clrMapOvr>
  <p:transition>
    <p:cover di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长整型</a:t>
            </a:r>
            <a:endParaRPr lang="zh-CN" altLang="en-US" dirty="0"/>
          </a:p>
        </p:txBody>
      </p:sp>
      <p:sp>
        <p:nvSpPr>
          <p:cNvPr id="3" name="内容占位符 2"/>
          <p:cNvSpPr>
            <a:spLocks noGrp="1"/>
          </p:cNvSpPr>
          <p:nvPr>
            <p:ph idx="1"/>
          </p:nvPr>
        </p:nvSpPr>
        <p:spPr/>
        <p:txBody>
          <a:bodyPr/>
          <a:lstStyle/>
          <a:p>
            <a:pPr marL="0" indent="0" algn="just">
              <a:buNone/>
            </a:pPr>
            <a:r>
              <a:rPr lang="zh-CN" altLang="zh-CN" dirty="0"/>
              <a:t>长整型（</a:t>
            </a:r>
            <a:r>
              <a:rPr lang="en-US" altLang="zh-CN" dirty="0"/>
              <a:t>long</a:t>
            </a:r>
            <a:r>
              <a:rPr lang="zh-CN" altLang="zh-CN" dirty="0"/>
              <a:t>）可以用</a:t>
            </a:r>
            <a:r>
              <a:rPr lang="en-US" altLang="zh-CN" dirty="0"/>
              <a:t>4</a:t>
            </a:r>
            <a:r>
              <a:rPr lang="zh-CN" altLang="zh-CN" dirty="0"/>
              <a:t>个字节表示一个存储空间，其大小是</a:t>
            </a:r>
            <a:r>
              <a:rPr lang="en-US" altLang="zh-CN" dirty="0" err="1"/>
              <a:t>int</a:t>
            </a:r>
            <a:r>
              <a:rPr lang="zh-CN" altLang="zh-CN" dirty="0"/>
              <a:t>型的</a:t>
            </a:r>
            <a:r>
              <a:rPr lang="en-US" altLang="zh-CN" dirty="0"/>
              <a:t>2</a:t>
            </a:r>
            <a:r>
              <a:rPr lang="zh-CN" altLang="zh-CN" dirty="0"/>
              <a:t>倍。它可以用来存储</a:t>
            </a:r>
            <a:r>
              <a:rPr lang="en-US" altLang="zh-CN" dirty="0"/>
              <a:t>-2147483648~2147483648 </a:t>
            </a:r>
            <a:r>
              <a:rPr lang="zh-CN" altLang="zh-CN" dirty="0"/>
              <a:t>之间的数字。例如：</a:t>
            </a:r>
            <a:endParaRPr lang="en-US" altLang="zh-CN" dirty="0"/>
          </a:p>
          <a:p>
            <a:pPr marL="0" indent="0" algn="just">
              <a:buNone/>
            </a:pPr>
            <a:endParaRPr lang="en-US" altLang="zh-CN" dirty="0"/>
          </a:p>
          <a:p>
            <a:pPr marL="0" indent="0" algn="just">
              <a:buNone/>
            </a:pPr>
            <a:r>
              <a:rPr lang="en-US" altLang="zh-CN" dirty="0"/>
              <a:t>long E=2147483647;</a:t>
            </a:r>
            <a:endParaRPr lang="zh-CN" altLang="en-US" dirty="0"/>
          </a:p>
        </p:txBody>
      </p:sp>
    </p:spTree>
  </p:cSld>
  <p:clrMapOvr>
    <a:masterClrMapping/>
  </p:clrMapOvr>
  <p:transition>
    <p:cover dir="d"/>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无符号长整型</a:t>
            </a:r>
            <a:endParaRPr lang="zh-CN" altLang="en-US" dirty="0"/>
          </a:p>
        </p:txBody>
      </p:sp>
      <p:sp>
        <p:nvSpPr>
          <p:cNvPr id="3" name="内容占位符 2"/>
          <p:cNvSpPr>
            <a:spLocks noGrp="1"/>
          </p:cNvSpPr>
          <p:nvPr>
            <p:ph idx="1"/>
          </p:nvPr>
        </p:nvSpPr>
        <p:spPr>
          <a:xfrm>
            <a:off x="685799" y="1981200"/>
            <a:ext cx="7979229" cy="4114800"/>
          </a:xfrm>
        </p:spPr>
        <p:txBody>
          <a:bodyPr/>
          <a:lstStyle/>
          <a:p>
            <a:pPr marL="0" indent="0" algn="just">
              <a:buNone/>
            </a:pPr>
            <a:r>
              <a:rPr lang="zh-CN" altLang="zh-CN" dirty="0"/>
              <a:t>无符号长整型（</a:t>
            </a:r>
            <a:r>
              <a:rPr lang="en-US" altLang="zh-CN" dirty="0"/>
              <a:t>unsigned long</a:t>
            </a:r>
            <a:r>
              <a:rPr lang="zh-CN" altLang="zh-CN" dirty="0"/>
              <a:t>）同长整型一样，用</a:t>
            </a:r>
            <a:r>
              <a:rPr lang="en-US" altLang="zh-CN" dirty="0"/>
              <a:t>4</a:t>
            </a:r>
            <a:r>
              <a:rPr lang="zh-CN" altLang="zh-CN" dirty="0"/>
              <a:t>个字节表示一个存储空间，它可以用来存储</a:t>
            </a:r>
            <a:r>
              <a:rPr lang="en-US" altLang="zh-CN" dirty="0"/>
              <a:t>0~4294967296</a:t>
            </a:r>
            <a:r>
              <a:rPr lang="zh-CN" altLang="zh-CN" dirty="0"/>
              <a:t>之间的数字。例如：</a:t>
            </a:r>
            <a:endParaRPr lang="en-US" altLang="zh-CN" dirty="0"/>
          </a:p>
          <a:p>
            <a:pPr marL="0" indent="0" algn="just">
              <a:buNone/>
            </a:pPr>
            <a:endParaRPr lang="en-US" altLang="zh-CN" dirty="0"/>
          </a:p>
          <a:p>
            <a:pPr marL="0" indent="0" algn="just">
              <a:buNone/>
            </a:pPr>
            <a:r>
              <a:rPr lang="en-US" altLang="zh-CN" dirty="0"/>
              <a:t>unsigned long F=4294967295;</a:t>
            </a:r>
            <a:endParaRPr lang="zh-CN" altLang="en-US" dirty="0"/>
          </a:p>
        </p:txBody>
      </p:sp>
    </p:spTree>
  </p:cSld>
  <p:clrMapOvr>
    <a:masterClrMapping/>
  </p:clrMapOvr>
  <p:transition>
    <p:cover dir="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浮点型</a:t>
            </a:r>
            <a:endParaRPr lang="zh-CN" altLang="en-US" dirty="0"/>
          </a:p>
        </p:txBody>
      </p:sp>
      <p:sp>
        <p:nvSpPr>
          <p:cNvPr id="3" name="内容占位符 2"/>
          <p:cNvSpPr>
            <a:spLocks noGrp="1"/>
          </p:cNvSpPr>
          <p:nvPr>
            <p:ph idx="1"/>
          </p:nvPr>
        </p:nvSpPr>
        <p:spPr/>
        <p:txBody>
          <a:bodyPr/>
          <a:lstStyle/>
          <a:p>
            <a:pPr marL="0" indent="0" algn="just">
              <a:buNone/>
            </a:pPr>
            <a:r>
              <a:rPr lang="zh-CN" altLang="zh-CN" dirty="0"/>
              <a:t>浮点数（</a:t>
            </a:r>
            <a:r>
              <a:rPr lang="en-US" altLang="zh-CN" dirty="0"/>
              <a:t>float</a:t>
            </a:r>
            <a:r>
              <a:rPr lang="zh-CN" altLang="zh-CN" dirty="0"/>
              <a:t>）可以用来表示含有小数点的数，例如：</a:t>
            </a:r>
            <a:r>
              <a:rPr lang="en-US" altLang="zh-CN" dirty="0"/>
              <a:t>1.24</a:t>
            </a:r>
            <a:r>
              <a:rPr lang="zh-CN" altLang="zh-CN" dirty="0"/>
              <a:t>。当需要用变量表示小数时，浮点数便是所需要的数据类型。浮点数占有</a:t>
            </a:r>
            <a:r>
              <a:rPr lang="en-US" altLang="zh-CN" dirty="0"/>
              <a:t>4</a:t>
            </a:r>
            <a:r>
              <a:rPr lang="zh-CN" altLang="zh-CN" dirty="0"/>
              <a:t>个字节的内存，其存储空间很大，能够存储带小数的数字。例如：</a:t>
            </a:r>
            <a:endParaRPr lang="en-US" altLang="zh-CN" dirty="0"/>
          </a:p>
          <a:p>
            <a:pPr marL="0" indent="0" algn="just">
              <a:buNone/>
            </a:pPr>
            <a:endParaRPr lang="en-US" altLang="zh-CN" dirty="0"/>
          </a:p>
          <a:p>
            <a:pPr marL="0" indent="0" algn="just">
              <a:buNone/>
            </a:pPr>
            <a:r>
              <a:rPr lang="en-US" altLang="zh-CN" dirty="0"/>
              <a:t>float a = 3.33</a:t>
            </a:r>
            <a:r>
              <a:rPr lang="zh-CN" altLang="en-US" dirty="0"/>
              <a:t>；</a:t>
            </a:r>
          </a:p>
        </p:txBody>
      </p:sp>
    </p:spTree>
  </p:cSld>
  <p:clrMapOvr>
    <a:masterClrMapping/>
  </p:clrMapOvr>
  <p:transition>
    <p:cover dir="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双精度浮点型</a:t>
            </a:r>
            <a:endParaRPr lang="zh-CN" altLang="en-US" dirty="0"/>
          </a:p>
        </p:txBody>
      </p:sp>
      <p:sp>
        <p:nvSpPr>
          <p:cNvPr id="3" name="内容占位符 2"/>
          <p:cNvSpPr>
            <a:spLocks noGrp="1"/>
          </p:cNvSpPr>
          <p:nvPr>
            <p:ph idx="1"/>
          </p:nvPr>
        </p:nvSpPr>
        <p:spPr/>
        <p:txBody>
          <a:bodyPr/>
          <a:lstStyle/>
          <a:p>
            <a:pPr marL="0" indent="0" algn="just">
              <a:buNone/>
            </a:pPr>
            <a:r>
              <a:rPr lang="zh-CN" altLang="zh-CN" dirty="0"/>
              <a:t>双精度浮点型（</a:t>
            </a:r>
            <a:r>
              <a:rPr lang="en-US" altLang="zh-CN" dirty="0"/>
              <a:t>double</a:t>
            </a:r>
            <a:r>
              <a:rPr lang="zh-CN" altLang="zh-CN" dirty="0"/>
              <a:t>）同</a:t>
            </a:r>
            <a:r>
              <a:rPr lang="en-US" altLang="zh-CN" dirty="0"/>
              <a:t>float</a:t>
            </a:r>
            <a:r>
              <a:rPr lang="zh-CN" altLang="zh-CN" dirty="0"/>
              <a:t>类似，它通常占有</a:t>
            </a:r>
            <a:r>
              <a:rPr lang="en-US" altLang="zh-CN" dirty="0"/>
              <a:t>8</a:t>
            </a:r>
            <a:r>
              <a:rPr lang="zh-CN" altLang="zh-CN" dirty="0"/>
              <a:t>个字节的内存，但是，双精度浮点型数据比浮点型数据的精度高，而且范围广。但是，双精度浮点型数据和浮点型数据在</a:t>
            </a:r>
            <a:r>
              <a:rPr lang="en-US" altLang="zh-CN" dirty="0"/>
              <a:t>Arduino</a:t>
            </a:r>
            <a:r>
              <a:rPr lang="zh-CN" altLang="zh-CN" dirty="0"/>
              <a:t>中是一样的。</a:t>
            </a:r>
            <a:endParaRPr lang="zh-CN" altLang="en-US" dirty="0"/>
          </a:p>
        </p:txBody>
      </p:sp>
    </p:spTree>
  </p:cSld>
  <p:clrMapOvr>
    <a:masterClrMapping/>
  </p:clrMapOvr>
  <p:transition>
    <p:cover dir="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数据类型转换</a:t>
            </a:r>
            <a:endParaRPr lang="zh-CN" altLang="en-US" dirty="0"/>
          </a:p>
        </p:txBody>
      </p:sp>
      <p:sp>
        <p:nvSpPr>
          <p:cNvPr id="3" name="内容占位符 2"/>
          <p:cNvSpPr>
            <a:spLocks noGrp="1"/>
          </p:cNvSpPr>
          <p:nvPr>
            <p:ph idx="1"/>
          </p:nvPr>
        </p:nvSpPr>
        <p:spPr/>
        <p:txBody>
          <a:bodyPr/>
          <a:lstStyle/>
          <a:p>
            <a:pPr marL="0" indent="0">
              <a:buNone/>
            </a:pPr>
            <a:r>
              <a:rPr lang="en-US" altLang="zh-CN" dirty="0"/>
              <a:t>char()</a:t>
            </a:r>
            <a:endParaRPr lang="zh-CN" altLang="zh-CN" dirty="0"/>
          </a:p>
          <a:p>
            <a:pPr marL="0" indent="0">
              <a:buNone/>
            </a:pPr>
            <a:r>
              <a:rPr lang="zh-CN" altLang="zh-CN" dirty="0"/>
              <a:t>功能：将一个变量的类型变为</a:t>
            </a:r>
            <a:r>
              <a:rPr lang="en-US" altLang="zh-CN" dirty="0"/>
              <a:t>char</a:t>
            </a:r>
            <a:r>
              <a:rPr lang="zh-CN" altLang="zh-CN" dirty="0"/>
              <a:t>。</a:t>
            </a:r>
          </a:p>
          <a:p>
            <a:pPr marL="0" indent="0">
              <a:buNone/>
            </a:pPr>
            <a:r>
              <a:rPr lang="zh-CN" altLang="zh-CN" dirty="0"/>
              <a:t>语法：</a:t>
            </a:r>
            <a:r>
              <a:rPr lang="en-US" altLang="zh-CN" dirty="0"/>
              <a:t>char(x)</a:t>
            </a:r>
            <a:endParaRPr lang="zh-CN" altLang="zh-CN" dirty="0"/>
          </a:p>
          <a:p>
            <a:pPr marL="0" indent="0">
              <a:buNone/>
            </a:pPr>
            <a:r>
              <a:rPr lang="zh-CN" altLang="zh-CN" dirty="0"/>
              <a:t>参数：</a:t>
            </a:r>
            <a:r>
              <a:rPr lang="en-US" altLang="zh-CN" dirty="0"/>
              <a:t>x</a:t>
            </a:r>
            <a:r>
              <a:rPr lang="zh-CN" altLang="zh-CN" dirty="0"/>
              <a:t>：任何类型的值</a:t>
            </a:r>
          </a:p>
          <a:p>
            <a:pPr marL="0" indent="0">
              <a:buNone/>
            </a:pPr>
            <a:r>
              <a:rPr lang="zh-CN" altLang="zh-CN" dirty="0"/>
              <a:t>返回值：</a:t>
            </a:r>
            <a:r>
              <a:rPr lang="en-US" altLang="zh-CN" dirty="0"/>
              <a:t>char</a:t>
            </a:r>
            <a:r>
              <a:rPr lang="zh-CN" altLang="zh-CN" dirty="0"/>
              <a:t>型值</a:t>
            </a:r>
            <a:endParaRPr lang="zh-CN" altLang="en-US" dirty="0"/>
          </a:p>
        </p:txBody>
      </p:sp>
    </p:spTree>
  </p:cSld>
  <p:clrMapOvr>
    <a:masterClrMapping/>
  </p:clrMapOvr>
  <p:transition>
    <p:cover dir="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数据类型转换</a:t>
            </a:r>
            <a:endParaRPr lang="zh-CN" altLang="en-US" dirty="0"/>
          </a:p>
        </p:txBody>
      </p:sp>
      <p:sp>
        <p:nvSpPr>
          <p:cNvPr id="3" name="内容占位符 2"/>
          <p:cNvSpPr>
            <a:spLocks noGrp="1"/>
          </p:cNvSpPr>
          <p:nvPr>
            <p:ph idx="1"/>
          </p:nvPr>
        </p:nvSpPr>
        <p:spPr/>
        <p:txBody>
          <a:bodyPr/>
          <a:lstStyle/>
          <a:p>
            <a:pPr marL="0" indent="0">
              <a:buNone/>
            </a:pPr>
            <a:r>
              <a:rPr lang="en-US" altLang="zh-CN" dirty="0"/>
              <a:t>byte()</a:t>
            </a:r>
            <a:endParaRPr lang="zh-CN" altLang="zh-CN" dirty="0"/>
          </a:p>
          <a:p>
            <a:pPr marL="0" indent="0">
              <a:buNone/>
            </a:pPr>
            <a:r>
              <a:rPr lang="zh-CN" altLang="zh-CN" dirty="0"/>
              <a:t>功能：将一个值转换为字节型数值。</a:t>
            </a:r>
          </a:p>
          <a:p>
            <a:pPr marL="0" indent="0">
              <a:buNone/>
            </a:pPr>
            <a:r>
              <a:rPr lang="zh-CN" altLang="zh-CN" dirty="0"/>
              <a:t>语法：</a:t>
            </a:r>
            <a:r>
              <a:rPr lang="en-US" altLang="zh-CN" dirty="0"/>
              <a:t>byte(x)</a:t>
            </a:r>
            <a:endParaRPr lang="zh-CN" altLang="zh-CN" dirty="0"/>
          </a:p>
          <a:p>
            <a:pPr marL="0" indent="0">
              <a:buNone/>
            </a:pPr>
            <a:r>
              <a:rPr lang="zh-CN" altLang="zh-CN" dirty="0"/>
              <a:t>参数：</a:t>
            </a:r>
            <a:r>
              <a:rPr lang="en-US" altLang="zh-CN" dirty="0"/>
              <a:t>x</a:t>
            </a:r>
            <a:r>
              <a:rPr lang="zh-CN" altLang="zh-CN" dirty="0"/>
              <a:t>：任何类型的值</a:t>
            </a:r>
          </a:p>
          <a:p>
            <a:pPr marL="0" indent="0">
              <a:buNone/>
            </a:pPr>
            <a:r>
              <a:rPr lang="zh-CN" altLang="zh-CN" dirty="0"/>
              <a:t>返回值：字节</a:t>
            </a:r>
            <a:endParaRPr lang="zh-CN" altLang="en-US" dirty="0"/>
          </a:p>
        </p:txBody>
      </p:sp>
    </p:spTree>
  </p:cSld>
  <p:clrMapOvr>
    <a:masterClrMapping/>
  </p:clrMapOvr>
  <p:transition>
    <p:cover dir="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数据类型转换</a:t>
            </a:r>
            <a:endParaRPr lang="zh-CN" altLang="en-US" dirty="0"/>
          </a:p>
        </p:txBody>
      </p:sp>
      <p:sp>
        <p:nvSpPr>
          <p:cNvPr id="3" name="内容占位符 2"/>
          <p:cNvSpPr>
            <a:spLocks noGrp="1"/>
          </p:cNvSpPr>
          <p:nvPr>
            <p:ph idx="1"/>
          </p:nvPr>
        </p:nvSpPr>
        <p:spPr/>
        <p:txBody>
          <a:bodyPr/>
          <a:lstStyle/>
          <a:p>
            <a:pPr marL="0" indent="0">
              <a:buNone/>
            </a:pPr>
            <a:r>
              <a:rPr lang="en-US" altLang="zh-CN" dirty="0" err="1"/>
              <a:t>int</a:t>
            </a:r>
            <a:r>
              <a:rPr lang="en-US" altLang="zh-CN" dirty="0"/>
              <a:t>()</a:t>
            </a:r>
            <a:endParaRPr lang="zh-CN" altLang="zh-CN" dirty="0"/>
          </a:p>
          <a:p>
            <a:pPr marL="0" indent="0">
              <a:buNone/>
            </a:pPr>
            <a:r>
              <a:rPr lang="zh-CN" altLang="zh-CN" dirty="0"/>
              <a:t>功能：将一个值转换为整型数值。</a:t>
            </a:r>
          </a:p>
          <a:p>
            <a:pPr marL="0" indent="0">
              <a:buNone/>
            </a:pPr>
            <a:r>
              <a:rPr lang="zh-CN" altLang="zh-CN" dirty="0"/>
              <a:t>语法：</a:t>
            </a:r>
            <a:r>
              <a:rPr lang="en-US" altLang="zh-CN" dirty="0" err="1"/>
              <a:t>int</a:t>
            </a:r>
            <a:r>
              <a:rPr lang="en-US" altLang="zh-CN" dirty="0"/>
              <a:t>(x)</a:t>
            </a:r>
            <a:endParaRPr lang="zh-CN" altLang="zh-CN" dirty="0"/>
          </a:p>
          <a:p>
            <a:pPr marL="0" indent="0">
              <a:buNone/>
            </a:pPr>
            <a:r>
              <a:rPr lang="zh-CN" altLang="zh-CN" dirty="0"/>
              <a:t>参数：</a:t>
            </a:r>
            <a:r>
              <a:rPr lang="en-US" altLang="zh-CN" dirty="0"/>
              <a:t>x</a:t>
            </a:r>
            <a:r>
              <a:rPr lang="zh-CN" altLang="zh-CN" dirty="0"/>
              <a:t>：任何类型的值</a:t>
            </a:r>
          </a:p>
          <a:p>
            <a:pPr marL="0" indent="0">
              <a:buNone/>
            </a:pPr>
            <a:r>
              <a:rPr lang="zh-CN" altLang="zh-CN" dirty="0"/>
              <a:t>返回值：整型的值</a:t>
            </a:r>
            <a:endParaRPr lang="zh-CN" altLang="en-US" dirty="0"/>
          </a:p>
        </p:txBody>
      </p:sp>
    </p:spTree>
  </p:cSld>
  <p:clrMapOvr>
    <a:masterClrMapping/>
  </p:clrMapOvr>
  <p:transition>
    <p:cover dir="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数据类型转换</a:t>
            </a:r>
            <a:endParaRPr lang="zh-CN" altLang="en-US" dirty="0"/>
          </a:p>
        </p:txBody>
      </p:sp>
      <p:sp>
        <p:nvSpPr>
          <p:cNvPr id="3" name="内容占位符 2"/>
          <p:cNvSpPr>
            <a:spLocks noGrp="1"/>
          </p:cNvSpPr>
          <p:nvPr>
            <p:ph idx="1"/>
          </p:nvPr>
        </p:nvSpPr>
        <p:spPr/>
        <p:txBody>
          <a:bodyPr/>
          <a:lstStyle/>
          <a:p>
            <a:pPr marL="0" indent="0">
              <a:buNone/>
            </a:pPr>
            <a:r>
              <a:rPr lang="en-US" altLang="zh-CN" dirty="0"/>
              <a:t>long()</a:t>
            </a:r>
            <a:endParaRPr lang="zh-CN" altLang="zh-CN" dirty="0"/>
          </a:p>
          <a:p>
            <a:pPr marL="0" indent="0">
              <a:buNone/>
            </a:pPr>
            <a:r>
              <a:rPr lang="zh-CN" altLang="zh-CN" dirty="0"/>
              <a:t>功能：将一个值转换为长整型数值。</a:t>
            </a:r>
          </a:p>
          <a:p>
            <a:pPr marL="0" indent="0">
              <a:buNone/>
            </a:pPr>
            <a:r>
              <a:rPr lang="zh-CN" altLang="zh-CN" dirty="0"/>
              <a:t>语法：</a:t>
            </a:r>
            <a:r>
              <a:rPr lang="en-US" altLang="zh-CN" dirty="0"/>
              <a:t>long(x)</a:t>
            </a:r>
            <a:endParaRPr lang="zh-CN" altLang="zh-CN" dirty="0"/>
          </a:p>
          <a:p>
            <a:pPr marL="0" indent="0">
              <a:buNone/>
            </a:pPr>
            <a:r>
              <a:rPr lang="zh-CN" altLang="zh-CN" dirty="0"/>
              <a:t>参数：</a:t>
            </a:r>
            <a:r>
              <a:rPr lang="en-US" altLang="zh-CN" dirty="0"/>
              <a:t>x</a:t>
            </a:r>
            <a:r>
              <a:rPr lang="zh-CN" altLang="zh-CN" dirty="0"/>
              <a:t>：任何类型的值</a:t>
            </a:r>
          </a:p>
          <a:p>
            <a:pPr marL="0" indent="0">
              <a:buNone/>
            </a:pPr>
            <a:r>
              <a:rPr lang="zh-CN" altLang="zh-CN" dirty="0"/>
              <a:t>返回值：长整型的值</a:t>
            </a:r>
            <a:endParaRPr lang="zh-CN" altLang="en-US" dirty="0"/>
          </a:p>
        </p:txBody>
      </p:sp>
    </p:spTree>
  </p:cSld>
  <p:clrMapOvr>
    <a:masterClrMapping/>
  </p:clrMapOvr>
  <p:transition>
    <p:cover dir="d"/>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数据类型转换</a:t>
            </a:r>
          </a:p>
        </p:txBody>
      </p:sp>
      <p:sp>
        <p:nvSpPr>
          <p:cNvPr id="3" name="内容占位符 2"/>
          <p:cNvSpPr>
            <a:spLocks noGrp="1"/>
          </p:cNvSpPr>
          <p:nvPr>
            <p:ph idx="1"/>
          </p:nvPr>
        </p:nvSpPr>
        <p:spPr/>
        <p:txBody>
          <a:bodyPr/>
          <a:lstStyle/>
          <a:p>
            <a:pPr marL="0" indent="0">
              <a:buNone/>
            </a:pPr>
            <a:r>
              <a:rPr lang="en-US" altLang="zh-CN" dirty="0"/>
              <a:t>float()</a:t>
            </a:r>
            <a:endParaRPr lang="zh-CN" altLang="zh-CN" dirty="0"/>
          </a:p>
          <a:p>
            <a:pPr marL="0" indent="0">
              <a:buNone/>
            </a:pPr>
            <a:r>
              <a:rPr lang="zh-CN" altLang="zh-CN" dirty="0"/>
              <a:t>功能：将一个值转换换浮点型数值。</a:t>
            </a:r>
          </a:p>
          <a:p>
            <a:pPr marL="0" indent="0">
              <a:buNone/>
            </a:pPr>
            <a:r>
              <a:rPr lang="zh-CN" altLang="zh-CN" dirty="0"/>
              <a:t>语法：</a:t>
            </a:r>
            <a:r>
              <a:rPr lang="en-US" altLang="zh-CN" dirty="0"/>
              <a:t>float(x)</a:t>
            </a:r>
            <a:endParaRPr lang="zh-CN" altLang="zh-CN" dirty="0"/>
          </a:p>
          <a:p>
            <a:pPr marL="0" indent="0">
              <a:buNone/>
            </a:pPr>
            <a:r>
              <a:rPr lang="zh-CN" altLang="zh-CN" dirty="0"/>
              <a:t>参数：</a:t>
            </a:r>
            <a:r>
              <a:rPr lang="en-US" altLang="zh-CN" dirty="0"/>
              <a:t>x</a:t>
            </a:r>
            <a:r>
              <a:rPr lang="zh-CN" altLang="zh-CN" dirty="0"/>
              <a:t>：任何类型的值</a:t>
            </a:r>
          </a:p>
          <a:p>
            <a:pPr marL="0" indent="0">
              <a:buNone/>
            </a:pPr>
            <a:r>
              <a:rPr lang="zh-CN" altLang="zh-CN" dirty="0"/>
              <a:t>返回值：浮点型的值</a:t>
            </a:r>
            <a:endParaRPr lang="zh-CN" altLang="en-US" dirty="0"/>
          </a:p>
        </p:txBody>
      </p:sp>
    </p:spTree>
  </p:cSld>
  <p:clrMapOvr>
    <a:masterClrMapping/>
  </p:clrMapOvr>
  <p:transition>
    <p:cover dir="d"/>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数据类型转换</a:t>
            </a:r>
          </a:p>
        </p:txBody>
      </p:sp>
      <p:sp>
        <p:nvSpPr>
          <p:cNvPr id="3" name="内容占位符 2"/>
          <p:cNvSpPr>
            <a:spLocks noGrp="1"/>
          </p:cNvSpPr>
          <p:nvPr>
            <p:ph idx="1"/>
          </p:nvPr>
        </p:nvSpPr>
        <p:spPr/>
        <p:txBody>
          <a:bodyPr/>
          <a:lstStyle/>
          <a:p>
            <a:pPr marL="0" indent="0">
              <a:buNone/>
            </a:pPr>
            <a:r>
              <a:rPr lang="en-US" altLang="zh-CN" dirty="0"/>
              <a:t>word()</a:t>
            </a:r>
            <a:endParaRPr lang="zh-CN" altLang="zh-CN" dirty="0"/>
          </a:p>
          <a:p>
            <a:pPr marL="0" indent="0">
              <a:buNone/>
            </a:pPr>
            <a:r>
              <a:rPr lang="zh-CN" altLang="zh-CN" dirty="0"/>
              <a:t>功能：把一个值转换为</a:t>
            </a:r>
            <a:r>
              <a:rPr lang="en-US" altLang="zh-CN" dirty="0"/>
              <a:t>word</a:t>
            </a:r>
            <a:r>
              <a:rPr lang="zh-CN" altLang="zh-CN" dirty="0"/>
              <a:t>数据类型的值，或由两个字节创建一个字符。</a:t>
            </a:r>
          </a:p>
          <a:p>
            <a:pPr marL="0" indent="0">
              <a:buNone/>
            </a:pPr>
            <a:r>
              <a:rPr lang="zh-CN" altLang="zh-CN" dirty="0"/>
              <a:t>语法：</a:t>
            </a:r>
            <a:r>
              <a:rPr lang="en-US" altLang="zh-CN" dirty="0"/>
              <a:t>word(x)</a:t>
            </a:r>
            <a:r>
              <a:rPr lang="zh-CN" altLang="zh-CN" dirty="0"/>
              <a:t>或</a:t>
            </a:r>
            <a:r>
              <a:rPr lang="en-US" altLang="zh-CN" dirty="0"/>
              <a:t>word(H,L)</a:t>
            </a:r>
            <a:endParaRPr lang="zh-CN" altLang="zh-CN" dirty="0"/>
          </a:p>
          <a:p>
            <a:pPr marL="0" indent="0">
              <a:buNone/>
            </a:pPr>
            <a:r>
              <a:rPr lang="zh-CN" altLang="zh-CN" dirty="0"/>
              <a:t>参数：</a:t>
            </a:r>
            <a:r>
              <a:rPr lang="en-US" altLang="zh-CN" dirty="0"/>
              <a:t>x</a:t>
            </a:r>
            <a:r>
              <a:rPr lang="zh-CN" altLang="zh-CN" dirty="0"/>
              <a:t>：任何类型的值，</a:t>
            </a:r>
            <a:r>
              <a:rPr lang="en-US" altLang="zh-CN" dirty="0"/>
              <a:t>H</a:t>
            </a:r>
            <a:r>
              <a:rPr lang="zh-CN" altLang="zh-CN" dirty="0"/>
              <a:t>：高阶字节（左边），</a:t>
            </a:r>
            <a:r>
              <a:rPr lang="en-US" altLang="zh-CN" dirty="0"/>
              <a:t>L</a:t>
            </a:r>
            <a:r>
              <a:rPr lang="zh-CN" altLang="zh-CN" dirty="0"/>
              <a:t>：低阶字节（右边）</a:t>
            </a:r>
          </a:p>
          <a:p>
            <a:pPr marL="0" indent="0">
              <a:buNone/>
            </a:pPr>
            <a:r>
              <a:rPr lang="zh-CN" altLang="zh-CN" dirty="0"/>
              <a:t>返回值：字符</a:t>
            </a:r>
            <a:endParaRPr lang="zh-CN" altLang="en-US" dirty="0"/>
          </a:p>
        </p:txBody>
      </p:sp>
    </p:spTree>
  </p:cSld>
  <p:clrMapOvr>
    <a:masterClrMapping/>
  </p:clrMapOvr>
  <p:transition>
    <p:cover dir="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自定义数据类型</a:t>
            </a:r>
            <a:endParaRPr lang="zh-CN" altLang="en-US" dirty="0"/>
          </a:p>
        </p:txBody>
      </p:sp>
      <p:sp>
        <p:nvSpPr>
          <p:cNvPr id="3" name="内容占位符 2"/>
          <p:cNvSpPr>
            <a:spLocks noGrp="1"/>
          </p:cNvSpPr>
          <p:nvPr>
            <p:ph idx="1"/>
          </p:nvPr>
        </p:nvSpPr>
        <p:spPr/>
        <p:txBody>
          <a:bodyPr/>
          <a:lstStyle/>
          <a:p>
            <a:pPr marL="0" indent="0">
              <a:buNone/>
            </a:pPr>
            <a:r>
              <a:rPr lang="zh-CN" altLang="zh-CN" dirty="0"/>
              <a:t>在</a:t>
            </a:r>
            <a:r>
              <a:rPr lang="en-US" altLang="zh-CN" dirty="0"/>
              <a:t>Arduino</a:t>
            </a:r>
            <a:r>
              <a:rPr lang="zh-CN" altLang="zh-CN" dirty="0"/>
              <a:t>中可以根据自己的需要定义结构类型的数据，其方法和</a:t>
            </a:r>
            <a:r>
              <a:rPr lang="en-US" altLang="zh-CN" dirty="0"/>
              <a:t>C</a:t>
            </a:r>
            <a:r>
              <a:rPr lang="zh-CN" altLang="zh-CN" dirty="0"/>
              <a:t>语言是一致的。</a:t>
            </a:r>
          </a:p>
          <a:p>
            <a:pPr marL="0" indent="0">
              <a:buNone/>
            </a:pPr>
            <a:r>
              <a:rPr lang="en-US" altLang="zh-CN" dirty="0" err="1"/>
              <a:t>struct</a:t>
            </a:r>
            <a:r>
              <a:rPr lang="en-US" altLang="zh-CN" dirty="0"/>
              <a:t>  </a:t>
            </a:r>
            <a:r>
              <a:rPr lang="zh-CN" altLang="zh-CN" dirty="0"/>
              <a:t>名称</a:t>
            </a:r>
          </a:p>
          <a:p>
            <a:pPr marL="0" indent="0">
              <a:buNone/>
            </a:pPr>
            <a:r>
              <a:rPr lang="en-US" altLang="zh-CN" dirty="0"/>
              <a:t>{</a:t>
            </a:r>
            <a:endParaRPr lang="zh-CN" altLang="zh-CN" dirty="0"/>
          </a:p>
          <a:p>
            <a:pPr marL="0" indent="0">
              <a:buNone/>
            </a:pPr>
            <a:r>
              <a:rPr lang="en-US" altLang="zh-CN" dirty="0"/>
              <a:t>	</a:t>
            </a:r>
            <a:r>
              <a:rPr lang="zh-CN" altLang="zh-CN" dirty="0"/>
              <a:t>成员列表；</a:t>
            </a:r>
          </a:p>
          <a:p>
            <a:pPr marL="0" indent="0">
              <a:buNone/>
            </a:pPr>
            <a:r>
              <a:rPr lang="en-US" altLang="zh-CN" dirty="0"/>
              <a:t>};</a:t>
            </a:r>
            <a:endParaRPr lang="zh-CN" altLang="en-US" dirty="0"/>
          </a:p>
        </p:txBody>
      </p:sp>
    </p:spTree>
  </p:cSld>
  <p:clrMapOvr>
    <a:masterClrMapping/>
  </p:clrMapOvr>
  <p:transition>
    <p:cover dir="d"/>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a:t>
            </a:r>
            <a:r>
              <a:rPr lang="zh-CN" altLang="zh-CN" dirty="0"/>
              <a:t>语法——数组</a:t>
            </a:r>
            <a:endParaRPr lang="zh-CN" altLang="en-US" dirty="0"/>
          </a:p>
        </p:txBody>
      </p:sp>
      <p:sp>
        <p:nvSpPr>
          <p:cNvPr id="3" name="内容占位符 2"/>
          <p:cNvSpPr>
            <a:spLocks noGrp="1"/>
          </p:cNvSpPr>
          <p:nvPr>
            <p:ph idx="1"/>
          </p:nvPr>
        </p:nvSpPr>
        <p:spPr/>
        <p:txBody>
          <a:bodyPr/>
          <a:lstStyle/>
          <a:p>
            <a:pPr marL="0" indent="0" algn="just">
              <a:buNone/>
            </a:pPr>
            <a:r>
              <a:rPr lang="zh-CN" altLang="zh-CN" dirty="0"/>
              <a:t>数组是一种可访问的变量的集合。</a:t>
            </a:r>
            <a:r>
              <a:rPr lang="en-US" altLang="zh-CN" dirty="0"/>
              <a:t>Arduino</a:t>
            </a:r>
            <a:r>
              <a:rPr lang="zh-CN" altLang="zh-CN" dirty="0"/>
              <a:t>的数组是基于</a:t>
            </a:r>
            <a:r>
              <a:rPr lang="en-US" altLang="zh-CN" dirty="0"/>
              <a:t>C</a:t>
            </a:r>
            <a:r>
              <a:rPr lang="zh-CN" altLang="zh-CN" dirty="0"/>
              <a:t>语言的，实现起来虽然有些复杂，但使用却很简单。</a:t>
            </a:r>
            <a:endParaRPr lang="zh-CN" altLang="en-US" dirty="0"/>
          </a:p>
        </p:txBody>
      </p:sp>
    </p:spTree>
  </p:cSld>
  <p:clrMapOvr>
    <a:masterClrMapping/>
  </p:clrMapOvr>
  <p:transition>
    <p:cover dir="d"/>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创建或声明一个数组</a:t>
            </a:r>
            <a:endParaRPr lang="zh-CN" altLang="en-US" dirty="0"/>
          </a:p>
        </p:txBody>
      </p:sp>
      <p:sp>
        <p:nvSpPr>
          <p:cNvPr id="3" name="内容占位符 2"/>
          <p:cNvSpPr>
            <a:spLocks noGrp="1"/>
          </p:cNvSpPr>
          <p:nvPr>
            <p:ph idx="1"/>
          </p:nvPr>
        </p:nvSpPr>
        <p:spPr>
          <a:xfrm>
            <a:off x="685800" y="1752600"/>
            <a:ext cx="7772400" cy="4343400"/>
          </a:xfrm>
        </p:spPr>
        <p:txBody>
          <a:bodyPr/>
          <a:lstStyle/>
          <a:p>
            <a:pPr marL="0" indent="0">
              <a:buNone/>
            </a:pPr>
            <a:r>
              <a:rPr lang="en-US" altLang="zh-CN" sz="2800" dirty="0" err="1"/>
              <a:t>arrayInts</a:t>
            </a:r>
            <a:r>
              <a:rPr lang="en-US" altLang="zh-CN" sz="2800" dirty="0"/>
              <a:t> [6];</a:t>
            </a:r>
            <a:endParaRPr lang="zh-CN" altLang="zh-CN" sz="2800" dirty="0"/>
          </a:p>
          <a:p>
            <a:pPr marL="0" indent="0">
              <a:buNone/>
            </a:pPr>
            <a:r>
              <a:rPr lang="en-US" altLang="zh-CN" sz="2800" dirty="0" err="1"/>
              <a:t>arrayNums</a:t>
            </a:r>
            <a:r>
              <a:rPr lang="en-US" altLang="zh-CN" sz="2800" dirty="0"/>
              <a:t> [] = {2</a:t>
            </a:r>
            <a:r>
              <a:rPr lang="zh-CN" altLang="zh-CN" sz="2800" dirty="0"/>
              <a:t>，</a:t>
            </a:r>
            <a:r>
              <a:rPr lang="en-US" altLang="zh-CN" sz="2800" dirty="0"/>
              <a:t>4</a:t>
            </a:r>
            <a:r>
              <a:rPr lang="zh-CN" altLang="zh-CN" sz="2800" dirty="0"/>
              <a:t>，</a:t>
            </a:r>
            <a:r>
              <a:rPr lang="en-US" altLang="zh-CN" sz="2800" dirty="0"/>
              <a:t>6</a:t>
            </a:r>
            <a:r>
              <a:rPr lang="zh-CN" altLang="zh-CN" sz="2800" dirty="0"/>
              <a:t>，</a:t>
            </a:r>
            <a:r>
              <a:rPr lang="en-US" altLang="zh-CN" sz="2800" dirty="0"/>
              <a:t>8</a:t>
            </a:r>
            <a:r>
              <a:rPr lang="zh-CN" altLang="zh-CN" sz="2800" dirty="0"/>
              <a:t>，</a:t>
            </a:r>
            <a:r>
              <a:rPr lang="en-US" altLang="zh-CN" sz="2800" dirty="0"/>
              <a:t>11};</a:t>
            </a:r>
            <a:endParaRPr lang="zh-CN" altLang="zh-CN" sz="2800" dirty="0"/>
          </a:p>
          <a:p>
            <a:pPr marL="0" indent="0">
              <a:buNone/>
            </a:pPr>
            <a:r>
              <a:rPr lang="en-US" altLang="zh-CN" sz="2800" dirty="0" err="1"/>
              <a:t>arrayVals</a:t>
            </a:r>
            <a:r>
              <a:rPr lang="en-US" altLang="zh-CN" sz="2800" dirty="0"/>
              <a:t> [6] = {2</a:t>
            </a:r>
            <a:r>
              <a:rPr lang="zh-CN" altLang="zh-CN" sz="2800" dirty="0"/>
              <a:t>，</a:t>
            </a:r>
            <a:r>
              <a:rPr lang="en-US" altLang="zh-CN" sz="2800" dirty="0"/>
              <a:t>4</a:t>
            </a:r>
            <a:r>
              <a:rPr lang="zh-CN" altLang="zh-CN" sz="2800" dirty="0"/>
              <a:t>，</a:t>
            </a:r>
            <a:r>
              <a:rPr lang="en-US" altLang="zh-CN" sz="2800" dirty="0"/>
              <a:t>-8</a:t>
            </a:r>
            <a:r>
              <a:rPr lang="zh-CN" altLang="zh-CN" sz="2800" dirty="0"/>
              <a:t>，</a:t>
            </a:r>
            <a:r>
              <a:rPr lang="en-US" altLang="zh-CN" sz="2800" dirty="0"/>
              <a:t>3</a:t>
            </a:r>
            <a:r>
              <a:rPr lang="zh-CN" altLang="zh-CN" sz="2800" dirty="0"/>
              <a:t>，</a:t>
            </a:r>
            <a:r>
              <a:rPr lang="en-US" altLang="zh-CN" sz="2800" dirty="0"/>
              <a:t>5};</a:t>
            </a:r>
            <a:endParaRPr lang="zh-CN" altLang="zh-CN" sz="2800" dirty="0"/>
          </a:p>
          <a:p>
            <a:pPr marL="0" indent="0">
              <a:buNone/>
            </a:pPr>
            <a:r>
              <a:rPr lang="en-US" altLang="zh-CN" sz="2800" dirty="0"/>
              <a:t>char </a:t>
            </a:r>
            <a:r>
              <a:rPr lang="en-US" altLang="zh-CN" sz="2800" dirty="0" err="1"/>
              <a:t>arrayString</a:t>
            </a:r>
            <a:r>
              <a:rPr lang="en-US" altLang="zh-CN" sz="2800" dirty="0"/>
              <a:t>[7] = "Arduino";</a:t>
            </a:r>
            <a:endParaRPr lang="zh-CN" altLang="zh-CN" sz="2800" dirty="0"/>
          </a:p>
          <a:p>
            <a:pPr marL="0" indent="0" algn="just">
              <a:buNone/>
            </a:pPr>
            <a:r>
              <a:rPr lang="en-US" altLang="zh-CN" dirty="0"/>
              <a:t>Arduino</a:t>
            </a:r>
            <a:r>
              <a:rPr lang="zh-CN" altLang="zh-CN" dirty="0"/>
              <a:t>数组的创建可以指定初始值，如果没有指定，那么编译器默认为</a:t>
            </a:r>
            <a:r>
              <a:rPr lang="en-US" altLang="zh-CN" dirty="0"/>
              <a:t>0</a:t>
            </a:r>
            <a:r>
              <a:rPr lang="zh-CN" altLang="zh-CN" dirty="0"/>
              <a:t>，同时，数组的大小可以不指定，编译器在监察时会计算元素的个数来指定数组的大小。</a:t>
            </a:r>
            <a:endParaRPr lang="zh-CN" altLang="en-US" dirty="0"/>
          </a:p>
        </p:txBody>
      </p:sp>
    </p:spTree>
  </p:cSld>
  <p:clrMapOvr>
    <a:masterClrMapping/>
  </p:clrMapOvr>
  <p:transition>
    <p:cover dir="d"/>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指定或访问数组</a:t>
            </a:r>
            <a:endParaRPr lang="zh-CN" altLang="en-US" dirty="0"/>
          </a:p>
        </p:txBody>
      </p:sp>
      <p:sp>
        <p:nvSpPr>
          <p:cNvPr id="3" name="内容占位符 2"/>
          <p:cNvSpPr>
            <a:spLocks noGrp="1"/>
          </p:cNvSpPr>
          <p:nvPr>
            <p:ph idx="1"/>
          </p:nvPr>
        </p:nvSpPr>
        <p:spPr>
          <a:xfrm>
            <a:off x="685800" y="1752600"/>
            <a:ext cx="7772400" cy="4546600"/>
          </a:xfrm>
        </p:spPr>
        <p:txBody>
          <a:bodyPr/>
          <a:lstStyle/>
          <a:p>
            <a:pPr marL="0" indent="0">
              <a:buNone/>
            </a:pPr>
            <a:r>
              <a:rPr lang="zh-CN" altLang="zh-CN" dirty="0"/>
              <a:t>在创建完数组之后，可以指定数组的某个元素的值。</a:t>
            </a:r>
            <a:endParaRPr lang="en-US" altLang="zh-CN" dirty="0"/>
          </a:p>
          <a:p>
            <a:pPr marL="0" indent="0">
              <a:buNone/>
            </a:pPr>
            <a:r>
              <a:rPr lang="en-US" altLang="zh-CN" sz="2800" dirty="0" err="1"/>
              <a:t>int</a:t>
            </a:r>
            <a:r>
              <a:rPr lang="en-US" altLang="zh-CN" sz="2800" dirty="0"/>
              <a:t> </a:t>
            </a:r>
            <a:r>
              <a:rPr lang="en-US" altLang="zh-CN" sz="2800" dirty="0" err="1"/>
              <a:t>intArray</a:t>
            </a:r>
            <a:r>
              <a:rPr lang="en-US" altLang="zh-CN" sz="2800" dirty="0"/>
              <a:t>[3];</a:t>
            </a:r>
            <a:endParaRPr lang="zh-CN" altLang="zh-CN" sz="2800" dirty="0"/>
          </a:p>
          <a:p>
            <a:pPr marL="0" indent="0">
              <a:buNone/>
            </a:pPr>
            <a:r>
              <a:rPr lang="en-US" altLang="zh-CN" sz="2800" dirty="0" err="1"/>
              <a:t>intArray</a:t>
            </a:r>
            <a:r>
              <a:rPr lang="en-US" altLang="zh-CN" sz="2800" dirty="0"/>
              <a:t>[2]=2;</a:t>
            </a:r>
          </a:p>
          <a:p>
            <a:pPr marL="0" indent="0" algn="just">
              <a:buNone/>
            </a:pPr>
            <a:r>
              <a:rPr lang="zh-CN" altLang="zh-CN" dirty="0"/>
              <a:t>数组是从零开始索引的，也就说，数组初始化之后，数组第一个元素的索引为</a:t>
            </a:r>
            <a:r>
              <a:rPr lang="en-US" altLang="zh-CN" dirty="0"/>
              <a:t>0</a:t>
            </a:r>
            <a:r>
              <a:rPr lang="zh-CN" altLang="zh-CN" dirty="0"/>
              <a:t>，如上例所示，</a:t>
            </a:r>
            <a:r>
              <a:rPr lang="en-US" altLang="zh-CN" dirty="0" err="1"/>
              <a:t>arrayString</a:t>
            </a:r>
            <a:r>
              <a:rPr lang="en-US" altLang="zh-CN" dirty="0"/>
              <a:t>[0]</a:t>
            </a:r>
            <a:r>
              <a:rPr lang="zh-CN" altLang="zh-CN" dirty="0"/>
              <a:t>为“</a:t>
            </a:r>
            <a:r>
              <a:rPr lang="en-US" altLang="zh-CN" dirty="0"/>
              <a:t>A</a:t>
            </a:r>
            <a:r>
              <a:rPr lang="zh-CN" altLang="zh-CN" dirty="0"/>
              <a:t>”即数组的第一个元素是</a:t>
            </a:r>
            <a:r>
              <a:rPr lang="en-US" altLang="zh-CN" dirty="0"/>
              <a:t>0</a:t>
            </a:r>
            <a:r>
              <a:rPr lang="zh-CN" altLang="zh-CN" dirty="0"/>
              <a:t>号索引，并以此类推。</a:t>
            </a:r>
          </a:p>
          <a:p>
            <a:pPr marL="0" indent="0">
              <a:buNone/>
            </a:pPr>
            <a:endParaRPr lang="zh-CN" altLang="en-US" dirty="0"/>
          </a:p>
        </p:txBody>
      </p:sp>
    </p:spTree>
  </p:cSld>
  <p:clrMapOvr>
    <a:masterClrMapping/>
  </p:clrMapOvr>
  <p:transition>
    <p:cover dir="d"/>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指定或访问数组</a:t>
            </a:r>
            <a:endParaRPr lang="zh-CN" altLang="en-US" dirty="0"/>
          </a:p>
        </p:txBody>
      </p:sp>
      <p:sp>
        <p:nvSpPr>
          <p:cNvPr id="3" name="内容占位符 2"/>
          <p:cNvSpPr>
            <a:spLocks noGrp="1"/>
          </p:cNvSpPr>
          <p:nvPr>
            <p:ph idx="1"/>
          </p:nvPr>
        </p:nvSpPr>
        <p:spPr>
          <a:xfrm>
            <a:off x="685800" y="1981200"/>
            <a:ext cx="8342086" cy="4114800"/>
          </a:xfrm>
        </p:spPr>
        <p:txBody>
          <a:bodyPr/>
          <a:lstStyle/>
          <a:p>
            <a:pPr marL="0" indent="0" algn="just">
              <a:buNone/>
            </a:pPr>
            <a:r>
              <a:rPr lang="zh-CN" altLang="zh-CN" dirty="0"/>
              <a:t>在访问数组时应该注意</a:t>
            </a:r>
            <a:r>
              <a:rPr lang="zh-CN" altLang="en-US" dirty="0"/>
              <a:t>，</a:t>
            </a:r>
            <a:r>
              <a:rPr lang="zh-CN" altLang="zh-CN" dirty="0"/>
              <a:t>如果访问的数据超出数组的末尾，则将从其他内存中读取数据。从这些地方读取的数据，除了产生无效的数据外，没有任何作用。向随机存储器中写入数据绝对是一个坏主意，通常会导致一些意外的结果，如导致系统崩溃或程序故障。顺便说一句，不同于</a:t>
            </a:r>
            <a:r>
              <a:rPr lang="en-US" altLang="zh-CN" dirty="0"/>
              <a:t>Basic</a:t>
            </a:r>
            <a:r>
              <a:rPr lang="zh-CN" altLang="zh-CN" dirty="0"/>
              <a:t>或</a:t>
            </a:r>
            <a:r>
              <a:rPr lang="en-US" altLang="zh-CN" dirty="0"/>
              <a:t>Java</a:t>
            </a:r>
            <a:r>
              <a:rPr lang="zh-CN" altLang="zh-CN" dirty="0"/>
              <a:t>，</a:t>
            </a:r>
            <a:r>
              <a:rPr lang="en-US" altLang="zh-CN" dirty="0"/>
              <a:t>C</a:t>
            </a:r>
            <a:r>
              <a:rPr lang="zh-CN" altLang="zh-CN" dirty="0"/>
              <a:t>语言编译器不会检查访问的数组是否大于声明的数组。</a:t>
            </a:r>
            <a:endParaRPr lang="zh-CN" altLang="en-US" dirty="0"/>
          </a:p>
        </p:txBody>
      </p:sp>
    </p:spTree>
  </p:cSld>
  <p:clrMapOvr>
    <a:masterClrMapping/>
  </p:clrMapOvr>
  <p:transition>
    <p:cover dir="d"/>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2681514" cy="595086"/>
          </a:xfrm>
          <a:solidFill>
            <a:schemeClr val="bg1">
              <a:lumMod val="85000"/>
            </a:schemeClr>
          </a:solidFill>
        </p:spPr>
        <p:txBody>
          <a:bodyPr/>
          <a:lstStyle/>
          <a:p>
            <a:pPr algn="l"/>
            <a:r>
              <a:rPr lang="zh-CN" altLang="zh-CN" sz="3200" b="1" dirty="0"/>
              <a:t>串口打印数组</a:t>
            </a:r>
            <a:endParaRPr lang="zh-CN" altLang="en-US" sz="3200" b="1" dirty="0"/>
          </a:p>
        </p:txBody>
      </p:sp>
      <p:sp>
        <p:nvSpPr>
          <p:cNvPr id="3" name="内容占位符 2"/>
          <p:cNvSpPr>
            <a:spLocks noGrp="1"/>
          </p:cNvSpPr>
          <p:nvPr>
            <p:ph idx="1"/>
          </p:nvPr>
        </p:nvSpPr>
        <p:spPr>
          <a:xfrm>
            <a:off x="685800" y="1204686"/>
            <a:ext cx="7772400" cy="4891314"/>
          </a:xfrm>
        </p:spPr>
        <p:txBody>
          <a:bodyPr/>
          <a:lstStyle/>
          <a:p>
            <a:pPr marL="0" indent="0">
              <a:buNone/>
            </a:pPr>
            <a:r>
              <a:rPr lang="en-US" altLang="zh-CN" sz="2400" dirty="0"/>
              <a:t>void setup() {</a:t>
            </a:r>
            <a:endParaRPr lang="zh-CN" altLang="zh-CN" sz="2400" dirty="0"/>
          </a:p>
          <a:p>
            <a:pPr marL="0" indent="0">
              <a:buNone/>
            </a:pPr>
            <a:r>
              <a:rPr lang="en-US" altLang="zh-CN" sz="2400" dirty="0" err="1"/>
              <a:t>int</a:t>
            </a:r>
            <a:r>
              <a:rPr lang="en-US" altLang="zh-CN" sz="2400" dirty="0"/>
              <a:t> </a:t>
            </a:r>
            <a:r>
              <a:rPr lang="en-US" altLang="zh-CN" sz="2400" dirty="0" err="1"/>
              <a:t>intArray</a:t>
            </a:r>
            <a:r>
              <a:rPr lang="en-US" altLang="zh-CN" sz="2400" dirty="0"/>
              <a:t>[10] = {1,2,3,4,5,6,7,8,9,10};  </a:t>
            </a:r>
            <a:endParaRPr lang="zh-CN" altLang="zh-CN" sz="2400" dirty="0"/>
          </a:p>
          <a:p>
            <a:pPr marL="0" indent="0">
              <a:buNone/>
            </a:pPr>
            <a:r>
              <a:rPr lang="en-US" altLang="zh-CN" sz="2400" dirty="0"/>
              <a:t> </a:t>
            </a:r>
            <a:r>
              <a:rPr lang="en-US" altLang="zh-CN" sz="2400" dirty="0" err="1"/>
              <a:t>int</a:t>
            </a:r>
            <a:r>
              <a:rPr lang="en-US" altLang="zh-CN" sz="2400" dirty="0"/>
              <a:t> </a:t>
            </a:r>
            <a:r>
              <a:rPr lang="en-US" altLang="zh-CN" sz="2400" dirty="0" err="1"/>
              <a:t>i</a:t>
            </a:r>
            <a:r>
              <a:rPr lang="en-US" altLang="zh-CN" sz="2400" dirty="0"/>
              <a:t>;</a:t>
            </a:r>
            <a:endParaRPr lang="zh-CN" altLang="zh-CN" sz="2400" dirty="0"/>
          </a:p>
          <a:p>
            <a:pPr marL="0" indent="0">
              <a:buNone/>
            </a:pPr>
            <a:r>
              <a:rPr lang="en-US" altLang="zh-CN" sz="2400" dirty="0"/>
              <a:t> for (</a:t>
            </a:r>
            <a:r>
              <a:rPr lang="en-US" altLang="zh-CN" sz="2400" dirty="0" err="1"/>
              <a:t>i</a:t>
            </a:r>
            <a:r>
              <a:rPr lang="en-US" altLang="zh-CN" sz="2400" dirty="0"/>
              <a:t> = 0; </a:t>
            </a:r>
            <a:r>
              <a:rPr lang="en-US" altLang="zh-CN" sz="2400" dirty="0" err="1"/>
              <a:t>i</a:t>
            </a:r>
            <a:r>
              <a:rPr lang="en-US" altLang="zh-CN" sz="2400" dirty="0"/>
              <a:t> &lt; 10; </a:t>
            </a:r>
            <a:r>
              <a:rPr lang="en-US" altLang="zh-CN" sz="2400" dirty="0" err="1"/>
              <a:t>i</a:t>
            </a:r>
            <a:r>
              <a:rPr lang="en-US" altLang="zh-CN" sz="2400" dirty="0"/>
              <a:t> = </a:t>
            </a:r>
            <a:r>
              <a:rPr lang="en-US" altLang="zh-CN" sz="2400" dirty="0" err="1"/>
              <a:t>i</a:t>
            </a:r>
            <a:r>
              <a:rPr lang="en-US" altLang="zh-CN" sz="2400" dirty="0"/>
              <a:t> + 1) {   		//</a:t>
            </a:r>
            <a:r>
              <a:rPr lang="zh-CN" altLang="zh-CN" sz="2400" dirty="0"/>
              <a:t>循环遍历数组</a:t>
            </a:r>
          </a:p>
          <a:p>
            <a:pPr marL="0" indent="0">
              <a:buNone/>
            </a:pPr>
            <a:r>
              <a:rPr lang="en-US" altLang="zh-CN" sz="2400" dirty="0"/>
              <a:t>	</a:t>
            </a:r>
            <a:r>
              <a:rPr lang="en-US" altLang="zh-CN" sz="2400" dirty="0" err="1"/>
              <a:t>Serial.println</a:t>
            </a:r>
            <a:r>
              <a:rPr lang="en-US" altLang="zh-CN" sz="2400" dirty="0"/>
              <a:t>(</a:t>
            </a:r>
            <a:r>
              <a:rPr lang="en-US" altLang="zh-CN" sz="2400" dirty="0" err="1"/>
              <a:t>intArray</a:t>
            </a:r>
            <a:r>
              <a:rPr lang="en-US" altLang="zh-CN" sz="2400" dirty="0"/>
              <a:t>[</a:t>
            </a:r>
            <a:r>
              <a:rPr lang="en-US" altLang="zh-CN" sz="2400" dirty="0" err="1"/>
              <a:t>i</a:t>
            </a:r>
            <a:r>
              <a:rPr lang="en-US" altLang="zh-CN" sz="2400" dirty="0"/>
              <a:t>]);    		//</a:t>
            </a:r>
            <a:r>
              <a:rPr lang="zh-CN" altLang="zh-CN" sz="2400" dirty="0"/>
              <a:t>打印数组元素</a:t>
            </a:r>
          </a:p>
          <a:p>
            <a:pPr marL="0" indent="0">
              <a:buNone/>
            </a:pPr>
            <a:r>
              <a:rPr lang="en-US" altLang="zh-CN" sz="2400" dirty="0"/>
              <a:t> 	}</a:t>
            </a:r>
            <a:endParaRPr lang="zh-CN" altLang="zh-CN" sz="2400" dirty="0"/>
          </a:p>
          <a:p>
            <a:pPr marL="0" indent="0">
              <a:buNone/>
            </a:pPr>
            <a:r>
              <a:rPr lang="en-US" altLang="zh-CN" sz="2400" dirty="0"/>
              <a:t>}</a:t>
            </a:r>
            <a:endParaRPr lang="zh-CN" altLang="zh-CN" sz="2400" dirty="0"/>
          </a:p>
          <a:p>
            <a:pPr marL="0" indent="0">
              <a:buNone/>
            </a:pPr>
            <a:r>
              <a:rPr lang="en-US" altLang="zh-CN" sz="2400" dirty="0"/>
              <a:t>void loop() {</a:t>
            </a:r>
            <a:endParaRPr lang="zh-CN" altLang="zh-CN" sz="2400" dirty="0"/>
          </a:p>
          <a:p>
            <a:pPr marL="0" indent="0">
              <a:buNone/>
            </a:pPr>
            <a:r>
              <a:rPr lang="en-US" altLang="zh-CN" sz="2400" dirty="0"/>
              <a:t>  // put your main code here, to run repeatedly: </a:t>
            </a:r>
            <a:endParaRPr lang="zh-CN" altLang="zh-CN" sz="2400" dirty="0"/>
          </a:p>
          <a:p>
            <a:pPr marL="0" indent="0">
              <a:buNone/>
            </a:pPr>
            <a:r>
              <a:rPr lang="en-US" altLang="zh-CN" sz="2400" dirty="0"/>
              <a:t>}</a:t>
            </a:r>
            <a:endParaRPr lang="zh-CN" altLang="zh-CN" sz="2400" dirty="0"/>
          </a:p>
          <a:p>
            <a:pPr marL="0" indent="0">
              <a:buNone/>
            </a:pPr>
            <a:endParaRPr lang="zh-CN" altLang="en-US" dirty="0"/>
          </a:p>
        </p:txBody>
      </p:sp>
    </p:spTree>
  </p:cSld>
  <p:clrMapOvr>
    <a:masterClrMapping/>
  </p:clrMapOvr>
  <p:transition>
    <p:cover dir="d"/>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a:t>
            </a:r>
            <a:r>
              <a:rPr lang="zh-CN" altLang="zh-CN" dirty="0"/>
              <a:t>语法——运算符</a:t>
            </a:r>
            <a:endParaRPr lang="zh-CN" altLang="en-US" dirty="0"/>
          </a:p>
        </p:txBody>
      </p:sp>
      <p:sp>
        <p:nvSpPr>
          <p:cNvPr id="3" name="内容占位符 2"/>
          <p:cNvSpPr>
            <a:spLocks noGrp="1"/>
          </p:cNvSpPr>
          <p:nvPr>
            <p:ph idx="1"/>
          </p:nvPr>
        </p:nvSpPr>
        <p:spPr/>
        <p:txBody>
          <a:bodyPr/>
          <a:lstStyle/>
          <a:p>
            <a:r>
              <a:rPr lang="zh-CN" altLang="zh-CN" dirty="0"/>
              <a:t>赋值运算符</a:t>
            </a:r>
            <a:endParaRPr lang="en-US" altLang="zh-CN" dirty="0"/>
          </a:p>
          <a:p>
            <a:r>
              <a:rPr lang="zh-CN" altLang="zh-CN" dirty="0"/>
              <a:t>算数运算符</a:t>
            </a:r>
            <a:endParaRPr lang="en-US" altLang="zh-CN" dirty="0"/>
          </a:p>
          <a:p>
            <a:r>
              <a:rPr lang="zh-CN" altLang="zh-CN" dirty="0"/>
              <a:t>关系运算符</a:t>
            </a:r>
            <a:endParaRPr lang="en-US" altLang="zh-CN" dirty="0"/>
          </a:p>
          <a:p>
            <a:r>
              <a:rPr lang="zh-CN" altLang="zh-CN" dirty="0"/>
              <a:t>逻辑运算符</a:t>
            </a:r>
            <a:endParaRPr lang="en-US" altLang="zh-CN" dirty="0"/>
          </a:p>
          <a:p>
            <a:r>
              <a:rPr lang="zh-CN" altLang="zh-CN" dirty="0"/>
              <a:t>递增</a:t>
            </a:r>
            <a:r>
              <a:rPr lang="en-US" altLang="zh-CN" dirty="0"/>
              <a:t>/</a:t>
            </a:r>
            <a:r>
              <a:rPr lang="zh-CN" altLang="zh-CN" dirty="0"/>
              <a:t>减运算符</a:t>
            </a:r>
            <a:endParaRPr lang="zh-CN" altLang="en-US" dirty="0"/>
          </a:p>
        </p:txBody>
      </p:sp>
    </p:spTree>
  </p:cSld>
  <p:clrMapOvr>
    <a:masterClrMapping/>
  </p:clrMapOvr>
  <p:transition>
    <p:cover dir="d"/>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赋值运算符</a:t>
            </a:r>
            <a:endParaRPr lang="zh-CN" altLang="en-US" dirty="0"/>
          </a:p>
        </p:txBody>
      </p:sp>
      <p:sp>
        <p:nvSpPr>
          <p:cNvPr id="3" name="内容占位符 2"/>
          <p:cNvSpPr>
            <a:spLocks noGrp="1"/>
          </p:cNvSpPr>
          <p:nvPr>
            <p:ph idx="1"/>
          </p:nvPr>
        </p:nvSpPr>
        <p:spPr/>
        <p:txBody>
          <a:bodyPr/>
          <a:lstStyle/>
          <a:p>
            <a:pPr algn="just"/>
            <a:r>
              <a:rPr lang="en-US" altLang="zh-CN" b="1" dirty="0">
                <a:solidFill>
                  <a:schemeClr val="accent6"/>
                </a:solidFill>
              </a:rPr>
              <a:t>=</a:t>
            </a:r>
            <a:r>
              <a:rPr lang="zh-CN" altLang="zh-CN" dirty="0"/>
              <a:t>（等于）为指定某个变量的值，例如：</a:t>
            </a:r>
            <a:r>
              <a:rPr lang="en-US" altLang="zh-CN" dirty="0"/>
              <a:t>A=x</a:t>
            </a:r>
            <a:r>
              <a:rPr lang="zh-CN" altLang="zh-CN" dirty="0"/>
              <a:t>，将</a:t>
            </a:r>
            <a:r>
              <a:rPr lang="en-US" altLang="zh-CN" dirty="0"/>
              <a:t>x</a:t>
            </a:r>
            <a:r>
              <a:rPr lang="zh-CN" altLang="zh-CN" dirty="0"/>
              <a:t>变量的值放入</a:t>
            </a:r>
            <a:r>
              <a:rPr lang="en-US" altLang="zh-CN" dirty="0"/>
              <a:t>A</a:t>
            </a:r>
            <a:r>
              <a:rPr lang="zh-CN" altLang="zh-CN" dirty="0"/>
              <a:t>变量。</a:t>
            </a:r>
            <a:endParaRPr lang="en-US" altLang="zh-CN" dirty="0"/>
          </a:p>
          <a:p>
            <a:pPr algn="just"/>
            <a:r>
              <a:rPr lang="en-US" altLang="zh-CN" b="1" dirty="0">
                <a:solidFill>
                  <a:schemeClr val="accent6"/>
                </a:solidFill>
              </a:rPr>
              <a:t>+=</a:t>
            </a:r>
            <a:r>
              <a:rPr lang="zh-CN" altLang="zh-CN" dirty="0"/>
              <a:t>（加等于）为加入某个变量的值，例如：</a:t>
            </a:r>
            <a:r>
              <a:rPr lang="en-US" altLang="zh-CN" dirty="0"/>
              <a:t>B+=x</a:t>
            </a:r>
            <a:r>
              <a:rPr lang="zh-CN" altLang="zh-CN" dirty="0"/>
              <a:t>，将</a:t>
            </a:r>
            <a:r>
              <a:rPr lang="en-US" altLang="zh-CN" dirty="0"/>
              <a:t>B</a:t>
            </a:r>
            <a:r>
              <a:rPr lang="zh-CN" altLang="zh-CN" dirty="0"/>
              <a:t>变量的值与</a:t>
            </a:r>
            <a:r>
              <a:rPr lang="en-US" altLang="zh-CN" dirty="0"/>
              <a:t>x</a:t>
            </a:r>
            <a:r>
              <a:rPr lang="zh-CN" altLang="zh-CN" dirty="0"/>
              <a:t>变量的值相加，其和放入</a:t>
            </a:r>
            <a:r>
              <a:rPr lang="en-US" altLang="zh-CN" dirty="0"/>
              <a:t>B</a:t>
            </a:r>
            <a:r>
              <a:rPr lang="zh-CN" altLang="zh-CN" dirty="0"/>
              <a:t>变量，这与</a:t>
            </a:r>
            <a:r>
              <a:rPr lang="en-US" altLang="zh-CN" dirty="0"/>
              <a:t>B=</a:t>
            </a:r>
            <a:r>
              <a:rPr lang="en-US" altLang="zh-CN" dirty="0" err="1"/>
              <a:t>B+x</a:t>
            </a:r>
            <a:r>
              <a:rPr lang="zh-CN" altLang="zh-CN" dirty="0"/>
              <a:t>表达式相同。</a:t>
            </a:r>
            <a:endParaRPr lang="en-US" altLang="zh-CN" dirty="0"/>
          </a:p>
          <a:p>
            <a:endParaRPr lang="zh-CN" altLang="en-US" dirty="0"/>
          </a:p>
        </p:txBody>
      </p:sp>
    </p:spTree>
  </p:cSld>
  <p:clrMapOvr>
    <a:masterClrMapping/>
  </p:clrMapOvr>
  <p:transition>
    <p:cover dir="d"/>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赋值运算符</a:t>
            </a:r>
            <a:endParaRPr lang="zh-CN" altLang="en-US" dirty="0"/>
          </a:p>
        </p:txBody>
      </p:sp>
      <p:sp>
        <p:nvSpPr>
          <p:cNvPr id="3" name="内容占位符 2"/>
          <p:cNvSpPr>
            <a:spLocks noGrp="1"/>
          </p:cNvSpPr>
          <p:nvPr>
            <p:ph idx="1"/>
          </p:nvPr>
        </p:nvSpPr>
        <p:spPr>
          <a:xfrm>
            <a:off x="685799" y="1981200"/>
            <a:ext cx="8095343" cy="4114800"/>
          </a:xfrm>
        </p:spPr>
        <p:txBody>
          <a:bodyPr/>
          <a:lstStyle/>
          <a:p>
            <a:pPr algn="just"/>
            <a:r>
              <a:rPr lang="en-US" altLang="zh-CN" b="1" dirty="0">
                <a:solidFill>
                  <a:schemeClr val="accent6"/>
                </a:solidFill>
              </a:rPr>
              <a:t>-=</a:t>
            </a:r>
            <a:r>
              <a:rPr lang="zh-CN" altLang="zh-CN" dirty="0"/>
              <a:t>（减等于）为减去某个变量的值，例如：</a:t>
            </a:r>
            <a:r>
              <a:rPr lang="en-US" altLang="zh-CN" dirty="0"/>
              <a:t>C-=x</a:t>
            </a:r>
            <a:r>
              <a:rPr lang="zh-CN" altLang="zh-CN" dirty="0"/>
              <a:t>，将</a:t>
            </a:r>
            <a:r>
              <a:rPr lang="en-US" altLang="zh-CN" dirty="0"/>
              <a:t>C</a:t>
            </a:r>
            <a:r>
              <a:rPr lang="zh-CN" altLang="zh-CN" dirty="0"/>
              <a:t>变量的值减去</a:t>
            </a:r>
            <a:r>
              <a:rPr lang="en-US" altLang="zh-CN" dirty="0"/>
              <a:t>x</a:t>
            </a:r>
            <a:r>
              <a:rPr lang="zh-CN" altLang="zh-CN" dirty="0"/>
              <a:t>变量的值，其差放入</a:t>
            </a:r>
            <a:r>
              <a:rPr lang="en-US" altLang="zh-CN" dirty="0"/>
              <a:t>C</a:t>
            </a:r>
            <a:r>
              <a:rPr lang="zh-CN" altLang="zh-CN" dirty="0"/>
              <a:t>变量，与</a:t>
            </a:r>
            <a:r>
              <a:rPr lang="en-US" altLang="zh-CN" dirty="0"/>
              <a:t>C=C-x</a:t>
            </a:r>
            <a:r>
              <a:rPr lang="zh-CN" altLang="zh-CN" dirty="0"/>
              <a:t>表达式相同。</a:t>
            </a:r>
            <a:endParaRPr lang="en-US" altLang="zh-CN" dirty="0"/>
          </a:p>
          <a:p>
            <a:pPr algn="just"/>
            <a:r>
              <a:rPr lang="en-US" altLang="zh-CN" b="1" dirty="0">
                <a:solidFill>
                  <a:schemeClr val="accent6"/>
                </a:solidFill>
              </a:rPr>
              <a:t>*=</a:t>
            </a:r>
            <a:r>
              <a:rPr lang="zh-CN" altLang="zh-CN" dirty="0"/>
              <a:t>（乘等于）为乘入某个变量的值，例如：</a:t>
            </a:r>
            <a:r>
              <a:rPr lang="en-US" altLang="zh-CN" dirty="0"/>
              <a:t>D*=x</a:t>
            </a:r>
            <a:r>
              <a:rPr lang="zh-CN" altLang="zh-CN" dirty="0"/>
              <a:t>，将</a:t>
            </a:r>
            <a:r>
              <a:rPr lang="en-US" altLang="zh-CN" dirty="0"/>
              <a:t>D</a:t>
            </a:r>
            <a:r>
              <a:rPr lang="zh-CN" altLang="zh-CN" dirty="0"/>
              <a:t>变量的值与</a:t>
            </a:r>
            <a:r>
              <a:rPr lang="en-US" altLang="zh-CN" dirty="0"/>
              <a:t>x</a:t>
            </a:r>
            <a:r>
              <a:rPr lang="zh-CN" altLang="zh-CN" dirty="0"/>
              <a:t>变量的值相乘，其积放入</a:t>
            </a:r>
            <a:r>
              <a:rPr lang="en-US" altLang="zh-CN" dirty="0"/>
              <a:t>D</a:t>
            </a:r>
            <a:r>
              <a:rPr lang="zh-CN" altLang="zh-CN" dirty="0"/>
              <a:t>变量，与</a:t>
            </a:r>
            <a:r>
              <a:rPr lang="en-US" altLang="zh-CN" dirty="0"/>
              <a:t>D=D*x</a:t>
            </a:r>
            <a:r>
              <a:rPr lang="zh-CN" altLang="zh-CN" dirty="0"/>
              <a:t>表达式相同。</a:t>
            </a:r>
            <a:endParaRPr lang="zh-CN" altLang="en-US" dirty="0"/>
          </a:p>
        </p:txBody>
      </p:sp>
    </p:spTree>
  </p:cSld>
  <p:clrMapOvr>
    <a:masterClrMapping/>
  </p:clrMapOvr>
  <p:transition>
    <p:cover dir="d"/>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赋值运算符</a:t>
            </a:r>
            <a:endParaRPr lang="zh-CN" altLang="en-US" dirty="0"/>
          </a:p>
        </p:txBody>
      </p:sp>
      <p:sp>
        <p:nvSpPr>
          <p:cNvPr id="3" name="内容占位符 2"/>
          <p:cNvSpPr>
            <a:spLocks noGrp="1"/>
          </p:cNvSpPr>
          <p:nvPr>
            <p:ph idx="1"/>
          </p:nvPr>
        </p:nvSpPr>
        <p:spPr/>
        <p:txBody>
          <a:bodyPr/>
          <a:lstStyle/>
          <a:p>
            <a:pPr algn="just"/>
            <a:r>
              <a:rPr lang="en-US" altLang="zh-CN" b="1" dirty="0">
                <a:solidFill>
                  <a:schemeClr val="accent6"/>
                </a:solidFill>
              </a:rPr>
              <a:t>/=</a:t>
            </a:r>
            <a:r>
              <a:rPr lang="zh-CN" altLang="zh-CN" dirty="0"/>
              <a:t>（除等于）为和某个变量的值做商，例如：</a:t>
            </a:r>
            <a:r>
              <a:rPr lang="en-US" altLang="zh-CN" dirty="0"/>
              <a:t>E/=x</a:t>
            </a:r>
            <a:r>
              <a:rPr lang="zh-CN" altLang="zh-CN" dirty="0"/>
              <a:t>，将</a:t>
            </a:r>
            <a:r>
              <a:rPr lang="en-US" altLang="zh-CN" dirty="0"/>
              <a:t>E</a:t>
            </a:r>
            <a:r>
              <a:rPr lang="zh-CN" altLang="zh-CN" dirty="0"/>
              <a:t>变量的值除以</a:t>
            </a:r>
            <a:r>
              <a:rPr lang="en-US" altLang="zh-CN" dirty="0"/>
              <a:t>x</a:t>
            </a:r>
            <a:r>
              <a:rPr lang="zh-CN" altLang="zh-CN" dirty="0"/>
              <a:t>变量的值，其商放入</a:t>
            </a:r>
            <a:r>
              <a:rPr lang="en-US" altLang="zh-CN" dirty="0"/>
              <a:t>E</a:t>
            </a:r>
            <a:r>
              <a:rPr lang="zh-CN" altLang="zh-CN" dirty="0"/>
              <a:t>变量，与</a:t>
            </a:r>
            <a:r>
              <a:rPr lang="en-US" altLang="zh-CN" dirty="0"/>
              <a:t>E=E/x</a:t>
            </a:r>
            <a:r>
              <a:rPr lang="zh-CN" altLang="zh-CN" dirty="0"/>
              <a:t>表达式相同。</a:t>
            </a:r>
            <a:endParaRPr lang="en-US" altLang="zh-CN" dirty="0"/>
          </a:p>
          <a:p>
            <a:pPr algn="just"/>
            <a:r>
              <a:rPr lang="en-US" altLang="zh-CN" b="1" dirty="0">
                <a:solidFill>
                  <a:schemeClr val="accent6"/>
                </a:solidFill>
              </a:rPr>
              <a:t>%=</a:t>
            </a:r>
            <a:r>
              <a:rPr lang="zh-CN" altLang="zh-CN" dirty="0"/>
              <a:t>（取余等于）对某个变量的值进行取余数，例如：</a:t>
            </a:r>
            <a:r>
              <a:rPr lang="en-US" altLang="zh-CN" dirty="0"/>
              <a:t>F%=x</a:t>
            </a:r>
            <a:r>
              <a:rPr lang="zh-CN" altLang="zh-CN" dirty="0"/>
              <a:t>，将</a:t>
            </a:r>
            <a:r>
              <a:rPr lang="en-US" altLang="zh-CN" dirty="0"/>
              <a:t>F</a:t>
            </a:r>
            <a:r>
              <a:rPr lang="zh-CN" altLang="zh-CN" dirty="0"/>
              <a:t>变量的值除以</a:t>
            </a:r>
            <a:r>
              <a:rPr lang="en-US" altLang="zh-CN" dirty="0"/>
              <a:t>x</a:t>
            </a:r>
            <a:r>
              <a:rPr lang="zh-CN" altLang="zh-CN" dirty="0"/>
              <a:t>变量的值，其余数放入</a:t>
            </a:r>
            <a:r>
              <a:rPr lang="en-US" altLang="zh-CN" dirty="0"/>
              <a:t>F</a:t>
            </a:r>
            <a:r>
              <a:rPr lang="zh-CN" altLang="zh-CN" dirty="0"/>
              <a:t>变量，与</a:t>
            </a:r>
            <a:r>
              <a:rPr lang="en-US" altLang="zh-CN" dirty="0"/>
              <a:t>F=</a:t>
            </a:r>
            <a:r>
              <a:rPr lang="en-US" altLang="zh-CN" dirty="0" err="1"/>
              <a:t>F%x</a:t>
            </a:r>
            <a:r>
              <a:rPr lang="zh-CN" altLang="zh-CN" dirty="0"/>
              <a:t>表达式相同。</a:t>
            </a:r>
            <a:endParaRPr lang="zh-CN" altLang="en-US" dirty="0"/>
          </a:p>
        </p:txBody>
      </p:sp>
    </p:spTree>
  </p:cSld>
  <p:clrMapOvr>
    <a:masterClrMapping/>
  </p:clrMapOvr>
  <p:transition>
    <p:cover dir="d"/>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赋值运算符</a:t>
            </a:r>
            <a:endParaRPr lang="zh-CN" altLang="en-US" dirty="0"/>
          </a:p>
        </p:txBody>
      </p:sp>
      <p:sp>
        <p:nvSpPr>
          <p:cNvPr id="3" name="内容占位符 2"/>
          <p:cNvSpPr>
            <a:spLocks noGrp="1"/>
          </p:cNvSpPr>
          <p:nvPr>
            <p:ph idx="1"/>
          </p:nvPr>
        </p:nvSpPr>
        <p:spPr/>
        <p:txBody>
          <a:bodyPr/>
          <a:lstStyle/>
          <a:p>
            <a:pPr algn="just"/>
            <a:r>
              <a:rPr lang="en-US" altLang="zh-CN" b="1" dirty="0">
                <a:solidFill>
                  <a:schemeClr val="accent6"/>
                </a:solidFill>
              </a:rPr>
              <a:t>&amp;=</a:t>
            </a:r>
            <a:r>
              <a:rPr lang="zh-CN" altLang="zh-CN" dirty="0"/>
              <a:t>（与等于）对某个变量的值按位进行与运算，例如：</a:t>
            </a:r>
            <a:r>
              <a:rPr lang="en-US" altLang="zh-CN" dirty="0"/>
              <a:t>G&amp;=x</a:t>
            </a:r>
            <a:r>
              <a:rPr lang="zh-CN" altLang="zh-CN" dirty="0"/>
              <a:t>，将</a:t>
            </a:r>
            <a:r>
              <a:rPr lang="en-US" altLang="zh-CN" dirty="0"/>
              <a:t>G</a:t>
            </a:r>
            <a:r>
              <a:rPr lang="zh-CN" altLang="zh-CN" dirty="0"/>
              <a:t>变量的值与</a:t>
            </a:r>
            <a:r>
              <a:rPr lang="en-US" altLang="zh-CN" dirty="0"/>
              <a:t>x</a:t>
            </a:r>
            <a:r>
              <a:rPr lang="zh-CN" altLang="zh-CN" dirty="0"/>
              <a:t>变量的值做</a:t>
            </a:r>
            <a:r>
              <a:rPr lang="en-US" altLang="zh-CN" dirty="0"/>
              <a:t>AND</a:t>
            </a:r>
            <a:r>
              <a:rPr lang="zh-CN" altLang="zh-CN" dirty="0"/>
              <a:t>运算，其结果放入</a:t>
            </a:r>
            <a:r>
              <a:rPr lang="en-US" altLang="zh-CN" dirty="0"/>
              <a:t>G</a:t>
            </a:r>
            <a:r>
              <a:rPr lang="zh-CN" altLang="zh-CN" dirty="0"/>
              <a:t>变量，与</a:t>
            </a:r>
            <a:r>
              <a:rPr lang="en-US" altLang="zh-CN" dirty="0"/>
              <a:t>G=</a:t>
            </a:r>
            <a:r>
              <a:rPr lang="en-US" altLang="zh-CN" dirty="0" err="1"/>
              <a:t>G&amp;x</a:t>
            </a:r>
            <a:r>
              <a:rPr lang="zh-CN" altLang="zh-CN" dirty="0"/>
              <a:t>表达式相同。</a:t>
            </a:r>
            <a:endParaRPr lang="en-US" altLang="zh-CN" dirty="0"/>
          </a:p>
          <a:p>
            <a:pPr algn="just"/>
            <a:r>
              <a:rPr lang="en-US" altLang="zh-CN" b="1" dirty="0">
                <a:solidFill>
                  <a:schemeClr val="accent6"/>
                </a:solidFill>
              </a:rPr>
              <a:t>|=</a:t>
            </a:r>
            <a:r>
              <a:rPr lang="zh-CN" altLang="zh-CN" dirty="0"/>
              <a:t>（或等于）对某个变量的值按位进行或运算，例如：</a:t>
            </a:r>
            <a:r>
              <a:rPr lang="en-US" altLang="zh-CN" dirty="0"/>
              <a:t>H|=x</a:t>
            </a:r>
            <a:r>
              <a:rPr lang="zh-CN" altLang="zh-CN" dirty="0"/>
              <a:t>，将</a:t>
            </a:r>
            <a:r>
              <a:rPr lang="en-US" altLang="zh-CN" dirty="0"/>
              <a:t>H</a:t>
            </a:r>
            <a:r>
              <a:rPr lang="zh-CN" altLang="zh-CN" dirty="0"/>
              <a:t>变量的值与</a:t>
            </a:r>
            <a:r>
              <a:rPr lang="en-US" altLang="zh-CN" dirty="0"/>
              <a:t>x</a:t>
            </a:r>
            <a:r>
              <a:rPr lang="zh-CN" altLang="zh-CN" dirty="0"/>
              <a:t>变量的值相</a:t>
            </a:r>
            <a:r>
              <a:rPr lang="en-US" altLang="zh-CN" dirty="0"/>
              <a:t>OR</a:t>
            </a:r>
            <a:r>
              <a:rPr lang="zh-CN" altLang="zh-CN" dirty="0"/>
              <a:t>运算，其结果放入变量</a:t>
            </a:r>
            <a:r>
              <a:rPr lang="en-US" altLang="zh-CN" dirty="0"/>
              <a:t>H</a:t>
            </a:r>
            <a:r>
              <a:rPr lang="zh-CN" altLang="zh-CN" dirty="0"/>
              <a:t>，与</a:t>
            </a:r>
            <a:r>
              <a:rPr lang="en-US" altLang="zh-CN" dirty="0"/>
              <a:t>H=</a:t>
            </a:r>
            <a:r>
              <a:rPr lang="en-US" altLang="zh-CN" dirty="0" err="1"/>
              <a:t>H|x</a:t>
            </a:r>
            <a:r>
              <a:rPr lang="zh-CN" altLang="zh-CN" dirty="0"/>
              <a:t>相同。</a:t>
            </a:r>
            <a:endParaRPr lang="zh-CN" altLang="en-US" dirty="0"/>
          </a:p>
        </p:txBody>
      </p:sp>
    </p:spTree>
  </p:cSld>
  <p:clrMapOvr>
    <a:masterClrMapping/>
  </p:clrMapOvr>
  <p:transition>
    <p:cover dir="d"/>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8687" y="609600"/>
            <a:ext cx="8269513" cy="1143000"/>
          </a:xfrm>
        </p:spPr>
        <p:txBody>
          <a:bodyPr/>
          <a:lstStyle/>
          <a:p>
            <a:pPr algn="l"/>
            <a:r>
              <a:rPr lang="zh-CN" altLang="zh-CN" dirty="0"/>
              <a:t>赋值运算符</a:t>
            </a:r>
            <a:endParaRPr lang="zh-CN" altLang="en-US" dirty="0"/>
          </a:p>
        </p:txBody>
      </p:sp>
      <p:sp>
        <p:nvSpPr>
          <p:cNvPr id="3" name="内容占位符 2"/>
          <p:cNvSpPr>
            <a:spLocks noGrp="1"/>
          </p:cNvSpPr>
          <p:nvPr>
            <p:ph idx="1"/>
          </p:nvPr>
        </p:nvSpPr>
        <p:spPr>
          <a:xfrm>
            <a:off x="188686" y="1752599"/>
            <a:ext cx="8955313" cy="4517571"/>
          </a:xfrm>
        </p:spPr>
        <p:txBody>
          <a:bodyPr/>
          <a:lstStyle/>
          <a:p>
            <a:pPr algn="just"/>
            <a:r>
              <a:rPr lang="en-US" altLang="zh-CN" sz="3000" b="1" dirty="0">
                <a:solidFill>
                  <a:schemeClr val="accent6"/>
                </a:solidFill>
              </a:rPr>
              <a:t>^=</a:t>
            </a:r>
            <a:r>
              <a:rPr lang="zh-CN" altLang="zh-CN" sz="3000" dirty="0"/>
              <a:t>（异或等于）对某个变量的值按位进行异或运算，例如：</a:t>
            </a:r>
            <a:r>
              <a:rPr lang="en-US" altLang="zh-CN" sz="3000" dirty="0"/>
              <a:t>I^=x</a:t>
            </a:r>
            <a:r>
              <a:rPr lang="zh-CN" altLang="zh-CN" sz="3000" dirty="0"/>
              <a:t>，将</a:t>
            </a:r>
            <a:r>
              <a:rPr lang="en-US" altLang="zh-CN" sz="3000" dirty="0"/>
              <a:t>I</a:t>
            </a:r>
            <a:r>
              <a:rPr lang="zh-CN" altLang="zh-CN" sz="3000" dirty="0"/>
              <a:t>变量的值与</a:t>
            </a:r>
            <a:r>
              <a:rPr lang="en-US" altLang="zh-CN" sz="3000" dirty="0"/>
              <a:t>x</a:t>
            </a:r>
            <a:r>
              <a:rPr lang="zh-CN" altLang="zh-CN" sz="3000" dirty="0"/>
              <a:t>变量的值做</a:t>
            </a:r>
            <a:r>
              <a:rPr lang="en-US" altLang="zh-CN" sz="3000" dirty="0"/>
              <a:t>XOR</a:t>
            </a:r>
            <a:r>
              <a:rPr lang="zh-CN" altLang="zh-CN" sz="3000" dirty="0"/>
              <a:t>运算，其结果放入变量</a:t>
            </a:r>
            <a:r>
              <a:rPr lang="en-US" altLang="zh-CN" sz="3000" dirty="0"/>
              <a:t>I</a:t>
            </a:r>
            <a:r>
              <a:rPr lang="zh-CN" altLang="zh-CN" sz="3000" dirty="0"/>
              <a:t>，与</a:t>
            </a:r>
            <a:r>
              <a:rPr lang="en-US" altLang="zh-CN" sz="3000" dirty="0"/>
              <a:t>I=</a:t>
            </a:r>
            <a:r>
              <a:rPr lang="en-US" altLang="zh-CN" sz="3000" dirty="0" err="1"/>
              <a:t>I^x</a:t>
            </a:r>
            <a:r>
              <a:rPr lang="zh-CN" altLang="zh-CN" sz="3000" dirty="0"/>
              <a:t>相同。</a:t>
            </a:r>
            <a:endParaRPr lang="en-US" altLang="zh-CN" sz="3000" dirty="0"/>
          </a:p>
          <a:p>
            <a:pPr algn="just"/>
            <a:r>
              <a:rPr lang="en-US" altLang="zh-CN" sz="3000" b="1" dirty="0">
                <a:solidFill>
                  <a:schemeClr val="accent6"/>
                </a:solidFill>
              </a:rPr>
              <a:t>&lt;&lt;=</a:t>
            </a:r>
            <a:r>
              <a:rPr lang="zh-CN" altLang="zh-CN" sz="3000" dirty="0"/>
              <a:t>（左移等于）将某个变量的值按位进行左移，例如：</a:t>
            </a:r>
            <a:r>
              <a:rPr lang="en-US" altLang="zh-CN" sz="3000" dirty="0"/>
              <a:t>J&lt;&lt;=n</a:t>
            </a:r>
            <a:r>
              <a:rPr lang="zh-CN" altLang="zh-CN" sz="3000" dirty="0"/>
              <a:t>，将</a:t>
            </a:r>
            <a:r>
              <a:rPr lang="en-US" altLang="zh-CN" sz="3000" dirty="0"/>
              <a:t>J</a:t>
            </a:r>
            <a:r>
              <a:rPr lang="zh-CN" altLang="zh-CN" sz="3000" dirty="0"/>
              <a:t>变量的值左移</a:t>
            </a:r>
            <a:r>
              <a:rPr lang="en-US" altLang="zh-CN" sz="3000" dirty="0"/>
              <a:t>n</a:t>
            </a:r>
            <a:r>
              <a:rPr lang="zh-CN" altLang="zh-CN" sz="3000" dirty="0"/>
              <a:t>位，与</a:t>
            </a:r>
            <a:r>
              <a:rPr lang="en-US" altLang="zh-CN" sz="3000" dirty="0"/>
              <a:t>J=J&lt;&lt;n</a:t>
            </a:r>
            <a:r>
              <a:rPr lang="zh-CN" altLang="zh-CN" sz="3000" dirty="0"/>
              <a:t>相同。</a:t>
            </a:r>
            <a:endParaRPr lang="en-US" altLang="zh-CN" sz="3000" dirty="0"/>
          </a:p>
          <a:p>
            <a:pPr algn="just"/>
            <a:r>
              <a:rPr lang="en-US" altLang="zh-CN" sz="3000" b="1" dirty="0">
                <a:solidFill>
                  <a:schemeClr val="accent6"/>
                </a:solidFill>
              </a:rPr>
              <a:t>&gt;&gt;=</a:t>
            </a:r>
            <a:r>
              <a:rPr lang="zh-CN" altLang="zh-CN" sz="3000" dirty="0"/>
              <a:t>（右移等于）将某个变量的值按位进行右移，例如：</a:t>
            </a:r>
            <a:r>
              <a:rPr lang="en-US" altLang="zh-CN" sz="3000" dirty="0"/>
              <a:t>K&gt;&gt;=n</a:t>
            </a:r>
            <a:r>
              <a:rPr lang="zh-CN" altLang="zh-CN" sz="3000" dirty="0"/>
              <a:t>，将</a:t>
            </a:r>
            <a:r>
              <a:rPr lang="en-US" altLang="zh-CN" sz="3000" dirty="0"/>
              <a:t>K</a:t>
            </a:r>
            <a:r>
              <a:rPr lang="zh-CN" altLang="zh-CN" sz="3000" dirty="0"/>
              <a:t>变量的值右移</a:t>
            </a:r>
            <a:r>
              <a:rPr lang="en-US" altLang="zh-CN" sz="3000" dirty="0"/>
              <a:t>n</a:t>
            </a:r>
            <a:r>
              <a:rPr lang="zh-CN" altLang="zh-CN" sz="3000" dirty="0"/>
              <a:t>位，与</a:t>
            </a:r>
            <a:r>
              <a:rPr lang="en-US" altLang="zh-CN" sz="3000" dirty="0"/>
              <a:t>K=K&gt;&gt;n</a:t>
            </a:r>
            <a:r>
              <a:rPr lang="zh-CN" altLang="zh-CN" sz="3000" dirty="0"/>
              <a:t>相同。</a:t>
            </a:r>
            <a:endParaRPr lang="zh-CN" altLang="en-US" sz="3000" dirty="0"/>
          </a:p>
        </p:txBody>
      </p:sp>
    </p:spTree>
  </p:cSld>
  <p:clrMapOvr>
    <a:masterClrMapping/>
  </p:clrMapOvr>
  <p:transition>
    <p:cover dir="d"/>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算数运算符</a:t>
            </a:r>
            <a:endParaRPr lang="zh-CN" altLang="en-US" dirty="0"/>
          </a:p>
        </p:txBody>
      </p:sp>
      <p:sp>
        <p:nvSpPr>
          <p:cNvPr id="3" name="内容占位符 2"/>
          <p:cNvSpPr>
            <a:spLocks noGrp="1"/>
          </p:cNvSpPr>
          <p:nvPr>
            <p:ph idx="1"/>
          </p:nvPr>
        </p:nvSpPr>
        <p:spPr>
          <a:xfrm>
            <a:off x="685800" y="1752600"/>
            <a:ext cx="8255000" cy="4343400"/>
          </a:xfrm>
        </p:spPr>
        <p:txBody>
          <a:bodyPr/>
          <a:lstStyle/>
          <a:p>
            <a:pPr algn="just"/>
            <a:r>
              <a:rPr lang="en-US" altLang="zh-CN" b="1" dirty="0">
                <a:solidFill>
                  <a:schemeClr val="accent6"/>
                </a:solidFill>
              </a:rPr>
              <a:t>+</a:t>
            </a:r>
            <a:r>
              <a:rPr lang="zh-CN" altLang="zh-CN" dirty="0"/>
              <a:t>（加）对两个值进行求和，例如：</a:t>
            </a:r>
            <a:r>
              <a:rPr lang="en-US" altLang="zh-CN" dirty="0"/>
              <a:t>A=</a:t>
            </a:r>
            <a:r>
              <a:rPr lang="en-US" altLang="zh-CN" dirty="0" err="1"/>
              <a:t>x+y</a:t>
            </a:r>
            <a:r>
              <a:rPr lang="zh-CN" altLang="zh-CN" dirty="0"/>
              <a:t>，将</a:t>
            </a:r>
            <a:r>
              <a:rPr lang="en-US" altLang="zh-CN" dirty="0"/>
              <a:t>x</a:t>
            </a:r>
            <a:r>
              <a:rPr lang="zh-CN" altLang="zh-CN" dirty="0"/>
              <a:t>与</a:t>
            </a:r>
            <a:r>
              <a:rPr lang="en-US" altLang="zh-CN" dirty="0"/>
              <a:t>y</a:t>
            </a:r>
            <a:r>
              <a:rPr lang="zh-CN" altLang="zh-CN" dirty="0"/>
              <a:t>变量的值相加，其和放入</a:t>
            </a:r>
            <a:r>
              <a:rPr lang="en-US" altLang="zh-CN" dirty="0"/>
              <a:t>A</a:t>
            </a:r>
            <a:r>
              <a:rPr lang="zh-CN" altLang="zh-CN" dirty="0"/>
              <a:t>变量。</a:t>
            </a:r>
            <a:endParaRPr lang="en-US" altLang="zh-CN" dirty="0"/>
          </a:p>
          <a:p>
            <a:pPr algn="just"/>
            <a:r>
              <a:rPr lang="en-US" altLang="zh-CN" b="1" dirty="0">
                <a:solidFill>
                  <a:schemeClr val="accent6"/>
                </a:solidFill>
              </a:rPr>
              <a:t>-</a:t>
            </a:r>
            <a:r>
              <a:rPr lang="zh-CN" altLang="zh-CN" dirty="0"/>
              <a:t>（减）对两个值进行做差，例如：</a:t>
            </a:r>
            <a:r>
              <a:rPr lang="en-US" altLang="zh-CN" dirty="0"/>
              <a:t>B=x-y</a:t>
            </a:r>
            <a:r>
              <a:rPr lang="zh-CN" altLang="zh-CN" dirty="0"/>
              <a:t>，将</a:t>
            </a:r>
            <a:r>
              <a:rPr lang="en-US" altLang="zh-CN" dirty="0"/>
              <a:t>x</a:t>
            </a:r>
            <a:r>
              <a:rPr lang="zh-CN" altLang="zh-CN" dirty="0"/>
              <a:t>变量的值减去</a:t>
            </a:r>
            <a:r>
              <a:rPr lang="en-US" altLang="zh-CN" dirty="0"/>
              <a:t>y</a:t>
            </a:r>
            <a:r>
              <a:rPr lang="zh-CN" altLang="zh-CN" dirty="0"/>
              <a:t>变量的值，其差放入</a:t>
            </a:r>
            <a:r>
              <a:rPr lang="en-US" altLang="zh-CN" dirty="0"/>
              <a:t>B</a:t>
            </a:r>
            <a:r>
              <a:rPr lang="zh-CN" altLang="zh-CN" dirty="0"/>
              <a:t>变量。</a:t>
            </a:r>
            <a:endParaRPr lang="en-US" altLang="zh-CN" dirty="0"/>
          </a:p>
          <a:p>
            <a:pPr algn="just"/>
            <a:r>
              <a:rPr lang="en-US" altLang="zh-CN" b="1" dirty="0">
                <a:solidFill>
                  <a:schemeClr val="accent6"/>
                </a:solidFill>
              </a:rPr>
              <a:t>*</a:t>
            </a:r>
            <a:r>
              <a:rPr lang="zh-CN" altLang="zh-CN" dirty="0"/>
              <a:t>（乘）对两个值进行乘法运算，例如：</a:t>
            </a:r>
            <a:r>
              <a:rPr lang="en-US" altLang="zh-CN" dirty="0"/>
              <a:t>C=x*y</a:t>
            </a:r>
            <a:r>
              <a:rPr lang="zh-CN" altLang="zh-CN" dirty="0"/>
              <a:t>，将</a:t>
            </a:r>
            <a:r>
              <a:rPr lang="en-US" altLang="zh-CN" dirty="0"/>
              <a:t>x</a:t>
            </a:r>
            <a:r>
              <a:rPr lang="zh-CN" altLang="zh-CN" dirty="0"/>
              <a:t>与</a:t>
            </a:r>
            <a:r>
              <a:rPr lang="en-US" altLang="zh-CN" dirty="0"/>
              <a:t>y</a:t>
            </a:r>
            <a:r>
              <a:rPr lang="zh-CN" altLang="zh-CN" dirty="0"/>
              <a:t>变量的值相乘，其积放入</a:t>
            </a:r>
            <a:r>
              <a:rPr lang="en-US" altLang="zh-CN" dirty="0"/>
              <a:t>C</a:t>
            </a:r>
            <a:r>
              <a:rPr lang="zh-CN" altLang="zh-CN" dirty="0"/>
              <a:t>变量。</a:t>
            </a:r>
            <a:endParaRPr lang="zh-CN" altLang="en-US" dirty="0"/>
          </a:p>
        </p:txBody>
      </p:sp>
    </p:spTree>
  </p:cSld>
  <p:clrMapOvr>
    <a:masterClrMapping/>
  </p:clrMapOvr>
  <p:transition>
    <p:cover dir="d"/>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算数运算符</a:t>
            </a:r>
            <a:endParaRPr lang="zh-CN" altLang="en-US" dirty="0"/>
          </a:p>
        </p:txBody>
      </p:sp>
      <p:sp>
        <p:nvSpPr>
          <p:cNvPr id="3" name="内容占位符 2"/>
          <p:cNvSpPr>
            <a:spLocks noGrp="1"/>
          </p:cNvSpPr>
          <p:nvPr>
            <p:ph idx="1"/>
          </p:nvPr>
        </p:nvSpPr>
        <p:spPr/>
        <p:txBody>
          <a:bodyPr/>
          <a:lstStyle/>
          <a:p>
            <a:pPr algn="just"/>
            <a:r>
              <a:rPr lang="en-US" altLang="zh-CN" b="1" dirty="0">
                <a:solidFill>
                  <a:schemeClr val="accent6"/>
                </a:solidFill>
              </a:rPr>
              <a:t>/</a:t>
            </a:r>
            <a:r>
              <a:rPr lang="zh-CN" altLang="zh-CN" dirty="0"/>
              <a:t>（除）对两个值进行除法运算，例如：</a:t>
            </a:r>
            <a:r>
              <a:rPr lang="en-US" altLang="zh-CN" dirty="0"/>
              <a:t>D=x/y</a:t>
            </a:r>
            <a:r>
              <a:rPr lang="zh-CN" altLang="zh-CN" dirty="0"/>
              <a:t>，将</a:t>
            </a:r>
            <a:r>
              <a:rPr lang="en-US" altLang="zh-CN" dirty="0"/>
              <a:t>x</a:t>
            </a:r>
            <a:r>
              <a:rPr lang="zh-CN" altLang="zh-CN" dirty="0"/>
              <a:t>变量的值除以</a:t>
            </a:r>
            <a:r>
              <a:rPr lang="en-US" altLang="zh-CN" dirty="0"/>
              <a:t>y</a:t>
            </a:r>
            <a:r>
              <a:rPr lang="zh-CN" altLang="zh-CN" dirty="0"/>
              <a:t>变量的值，其商放入</a:t>
            </a:r>
            <a:r>
              <a:rPr lang="en-US" altLang="zh-CN" dirty="0"/>
              <a:t>D</a:t>
            </a:r>
            <a:r>
              <a:rPr lang="zh-CN" altLang="zh-CN" dirty="0"/>
              <a:t>变量。</a:t>
            </a:r>
            <a:endParaRPr lang="en-US" altLang="zh-CN" dirty="0"/>
          </a:p>
          <a:p>
            <a:pPr algn="just"/>
            <a:r>
              <a:rPr lang="en-US" altLang="zh-CN" b="1" dirty="0">
                <a:solidFill>
                  <a:schemeClr val="accent6"/>
                </a:solidFill>
              </a:rPr>
              <a:t>%</a:t>
            </a:r>
            <a:r>
              <a:rPr lang="zh-CN" altLang="zh-CN" dirty="0"/>
              <a:t>（取余）对两个值进行取余运算，例如：</a:t>
            </a:r>
            <a:r>
              <a:rPr lang="en-US" altLang="zh-CN" dirty="0"/>
              <a:t>E=</a:t>
            </a:r>
            <a:r>
              <a:rPr lang="en-US" altLang="zh-CN" dirty="0" err="1"/>
              <a:t>x%y</a:t>
            </a:r>
            <a:r>
              <a:rPr lang="zh-CN" altLang="zh-CN" dirty="0"/>
              <a:t>，将</a:t>
            </a:r>
            <a:r>
              <a:rPr lang="en-US" altLang="zh-CN" dirty="0"/>
              <a:t>x</a:t>
            </a:r>
            <a:r>
              <a:rPr lang="zh-CN" altLang="zh-CN" dirty="0"/>
              <a:t>变量的值除以</a:t>
            </a:r>
            <a:r>
              <a:rPr lang="en-US" altLang="zh-CN" dirty="0"/>
              <a:t>y</a:t>
            </a:r>
            <a:r>
              <a:rPr lang="zh-CN" altLang="zh-CN" dirty="0"/>
              <a:t>变量的值，其余数放入</a:t>
            </a:r>
            <a:r>
              <a:rPr lang="en-US" altLang="zh-CN" dirty="0"/>
              <a:t>E</a:t>
            </a:r>
            <a:r>
              <a:rPr lang="zh-CN" altLang="zh-CN" dirty="0"/>
              <a:t>变量。</a:t>
            </a:r>
            <a:endParaRPr lang="zh-CN" altLang="en-US" dirty="0"/>
          </a:p>
        </p:txBody>
      </p:sp>
    </p:spTree>
  </p:cSld>
  <p:clrMapOvr>
    <a:masterClrMapping/>
  </p:clrMapOvr>
  <p:transition>
    <p:cover dir="d"/>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关系运算符</a:t>
            </a:r>
            <a:endParaRPr lang="zh-CN" altLang="en-US" dirty="0"/>
          </a:p>
        </p:txBody>
      </p:sp>
      <p:sp>
        <p:nvSpPr>
          <p:cNvPr id="3" name="内容占位符 2"/>
          <p:cNvSpPr>
            <a:spLocks noGrp="1"/>
          </p:cNvSpPr>
          <p:nvPr>
            <p:ph idx="1"/>
          </p:nvPr>
        </p:nvSpPr>
        <p:spPr/>
        <p:txBody>
          <a:bodyPr/>
          <a:lstStyle/>
          <a:p>
            <a:pPr algn="just"/>
            <a:r>
              <a:rPr lang="en-US" altLang="zh-CN" b="1" dirty="0">
                <a:solidFill>
                  <a:schemeClr val="accent6"/>
                </a:solidFill>
              </a:rPr>
              <a:t>==</a:t>
            </a:r>
            <a:r>
              <a:rPr lang="zh-CN" altLang="zh-CN" dirty="0"/>
              <a:t>（相等）判断两个值是否相等，例如：</a:t>
            </a:r>
            <a:r>
              <a:rPr lang="en-US" altLang="zh-CN" dirty="0"/>
              <a:t>x==y</a:t>
            </a:r>
            <a:r>
              <a:rPr lang="zh-CN" altLang="zh-CN" dirty="0"/>
              <a:t>，比较</a:t>
            </a:r>
            <a:r>
              <a:rPr lang="en-US" altLang="zh-CN" dirty="0"/>
              <a:t>x</a:t>
            </a:r>
            <a:r>
              <a:rPr lang="zh-CN" altLang="zh-CN" dirty="0"/>
              <a:t>与</a:t>
            </a:r>
            <a:r>
              <a:rPr lang="en-US" altLang="zh-CN" dirty="0"/>
              <a:t>y</a:t>
            </a:r>
            <a:r>
              <a:rPr lang="zh-CN" altLang="zh-CN" dirty="0"/>
              <a:t>变量的值是否相等，相等则其结果为</a:t>
            </a:r>
            <a:r>
              <a:rPr lang="en-US" altLang="zh-CN" dirty="0"/>
              <a:t>1</a:t>
            </a:r>
            <a:r>
              <a:rPr lang="zh-CN" altLang="zh-CN" dirty="0"/>
              <a:t>，不相等则为</a:t>
            </a:r>
            <a:r>
              <a:rPr lang="en-US" altLang="zh-CN" dirty="0"/>
              <a:t>0</a:t>
            </a:r>
            <a:r>
              <a:rPr lang="zh-CN" altLang="zh-CN" dirty="0"/>
              <a:t>。</a:t>
            </a:r>
            <a:endParaRPr lang="en-US" altLang="zh-CN" dirty="0"/>
          </a:p>
          <a:p>
            <a:pPr algn="just"/>
            <a:r>
              <a:rPr lang="en-US" altLang="zh-CN" b="1" dirty="0">
                <a:solidFill>
                  <a:schemeClr val="accent6"/>
                </a:solidFill>
              </a:rPr>
              <a:t>!=</a:t>
            </a:r>
            <a:r>
              <a:rPr lang="zh-CN" altLang="zh-CN" dirty="0"/>
              <a:t>（不等）判断两个值是否不等，例如：</a:t>
            </a:r>
            <a:r>
              <a:rPr lang="en-US" altLang="zh-CN" dirty="0"/>
              <a:t>x!=y</a:t>
            </a:r>
            <a:r>
              <a:rPr lang="zh-CN" altLang="zh-CN" dirty="0"/>
              <a:t>，比较</a:t>
            </a:r>
            <a:r>
              <a:rPr lang="en-US" altLang="zh-CN" dirty="0"/>
              <a:t>x</a:t>
            </a:r>
            <a:r>
              <a:rPr lang="zh-CN" altLang="zh-CN" dirty="0"/>
              <a:t>与</a:t>
            </a:r>
            <a:r>
              <a:rPr lang="en-US" altLang="zh-CN" dirty="0"/>
              <a:t>y</a:t>
            </a:r>
            <a:r>
              <a:rPr lang="zh-CN" altLang="zh-CN" dirty="0"/>
              <a:t>变量的值是否相等，不相等则其结果为</a:t>
            </a:r>
            <a:r>
              <a:rPr lang="en-US" altLang="zh-CN" dirty="0"/>
              <a:t>1</a:t>
            </a:r>
            <a:r>
              <a:rPr lang="zh-CN" altLang="zh-CN" dirty="0"/>
              <a:t>，相等则为</a:t>
            </a:r>
            <a:r>
              <a:rPr lang="en-US" altLang="zh-CN" dirty="0"/>
              <a:t>0</a:t>
            </a:r>
            <a:r>
              <a:rPr lang="zh-CN" altLang="zh-CN" dirty="0"/>
              <a:t>。</a:t>
            </a:r>
            <a:endParaRPr lang="zh-CN" altLang="en-US" dirty="0"/>
          </a:p>
        </p:txBody>
      </p:sp>
    </p:spTree>
  </p:cSld>
  <p:clrMapOvr>
    <a:masterClrMapping/>
  </p:clrMapOvr>
  <p:transition>
    <p:cover dir="d"/>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关系运算符</a:t>
            </a:r>
            <a:endParaRPr lang="zh-CN" altLang="en-US" dirty="0"/>
          </a:p>
        </p:txBody>
      </p:sp>
      <p:sp>
        <p:nvSpPr>
          <p:cNvPr id="3" name="内容占位符 2"/>
          <p:cNvSpPr>
            <a:spLocks noGrp="1"/>
          </p:cNvSpPr>
          <p:nvPr>
            <p:ph idx="1"/>
          </p:nvPr>
        </p:nvSpPr>
        <p:spPr/>
        <p:txBody>
          <a:bodyPr/>
          <a:lstStyle/>
          <a:p>
            <a:pPr algn="just"/>
            <a:r>
              <a:rPr lang="en-US" altLang="zh-CN" b="1" dirty="0">
                <a:solidFill>
                  <a:schemeClr val="accent6"/>
                </a:solidFill>
              </a:rPr>
              <a:t>&lt;</a:t>
            </a:r>
            <a:r>
              <a:rPr lang="zh-CN" altLang="zh-CN" dirty="0"/>
              <a:t>（小于）判断运算符左边的值是否小于右边的值，例如：</a:t>
            </a:r>
            <a:r>
              <a:rPr lang="en-US" altLang="zh-CN" dirty="0"/>
              <a:t>x&lt;y</a:t>
            </a:r>
            <a:r>
              <a:rPr lang="zh-CN" altLang="zh-CN" dirty="0"/>
              <a:t>，若</a:t>
            </a:r>
            <a:r>
              <a:rPr lang="en-US" altLang="zh-CN" dirty="0"/>
              <a:t>x</a:t>
            </a:r>
            <a:r>
              <a:rPr lang="zh-CN" altLang="zh-CN" dirty="0"/>
              <a:t>变量的值小于</a:t>
            </a:r>
            <a:r>
              <a:rPr lang="en-US" altLang="zh-CN" dirty="0"/>
              <a:t>y</a:t>
            </a:r>
            <a:r>
              <a:rPr lang="zh-CN" altLang="zh-CN" dirty="0"/>
              <a:t>变量的值，其结果为</a:t>
            </a:r>
            <a:r>
              <a:rPr lang="en-US" altLang="zh-CN" dirty="0"/>
              <a:t>1</a:t>
            </a:r>
            <a:r>
              <a:rPr lang="zh-CN" altLang="zh-CN" dirty="0"/>
              <a:t>，否则为</a:t>
            </a:r>
            <a:r>
              <a:rPr lang="en-US" altLang="zh-CN" dirty="0"/>
              <a:t>0</a:t>
            </a:r>
            <a:r>
              <a:rPr lang="zh-CN" altLang="zh-CN" dirty="0"/>
              <a:t>。</a:t>
            </a:r>
            <a:endParaRPr lang="en-US" altLang="zh-CN" dirty="0"/>
          </a:p>
          <a:p>
            <a:pPr algn="just"/>
            <a:r>
              <a:rPr lang="en-US" altLang="zh-CN" b="1" dirty="0">
                <a:solidFill>
                  <a:schemeClr val="accent6"/>
                </a:solidFill>
              </a:rPr>
              <a:t>&gt;</a:t>
            </a:r>
            <a:r>
              <a:rPr lang="zh-CN" altLang="zh-CN" dirty="0"/>
              <a:t>（大于）判断运算符左边的值是否大于右边的值，例如：</a:t>
            </a:r>
            <a:r>
              <a:rPr lang="en-US" altLang="zh-CN" dirty="0"/>
              <a:t>x&gt;y</a:t>
            </a:r>
            <a:r>
              <a:rPr lang="zh-CN" altLang="zh-CN" dirty="0"/>
              <a:t>，若</a:t>
            </a:r>
            <a:r>
              <a:rPr lang="en-US" altLang="zh-CN" dirty="0"/>
              <a:t>x</a:t>
            </a:r>
            <a:r>
              <a:rPr lang="zh-CN" altLang="zh-CN" dirty="0"/>
              <a:t>变量的值大于</a:t>
            </a:r>
            <a:r>
              <a:rPr lang="en-US" altLang="zh-CN" dirty="0"/>
              <a:t>y</a:t>
            </a:r>
            <a:r>
              <a:rPr lang="zh-CN" altLang="zh-CN" dirty="0"/>
              <a:t>变量的值，其结果为</a:t>
            </a:r>
            <a:r>
              <a:rPr lang="en-US" altLang="zh-CN" dirty="0"/>
              <a:t>1</a:t>
            </a:r>
            <a:r>
              <a:rPr lang="zh-CN" altLang="zh-CN" dirty="0"/>
              <a:t>，否则为</a:t>
            </a:r>
            <a:r>
              <a:rPr lang="en-US" altLang="zh-CN" dirty="0"/>
              <a:t>0</a:t>
            </a:r>
            <a:r>
              <a:rPr lang="zh-CN" altLang="zh-CN" dirty="0"/>
              <a:t>。</a:t>
            </a:r>
            <a:endParaRPr lang="zh-CN" altLang="en-US" dirty="0"/>
          </a:p>
        </p:txBody>
      </p:sp>
    </p:spTree>
  </p:cSld>
  <p:clrMapOvr>
    <a:masterClrMapping/>
  </p:clrMapOvr>
  <p:transition>
    <p:cover dir="d"/>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关系运算符</a:t>
            </a:r>
            <a:endParaRPr lang="zh-CN" altLang="en-US" dirty="0"/>
          </a:p>
        </p:txBody>
      </p:sp>
      <p:sp>
        <p:nvSpPr>
          <p:cNvPr id="3" name="内容占位符 2"/>
          <p:cNvSpPr>
            <a:spLocks noGrp="1"/>
          </p:cNvSpPr>
          <p:nvPr>
            <p:ph idx="1"/>
          </p:nvPr>
        </p:nvSpPr>
        <p:spPr/>
        <p:txBody>
          <a:bodyPr/>
          <a:lstStyle/>
          <a:p>
            <a:pPr algn="just"/>
            <a:r>
              <a:rPr lang="en-US" altLang="zh-CN" b="1" dirty="0">
                <a:solidFill>
                  <a:schemeClr val="accent6"/>
                </a:solidFill>
              </a:rPr>
              <a:t>&lt;=</a:t>
            </a:r>
            <a:r>
              <a:rPr lang="zh-CN" altLang="zh-CN" dirty="0"/>
              <a:t>（小等于）判断运算符左边的值是否小于等于右边的值，例如：</a:t>
            </a:r>
            <a:r>
              <a:rPr lang="en-US" altLang="zh-CN" dirty="0"/>
              <a:t>x&lt;=y</a:t>
            </a:r>
            <a:r>
              <a:rPr lang="zh-CN" altLang="zh-CN" dirty="0"/>
              <a:t>，若</a:t>
            </a:r>
            <a:r>
              <a:rPr lang="en-US" altLang="zh-CN" dirty="0"/>
              <a:t>x</a:t>
            </a:r>
            <a:r>
              <a:rPr lang="zh-CN" altLang="zh-CN" dirty="0"/>
              <a:t>变量的值小等于</a:t>
            </a:r>
            <a:r>
              <a:rPr lang="en-US" altLang="zh-CN" dirty="0"/>
              <a:t>y</a:t>
            </a:r>
            <a:r>
              <a:rPr lang="zh-CN" altLang="zh-CN" dirty="0"/>
              <a:t>变量的值，其结果为</a:t>
            </a:r>
            <a:r>
              <a:rPr lang="en-US" altLang="zh-CN" dirty="0"/>
              <a:t>1</a:t>
            </a:r>
            <a:r>
              <a:rPr lang="zh-CN" altLang="zh-CN" dirty="0"/>
              <a:t>，否则为</a:t>
            </a:r>
            <a:r>
              <a:rPr lang="en-US" altLang="zh-CN" dirty="0"/>
              <a:t>0</a:t>
            </a:r>
            <a:r>
              <a:rPr lang="zh-CN" altLang="zh-CN" dirty="0"/>
              <a:t>。</a:t>
            </a:r>
            <a:endParaRPr lang="en-US" altLang="zh-CN" dirty="0"/>
          </a:p>
          <a:p>
            <a:pPr algn="just"/>
            <a:r>
              <a:rPr lang="en-US" altLang="zh-CN" b="1" dirty="0">
                <a:solidFill>
                  <a:schemeClr val="accent6"/>
                </a:solidFill>
              </a:rPr>
              <a:t>&gt;=</a:t>
            </a:r>
            <a:r>
              <a:rPr lang="zh-CN" altLang="zh-CN" dirty="0"/>
              <a:t>（大等于）判断运算符左边的值是否大于等于右边的值，例如：</a:t>
            </a:r>
            <a:r>
              <a:rPr lang="en-US" altLang="zh-CN" dirty="0"/>
              <a:t>x&gt;=y</a:t>
            </a:r>
            <a:r>
              <a:rPr lang="zh-CN" altLang="zh-CN" dirty="0"/>
              <a:t>，若</a:t>
            </a:r>
            <a:r>
              <a:rPr lang="en-US" altLang="zh-CN" dirty="0"/>
              <a:t>x</a:t>
            </a:r>
            <a:r>
              <a:rPr lang="zh-CN" altLang="zh-CN" dirty="0"/>
              <a:t>变量的值大等于</a:t>
            </a:r>
            <a:r>
              <a:rPr lang="en-US" altLang="zh-CN" dirty="0"/>
              <a:t>y</a:t>
            </a:r>
            <a:r>
              <a:rPr lang="zh-CN" altLang="zh-CN" dirty="0"/>
              <a:t>变量的值，其结果为</a:t>
            </a:r>
            <a:r>
              <a:rPr lang="en-US" altLang="zh-CN" dirty="0"/>
              <a:t>1</a:t>
            </a:r>
            <a:r>
              <a:rPr lang="zh-CN" altLang="zh-CN" dirty="0"/>
              <a:t>，否则为</a:t>
            </a:r>
            <a:r>
              <a:rPr lang="en-US" altLang="zh-CN" dirty="0"/>
              <a:t>0</a:t>
            </a:r>
            <a:r>
              <a:rPr lang="zh-CN" altLang="zh-CN" dirty="0"/>
              <a:t>。</a:t>
            </a:r>
            <a:endParaRPr lang="zh-CN" altLang="en-US" dirty="0"/>
          </a:p>
        </p:txBody>
      </p:sp>
    </p:spTree>
  </p:cSld>
  <p:clrMapOvr>
    <a:masterClrMapping/>
  </p:clrMapOvr>
  <p:transition>
    <p:cover dir="d"/>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逻辑运算符</a:t>
            </a:r>
            <a:endParaRPr lang="zh-CN" altLang="en-US" dirty="0"/>
          </a:p>
        </p:txBody>
      </p:sp>
      <p:sp>
        <p:nvSpPr>
          <p:cNvPr id="3" name="内容占位符 2"/>
          <p:cNvSpPr>
            <a:spLocks noGrp="1"/>
          </p:cNvSpPr>
          <p:nvPr>
            <p:ph idx="1"/>
          </p:nvPr>
        </p:nvSpPr>
        <p:spPr/>
        <p:txBody>
          <a:bodyPr/>
          <a:lstStyle/>
          <a:p>
            <a:pPr algn="just"/>
            <a:r>
              <a:rPr lang="en-US" altLang="zh-CN" b="1" dirty="0">
                <a:solidFill>
                  <a:schemeClr val="accent6"/>
                </a:solidFill>
              </a:rPr>
              <a:t>&amp;&amp;</a:t>
            </a:r>
            <a:r>
              <a:rPr lang="zh-CN" altLang="zh-CN" dirty="0"/>
              <a:t>（与运算）对两个表达式的布尔值进行按位与运算，例如：（</a:t>
            </a:r>
            <a:r>
              <a:rPr lang="en-US" altLang="zh-CN" dirty="0"/>
              <a:t>x&gt;y</a:t>
            </a:r>
            <a:r>
              <a:rPr lang="zh-CN" altLang="zh-CN" dirty="0"/>
              <a:t>）</a:t>
            </a:r>
            <a:r>
              <a:rPr lang="en-US" altLang="zh-CN" dirty="0"/>
              <a:t>&amp;&amp;</a:t>
            </a:r>
            <a:r>
              <a:rPr lang="zh-CN" altLang="zh-CN" dirty="0"/>
              <a:t>（</a:t>
            </a:r>
            <a:r>
              <a:rPr lang="en-US" altLang="zh-CN" dirty="0"/>
              <a:t>y&gt;z</a:t>
            </a:r>
            <a:r>
              <a:rPr lang="zh-CN" altLang="zh-CN" dirty="0"/>
              <a:t>），若</a:t>
            </a:r>
            <a:r>
              <a:rPr lang="en-US" altLang="zh-CN" dirty="0"/>
              <a:t>x</a:t>
            </a:r>
            <a:r>
              <a:rPr lang="zh-CN" altLang="zh-CN" dirty="0"/>
              <a:t>变量的值大于</a:t>
            </a:r>
            <a:r>
              <a:rPr lang="en-US" altLang="zh-CN" dirty="0"/>
              <a:t>y</a:t>
            </a:r>
            <a:r>
              <a:rPr lang="zh-CN" altLang="zh-CN" dirty="0"/>
              <a:t>变量的值，且</a:t>
            </a:r>
            <a:r>
              <a:rPr lang="en-US" altLang="zh-CN" dirty="0"/>
              <a:t>y</a:t>
            </a:r>
            <a:r>
              <a:rPr lang="zh-CN" altLang="zh-CN" dirty="0"/>
              <a:t>变量的值大于</a:t>
            </a:r>
            <a:r>
              <a:rPr lang="en-US" altLang="zh-CN" dirty="0"/>
              <a:t>z</a:t>
            </a:r>
            <a:r>
              <a:rPr lang="zh-CN" altLang="zh-CN" dirty="0"/>
              <a:t>变量的值，则其结果为</a:t>
            </a:r>
            <a:r>
              <a:rPr lang="en-US" altLang="zh-CN" dirty="0"/>
              <a:t>1</a:t>
            </a:r>
            <a:r>
              <a:rPr lang="zh-CN" altLang="zh-CN" dirty="0"/>
              <a:t>，否则为</a:t>
            </a:r>
            <a:r>
              <a:rPr lang="en-US" altLang="zh-CN" dirty="0"/>
              <a:t>0</a:t>
            </a:r>
            <a:r>
              <a:rPr lang="zh-CN" altLang="zh-CN" dirty="0"/>
              <a:t>。</a:t>
            </a:r>
            <a:endParaRPr lang="en-US" altLang="zh-CN" dirty="0"/>
          </a:p>
          <a:p>
            <a:endParaRPr lang="zh-CN" altLang="en-US" dirty="0"/>
          </a:p>
        </p:txBody>
      </p:sp>
    </p:spTree>
  </p:cSld>
  <p:clrMapOvr>
    <a:masterClrMapping/>
  </p:clrMapOvr>
  <p:transition>
    <p:cover dir="d"/>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逻辑运算符</a:t>
            </a:r>
            <a:endParaRPr lang="zh-CN" altLang="en-US" dirty="0"/>
          </a:p>
        </p:txBody>
      </p:sp>
      <p:sp>
        <p:nvSpPr>
          <p:cNvPr id="3" name="内容占位符 2"/>
          <p:cNvSpPr>
            <a:spLocks noGrp="1"/>
          </p:cNvSpPr>
          <p:nvPr>
            <p:ph idx="1"/>
          </p:nvPr>
        </p:nvSpPr>
        <p:spPr>
          <a:xfrm>
            <a:off x="685799" y="1981200"/>
            <a:ext cx="7993743" cy="4114800"/>
          </a:xfrm>
        </p:spPr>
        <p:txBody>
          <a:bodyPr/>
          <a:lstStyle/>
          <a:p>
            <a:pPr algn="just"/>
            <a:r>
              <a:rPr lang="en-US" altLang="zh-CN" b="1" dirty="0">
                <a:solidFill>
                  <a:schemeClr val="accent6"/>
                </a:solidFill>
              </a:rPr>
              <a:t>||</a:t>
            </a:r>
            <a:r>
              <a:rPr lang="zh-CN" altLang="zh-CN" dirty="0"/>
              <a:t>（或运算）对两个表达式的布尔值进行按位或运算，例如：（</a:t>
            </a:r>
            <a:r>
              <a:rPr lang="en-US" altLang="zh-CN" dirty="0"/>
              <a:t>x&gt;y)||</a:t>
            </a:r>
            <a:r>
              <a:rPr lang="zh-CN" altLang="zh-CN" dirty="0"/>
              <a:t>（</a:t>
            </a:r>
            <a:r>
              <a:rPr lang="en-US" altLang="zh-CN" dirty="0"/>
              <a:t>y&gt;z</a:t>
            </a:r>
            <a:r>
              <a:rPr lang="zh-CN" altLang="zh-CN" dirty="0"/>
              <a:t>），若</a:t>
            </a:r>
            <a:r>
              <a:rPr lang="en-US" altLang="zh-CN" dirty="0"/>
              <a:t>x</a:t>
            </a:r>
            <a:r>
              <a:rPr lang="zh-CN" altLang="zh-CN" dirty="0"/>
              <a:t>变量的值大于</a:t>
            </a:r>
            <a:r>
              <a:rPr lang="en-US" altLang="zh-CN" dirty="0"/>
              <a:t>y</a:t>
            </a:r>
            <a:r>
              <a:rPr lang="zh-CN" altLang="zh-CN" dirty="0"/>
              <a:t>变量的值，或</a:t>
            </a:r>
            <a:r>
              <a:rPr lang="en-US" altLang="zh-CN" dirty="0"/>
              <a:t>y</a:t>
            </a:r>
            <a:r>
              <a:rPr lang="zh-CN" altLang="zh-CN" dirty="0"/>
              <a:t>变量的值大于</a:t>
            </a:r>
            <a:r>
              <a:rPr lang="en-US" altLang="zh-CN" dirty="0"/>
              <a:t>z</a:t>
            </a:r>
            <a:r>
              <a:rPr lang="zh-CN" altLang="zh-CN" dirty="0"/>
              <a:t>变量的值，则其结果为</a:t>
            </a:r>
            <a:r>
              <a:rPr lang="en-US" altLang="zh-CN" dirty="0"/>
              <a:t>1</a:t>
            </a:r>
            <a:r>
              <a:rPr lang="zh-CN" altLang="zh-CN" dirty="0"/>
              <a:t>，否则为</a:t>
            </a:r>
            <a:r>
              <a:rPr lang="en-US" altLang="zh-CN" dirty="0"/>
              <a:t>0</a:t>
            </a:r>
            <a:r>
              <a:rPr lang="zh-CN" altLang="zh-CN" dirty="0"/>
              <a:t>。</a:t>
            </a:r>
            <a:endParaRPr lang="en-US" altLang="zh-CN" dirty="0"/>
          </a:p>
          <a:p>
            <a:pPr algn="just"/>
            <a:r>
              <a:rPr lang="zh-CN" altLang="zh-CN" b="1" dirty="0">
                <a:solidFill>
                  <a:schemeClr val="accent6"/>
                </a:solidFill>
              </a:rPr>
              <a:t>！</a:t>
            </a:r>
            <a:r>
              <a:rPr lang="zh-CN" altLang="zh-CN" dirty="0"/>
              <a:t>（非运算）对某个布尔值进行非运算，例如：</a:t>
            </a:r>
            <a:r>
              <a:rPr lang="en-US" altLang="zh-CN" dirty="0"/>
              <a:t>!</a:t>
            </a:r>
            <a:r>
              <a:rPr lang="zh-CN" altLang="zh-CN" dirty="0"/>
              <a:t>（</a:t>
            </a:r>
            <a:r>
              <a:rPr lang="en-US" altLang="zh-CN" dirty="0"/>
              <a:t>x&gt;y</a:t>
            </a:r>
            <a:r>
              <a:rPr lang="zh-CN" altLang="zh-CN" dirty="0"/>
              <a:t>），若</a:t>
            </a:r>
            <a:r>
              <a:rPr lang="en-US" altLang="zh-CN" dirty="0"/>
              <a:t>x</a:t>
            </a:r>
            <a:r>
              <a:rPr lang="zh-CN" altLang="zh-CN" dirty="0"/>
              <a:t>变量的值大于</a:t>
            </a:r>
            <a:r>
              <a:rPr lang="en-US" altLang="zh-CN" dirty="0"/>
              <a:t>y</a:t>
            </a:r>
            <a:r>
              <a:rPr lang="zh-CN" altLang="zh-CN" dirty="0"/>
              <a:t>变量的值，则其结果为</a:t>
            </a:r>
            <a:r>
              <a:rPr lang="en-US" altLang="zh-CN" dirty="0"/>
              <a:t>0</a:t>
            </a:r>
            <a:r>
              <a:rPr lang="zh-CN" altLang="zh-CN" dirty="0"/>
              <a:t>，否则为</a:t>
            </a:r>
            <a:r>
              <a:rPr lang="en-US" altLang="zh-CN" dirty="0"/>
              <a:t>1</a:t>
            </a:r>
            <a:r>
              <a:rPr lang="zh-CN" altLang="zh-CN" dirty="0"/>
              <a:t>。</a:t>
            </a:r>
            <a:endParaRPr lang="zh-CN" altLang="en-US" dirty="0"/>
          </a:p>
        </p:txBody>
      </p:sp>
    </p:spTree>
  </p:cSld>
  <p:clrMapOvr>
    <a:masterClrMapping/>
  </p:clrMapOvr>
  <p:transition>
    <p:cover dir="d"/>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递增</a:t>
            </a:r>
            <a:r>
              <a:rPr lang="en-US" altLang="zh-CN" dirty="0"/>
              <a:t>/</a:t>
            </a:r>
            <a:r>
              <a:rPr lang="zh-CN" altLang="zh-CN" dirty="0"/>
              <a:t>减运算符</a:t>
            </a:r>
            <a:endParaRPr lang="zh-CN" altLang="en-US" dirty="0"/>
          </a:p>
        </p:txBody>
      </p:sp>
      <p:sp>
        <p:nvSpPr>
          <p:cNvPr id="3" name="内容占位符 2"/>
          <p:cNvSpPr>
            <a:spLocks noGrp="1"/>
          </p:cNvSpPr>
          <p:nvPr>
            <p:ph idx="1"/>
          </p:nvPr>
        </p:nvSpPr>
        <p:spPr/>
        <p:txBody>
          <a:bodyPr/>
          <a:lstStyle/>
          <a:p>
            <a:pPr algn="just"/>
            <a:r>
              <a:rPr lang="en-US" altLang="zh-CN" b="1" dirty="0">
                <a:solidFill>
                  <a:schemeClr val="accent6"/>
                </a:solidFill>
              </a:rPr>
              <a:t>++</a:t>
            </a:r>
            <a:r>
              <a:rPr lang="zh-CN" altLang="zh-CN" dirty="0"/>
              <a:t>（加</a:t>
            </a:r>
            <a:r>
              <a:rPr lang="en-US" altLang="zh-CN" dirty="0"/>
              <a:t>1</a:t>
            </a:r>
            <a:r>
              <a:rPr lang="zh-CN" altLang="zh-CN" dirty="0"/>
              <a:t>）将运算符左边的值自增</a:t>
            </a:r>
            <a:r>
              <a:rPr lang="en-US" altLang="zh-CN" dirty="0"/>
              <a:t>1</a:t>
            </a:r>
            <a:r>
              <a:rPr lang="zh-CN" altLang="zh-CN" dirty="0"/>
              <a:t>，例如：</a:t>
            </a:r>
            <a:r>
              <a:rPr lang="en-US" altLang="zh-CN" dirty="0"/>
              <a:t>x++</a:t>
            </a:r>
            <a:r>
              <a:rPr lang="zh-CN" altLang="zh-CN" dirty="0"/>
              <a:t>，将</a:t>
            </a:r>
            <a:r>
              <a:rPr lang="en-US" altLang="zh-CN" dirty="0"/>
              <a:t>x</a:t>
            </a:r>
            <a:r>
              <a:rPr lang="zh-CN" altLang="zh-CN" dirty="0"/>
              <a:t>变量的值加</a:t>
            </a:r>
            <a:r>
              <a:rPr lang="en-US" altLang="zh-CN" dirty="0"/>
              <a:t>1</a:t>
            </a:r>
            <a:r>
              <a:rPr lang="zh-CN" altLang="zh-CN" dirty="0"/>
              <a:t>，表示在使用</a:t>
            </a:r>
            <a:r>
              <a:rPr lang="en-US" altLang="zh-CN" dirty="0"/>
              <a:t>x</a:t>
            </a:r>
            <a:r>
              <a:rPr lang="zh-CN" altLang="zh-CN" dirty="0"/>
              <a:t>之后，再使</a:t>
            </a:r>
            <a:r>
              <a:rPr lang="en-US" altLang="zh-CN" dirty="0"/>
              <a:t>x</a:t>
            </a:r>
            <a:r>
              <a:rPr lang="zh-CN" altLang="zh-CN" dirty="0"/>
              <a:t>值加</a:t>
            </a:r>
            <a:r>
              <a:rPr lang="en-US" altLang="zh-CN" dirty="0"/>
              <a:t>1</a:t>
            </a:r>
            <a:r>
              <a:rPr lang="zh-CN" altLang="zh-CN" dirty="0"/>
              <a:t>。</a:t>
            </a:r>
          </a:p>
          <a:p>
            <a:pPr algn="just"/>
            <a:r>
              <a:rPr lang="en-US" altLang="zh-CN" b="1" dirty="0">
                <a:solidFill>
                  <a:schemeClr val="accent6"/>
                </a:solidFill>
              </a:rPr>
              <a:t>--</a:t>
            </a:r>
            <a:r>
              <a:rPr lang="zh-CN" altLang="zh-CN" dirty="0"/>
              <a:t>（减</a:t>
            </a:r>
            <a:r>
              <a:rPr lang="en-US" altLang="zh-CN" dirty="0"/>
              <a:t>1</a:t>
            </a:r>
            <a:r>
              <a:rPr lang="zh-CN" altLang="zh-CN" dirty="0"/>
              <a:t>）将运算符左边的值自减</a:t>
            </a:r>
            <a:r>
              <a:rPr lang="en-US" altLang="zh-CN" dirty="0"/>
              <a:t>1</a:t>
            </a:r>
            <a:r>
              <a:rPr lang="zh-CN" altLang="zh-CN" dirty="0"/>
              <a:t>，例如：</a:t>
            </a:r>
            <a:r>
              <a:rPr lang="en-US" altLang="zh-CN" dirty="0"/>
              <a:t>x--</a:t>
            </a:r>
            <a:r>
              <a:rPr lang="zh-CN" altLang="zh-CN" dirty="0"/>
              <a:t>，将</a:t>
            </a:r>
            <a:r>
              <a:rPr lang="en-US" altLang="zh-CN" dirty="0"/>
              <a:t>x</a:t>
            </a:r>
            <a:r>
              <a:rPr lang="zh-CN" altLang="zh-CN" dirty="0"/>
              <a:t>变量的值减</a:t>
            </a:r>
            <a:r>
              <a:rPr lang="en-US" altLang="zh-CN" dirty="0"/>
              <a:t>1</a:t>
            </a:r>
            <a:r>
              <a:rPr lang="zh-CN" altLang="zh-CN" dirty="0"/>
              <a:t>，表示在使用</a:t>
            </a:r>
            <a:r>
              <a:rPr lang="en-US" altLang="zh-CN" dirty="0"/>
              <a:t>x</a:t>
            </a:r>
            <a:r>
              <a:rPr lang="zh-CN" altLang="zh-CN" dirty="0"/>
              <a:t>之后，再使</a:t>
            </a:r>
            <a:r>
              <a:rPr lang="en-US" altLang="zh-CN" dirty="0"/>
              <a:t>x</a:t>
            </a:r>
            <a:r>
              <a:rPr lang="zh-CN" altLang="zh-CN" dirty="0"/>
              <a:t>值减</a:t>
            </a:r>
            <a:r>
              <a:rPr lang="en-US" altLang="zh-CN" dirty="0"/>
              <a:t>1</a:t>
            </a:r>
            <a:r>
              <a:rPr lang="zh-CN" altLang="zh-CN" dirty="0"/>
              <a:t>。</a:t>
            </a:r>
            <a:endParaRPr lang="zh-CN" altLang="en-US" dirty="0"/>
          </a:p>
        </p:txBody>
      </p:sp>
    </p:spTree>
  </p:cSld>
  <p:clrMapOvr>
    <a:masterClrMapping/>
  </p:clrMapOvr>
  <p:transition>
    <p:cover dir="d"/>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a:t>
            </a:r>
            <a:r>
              <a:rPr lang="zh-CN" altLang="zh-CN" dirty="0"/>
              <a:t>语法——条件判断语句</a:t>
            </a:r>
            <a:endParaRPr lang="zh-CN" altLang="en-US" dirty="0"/>
          </a:p>
        </p:txBody>
      </p:sp>
      <p:sp>
        <p:nvSpPr>
          <p:cNvPr id="3" name="内容占位符 2"/>
          <p:cNvSpPr>
            <a:spLocks noGrp="1"/>
          </p:cNvSpPr>
          <p:nvPr>
            <p:ph idx="1"/>
          </p:nvPr>
        </p:nvSpPr>
        <p:spPr/>
        <p:txBody>
          <a:bodyPr/>
          <a:lstStyle/>
          <a:p>
            <a:pPr marL="0" indent="0" algn="just">
              <a:buNone/>
            </a:pPr>
            <a:r>
              <a:rPr lang="zh-CN" altLang="zh-CN" dirty="0"/>
              <a:t>在考虑问题和解决问题的过程中，很多事情不是一帆风顺的，需要进行判断再做出不同的行为。这里就需要用到了条件语句，有些语句并不是一直执行的，需要一定的条件去触发。同时，针对同一个变量，不同的值进行不同的判断，也需要用到条件语句。同样，程序如果需要运行一部分，也可以进行条件判断。</a:t>
            </a:r>
            <a:endParaRPr lang="zh-CN" altLang="en-US" dirty="0"/>
          </a:p>
        </p:txBody>
      </p:sp>
    </p:spTree>
  </p:cSld>
  <p:clrMapOvr>
    <a:masterClrMapping/>
  </p:clrMapOvr>
  <p:transition>
    <p:cover dir="d"/>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条件判断语句</a:t>
            </a:r>
            <a:endParaRPr lang="zh-CN" altLang="en-US" dirty="0"/>
          </a:p>
        </p:txBody>
      </p:sp>
      <p:sp>
        <p:nvSpPr>
          <p:cNvPr id="3" name="内容占位符 2"/>
          <p:cNvSpPr>
            <a:spLocks noGrp="1"/>
          </p:cNvSpPr>
          <p:nvPr>
            <p:ph idx="1"/>
          </p:nvPr>
        </p:nvSpPr>
        <p:spPr/>
        <p:txBody>
          <a:bodyPr/>
          <a:lstStyle/>
          <a:p>
            <a:pPr marL="0" indent="0">
              <a:buNone/>
            </a:pPr>
            <a:r>
              <a:rPr lang="en-US" altLang="zh-CN" dirty="0"/>
              <a:t>if</a:t>
            </a:r>
            <a:r>
              <a:rPr lang="zh-CN" altLang="zh-CN" dirty="0"/>
              <a:t>的语法如下：</a:t>
            </a:r>
          </a:p>
          <a:p>
            <a:pPr marL="0" indent="0">
              <a:buNone/>
            </a:pPr>
            <a:r>
              <a:rPr lang="en-US" altLang="zh-CN" dirty="0"/>
              <a:t>if(</a:t>
            </a:r>
            <a:r>
              <a:rPr lang="en-US" altLang="zh-CN" dirty="0" err="1"/>
              <a:t>delayTime</a:t>
            </a:r>
            <a:r>
              <a:rPr lang="en-US" altLang="zh-CN" dirty="0"/>
              <a:t>&lt;100)</a:t>
            </a:r>
            <a:endParaRPr lang="zh-CN" altLang="zh-CN" dirty="0"/>
          </a:p>
          <a:p>
            <a:pPr marL="0" indent="0">
              <a:buNone/>
            </a:pPr>
            <a:r>
              <a:rPr lang="en-US" altLang="zh-CN" dirty="0"/>
              <a:t>{</a:t>
            </a:r>
            <a:endParaRPr lang="zh-CN" altLang="zh-CN" dirty="0"/>
          </a:p>
          <a:p>
            <a:pPr marL="0" indent="0">
              <a:buNone/>
            </a:pPr>
            <a:r>
              <a:rPr lang="en-US" altLang="zh-CN" dirty="0"/>
              <a:t>	</a:t>
            </a:r>
            <a:r>
              <a:rPr lang="en-US" altLang="zh-CN" dirty="0" err="1"/>
              <a:t>delayTime</a:t>
            </a:r>
            <a:r>
              <a:rPr lang="en-US" altLang="zh-CN" dirty="0"/>
              <a:t>=1000;</a:t>
            </a:r>
            <a:endParaRPr lang="zh-CN" altLang="zh-CN" dirty="0"/>
          </a:p>
          <a:p>
            <a:pPr marL="0" indent="0">
              <a:buNone/>
            </a:pPr>
            <a:r>
              <a:rPr lang="en-US" altLang="zh-CN" dirty="0"/>
              <a:t>}</a:t>
            </a:r>
            <a:endParaRPr lang="zh-CN" altLang="zh-CN" dirty="0"/>
          </a:p>
          <a:p>
            <a:pPr marL="0" indent="0">
              <a:buNone/>
            </a:pPr>
            <a:r>
              <a:rPr lang="zh-CN" altLang="zh-CN" dirty="0"/>
              <a:t>如果</a:t>
            </a:r>
            <a:r>
              <a:rPr lang="en-US" altLang="zh-CN" dirty="0"/>
              <a:t>if</a:t>
            </a:r>
            <a:r>
              <a:rPr lang="zh-CN" altLang="zh-CN" dirty="0"/>
              <a:t>后面的条件满足，就执行</a:t>
            </a:r>
            <a:r>
              <a:rPr lang="en-US" altLang="zh-CN" dirty="0"/>
              <a:t>{ }</a:t>
            </a:r>
            <a:r>
              <a:rPr lang="zh-CN" altLang="zh-CN" dirty="0"/>
              <a:t>内的语句。</a:t>
            </a:r>
            <a:endParaRPr lang="zh-CN" altLang="en-US" dirty="0"/>
          </a:p>
        </p:txBody>
      </p:sp>
    </p:spTree>
  </p:cSld>
  <p:clrMapOvr>
    <a:masterClrMapping/>
  </p:clrMapOvr>
  <p:transition>
    <p:cover dir="d"/>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290286"/>
            <a:ext cx="4742543" cy="493486"/>
          </a:xfrm>
          <a:solidFill>
            <a:schemeClr val="bg1">
              <a:lumMod val="85000"/>
            </a:schemeClr>
          </a:solidFill>
        </p:spPr>
        <p:txBody>
          <a:bodyPr/>
          <a:lstStyle/>
          <a:p>
            <a:pPr algn="l"/>
            <a:r>
              <a:rPr lang="zh-CN" altLang="zh-CN" sz="3200" b="1" dirty="0"/>
              <a:t>改变闪烁频率的闪灯程序</a:t>
            </a:r>
            <a:endParaRPr lang="zh-CN" altLang="en-US" sz="3200" b="1" dirty="0"/>
          </a:p>
        </p:txBody>
      </p:sp>
      <p:sp>
        <p:nvSpPr>
          <p:cNvPr id="3" name="内容占位符 2"/>
          <p:cNvSpPr>
            <a:spLocks noGrp="1"/>
          </p:cNvSpPr>
          <p:nvPr>
            <p:ph idx="1"/>
          </p:nvPr>
        </p:nvSpPr>
        <p:spPr>
          <a:xfrm>
            <a:off x="685800" y="783772"/>
            <a:ext cx="7772400" cy="5907314"/>
          </a:xfrm>
        </p:spPr>
        <p:txBody>
          <a:bodyPr/>
          <a:lstStyle/>
          <a:p>
            <a:pPr marL="0" indent="0">
              <a:buNone/>
            </a:pPr>
            <a:r>
              <a:rPr lang="en-US" altLang="zh-CN" sz="2000" dirty="0" err="1"/>
              <a:t>int</a:t>
            </a:r>
            <a:r>
              <a:rPr lang="en-US" altLang="zh-CN" sz="2000" dirty="0"/>
              <a:t> </a:t>
            </a:r>
            <a:r>
              <a:rPr lang="en-US" altLang="zh-CN" sz="2000" dirty="0" err="1"/>
              <a:t>ledPin</a:t>
            </a:r>
            <a:r>
              <a:rPr lang="en-US" altLang="zh-CN" sz="2000" dirty="0"/>
              <a:t> = 13;</a:t>
            </a:r>
            <a:endParaRPr lang="zh-CN" altLang="zh-CN" sz="2000" dirty="0"/>
          </a:p>
          <a:p>
            <a:pPr marL="0" indent="0">
              <a:buNone/>
            </a:pPr>
            <a:r>
              <a:rPr lang="en-US" altLang="zh-CN" sz="2000" dirty="0" err="1"/>
              <a:t>int</a:t>
            </a:r>
            <a:r>
              <a:rPr lang="en-US" altLang="zh-CN" sz="2000" dirty="0"/>
              <a:t> </a:t>
            </a:r>
            <a:r>
              <a:rPr lang="en-US" altLang="zh-CN" sz="2000" dirty="0" err="1"/>
              <a:t>delayTime</a:t>
            </a:r>
            <a:r>
              <a:rPr lang="en-US" altLang="zh-CN" sz="2000" dirty="0"/>
              <a:t> = 1000;</a:t>
            </a:r>
            <a:endParaRPr lang="zh-CN" altLang="zh-CN" sz="2000" dirty="0"/>
          </a:p>
          <a:p>
            <a:pPr marL="0" indent="0">
              <a:buNone/>
            </a:pPr>
            <a:r>
              <a:rPr lang="en-US" altLang="zh-CN" sz="2000" dirty="0"/>
              <a:t>void setup(){</a:t>
            </a:r>
            <a:endParaRPr lang="zh-CN" altLang="zh-CN" sz="2000" dirty="0"/>
          </a:p>
          <a:p>
            <a:pPr marL="0" indent="0">
              <a:buNone/>
            </a:pPr>
            <a:r>
              <a:rPr lang="en-US" altLang="zh-CN" sz="2000" dirty="0"/>
              <a:t>	</a:t>
            </a:r>
            <a:r>
              <a:rPr lang="en-US" altLang="zh-CN" sz="2000" dirty="0" err="1"/>
              <a:t>pinMode</a:t>
            </a:r>
            <a:r>
              <a:rPr lang="en-US" altLang="zh-CN" sz="2000" dirty="0"/>
              <a:t>(</a:t>
            </a:r>
            <a:r>
              <a:rPr lang="en-US" altLang="zh-CN" sz="2000" dirty="0" err="1"/>
              <a:t>ledPin,OUTPUT</a:t>
            </a:r>
            <a:r>
              <a:rPr lang="en-US" altLang="zh-CN" sz="2000" dirty="0"/>
              <a:t>);</a:t>
            </a:r>
            <a:endParaRPr lang="zh-CN" altLang="zh-CN" sz="2000" dirty="0"/>
          </a:p>
          <a:p>
            <a:pPr marL="0" indent="0">
              <a:buNone/>
            </a:pPr>
            <a:r>
              <a:rPr lang="en-US" altLang="zh-CN" sz="2000" dirty="0"/>
              <a:t>}</a:t>
            </a:r>
            <a:endParaRPr lang="zh-CN" altLang="zh-CN" sz="2000" dirty="0"/>
          </a:p>
          <a:p>
            <a:pPr marL="0" indent="0">
              <a:buNone/>
            </a:pPr>
            <a:r>
              <a:rPr lang="en-US" altLang="zh-CN" sz="2000" dirty="0"/>
              <a:t>void loop(){</a:t>
            </a:r>
            <a:endParaRPr lang="zh-CN" altLang="zh-CN" sz="2000" dirty="0"/>
          </a:p>
          <a:p>
            <a:pPr marL="0" indent="0">
              <a:buNone/>
            </a:pPr>
            <a:r>
              <a:rPr lang="en-US" altLang="zh-CN" sz="2000" dirty="0"/>
              <a:t>	</a:t>
            </a:r>
            <a:r>
              <a:rPr lang="en-US" altLang="zh-CN" sz="2000" dirty="0" err="1"/>
              <a:t>digitalWrite</a:t>
            </a:r>
            <a:r>
              <a:rPr lang="en-US" altLang="zh-CN" sz="2000" dirty="0"/>
              <a:t>(</a:t>
            </a:r>
            <a:r>
              <a:rPr lang="en-US" altLang="zh-CN" sz="2000" dirty="0" err="1"/>
              <a:t>ledPin,HIGH</a:t>
            </a:r>
            <a:r>
              <a:rPr lang="en-US" altLang="zh-CN" sz="2000" dirty="0"/>
              <a:t>);	//</a:t>
            </a:r>
            <a:r>
              <a:rPr lang="zh-CN" altLang="zh-CN" sz="2000" dirty="0"/>
              <a:t>点亮小灯</a:t>
            </a:r>
          </a:p>
          <a:p>
            <a:pPr marL="0" indent="0">
              <a:buNone/>
            </a:pPr>
            <a:r>
              <a:rPr lang="en-US" altLang="zh-CN" sz="2000" dirty="0"/>
              <a:t>	delay(</a:t>
            </a:r>
            <a:r>
              <a:rPr lang="en-US" altLang="zh-CN" sz="2000" dirty="0" err="1"/>
              <a:t>delayTime</a:t>
            </a:r>
            <a:r>
              <a:rPr lang="en-US" altLang="zh-CN" sz="2000" dirty="0"/>
              <a:t>);		//</a:t>
            </a:r>
            <a:r>
              <a:rPr lang="zh-CN" altLang="zh-CN" sz="2000" dirty="0"/>
              <a:t>延时</a:t>
            </a:r>
          </a:p>
          <a:p>
            <a:pPr marL="0" indent="0">
              <a:buNone/>
            </a:pPr>
            <a:r>
              <a:rPr lang="en-US" altLang="zh-CN" sz="2000" dirty="0"/>
              <a:t>	</a:t>
            </a:r>
            <a:r>
              <a:rPr lang="en-US" altLang="zh-CN" sz="2000" dirty="0" err="1"/>
              <a:t>digitalWrite</a:t>
            </a:r>
            <a:r>
              <a:rPr lang="en-US" altLang="zh-CN" sz="2000" dirty="0"/>
              <a:t>(</a:t>
            </a:r>
            <a:r>
              <a:rPr lang="en-US" altLang="zh-CN" sz="2000" dirty="0" err="1"/>
              <a:t>ledPin,LOW</a:t>
            </a:r>
            <a:r>
              <a:rPr lang="en-US" altLang="zh-CN" sz="2000" dirty="0"/>
              <a:t>);	//</a:t>
            </a:r>
            <a:r>
              <a:rPr lang="zh-CN" altLang="zh-CN" sz="2000" dirty="0"/>
              <a:t>熄灭小灯</a:t>
            </a:r>
          </a:p>
          <a:p>
            <a:pPr marL="0" indent="0">
              <a:buNone/>
            </a:pPr>
            <a:r>
              <a:rPr lang="en-US" altLang="zh-CN" sz="2000" dirty="0"/>
              <a:t>	delay(</a:t>
            </a:r>
            <a:r>
              <a:rPr lang="en-US" altLang="zh-CN" sz="2000" dirty="0" err="1"/>
              <a:t>delayTime</a:t>
            </a:r>
            <a:r>
              <a:rPr lang="en-US" altLang="zh-CN" sz="2000" dirty="0"/>
              <a:t>);</a:t>
            </a:r>
            <a:endParaRPr lang="zh-CN" altLang="zh-CN" sz="2000" dirty="0"/>
          </a:p>
          <a:p>
            <a:pPr marL="0" indent="0">
              <a:buNone/>
            </a:pPr>
            <a:r>
              <a:rPr lang="en-US" altLang="zh-CN" sz="2000" dirty="0"/>
              <a:t>	</a:t>
            </a:r>
            <a:r>
              <a:rPr lang="en-US" altLang="zh-CN" sz="2000" dirty="0" err="1"/>
              <a:t>delayTime</a:t>
            </a:r>
            <a:r>
              <a:rPr lang="en-US" altLang="zh-CN" sz="2000" dirty="0"/>
              <a:t>=delayTime-100;	//</a:t>
            </a:r>
            <a:r>
              <a:rPr lang="zh-CN" altLang="zh-CN" sz="2000" dirty="0"/>
              <a:t>每次将延时时间减少</a:t>
            </a:r>
            <a:r>
              <a:rPr lang="en-US" altLang="zh-CN" sz="2000" dirty="0"/>
              <a:t>0.1s</a:t>
            </a:r>
            <a:endParaRPr lang="zh-CN" altLang="zh-CN" sz="2000" dirty="0"/>
          </a:p>
          <a:p>
            <a:pPr marL="0" indent="0">
              <a:buNone/>
            </a:pPr>
            <a:r>
              <a:rPr lang="en-US" altLang="zh-CN" sz="2000" dirty="0"/>
              <a:t>	if(</a:t>
            </a:r>
            <a:r>
              <a:rPr lang="en-US" altLang="zh-CN" sz="2000" dirty="0" err="1"/>
              <a:t>delayTime</a:t>
            </a:r>
            <a:r>
              <a:rPr lang="en-US" altLang="zh-CN" sz="2000" dirty="0"/>
              <a:t>&lt;100)</a:t>
            </a:r>
            <a:endParaRPr lang="zh-CN" altLang="zh-CN" sz="2000" dirty="0"/>
          </a:p>
          <a:p>
            <a:pPr marL="0" indent="0">
              <a:buNone/>
            </a:pPr>
            <a:r>
              <a:rPr lang="en-US" altLang="zh-CN" sz="2000" dirty="0"/>
              <a:t>	{</a:t>
            </a:r>
            <a:endParaRPr lang="zh-CN" altLang="zh-CN" sz="2000" dirty="0"/>
          </a:p>
          <a:p>
            <a:pPr marL="0" indent="0">
              <a:buNone/>
            </a:pPr>
            <a:r>
              <a:rPr lang="en-US" altLang="zh-CN" sz="2000" dirty="0"/>
              <a:t>		</a:t>
            </a:r>
            <a:r>
              <a:rPr lang="en-US" altLang="zh-CN" sz="2000" dirty="0" err="1"/>
              <a:t>delayTime</a:t>
            </a:r>
            <a:r>
              <a:rPr lang="en-US" altLang="zh-CN" sz="2000" dirty="0"/>
              <a:t>=1000;		//</a:t>
            </a:r>
            <a:r>
              <a:rPr lang="zh-CN" altLang="zh-CN" sz="2000" dirty="0"/>
              <a:t>重新校准延时为</a:t>
            </a:r>
            <a:r>
              <a:rPr lang="en-US" altLang="zh-CN" sz="2000" dirty="0"/>
              <a:t>1s</a:t>
            </a:r>
            <a:endParaRPr lang="zh-CN" altLang="zh-CN" sz="2000" dirty="0"/>
          </a:p>
          <a:p>
            <a:pPr marL="0" indent="0">
              <a:buNone/>
            </a:pPr>
            <a:r>
              <a:rPr lang="en-US" altLang="zh-CN" sz="2000" dirty="0"/>
              <a:t>	}</a:t>
            </a:r>
            <a:endParaRPr lang="zh-CN" altLang="zh-CN" sz="2000" dirty="0"/>
          </a:p>
          <a:p>
            <a:pPr marL="0" indent="0">
              <a:buNone/>
            </a:pPr>
            <a:r>
              <a:rPr lang="en-US" altLang="zh-CN" sz="2000" dirty="0"/>
              <a:t>}</a:t>
            </a:r>
            <a:endParaRPr lang="zh-CN" altLang="zh-CN" sz="2000" dirty="0"/>
          </a:p>
          <a:p>
            <a:pPr marL="0" indent="0">
              <a:buNone/>
            </a:pPr>
            <a:endParaRPr lang="zh-CN" altLang="en-US" dirty="0"/>
          </a:p>
        </p:txBody>
      </p:sp>
    </p:spTree>
  </p:cSld>
  <p:clrMapOvr>
    <a:masterClrMapping/>
  </p:clrMapOvr>
  <p:transition>
    <p:cover dir="d"/>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87086"/>
            <a:ext cx="4582886" cy="449943"/>
          </a:xfrm>
          <a:solidFill>
            <a:schemeClr val="bg1">
              <a:lumMod val="85000"/>
            </a:schemeClr>
          </a:solidFill>
        </p:spPr>
        <p:txBody>
          <a:bodyPr/>
          <a:lstStyle/>
          <a:p>
            <a:pPr algn="l"/>
            <a:r>
              <a:rPr lang="zh-CN" altLang="zh-CN" sz="3200" b="1" dirty="0"/>
              <a:t>使用</a:t>
            </a:r>
            <a:r>
              <a:rPr lang="en-US" altLang="zh-CN" sz="3200" b="1" dirty="0"/>
              <a:t>else</a:t>
            </a:r>
            <a:r>
              <a:rPr lang="zh-CN" altLang="zh-CN" sz="3200" b="1" dirty="0"/>
              <a:t>语句的闪灯程序</a:t>
            </a:r>
            <a:endParaRPr lang="zh-CN" altLang="en-US" sz="3200" b="1" dirty="0"/>
          </a:p>
        </p:txBody>
      </p:sp>
      <p:sp>
        <p:nvSpPr>
          <p:cNvPr id="3" name="内容占位符 2"/>
          <p:cNvSpPr>
            <a:spLocks noGrp="1"/>
          </p:cNvSpPr>
          <p:nvPr>
            <p:ph idx="1"/>
          </p:nvPr>
        </p:nvSpPr>
        <p:spPr>
          <a:xfrm>
            <a:off x="685800" y="537029"/>
            <a:ext cx="7772400" cy="6168571"/>
          </a:xfrm>
        </p:spPr>
        <p:txBody>
          <a:bodyPr/>
          <a:lstStyle/>
          <a:p>
            <a:pPr marL="0" indent="0">
              <a:buNone/>
            </a:pPr>
            <a:r>
              <a:rPr lang="en-US" altLang="zh-CN" sz="2000" dirty="0" err="1"/>
              <a:t>int</a:t>
            </a:r>
            <a:r>
              <a:rPr lang="en-US" altLang="zh-CN" sz="2000" dirty="0"/>
              <a:t> </a:t>
            </a:r>
            <a:r>
              <a:rPr lang="en-US" altLang="zh-CN" sz="2000" dirty="0" err="1"/>
              <a:t>ledPin</a:t>
            </a:r>
            <a:r>
              <a:rPr lang="en-US" altLang="zh-CN" sz="2000" dirty="0"/>
              <a:t> = 13;</a:t>
            </a:r>
            <a:endParaRPr lang="zh-CN" altLang="zh-CN" sz="2000" dirty="0"/>
          </a:p>
          <a:p>
            <a:pPr marL="0" indent="0">
              <a:buNone/>
            </a:pPr>
            <a:r>
              <a:rPr lang="en-US" altLang="zh-CN" sz="2000" dirty="0" err="1"/>
              <a:t>int</a:t>
            </a:r>
            <a:r>
              <a:rPr lang="en-US" altLang="zh-CN" sz="2000" dirty="0"/>
              <a:t> </a:t>
            </a:r>
            <a:r>
              <a:rPr lang="en-US" altLang="zh-CN" sz="2000" dirty="0" err="1"/>
              <a:t>delayTime</a:t>
            </a:r>
            <a:r>
              <a:rPr lang="en-US" altLang="zh-CN" sz="2000" dirty="0"/>
              <a:t> = 1000;</a:t>
            </a:r>
            <a:endParaRPr lang="zh-CN" altLang="zh-CN" sz="2000" dirty="0"/>
          </a:p>
          <a:p>
            <a:pPr marL="0" indent="0">
              <a:buNone/>
            </a:pPr>
            <a:r>
              <a:rPr lang="en-US" altLang="zh-CN" sz="2000" dirty="0"/>
              <a:t>void setup(){</a:t>
            </a:r>
            <a:endParaRPr lang="zh-CN" altLang="zh-CN" sz="2000" dirty="0"/>
          </a:p>
          <a:p>
            <a:pPr marL="0" indent="0">
              <a:buNone/>
            </a:pPr>
            <a:r>
              <a:rPr lang="en-US" altLang="zh-CN" sz="2000" dirty="0"/>
              <a:t>	</a:t>
            </a:r>
            <a:r>
              <a:rPr lang="en-US" altLang="zh-CN" sz="2000" dirty="0" err="1"/>
              <a:t>pinMode</a:t>
            </a:r>
            <a:r>
              <a:rPr lang="en-US" altLang="zh-CN" sz="2000" dirty="0"/>
              <a:t>(</a:t>
            </a:r>
            <a:r>
              <a:rPr lang="en-US" altLang="zh-CN" sz="2000" dirty="0" err="1"/>
              <a:t>ledPin,OUTPUT</a:t>
            </a:r>
            <a:r>
              <a:rPr lang="en-US" altLang="zh-CN" sz="2000" dirty="0"/>
              <a:t>);</a:t>
            </a:r>
            <a:endParaRPr lang="zh-CN" altLang="zh-CN" sz="2000" dirty="0"/>
          </a:p>
          <a:p>
            <a:pPr marL="0" indent="0">
              <a:buNone/>
            </a:pPr>
            <a:r>
              <a:rPr lang="en-US" altLang="zh-CN" sz="2000" dirty="0"/>
              <a:t>}</a:t>
            </a:r>
            <a:endParaRPr lang="zh-CN" altLang="zh-CN" sz="2000" dirty="0"/>
          </a:p>
          <a:p>
            <a:pPr marL="0" indent="0">
              <a:buNone/>
            </a:pPr>
            <a:r>
              <a:rPr lang="en-US" altLang="zh-CN" sz="2000" dirty="0"/>
              <a:t>void loop(){</a:t>
            </a:r>
            <a:endParaRPr lang="zh-CN" altLang="zh-CN" sz="2000" dirty="0"/>
          </a:p>
          <a:p>
            <a:pPr marL="0" indent="0">
              <a:buNone/>
            </a:pPr>
            <a:r>
              <a:rPr lang="en-US" altLang="zh-CN" sz="2000" dirty="0"/>
              <a:t>	</a:t>
            </a:r>
            <a:r>
              <a:rPr lang="en-US" altLang="zh-CN" sz="2000" dirty="0" err="1"/>
              <a:t>digitalWrite</a:t>
            </a:r>
            <a:r>
              <a:rPr lang="en-US" altLang="zh-CN" sz="2000" dirty="0"/>
              <a:t>(</a:t>
            </a:r>
            <a:r>
              <a:rPr lang="en-US" altLang="zh-CN" sz="2000" dirty="0" err="1"/>
              <a:t>ledPin,HIGH</a:t>
            </a:r>
            <a:r>
              <a:rPr lang="en-US" altLang="zh-CN" sz="2000" dirty="0"/>
              <a:t>);</a:t>
            </a:r>
            <a:endParaRPr lang="zh-CN" altLang="zh-CN" sz="2000" dirty="0"/>
          </a:p>
          <a:p>
            <a:pPr marL="0" indent="0">
              <a:buNone/>
            </a:pPr>
            <a:r>
              <a:rPr lang="en-US" altLang="zh-CN" sz="2000" dirty="0"/>
              <a:t>	delay(</a:t>
            </a:r>
            <a:r>
              <a:rPr lang="en-US" altLang="zh-CN" sz="2000" dirty="0" err="1"/>
              <a:t>delayTime</a:t>
            </a:r>
            <a:r>
              <a:rPr lang="en-US" altLang="zh-CN" sz="2000" dirty="0"/>
              <a:t>);</a:t>
            </a:r>
            <a:endParaRPr lang="zh-CN" altLang="zh-CN" sz="2000" dirty="0"/>
          </a:p>
          <a:p>
            <a:pPr marL="0" indent="0">
              <a:buNone/>
            </a:pPr>
            <a:r>
              <a:rPr lang="en-US" altLang="zh-CN" sz="2000" dirty="0"/>
              <a:t>	</a:t>
            </a:r>
            <a:r>
              <a:rPr lang="en-US" altLang="zh-CN" sz="2000" dirty="0" err="1"/>
              <a:t>digitalWrite</a:t>
            </a:r>
            <a:r>
              <a:rPr lang="en-US" altLang="zh-CN" sz="2000" dirty="0"/>
              <a:t>(</a:t>
            </a:r>
            <a:r>
              <a:rPr lang="en-US" altLang="zh-CN" sz="2000" dirty="0" err="1"/>
              <a:t>ledPin,LOW</a:t>
            </a:r>
            <a:r>
              <a:rPr lang="en-US" altLang="zh-CN" sz="2000" dirty="0"/>
              <a:t>);</a:t>
            </a:r>
            <a:endParaRPr lang="zh-CN" altLang="zh-CN" sz="2000" dirty="0"/>
          </a:p>
          <a:p>
            <a:pPr marL="0" indent="0">
              <a:buNone/>
            </a:pPr>
            <a:r>
              <a:rPr lang="en-US" altLang="zh-CN" sz="2000" dirty="0"/>
              <a:t>	delay(</a:t>
            </a:r>
            <a:r>
              <a:rPr lang="en-US" altLang="zh-CN" sz="2000" dirty="0" err="1"/>
              <a:t>delayTime</a:t>
            </a:r>
            <a:r>
              <a:rPr lang="en-US" altLang="zh-CN" sz="2000" dirty="0"/>
              <a:t>);</a:t>
            </a:r>
            <a:endParaRPr lang="zh-CN" altLang="zh-CN" sz="2000" dirty="0"/>
          </a:p>
          <a:p>
            <a:pPr marL="0" indent="0">
              <a:buNone/>
            </a:pPr>
            <a:r>
              <a:rPr lang="en-US" altLang="zh-CN" sz="2000" dirty="0"/>
              <a:t>	if(</a:t>
            </a:r>
            <a:r>
              <a:rPr lang="en-US" altLang="zh-CN" sz="2000" dirty="0" err="1"/>
              <a:t>delayTime</a:t>
            </a:r>
            <a:r>
              <a:rPr lang="en-US" altLang="zh-CN" sz="2000" dirty="0"/>
              <a:t>&lt;100){</a:t>
            </a:r>
            <a:endParaRPr lang="zh-CN" altLang="zh-CN" sz="2000" dirty="0"/>
          </a:p>
          <a:p>
            <a:pPr marL="0" indent="0">
              <a:buNone/>
            </a:pPr>
            <a:r>
              <a:rPr lang="en-US" altLang="zh-CN" sz="2000" dirty="0"/>
              <a:t>		</a:t>
            </a:r>
            <a:r>
              <a:rPr lang="en-US" altLang="zh-CN" sz="2000" dirty="0" err="1"/>
              <a:t>delayTime</a:t>
            </a:r>
            <a:r>
              <a:rPr lang="en-US" altLang="zh-CN" sz="2000" dirty="0"/>
              <a:t>=1000;		//</a:t>
            </a:r>
            <a:r>
              <a:rPr lang="zh-CN" altLang="zh-CN" sz="2000" dirty="0"/>
              <a:t>校准延时时间为</a:t>
            </a:r>
            <a:r>
              <a:rPr lang="en-US" altLang="zh-CN" sz="2000" dirty="0"/>
              <a:t>1s</a:t>
            </a:r>
            <a:endParaRPr lang="zh-CN" altLang="zh-CN" sz="2000" dirty="0"/>
          </a:p>
          <a:p>
            <a:pPr marL="0" indent="0">
              <a:buNone/>
            </a:pPr>
            <a:r>
              <a:rPr lang="en-US" altLang="zh-CN" sz="2000" dirty="0"/>
              <a:t>	}else{</a:t>
            </a:r>
            <a:endParaRPr lang="zh-CN" altLang="zh-CN" sz="2000" dirty="0"/>
          </a:p>
          <a:p>
            <a:pPr marL="0" indent="0">
              <a:buNone/>
            </a:pPr>
            <a:r>
              <a:rPr lang="en-US" altLang="zh-CN" sz="2000" dirty="0"/>
              <a:t>		</a:t>
            </a:r>
            <a:r>
              <a:rPr lang="en-US" altLang="zh-CN" sz="2000" dirty="0" err="1"/>
              <a:t>delayTime</a:t>
            </a:r>
            <a:r>
              <a:rPr lang="en-US" altLang="zh-CN" sz="2000" dirty="0"/>
              <a:t>=delayTime-100;	//</a:t>
            </a:r>
            <a:r>
              <a:rPr lang="zh-CN" altLang="zh-CN" sz="2000" dirty="0"/>
              <a:t>将延时时间缩短</a:t>
            </a:r>
          </a:p>
          <a:p>
            <a:pPr marL="0" indent="0">
              <a:buNone/>
            </a:pPr>
            <a:r>
              <a:rPr lang="en-US" altLang="zh-CN" sz="2000" dirty="0"/>
              <a:t>	}</a:t>
            </a:r>
            <a:endParaRPr lang="zh-CN" altLang="zh-CN" sz="2000" dirty="0"/>
          </a:p>
          <a:p>
            <a:pPr marL="0" indent="0">
              <a:buNone/>
            </a:pPr>
            <a:r>
              <a:rPr lang="en-US" altLang="zh-CN" sz="2000" dirty="0"/>
              <a:t>}</a:t>
            </a:r>
            <a:endParaRPr lang="zh-CN" altLang="zh-CN" sz="2000" dirty="0"/>
          </a:p>
          <a:p>
            <a:pPr marL="0" indent="0">
              <a:buNone/>
            </a:pPr>
            <a:endParaRPr lang="zh-CN" altLang="en-US" dirty="0"/>
          </a:p>
        </p:txBody>
      </p:sp>
    </p:spTree>
  </p:cSld>
  <p:clrMapOvr>
    <a:masterClrMapping/>
  </p:clrMapOvr>
  <p:transition>
    <p:cover dir="d"/>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a:t>
            </a:r>
            <a:r>
              <a:rPr lang="zh-CN" altLang="zh-CN" dirty="0"/>
              <a:t>语法——循环语句</a:t>
            </a:r>
            <a:endParaRPr lang="zh-CN" altLang="en-US" dirty="0"/>
          </a:p>
        </p:txBody>
      </p:sp>
      <p:sp>
        <p:nvSpPr>
          <p:cNvPr id="3" name="内容占位符 2"/>
          <p:cNvSpPr>
            <a:spLocks noGrp="1"/>
          </p:cNvSpPr>
          <p:nvPr>
            <p:ph idx="1"/>
          </p:nvPr>
        </p:nvSpPr>
        <p:spPr/>
        <p:txBody>
          <a:bodyPr/>
          <a:lstStyle/>
          <a:p>
            <a:pPr marL="0" indent="0" algn="just">
              <a:buNone/>
            </a:pPr>
            <a:r>
              <a:rPr lang="zh-CN" altLang="zh-CN" dirty="0"/>
              <a:t>循环语句用来重复执行某一些语句，为了避免死循环，必须在循环语句中加入条件，满足条件时执行循环，不满足条件时退出循环。</a:t>
            </a:r>
            <a:endParaRPr lang="en-US" altLang="zh-CN" dirty="0"/>
          </a:p>
          <a:p>
            <a:pPr algn="just"/>
            <a:r>
              <a:rPr lang="en-US" altLang="zh-CN" dirty="0"/>
              <a:t>for</a:t>
            </a:r>
          </a:p>
          <a:p>
            <a:pPr algn="just"/>
            <a:r>
              <a:rPr lang="en-US" altLang="zh-CN" dirty="0"/>
              <a:t>while</a:t>
            </a:r>
            <a:endParaRPr lang="zh-CN" altLang="en-US" dirty="0"/>
          </a:p>
        </p:txBody>
      </p:sp>
    </p:spTree>
  </p:cSld>
  <p:clrMapOvr>
    <a:masterClrMapping/>
  </p:clrMapOvr>
  <p:transition>
    <p:cover dir="d"/>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for</a:t>
            </a:r>
            <a:r>
              <a:rPr lang="zh-CN" altLang="zh-CN" dirty="0"/>
              <a:t>循环</a:t>
            </a:r>
            <a:endParaRPr lang="zh-CN" altLang="en-US" dirty="0"/>
          </a:p>
        </p:txBody>
      </p:sp>
      <p:sp>
        <p:nvSpPr>
          <p:cNvPr id="3" name="内容占位符 2"/>
          <p:cNvSpPr>
            <a:spLocks noGrp="1"/>
          </p:cNvSpPr>
          <p:nvPr>
            <p:ph idx="1"/>
          </p:nvPr>
        </p:nvSpPr>
        <p:spPr/>
        <p:txBody>
          <a:bodyPr/>
          <a:lstStyle/>
          <a:p>
            <a:pPr marL="0" indent="0" algn="just">
              <a:buNone/>
            </a:pPr>
            <a:r>
              <a:rPr lang="zh-CN" altLang="zh-CN" dirty="0"/>
              <a:t>在</a:t>
            </a:r>
            <a:r>
              <a:rPr lang="en-US" altLang="zh-CN" dirty="0"/>
              <a:t>loop()</a:t>
            </a:r>
            <a:r>
              <a:rPr lang="zh-CN" altLang="zh-CN" dirty="0"/>
              <a:t>函数中，程序执行完一次之后会返回</a:t>
            </a:r>
            <a:r>
              <a:rPr lang="en-US" altLang="zh-CN" dirty="0"/>
              <a:t>loop</a:t>
            </a:r>
            <a:r>
              <a:rPr lang="zh-CN" altLang="zh-CN" dirty="0"/>
              <a:t>中重新执行，在内建指令中同样有一种循环语句可以进行更准确的循环控制——</a:t>
            </a:r>
            <a:r>
              <a:rPr lang="en-US" altLang="zh-CN" dirty="0"/>
              <a:t>for</a:t>
            </a:r>
            <a:r>
              <a:rPr lang="zh-CN" altLang="zh-CN" dirty="0"/>
              <a:t>语句，</a:t>
            </a:r>
            <a:r>
              <a:rPr lang="en-US" altLang="zh-CN" dirty="0"/>
              <a:t>for</a:t>
            </a:r>
            <a:r>
              <a:rPr lang="zh-CN" altLang="zh-CN" dirty="0"/>
              <a:t>循环语句可以控制循环的次数。</a:t>
            </a:r>
            <a:endParaRPr lang="zh-CN" altLang="en-US" dirty="0"/>
          </a:p>
        </p:txBody>
      </p:sp>
    </p:spTree>
  </p:cSld>
  <p:clrMapOvr>
    <a:masterClrMapping/>
  </p:clrMapOvr>
  <p:transition>
    <p:cover dir="d"/>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48343" y="609600"/>
            <a:ext cx="8109857" cy="1143000"/>
          </a:xfrm>
        </p:spPr>
        <p:txBody>
          <a:bodyPr/>
          <a:lstStyle/>
          <a:p>
            <a:pPr algn="l"/>
            <a:r>
              <a:rPr lang="en-US" altLang="zh-CN" dirty="0"/>
              <a:t>for</a:t>
            </a:r>
            <a:r>
              <a:rPr lang="zh-CN" altLang="zh-CN" dirty="0"/>
              <a:t>循环</a:t>
            </a:r>
            <a:endParaRPr lang="zh-CN" altLang="en-US" dirty="0"/>
          </a:p>
        </p:txBody>
      </p:sp>
      <p:sp>
        <p:nvSpPr>
          <p:cNvPr id="3" name="内容占位符 2"/>
          <p:cNvSpPr>
            <a:spLocks noGrp="1"/>
          </p:cNvSpPr>
          <p:nvPr>
            <p:ph idx="1"/>
          </p:nvPr>
        </p:nvSpPr>
        <p:spPr>
          <a:xfrm>
            <a:off x="246743" y="1752601"/>
            <a:ext cx="8752113" cy="4691742"/>
          </a:xfrm>
        </p:spPr>
        <p:txBody>
          <a:bodyPr/>
          <a:lstStyle/>
          <a:p>
            <a:pPr marL="0" indent="0">
              <a:buNone/>
            </a:pPr>
            <a:r>
              <a:rPr lang="en-US" altLang="zh-CN" dirty="0"/>
              <a:t>for</a:t>
            </a:r>
            <a:r>
              <a:rPr lang="zh-CN" altLang="zh-CN" dirty="0"/>
              <a:t>循环包括</a:t>
            </a:r>
            <a:r>
              <a:rPr lang="en-US" altLang="zh-CN" dirty="0"/>
              <a:t>3</a:t>
            </a:r>
            <a:r>
              <a:rPr lang="zh-CN" altLang="zh-CN" dirty="0"/>
              <a:t>个部分：</a:t>
            </a:r>
          </a:p>
          <a:p>
            <a:pPr marL="0" indent="0">
              <a:buNone/>
            </a:pPr>
            <a:r>
              <a:rPr lang="en-US" altLang="zh-CN" dirty="0"/>
              <a:t>for(</a:t>
            </a:r>
            <a:r>
              <a:rPr lang="zh-CN" altLang="zh-CN" dirty="0"/>
              <a:t>初始化，条件检测，循环状态</a:t>
            </a:r>
            <a:r>
              <a:rPr lang="en-US" altLang="zh-CN" dirty="0"/>
              <a:t>){</a:t>
            </a:r>
            <a:r>
              <a:rPr lang="zh-CN" altLang="zh-CN" dirty="0"/>
              <a:t>程序语句</a:t>
            </a:r>
            <a:r>
              <a:rPr lang="en-US" altLang="zh-CN" dirty="0"/>
              <a:t>}</a:t>
            </a:r>
          </a:p>
          <a:p>
            <a:pPr marL="0" indent="0">
              <a:buNone/>
            </a:pPr>
            <a:endParaRPr lang="en-US" altLang="zh-CN" dirty="0"/>
          </a:p>
          <a:p>
            <a:pPr marL="0" indent="0" algn="just">
              <a:buNone/>
            </a:pPr>
            <a:r>
              <a:rPr lang="zh-CN" altLang="zh-CN" dirty="0"/>
              <a:t>初始化语句是对变量进行条件初始化，条件检测是对变量的值进行条件判断，如果为真则运行</a:t>
            </a:r>
            <a:r>
              <a:rPr lang="en-US" altLang="zh-CN" dirty="0"/>
              <a:t>for</a:t>
            </a:r>
            <a:r>
              <a:rPr lang="zh-CN" altLang="zh-CN" dirty="0"/>
              <a:t>循环语句大括号中的内容，若为假则跳出循环。循环状态则是在大括号语句执行完之后，执行循环状态语句，之后重新执行条件判断语句。</a:t>
            </a:r>
            <a:endParaRPr lang="zh-CN" altLang="en-US" dirty="0"/>
          </a:p>
        </p:txBody>
      </p:sp>
    </p:spTree>
  </p:cSld>
  <p:clrMapOvr>
    <a:masterClrMapping/>
  </p:clrMapOvr>
  <p:transition>
    <p:cover dir="d"/>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130628"/>
            <a:ext cx="5773057" cy="566057"/>
          </a:xfrm>
          <a:solidFill>
            <a:schemeClr val="bg1">
              <a:lumMod val="85000"/>
            </a:schemeClr>
          </a:solidFill>
        </p:spPr>
        <p:txBody>
          <a:bodyPr/>
          <a:lstStyle/>
          <a:p>
            <a:pPr algn="l"/>
            <a:r>
              <a:rPr lang="zh-CN" altLang="zh-CN" sz="3200" b="1" dirty="0"/>
              <a:t>使用计数器和</a:t>
            </a:r>
            <a:r>
              <a:rPr lang="en-US" altLang="zh-CN" sz="3200" b="1" dirty="0"/>
              <a:t>if</a:t>
            </a:r>
            <a:r>
              <a:rPr lang="zh-CN" altLang="zh-CN" sz="3200" b="1" dirty="0"/>
              <a:t>语句的闪灯程序</a:t>
            </a:r>
            <a:endParaRPr lang="zh-CN" altLang="en-US" sz="3200" b="1" dirty="0"/>
          </a:p>
        </p:txBody>
      </p:sp>
      <p:sp>
        <p:nvSpPr>
          <p:cNvPr id="3" name="内容占位符 2"/>
          <p:cNvSpPr>
            <a:spLocks noGrp="1"/>
          </p:cNvSpPr>
          <p:nvPr>
            <p:ph idx="1"/>
          </p:nvPr>
        </p:nvSpPr>
        <p:spPr>
          <a:xfrm>
            <a:off x="685799" y="696685"/>
            <a:ext cx="8080829" cy="5994401"/>
          </a:xfrm>
        </p:spPr>
        <p:txBody>
          <a:bodyPr/>
          <a:lstStyle/>
          <a:p>
            <a:pPr marL="0" indent="0">
              <a:spcBef>
                <a:spcPts val="0"/>
              </a:spcBef>
              <a:buNone/>
            </a:pPr>
            <a:r>
              <a:rPr lang="en-US" altLang="zh-CN" sz="2100" dirty="0" err="1"/>
              <a:t>int</a:t>
            </a:r>
            <a:r>
              <a:rPr lang="en-US" altLang="zh-CN" sz="2100" dirty="0"/>
              <a:t> </a:t>
            </a:r>
            <a:r>
              <a:rPr lang="en-US" altLang="zh-CN" sz="2100" dirty="0" err="1"/>
              <a:t>ledPin</a:t>
            </a:r>
            <a:r>
              <a:rPr lang="en-US" altLang="zh-CN" sz="2100" dirty="0"/>
              <a:t> = 13;</a:t>
            </a:r>
            <a:endParaRPr lang="zh-CN" altLang="zh-CN" sz="2100" dirty="0"/>
          </a:p>
          <a:p>
            <a:pPr marL="0" indent="0">
              <a:spcBef>
                <a:spcPts val="0"/>
              </a:spcBef>
              <a:buNone/>
            </a:pPr>
            <a:r>
              <a:rPr lang="en-US" altLang="zh-CN" sz="2100" dirty="0" err="1"/>
              <a:t>int</a:t>
            </a:r>
            <a:r>
              <a:rPr lang="en-US" altLang="zh-CN" sz="2100" dirty="0"/>
              <a:t> </a:t>
            </a:r>
            <a:r>
              <a:rPr lang="en-US" altLang="zh-CN" sz="2100" dirty="0" err="1"/>
              <a:t>delayTime</a:t>
            </a:r>
            <a:r>
              <a:rPr lang="en-US" altLang="zh-CN" sz="2100" dirty="0"/>
              <a:t> = 1000;	//</a:t>
            </a:r>
            <a:r>
              <a:rPr lang="zh-CN" altLang="zh-CN" sz="2100" dirty="0"/>
              <a:t>定义延时变量</a:t>
            </a:r>
            <a:r>
              <a:rPr lang="en-US" altLang="zh-CN" sz="2100" dirty="0" err="1"/>
              <a:t>delayTime</a:t>
            </a:r>
            <a:r>
              <a:rPr lang="zh-CN" altLang="zh-CN" sz="2100" dirty="0"/>
              <a:t>为</a:t>
            </a:r>
            <a:r>
              <a:rPr lang="en-US" altLang="zh-CN" sz="2100" dirty="0"/>
              <a:t>1s</a:t>
            </a:r>
            <a:endParaRPr lang="zh-CN" altLang="zh-CN" sz="2100" dirty="0"/>
          </a:p>
          <a:p>
            <a:pPr marL="0" indent="0">
              <a:spcBef>
                <a:spcPts val="0"/>
              </a:spcBef>
              <a:buNone/>
            </a:pPr>
            <a:r>
              <a:rPr lang="en-US" altLang="zh-CN" sz="2100" dirty="0" err="1"/>
              <a:t>int</a:t>
            </a:r>
            <a:r>
              <a:rPr lang="en-US" altLang="zh-CN" sz="2100" dirty="0"/>
              <a:t> delayTime2 = 3000;	//</a:t>
            </a:r>
            <a:r>
              <a:rPr lang="zh-CN" altLang="zh-CN" sz="2100" dirty="0"/>
              <a:t>定义延时变量</a:t>
            </a:r>
            <a:r>
              <a:rPr lang="en-US" altLang="zh-CN" sz="2100" dirty="0"/>
              <a:t>delayTime2</a:t>
            </a:r>
            <a:r>
              <a:rPr lang="zh-CN" altLang="zh-CN" sz="2100" dirty="0"/>
              <a:t>为</a:t>
            </a:r>
            <a:r>
              <a:rPr lang="en-US" altLang="zh-CN" sz="2100" dirty="0"/>
              <a:t>3s</a:t>
            </a:r>
            <a:endParaRPr lang="zh-CN" altLang="zh-CN" sz="2100" dirty="0"/>
          </a:p>
          <a:p>
            <a:pPr marL="0" indent="0">
              <a:spcBef>
                <a:spcPts val="0"/>
              </a:spcBef>
              <a:buNone/>
            </a:pPr>
            <a:r>
              <a:rPr lang="en-US" altLang="zh-CN" sz="2100" dirty="0" err="1"/>
              <a:t>int</a:t>
            </a:r>
            <a:r>
              <a:rPr lang="en-US" altLang="zh-CN" sz="2100" dirty="0"/>
              <a:t> count=0;	//</a:t>
            </a:r>
            <a:r>
              <a:rPr lang="zh-CN" altLang="zh-CN" sz="2100" dirty="0"/>
              <a:t>定义计数器变量并初始化为</a:t>
            </a:r>
            <a:r>
              <a:rPr lang="en-US" altLang="zh-CN" sz="2100" dirty="0"/>
              <a:t>0</a:t>
            </a:r>
            <a:endParaRPr lang="zh-CN" altLang="zh-CN" sz="2100" dirty="0"/>
          </a:p>
          <a:p>
            <a:pPr marL="0" indent="0">
              <a:spcBef>
                <a:spcPts val="0"/>
              </a:spcBef>
              <a:buNone/>
            </a:pPr>
            <a:r>
              <a:rPr lang="en-US" altLang="zh-CN" sz="2100" dirty="0"/>
              <a:t>void setup(){</a:t>
            </a:r>
            <a:endParaRPr lang="zh-CN" altLang="zh-CN" sz="2100" dirty="0"/>
          </a:p>
          <a:p>
            <a:pPr marL="0" indent="0">
              <a:spcBef>
                <a:spcPts val="0"/>
              </a:spcBef>
              <a:buNone/>
            </a:pPr>
            <a:r>
              <a:rPr lang="en-US" altLang="zh-CN" sz="2100" dirty="0"/>
              <a:t>	</a:t>
            </a:r>
            <a:r>
              <a:rPr lang="en-US" altLang="zh-CN" sz="2100" dirty="0" err="1"/>
              <a:t>pinMode</a:t>
            </a:r>
            <a:r>
              <a:rPr lang="en-US" altLang="zh-CN" sz="2100" dirty="0"/>
              <a:t>(</a:t>
            </a:r>
            <a:r>
              <a:rPr lang="en-US" altLang="zh-CN" sz="2100" dirty="0" err="1"/>
              <a:t>ledPin,OUTPUT</a:t>
            </a:r>
            <a:r>
              <a:rPr lang="en-US" altLang="zh-CN" sz="2100" dirty="0"/>
              <a:t>);</a:t>
            </a:r>
            <a:endParaRPr lang="zh-CN" altLang="zh-CN" sz="2100" dirty="0"/>
          </a:p>
          <a:p>
            <a:pPr marL="0" indent="0">
              <a:spcBef>
                <a:spcPts val="0"/>
              </a:spcBef>
              <a:buNone/>
            </a:pPr>
            <a:r>
              <a:rPr lang="en-US" altLang="zh-CN" sz="2100" dirty="0"/>
              <a:t>}</a:t>
            </a:r>
            <a:endParaRPr lang="zh-CN" altLang="zh-CN" sz="2100" dirty="0"/>
          </a:p>
          <a:p>
            <a:pPr marL="0" indent="0">
              <a:spcBef>
                <a:spcPts val="0"/>
              </a:spcBef>
              <a:buNone/>
            </a:pPr>
            <a:r>
              <a:rPr lang="en-US" altLang="zh-CN" sz="2100" dirty="0"/>
              <a:t>void loop(){</a:t>
            </a:r>
            <a:endParaRPr lang="zh-CN" altLang="zh-CN" sz="2100" dirty="0"/>
          </a:p>
          <a:p>
            <a:pPr marL="0" indent="0">
              <a:spcBef>
                <a:spcPts val="0"/>
              </a:spcBef>
              <a:buNone/>
            </a:pPr>
            <a:r>
              <a:rPr lang="en-US" altLang="zh-CN" sz="2100" dirty="0"/>
              <a:t>	</a:t>
            </a:r>
            <a:r>
              <a:rPr lang="en-US" altLang="zh-CN" sz="2100" dirty="0" err="1"/>
              <a:t>digitalWrite</a:t>
            </a:r>
            <a:r>
              <a:rPr lang="en-US" altLang="zh-CN" sz="2100" dirty="0"/>
              <a:t>(</a:t>
            </a:r>
            <a:r>
              <a:rPr lang="en-US" altLang="zh-CN" sz="2100" dirty="0" err="1"/>
              <a:t>ledPin,HIGH</a:t>
            </a:r>
            <a:r>
              <a:rPr lang="en-US" altLang="zh-CN" sz="2100" dirty="0"/>
              <a:t>);</a:t>
            </a:r>
            <a:endParaRPr lang="zh-CN" altLang="zh-CN" sz="2100" dirty="0"/>
          </a:p>
          <a:p>
            <a:pPr marL="0" indent="0">
              <a:spcBef>
                <a:spcPts val="0"/>
              </a:spcBef>
              <a:buNone/>
            </a:pPr>
            <a:r>
              <a:rPr lang="en-US" altLang="zh-CN" sz="2100" dirty="0"/>
              <a:t>	delay(</a:t>
            </a:r>
            <a:r>
              <a:rPr lang="en-US" altLang="zh-CN" sz="2100" dirty="0" err="1"/>
              <a:t>delayTime</a:t>
            </a:r>
            <a:r>
              <a:rPr lang="en-US" altLang="zh-CN" sz="2100" dirty="0"/>
              <a:t>);</a:t>
            </a:r>
            <a:endParaRPr lang="zh-CN" altLang="zh-CN" sz="2100" dirty="0"/>
          </a:p>
          <a:p>
            <a:pPr marL="0" indent="0">
              <a:spcBef>
                <a:spcPts val="0"/>
              </a:spcBef>
              <a:buNone/>
            </a:pPr>
            <a:r>
              <a:rPr lang="en-US" altLang="zh-CN" sz="2100" dirty="0"/>
              <a:t>	</a:t>
            </a:r>
            <a:r>
              <a:rPr lang="en-US" altLang="zh-CN" sz="2100" dirty="0" err="1"/>
              <a:t>digitalWrite</a:t>
            </a:r>
            <a:r>
              <a:rPr lang="en-US" altLang="zh-CN" sz="2100" dirty="0"/>
              <a:t>(</a:t>
            </a:r>
            <a:r>
              <a:rPr lang="en-US" altLang="zh-CN" sz="2100" dirty="0" err="1"/>
              <a:t>ledPin,LOW</a:t>
            </a:r>
            <a:r>
              <a:rPr lang="en-US" altLang="zh-CN" sz="2100" dirty="0"/>
              <a:t>);</a:t>
            </a:r>
            <a:endParaRPr lang="zh-CN" altLang="zh-CN" sz="2100" dirty="0"/>
          </a:p>
          <a:p>
            <a:pPr marL="0" indent="0">
              <a:spcBef>
                <a:spcPts val="0"/>
              </a:spcBef>
              <a:buNone/>
            </a:pPr>
            <a:r>
              <a:rPr lang="en-US" altLang="zh-CN" sz="2100" dirty="0"/>
              <a:t>	delay(</a:t>
            </a:r>
            <a:r>
              <a:rPr lang="en-US" altLang="zh-CN" sz="2100" dirty="0" err="1"/>
              <a:t>delayTime</a:t>
            </a:r>
            <a:r>
              <a:rPr lang="en-US" altLang="zh-CN" sz="2100" dirty="0"/>
              <a:t>);</a:t>
            </a:r>
          </a:p>
          <a:p>
            <a:pPr marL="0" indent="0">
              <a:spcBef>
                <a:spcPts val="0"/>
              </a:spcBef>
              <a:buNone/>
            </a:pPr>
            <a:r>
              <a:rPr lang="en-US" altLang="zh-CN" sz="2100" dirty="0"/>
              <a:t>	count++</a:t>
            </a:r>
            <a:endParaRPr lang="zh-CN" altLang="zh-CN" sz="2100" dirty="0"/>
          </a:p>
          <a:p>
            <a:pPr marL="0" indent="0">
              <a:spcBef>
                <a:spcPts val="0"/>
              </a:spcBef>
              <a:buNone/>
            </a:pPr>
            <a:r>
              <a:rPr lang="en-US" altLang="zh-CN" sz="2100" dirty="0"/>
              <a:t>	if(count==20){</a:t>
            </a:r>
            <a:endParaRPr lang="zh-CN" altLang="zh-CN" sz="2100" dirty="0"/>
          </a:p>
          <a:p>
            <a:pPr marL="0" indent="0">
              <a:spcBef>
                <a:spcPts val="0"/>
              </a:spcBef>
              <a:buNone/>
            </a:pPr>
            <a:r>
              <a:rPr lang="en-US" altLang="zh-CN" sz="2100" dirty="0"/>
              <a:t>		delay(delayTime2);     //</a:t>
            </a:r>
            <a:r>
              <a:rPr lang="zh-CN" altLang="zh-CN" sz="2100" dirty="0"/>
              <a:t>当计数器数值为</a:t>
            </a:r>
            <a:r>
              <a:rPr lang="en-US" altLang="zh-CN" sz="2100" dirty="0"/>
              <a:t>20</a:t>
            </a:r>
            <a:r>
              <a:rPr lang="zh-CN" altLang="zh-CN" sz="2100" dirty="0"/>
              <a:t>时，延时</a:t>
            </a:r>
            <a:r>
              <a:rPr lang="en-US" altLang="zh-CN" sz="2100" dirty="0"/>
              <a:t>3s</a:t>
            </a:r>
          </a:p>
          <a:p>
            <a:pPr marL="0" indent="0">
              <a:spcBef>
                <a:spcPts val="0"/>
              </a:spcBef>
              <a:buNone/>
            </a:pPr>
            <a:r>
              <a:rPr lang="en-US" altLang="zh-CN" sz="2100" dirty="0"/>
              <a:t>		count=0;</a:t>
            </a:r>
            <a:endParaRPr lang="zh-CN" altLang="zh-CN" sz="2100" dirty="0"/>
          </a:p>
          <a:p>
            <a:pPr marL="0" indent="0">
              <a:spcBef>
                <a:spcPts val="0"/>
              </a:spcBef>
              <a:buNone/>
            </a:pPr>
            <a:r>
              <a:rPr lang="en-US" altLang="zh-CN" sz="2100" dirty="0"/>
              <a:t>	}</a:t>
            </a:r>
            <a:endParaRPr lang="zh-CN" altLang="zh-CN" sz="2100" dirty="0"/>
          </a:p>
          <a:p>
            <a:pPr marL="0" indent="0">
              <a:spcBef>
                <a:spcPts val="0"/>
              </a:spcBef>
              <a:buNone/>
            </a:pPr>
            <a:r>
              <a:rPr lang="en-US" altLang="zh-CN" sz="2100" dirty="0"/>
              <a:t>}</a:t>
            </a:r>
            <a:endParaRPr lang="zh-CN" altLang="zh-CN" sz="2100" dirty="0"/>
          </a:p>
          <a:p>
            <a:pPr marL="0" indent="0">
              <a:buNone/>
            </a:pPr>
            <a:endParaRPr lang="zh-CN" altLang="en-US" sz="2000" dirty="0"/>
          </a:p>
        </p:txBody>
      </p:sp>
    </p:spTree>
  </p:cSld>
  <p:clrMapOvr>
    <a:masterClrMapping/>
  </p:clrMapOvr>
  <p:transition>
    <p:cover dir="d"/>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90287" y="130629"/>
            <a:ext cx="4437743" cy="624114"/>
          </a:xfrm>
          <a:solidFill>
            <a:schemeClr val="bg1">
              <a:lumMod val="85000"/>
            </a:schemeClr>
          </a:solidFill>
        </p:spPr>
        <p:txBody>
          <a:bodyPr/>
          <a:lstStyle/>
          <a:p>
            <a:pPr algn="l"/>
            <a:r>
              <a:rPr lang="zh-CN" altLang="zh-CN" sz="3200" b="1" dirty="0"/>
              <a:t>使用</a:t>
            </a:r>
            <a:r>
              <a:rPr lang="en-US" altLang="zh-CN" sz="3200" b="1" dirty="0"/>
              <a:t>for</a:t>
            </a:r>
            <a:r>
              <a:rPr lang="zh-CN" altLang="zh-CN" sz="3200" b="1" dirty="0"/>
              <a:t>语句的闪灯程序</a:t>
            </a:r>
            <a:endParaRPr lang="zh-CN" altLang="en-US" sz="3200" b="1" dirty="0"/>
          </a:p>
        </p:txBody>
      </p:sp>
      <p:sp>
        <p:nvSpPr>
          <p:cNvPr id="3" name="内容占位符 2"/>
          <p:cNvSpPr>
            <a:spLocks noGrp="1"/>
          </p:cNvSpPr>
          <p:nvPr>
            <p:ph idx="1"/>
          </p:nvPr>
        </p:nvSpPr>
        <p:spPr>
          <a:xfrm>
            <a:off x="290287" y="754743"/>
            <a:ext cx="8708570" cy="5660571"/>
          </a:xfrm>
        </p:spPr>
        <p:txBody>
          <a:bodyPr/>
          <a:lstStyle/>
          <a:p>
            <a:pPr marL="0" indent="0">
              <a:spcBef>
                <a:spcPts val="0"/>
              </a:spcBef>
              <a:buNone/>
            </a:pPr>
            <a:r>
              <a:rPr lang="en-US" altLang="zh-CN" sz="2400" dirty="0" err="1"/>
              <a:t>int</a:t>
            </a:r>
            <a:r>
              <a:rPr lang="en-US" altLang="zh-CN" sz="2400" dirty="0"/>
              <a:t> </a:t>
            </a:r>
            <a:r>
              <a:rPr lang="en-US" altLang="zh-CN" sz="2400" dirty="0" err="1"/>
              <a:t>ledPin</a:t>
            </a:r>
            <a:r>
              <a:rPr lang="en-US" altLang="zh-CN" sz="2400" dirty="0"/>
              <a:t> = 13;</a:t>
            </a:r>
            <a:endParaRPr lang="zh-CN" altLang="zh-CN" sz="2400" dirty="0"/>
          </a:p>
          <a:p>
            <a:pPr marL="0" indent="0">
              <a:spcBef>
                <a:spcPts val="0"/>
              </a:spcBef>
              <a:buNone/>
            </a:pPr>
            <a:r>
              <a:rPr lang="en-US" altLang="zh-CN" sz="2400" dirty="0" err="1"/>
              <a:t>int</a:t>
            </a:r>
            <a:r>
              <a:rPr lang="en-US" altLang="zh-CN" sz="2400" dirty="0"/>
              <a:t> </a:t>
            </a:r>
            <a:r>
              <a:rPr lang="en-US" altLang="zh-CN" sz="2400" dirty="0" err="1"/>
              <a:t>delayTime</a:t>
            </a:r>
            <a:r>
              <a:rPr lang="en-US" altLang="zh-CN" sz="2400" dirty="0"/>
              <a:t> = 1000;		//</a:t>
            </a:r>
            <a:r>
              <a:rPr lang="zh-CN" altLang="zh-CN" sz="2400" dirty="0"/>
              <a:t>定义延时变量</a:t>
            </a:r>
            <a:r>
              <a:rPr lang="en-US" altLang="zh-CN" sz="2400" dirty="0" err="1"/>
              <a:t>delayTime</a:t>
            </a:r>
            <a:r>
              <a:rPr lang="zh-CN" altLang="zh-CN" sz="2400" dirty="0"/>
              <a:t>为</a:t>
            </a:r>
            <a:r>
              <a:rPr lang="en-US" altLang="zh-CN" sz="2400" dirty="0"/>
              <a:t>1s</a:t>
            </a:r>
            <a:endParaRPr lang="zh-CN" altLang="zh-CN" sz="2400" dirty="0"/>
          </a:p>
          <a:p>
            <a:pPr marL="0" indent="0">
              <a:spcBef>
                <a:spcPts val="0"/>
              </a:spcBef>
              <a:buNone/>
            </a:pPr>
            <a:r>
              <a:rPr lang="en-US" altLang="zh-CN" sz="2400" dirty="0" err="1"/>
              <a:t>int</a:t>
            </a:r>
            <a:r>
              <a:rPr lang="en-US" altLang="zh-CN" sz="2400" dirty="0"/>
              <a:t> delayTime2 = 3000;	//</a:t>
            </a:r>
            <a:r>
              <a:rPr lang="zh-CN" altLang="zh-CN" sz="2400" dirty="0"/>
              <a:t>定义延时变量</a:t>
            </a:r>
            <a:r>
              <a:rPr lang="en-US" altLang="zh-CN" sz="2400" dirty="0"/>
              <a:t>delayTime2</a:t>
            </a:r>
            <a:r>
              <a:rPr lang="zh-CN" altLang="zh-CN" sz="2400" dirty="0"/>
              <a:t>为</a:t>
            </a:r>
            <a:r>
              <a:rPr lang="en-US" altLang="zh-CN" sz="2400" dirty="0"/>
              <a:t>3s</a:t>
            </a:r>
            <a:endParaRPr lang="zh-CN" altLang="zh-CN" sz="2400" dirty="0"/>
          </a:p>
          <a:p>
            <a:pPr marL="0" indent="0">
              <a:spcBef>
                <a:spcPts val="0"/>
              </a:spcBef>
              <a:buNone/>
            </a:pPr>
            <a:r>
              <a:rPr lang="en-US" altLang="zh-CN" sz="2400" dirty="0"/>
              <a:t>void setup(){</a:t>
            </a:r>
            <a:endParaRPr lang="zh-CN" altLang="zh-CN" sz="2400" dirty="0"/>
          </a:p>
          <a:p>
            <a:pPr marL="0" indent="0">
              <a:spcBef>
                <a:spcPts val="0"/>
              </a:spcBef>
              <a:buNone/>
            </a:pPr>
            <a:r>
              <a:rPr lang="en-US" altLang="zh-CN" sz="2400" dirty="0"/>
              <a:t>	</a:t>
            </a:r>
            <a:r>
              <a:rPr lang="en-US" altLang="zh-CN" sz="2400" dirty="0" err="1"/>
              <a:t>pinMode</a:t>
            </a:r>
            <a:r>
              <a:rPr lang="en-US" altLang="zh-CN" sz="2400" dirty="0"/>
              <a:t>(</a:t>
            </a:r>
            <a:r>
              <a:rPr lang="en-US" altLang="zh-CN" sz="2400" dirty="0" err="1"/>
              <a:t>ledPin,OUTPUT</a:t>
            </a:r>
            <a:r>
              <a:rPr lang="en-US" altLang="zh-CN" sz="2400" dirty="0"/>
              <a:t>);</a:t>
            </a:r>
            <a:endParaRPr lang="zh-CN" altLang="zh-CN" sz="2400" dirty="0"/>
          </a:p>
          <a:p>
            <a:pPr marL="0" indent="0">
              <a:spcBef>
                <a:spcPts val="0"/>
              </a:spcBef>
              <a:buNone/>
            </a:pPr>
            <a:r>
              <a:rPr lang="en-US" altLang="zh-CN" sz="2400" dirty="0"/>
              <a:t>}</a:t>
            </a:r>
            <a:endParaRPr lang="zh-CN" altLang="zh-CN" sz="2400" dirty="0"/>
          </a:p>
          <a:p>
            <a:pPr marL="0" indent="0">
              <a:spcBef>
                <a:spcPts val="0"/>
              </a:spcBef>
              <a:buNone/>
            </a:pPr>
            <a:r>
              <a:rPr lang="en-US" altLang="zh-CN" sz="2400" dirty="0"/>
              <a:t>void loop(){</a:t>
            </a:r>
          </a:p>
          <a:p>
            <a:pPr marL="0" indent="0">
              <a:spcBef>
                <a:spcPts val="0"/>
              </a:spcBef>
              <a:buNone/>
            </a:pPr>
            <a:r>
              <a:rPr lang="en-US" altLang="zh-CN" sz="2400" dirty="0"/>
              <a:t>	for(</a:t>
            </a:r>
            <a:r>
              <a:rPr lang="en-US" altLang="zh-CN" sz="2400" dirty="0" err="1"/>
              <a:t>int</a:t>
            </a:r>
            <a:r>
              <a:rPr lang="en-US" altLang="zh-CN" sz="2400" dirty="0"/>
              <a:t> count=0;count&lt;20;count ++)	 {						</a:t>
            </a:r>
            <a:r>
              <a:rPr lang="en-US" altLang="zh-CN" sz="2400" dirty="0" err="1"/>
              <a:t>digitalWrite</a:t>
            </a:r>
            <a:r>
              <a:rPr lang="en-US" altLang="zh-CN" sz="2400" dirty="0"/>
              <a:t>(</a:t>
            </a:r>
            <a:r>
              <a:rPr lang="en-US" altLang="zh-CN" sz="2400" dirty="0" err="1"/>
              <a:t>ledPin,HIGH</a:t>
            </a:r>
            <a:r>
              <a:rPr lang="en-US" altLang="zh-CN" sz="2400" dirty="0"/>
              <a:t>);</a:t>
            </a:r>
            <a:endParaRPr lang="zh-CN" altLang="zh-CN" sz="2400" dirty="0"/>
          </a:p>
          <a:p>
            <a:pPr marL="0" indent="0">
              <a:spcBef>
                <a:spcPts val="0"/>
              </a:spcBef>
              <a:buNone/>
            </a:pPr>
            <a:r>
              <a:rPr lang="en-US" altLang="zh-CN" sz="2400" dirty="0"/>
              <a:t>		delay(</a:t>
            </a:r>
            <a:r>
              <a:rPr lang="en-US" altLang="zh-CN" sz="2400" dirty="0" err="1"/>
              <a:t>delayTime</a:t>
            </a:r>
            <a:r>
              <a:rPr lang="en-US" altLang="zh-CN" sz="2400" dirty="0"/>
              <a:t>);</a:t>
            </a:r>
            <a:endParaRPr lang="zh-CN" altLang="zh-CN" sz="2400" dirty="0"/>
          </a:p>
          <a:p>
            <a:pPr marL="0" indent="0">
              <a:spcBef>
                <a:spcPts val="0"/>
              </a:spcBef>
              <a:buNone/>
            </a:pPr>
            <a:r>
              <a:rPr lang="en-US" altLang="zh-CN" sz="2400" dirty="0"/>
              <a:t>		</a:t>
            </a:r>
            <a:r>
              <a:rPr lang="en-US" altLang="zh-CN" sz="2400" dirty="0" err="1"/>
              <a:t>digitalWrite</a:t>
            </a:r>
            <a:r>
              <a:rPr lang="en-US" altLang="zh-CN" sz="2400" dirty="0"/>
              <a:t>(</a:t>
            </a:r>
            <a:r>
              <a:rPr lang="en-US" altLang="zh-CN" sz="2400" dirty="0" err="1"/>
              <a:t>ledPin,LOW</a:t>
            </a:r>
            <a:r>
              <a:rPr lang="en-US" altLang="zh-CN" sz="2400" dirty="0"/>
              <a:t>);</a:t>
            </a:r>
            <a:endParaRPr lang="zh-CN" altLang="zh-CN" sz="2400" dirty="0"/>
          </a:p>
          <a:p>
            <a:pPr marL="0" indent="0">
              <a:spcBef>
                <a:spcPts val="0"/>
              </a:spcBef>
              <a:buNone/>
            </a:pPr>
            <a:r>
              <a:rPr lang="en-US" altLang="zh-CN" sz="2400" dirty="0"/>
              <a:t>		delay(</a:t>
            </a:r>
            <a:r>
              <a:rPr lang="en-US" altLang="zh-CN" sz="2400" dirty="0" err="1"/>
              <a:t>delayTime</a:t>
            </a:r>
            <a:r>
              <a:rPr lang="en-US" altLang="zh-CN" sz="2400" dirty="0"/>
              <a:t>);</a:t>
            </a:r>
            <a:endParaRPr lang="zh-CN" altLang="zh-CN" sz="2400" dirty="0"/>
          </a:p>
          <a:p>
            <a:pPr marL="0" indent="0">
              <a:spcBef>
                <a:spcPts val="0"/>
              </a:spcBef>
              <a:buNone/>
            </a:pPr>
            <a:r>
              <a:rPr lang="en-US" altLang="zh-CN" sz="2400" dirty="0"/>
              <a:t>	}</a:t>
            </a:r>
          </a:p>
          <a:p>
            <a:pPr marL="0" indent="0">
              <a:spcBef>
                <a:spcPts val="0"/>
              </a:spcBef>
              <a:buNone/>
            </a:pPr>
            <a:r>
              <a:rPr lang="en-US" altLang="zh-CN" sz="2400" dirty="0"/>
              <a:t>	delay(delayTime2);	 //</a:t>
            </a:r>
            <a:r>
              <a:rPr lang="zh-CN" altLang="zh-CN" sz="2400" dirty="0"/>
              <a:t>执行</a:t>
            </a:r>
            <a:r>
              <a:rPr lang="en-US" altLang="zh-CN" sz="2400" dirty="0"/>
              <a:t>20</a:t>
            </a:r>
            <a:r>
              <a:rPr lang="zh-CN" altLang="zh-CN" sz="2400" dirty="0"/>
              <a:t>次延时</a:t>
            </a:r>
            <a:r>
              <a:rPr lang="en-US" altLang="zh-CN" sz="2400" dirty="0"/>
              <a:t>3s</a:t>
            </a:r>
            <a:endParaRPr lang="zh-CN" altLang="zh-CN" sz="2400" dirty="0"/>
          </a:p>
          <a:p>
            <a:pPr marL="0" indent="0">
              <a:spcBef>
                <a:spcPts val="0"/>
              </a:spcBef>
              <a:buNone/>
            </a:pPr>
            <a:r>
              <a:rPr lang="en-US" altLang="zh-CN" sz="2400" dirty="0"/>
              <a:t>}</a:t>
            </a:r>
            <a:endParaRPr lang="zh-CN" altLang="zh-CN" sz="2400" dirty="0"/>
          </a:p>
          <a:p>
            <a:pPr marL="0" indent="0">
              <a:spcBef>
                <a:spcPts val="0"/>
              </a:spcBef>
              <a:buNone/>
            </a:pPr>
            <a:endParaRPr lang="zh-CN" altLang="en-US" sz="2400" dirty="0"/>
          </a:p>
        </p:txBody>
      </p:sp>
    </p:spTree>
  </p:cSld>
  <p:clrMapOvr>
    <a:masterClrMapping/>
  </p:clrMapOvr>
  <p:transition>
    <p:cover dir="d"/>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while</a:t>
            </a:r>
            <a:r>
              <a:rPr lang="zh-CN" altLang="zh-CN" dirty="0"/>
              <a:t>循环</a:t>
            </a:r>
            <a:endParaRPr lang="zh-CN" altLang="en-US" dirty="0"/>
          </a:p>
        </p:txBody>
      </p:sp>
      <p:sp>
        <p:nvSpPr>
          <p:cNvPr id="3" name="内容占位符 2"/>
          <p:cNvSpPr>
            <a:spLocks noGrp="1"/>
          </p:cNvSpPr>
          <p:nvPr>
            <p:ph idx="1"/>
          </p:nvPr>
        </p:nvSpPr>
        <p:spPr/>
        <p:txBody>
          <a:bodyPr/>
          <a:lstStyle/>
          <a:p>
            <a:pPr marL="0" indent="0" algn="just">
              <a:buNone/>
            </a:pPr>
            <a:r>
              <a:rPr lang="zh-CN" altLang="zh-CN" dirty="0"/>
              <a:t>相比</a:t>
            </a:r>
            <a:r>
              <a:rPr lang="en-US" altLang="zh-CN" dirty="0"/>
              <a:t>for</a:t>
            </a:r>
            <a:r>
              <a:rPr lang="zh-CN" altLang="zh-CN" dirty="0"/>
              <a:t>，</a:t>
            </a:r>
            <a:r>
              <a:rPr lang="en-US" altLang="zh-CN" dirty="0"/>
              <a:t>while</a:t>
            </a:r>
            <a:r>
              <a:rPr lang="zh-CN" altLang="zh-CN" dirty="0"/>
              <a:t>语句更简单一些，但是实现的功能和</a:t>
            </a:r>
            <a:r>
              <a:rPr lang="en-US" altLang="zh-CN" dirty="0"/>
              <a:t>for</a:t>
            </a:r>
            <a:r>
              <a:rPr lang="zh-CN" altLang="zh-CN" dirty="0"/>
              <a:t>是一致的。</a:t>
            </a:r>
            <a:r>
              <a:rPr lang="en-US" altLang="zh-CN" dirty="0"/>
              <a:t>while</a:t>
            </a:r>
            <a:r>
              <a:rPr lang="zh-CN" altLang="zh-CN" dirty="0"/>
              <a:t>语句语法为“</a:t>
            </a:r>
            <a:r>
              <a:rPr lang="en-US" altLang="zh-CN" dirty="0"/>
              <a:t>while(</a:t>
            </a:r>
            <a:r>
              <a:rPr lang="zh-CN" altLang="zh-CN" dirty="0"/>
              <a:t>条件语句</a:t>
            </a:r>
            <a:r>
              <a:rPr lang="en-US" altLang="zh-CN" dirty="0"/>
              <a:t>){</a:t>
            </a:r>
            <a:r>
              <a:rPr lang="zh-CN" altLang="zh-CN" dirty="0"/>
              <a:t>程序语句</a:t>
            </a:r>
            <a:r>
              <a:rPr lang="en-US" altLang="zh-CN" dirty="0"/>
              <a:t>}</a:t>
            </a:r>
            <a:r>
              <a:rPr lang="zh-CN" altLang="zh-CN" dirty="0"/>
              <a:t>”。条件语句结果为真时则执行循环中的程序语句，如果条件语句为假时则跳出</a:t>
            </a:r>
            <a:r>
              <a:rPr lang="en-US" altLang="zh-CN" dirty="0"/>
              <a:t>while</a:t>
            </a:r>
            <a:r>
              <a:rPr lang="zh-CN" altLang="zh-CN" dirty="0"/>
              <a:t>循环语句。相比</a:t>
            </a:r>
            <a:r>
              <a:rPr lang="en-US" altLang="zh-CN" dirty="0"/>
              <a:t>for</a:t>
            </a:r>
            <a:r>
              <a:rPr lang="zh-CN" altLang="zh-CN" dirty="0"/>
              <a:t>语句，</a:t>
            </a:r>
            <a:r>
              <a:rPr lang="en-US" altLang="zh-CN" dirty="0"/>
              <a:t>while</a:t>
            </a:r>
            <a:r>
              <a:rPr lang="zh-CN" altLang="zh-CN" dirty="0"/>
              <a:t>语句循环状态可以写到程序语句中，更方便易读。</a:t>
            </a:r>
            <a:endParaRPr lang="zh-CN" altLang="en-US" dirty="0"/>
          </a:p>
        </p:txBody>
      </p:sp>
    </p:spTree>
  </p:cSld>
  <p:clrMapOvr>
    <a:masterClrMapping/>
  </p:clrMapOvr>
  <p:transition>
    <p:cover dir="d"/>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while</a:t>
            </a:r>
            <a:r>
              <a:rPr lang="zh-CN" altLang="zh-CN" dirty="0"/>
              <a:t>循环</a:t>
            </a:r>
            <a:endParaRPr lang="zh-CN" altLang="en-US" dirty="0"/>
          </a:p>
        </p:txBody>
      </p:sp>
      <p:sp>
        <p:nvSpPr>
          <p:cNvPr id="3" name="内容占位符 2"/>
          <p:cNvSpPr>
            <a:spLocks noGrp="1"/>
          </p:cNvSpPr>
          <p:nvPr>
            <p:ph idx="1"/>
          </p:nvPr>
        </p:nvSpPr>
        <p:spPr/>
        <p:txBody>
          <a:bodyPr/>
          <a:lstStyle/>
          <a:p>
            <a:pPr marL="0" indent="0">
              <a:buNone/>
            </a:pPr>
            <a:r>
              <a:rPr lang="en-US" altLang="zh-CN" dirty="0"/>
              <a:t>while</a:t>
            </a:r>
            <a:r>
              <a:rPr lang="zh-CN" altLang="zh-CN" dirty="0"/>
              <a:t>的语法如下：</a:t>
            </a:r>
            <a:endParaRPr lang="en-US" altLang="zh-CN" dirty="0"/>
          </a:p>
          <a:p>
            <a:pPr marL="0" indent="0">
              <a:buNone/>
            </a:pPr>
            <a:endParaRPr lang="zh-CN" altLang="zh-CN" dirty="0"/>
          </a:p>
          <a:p>
            <a:pPr marL="0" indent="0">
              <a:buNone/>
            </a:pPr>
            <a:r>
              <a:rPr lang="en-US" altLang="zh-CN" dirty="0"/>
              <a:t>while(count&lt;20)	{</a:t>
            </a:r>
          </a:p>
          <a:p>
            <a:pPr marL="0" indent="0">
              <a:buNone/>
            </a:pPr>
            <a:r>
              <a:rPr lang="en-US" altLang="zh-CN" dirty="0"/>
              <a:t>//</a:t>
            </a:r>
            <a:r>
              <a:rPr lang="zh-CN" altLang="zh-CN" dirty="0"/>
              <a:t>满足</a:t>
            </a:r>
            <a:r>
              <a:rPr lang="en-US" altLang="zh-CN" dirty="0"/>
              <a:t>( )</a:t>
            </a:r>
            <a:r>
              <a:rPr lang="zh-CN" altLang="zh-CN" dirty="0"/>
              <a:t>内的条件时，执行循环中的内容</a:t>
            </a:r>
          </a:p>
          <a:p>
            <a:pPr marL="0" indent="0">
              <a:buNone/>
            </a:pPr>
            <a:r>
              <a:rPr lang="en-US" altLang="zh-CN" dirty="0"/>
              <a:t>        </a:t>
            </a:r>
            <a:r>
              <a:rPr lang="zh-CN" altLang="zh-CN" dirty="0"/>
              <a:t>……</a:t>
            </a:r>
          </a:p>
          <a:p>
            <a:pPr marL="0" indent="0">
              <a:buNone/>
            </a:pPr>
            <a:r>
              <a:rPr lang="en-US" altLang="zh-CN" dirty="0"/>
              <a:t>}</a:t>
            </a:r>
            <a:endParaRPr lang="zh-CN" altLang="zh-CN" dirty="0"/>
          </a:p>
          <a:p>
            <a:pPr marL="0" indent="0">
              <a:buNone/>
            </a:pPr>
            <a:endParaRPr lang="zh-CN" altLang="en-US" dirty="0"/>
          </a:p>
        </p:txBody>
      </p:sp>
    </p:spTree>
  </p:cSld>
  <p:clrMapOvr>
    <a:masterClrMapping/>
  </p:clrMapOvr>
  <p:transition>
    <p:cover dir="d"/>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51971" y="130629"/>
            <a:ext cx="4844143" cy="493486"/>
          </a:xfrm>
          <a:solidFill>
            <a:schemeClr val="bg1">
              <a:lumMod val="85000"/>
            </a:schemeClr>
          </a:solidFill>
        </p:spPr>
        <p:txBody>
          <a:bodyPr/>
          <a:lstStyle/>
          <a:p>
            <a:pPr algn="l"/>
            <a:r>
              <a:rPr lang="zh-CN" altLang="zh-CN" sz="3200" b="1" dirty="0"/>
              <a:t>使用</a:t>
            </a:r>
            <a:r>
              <a:rPr lang="en-US" altLang="zh-CN" sz="3200" b="1" dirty="0"/>
              <a:t>while</a:t>
            </a:r>
            <a:r>
              <a:rPr lang="zh-CN" altLang="zh-CN" sz="3200" b="1" dirty="0"/>
              <a:t>语句的闪灯程序</a:t>
            </a:r>
            <a:endParaRPr lang="zh-CN" altLang="en-US" sz="3200" b="1" dirty="0"/>
          </a:p>
        </p:txBody>
      </p:sp>
      <p:sp>
        <p:nvSpPr>
          <p:cNvPr id="3" name="内容占位符 2"/>
          <p:cNvSpPr>
            <a:spLocks noGrp="1"/>
          </p:cNvSpPr>
          <p:nvPr>
            <p:ph idx="1"/>
          </p:nvPr>
        </p:nvSpPr>
        <p:spPr>
          <a:xfrm>
            <a:off x="377371" y="624115"/>
            <a:ext cx="8389257" cy="5747656"/>
          </a:xfrm>
        </p:spPr>
        <p:txBody>
          <a:bodyPr/>
          <a:lstStyle/>
          <a:p>
            <a:pPr marL="0" indent="0">
              <a:spcBef>
                <a:spcPts val="0"/>
              </a:spcBef>
              <a:buNone/>
            </a:pPr>
            <a:r>
              <a:rPr lang="en-US" altLang="zh-CN" sz="2300" dirty="0" err="1"/>
              <a:t>int</a:t>
            </a:r>
            <a:r>
              <a:rPr lang="en-US" altLang="zh-CN" sz="2300" dirty="0"/>
              <a:t> </a:t>
            </a:r>
            <a:r>
              <a:rPr lang="en-US" altLang="zh-CN" sz="2300" dirty="0" err="1"/>
              <a:t>ledPin</a:t>
            </a:r>
            <a:r>
              <a:rPr lang="en-US" altLang="zh-CN" sz="2300" dirty="0"/>
              <a:t> = 13;</a:t>
            </a:r>
            <a:endParaRPr lang="zh-CN" altLang="zh-CN" sz="2300" dirty="0"/>
          </a:p>
          <a:p>
            <a:pPr marL="0" indent="0">
              <a:spcBef>
                <a:spcPts val="0"/>
              </a:spcBef>
              <a:buNone/>
            </a:pPr>
            <a:r>
              <a:rPr lang="en-US" altLang="zh-CN" sz="2300" dirty="0" err="1"/>
              <a:t>int</a:t>
            </a:r>
            <a:r>
              <a:rPr lang="en-US" altLang="zh-CN" sz="2300" dirty="0"/>
              <a:t> </a:t>
            </a:r>
            <a:r>
              <a:rPr lang="en-US" altLang="zh-CN" sz="2300" dirty="0" err="1"/>
              <a:t>delayTime</a:t>
            </a:r>
            <a:r>
              <a:rPr lang="en-US" altLang="zh-CN" sz="2300" dirty="0"/>
              <a:t> = 1000;	//</a:t>
            </a:r>
            <a:r>
              <a:rPr lang="zh-CN" altLang="zh-CN" sz="2300" dirty="0"/>
              <a:t>定义延时变量</a:t>
            </a:r>
            <a:r>
              <a:rPr lang="en-US" altLang="zh-CN" sz="2300" dirty="0" err="1"/>
              <a:t>delayTime</a:t>
            </a:r>
            <a:r>
              <a:rPr lang="zh-CN" altLang="zh-CN" sz="2300" dirty="0"/>
              <a:t>为</a:t>
            </a:r>
            <a:r>
              <a:rPr lang="en-US" altLang="zh-CN" sz="2300" dirty="0"/>
              <a:t>1s</a:t>
            </a:r>
            <a:endParaRPr lang="zh-CN" altLang="zh-CN" sz="2300" dirty="0"/>
          </a:p>
          <a:p>
            <a:pPr marL="0" indent="0">
              <a:spcBef>
                <a:spcPts val="0"/>
              </a:spcBef>
              <a:buNone/>
            </a:pPr>
            <a:r>
              <a:rPr lang="en-US" altLang="zh-CN" sz="2300" dirty="0" err="1"/>
              <a:t>int</a:t>
            </a:r>
            <a:r>
              <a:rPr lang="en-US" altLang="zh-CN" sz="2300" dirty="0"/>
              <a:t> delayTime2 </a:t>
            </a:r>
            <a:r>
              <a:rPr lang="en-US" altLang="zh-CN" sz="2300"/>
              <a:t>= 2000</a:t>
            </a:r>
            <a:r>
              <a:rPr lang="en-US" altLang="zh-CN" sz="2300" dirty="0"/>
              <a:t>;	//</a:t>
            </a:r>
            <a:r>
              <a:rPr lang="zh-CN" altLang="zh-CN" sz="2300" dirty="0"/>
              <a:t>定义延时变量</a:t>
            </a:r>
            <a:r>
              <a:rPr lang="en-US" altLang="zh-CN" sz="2300" dirty="0"/>
              <a:t>delayTime2</a:t>
            </a:r>
            <a:r>
              <a:rPr lang="zh-CN" altLang="zh-CN" sz="2300" dirty="0"/>
              <a:t>为</a:t>
            </a:r>
            <a:r>
              <a:rPr lang="en-US" altLang="zh-CN" sz="2300" dirty="0"/>
              <a:t>2s</a:t>
            </a:r>
            <a:endParaRPr lang="zh-CN" altLang="zh-CN" sz="2300" dirty="0"/>
          </a:p>
          <a:p>
            <a:pPr marL="0" indent="0">
              <a:spcBef>
                <a:spcPts val="0"/>
              </a:spcBef>
              <a:buNone/>
            </a:pPr>
            <a:r>
              <a:rPr lang="en-US" altLang="zh-CN" sz="2300" dirty="0"/>
              <a:t>void setup(){</a:t>
            </a:r>
            <a:endParaRPr lang="zh-CN" altLang="zh-CN" sz="2300" dirty="0"/>
          </a:p>
          <a:p>
            <a:pPr marL="0" indent="0">
              <a:spcBef>
                <a:spcPts val="0"/>
              </a:spcBef>
              <a:buNone/>
            </a:pPr>
            <a:r>
              <a:rPr lang="en-US" altLang="zh-CN" sz="2300" dirty="0"/>
              <a:t>	</a:t>
            </a:r>
            <a:r>
              <a:rPr lang="en-US" altLang="zh-CN" sz="2300" dirty="0" err="1"/>
              <a:t>pinMode</a:t>
            </a:r>
            <a:r>
              <a:rPr lang="en-US" altLang="zh-CN" sz="2300" dirty="0"/>
              <a:t>(</a:t>
            </a:r>
            <a:r>
              <a:rPr lang="en-US" altLang="zh-CN" sz="2300" dirty="0" err="1"/>
              <a:t>ledPin,OUTPUT</a:t>
            </a:r>
            <a:r>
              <a:rPr lang="en-US" altLang="zh-CN" sz="2300" dirty="0"/>
              <a:t>);</a:t>
            </a:r>
            <a:endParaRPr lang="zh-CN" altLang="zh-CN" sz="2300" dirty="0"/>
          </a:p>
          <a:p>
            <a:pPr marL="0" indent="0">
              <a:spcBef>
                <a:spcPts val="0"/>
              </a:spcBef>
              <a:buNone/>
            </a:pPr>
            <a:r>
              <a:rPr lang="en-US" altLang="zh-CN" sz="2300" dirty="0"/>
              <a:t>}</a:t>
            </a:r>
            <a:endParaRPr lang="zh-CN" altLang="zh-CN" sz="2300" dirty="0"/>
          </a:p>
          <a:p>
            <a:pPr marL="0" indent="0">
              <a:spcBef>
                <a:spcPts val="0"/>
              </a:spcBef>
              <a:buNone/>
            </a:pPr>
            <a:r>
              <a:rPr lang="en-US" altLang="zh-CN" sz="2300" dirty="0"/>
              <a:t>void loop(){</a:t>
            </a:r>
          </a:p>
          <a:p>
            <a:pPr marL="0" indent="0">
              <a:spcBef>
                <a:spcPts val="0"/>
              </a:spcBef>
              <a:buNone/>
            </a:pPr>
            <a:r>
              <a:rPr lang="en-US" altLang="zh-CN" sz="2300" dirty="0"/>
              <a:t>	</a:t>
            </a:r>
            <a:r>
              <a:rPr lang="en-US" altLang="zh-CN" sz="2300" dirty="0" err="1"/>
              <a:t>int</a:t>
            </a:r>
            <a:r>
              <a:rPr lang="en-US" altLang="zh-CN" sz="2300" dirty="0"/>
              <a:t> count=0;	//</a:t>
            </a:r>
            <a:r>
              <a:rPr lang="zh-CN" altLang="zh-CN" sz="2300" dirty="0"/>
              <a:t>定义计数器变量并初始化为</a:t>
            </a:r>
            <a:r>
              <a:rPr lang="en-US" altLang="zh-CN" sz="2300" dirty="0"/>
              <a:t>0</a:t>
            </a:r>
            <a:endParaRPr lang="zh-CN" altLang="zh-CN" sz="2300" dirty="0"/>
          </a:p>
          <a:p>
            <a:pPr marL="0" indent="0">
              <a:spcBef>
                <a:spcPts val="0"/>
              </a:spcBef>
              <a:buNone/>
            </a:pPr>
            <a:r>
              <a:rPr lang="en-US" altLang="zh-CN" sz="2300" dirty="0"/>
              <a:t>	while(count&lt;20) {   //</a:t>
            </a:r>
            <a:r>
              <a:rPr lang="zh-CN" altLang="zh-CN" sz="2300" dirty="0"/>
              <a:t>计数器数值小于</a:t>
            </a:r>
            <a:r>
              <a:rPr lang="en-US" altLang="zh-CN" sz="2300" dirty="0"/>
              <a:t>20</a:t>
            </a:r>
            <a:r>
              <a:rPr lang="zh-CN" altLang="zh-CN" sz="2300" dirty="0"/>
              <a:t>时，执行循环</a:t>
            </a:r>
            <a:r>
              <a:rPr lang="en-US" altLang="zh-CN" sz="2300" dirty="0"/>
              <a:t>		</a:t>
            </a:r>
            <a:r>
              <a:rPr lang="en-US" altLang="zh-CN" sz="2300" dirty="0" err="1"/>
              <a:t>digitalWrite</a:t>
            </a:r>
            <a:r>
              <a:rPr lang="en-US" altLang="zh-CN" sz="2300" dirty="0"/>
              <a:t>(</a:t>
            </a:r>
            <a:r>
              <a:rPr lang="en-US" altLang="zh-CN" sz="2300" dirty="0" err="1"/>
              <a:t>ledPin,HIGH</a:t>
            </a:r>
            <a:r>
              <a:rPr lang="en-US" altLang="zh-CN" sz="2300" dirty="0"/>
              <a:t>);</a:t>
            </a:r>
            <a:endParaRPr lang="zh-CN" altLang="zh-CN" sz="2300" dirty="0"/>
          </a:p>
          <a:p>
            <a:pPr marL="0" indent="0">
              <a:spcBef>
                <a:spcPts val="0"/>
              </a:spcBef>
              <a:buNone/>
            </a:pPr>
            <a:r>
              <a:rPr lang="en-US" altLang="zh-CN" sz="2300" dirty="0"/>
              <a:t>		delay(</a:t>
            </a:r>
            <a:r>
              <a:rPr lang="en-US" altLang="zh-CN" sz="2300" dirty="0" err="1"/>
              <a:t>delayTime</a:t>
            </a:r>
            <a:r>
              <a:rPr lang="en-US" altLang="zh-CN" sz="2300" dirty="0"/>
              <a:t>);</a:t>
            </a:r>
            <a:endParaRPr lang="zh-CN" altLang="zh-CN" sz="2300" dirty="0"/>
          </a:p>
          <a:p>
            <a:pPr marL="0" indent="0">
              <a:spcBef>
                <a:spcPts val="0"/>
              </a:spcBef>
              <a:buNone/>
            </a:pPr>
            <a:r>
              <a:rPr lang="en-US" altLang="zh-CN" sz="2300" dirty="0"/>
              <a:t>		</a:t>
            </a:r>
            <a:r>
              <a:rPr lang="en-US" altLang="zh-CN" sz="2300" dirty="0" err="1"/>
              <a:t>digitalWrite</a:t>
            </a:r>
            <a:r>
              <a:rPr lang="en-US" altLang="zh-CN" sz="2300" dirty="0"/>
              <a:t>(</a:t>
            </a:r>
            <a:r>
              <a:rPr lang="en-US" altLang="zh-CN" sz="2300" dirty="0" err="1"/>
              <a:t>ledPin,LOW</a:t>
            </a:r>
            <a:r>
              <a:rPr lang="en-US" altLang="zh-CN" sz="2300" dirty="0"/>
              <a:t>);</a:t>
            </a:r>
            <a:endParaRPr lang="zh-CN" altLang="zh-CN" sz="2300" dirty="0"/>
          </a:p>
          <a:p>
            <a:pPr marL="0" indent="0">
              <a:spcBef>
                <a:spcPts val="0"/>
              </a:spcBef>
              <a:buNone/>
            </a:pPr>
            <a:r>
              <a:rPr lang="en-US" altLang="zh-CN" sz="2300" dirty="0"/>
              <a:t>		delay(</a:t>
            </a:r>
            <a:r>
              <a:rPr lang="en-US" altLang="zh-CN" sz="2300" dirty="0" err="1"/>
              <a:t>delayTime</a:t>
            </a:r>
            <a:r>
              <a:rPr lang="en-US" altLang="zh-CN" sz="2300" dirty="0"/>
              <a:t>);</a:t>
            </a:r>
            <a:endParaRPr lang="zh-CN" altLang="zh-CN" sz="2300" dirty="0"/>
          </a:p>
          <a:p>
            <a:pPr marL="0" indent="0">
              <a:spcBef>
                <a:spcPts val="0"/>
              </a:spcBef>
              <a:buNone/>
            </a:pPr>
            <a:r>
              <a:rPr lang="en-US" altLang="zh-CN" sz="2300" dirty="0"/>
              <a:t>		count++;	//</a:t>
            </a:r>
            <a:r>
              <a:rPr lang="zh-CN" altLang="zh-CN" sz="2300" dirty="0"/>
              <a:t>计数器数值自增</a:t>
            </a:r>
            <a:r>
              <a:rPr lang="en-US" altLang="zh-CN" sz="2300" dirty="0"/>
              <a:t>1</a:t>
            </a:r>
            <a:endParaRPr lang="zh-CN" altLang="zh-CN" sz="2300" dirty="0"/>
          </a:p>
          <a:p>
            <a:pPr marL="0" indent="0">
              <a:spcBef>
                <a:spcPts val="0"/>
              </a:spcBef>
              <a:buNone/>
            </a:pPr>
            <a:r>
              <a:rPr lang="en-US" altLang="zh-CN" sz="2300" dirty="0"/>
              <a:t>	}</a:t>
            </a:r>
            <a:endParaRPr lang="zh-CN" altLang="zh-CN" sz="2300" dirty="0"/>
          </a:p>
          <a:p>
            <a:pPr marL="0" indent="0">
              <a:spcBef>
                <a:spcPts val="0"/>
              </a:spcBef>
              <a:buNone/>
            </a:pPr>
            <a:r>
              <a:rPr lang="en-US" altLang="zh-CN" sz="2300" dirty="0"/>
              <a:t>}</a:t>
            </a:r>
            <a:endParaRPr lang="zh-CN" altLang="zh-CN" sz="2300" dirty="0"/>
          </a:p>
          <a:p>
            <a:pPr marL="0" indent="0">
              <a:buNone/>
            </a:pPr>
            <a:endParaRPr lang="zh-CN" altLang="en-US" dirty="0"/>
          </a:p>
        </p:txBody>
      </p:sp>
    </p:spTree>
  </p:cSld>
  <p:clrMapOvr>
    <a:masterClrMapping/>
  </p:clrMapOvr>
  <p:transition>
    <p:cover dir="d"/>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a:t>
            </a:r>
            <a:r>
              <a:rPr lang="zh-CN" altLang="zh-CN" dirty="0"/>
              <a:t>语法—函数</a:t>
            </a:r>
            <a:endParaRPr lang="zh-CN" altLang="en-US" dirty="0"/>
          </a:p>
        </p:txBody>
      </p:sp>
      <p:sp>
        <p:nvSpPr>
          <p:cNvPr id="3" name="内容占位符 2"/>
          <p:cNvSpPr>
            <a:spLocks noGrp="1"/>
          </p:cNvSpPr>
          <p:nvPr>
            <p:ph idx="1"/>
          </p:nvPr>
        </p:nvSpPr>
        <p:spPr/>
        <p:txBody>
          <a:bodyPr/>
          <a:lstStyle/>
          <a:p>
            <a:pPr marL="0" indent="0" algn="just">
              <a:buNone/>
            </a:pPr>
            <a:r>
              <a:rPr lang="zh-CN" altLang="zh-CN" dirty="0"/>
              <a:t>在编写程序的过程中，有时一个功能需要多次使用，反复写同一段代码既不方便又难以维护。开发语言提供的函数无法满足特定的需求，同时，一些功能写起来并不容易，为了方便开发和阅读维护，函数的重要性便不言而喻，使用函数可以使程序变得简单。</a:t>
            </a:r>
            <a:endParaRPr lang="zh-CN" altLang="en-US" dirty="0"/>
          </a:p>
        </p:txBody>
      </p:sp>
    </p:spTree>
  </p:cSld>
  <p:clrMapOvr>
    <a:masterClrMapping/>
  </p:clrMapOvr>
  <p:transition>
    <p:cover dir="d"/>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26143" y="217714"/>
            <a:ext cx="4699000" cy="566057"/>
          </a:xfrm>
          <a:solidFill>
            <a:schemeClr val="bg1">
              <a:lumMod val="85000"/>
            </a:schemeClr>
          </a:solidFill>
        </p:spPr>
        <p:txBody>
          <a:bodyPr/>
          <a:lstStyle/>
          <a:p>
            <a:pPr algn="l"/>
            <a:r>
              <a:rPr lang="zh-CN" altLang="zh-CN" sz="3200" b="1" dirty="0"/>
              <a:t>使用闪灯函数的闪灯程序</a:t>
            </a:r>
            <a:endParaRPr lang="zh-CN" altLang="en-US" sz="3200" b="1" dirty="0"/>
          </a:p>
        </p:txBody>
      </p:sp>
      <p:sp>
        <p:nvSpPr>
          <p:cNvPr id="3" name="内容占位符 2"/>
          <p:cNvSpPr>
            <a:spLocks noGrp="1"/>
          </p:cNvSpPr>
          <p:nvPr>
            <p:ph idx="1"/>
          </p:nvPr>
        </p:nvSpPr>
        <p:spPr>
          <a:xfrm>
            <a:off x="406400" y="783771"/>
            <a:ext cx="8621486" cy="5849258"/>
          </a:xfrm>
        </p:spPr>
        <p:txBody>
          <a:bodyPr/>
          <a:lstStyle/>
          <a:p>
            <a:pPr marL="0" indent="0">
              <a:spcBef>
                <a:spcPts val="0"/>
              </a:spcBef>
              <a:buNone/>
            </a:pPr>
            <a:r>
              <a:rPr lang="en-US" altLang="zh-CN" sz="2000" dirty="0" err="1"/>
              <a:t>int</a:t>
            </a:r>
            <a:r>
              <a:rPr lang="en-US" altLang="zh-CN" sz="2000" dirty="0"/>
              <a:t> </a:t>
            </a:r>
            <a:r>
              <a:rPr lang="en-US" altLang="zh-CN" sz="2000" dirty="0" err="1"/>
              <a:t>ledPin</a:t>
            </a:r>
            <a:r>
              <a:rPr lang="en-US" altLang="zh-CN" sz="2000" dirty="0"/>
              <a:t> = 13;</a:t>
            </a:r>
            <a:endParaRPr lang="zh-CN" altLang="zh-CN" sz="2000" dirty="0"/>
          </a:p>
          <a:p>
            <a:pPr marL="0" indent="0">
              <a:spcBef>
                <a:spcPts val="0"/>
              </a:spcBef>
              <a:buNone/>
            </a:pPr>
            <a:r>
              <a:rPr lang="en-US" altLang="zh-CN" sz="2000" dirty="0" err="1"/>
              <a:t>int</a:t>
            </a:r>
            <a:r>
              <a:rPr lang="en-US" altLang="zh-CN" sz="2000" dirty="0"/>
              <a:t> </a:t>
            </a:r>
            <a:r>
              <a:rPr lang="en-US" altLang="zh-CN" sz="2000" dirty="0" err="1"/>
              <a:t>delayTime</a:t>
            </a:r>
            <a:r>
              <a:rPr lang="en-US" altLang="zh-CN" sz="2000" dirty="0"/>
              <a:t> = 1000;	//</a:t>
            </a:r>
            <a:r>
              <a:rPr lang="zh-CN" altLang="zh-CN" sz="2000" dirty="0"/>
              <a:t>定义延时变量</a:t>
            </a:r>
            <a:r>
              <a:rPr lang="en-US" altLang="zh-CN" sz="2000" dirty="0" err="1"/>
              <a:t>delayTime</a:t>
            </a:r>
            <a:r>
              <a:rPr lang="zh-CN" altLang="zh-CN" sz="2000" dirty="0"/>
              <a:t>为</a:t>
            </a:r>
            <a:r>
              <a:rPr lang="en-US" altLang="zh-CN" sz="2000" dirty="0"/>
              <a:t>1s</a:t>
            </a:r>
            <a:endParaRPr lang="zh-CN" altLang="zh-CN" sz="2000" dirty="0"/>
          </a:p>
          <a:p>
            <a:pPr marL="0" indent="0">
              <a:spcBef>
                <a:spcPts val="0"/>
              </a:spcBef>
              <a:buNone/>
            </a:pPr>
            <a:r>
              <a:rPr lang="en-US" altLang="zh-CN" sz="2000" dirty="0" err="1"/>
              <a:t>int</a:t>
            </a:r>
            <a:r>
              <a:rPr lang="en-US" altLang="zh-CN" sz="2000" dirty="0"/>
              <a:t> delayTime2 = 3000;	//</a:t>
            </a:r>
            <a:r>
              <a:rPr lang="zh-CN" altLang="zh-CN" sz="2000" dirty="0"/>
              <a:t>定义延时变量</a:t>
            </a:r>
            <a:r>
              <a:rPr lang="en-US" altLang="zh-CN" sz="2000" dirty="0"/>
              <a:t>delayTime2</a:t>
            </a:r>
            <a:r>
              <a:rPr lang="zh-CN" altLang="zh-CN" sz="2000" dirty="0"/>
              <a:t>为</a:t>
            </a:r>
            <a:r>
              <a:rPr lang="en-US" altLang="zh-CN" sz="2000" dirty="0"/>
              <a:t>3s</a:t>
            </a:r>
            <a:endParaRPr lang="zh-CN" altLang="zh-CN" sz="2000" dirty="0"/>
          </a:p>
          <a:p>
            <a:pPr marL="0" indent="0">
              <a:spcBef>
                <a:spcPts val="0"/>
              </a:spcBef>
              <a:buNone/>
            </a:pPr>
            <a:r>
              <a:rPr lang="en-US" altLang="zh-CN" sz="2000" dirty="0"/>
              <a:t>void setup(){</a:t>
            </a:r>
            <a:endParaRPr lang="zh-CN" altLang="zh-CN" sz="2000" dirty="0"/>
          </a:p>
          <a:p>
            <a:pPr marL="0" indent="0">
              <a:spcBef>
                <a:spcPts val="0"/>
              </a:spcBef>
              <a:buNone/>
            </a:pPr>
            <a:r>
              <a:rPr lang="en-US" altLang="zh-CN" sz="2000" dirty="0"/>
              <a:t>	</a:t>
            </a:r>
            <a:r>
              <a:rPr lang="en-US" altLang="zh-CN" sz="2000" dirty="0" err="1"/>
              <a:t>pinMode</a:t>
            </a:r>
            <a:r>
              <a:rPr lang="en-US" altLang="zh-CN" sz="2000" dirty="0"/>
              <a:t>(</a:t>
            </a:r>
            <a:r>
              <a:rPr lang="en-US" altLang="zh-CN" sz="2000" dirty="0" err="1"/>
              <a:t>ledPin,OUTPUT</a:t>
            </a:r>
            <a:r>
              <a:rPr lang="en-US" altLang="zh-CN" sz="2000" dirty="0"/>
              <a:t>);</a:t>
            </a:r>
            <a:endParaRPr lang="zh-CN" altLang="zh-CN" sz="2000" dirty="0"/>
          </a:p>
          <a:p>
            <a:pPr marL="0" indent="0">
              <a:spcBef>
                <a:spcPts val="0"/>
              </a:spcBef>
              <a:buNone/>
            </a:pPr>
            <a:r>
              <a:rPr lang="en-US" altLang="zh-CN" sz="2000" dirty="0"/>
              <a:t>}</a:t>
            </a:r>
            <a:endParaRPr lang="zh-CN" altLang="zh-CN" sz="2000" dirty="0"/>
          </a:p>
          <a:p>
            <a:pPr marL="0" indent="0">
              <a:spcBef>
                <a:spcPts val="0"/>
              </a:spcBef>
              <a:buNone/>
            </a:pPr>
            <a:r>
              <a:rPr lang="en-US" altLang="zh-CN" sz="2000" dirty="0"/>
              <a:t>void loop(){	</a:t>
            </a:r>
            <a:endParaRPr lang="zh-CN" altLang="zh-CN" sz="2000" dirty="0"/>
          </a:p>
          <a:p>
            <a:pPr marL="0" indent="0">
              <a:spcBef>
                <a:spcPts val="0"/>
              </a:spcBef>
              <a:buNone/>
            </a:pPr>
            <a:r>
              <a:rPr lang="en-US" altLang="zh-CN" sz="2000" dirty="0"/>
              <a:t>	for(</a:t>
            </a:r>
            <a:r>
              <a:rPr lang="en-US" altLang="zh-CN" sz="2000" dirty="0" err="1"/>
              <a:t>int</a:t>
            </a:r>
            <a:r>
              <a:rPr lang="en-US" altLang="zh-CN" sz="2000" dirty="0"/>
              <a:t> count=0;count&lt;20;count ++)	 {	//</a:t>
            </a:r>
            <a:r>
              <a:rPr lang="zh-CN" altLang="zh-CN" sz="2000" dirty="0"/>
              <a:t>调用</a:t>
            </a:r>
            <a:r>
              <a:rPr lang="en-US" altLang="zh-CN" sz="2000" dirty="0"/>
              <a:t>20</a:t>
            </a:r>
            <a:r>
              <a:rPr lang="zh-CN" altLang="zh-CN" sz="2000" dirty="0"/>
              <a:t>次闪烁函数</a:t>
            </a:r>
          </a:p>
          <a:p>
            <a:pPr marL="0" indent="0">
              <a:spcBef>
                <a:spcPts val="0"/>
              </a:spcBef>
              <a:buNone/>
            </a:pPr>
            <a:r>
              <a:rPr lang="en-US" altLang="zh-CN" sz="2000" dirty="0"/>
              <a:t>		flash();</a:t>
            </a:r>
            <a:endParaRPr lang="zh-CN" altLang="zh-CN" sz="2000" dirty="0"/>
          </a:p>
          <a:p>
            <a:pPr marL="0" indent="0">
              <a:spcBef>
                <a:spcPts val="0"/>
              </a:spcBef>
              <a:buNone/>
            </a:pPr>
            <a:r>
              <a:rPr lang="en-US" altLang="zh-CN" sz="2000" dirty="0"/>
              <a:t>	}</a:t>
            </a:r>
            <a:endParaRPr lang="zh-CN" altLang="zh-CN" sz="2000" dirty="0"/>
          </a:p>
          <a:p>
            <a:pPr marL="0" indent="0">
              <a:spcBef>
                <a:spcPts val="0"/>
              </a:spcBef>
              <a:buNone/>
            </a:pPr>
            <a:r>
              <a:rPr lang="en-US" altLang="zh-CN" sz="2000" dirty="0"/>
              <a:t>	delay(delayTime2);			//</a:t>
            </a:r>
            <a:r>
              <a:rPr lang="zh-CN" altLang="zh-CN" sz="2000" dirty="0"/>
              <a:t>延时</a:t>
            </a:r>
            <a:r>
              <a:rPr lang="en-US" altLang="zh-CN" sz="2000" dirty="0"/>
              <a:t>3s</a:t>
            </a:r>
            <a:endParaRPr lang="zh-CN" altLang="zh-CN" sz="2000" dirty="0"/>
          </a:p>
          <a:p>
            <a:pPr marL="0" indent="0">
              <a:spcBef>
                <a:spcPts val="0"/>
              </a:spcBef>
              <a:buNone/>
            </a:pPr>
            <a:r>
              <a:rPr lang="en-US" altLang="zh-CN" sz="2000" dirty="0"/>
              <a:t>}</a:t>
            </a:r>
            <a:endParaRPr lang="zh-CN" altLang="zh-CN" sz="2000" dirty="0"/>
          </a:p>
          <a:p>
            <a:pPr marL="0" indent="0">
              <a:spcBef>
                <a:spcPts val="0"/>
              </a:spcBef>
              <a:buNone/>
            </a:pPr>
            <a:r>
              <a:rPr lang="en-US" altLang="zh-CN" sz="2000" dirty="0"/>
              <a:t>void flash() {					//</a:t>
            </a:r>
            <a:r>
              <a:rPr lang="zh-CN" altLang="zh-CN" sz="2000" dirty="0"/>
              <a:t>定义无参数的闪灯函数</a:t>
            </a:r>
          </a:p>
          <a:p>
            <a:pPr marL="0" indent="0">
              <a:spcBef>
                <a:spcPts val="0"/>
              </a:spcBef>
              <a:buNone/>
            </a:pPr>
            <a:r>
              <a:rPr lang="en-US" altLang="zh-CN" sz="2000" dirty="0"/>
              <a:t>	</a:t>
            </a:r>
            <a:r>
              <a:rPr lang="en-US" altLang="zh-CN" sz="2000" dirty="0" err="1"/>
              <a:t>digitalWrite</a:t>
            </a:r>
            <a:r>
              <a:rPr lang="en-US" altLang="zh-CN" sz="2000" dirty="0"/>
              <a:t>(</a:t>
            </a:r>
            <a:r>
              <a:rPr lang="en-US" altLang="zh-CN" sz="2000" dirty="0" err="1"/>
              <a:t>ledPin,HIGH</a:t>
            </a:r>
            <a:r>
              <a:rPr lang="en-US" altLang="zh-CN" sz="2000" dirty="0"/>
              <a:t>);</a:t>
            </a:r>
            <a:endParaRPr lang="zh-CN" altLang="zh-CN" sz="2000" dirty="0"/>
          </a:p>
          <a:p>
            <a:pPr marL="0" indent="0">
              <a:spcBef>
                <a:spcPts val="0"/>
              </a:spcBef>
              <a:buNone/>
            </a:pPr>
            <a:r>
              <a:rPr lang="en-US" altLang="zh-CN" sz="2000" dirty="0"/>
              <a:t>	delay(</a:t>
            </a:r>
            <a:r>
              <a:rPr lang="en-US" altLang="zh-CN" sz="2000" dirty="0" err="1"/>
              <a:t>delayTime</a:t>
            </a:r>
            <a:r>
              <a:rPr lang="en-US" altLang="zh-CN" sz="2000" dirty="0"/>
              <a:t>);</a:t>
            </a:r>
            <a:endParaRPr lang="zh-CN" altLang="zh-CN" sz="2000" dirty="0"/>
          </a:p>
          <a:p>
            <a:pPr marL="0" indent="0">
              <a:spcBef>
                <a:spcPts val="0"/>
              </a:spcBef>
              <a:buNone/>
            </a:pPr>
            <a:r>
              <a:rPr lang="en-US" altLang="zh-CN" sz="2000" dirty="0"/>
              <a:t>	</a:t>
            </a:r>
            <a:r>
              <a:rPr lang="en-US" altLang="zh-CN" sz="2000" dirty="0" err="1"/>
              <a:t>digitalWrite</a:t>
            </a:r>
            <a:r>
              <a:rPr lang="en-US" altLang="zh-CN" sz="2000" dirty="0"/>
              <a:t>(</a:t>
            </a:r>
            <a:r>
              <a:rPr lang="en-US" altLang="zh-CN" sz="2000" dirty="0" err="1"/>
              <a:t>ledPin,LOW</a:t>
            </a:r>
            <a:r>
              <a:rPr lang="en-US" altLang="zh-CN" sz="2000" dirty="0"/>
              <a:t>);</a:t>
            </a:r>
            <a:endParaRPr lang="zh-CN" altLang="zh-CN" sz="2000" dirty="0"/>
          </a:p>
          <a:p>
            <a:pPr marL="0" indent="0">
              <a:spcBef>
                <a:spcPts val="0"/>
              </a:spcBef>
              <a:buNone/>
            </a:pPr>
            <a:r>
              <a:rPr lang="en-US" altLang="zh-CN" sz="2000" dirty="0"/>
              <a:t>	delay(</a:t>
            </a:r>
            <a:r>
              <a:rPr lang="en-US" altLang="zh-CN" sz="2000" dirty="0" err="1"/>
              <a:t>delayTime</a:t>
            </a:r>
            <a:r>
              <a:rPr lang="en-US" altLang="zh-CN" sz="2000" dirty="0"/>
              <a:t>);</a:t>
            </a:r>
            <a:endParaRPr lang="zh-CN" altLang="zh-CN" sz="2000" dirty="0"/>
          </a:p>
          <a:p>
            <a:pPr marL="0" indent="0">
              <a:spcBef>
                <a:spcPts val="0"/>
              </a:spcBef>
              <a:buNone/>
            </a:pPr>
            <a:r>
              <a:rPr lang="en-US" altLang="zh-CN" sz="2000" dirty="0"/>
              <a:t>}</a:t>
            </a:r>
            <a:endParaRPr lang="zh-CN" altLang="zh-CN" sz="2000" dirty="0"/>
          </a:p>
          <a:p>
            <a:pPr marL="0" indent="0">
              <a:spcBef>
                <a:spcPts val="0"/>
              </a:spcBef>
              <a:buNone/>
            </a:pPr>
            <a:endParaRPr lang="zh-CN" altLang="en-US" sz="2000" dirty="0"/>
          </a:p>
        </p:txBody>
      </p:sp>
    </p:spTree>
  </p:cSld>
  <p:clrMapOvr>
    <a:masterClrMapping/>
  </p:clrMapOvr>
  <p:transition>
    <p:cover dir="d"/>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4800" y="116115"/>
            <a:ext cx="5540829" cy="493486"/>
          </a:xfrm>
          <a:solidFill>
            <a:schemeClr val="bg1">
              <a:lumMod val="85000"/>
            </a:schemeClr>
          </a:solidFill>
        </p:spPr>
        <p:txBody>
          <a:bodyPr/>
          <a:lstStyle/>
          <a:p>
            <a:pPr algn="l"/>
            <a:r>
              <a:rPr lang="zh-CN" altLang="zh-CN" sz="3200" b="1" dirty="0"/>
              <a:t>改进使用闪灯函数的闪灯程序</a:t>
            </a:r>
            <a:endParaRPr lang="zh-CN" altLang="en-US" sz="3200" b="1" dirty="0"/>
          </a:p>
        </p:txBody>
      </p:sp>
      <p:sp>
        <p:nvSpPr>
          <p:cNvPr id="3" name="内容占位符 2"/>
          <p:cNvSpPr>
            <a:spLocks noGrp="1"/>
          </p:cNvSpPr>
          <p:nvPr>
            <p:ph idx="1"/>
          </p:nvPr>
        </p:nvSpPr>
        <p:spPr>
          <a:xfrm>
            <a:off x="304800" y="609601"/>
            <a:ext cx="8153400" cy="5849256"/>
          </a:xfrm>
        </p:spPr>
        <p:txBody>
          <a:bodyPr/>
          <a:lstStyle/>
          <a:p>
            <a:pPr marL="0" indent="0">
              <a:spcBef>
                <a:spcPts val="0"/>
              </a:spcBef>
              <a:buNone/>
            </a:pPr>
            <a:r>
              <a:rPr lang="en-US" altLang="zh-CN" sz="2000" dirty="0" err="1"/>
              <a:t>int</a:t>
            </a:r>
            <a:r>
              <a:rPr lang="en-US" altLang="zh-CN" sz="2000" dirty="0"/>
              <a:t> </a:t>
            </a:r>
            <a:r>
              <a:rPr lang="en-US" altLang="zh-CN" sz="2000" dirty="0" err="1"/>
              <a:t>ledPin</a:t>
            </a:r>
            <a:r>
              <a:rPr lang="en-US" altLang="zh-CN" sz="2000" dirty="0"/>
              <a:t> = 13;</a:t>
            </a:r>
            <a:endParaRPr lang="zh-CN" altLang="zh-CN" sz="2000" dirty="0"/>
          </a:p>
          <a:p>
            <a:pPr marL="0" indent="0">
              <a:spcBef>
                <a:spcPts val="0"/>
              </a:spcBef>
              <a:buNone/>
            </a:pPr>
            <a:r>
              <a:rPr lang="en-US" altLang="zh-CN" sz="2000" dirty="0" err="1"/>
              <a:t>int</a:t>
            </a:r>
            <a:r>
              <a:rPr lang="en-US" altLang="zh-CN" sz="2000" dirty="0"/>
              <a:t> </a:t>
            </a:r>
            <a:r>
              <a:rPr lang="en-US" altLang="zh-CN" sz="2000" dirty="0" err="1"/>
              <a:t>delayTime</a:t>
            </a:r>
            <a:r>
              <a:rPr lang="en-US" altLang="zh-CN" sz="2000" dirty="0"/>
              <a:t> = 1000;	//</a:t>
            </a:r>
            <a:r>
              <a:rPr lang="zh-CN" altLang="zh-CN" sz="2000" dirty="0"/>
              <a:t>定义延时变量</a:t>
            </a:r>
            <a:r>
              <a:rPr lang="en-US" altLang="zh-CN" sz="2000" dirty="0" err="1"/>
              <a:t>delayTime</a:t>
            </a:r>
            <a:r>
              <a:rPr lang="zh-CN" altLang="zh-CN" sz="2000" dirty="0"/>
              <a:t>为</a:t>
            </a:r>
            <a:r>
              <a:rPr lang="en-US" altLang="zh-CN" sz="2000" dirty="0"/>
              <a:t>1s</a:t>
            </a:r>
            <a:endParaRPr lang="zh-CN" altLang="zh-CN" sz="2000" dirty="0"/>
          </a:p>
          <a:p>
            <a:pPr marL="0" indent="0">
              <a:spcBef>
                <a:spcPts val="0"/>
              </a:spcBef>
              <a:buNone/>
            </a:pPr>
            <a:r>
              <a:rPr lang="en-US" altLang="zh-CN" sz="2000" dirty="0" err="1"/>
              <a:t>int</a:t>
            </a:r>
            <a:r>
              <a:rPr lang="en-US" altLang="zh-CN" sz="2000" dirty="0"/>
              <a:t> delayTime2 = 3000;	//</a:t>
            </a:r>
            <a:r>
              <a:rPr lang="zh-CN" altLang="zh-CN" sz="2000" dirty="0"/>
              <a:t>定义延时变量</a:t>
            </a:r>
            <a:r>
              <a:rPr lang="en-US" altLang="zh-CN" sz="2000" dirty="0"/>
              <a:t>delayTime2</a:t>
            </a:r>
            <a:r>
              <a:rPr lang="zh-CN" altLang="zh-CN" sz="2000" dirty="0"/>
              <a:t>为</a:t>
            </a:r>
            <a:r>
              <a:rPr lang="en-US" altLang="zh-CN" sz="2000" dirty="0"/>
              <a:t>3s</a:t>
            </a:r>
            <a:endParaRPr lang="zh-CN" altLang="zh-CN" sz="2000" dirty="0"/>
          </a:p>
          <a:p>
            <a:pPr marL="0" indent="0">
              <a:spcBef>
                <a:spcPts val="0"/>
              </a:spcBef>
              <a:buNone/>
            </a:pPr>
            <a:r>
              <a:rPr lang="en-US" altLang="zh-CN" sz="2000" dirty="0"/>
              <a:t>void setup(){</a:t>
            </a:r>
            <a:endParaRPr lang="zh-CN" altLang="zh-CN" sz="2000" dirty="0"/>
          </a:p>
          <a:p>
            <a:pPr marL="0" indent="0">
              <a:spcBef>
                <a:spcPts val="0"/>
              </a:spcBef>
              <a:buNone/>
            </a:pPr>
            <a:r>
              <a:rPr lang="en-US" altLang="zh-CN" sz="2000" dirty="0"/>
              <a:t>	</a:t>
            </a:r>
            <a:r>
              <a:rPr lang="en-US" altLang="zh-CN" sz="2000" dirty="0" err="1"/>
              <a:t>pinMode</a:t>
            </a:r>
            <a:r>
              <a:rPr lang="en-US" altLang="zh-CN" sz="2000" dirty="0"/>
              <a:t>(</a:t>
            </a:r>
            <a:r>
              <a:rPr lang="en-US" altLang="zh-CN" sz="2000" dirty="0" err="1"/>
              <a:t>ledPin,OUTPUT</a:t>
            </a:r>
            <a:r>
              <a:rPr lang="en-US" altLang="zh-CN" sz="2000" dirty="0"/>
              <a:t>);</a:t>
            </a:r>
            <a:endParaRPr lang="zh-CN" altLang="zh-CN" sz="2000" dirty="0"/>
          </a:p>
          <a:p>
            <a:pPr marL="0" indent="0">
              <a:spcBef>
                <a:spcPts val="0"/>
              </a:spcBef>
              <a:buNone/>
            </a:pPr>
            <a:r>
              <a:rPr lang="en-US" altLang="zh-CN" sz="2000" dirty="0"/>
              <a:t>}</a:t>
            </a:r>
            <a:endParaRPr lang="zh-CN" altLang="zh-CN" sz="2000" dirty="0"/>
          </a:p>
          <a:p>
            <a:pPr marL="0" indent="0">
              <a:spcBef>
                <a:spcPts val="0"/>
              </a:spcBef>
              <a:buNone/>
            </a:pPr>
            <a:r>
              <a:rPr lang="en-US" altLang="zh-CN" sz="2000" dirty="0"/>
              <a:t>void loop(){	</a:t>
            </a:r>
            <a:endParaRPr lang="zh-CN" altLang="zh-CN" sz="2000" dirty="0"/>
          </a:p>
          <a:p>
            <a:pPr marL="0" indent="0">
              <a:spcBef>
                <a:spcPts val="0"/>
              </a:spcBef>
              <a:buNone/>
            </a:pPr>
            <a:r>
              <a:rPr lang="en-US" altLang="zh-CN" sz="2000" dirty="0"/>
              <a:t>	for(</a:t>
            </a:r>
            <a:r>
              <a:rPr lang="en-US" altLang="zh-CN" sz="2000" dirty="0" err="1"/>
              <a:t>int</a:t>
            </a:r>
            <a:r>
              <a:rPr lang="en-US" altLang="zh-CN" sz="2000" dirty="0"/>
              <a:t> count=0;count&lt;20;count ++)	{</a:t>
            </a:r>
            <a:endParaRPr lang="zh-CN" altLang="zh-CN" sz="2000" dirty="0"/>
          </a:p>
          <a:p>
            <a:pPr marL="0" indent="0">
              <a:spcBef>
                <a:spcPts val="0"/>
              </a:spcBef>
              <a:buNone/>
            </a:pPr>
            <a:r>
              <a:rPr lang="en-US" altLang="zh-CN" sz="2000" dirty="0"/>
              <a:t>		flash(</a:t>
            </a:r>
            <a:r>
              <a:rPr lang="en-US" altLang="zh-CN" sz="2000" dirty="0" err="1"/>
              <a:t>delayTime</a:t>
            </a:r>
            <a:r>
              <a:rPr lang="en-US" altLang="zh-CN" sz="2000" dirty="0"/>
              <a:t>);		//</a:t>
            </a:r>
            <a:r>
              <a:rPr lang="zh-CN" altLang="zh-CN" sz="2000" dirty="0"/>
              <a:t>调用</a:t>
            </a:r>
            <a:r>
              <a:rPr lang="en-US" altLang="zh-CN" sz="2000" dirty="0"/>
              <a:t>20</a:t>
            </a:r>
            <a:r>
              <a:rPr lang="zh-CN" altLang="zh-CN" sz="2000" dirty="0"/>
              <a:t>次闪烁灯光的函数</a:t>
            </a:r>
            <a:r>
              <a:rPr lang="en-US" altLang="zh-CN" sz="2000" dirty="0"/>
              <a:t>	}</a:t>
            </a:r>
            <a:endParaRPr lang="zh-CN" altLang="zh-CN" sz="2000" dirty="0"/>
          </a:p>
          <a:p>
            <a:pPr marL="0" indent="0">
              <a:spcBef>
                <a:spcPts val="0"/>
              </a:spcBef>
              <a:buNone/>
            </a:pPr>
            <a:r>
              <a:rPr lang="en-US" altLang="zh-CN" sz="2000" dirty="0"/>
              <a:t>	delay(delayTime2);	//</a:t>
            </a:r>
            <a:r>
              <a:rPr lang="zh-CN" altLang="zh-CN" sz="2000" dirty="0"/>
              <a:t>延时</a:t>
            </a:r>
            <a:r>
              <a:rPr lang="en-US" altLang="zh-CN" sz="2000" dirty="0"/>
              <a:t>3s</a:t>
            </a:r>
            <a:endParaRPr lang="zh-CN" altLang="zh-CN" sz="2000" dirty="0"/>
          </a:p>
          <a:p>
            <a:pPr marL="0" indent="0">
              <a:spcBef>
                <a:spcPts val="0"/>
              </a:spcBef>
              <a:buNone/>
            </a:pPr>
            <a:r>
              <a:rPr lang="en-US" altLang="zh-CN" sz="2000" dirty="0"/>
              <a:t>}</a:t>
            </a:r>
            <a:endParaRPr lang="zh-CN" altLang="zh-CN" sz="2000" dirty="0"/>
          </a:p>
          <a:p>
            <a:pPr marL="0" indent="0">
              <a:spcBef>
                <a:spcPts val="0"/>
              </a:spcBef>
              <a:buNone/>
            </a:pPr>
            <a:r>
              <a:rPr lang="en-US" altLang="zh-CN" sz="2000" dirty="0"/>
              <a:t>void flash(</a:t>
            </a:r>
            <a:r>
              <a:rPr lang="en-US" altLang="zh-CN" sz="2000" dirty="0" err="1"/>
              <a:t>int</a:t>
            </a:r>
            <a:r>
              <a:rPr lang="en-US" altLang="zh-CN" sz="2000" dirty="0"/>
              <a:t> delayTime3)	{	//</a:t>
            </a:r>
            <a:r>
              <a:rPr lang="zh-CN" altLang="zh-CN" sz="2000" dirty="0"/>
              <a:t>定义具有参数的闪灯函数</a:t>
            </a:r>
          </a:p>
          <a:p>
            <a:pPr marL="0" indent="0">
              <a:spcBef>
                <a:spcPts val="0"/>
              </a:spcBef>
              <a:buNone/>
            </a:pPr>
            <a:r>
              <a:rPr lang="en-US" altLang="zh-CN" sz="2000" dirty="0"/>
              <a:t>	</a:t>
            </a:r>
            <a:r>
              <a:rPr lang="en-US" altLang="zh-CN" sz="2000" dirty="0" err="1"/>
              <a:t>digitalWrite</a:t>
            </a:r>
            <a:r>
              <a:rPr lang="en-US" altLang="zh-CN" sz="2000" dirty="0"/>
              <a:t>(</a:t>
            </a:r>
            <a:r>
              <a:rPr lang="en-US" altLang="zh-CN" sz="2000" dirty="0" err="1"/>
              <a:t>ledPin,HIGH</a:t>
            </a:r>
            <a:r>
              <a:rPr lang="en-US" altLang="zh-CN" sz="2000" dirty="0"/>
              <a:t>);</a:t>
            </a:r>
            <a:endParaRPr lang="zh-CN" altLang="zh-CN" sz="2000" dirty="0"/>
          </a:p>
          <a:p>
            <a:pPr marL="0" indent="0">
              <a:spcBef>
                <a:spcPts val="0"/>
              </a:spcBef>
              <a:buNone/>
            </a:pPr>
            <a:r>
              <a:rPr lang="en-US" altLang="zh-CN" sz="2000" dirty="0"/>
              <a:t>	delay(delayTime3);</a:t>
            </a:r>
            <a:endParaRPr lang="zh-CN" altLang="zh-CN" sz="2000" dirty="0"/>
          </a:p>
          <a:p>
            <a:pPr marL="0" indent="0">
              <a:spcBef>
                <a:spcPts val="0"/>
              </a:spcBef>
              <a:buNone/>
            </a:pPr>
            <a:r>
              <a:rPr lang="en-US" altLang="zh-CN" sz="2000" dirty="0"/>
              <a:t>	</a:t>
            </a:r>
            <a:r>
              <a:rPr lang="en-US" altLang="zh-CN" sz="2000" dirty="0" err="1"/>
              <a:t>digitalWrite</a:t>
            </a:r>
            <a:r>
              <a:rPr lang="en-US" altLang="zh-CN" sz="2000" dirty="0"/>
              <a:t>(</a:t>
            </a:r>
            <a:r>
              <a:rPr lang="en-US" altLang="zh-CN" sz="2000" dirty="0" err="1"/>
              <a:t>ledPin,LOW</a:t>
            </a:r>
            <a:r>
              <a:rPr lang="en-US" altLang="zh-CN" sz="2000" dirty="0"/>
              <a:t>);</a:t>
            </a:r>
            <a:endParaRPr lang="zh-CN" altLang="zh-CN" sz="2000" dirty="0"/>
          </a:p>
          <a:p>
            <a:pPr marL="0" indent="0">
              <a:spcBef>
                <a:spcPts val="0"/>
              </a:spcBef>
              <a:buNone/>
            </a:pPr>
            <a:r>
              <a:rPr lang="en-US" altLang="zh-CN" sz="2000" dirty="0"/>
              <a:t>	delay(delayTime3);</a:t>
            </a:r>
            <a:endParaRPr lang="zh-CN" altLang="zh-CN" sz="2000" dirty="0"/>
          </a:p>
          <a:p>
            <a:pPr marL="0" indent="0">
              <a:spcBef>
                <a:spcPts val="0"/>
              </a:spcBef>
              <a:buNone/>
            </a:pPr>
            <a:r>
              <a:rPr lang="en-US" altLang="zh-CN" sz="2000" dirty="0"/>
              <a:t>}</a:t>
            </a:r>
            <a:endParaRPr lang="zh-CN" altLang="zh-CN" sz="2000" dirty="0"/>
          </a:p>
          <a:p>
            <a:pPr marL="0" indent="0">
              <a:buNone/>
            </a:pPr>
            <a:endParaRPr lang="zh-CN" altLang="en-US" dirty="0"/>
          </a:p>
        </p:txBody>
      </p:sp>
    </p:spTree>
  </p:cSld>
  <p:clrMapOvr>
    <a:masterClrMapping/>
  </p:clrMapOvr>
  <p:transition>
    <p:cover dir="d"/>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9057" y="145143"/>
            <a:ext cx="4582886" cy="580571"/>
          </a:xfrm>
          <a:solidFill>
            <a:schemeClr val="bg1">
              <a:lumMod val="85000"/>
            </a:schemeClr>
          </a:solidFill>
        </p:spPr>
        <p:txBody>
          <a:bodyPr/>
          <a:lstStyle/>
          <a:p>
            <a:pPr algn="l"/>
            <a:r>
              <a:rPr lang="zh-CN" altLang="zh-CN" sz="3200" b="1" dirty="0"/>
              <a:t>具有返回值的函数</a:t>
            </a:r>
            <a:r>
              <a:rPr lang="en-US" altLang="zh-CN" sz="3200" b="1" dirty="0"/>
              <a:t>Max()</a:t>
            </a:r>
            <a:endParaRPr lang="zh-CN" altLang="en-US" sz="3200" b="1" dirty="0"/>
          </a:p>
        </p:txBody>
      </p:sp>
      <p:sp>
        <p:nvSpPr>
          <p:cNvPr id="3" name="内容占位符 2"/>
          <p:cNvSpPr>
            <a:spLocks noGrp="1"/>
          </p:cNvSpPr>
          <p:nvPr>
            <p:ph idx="1"/>
          </p:nvPr>
        </p:nvSpPr>
        <p:spPr>
          <a:xfrm>
            <a:off x="439057" y="725713"/>
            <a:ext cx="8400143" cy="5921829"/>
          </a:xfrm>
        </p:spPr>
        <p:txBody>
          <a:bodyPr/>
          <a:lstStyle/>
          <a:p>
            <a:pPr marL="0" indent="0">
              <a:spcBef>
                <a:spcPts val="0"/>
              </a:spcBef>
              <a:buNone/>
            </a:pPr>
            <a:r>
              <a:rPr lang="en-US" altLang="zh-CN" sz="2400" dirty="0" err="1"/>
              <a:t>int</a:t>
            </a:r>
            <a:r>
              <a:rPr lang="en-US" altLang="zh-CN" sz="2400" dirty="0"/>
              <a:t> Max(</a:t>
            </a:r>
            <a:r>
              <a:rPr lang="en-US" altLang="zh-CN" sz="2400" dirty="0" err="1"/>
              <a:t>int</a:t>
            </a:r>
            <a:r>
              <a:rPr lang="en-US" altLang="zh-CN" sz="2400" dirty="0"/>
              <a:t> </a:t>
            </a:r>
            <a:r>
              <a:rPr lang="en-US" altLang="zh-CN" sz="2400" dirty="0" err="1"/>
              <a:t>a,int</a:t>
            </a:r>
            <a:r>
              <a:rPr lang="en-US" altLang="zh-CN" sz="2400" dirty="0"/>
              <a:t> b){	//</a:t>
            </a:r>
            <a:r>
              <a:rPr lang="zh-CN" altLang="zh-CN" sz="2400" dirty="0"/>
              <a:t>定义具有参数和返回值的求两个数最大值的函数</a:t>
            </a:r>
            <a:r>
              <a:rPr lang="en-US" altLang="zh-CN" sz="2400" dirty="0"/>
              <a:t>	if(a&gt;=b){</a:t>
            </a:r>
            <a:endParaRPr lang="zh-CN" altLang="zh-CN" sz="2400" dirty="0"/>
          </a:p>
          <a:p>
            <a:pPr marL="0" indent="0">
              <a:spcBef>
                <a:spcPts val="0"/>
              </a:spcBef>
              <a:buNone/>
            </a:pPr>
            <a:r>
              <a:rPr lang="en-US" altLang="zh-CN" sz="2400" dirty="0"/>
              <a:t>		return a;			//a&gt;=b</a:t>
            </a:r>
            <a:r>
              <a:rPr lang="zh-CN" altLang="zh-CN" sz="2400" dirty="0"/>
              <a:t>时返回</a:t>
            </a:r>
            <a:r>
              <a:rPr lang="en-US" altLang="zh-CN" sz="2400" dirty="0"/>
              <a:t>a </a:t>
            </a:r>
            <a:endParaRPr lang="zh-CN" altLang="zh-CN" sz="2400" dirty="0"/>
          </a:p>
          <a:p>
            <a:pPr marL="0" indent="0">
              <a:spcBef>
                <a:spcPts val="0"/>
              </a:spcBef>
              <a:buNone/>
            </a:pPr>
            <a:r>
              <a:rPr lang="en-US" altLang="zh-CN" sz="2400" dirty="0"/>
              <a:t>	}else{</a:t>
            </a:r>
            <a:endParaRPr lang="zh-CN" altLang="zh-CN" sz="2400" dirty="0"/>
          </a:p>
          <a:p>
            <a:pPr marL="0" indent="0">
              <a:spcBef>
                <a:spcPts val="0"/>
              </a:spcBef>
              <a:buNone/>
            </a:pPr>
            <a:r>
              <a:rPr lang="en-US" altLang="zh-CN" sz="2400" dirty="0"/>
              <a:t>		return b;			//a&lt;b</a:t>
            </a:r>
            <a:r>
              <a:rPr lang="zh-CN" altLang="zh-CN" sz="2400" dirty="0"/>
              <a:t>时返回</a:t>
            </a:r>
            <a:r>
              <a:rPr lang="en-US" altLang="zh-CN" sz="2400" dirty="0"/>
              <a:t>b</a:t>
            </a:r>
            <a:endParaRPr lang="zh-CN" altLang="zh-CN" sz="2400" dirty="0"/>
          </a:p>
          <a:p>
            <a:pPr marL="0" indent="0">
              <a:spcBef>
                <a:spcPts val="0"/>
              </a:spcBef>
              <a:buNone/>
            </a:pPr>
            <a:r>
              <a:rPr lang="en-US" altLang="zh-CN" sz="2400" dirty="0"/>
              <a:t>	}</a:t>
            </a:r>
            <a:endParaRPr lang="zh-CN" altLang="zh-CN" sz="2400" dirty="0"/>
          </a:p>
          <a:p>
            <a:pPr marL="0" indent="0">
              <a:spcBef>
                <a:spcPts val="0"/>
              </a:spcBef>
              <a:buNone/>
            </a:pPr>
            <a:r>
              <a:rPr lang="en-US" altLang="zh-CN" sz="2400" dirty="0"/>
              <a:t>}</a:t>
            </a:r>
            <a:endParaRPr lang="zh-CN" altLang="zh-CN" sz="2400" dirty="0"/>
          </a:p>
          <a:p>
            <a:pPr marL="0" indent="0">
              <a:spcBef>
                <a:spcPts val="0"/>
              </a:spcBef>
              <a:buNone/>
            </a:pPr>
            <a:r>
              <a:rPr lang="en-US" altLang="zh-CN" sz="2400" dirty="0"/>
              <a:t> </a:t>
            </a:r>
            <a:endParaRPr lang="zh-CN" altLang="zh-CN" sz="2400" dirty="0"/>
          </a:p>
          <a:p>
            <a:pPr marL="0" indent="0">
              <a:spcBef>
                <a:spcPts val="0"/>
              </a:spcBef>
              <a:buNone/>
            </a:pPr>
            <a:r>
              <a:rPr lang="en-US" altLang="zh-CN" sz="2400" dirty="0"/>
              <a:t>void setup() {</a:t>
            </a:r>
            <a:endParaRPr lang="zh-CN" altLang="zh-CN" sz="2400" dirty="0"/>
          </a:p>
          <a:p>
            <a:pPr marL="0" indent="0">
              <a:spcBef>
                <a:spcPts val="0"/>
              </a:spcBef>
              <a:buNone/>
            </a:pPr>
            <a:r>
              <a:rPr lang="en-US" altLang="zh-CN" sz="2400" dirty="0" err="1"/>
              <a:t>int</a:t>
            </a:r>
            <a:r>
              <a:rPr lang="en-US" altLang="zh-CN" sz="2400" dirty="0"/>
              <a:t> x=Max(10,20);			//</a:t>
            </a:r>
            <a:r>
              <a:rPr lang="zh-CN" altLang="zh-CN" sz="2400" dirty="0"/>
              <a:t>调用</a:t>
            </a:r>
            <a:r>
              <a:rPr lang="en-US" altLang="zh-CN" sz="2400" dirty="0"/>
              <a:t>Max()</a:t>
            </a:r>
            <a:r>
              <a:rPr lang="zh-CN" altLang="zh-CN" sz="2400" dirty="0"/>
              <a:t>函数</a:t>
            </a:r>
          </a:p>
          <a:p>
            <a:pPr marL="0" indent="0">
              <a:spcBef>
                <a:spcPts val="0"/>
              </a:spcBef>
              <a:buNone/>
            </a:pPr>
            <a:r>
              <a:rPr lang="en-US" altLang="zh-CN" sz="2400" dirty="0" err="1"/>
              <a:t>Serial.println</a:t>
            </a:r>
            <a:r>
              <a:rPr lang="en-US" altLang="zh-CN" sz="2400" dirty="0"/>
              <a:t>(x);</a:t>
            </a:r>
            <a:endParaRPr lang="zh-CN" altLang="zh-CN" sz="2400" dirty="0"/>
          </a:p>
          <a:p>
            <a:pPr marL="0" indent="0">
              <a:spcBef>
                <a:spcPts val="0"/>
              </a:spcBef>
              <a:buNone/>
            </a:pPr>
            <a:r>
              <a:rPr lang="en-US" altLang="zh-CN" sz="2400" dirty="0"/>
              <a:t>}</a:t>
            </a:r>
            <a:endParaRPr lang="zh-CN" altLang="zh-CN" sz="2400" dirty="0"/>
          </a:p>
          <a:p>
            <a:pPr marL="0" indent="0">
              <a:spcBef>
                <a:spcPts val="0"/>
              </a:spcBef>
              <a:buNone/>
            </a:pPr>
            <a:r>
              <a:rPr lang="en-US" altLang="zh-CN" sz="2400" dirty="0"/>
              <a:t> </a:t>
            </a:r>
            <a:endParaRPr lang="zh-CN" altLang="zh-CN" sz="2400" dirty="0"/>
          </a:p>
          <a:p>
            <a:pPr marL="0" indent="0">
              <a:spcBef>
                <a:spcPts val="0"/>
              </a:spcBef>
              <a:buNone/>
            </a:pPr>
            <a:r>
              <a:rPr lang="en-US" altLang="zh-CN" sz="2400" dirty="0"/>
              <a:t>void loop() {</a:t>
            </a:r>
            <a:endParaRPr lang="zh-CN" altLang="zh-CN" sz="2400" dirty="0"/>
          </a:p>
          <a:p>
            <a:pPr marL="0" indent="0">
              <a:spcBef>
                <a:spcPts val="0"/>
              </a:spcBef>
              <a:buNone/>
            </a:pPr>
            <a:r>
              <a:rPr lang="en-US" altLang="zh-CN" sz="2400" dirty="0"/>
              <a:t>  // put your main code here, to run repeatedly: </a:t>
            </a:r>
            <a:endParaRPr lang="zh-CN" altLang="zh-CN" sz="2400" dirty="0"/>
          </a:p>
          <a:p>
            <a:pPr marL="0" indent="0">
              <a:spcBef>
                <a:spcPts val="0"/>
              </a:spcBef>
              <a:buNone/>
            </a:pPr>
            <a:r>
              <a:rPr lang="en-US" altLang="zh-CN" sz="2400" dirty="0"/>
              <a:t>}</a:t>
            </a:r>
            <a:endParaRPr lang="zh-CN" altLang="zh-CN" sz="2400" dirty="0"/>
          </a:p>
          <a:p>
            <a:pPr marL="0" indent="0">
              <a:buNone/>
            </a:pPr>
            <a:endParaRPr lang="zh-CN" altLang="en-US" dirty="0"/>
          </a:p>
        </p:txBody>
      </p:sp>
    </p:spTree>
  </p:cSld>
  <p:clrMapOvr>
    <a:masterClrMapping/>
  </p:clrMapOvr>
  <p:transition>
    <p:cover dir="d"/>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常用核心函数</a:t>
            </a:r>
          </a:p>
        </p:txBody>
      </p:sp>
      <p:sp>
        <p:nvSpPr>
          <p:cNvPr id="3" name="内容占位符 2"/>
          <p:cNvSpPr>
            <a:spLocks noGrp="1"/>
          </p:cNvSpPr>
          <p:nvPr>
            <p:ph idx="1"/>
          </p:nvPr>
        </p:nvSpPr>
        <p:spPr/>
        <p:txBody>
          <a:bodyPr/>
          <a:lstStyle/>
          <a:p>
            <a:r>
              <a:rPr lang="en-US" altLang="zh-CN" dirty="0" err="1"/>
              <a:t>pinMode</a:t>
            </a:r>
            <a:r>
              <a:rPr lang="en-US" altLang="zh-CN" dirty="0"/>
              <a:t>(</a:t>
            </a:r>
            <a:r>
              <a:rPr lang="zh-CN" altLang="zh-CN" dirty="0"/>
              <a:t>接口名称</a:t>
            </a:r>
            <a:r>
              <a:rPr lang="en-US" altLang="zh-CN" dirty="0"/>
              <a:t>,OUTPUT</a:t>
            </a:r>
            <a:r>
              <a:rPr lang="zh-CN" altLang="zh-CN" dirty="0"/>
              <a:t>或</a:t>
            </a:r>
            <a:r>
              <a:rPr lang="en-US" altLang="zh-CN" dirty="0"/>
              <a:t>INPUT)</a:t>
            </a:r>
            <a:r>
              <a:rPr lang="zh-CN" altLang="zh-CN" dirty="0"/>
              <a:t>，将指定的接口定义为输入或输出接口，用在</a:t>
            </a:r>
            <a:r>
              <a:rPr lang="en-US" altLang="zh-CN" dirty="0"/>
              <a:t>setup()</a:t>
            </a:r>
            <a:r>
              <a:rPr lang="zh-CN" altLang="zh-CN" dirty="0"/>
              <a:t>函数里。</a:t>
            </a:r>
            <a:endParaRPr lang="en-US" altLang="zh-CN" dirty="0"/>
          </a:p>
          <a:p>
            <a:r>
              <a:rPr lang="en-US" altLang="zh-CN" dirty="0" err="1"/>
              <a:t>digitalWrite</a:t>
            </a:r>
            <a:r>
              <a:rPr lang="en-US" altLang="zh-CN" dirty="0"/>
              <a:t>(</a:t>
            </a:r>
            <a:r>
              <a:rPr lang="zh-CN" altLang="zh-CN" dirty="0"/>
              <a:t>接口名称，</a:t>
            </a:r>
            <a:r>
              <a:rPr lang="en-US" altLang="zh-CN" dirty="0"/>
              <a:t>HIGH</a:t>
            </a:r>
            <a:r>
              <a:rPr lang="zh-CN" altLang="zh-CN" dirty="0"/>
              <a:t>（高）或</a:t>
            </a:r>
            <a:r>
              <a:rPr lang="en-US" altLang="zh-CN" dirty="0"/>
              <a:t>LOW</a:t>
            </a:r>
            <a:r>
              <a:rPr lang="zh-CN" altLang="zh-CN" dirty="0"/>
              <a:t>（低）</a:t>
            </a:r>
            <a:r>
              <a:rPr lang="en-US" altLang="zh-CN" dirty="0"/>
              <a:t>)</a:t>
            </a:r>
            <a:r>
              <a:rPr lang="zh-CN" altLang="zh-CN" dirty="0"/>
              <a:t>，将数字输入输出接口的数值置高或置低。</a:t>
            </a:r>
            <a:endParaRPr lang="zh-CN" altLang="en-US" dirty="0"/>
          </a:p>
        </p:txBody>
      </p:sp>
    </p:spTree>
  </p:cSld>
  <p:clrMapOvr>
    <a:masterClrMapping/>
  </p:clrMapOvr>
  <p:transition>
    <p:cover dir="d"/>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常用核心函数</a:t>
            </a:r>
          </a:p>
        </p:txBody>
      </p:sp>
      <p:sp>
        <p:nvSpPr>
          <p:cNvPr id="3" name="内容占位符 2"/>
          <p:cNvSpPr>
            <a:spLocks noGrp="1"/>
          </p:cNvSpPr>
          <p:nvPr>
            <p:ph idx="1"/>
          </p:nvPr>
        </p:nvSpPr>
        <p:spPr>
          <a:xfrm>
            <a:off x="685800" y="1752601"/>
            <a:ext cx="7772400" cy="4807856"/>
          </a:xfrm>
        </p:spPr>
        <p:txBody>
          <a:bodyPr/>
          <a:lstStyle/>
          <a:p>
            <a:r>
              <a:rPr lang="en-US" altLang="zh-CN" dirty="0" err="1"/>
              <a:t>digitalRead</a:t>
            </a:r>
            <a:r>
              <a:rPr lang="en-US" altLang="zh-CN" dirty="0"/>
              <a:t>(</a:t>
            </a:r>
            <a:r>
              <a:rPr lang="zh-CN" altLang="zh-CN" dirty="0"/>
              <a:t>接口名称</a:t>
            </a:r>
            <a:r>
              <a:rPr lang="en-US" altLang="zh-CN" dirty="0"/>
              <a:t>)</a:t>
            </a:r>
            <a:r>
              <a:rPr lang="zh-CN" altLang="zh-CN" dirty="0"/>
              <a:t>，读出数字接口的值，并将该值作为返回值。</a:t>
            </a:r>
            <a:endParaRPr lang="en-US" altLang="zh-CN" dirty="0"/>
          </a:p>
          <a:p>
            <a:r>
              <a:rPr lang="en-US" altLang="zh-CN" dirty="0" err="1"/>
              <a:t>analogWrite</a:t>
            </a:r>
            <a:r>
              <a:rPr lang="en-US" altLang="zh-CN" dirty="0"/>
              <a:t>(</a:t>
            </a:r>
            <a:r>
              <a:rPr lang="zh-CN" altLang="zh-CN" dirty="0"/>
              <a:t>接口名称</a:t>
            </a:r>
            <a:r>
              <a:rPr lang="en-US" altLang="zh-CN" dirty="0"/>
              <a:t>, </a:t>
            </a:r>
            <a:r>
              <a:rPr lang="zh-CN" altLang="zh-CN" dirty="0"/>
              <a:t>数值</a:t>
            </a:r>
            <a:r>
              <a:rPr lang="en-US" altLang="zh-CN" dirty="0"/>
              <a:t>)</a:t>
            </a:r>
            <a:r>
              <a:rPr lang="zh-CN" altLang="zh-CN" dirty="0"/>
              <a:t>，给一个模拟接口写入模拟值（</a:t>
            </a:r>
            <a:r>
              <a:rPr lang="en-US" altLang="zh-CN" dirty="0"/>
              <a:t>PWM</a:t>
            </a:r>
            <a:r>
              <a:rPr lang="zh-CN" altLang="zh-CN" dirty="0"/>
              <a:t>脉冲）。</a:t>
            </a:r>
            <a:endParaRPr lang="en-US" altLang="zh-CN" dirty="0"/>
          </a:p>
          <a:p>
            <a:r>
              <a:rPr lang="en-US" altLang="zh-CN" dirty="0" err="1"/>
              <a:t>analogRead</a:t>
            </a:r>
            <a:r>
              <a:rPr lang="en-US" altLang="zh-CN" dirty="0"/>
              <a:t>(</a:t>
            </a:r>
            <a:r>
              <a:rPr lang="zh-CN" altLang="zh-CN" dirty="0"/>
              <a:t>接口名称</a:t>
            </a:r>
            <a:r>
              <a:rPr lang="en-US" altLang="zh-CN" dirty="0"/>
              <a:t>)</a:t>
            </a:r>
            <a:r>
              <a:rPr lang="zh-CN" altLang="zh-CN" dirty="0"/>
              <a:t>，从指定的模拟接口读取数值，</a:t>
            </a:r>
            <a:r>
              <a:rPr lang="en-US" altLang="zh-CN" dirty="0"/>
              <a:t>Arduino</a:t>
            </a:r>
            <a:r>
              <a:rPr lang="zh-CN" altLang="zh-CN" dirty="0"/>
              <a:t>对该模拟值进行数字转换，这个方法将输入的</a:t>
            </a:r>
            <a:r>
              <a:rPr lang="en-US" altLang="zh-CN" dirty="0"/>
              <a:t>0~5V</a:t>
            </a:r>
            <a:r>
              <a:rPr lang="zh-CN" altLang="zh-CN" dirty="0"/>
              <a:t>电压值转换为</a:t>
            </a:r>
            <a:r>
              <a:rPr lang="en-US" altLang="zh-CN" dirty="0"/>
              <a:t>0~1023</a:t>
            </a:r>
            <a:r>
              <a:rPr lang="zh-CN" altLang="zh-CN" dirty="0"/>
              <a:t>间的整数值，并将该整数值作为返回值。</a:t>
            </a:r>
            <a:endParaRPr lang="zh-CN" altLang="en-US" dirty="0"/>
          </a:p>
        </p:txBody>
      </p:sp>
    </p:spTree>
  </p:cSld>
  <p:clrMapOvr>
    <a:masterClrMapping/>
  </p:clrMapOvr>
  <p:transition>
    <p:cover dir="d"/>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7114" y="217715"/>
            <a:ext cx="7772400" cy="1143000"/>
          </a:xfrm>
        </p:spPr>
        <p:txBody>
          <a:bodyPr/>
          <a:lstStyle/>
          <a:p>
            <a:pPr algn="l"/>
            <a:r>
              <a:rPr lang="zh-CN" altLang="en-US" dirty="0"/>
              <a:t>常用核心函数</a:t>
            </a:r>
          </a:p>
        </p:txBody>
      </p:sp>
      <p:sp>
        <p:nvSpPr>
          <p:cNvPr id="3" name="内容占位符 2"/>
          <p:cNvSpPr>
            <a:spLocks noGrp="1"/>
          </p:cNvSpPr>
          <p:nvPr>
            <p:ph idx="1"/>
          </p:nvPr>
        </p:nvSpPr>
        <p:spPr>
          <a:xfrm>
            <a:off x="246743" y="1360715"/>
            <a:ext cx="8766628" cy="5141685"/>
          </a:xfrm>
        </p:spPr>
        <p:txBody>
          <a:bodyPr/>
          <a:lstStyle/>
          <a:p>
            <a:r>
              <a:rPr lang="en-US" altLang="zh-CN" dirty="0"/>
              <a:t>delay(</a:t>
            </a:r>
            <a:r>
              <a:rPr lang="zh-CN" altLang="zh-CN" dirty="0"/>
              <a:t>时间</a:t>
            </a:r>
            <a:r>
              <a:rPr lang="en-US" altLang="zh-CN" dirty="0"/>
              <a:t>)</a:t>
            </a:r>
            <a:r>
              <a:rPr lang="zh-CN" altLang="zh-CN" dirty="0"/>
              <a:t>，延时一段时间，以毫秒为单位，如</a:t>
            </a:r>
            <a:r>
              <a:rPr lang="en-US" altLang="zh-CN" dirty="0"/>
              <a:t>1000</a:t>
            </a:r>
            <a:r>
              <a:rPr lang="zh-CN" altLang="zh-CN" dirty="0"/>
              <a:t>为</a:t>
            </a:r>
            <a:r>
              <a:rPr lang="en-US" altLang="zh-CN" dirty="0"/>
              <a:t>1</a:t>
            </a:r>
            <a:r>
              <a:rPr lang="zh-CN" altLang="zh-CN" dirty="0"/>
              <a:t>秒。</a:t>
            </a:r>
            <a:endParaRPr lang="en-US" altLang="zh-CN" dirty="0"/>
          </a:p>
          <a:p>
            <a:r>
              <a:rPr lang="en-US" altLang="zh-CN" dirty="0" err="1"/>
              <a:t>Serial.begin</a:t>
            </a:r>
            <a:r>
              <a:rPr lang="en-US" altLang="zh-CN" dirty="0"/>
              <a:t>(</a:t>
            </a:r>
            <a:r>
              <a:rPr lang="zh-CN" altLang="zh-CN" dirty="0"/>
              <a:t>波特率</a:t>
            </a:r>
            <a:r>
              <a:rPr lang="en-US" altLang="zh-CN" dirty="0"/>
              <a:t>)</a:t>
            </a:r>
            <a:r>
              <a:rPr lang="zh-CN" altLang="zh-CN" dirty="0"/>
              <a:t>，设置串行每秒传输数据的速率（波特率）。在与计算机进行通讯时，可以使用下面这些值：</a:t>
            </a:r>
            <a:r>
              <a:rPr lang="en-US" altLang="zh-CN" dirty="0"/>
              <a:t>300</a:t>
            </a:r>
            <a:r>
              <a:rPr lang="zh-CN" altLang="zh-CN" dirty="0"/>
              <a:t>、</a:t>
            </a:r>
            <a:r>
              <a:rPr lang="en-US" altLang="zh-CN" dirty="0"/>
              <a:t>1200</a:t>
            </a:r>
            <a:r>
              <a:rPr lang="zh-CN" altLang="zh-CN" dirty="0"/>
              <a:t>、</a:t>
            </a:r>
            <a:r>
              <a:rPr lang="en-US" altLang="zh-CN" dirty="0"/>
              <a:t>2400</a:t>
            </a:r>
            <a:r>
              <a:rPr lang="zh-CN" altLang="zh-CN" dirty="0"/>
              <a:t>、</a:t>
            </a:r>
            <a:r>
              <a:rPr lang="en-US" altLang="zh-CN" dirty="0"/>
              <a:t>4800</a:t>
            </a:r>
            <a:r>
              <a:rPr lang="zh-CN" altLang="zh-CN" dirty="0"/>
              <a:t>、</a:t>
            </a:r>
            <a:r>
              <a:rPr lang="en-US" altLang="zh-CN" dirty="0"/>
              <a:t>9600</a:t>
            </a:r>
            <a:r>
              <a:rPr lang="zh-CN" altLang="zh-CN" dirty="0"/>
              <a:t>、</a:t>
            </a:r>
            <a:r>
              <a:rPr lang="en-US" altLang="zh-CN" dirty="0"/>
              <a:t>14400</a:t>
            </a:r>
            <a:r>
              <a:rPr lang="zh-CN" altLang="zh-CN" dirty="0"/>
              <a:t>、</a:t>
            </a:r>
            <a:r>
              <a:rPr lang="en-US" altLang="zh-CN" dirty="0"/>
              <a:t>19200</a:t>
            </a:r>
            <a:r>
              <a:rPr lang="zh-CN" altLang="zh-CN" dirty="0"/>
              <a:t>、</a:t>
            </a:r>
            <a:r>
              <a:rPr lang="en-US" altLang="zh-CN" dirty="0"/>
              <a:t>28800</a:t>
            </a:r>
            <a:r>
              <a:rPr lang="zh-CN" altLang="zh-CN" dirty="0"/>
              <a:t>、</a:t>
            </a:r>
            <a:r>
              <a:rPr lang="en-US" altLang="zh-CN" dirty="0"/>
              <a:t>38400</a:t>
            </a:r>
            <a:r>
              <a:rPr lang="zh-CN" altLang="zh-CN" dirty="0"/>
              <a:t>、</a:t>
            </a:r>
            <a:r>
              <a:rPr lang="en-US" altLang="zh-CN" dirty="0"/>
              <a:t>57600</a:t>
            </a:r>
            <a:r>
              <a:rPr lang="zh-CN" altLang="zh-CN" dirty="0"/>
              <a:t>或</a:t>
            </a:r>
            <a:r>
              <a:rPr lang="en-US" altLang="zh-CN" dirty="0"/>
              <a:t>115200</a:t>
            </a:r>
            <a:r>
              <a:rPr lang="zh-CN" altLang="zh-CN" dirty="0"/>
              <a:t>，一般</a:t>
            </a:r>
            <a:r>
              <a:rPr lang="en-US" altLang="zh-CN" dirty="0"/>
              <a:t>9600</a:t>
            </a:r>
            <a:r>
              <a:rPr lang="zh-CN" altLang="zh-CN" dirty="0"/>
              <a:t>、</a:t>
            </a:r>
            <a:r>
              <a:rPr lang="en-US" altLang="zh-CN" dirty="0"/>
              <a:t>57600</a:t>
            </a:r>
            <a:r>
              <a:rPr lang="zh-CN" altLang="zh-CN" dirty="0"/>
              <a:t>和</a:t>
            </a:r>
            <a:r>
              <a:rPr lang="en-US" altLang="zh-CN" dirty="0"/>
              <a:t>115200</a:t>
            </a:r>
            <a:r>
              <a:rPr lang="zh-CN" altLang="zh-CN" dirty="0"/>
              <a:t>比较常见。除此之外还可以使用其他需要的特定数值，如与</a:t>
            </a:r>
            <a:r>
              <a:rPr lang="en-US" altLang="zh-CN" dirty="0"/>
              <a:t>0</a:t>
            </a:r>
            <a:r>
              <a:rPr lang="zh-CN" altLang="zh-CN" dirty="0"/>
              <a:t>号或</a:t>
            </a:r>
            <a:r>
              <a:rPr lang="en-US" altLang="zh-CN" dirty="0"/>
              <a:t>1</a:t>
            </a:r>
            <a:r>
              <a:rPr lang="zh-CN" altLang="zh-CN" dirty="0"/>
              <a:t>号引脚通信就需要特殊的波特率。该函数用在</a:t>
            </a:r>
            <a:r>
              <a:rPr lang="en-US" altLang="zh-CN" dirty="0"/>
              <a:t>setup()</a:t>
            </a:r>
            <a:r>
              <a:rPr lang="zh-CN" altLang="zh-CN" dirty="0"/>
              <a:t>函数里。</a:t>
            </a:r>
            <a:endParaRPr lang="zh-CN" altLang="en-US" dirty="0"/>
          </a:p>
        </p:txBody>
      </p:sp>
    </p:spTree>
  </p:cSld>
  <p:clrMapOvr>
    <a:masterClrMapping/>
  </p:clrMapOvr>
  <p:transition>
    <p:cover dir="d"/>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9057" y="101600"/>
            <a:ext cx="7772400" cy="1143000"/>
          </a:xfrm>
        </p:spPr>
        <p:txBody>
          <a:bodyPr/>
          <a:lstStyle/>
          <a:p>
            <a:pPr algn="l"/>
            <a:r>
              <a:rPr lang="zh-CN" altLang="en-US" dirty="0"/>
              <a:t>常用核心函数</a:t>
            </a:r>
          </a:p>
        </p:txBody>
      </p:sp>
      <p:sp>
        <p:nvSpPr>
          <p:cNvPr id="3" name="内容占位符 2"/>
          <p:cNvSpPr>
            <a:spLocks noGrp="1"/>
          </p:cNvSpPr>
          <p:nvPr>
            <p:ph idx="1"/>
          </p:nvPr>
        </p:nvSpPr>
        <p:spPr>
          <a:xfrm>
            <a:off x="261257" y="1244600"/>
            <a:ext cx="8723085" cy="4851400"/>
          </a:xfrm>
        </p:spPr>
        <p:txBody>
          <a:bodyPr/>
          <a:lstStyle/>
          <a:p>
            <a:r>
              <a:rPr lang="en-US" altLang="zh-CN" dirty="0" err="1"/>
              <a:t>Serial.read</a:t>
            </a:r>
            <a:r>
              <a:rPr lang="en-US" altLang="zh-CN" dirty="0"/>
              <a:t>()</a:t>
            </a:r>
            <a:r>
              <a:rPr lang="zh-CN" altLang="zh-CN" dirty="0"/>
              <a:t>，读取串行端口中持续输入的数据，并将读入的数据作为返回值。</a:t>
            </a:r>
            <a:endParaRPr lang="en-US" altLang="zh-CN" dirty="0"/>
          </a:p>
          <a:p>
            <a:r>
              <a:rPr lang="en-US" altLang="zh-CN" dirty="0" err="1"/>
              <a:t>Serial.print</a:t>
            </a:r>
            <a:r>
              <a:rPr lang="en-US" altLang="zh-CN" dirty="0"/>
              <a:t>(</a:t>
            </a:r>
            <a:r>
              <a:rPr lang="zh-CN" altLang="zh-CN" dirty="0"/>
              <a:t>数据，数据的进制</a:t>
            </a:r>
            <a:r>
              <a:rPr lang="en-US" altLang="zh-CN" dirty="0"/>
              <a:t>)</a:t>
            </a:r>
            <a:r>
              <a:rPr lang="zh-CN" altLang="zh-CN" dirty="0"/>
              <a:t>，从串行端口输出数据。</a:t>
            </a:r>
            <a:r>
              <a:rPr lang="en-US" altLang="zh-CN" dirty="0" err="1"/>
              <a:t>Serial.print</a:t>
            </a:r>
            <a:r>
              <a:rPr lang="en-US" altLang="zh-CN" dirty="0"/>
              <a:t>(</a:t>
            </a:r>
            <a:r>
              <a:rPr lang="zh-CN" altLang="zh-CN" dirty="0"/>
              <a:t>数据</a:t>
            </a:r>
            <a:r>
              <a:rPr lang="en-US" altLang="zh-CN" dirty="0"/>
              <a:t>)</a:t>
            </a:r>
            <a:r>
              <a:rPr lang="zh-CN" altLang="zh-CN" dirty="0"/>
              <a:t>默认为十进制，相当于</a:t>
            </a:r>
            <a:r>
              <a:rPr lang="en-US" altLang="zh-CN" dirty="0" err="1"/>
              <a:t>Serial.print</a:t>
            </a:r>
            <a:r>
              <a:rPr lang="en-US" altLang="zh-CN" dirty="0"/>
              <a:t>(</a:t>
            </a:r>
            <a:r>
              <a:rPr lang="zh-CN" altLang="zh-CN" dirty="0"/>
              <a:t>数据，十进制</a:t>
            </a:r>
            <a:r>
              <a:rPr lang="en-US" altLang="zh-CN" dirty="0"/>
              <a:t>)</a:t>
            </a:r>
            <a:r>
              <a:rPr lang="zh-CN" altLang="zh-CN" dirty="0"/>
              <a:t>。</a:t>
            </a:r>
            <a:endParaRPr lang="en-US" altLang="zh-CN" dirty="0"/>
          </a:p>
          <a:p>
            <a:r>
              <a:rPr lang="en-US" altLang="zh-CN" dirty="0" err="1"/>
              <a:t>Serial.println</a:t>
            </a:r>
            <a:r>
              <a:rPr lang="en-US" altLang="zh-CN" dirty="0"/>
              <a:t>(</a:t>
            </a:r>
            <a:r>
              <a:rPr lang="zh-CN" altLang="zh-CN" dirty="0"/>
              <a:t>数据，数据的进制</a:t>
            </a:r>
            <a:r>
              <a:rPr lang="en-US" altLang="zh-CN" dirty="0"/>
              <a:t>)</a:t>
            </a:r>
            <a:r>
              <a:rPr lang="zh-CN" altLang="zh-CN" dirty="0"/>
              <a:t>，从串行端口输出数据，有所不同的是输出数据后跟随一个回车和一个换行符。但是该函数所输出的值与</a:t>
            </a:r>
            <a:r>
              <a:rPr lang="en-US" altLang="zh-CN" dirty="0"/>
              <a:t> </a:t>
            </a:r>
            <a:r>
              <a:rPr lang="en-US" altLang="zh-CN" dirty="0" err="1"/>
              <a:t>Serial.print</a:t>
            </a:r>
            <a:r>
              <a:rPr lang="en-US" altLang="zh-CN" dirty="0"/>
              <a:t>()</a:t>
            </a:r>
            <a:r>
              <a:rPr lang="zh-CN" altLang="zh-CN" dirty="0"/>
              <a:t>一样。</a:t>
            </a:r>
            <a:endParaRPr lang="zh-CN" altLang="en-US" dirty="0"/>
          </a:p>
        </p:txBody>
      </p:sp>
    </p:spTree>
  </p:cSld>
  <p:clrMapOvr>
    <a:masterClrMapping/>
  </p:clrMapOvr>
  <p:transition>
    <p:cover dir="d"/>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a:t>
            </a:r>
            <a:r>
              <a:rPr lang="zh-CN" altLang="zh-CN" dirty="0"/>
              <a:t>语法——输入与输出</a:t>
            </a:r>
            <a:endParaRPr lang="zh-CN" altLang="en-US" dirty="0"/>
          </a:p>
        </p:txBody>
      </p:sp>
      <p:sp>
        <p:nvSpPr>
          <p:cNvPr id="3" name="内容占位符 2"/>
          <p:cNvSpPr>
            <a:spLocks noGrp="1"/>
          </p:cNvSpPr>
          <p:nvPr>
            <p:ph idx="1"/>
          </p:nvPr>
        </p:nvSpPr>
        <p:spPr/>
        <p:txBody>
          <a:bodyPr/>
          <a:lstStyle/>
          <a:p>
            <a:pPr marL="0" indent="0">
              <a:buNone/>
            </a:pPr>
            <a:r>
              <a:rPr lang="en-US" altLang="zh-CN" dirty="0"/>
              <a:t>Arduino</a:t>
            </a:r>
            <a:r>
              <a:rPr lang="zh-CN" altLang="zh-CN" dirty="0"/>
              <a:t>独立能够完成的事情很少，很多情况下</a:t>
            </a:r>
            <a:r>
              <a:rPr lang="en-US" altLang="zh-CN" dirty="0"/>
              <a:t>Arduino</a:t>
            </a:r>
            <a:r>
              <a:rPr lang="zh-CN" altLang="zh-CN" dirty="0"/>
              <a:t>需要其他装置如传感器、网络扩展板、电机等协调进行工作。</a:t>
            </a:r>
            <a:r>
              <a:rPr lang="en-US" altLang="zh-CN" dirty="0"/>
              <a:t>Arduino</a:t>
            </a:r>
            <a:r>
              <a:rPr lang="zh-CN" altLang="zh-CN" dirty="0"/>
              <a:t>开发板具有很多数字输入输出针脚和模拟输入输出针脚，这些针脚相当于</a:t>
            </a:r>
            <a:r>
              <a:rPr lang="en-US" altLang="zh-CN" dirty="0"/>
              <a:t>Arduino</a:t>
            </a:r>
            <a:r>
              <a:rPr lang="zh-CN" altLang="zh-CN" dirty="0"/>
              <a:t>与其他装置连接的桥梁，</a:t>
            </a:r>
            <a:r>
              <a:rPr lang="en-US" altLang="zh-CN" dirty="0"/>
              <a:t>Arduino</a:t>
            </a:r>
            <a:r>
              <a:rPr lang="zh-CN" altLang="zh-CN" dirty="0"/>
              <a:t>驱动这些装置并且和它们沟通都是通过这些针脚进行</a:t>
            </a:r>
            <a:r>
              <a:rPr lang="zh-CN" altLang="en-US" dirty="0"/>
              <a:t>。</a:t>
            </a:r>
          </a:p>
        </p:txBody>
      </p:sp>
    </p:spTree>
  </p:cSld>
  <p:clrMapOvr>
    <a:masterClrMapping/>
  </p:clrMapOvr>
  <p:transition>
    <p:cover dir="d"/>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数字的输入与输出</a:t>
            </a:r>
            <a:endParaRPr lang="zh-CN" altLang="en-US" dirty="0"/>
          </a:p>
        </p:txBody>
      </p:sp>
      <p:sp>
        <p:nvSpPr>
          <p:cNvPr id="3" name="内容占位符 2"/>
          <p:cNvSpPr>
            <a:spLocks noGrp="1"/>
          </p:cNvSpPr>
          <p:nvPr>
            <p:ph idx="1"/>
          </p:nvPr>
        </p:nvSpPr>
        <p:spPr/>
        <p:txBody>
          <a:bodyPr/>
          <a:lstStyle/>
          <a:p>
            <a:pPr marL="0" indent="0">
              <a:buNone/>
            </a:pPr>
            <a:r>
              <a:rPr lang="zh-CN" altLang="zh-CN" dirty="0"/>
              <a:t>在微机控制系统中，单片机通过数字</a:t>
            </a:r>
            <a:r>
              <a:rPr lang="en-US" altLang="zh-CN" dirty="0"/>
              <a:t>I/O</a:t>
            </a:r>
            <a:r>
              <a:rPr lang="zh-CN" altLang="zh-CN" dirty="0"/>
              <a:t>口来处理数字信号，这种数字信号包括开关信号和脉冲信号。这种信号是以二进制的逻辑“</a:t>
            </a:r>
            <a:r>
              <a:rPr lang="en-US" altLang="zh-CN" dirty="0"/>
              <a:t>1</a:t>
            </a:r>
            <a:r>
              <a:rPr lang="zh-CN" altLang="zh-CN" dirty="0"/>
              <a:t>”和“</a:t>
            </a:r>
            <a:r>
              <a:rPr lang="en-US" altLang="zh-CN" dirty="0"/>
              <a:t>0</a:t>
            </a:r>
            <a:r>
              <a:rPr lang="zh-CN" altLang="zh-CN" dirty="0"/>
              <a:t>”或高电平和低电平的形式出现的。</a:t>
            </a:r>
            <a:endParaRPr lang="en-US" altLang="zh-CN" dirty="0"/>
          </a:p>
          <a:p>
            <a:pPr marL="0" indent="0">
              <a:buNone/>
            </a:pPr>
            <a:r>
              <a:rPr lang="en-US" altLang="zh-CN" dirty="0"/>
              <a:t>Arduino</a:t>
            </a:r>
            <a:r>
              <a:rPr lang="zh-CN" altLang="zh-CN" dirty="0"/>
              <a:t>常用的数字输入输出则是电压的变化，输入输出时电压小于</a:t>
            </a:r>
            <a:r>
              <a:rPr lang="en-US" altLang="zh-CN" dirty="0"/>
              <a:t>2.5V</a:t>
            </a:r>
            <a:r>
              <a:rPr lang="zh-CN" altLang="zh-CN" dirty="0"/>
              <a:t>时则视为</a:t>
            </a:r>
            <a:r>
              <a:rPr lang="en-US" altLang="zh-CN" dirty="0"/>
              <a:t>0</a:t>
            </a:r>
            <a:r>
              <a:rPr lang="zh-CN" altLang="zh-CN" dirty="0"/>
              <a:t>，若</a:t>
            </a:r>
            <a:r>
              <a:rPr lang="zh-CN" altLang="en-US" dirty="0"/>
              <a:t>大于</a:t>
            </a:r>
            <a:r>
              <a:rPr lang="en-US" altLang="zh-CN" dirty="0"/>
              <a:t>2.5V</a:t>
            </a:r>
            <a:r>
              <a:rPr lang="zh-CN" altLang="zh-CN" dirty="0"/>
              <a:t>则为</a:t>
            </a:r>
            <a:r>
              <a:rPr lang="en-US" altLang="zh-CN" dirty="0"/>
              <a:t>1</a:t>
            </a:r>
            <a:r>
              <a:rPr lang="zh-CN" altLang="zh-CN" dirty="0"/>
              <a:t>。</a:t>
            </a:r>
            <a:endParaRPr lang="zh-CN" altLang="en-US" dirty="0"/>
          </a:p>
        </p:txBody>
      </p:sp>
    </p:spTree>
  </p:cSld>
  <p:clrMapOvr>
    <a:masterClrMapping/>
  </p:clrMapOvr>
  <p:transition>
    <p:cover dir="d"/>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6114" y="609600"/>
            <a:ext cx="8342086" cy="1143000"/>
          </a:xfrm>
        </p:spPr>
        <p:txBody>
          <a:bodyPr/>
          <a:lstStyle/>
          <a:p>
            <a:pPr algn="l"/>
            <a:r>
              <a:rPr lang="zh-CN" altLang="zh-CN" dirty="0"/>
              <a:t>测试数字的输入输出</a:t>
            </a:r>
            <a:endParaRPr lang="zh-CN" altLang="en-US" dirty="0"/>
          </a:p>
        </p:txBody>
      </p:sp>
      <p:sp>
        <p:nvSpPr>
          <p:cNvPr id="3" name="内容占位符 2"/>
          <p:cNvSpPr>
            <a:spLocks noGrp="1"/>
          </p:cNvSpPr>
          <p:nvPr>
            <p:ph idx="1"/>
          </p:nvPr>
        </p:nvSpPr>
        <p:spPr>
          <a:xfrm>
            <a:off x="116114" y="1752600"/>
            <a:ext cx="9027886" cy="4735286"/>
          </a:xfrm>
        </p:spPr>
        <p:txBody>
          <a:bodyPr/>
          <a:lstStyle/>
          <a:p>
            <a:pPr marL="0" indent="0" algn="just">
              <a:buNone/>
            </a:pPr>
            <a:r>
              <a:rPr lang="zh-CN" altLang="zh-CN" sz="3000" dirty="0"/>
              <a:t>准备工具：</a:t>
            </a:r>
          </a:p>
          <a:p>
            <a:pPr marL="0" indent="0" algn="just">
              <a:buNone/>
            </a:pPr>
            <a:r>
              <a:rPr lang="zh-CN" altLang="zh-CN" sz="3000" dirty="0"/>
              <a:t>万用表一部，导线两根，</a:t>
            </a:r>
            <a:r>
              <a:rPr lang="en-US" altLang="zh-CN" sz="3000" dirty="0"/>
              <a:t>Arduino</a:t>
            </a:r>
            <a:r>
              <a:rPr lang="zh-CN" altLang="zh-CN" sz="3000" dirty="0"/>
              <a:t>开发板。</a:t>
            </a:r>
          </a:p>
          <a:p>
            <a:pPr marL="0" indent="0" algn="just">
              <a:buNone/>
            </a:pPr>
            <a:r>
              <a:rPr lang="zh-CN" altLang="zh-CN" sz="3000" dirty="0"/>
              <a:t>实验步骤：</a:t>
            </a:r>
          </a:p>
          <a:p>
            <a:pPr marL="0" indent="0" algn="just">
              <a:buNone/>
            </a:pPr>
            <a:r>
              <a:rPr lang="en-US" altLang="zh-CN" sz="3000" dirty="0"/>
              <a:t>Arduino</a:t>
            </a:r>
            <a:r>
              <a:rPr lang="zh-CN" altLang="zh-CN" sz="3000" dirty="0"/>
              <a:t>开发板上标有</a:t>
            </a:r>
            <a:r>
              <a:rPr lang="en-US" altLang="zh-CN" sz="3000" dirty="0"/>
              <a:t>0-13</a:t>
            </a:r>
            <a:r>
              <a:rPr lang="zh-CN" altLang="zh-CN" sz="3000" dirty="0"/>
              <a:t>的是数字输入输出引脚，因此将一根导线连接</a:t>
            </a:r>
            <a:r>
              <a:rPr lang="en-US" altLang="zh-CN" sz="3000" dirty="0"/>
              <a:t>7</a:t>
            </a:r>
            <a:r>
              <a:rPr lang="zh-CN" altLang="zh-CN" sz="3000" dirty="0"/>
              <a:t>号引脚，另一根连接</a:t>
            </a:r>
            <a:r>
              <a:rPr lang="en-US" altLang="zh-CN" sz="3000" dirty="0"/>
              <a:t>GND</a:t>
            </a:r>
            <a:r>
              <a:rPr lang="zh-CN" altLang="zh-CN" sz="3000" dirty="0"/>
              <a:t>引脚。为了便于区分和查错，连接</a:t>
            </a:r>
            <a:r>
              <a:rPr lang="en-US" altLang="zh-CN" sz="3000" dirty="0"/>
              <a:t>GND</a:t>
            </a:r>
            <a:r>
              <a:rPr lang="zh-CN" altLang="zh-CN" sz="3000" dirty="0"/>
              <a:t>引脚的导线应尽量用黑色。将万用表的功能指针拨向电压部分，量程调到</a:t>
            </a:r>
            <a:r>
              <a:rPr lang="en-US" altLang="zh-CN" sz="3000" dirty="0"/>
              <a:t>0-10V</a:t>
            </a:r>
            <a:r>
              <a:rPr lang="zh-CN" altLang="zh-CN" sz="3000" dirty="0"/>
              <a:t>或</a:t>
            </a:r>
            <a:r>
              <a:rPr lang="en-US" altLang="zh-CN" sz="3000" dirty="0"/>
              <a:t>0-20V</a:t>
            </a:r>
            <a:r>
              <a:rPr lang="zh-CN" altLang="zh-CN" sz="3000" dirty="0"/>
              <a:t>，正极线（红色）接连接</a:t>
            </a:r>
            <a:r>
              <a:rPr lang="en-US" altLang="zh-CN" sz="3000" dirty="0"/>
              <a:t>7</a:t>
            </a:r>
            <a:r>
              <a:rPr lang="zh-CN" altLang="zh-CN" sz="3000" dirty="0"/>
              <a:t>号的导线，而负极线（黑色）接连接</a:t>
            </a:r>
            <a:r>
              <a:rPr lang="en-US" altLang="zh-CN" sz="3000" dirty="0"/>
              <a:t>GND</a:t>
            </a:r>
            <a:r>
              <a:rPr lang="zh-CN" altLang="zh-CN" sz="3000" dirty="0"/>
              <a:t>的导线。</a:t>
            </a:r>
            <a:endParaRPr lang="zh-CN" altLang="en-US" sz="3000" dirty="0"/>
          </a:p>
        </p:txBody>
      </p:sp>
    </p:spTree>
  </p:cSld>
  <p:clrMapOvr>
    <a:masterClrMapping/>
  </p:clrMapOvr>
  <p:transition>
    <p:cover dir="d"/>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测试数字的输入输出</a:t>
            </a:r>
            <a:endParaRPr lang="zh-CN" altLang="en-US" dirty="0"/>
          </a:p>
        </p:txBody>
      </p:sp>
      <p:sp>
        <p:nvSpPr>
          <p:cNvPr id="3" name="内容占位符 2"/>
          <p:cNvSpPr>
            <a:spLocks noGrp="1"/>
          </p:cNvSpPr>
          <p:nvPr>
            <p:ph idx="1"/>
          </p:nvPr>
        </p:nvSpPr>
        <p:spPr>
          <a:xfrm>
            <a:off x="348343" y="1752600"/>
            <a:ext cx="8563427" cy="4735286"/>
          </a:xfrm>
        </p:spPr>
        <p:txBody>
          <a:bodyPr/>
          <a:lstStyle/>
          <a:p>
            <a:pPr marL="0" indent="0">
              <a:spcBef>
                <a:spcPts val="0"/>
              </a:spcBef>
              <a:buNone/>
            </a:pPr>
            <a:r>
              <a:rPr lang="en-US" altLang="zh-CN" sz="2000" dirty="0" err="1"/>
              <a:t>int</a:t>
            </a:r>
            <a:r>
              <a:rPr lang="en-US" altLang="zh-CN" sz="2000" dirty="0"/>
              <a:t> </a:t>
            </a:r>
            <a:r>
              <a:rPr lang="en-US" altLang="zh-CN" sz="2000" dirty="0" err="1"/>
              <a:t>outPin</a:t>
            </a:r>
            <a:r>
              <a:rPr lang="en-US" altLang="zh-CN" sz="2000" dirty="0"/>
              <a:t> =7;</a:t>
            </a:r>
            <a:endParaRPr lang="zh-CN" altLang="zh-CN" sz="2000" dirty="0"/>
          </a:p>
          <a:p>
            <a:pPr marL="0" indent="0">
              <a:spcBef>
                <a:spcPts val="0"/>
              </a:spcBef>
              <a:buNone/>
            </a:pPr>
            <a:r>
              <a:rPr lang="en-US" altLang="zh-CN" sz="2000" dirty="0" err="1"/>
              <a:t>int</a:t>
            </a:r>
            <a:r>
              <a:rPr lang="en-US" altLang="zh-CN" sz="2000" dirty="0"/>
              <a:t> </a:t>
            </a:r>
            <a:r>
              <a:rPr lang="en-US" altLang="zh-CN" sz="2000" dirty="0" err="1"/>
              <a:t>delayTime</a:t>
            </a:r>
            <a:r>
              <a:rPr lang="en-US" altLang="zh-CN" sz="2000" dirty="0"/>
              <a:t> = 3000;	//</a:t>
            </a:r>
            <a:r>
              <a:rPr lang="zh-CN" altLang="zh-CN" sz="2000" dirty="0"/>
              <a:t>定义延时变量</a:t>
            </a:r>
            <a:r>
              <a:rPr lang="en-US" altLang="zh-CN" sz="2000" dirty="0" err="1"/>
              <a:t>delayTime</a:t>
            </a:r>
            <a:r>
              <a:rPr lang="zh-CN" altLang="zh-CN" sz="2000" dirty="0"/>
              <a:t>为</a:t>
            </a:r>
            <a:r>
              <a:rPr lang="en-US" altLang="zh-CN" sz="2000" dirty="0"/>
              <a:t>2s</a:t>
            </a:r>
            <a:endParaRPr lang="zh-CN" altLang="zh-CN" sz="2000" dirty="0"/>
          </a:p>
          <a:p>
            <a:pPr marL="0" indent="0">
              <a:spcBef>
                <a:spcPts val="0"/>
              </a:spcBef>
              <a:buNone/>
            </a:pPr>
            <a:r>
              <a:rPr lang="en-US" altLang="zh-CN" sz="2000" dirty="0"/>
              <a:t> </a:t>
            </a:r>
            <a:endParaRPr lang="zh-CN" altLang="zh-CN" sz="2000" dirty="0"/>
          </a:p>
          <a:p>
            <a:pPr marL="0" indent="0">
              <a:spcBef>
                <a:spcPts val="0"/>
              </a:spcBef>
              <a:buNone/>
            </a:pPr>
            <a:r>
              <a:rPr lang="en-US" altLang="zh-CN" sz="2000" dirty="0"/>
              <a:t>void setup()</a:t>
            </a:r>
            <a:endParaRPr lang="zh-CN" altLang="zh-CN" sz="2000" dirty="0"/>
          </a:p>
          <a:p>
            <a:pPr marL="0" indent="0">
              <a:spcBef>
                <a:spcPts val="0"/>
              </a:spcBef>
              <a:buNone/>
            </a:pPr>
            <a:r>
              <a:rPr lang="en-US" altLang="zh-CN" sz="2000" dirty="0"/>
              <a:t>{</a:t>
            </a:r>
            <a:endParaRPr lang="zh-CN" altLang="zh-CN" sz="2000" dirty="0"/>
          </a:p>
          <a:p>
            <a:pPr marL="0" indent="0">
              <a:spcBef>
                <a:spcPts val="0"/>
              </a:spcBef>
              <a:buNone/>
            </a:pPr>
            <a:r>
              <a:rPr lang="en-US" altLang="zh-CN" sz="2000" dirty="0"/>
              <a:t>	</a:t>
            </a:r>
            <a:r>
              <a:rPr lang="en-US" altLang="zh-CN" sz="2000" dirty="0" err="1"/>
              <a:t>pinMode</a:t>
            </a:r>
            <a:r>
              <a:rPr lang="en-US" altLang="zh-CN" sz="2000" dirty="0"/>
              <a:t>(</a:t>
            </a:r>
            <a:r>
              <a:rPr lang="en-US" altLang="zh-CN" sz="2000" dirty="0" err="1"/>
              <a:t>outPin,OUTPUT</a:t>
            </a:r>
            <a:r>
              <a:rPr lang="en-US" altLang="zh-CN" sz="2000" dirty="0"/>
              <a:t>);</a:t>
            </a:r>
            <a:endParaRPr lang="zh-CN" altLang="zh-CN" sz="2000" dirty="0"/>
          </a:p>
          <a:p>
            <a:pPr marL="0" indent="0">
              <a:spcBef>
                <a:spcPts val="0"/>
              </a:spcBef>
              <a:buNone/>
            </a:pPr>
            <a:r>
              <a:rPr lang="en-US" altLang="zh-CN" sz="2000" dirty="0"/>
              <a:t>}</a:t>
            </a:r>
            <a:endParaRPr lang="zh-CN" altLang="zh-CN" sz="2000" dirty="0"/>
          </a:p>
          <a:p>
            <a:pPr marL="0" indent="0">
              <a:spcBef>
                <a:spcPts val="0"/>
              </a:spcBef>
              <a:buNone/>
            </a:pPr>
            <a:r>
              <a:rPr lang="en-US" altLang="zh-CN" sz="2000" dirty="0"/>
              <a:t> </a:t>
            </a:r>
            <a:endParaRPr lang="zh-CN" altLang="zh-CN" sz="2000" dirty="0"/>
          </a:p>
          <a:p>
            <a:pPr marL="0" indent="0">
              <a:spcBef>
                <a:spcPts val="0"/>
              </a:spcBef>
              <a:buNone/>
            </a:pPr>
            <a:r>
              <a:rPr lang="en-US" altLang="zh-CN" sz="2000" dirty="0"/>
              <a:t>void loop()</a:t>
            </a:r>
            <a:endParaRPr lang="zh-CN" altLang="zh-CN" sz="2000" dirty="0"/>
          </a:p>
          <a:p>
            <a:pPr marL="0" indent="0">
              <a:spcBef>
                <a:spcPts val="0"/>
              </a:spcBef>
              <a:buNone/>
            </a:pPr>
            <a:r>
              <a:rPr lang="en-US" altLang="zh-CN" sz="2000" dirty="0"/>
              <a:t>{</a:t>
            </a:r>
            <a:endParaRPr lang="zh-CN" altLang="zh-CN" sz="2000" dirty="0"/>
          </a:p>
          <a:p>
            <a:pPr marL="0" indent="0">
              <a:spcBef>
                <a:spcPts val="0"/>
              </a:spcBef>
              <a:buNone/>
            </a:pPr>
            <a:r>
              <a:rPr lang="en-US" altLang="zh-CN" sz="2000" dirty="0"/>
              <a:t>	</a:t>
            </a:r>
            <a:r>
              <a:rPr lang="en-US" altLang="zh-CN" sz="2000" dirty="0" err="1"/>
              <a:t>digitalWrite</a:t>
            </a:r>
            <a:r>
              <a:rPr lang="en-US" altLang="zh-CN" sz="2000" dirty="0"/>
              <a:t>(</a:t>
            </a:r>
            <a:r>
              <a:rPr lang="en-US" altLang="zh-CN" sz="2000" dirty="0" err="1"/>
              <a:t>outPin,HIGH</a:t>
            </a:r>
            <a:r>
              <a:rPr lang="en-US" altLang="zh-CN" sz="2000" dirty="0"/>
              <a:t>);	//</a:t>
            </a:r>
            <a:r>
              <a:rPr lang="zh-CN" altLang="zh-CN" sz="2000" dirty="0"/>
              <a:t>将</a:t>
            </a:r>
            <a:r>
              <a:rPr lang="en-US" altLang="zh-CN" sz="2000" dirty="0"/>
              <a:t>7</a:t>
            </a:r>
            <a:r>
              <a:rPr lang="zh-CN" altLang="zh-CN" sz="2000" dirty="0"/>
              <a:t>号引脚输出高电平</a:t>
            </a:r>
          </a:p>
          <a:p>
            <a:pPr marL="0" indent="0">
              <a:spcBef>
                <a:spcPts val="0"/>
              </a:spcBef>
              <a:buNone/>
            </a:pPr>
            <a:r>
              <a:rPr lang="en-US" altLang="zh-CN" sz="2000" dirty="0"/>
              <a:t>	delay(</a:t>
            </a:r>
            <a:r>
              <a:rPr lang="en-US" altLang="zh-CN" sz="2000" dirty="0" err="1"/>
              <a:t>delayTime</a:t>
            </a:r>
            <a:r>
              <a:rPr lang="en-US" altLang="zh-CN" sz="2000" dirty="0"/>
              <a:t>);</a:t>
            </a:r>
            <a:endParaRPr lang="zh-CN" altLang="zh-CN" sz="2000" dirty="0"/>
          </a:p>
          <a:p>
            <a:pPr marL="0" indent="0">
              <a:spcBef>
                <a:spcPts val="0"/>
              </a:spcBef>
              <a:buNone/>
            </a:pPr>
            <a:r>
              <a:rPr lang="en-US" altLang="zh-CN" sz="2000" dirty="0"/>
              <a:t>	</a:t>
            </a:r>
            <a:r>
              <a:rPr lang="en-US" altLang="zh-CN" sz="2000" dirty="0" err="1"/>
              <a:t>digitalWrite</a:t>
            </a:r>
            <a:r>
              <a:rPr lang="en-US" altLang="zh-CN" sz="2000" dirty="0"/>
              <a:t>(</a:t>
            </a:r>
            <a:r>
              <a:rPr lang="en-US" altLang="zh-CN" sz="2000" dirty="0" err="1"/>
              <a:t>outPin,LOW</a:t>
            </a:r>
            <a:r>
              <a:rPr lang="en-US" altLang="zh-CN" sz="2000" dirty="0"/>
              <a:t>); 	//</a:t>
            </a:r>
            <a:r>
              <a:rPr lang="zh-CN" altLang="zh-CN" sz="2000" dirty="0"/>
              <a:t>将</a:t>
            </a:r>
            <a:r>
              <a:rPr lang="en-US" altLang="zh-CN" sz="2000" dirty="0"/>
              <a:t>7</a:t>
            </a:r>
            <a:r>
              <a:rPr lang="zh-CN" altLang="zh-CN" sz="2000" dirty="0"/>
              <a:t>号引脚输出低电平</a:t>
            </a:r>
          </a:p>
          <a:p>
            <a:pPr marL="0" indent="0">
              <a:spcBef>
                <a:spcPts val="0"/>
              </a:spcBef>
              <a:buNone/>
            </a:pPr>
            <a:r>
              <a:rPr lang="en-US" altLang="zh-CN" sz="2000" dirty="0"/>
              <a:t>	delay(</a:t>
            </a:r>
            <a:r>
              <a:rPr lang="en-US" altLang="zh-CN" sz="2000" dirty="0" err="1"/>
              <a:t>delayTime</a:t>
            </a:r>
            <a:r>
              <a:rPr lang="en-US" altLang="zh-CN" sz="2000" dirty="0"/>
              <a:t>); </a:t>
            </a:r>
            <a:endParaRPr lang="zh-CN" altLang="zh-CN" sz="2000" dirty="0"/>
          </a:p>
          <a:p>
            <a:pPr marL="0" indent="0">
              <a:spcBef>
                <a:spcPts val="0"/>
              </a:spcBef>
              <a:buNone/>
            </a:pPr>
            <a:r>
              <a:rPr lang="en-US" altLang="zh-CN" sz="2000" dirty="0"/>
              <a:t>}</a:t>
            </a:r>
            <a:endParaRPr lang="zh-CN" altLang="zh-CN" sz="2000" dirty="0"/>
          </a:p>
          <a:p>
            <a:pPr marL="0" indent="0">
              <a:buNone/>
            </a:pPr>
            <a:endParaRPr lang="zh-CN" altLang="en-US" dirty="0"/>
          </a:p>
        </p:txBody>
      </p:sp>
    </p:spTree>
  </p:cSld>
  <p:clrMapOvr>
    <a:masterClrMapping/>
  </p:clrMapOvr>
  <p:transition>
    <p:cover dir="d"/>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4457" y="609600"/>
            <a:ext cx="7772400" cy="1143000"/>
          </a:xfrm>
        </p:spPr>
        <p:txBody>
          <a:bodyPr/>
          <a:lstStyle/>
          <a:p>
            <a:pPr algn="l"/>
            <a:r>
              <a:rPr lang="zh-CN" altLang="zh-CN" dirty="0"/>
              <a:t>模拟输入输出</a:t>
            </a:r>
            <a:endParaRPr lang="zh-CN" altLang="en-US" dirty="0"/>
          </a:p>
        </p:txBody>
      </p:sp>
      <p:sp>
        <p:nvSpPr>
          <p:cNvPr id="3" name="内容占位符 2"/>
          <p:cNvSpPr>
            <a:spLocks noGrp="1"/>
          </p:cNvSpPr>
          <p:nvPr>
            <p:ph idx="1"/>
          </p:nvPr>
        </p:nvSpPr>
        <p:spPr>
          <a:xfrm>
            <a:off x="464457" y="1981200"/>
            <a:ext cx="8331200" cy="4114800"/>
          </a:xfrm>
        </p:spPr>
        <p:txBody>
          <a:bodyPr/>
          <a:lstStyle/>
          <a:p>
            <a:pPr marL="0" indent="0" algn="just">
              <a:buNone/>
            </a:pPr>
            <a:r>
              <a:rPr lang="en-US" altLang="zh-CN" dirty="0"/>
              <a:t>Arduino</a:t>
            </a:r>
            <a:r>
              <a:rPr lang="zh-CN" altLang="zh-CN" dirty="0"/>
              <a:t>开发板上数字输入输出引脚中的</a:t>
            </a:r>
            <a:r>
              <a:rPr lang="en-US" altLang="zh-CN" dirty="0"/>
              <a:t>3</a:t>
            </a:r>
            <a:r>
              <a:rPr lang="zh-CN" altLang="zh-CN" dirty="0"/>
              <a:t>、</a:t>
            </a:r>
            <a:r>
              <a:rPr lang="en-US" altLang="zh-CN" dirty="0"/>
              <a:t>5</a:t>
            </a:r>
            <a:r>
              <a:rPr lang="zh-CN" altLang="zh-CN" dirty="0"/>
              <a:t>、</a:t>
            </a:r>
            <a:r>
              <a:rPr lang="en-US" altLang="zh-CN" dirty="0"/>
              <a:t>6</a:t>
            </a:r>
            <a:r>
              <a:rPr lang="zh-CN" altLang="zh-CN" dirty="0"/>
              <a:t>、</a:t>
            </a:r>
            <a:r>
              <a:rPr lang="en-US" altLang="zh-CN" dirty="0"/>
              <a:t>9</a:t>
            </a:r>
            <a:r>
              <a:rPr lang="zh-CN" altLang="zh-CN" dirty="0"/>
              <a:t>和</a:t>
            </a:r>
            <a:r>
              <a:rPr lang="en-US" altLang="zh-CN" dirty="0"/>
              <a:t>11</a:t>
            </a:r>
            <a:r>
              <a:rPr lang="zh-CN" altLang="zh-CN" dirty="0"/>
              <a:t>都提供</a:t>
            </a:r>
            <a:r>
              <a:rPr lang="en-US" altLang="zh-CN" dirty="0"/>
              <a:t>0V</a:t>
            </a:r>
            <a:r>
              <a:rPr lang="zh-CN" altLang="zh-CN" dirty="0"/>
              <a:t>和</a:t>
            </a:r>
            <a:r>
              <a:rPr lang="en-US" altLang="zh-CN" dirty="0"/>
              <a:t>5V</a:t>
            </a:r>
            <a:r>
              <a:rPr lang="zh-CN" altLang="zh-CN" dirty="0"/>
              <a:t>之外的可变输出。在这些引脚的旁边，会标有</a:t>
            </a:r>
            <a:r>
              <a:rPr lang="en-US" altLang="zh-CN" dirty="0"/>
              <a:t>PWM</a:t>
            </a:r>
            <a:r>
              <a:rPr lang="zh-CN" altLang="zh-CN" dirty="0"/>
              <a:t>——脉冲宽度调制，</a:t>
            </a:r>
            <a:r>
              <a:rPr lang="en-US" altLang="zh-CN" dirty="0"/>
              <a:t>PWM</a:t>
            </a:r>
            <a:r>
              <a:rPr lang="zh-CN" altLang="zh-CN" dirty="0"/>
              <a:t>是英文“</a:t>
            </a:r>
            <a:r>
              <a:rPr lang="en-US" altLang="zh-CN" dirty="0"/>
              <a:t>Pulse Width Modulation</a:t>
            </a:r>
            <a:r>
              <a:rPr lang="zh-CN" altLang="zh-CN" dirty="0"/>
              <a:t>”的缩写，简称脉宽调制，是利用微处理器的数字输出来对模拟电路进行控制的一种有效技术，这种技术被广泛应用在从测量、通信到功率控制与变换的许多领域中。</a:t>
            </a:r>
            <a:endParaRPr lang="zh-CN" altLang="en-US" dirty="0"/>
          </a:p>
        </p:txBody>
      </p:sp>
    </p:spTree>
  </p:cSld>
  <p:clrMapOvr>
    <a:masterClrMapping/>
  </p:clrMapOvr>
  <p:transition>
    <p:cover dir="d"/>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51972" y="130629"/>
            <a:ext cx="7772400" cy="1143000"/>
          </a:xfrm>
        </p:spPr>
        <p:txBody>
          <a:bodyPr/>
          <a:lstStyle/>
          <a:p>
            <a:pPr algn="l"/>
            <a:r>
              <a:rPr lang="zh-CN" altLang="zh-CN" dirty="0"/>
              <a:t>模拟输入输出</a:t>
            </a:r>
            <a:endParaRPr lang="zh-CN" altLang="en-US" dirty="0"/>
          </a:p>
        </p:txBody>
      </p:sp>
      <p:sp>
        <p:nvSpPr>
          <p:cNvPr id="3" name="内容占位符 2"/>
          <p:cNvSpPr>
            <a:spLocks noGrp="1"/>
          </p:cNvSpPr>
          <p:nvPr>
            <p:ph idx="1"/>
          </p:nvPr>
        </p:nvSpPr>
        <p:spPr>
          <a:xfrm>
            <a:off x="246743" y="1088571"/>
            <a:ext cx="8665027" cy="5413829"/>
          </a:xfrm>
        </p:spPr>
        <p:txBody>
          <a:bodyPr/>
          <a:lstStyle/>
          <a:p>
            <a:pPr marL="0" indent="0" algn="just">
              <a:buNone/>
            </a:pPr>
            <a:r>
              <a:rPr lang="zh-CN" altLang="zh-CN" sz="3100" dirty="0"/>
              <a:t>数字输出与模拟输出最直观的区别就是数字输出是二值的，即只有</a:t>
            </a:r>
            <a:r>
              <a:rPr lang="en-US" altLang="zh-CN" sz="3100" dirty="0"/>
              <a:t>0</a:t>
            </a:r>
            <a:r>
              <a:rPr lang="zh-CN" altLang="zh-CN" sz="3100" dirty="0"/>
              <a:t>和</a:t>
            </a:r>
            <a:r>
              <a:rPr lang="en-US" altLang="zh-CN" sz="3100" dirty="0"/>
              <a:t>1</a:t>
            </a:r>
            <a:r>
              <a:rPr lang="zh-CN" altLang="zh-CN" sz="3100" dirty="0"/>
              <a:t>，而模拟输出可以在</a:t>
            </a:r>
            <a:r>
              <a:rPr lang="en-US" altLang="zh-CN" sz="3100" dirty="0"/>
              <a:t>0~255</a:t>
            </a:r>
            <a:r>
              <a:rPr lang="zh-CN" altLang="zh-CN" sz="3100" dirty="0"/>
              <a:t>之间变化。就好比是一辆汽车，数字输出控制着汽车跑或者不跑，而模拟输出可以精确地控制汽车跑的速度。模拟输出用到的函数为</a:t>
            </a:r>
            <a:r>
              <a:rPr lang="en-US" altLang="zh-CN" sz="3100" dirty="0" err="1"/>
              <a:t>analogWrite</a:t>
            </a:r>
            <a:r>
              <a:rPr lang="en-US" altLang="zh-CN" sz="3100" dirty="0"/>
              <a:t>(pin, value)</a:t>
            </a:r>
            <a:r>
              <a:rPr lang="zh-CN" altLang="zh-CN" sz="3100" dirty="0"/>
              <a:t>，其中</a:t>
            </a:r>
            <a:r>
              <a:rPr lang="en-US" altLang="zh-CN" sz="3100" dirty="0"/>
              <a:t>pin</a:t>
            </a:r>
            <a:r>
              <a:rPr lang="zh-CN" altLang="zh-CN" sz="3100" dirty="0"/>
              <a:t>是输出的引脚号，</a:t>
            </a:r>
            <a:r>
              <a:rPr lang="en-US" altLang="zh-CN" sz="3100" dirty="0"/>
              <a:t>value</a:t>
            </a:r>
            <a:r>
              <a:rPr lang="zh-CN" altLang="zh-CN" sz="3100" dirty="0"/>
              <a:t>为</a:t>
            </a:r>
            <a:r>
              <a:rPr lang="en-US" altLang="zh-CN" sz="3100" dirty="0"/>
              <a:t>0~255</a:t>
            </a:r>
            <a:r>
              <a:rPr lang="zh-CN" altLang="zh-CN" sz="3100" dirty="0"/>
              <a:t>之间的数值。通过这种函数，硬件</a:t>
            </a:r>
            <a:r>
              <a:rPr lang="en-US" altLang="zh-CN" sz="3100" dirty="0"/>
              <a:t>PWM</a:t>
            </a:r>
            <a:r>
              <a:rPr lang="zh-CN" altLang="zh-CN" sz="3100" dirty="0"/>
              <a:t>通过</a:t>
            </a:r>
            <a:r>
              <a:rPr lang="en-US" altLang="zh-CN" sz="3100" dirty="0"/>
              <a:t>0~255</a:t>
            </a:r>
            <a:r>
              <a:rPr lang="zh-CN" altLang="zh-CN" sz="3100" dirty="0"/>
              <a:t>之间的任意值来编程，其中</a:t>
            </a:r>
            <a:r>
              <a:rPr lang="en-US" altLang="zh-CN" sz="3100" dirty="0"/>
              <a:t>0</a:t>
            </a:r>
            <a:r>
              <a:rPr lang="zh-CN" altLang="zh-CN" sz="3100" dirty="0"/>
              <a:t>为关闭，</a:t>
            </a:r>
            <a:r>
              <a:rPr lang="en-US" altLang="zh-CN" sz="3100" dirty="0"/>
              <a:t>255</a:t>
            </a:r>
            <a:r>
              <a:rPr lang="zh-CN" altLang="zh-CN" sz="3100" dirty="0"/>
              <a:t>为全功率，</a:t>
            </a:r>
            <a:r>
              <a:rPr lang="en-US" altLang="zh-CN" sz="3100" dirty="0"/>
              <a:t>0~255</a:t>
            </a:r>
            <a:r>
              <a:rPr lang="zh-CN" altLang="zh-CN" sz="3100" dirty="0"/>
              <a:t>之间的任意一个值都会产生一个约</a:t>
            </a:r>
            <a:r>
              <a:rPr lang="en-US" altLang="zh-CN" sz="3100" dirty="0"/>
              <a:t>490Hz</a:t>
            </a:r>
            <a:r>
              <a:rPr lang="zh-CN" altLang="zh-CN" sz="3100" dirty="0"/>
              <a:t>的占空比可变的脉冲序列。</a:t>
            </a:r>
            <a:r>
              <a:rPr lang="en-US" altLang="zh-CN" sz="3100" dirty="0"/>
              <a:t>Arduino</a:t>
            </a:r>
            <a:r>
              <a:rPr lang="zh-CN" altLang="zh-CN" sz="3100" dirty="0"/>
              <a:t>软件限制</a:t>
            </a:r>
            <a:r>
              <a:rPr lang="en-US" altLang="zh-CN" sz="3100" dirty="0"/>
              <a:t>PWM</a:t>
            </a:r>
            <a:r>
              <a:rPr lang="zh-CN" altLang="zh-CN" sz="3100" dirty="0"/>
              <a:t>通道为</a:t>
            </a:r>
            <a:r>
              <a:rPr lang="en-US" altLang="zh-CN" sz="3100" dirty="0"/>
              <a:t>8</a:t>
            </a:r>
            <a:r>
              <a:rPr lang="zh-CN" altLang="zh-CN" sz="3100" dirty="0"/>
              <a:t>位计数器。</a:t>
            </a:r>
            <a:endParaRPr lang="zh-CN" altLang="en-US" sz="3100" dirty="0"/>
          </a:p>
        </p:txBody>
      </p:sp>
    </p:spTree>
  </p:cSld>
  <p:clrMapOvr>
    <a:masterClrMapping/>
  </p:clrMapOvr>
  <p:transition>
    <p:cover dir="d"/>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使用</a:t>
            </a:r>
            <a:r>
              <a:rPr lang="en-US" altLang="zh-CN" dirty="0"/>
              <a:t>PWM</a:t>
            </a:r>
            <a:r>
              <a:rPr lang="zh-CN" altLang="zh-CN" dirty="0"/>
              <a:t>控制小灯</a:t>
            </a:r>
            <a:r>
              <a:rPr lang="zh-CN" altLang="en-US" dirty="0"/>
              <a:t>亮度</a:t>
            </a:r>
          </a:p>
        </p:txBody>
      </p:sp>
      <p:sp>
        <p:nvSpPr>
          <p:cNvPr id="3" name="内容占位符 2"/>
          <p:cNvSpPr>
            <a:spLocks noGrp="1"/>
          </p:cNvSpPr>
          <p:nvPr>
            <p:ph idx="1"/>
          </p:nvPr>
        </p:nvSpPr>
        <p:spPr/>
        <p:txBody>
          <a:bodyPr/>
          <a:lstStyle/>
          <a:p>
            <a:pPr marL="0" indent="0">
              <a:buNone/>
            </a:pPr>
            <a:r>
              <a:rPr lang="zh-CN" altLang="zh-CN" dirty="0"/>
              <a:t>准备工具：</a:t>
            </a:r>
          </a:p>
          <a:p>
            <a:pPr marL="0" indent="0">
              <a:buNone/>
            </a:pPr>
            <a:r>
              <a:rPr lang="en-US" altLang="zh-CN" dirty="0"/>
              <a:t>1</a:t>
            </a:r>
            <a:r>
              <a:rPr lang="zh-CN" altLang="zh-CN" dirty="0"/>
              <a:t>支直插</a:t>
            </a:r>
            <a:r>
              <a:rPr lang="en-US" altLang="zh-CN" dirty="0"/>
              <a:t>LED</a:t>
            </a:r>
            <a:r>
              <a:rPr lang="zh-CN" altLang="zh-CN" dirty="0"/>
              <a:t>灯，直插</a:t>
            </a:r>
            <a:r>
              <a:rPr lang="en-US" altLang="zh-CN" dirty="0"/>
              <a:t>220</a:t>
            </a:r>
            <a:r>
              <a:rPr lang="zh-CN" altLang="zh-CN" dirty="0"/>
              <a:t>Ω电阻</a:t>
            </a:r>
            <a:r>
              <a:rPr lang="en-US" altLang="zh-CN" dirty="0"/>
              <a:t>1</a:t>
            </a:r>
            <a:r>
              <a:rPr lang="zh-CN" altLang="zh-CN" dirty="0"/>
              <a:t>个，导线若干，</a:t>
            </a:r>
            <a:r>
              <a:rPr lang="en-US" altLang="zh-CN" dirty="0"/>
              <a:t>Arduino</a:t>
            </a:r>
            <a:r>
              <a:rPr lang="zh-CN" altLang="zh-CN" dirty="0"/>
              <a:t>开发板。</a:t>
            </a:r>
          </a:p>
          <a:p>
            <a:pPr marL="0" indent="0">
              <a:buNone/>
            </a:pPr>
            <a:r>
              <a:rPr lang="zh-CN" altLang="zh-CN" dirty="0"/>
              <a:t>实验步骤：</a:t>
            </a:r>
          </a:p>
          <a:p>
            <a:pPr marL="0" indent="0">
              <a:buNone/>
            </a:pPr>
            <a:r>
              <a:rPr lang="zh-CN" altLang="zh-CN" dirty="0"/>
              <a:t>将小灯正极</a:t>
            </a:r>
            <a:r>
              <a:rPr lang="zh-CN" altLang="en-US" dirty="0"/>
              <a:t>（长的一端）</a:t>
            </a:r>
            <a:r>
              <a:rPr lang="zh-CN" altLang="zh-CN" dirty="0"/>
              <a:t>引脚连接到</a:t>
            </a:r>
            <a:r>
              <a:rPr lang="en-US" altLang="zh-CN" dirty="0"/>
              <a:t>3</a:t>
            </a:r>
            <a:r>
              <a:rPr lang="zh-CN" altLang="zh-CN" dirty="0"/>
              <a:t>号引脚，小灯的负极</a:t>
            </a:r>
            <a:r>
              <a:rPr lang="zh-CN" altLang="en-US" dirty="0"/>
              <a:t>（短的一端）</a:t>
            </a:r>
            <a:r>
              <a:rPr lang="zh-CN" altLang="zh-CN" dirty="0"/>
              <a:t>和电阻用</a:t>
            </a:r>
            <a:r>
              <a:rPr lang="zh-CN" altLang="en-US" dirty="0"/>
              <a:t>杜邦</a:t>
            </a:r>
            <a:r>
              <a:rPr lang="zh-CN" altLang="zh-CN" dirty="0"/>
              <a:t>线串联到</a:t>
            </a:r>
            <a:r>
              <a:rPr lang="en-US" altLang="zh-CN" dirty="0"/>
              <a:t>GND</a:t>
            </a:r>
            <a:r>
              <a:rPr lang="zh-CN" altLang="zh-CN" dirty="0"/>
              <a:t>引脚上，如图所示。</a:t>
            </a:r>
            <a:endParaRPr lang="zh-CN" altLang="en-US" dirty="0"/>
          </a:p>
        </p:txBody>
      </p:sp>
    </p:spTree>
  </p:cSld>
  <p:clrMapOvr>
    <a:masterClrMapping/>
  </p:clrMapOvr>
  <p:transition>
    <p:cover dir="d"/>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使用</a:t>
            </a:r>
            <a:r>
              <a:rPr lang="en-US" altLang="zh-CN" dirty="0"/>
              <a:t>PWM</a:t>
            </a:r>
            <a:r>
              <a:rPr lang="zh-CN" altLang="zh-CN" dirty="0"/>
              <a:t>控制小灯</a:t>
            </a:r>
            <a:r>
              <a:rPr lang="zh-CN" altLang="en-US" dirty="0"/>
              <a:t>亮度</a:t>
            </a:r>
          </a:p>
        </p:txBody>
      </p:sp>
      <p:pic>
        <p:nvPicPr>
          <p:cNvPr id="5" name="图片 4">
            <a:extLst>
              <a:ext uri="{FF2B5EF4-FFF2-40B4-BE49-F238E27FC236}">
                <a16:creationId xmlns:a16="http://schemas.microsoft.com/office/drawing/2014/main" id="{50F808D2-DA92-4383-B002-2C9A95FE93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667001" y="872070"/>
            <a:ext cx="3809998" cy="8466663"/>
          </a:xfrm>
          <a:prstGeom prst="rect">
            <a:avLst/>
          </a:prstGeom>
        </p:spPr>
      </p:pic>
      <p:sp>
        <p:nvSpPr>
          <p:cNvPr id="6" name="内容占位符 5">
            <a:extLst>
              <a:ext uri="{FF2B5EF4-FFF2-40B4-BE49-F238E27FC236}">
                <a16:creationId xmlns:a16="http://schemas.microsoft.com/office/drawing/2014/main" id="{1EEC2CE2-67BC-4F1D-980C-7149D9A8D3E3}"/>
              </a:ext>
            </a:extLst>
          </p:cNvPr>
          <p:cNvSpPr>
            <a:spLocks noGrp="1"/>
          </p:cNvSpPr>
          <p:nvPr>
            <p:ph idx="1"/>
          </p:nvPr>
        </p:nvSpPr>
        <p:spPr>
          <a:xfrm>
            <a:off x="685800" y="1981200"/>
            <a:ext cx="7772400" cy="4114800"/>
          </a:xfrm>
        </p:spPr>
        <p:txBody>
          <a:bodyPr/>
          <a:lstStyle/>
          <a:p>
            <a:r>
              <a:rPr lang="zh-CN" altLang="en-US" dirty="0"/>
              <a:t>小灯和电阻之间用母对母杜邦线相连，小灯</a:t>
            </a:r>
            <a:r>
              <a:rPr lang="en-US" altLang="zh-CN" dirty="0"/>
              <a:t>/</a:t>
            </a:r>
            <a:r>
              <a:rPr lang="zh-CN" altLang="en-US" dirty="0"/>
              <a:t>电阻用母对公杜邦线和板子相连</a:t>
            </a:r>
          </a:p>
        </p:txBody>
      </p:sp>
    </p:spTree>
  </p:cSld>
  <p:clrMapOvr>
    <a:masterClrMapping/>
  </p:clrMapOvr>
  <p:transition>
    <p:cover dir="d"/>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使用</a:t>
            </a:r>
            <a:r>
              <a:rPr lang="en-US" altLang="zh-CN" dirty="0"/>
              <a:t>PWM</a:t>
            </a:r>
            <a:r>
              <a:rPr lang="zh-CN" altLang="zh-CN" dirty="0"/>
              <a:t>控制小灯</a:t>
            </a:r>
            <a:r>
              <a:rPr lang="zh-CN" altLang="en-US" dirty="0"/>
              <a:t>亮度</a:t>
            </a:r>
          </a:p>
        </p:txBody>
      </p:sp>
      <p:sp>
        <p:nvSpPr>
          <p:cNvPr id="3" name="内容占位符 2"/>
          <p:cNvSpPr>
            <a:spLocks noGrp="1"/>
          </p:cNvSpPr>
          <p:nvPr>
            <p:ph idx="1"/>
          </p:nvPr>
        </p:nvSpPr>
        <p:spPr>
          <a:xfrm>
            <a:off x="685800" y="1752601"/>
            <a:ext cx="7772400" cy="4894942"/>
          </a:xfrm>
        </p:spPr>
        <p:txBody>
          <a:bodyPr/>
          <a:lstStyle/>
          <a:p>
            <a:pPr marL="0" indent="0">
              <a:spcBef>
                <a:spcPts val="0"/>
              </a:spcBef>
              <a:buNone/>
            </a:pPr>
            <a:r>
              <a:rPr lang="en-US" altLang="zh-CN" sz="2000" dirty="0" err="1"/>
              <a:t>int</a:t>
            </a:r>
            <a:r>
              <a:rPr lang="en-US" altLang="zh-CN" sz="2000" dirty="0"/>
              <a:t> led = 3;</a:t>
            </a:r>
          </a:p>
          <a:p>
            <a:pPr marL="0" indent="0">
              <a:spcBef>
                <a:spcPts val="0"/>
              </a:spcBef>
              <a:buNone/>
            </a:pPr>
            <a:r>
              <a:rPr lang="en-US" altLang="zh-CN" sz="2000" dirty="0"/>
              <a:t>void setup() {                </a:t>
            </a:r>
          </a:p>
          <a:p>
            <a:pPr marL="0" indent="0">
              <a:spcBef>
                <a:spcPts val="0"/>
              </a:spcBef>
              <a:buNone/>
            </a:pPr>
            <a:r>
              <a:rPr lang="en-US" altLang="zh-CN" sz="2000" dirty="0"/>
              <a:t>}</a:t>
            </a:r>
          </a:p>
          <a:p>
            <a:pPr marL="0" indent="0">
              <a:spcBef>
                <a:spcPts val="0"/>
              </a:spcBef>
              <a:buNone/>
            </a:pPr>
            <a:r>
              <a:rPr lang="en-US" altLang="zh-CN" sz="2000" dirty="0"/>
              <a:t>void loop() {</a:t>
            </a:r>
          </a:p>
          <a:p>
            <a:pPr marL="0" indent="0">
              <a:spcBef>
                <a:spcPts val="0"/>
              </a:spcBef>
              <a:buNone/>
            </a:pPr>
            <a:r>
              <a:rPr lang="en-US" altLang="zh-CN" sz="2000" dirty="0"/>
              <a:t>  for (</a:t>
            </a:r>
            <a:r>
              <a:rPr lang="en-US" altLang="zh-CN" sz="2000" dirty="0" err="1"/>
              <a:t>int</a:t>
            </a:r>
            <a:r>
              <a:rPr lang="en-US" altLang="zh-CN" sz="2000" dirty="0"/>
              <a:t> </a:t>
            </a:r>
            <a:r>
              <a:rPr lang="en-US" altLang="zh-CN" sz="2000" dirty="0" err="1"/>
              <a:t>i</a:t>
            </a:r>
            <a:r>
              <a:rPr lang="en-US" altLang="zh-CN" sz="2000" dirty="0"/>
              <a:t> = 0; </a:t>
            </a:r>
            <a:r>
              <a:rPr lang="en-US" altLang="zh-CN" sz="2000" dirty="0" err="1"/>
              <a:t>i</a:t>
            </a:r>
            <a:r>
              <a:rPr lang="en-US" altLang="zh-CN" sz="2000" dirty="0"/>
              <a:t> &lt; 100; </a:t>
            </a:r>
            <a:r>
              <a:rPr lang="en-US" altLang="zh-CN" sz="2000" dirty="0" err="1"/>
              <a:t>i</a:t>
            </a:r>
            <a:r>
              <a:rPr lang="en-US" altLang="zh-CN" sz="2000" dirty="0"/>
              <a:t>++) {</a:t>
            </a:r>
          </a:p>
          <a:p>
            <a:pPr marL="0" indent="0">
              <a:spcBef>
                <a:spcPts val="0"/>
              </a:spcBef>
              <a:buNone/>
            </a:pPr>
            <a:r>
              <a:rPr lang="en-US" altLang="zh-CN" sz="2000" dirty="0"/>
              <a:t>    </a:t>
            </a:r>
            <a:r>
              <a:rPr lang="en-US" altLang="zh-CN" sz="2000" dirty="0" err="1"/>
              <a:t>analogWrite</a:t>
            </a:r>
            <a:r>
              <a:rPr lang="en-US" altLang="zh-CN" sz="2000" dirty="0"/>
              <a:t>(led, </a:t>
            </a:r>
            <a:r>
              <a:rPr lang="en-US" altLang="zh-CN" sz="2000" dirty="0" err="1"/>
              <a:t>i</a:t>
            </a:r>
            <a:r>
              <a:rPr lang="en-US" altLang="zh-CN" sz="2000" dirty="0"/>
              <a:t>);</a:t>
            </a:r>
          </a:p>
          <a:p>
            <a:pPr marL="0" indent="0">
              <a:spcBef>
                <a:spcPts val="0"/>
              </a:spcBef>
              <a:buNone/>
            </a:pPr>
            <a:r>
              <a:rPr lang="en-US" altLang="zh-CN" sz="2000" dirty="0"/>
              <a:t>    delay(20);</a:t>
            </a:r>
          </a:p>
          <a:p>
            <a:pPr marL="0" indent="0">
              <a:spcBef>
                <a:spcPts val="0"/>
              </a:spcBef>
              <a:buNone/>
            </a:pPr>
            <a:r>
              <a:rPr lang="en-US" altLang="zh-CN" sz="2000" dirty="0"/>
              <a:t>  }</a:t>
            </a:r>
          </a:p>
          <a:p>
            <a:pPr marL="0" indent="0">
              <a:spcBef>
                <a:spcPts val="0"/>
              </a:spcBef>
              <a:buNone/>
            </a:pPr>
            <a:r>
              <a:rPr lang="en-US" altLang="zh-CN" sz="2000" dirty="0"/>
              <a:t>  delay(200);</a:t>
            </a:r>
          </a:p>
          <a:p>
            <a:pPr marL="0" indent="0">
              <a:spcBef>
                <a:spcPts val="0"/>
              </a:spcBef>
              <a:buNone/>
            </a:pPr>
            <a:r>
              <a:rPr lang="en-US" altLang="zh-CN" sz="2000" dirty="0"/>
              <a:t>  for (</a:t>
            </a:r>
            <a:r>
              <a:rPr lang="en-US" altLang="zh-CN" sz="2000" dirty="0" err="1"/>
              <a:t>int</a:t>
            </a:r>
            <a:r>
              <a:rPr lang="en-US" altLang="zh-CN" sz="2000" dirty="0"/>
              <a:t> </a:t>
            </a:r>
            <a:r>
              <a:rPr lang="en-US" altLang="zh-CN" sz="2000" dirty="0" err="1"/>
              <a:t>i</a:t>
            </a:r>
            <a:r>
              <a:rPr lang="en-US" altLang="zh-CN" sz="2000" dirty="0"/>
              <a:t> = 100; </a:t>
            </a:r>
            <a:r>
              <a:rPr lang="en-US" altLang="zh-CN" sz="2000" dirty="0" err="1"/>
              <a:t>i</a:t>
            </a:r>
            <a:r>
              <a:rPr lang="en-US" altLang="zh-CN" sz="2000" dirty="0"/>
              <a:t> &gt; 0; </a:t>
            </a:r>
            <a:r>
              <a:rPr lang="en-US" altLang="zh-CN" sz="2000" dirty="0" err="1"/>
              <a:t>i</a:t>
            </a:r>
            <a:r>
              <a:rPr lang="en-US" altLang="zh-CN" sz="2000" dirty="0"/>
              <a:t>--) {</a:t>
            </a:r>
          </a:p>
          <a:p>
            <a:pPr marL="0" indent="0">
              <a:spcBef>
                <a:spcPts val="0"/>
              </a:spcBef>
              <a:buNone/>
            </a:pPr>
            <a:r>
              <a:rPr lang="en-US" altLang="zh-CN" sz="2000" dirty="0"/>
              <a:t>    </a:t>
            </a:r>
            <a:r>
              <a:rPr lang="en-US" altLang="zh-CN" sz="2000" dirty="0" err="1"/>
              <a:t>analogWrite</a:t>
            </a:r>
            <a:r>
              <a:rPr lang="en-US" altLang="zh-CN" sz="2000" dirty="0"/>
              <a:t>(led, </a:t>
            </a:r>
            <a:r>
              <a:rPr lang="en-US" altLang="zh-CN" sz="2000" dirty="0" err="1"/>
              <a:t>i</a:t>
            </a:r>
            <a:r>
              <a:rPr lang="en-US" altLang="zh-CN" sz="2000" dirty="0"/>
              <a:t>);</a:t>
            </a:r>
          </a:p>
          <a:p>
            <a:pPr marL="0" indent="0">
              <a:spcBef>
                <a:spcPts val="0"/>
              </a:spcBef>
              <a:buNone/>
            </a:pPr>
            <a:r>
              <a:rPr lang="en-US" altLang="zh-CN" sz="2000" dirty="0"/>
              <a:t>    delay(20);</a:t>
            </a:r>
          </a:p>
          <a:p>
            <a:pPr marL="0" indent="0">
              <a:spcBef>
                <a:spcPts val="0"/>
              </a:spcBef>
              <a:buNone/>
            </a:pPr>
            <a:r>
              <a:rPr lang="en-US" altLang="zh-CN" sz="2000" dirty="0"/>
              <a:t>  }</a:t>
            </a:r>
          </a:p>
          <a:p>
            <a:pPr marL="0" indent="0">
              <a:spcBef>
                <a:spcPts val="0"/>
              </a:spcBef>
              <a:buNone/>
            </a:pPr>
            <a:r>
              <a:rPr lang="en-US" altLang="zh-CN" sz="2000" dirty="0"/>
              <a:t>  delay(200);</a:t>
            </a:r>
          </a:p>
          <a:p>
            <a:pPr marL="0" indent="0">
              <a:spcBef>
                <a:spcPts val="0"/>
              </a:spcBef>
              <a:buNone/>
            </a:pPr>
            <a:r>
              <a:rPr lang="en-US" altLang="zh-CN" sz="2000" dirty="0"/>
              <a:t>}</a:t>
            </a:r>
            <a:endParaRPr lang="zh-CN" altLang="en-US" sz="2000" dirty="0"/>
          </a:p>
        </p:txBody>
      </p:sp>
    </p:spTree>
  </p:cSld>
  <p:clrMapOvr>
    <a:masterClrMapping/>
  </p:clrMapOvr>
  <p:transition>
    <p:cover dir="d"/>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模拟输入</a:t>
            </a:r>
          </a:p>
        </p:txBody>
      </p:sp>
      <p:sp>
        <p:nvSpPr>
          <p:cNvPr id="3" name="内容占位符 2"/>
          <p:cNvSpPr>
            <a:spLocks noGrp="1"/>
          </p:cNvSpPr>
          <p:nvPr>
            <p:ph idx="1"/>
          </p:nvPr>
        </p:nvSpPr>
        <p:spPr/>
        <p:txBody>
          <a:bodyPr/>
          <a:lstStyle/>
          <a:p>
            <a:pPr marL="0" indent="0" algn="just">
              <a:buNone/>
            </a:pPr>
            <a:r>
              <a:rPr lang="zh-CN" altLang="zh-CN" dirty="0"/>
              <a:t>除了</a:t>
            </a:r>
            <a:r>
              <a:rPr lang="en-US" altLang="zh-CN" dirty="0"/>
              <a:t>PWM</a:t>
            </a:r>
            <a:r>
              <a:rPr lang="zh-CN" altLang="zh-CN" dirty="0"/>
              <a:t>，在</a:t>
            </a:r>
            <a:r>
              <a:rPr lang="en-US" altLang="zh-CN" dirty="0"/>
              <a:t>Arduino</a:t>
            </a:r>
            <a:r>
              <a:rPr lang="zh-CN" altLang="zh-CN" dirty="0"/>
              <a:t>开发板上，有一排标着</a:t>
            </a:r>
            <a:r>
              <a:rPr lang="en-US" altLang="zh-CN" dirty="0"/>
              <a:t>A0-A5</a:t>
            </a:r>
            <a:r>
              <a:rPr lang="zh-CN" altLang="zh-CN" dirty="0"/>
              <a:t>的引脚，这些引脚不仅具有数字输入输出的功能，还具有模拟信号输入的功能。</a:t>
            </a:r>
            <a:r>
              <a:rPr lang="en-US" altLang="zh-CN" dirty="0"/>
              <a:t>Arduino</a:t>
            </a:r>
            <a:r>
              <a:rPr lang="zh-CN" altLang="zh-CN" dirty="0"/>
              <a:t>中的片内</a:t>
            </a:r>
            <a:r>
              <a:rPr lang="en-US" altLang="zh-CN" dirty="0"/>
              <a:t>ADC</a:t>
            </a:r>
            <a:r>
              <a:rPr lang="zh-CN" altLang="zh-CN" dirty="0"/>
              <a:t>设备通过逐次逼近法测量输入电压的大小得到输入电压，模拟输入可以给</a:t>
            </a:r>
            <a:r>
              <a:rPr lang="en-US" altLang="zh-CN" dirty="0"/>
              <a:t>Arduino</a:t>
            </a:r>
            <a:r>
              <a:rPr lang="zh-CN" altLang="zh-CN" dirty="0"/>
              <a:t>输入</a:t>
            </a:r>
            <a:r>
              <a:rPr lang="en-US" altLang="zh-CN" dirty="0"/>
              <a:t>0~1023</a:t>
            </a:r>
            <a:r>
              <a:rPr lang="zh-CN" altLang="zh-CN" dirty="0"/>
              <a:t>的任意值。</a:t>
            </a:r>
            <a:endParaRPr lang="zh-CN" altLang="en-US" dirty="0"/>
          </a:p>
        </p:txBody>
      </p:sp>
    </p:spTree>
  </p:cSld>
  <p:clrMapOvr>
    <a:masterClrMapping/>
  </p:clrMapOvr>
  <p:transition>
    <p:cover dir="d"/>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6201</Words>
  <Application>Microsoft Office PowerPoint</Application>
  <PresentationFormat>全屏显示(4:3)</PresentationFormat>
  <Paragraphs>462</Paragraphs>
  <Slides>82</Slides>
  <Notes>2</Notes>
  <HiddenSlides>0</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82</vt:i4>
      </vt:variant>
    </vt:vector>
  </HeadingPairs>
  <TitlesOfParts>
    <vt:vector size="88" baseType="lpstr">
      <vt:lpstr>Arial</vt:lpstr>
      <vt:lpstr>Calibri</vt:lpstr>
      <vt:lpstr>Calibri Light</vt:lpstr>
      <vt:lpstr>Times New Roman</vt:lpstr>
      <vt:lpstr>Office 主题</vt:lpstr>
      <vt:lpstr>1_默认设计模板</vt:lpstr>
      <vt:lpstr>Arduino开发</vt:lpstr>
      <vt:lpstr>Arduino程序架构</vt:lpstr>
      <vt:lpstr>闪灯程序</vt:lpstr>
      <vt:lpstr>Hello World做了什么？</vt:lpstr>
      <vt:lpstr>Arduino语法——变量</vt:lpstr>
      <vt:lpstr>Arduino语法——变量</vt:lpstr>
      <vt:lpstr>变量作用范围</vt:lpstr>
      <vt:lpstr>带变量的闪灯程序</vt:lpstr>
      <vt:lpstr>改变闪烁频率的闪灯程序</vt:lpstr>
      <vt:lpstr>Arduino语法——常量</vt:lpstr>
      <vt:lpstr>逻辑常量（布尔常量）：false和true</vt:lpstr>
      <vt:lpstr>数字引脚常量：INPUT和OUTPUT</vt:lpstr>
      <vt:lpstr>引脚电压常量：HIGH和LOW</vt:lpstr>
      <vt:lpstr>自定义常量</vt:lpstr>
      <vt:lpstr>Arduino语法——数据类型</vt:lpstr>
      <vt:lpstr>常用的数据类型</vt:lpstr>
      <vt:lpstr>布尔类型</vt:lpstr>
      <vt:lpstr>布尔类型</vt:lpstr>
      <vt:lpstr>字符型</vt:lpstr>
      <vt:lpstr>字节型</vt:lpstr>
      <vt:lpstr>整型</vt:lpstr>
      <vt:lpstr>无符号整型</vt:lpstr>
      <vt:lpstr>长整型</vt:lpstr>
      <vt:lpstr>无符号长整型</vt:lpstr>
      <vt:lpstr>浮点型</vt:lpstr>
      <vt:lpstr>双精度浮点型</vt:lpstr>
      <vt:lpstr>数据类型转换</vt:lpstr>
      <vt:lpstr>数据类型转换</vt:lpstr>
      <vt:lpstr>数据类型转换</vt:lpstr>
      <vt:lpstr>数据类型转换</vt:lpstr>
      <vt:lpstr>数据类型转换</vt:lpstr>
      <vt:lpstr>数据类型转换</vt:lpstr>
      <vt:lpstr>自定义数据类型</vt:lpstr>
      <vt:lpstr>Arduino语法——数组</vt:lpstr>
      <vt:lpstr>创建或声明一个数组</vt:lpstr>
      <vt:lpstr>指定或访问数组</vt:lpstr>
      <vt:lpstr>指定或访问数组</vt:lpstr>
      <vt:lpstr>串口打印数组</vt:lpstr>
      <vt:lpstr>Arduino语法——运算符</vt:lpstr>
      <vt:lpstr>赋值运算符</vt:lpstr>
      <vt:lpstr>赋值运算符</vt:lpstr>
      <vt:lpstr>赋值运算符</vt:lpstr>
      <vt:lpstr>赋值运算符</vt:lpstr>
      <vt:lpstr>赋值运算符</vt:lpstr>
      <vt:lpstr>算数运算符</vt:lpstr>
      <vt:lpstr>算数运算符</vt:lpstr>
      <vt:lpstr>关系运算符</vt:lpstr>
      <vt:lpstr>关系运算符</vt:lpstr>
      <vt:lpstr>关系运算符</vt:lpstr>
      <vt:lpstr>逻辑运算符</vt:lpstr>
      <vt:lpstr>逻辑运算符</vt:lpstr>
      <vt:lpstr>递增/减运算符</vt:lpstr>
      <vt:lpstr>Arduino语法——条件判断语句</vt:lpstr>
      <vt:lpstr>条件判断语句</vt:lpstr>
      <vt:lpstr>改变闪烁频率的闪灯程序</vt:lpstr>
      <vt:lpstr>使用else语句的闪灯程序</vt:lpstr>
      <vt:lpstr>Arduino语法——循环语句</vt:lpstr>
      <vt:lpstr>for循环</vt:lpstr>
      <vt:lpstr>for循环</vt:lpstr>
      <vt:lpstr>使用计数器和if语句的闪灯程序</vt:lpstr>
      <vt:lpstr>使用for语句的闪灯程序</vt:lpstr>
      <vt:lpstr>while循环</vt:lpstr>
      <vt:lpstr>while循环</vt:lpstr>
      <vt:lpstr>使用while语句的闪灯程序</vt:lpstr>
      <vt:lpstr>Arduino语法—函数</vt:lpstr>
      <vt:lpstr>使用闪灯函数的闪灯程序</vt:lpstr>
      <vt:lpstr>改进使用闪灯函数的闪灯程序</vt:lpstr>
      <vt:lpstr>具有返回值的函数Max()</vt:lpstr>
      <vt:lpstr>常用核心函数</vt:lpstr>
      <vt:lpstr>常用核心函数</vt:lpstr>
      <vt:lpstr>常用核心函数</vt:lpstr>
      <vt:lpstr>常用核心函数</vt:lpstr>
      <vt:lpstr>Arduino语法——输入与输出</vt:lpstr>
      <vt:lpstr>数字的输入与输出</vt:lpstr>
      <vt:lpstr>测试数字的输入输出</vt:lpstr>
      <vt:lpstr>测试数字的输入输出</vt:lpstr>
      <vt:lpstr>模拟输入输出</vt:lpstr>
      <vt:lpstr>模拟输入输出</vt:lpstr>
      <vt:lpstr>使用PWM控制小灯亮度</vt:lpstr>
      <vt:lpstr>使用PWM控制小灯亮度</vt:lpstr>
      <vt:lpstr>使用PWM控制小灯亮度</vt:lpstr>
      <vt:lpstr>模拟输入</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Arduino开发</dc:title>
  <dc:creator>徐贤</dc:creator>
  <cp:lastModifiedBy>Administrator</cp:lastModifiedBy>
  <cp:revision>195</cp:revision>
  <dcterms:created xsi:type="dcterms:W3CDTF">2015-10-10T01:29:00Z</dcterms:created>
  <dcterms:modified xsi:type="dcterms:W3CDTF">2021-10-18T06:28:35Z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2052-11.3.0.9221</vt:lpwstr>
  </property>
</Properties>
</file>