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44" r:id="rId1"/>
  </p:sldMasterIdLst>
  <p:notesMasterIdLst>
    <p:notesMasterId r:id="rId10"/>
  </p:notesMasterIdLst>
  <p:handoutMasterIdLst>
    <p:handoutMasterId r:id="rId11"/>
  </p:handoutMasterIdLst>
  <p:sldIdLst>
    <p:sldId id="526" r:id="rId2"/>
    <p:sldId id="608" r:id="rId3"/>
    <p:sldId id="610" r:id="rId4"/>
    <p:sldId id="611" r:id="rId5"/>
    <p:sldId id="605" r:id="rId6"/>
    <p:sldId id="607" r:id="rId7"/>
    <p:sldId id="613" r:id="rId8"/>
    <p:sldId id="614" r:id="rId9"/>
  </p:sldIdLst>
  <p:sldSz cx="9144000" cy="6858000" type="screen4x3"/>
  <p:notesSz cx="6761163" cy="9942513"/>
  <p:defaultTextStyle>
    <a:defPPr>
      <a:defRPr lang="en-US"/>
    </a:defPPr>
    <a:lvl1pPr algn="ctr" rtl="0" eaLnBrk="0" fontAlgn="ctr" hangingPunct="0">
      <a:spcBef>
        <a:spcPct val="50000"/>
      </a:spcBef>
      <a:spcAft>
        <a:spcPct val="0"/>
      </a:spcAft>
      <a:defRPr sz="4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ctr" rtl="0" eaLnBrk="0" fontAlgn="ctr" hangingPunct="0">
      <a:spcBef>
        <a:spcPct val="50000"/>
      </a:spcBef>
      <a:spcAft>
        <a:spcPct val="0"/>
      </a:spcAft>
      <a:defRPr sz="4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ctr" rtl="0" eaLnBrk="0" fontAlgn="ctr" hangingPunct="0">
      <a:spcBef>
        <a:spcPct val="50000"/>
      </a:spcBef>
      <a:spcAft>
        <a:spcPct val="0"/>
      </a:spcAft>
      <a:defRPr sz="4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ctr" rtl="0" eaLnBrk="0" fontAlgn="ctr" hangingPunct="0">
      <a:spcBef>
        <a:spcPct val="50000"/>
      </a:spcBef>
      <a:spcAft>
        <a:spcPct val="0"/>
      </a:spcAft>
      <a:defRPr sz="4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ctr" rtl="0" eaLnBrk="0" fontAlgn="ctr" hangingPunct="0">
      <a:spcBef>
        <a:spcPct val="50000"/>
      </a:spcBef>
      <a:spcAft>
        <a:spcPct val="0"/>
      </a:spcAft>
      <a:defRPr sz="4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4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4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4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4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>
          <p15:clr>
            <a:srgbClr val="A4A3A4"/>
          </p15:clr>
        </p15:guide>
        <p15:guide id="2" pos="27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83ED5"/>
    <a:srgbClr val="F1D6F6"/>
    <a:srgbClr val="00FF00"/>
    <a:srgbClr val="000000"/>
    <a:srgbClr val="0000CC"/>
    <a:srgbClr val="00145A"/>
    <a:srgbClr val="001E5A"/>
    <a:srgbClr val="5F5F5F"/>
    <a:srgbClr val="000050"/>
    <a:srgbClr val="0000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75497" autoAdjust="0"/>
  </p:normalViewPr>
  <p:slideViewPr>
    <p:cSldViewPr snapToGrid="0">
      <p:cViewPr varScale="1">
        <p:scale>
          <a:sx n="49" d="100"/>
          <a:sy n="49" d="100"/>
        </p:scale>
        <p:origin x="1719" y="24"/>
      </p:cViewPr>
      <p:guideLst>
        <p:guide orient="horz" pos="2280"/>
        <p:guide pos="27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30131" cy="496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0" tIns="0" rIns="20130" bIns="0" numCol="1" anchor="t" anchorCtr="0" compatLnSpc="1">
            <a:prstTxWarp prst="textNoShape">
              <a:avLst/>
            </a:prstTxWarp>
          </a:bodyPr>
          <a:lstStyle>
            <a:lvl1pPr defTabSz="966557">
              <a:defRPr sz="12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31035" y="4"/>
            <a:ext cx="2930130" cy="496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0" tIns="0" rIns="20130" bIns="0" numCol="1" anchor="t" anchorCtr="0" compatLnSpc="1">
            <a:prstTxWarp prst="textNoShape">
              <a:avLst/>
            </a:prstTxWarp>
          </a:bodyPr>
          <a:lstStyle>
            <a:lvl1pPr algn="r" defTabSz="966557">
              <a:defRPr sz="12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46048"/>
            <a:ext cx="2930131" cy="496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0" tIns="0" rIns="20130" bIns="0" numCol="1" anchor="b" anchorCtr="0" compatLnSpc="1">
            <a:prstTxWarp prst="textNoShape">
              <a:avLst/>
            </a:prstTxWarp>
          </a:bodyPr>
          <a:lstStyle>
            <a:lvl1pPr defTabSz="966557">
              <a:defRPr sz="12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31035" y="9446048"/>
            <a:ext cx="2930130" cy="496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0" tIns="0" rIns="20130" bIns="0" numCol="1" anchor="b" anchorCtr="0" compatLnSpc="1">
            <a:prstTxWarp prst="textNoShape">
              <a:avLst/>
            </a:prstTxWarp>
          </a:bodyPr>
          <a:lstStyle>
            <a:lvl1pPr algn="r" defTabSz="966557">
              <a:defRPr sz="1200" b="0" i="1"/>
            </a:lvl1pPr>
          </a:lstStyle>
          <a:p>
            <a:pPr>
              <a:defRPr/>
            </a:pPr>
            <a:fld id="{1B3B0E3B-E5C4-4251-A7FB-CB33CCB6CE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058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30131" cy="496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0" tIns="0" rIns="20130" bIns="0" numCol="1" anchor="t" anchorCtr="0" compatLnSpc="1">
            <a:prstTxWarp prst="textNoShape">
              <a:avLst/>
            </a:prstTxWarp>
          </a:bodyPr>
          <a:lstStyle>
            <a:lvl1pPr defTabSz="966557">
              <a:defRPr sz="12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31035" y="4"/>
            <a:ext cx="2930130" cy="496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0" tIns="0" rIns="20130" bIns="0" numCol="1" anchor="t" anchorCtr="0" compatLnSpc="1">
            <a:prstTxWarp prst="textNoShape">
              <a:avLst/>
            </a:prstTxWarp>
          </a:bodyPr>
          <a:lstStyle>
            <a:lvl1pPr algn="r" defTabSz="966557">
              <a:defRPr sz="12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6048"/>
            <a:ext cx="2930131" cy="496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0" tIns="0" rIns="20130" bIns="0" numCol="1" anchor="b" anchorCtr="0" compatLnSpc="1">
            <a:prstTxWarp prst="textNoShape">
              <a:avLst/>
            </a:prstTxWarp>
          </a:bodyPr>
          <a:lstStyle>
            <a:lvl1pPr defTabSz="966557">
              <a:defRPr sz="12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31035" y="9446048"/>
            <a:ext cx="2930130" cy="496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0" tIns="0" rIns="20130" bIns="0" numCol="1" anchor="b" anchorCtr="0" compatLnSpc="1">
            <a:prstTxWarp prst="textNoShape">
              <a:avLst/>
            </a:prstTxWarp>
          </a:bodyPr>
          <a:lstStyle>
            <a:lvl1pPr algn="r" defTabSz="966557">
              <a:defRPr sz="12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229CEE7-0F02-44C1-8906-EC6CFDC65F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0902" y="4721379"/>
            <a:ext cx="4959360" cy="4473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296" tIns="48650" rIns="97296" bIns="486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626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6125"/>
            <a:ext cx="4964113" cy="3724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3006157" y="9469060"/>
            <a:ext cx="747385" cy="274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266" tIns="46971" rIns="92266" bIns="46971">
            <a:spAutoFit/>
          </a:bodyPr>
          <a:lstStyle/>
          <a:p>
            <a:pPr algn="ctr" defTabSz="917356">
              <a:lnSpc>
                <a:spcPct val="90000"/>
              </a:lnSpc>
              <a:defRPr/>
            </a:pPr>
            <a:r>
              <a:rPr lang="en-US" sz="1300" b="0" dirty="0">
                <a:solidFill>
                  <a:schemeClr val="tx1"/>
                </a:solidFill>
              </a:rPr>
              <a:t>Page </a:t>
            </a:r>
            <a:fld id="{55488FE2-1213-4D8B-9D82-EC18FBC6248F}" type="slidenum">
              <a:rPr lang="en-US" sz="1300" b="0">
                <a:solidFill>
                  <a:schemeClr val="tx1"/>
                </a:solidFill>
              </a:rPr>
              <a:pPr algn="ctr" defTabSz="917356">
                <a:lnSpc>
                  <a:spcPct val="90000"/>
                </a:lnSpc>
                <a:defRPr/>
              </a:pPr>
              <a:t>‹#›</a:t>
            </a:fld>
            <a:endParaRPr lang="en-US" sz="13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156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29CEE7-0F02-44C1-8906-EC6CFDC65F2D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091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29CEE7-0F02-44C1-8906-EC6CFDC65F2D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1172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第一个是主要的，图书馆有翻译版本，但是我不建议大家买，因为翻译中错误多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29CEE7-0F02-44C1-8906-EC6CFDC65F2D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240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/>
          <p:cNvSpPr>
            <a:spLocks noChangeArrowheads="1"/>
          </p:cNvSpPr>
          <p:nvPr/>
        </p:nvSpPr>
        <p:spPr bwMode="auto">
          <a:xfrm>
            <a:off x="1371600" y="0"/>
            <a:ext cx="609600" cy="381000"/>
          </a:xfrm>
          <a:prstGeom prst="homePlate">
            <a:avLst>
              <a:gd name="adj" fmla="val 40000"/>
            </a:avLst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AutoShape 7"/>
          <p:cNvSpPr>
            <a:spLocks noChangeArrowheads="1"/>
          </p:cNvSpPr>
          <p:nvPr/>
        </p:nvSpPr>
        <p:spPr bwMode="auto">
          <a:xfrm>
            <a:off x="2133600" y="0"/>
            <a:ext cx="533400" cy="381000"/>
          </a:xfrm>
          <a:prstGeom prst="chevron">
            <a:avLst>
              <a:gd name="adj" fmla="val 35000"/>
            </a:avLst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1371600" cy="3810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2819400" y="0"/>
            <a:ext cx="533400" cy="381000"/>
          </a:xfrm>
          <a:prstGeom prst="chevron">
            <a:avLst>
              <a:gd name="adj" fmla="val 35000"/>
            </a:avLst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AutoShape 10"/>
          <p:cNvSpPr>
            <a:spLocks noChangeArrowheads="1"/>
          </p:cNvSpPr>
          <p:nvPr/>
        </p:nvSpPr>
        <p:spPr bwMode="auto">
          <a:xfrm>
            <a:off x="3505200" y="0"/>
            <a:ext cx="533400" cy="381000"/>
          </a:xfrm>
          <a:prstGeom prst="chevron">
            <a:avLst>
              <a:gd name="adj" fmla="val 35000"/>
            </a:avLst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3581400" y="0"/>
            <a:ext cx="334963" cy="3810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50000">
                <a:schemeClr val="hlink"/>
              </a:gs>
              <a:gs pos="100000">
                <a:schemeClr val="accent2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fontAlgn="base" hangingPunct="1">
              <a:spcBef>
                <a:spcPct val="0"/>
              </a:spcBef>
              <a:defRPr/>
            </a:pPr>
            <a:endParaRPr lang="zh-CN" altLang="en-US" sz="2400" u="none"/>
          </a:p>
        </p:txBody>
      </p:sp>
      <p:sp>
        <p:nvSpPr>
          <p:cNvPr id="10" name="AutoShape 12"/>
          <p:cNvSpPr>
            <a:spLocks noChangeArrowheads="1"/>
          </p:cNvSpPr>
          <p:nvPr/>
        </p:nvSpPr>
        <p:spPr bwMode="auto">
          <a:xfrm rot="16200000">
            <a:off x="8458200" y="6172200"/>
            <a:ext cx="685800" cy="685800"/>
          </a:xfrm>
          <a:prstGeom prst="rtTriangle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AutoShape 14"/>
          <p:cNvSpPr>
            <a:spLocks noChangeArrowheads="1"/>
          </p:cNvSpPr>
          <p:nvPr/>
        </p:nvSpPr>
        <p:spPr bwMode="auto">
          <a:xfrm>
            <a:off x="0" y="6783388"/>
            <a:ext cx="9144000" cy="74612"/>
          </a:xfrm>
          <a:prstGeom prst="flowChartProcess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002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33800"/>
            <a:ext cx="6400800" cy="1752600"/>
          </a:xfrm>
        </p:spPr>
        <p:txBody>
          <a:bodyPr/>
          <a:lstStyle>
            <a:lvl1pPr marL="0" indent="0" algn="ctr">
              <a:buFont typeface="Webdings" pitchFamily="18" charset="2"/>
              <a:buNone/>
              <a:defRPr/>
            </a:lvl1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941094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567646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30213706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043569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384801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88584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3277191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21563926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04399668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873831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638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6388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590795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3291499827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3" name="Rectangle 15"/>
          <p:cNvSpPr>
            <a:spLocks noChangeArrowheads="1"/>
          </p:cNvSpPr>
          <p:nvPr/>
        </p:nvSpPr>
        <p:spPr bwMode="auto">
          <a:xfrm>
            <a:off x="0" y="1237571"/>
            <a:ext cx="9144000" cy="762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20392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74290" y="242917"/>
            <a:ext cx="7772400" cy="951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单击以编辑</a:t>
            </a:r>
            <a:r>
              <a:rPr lang="zh-CN" altLang="en-US" smtClean="0"/>
              <a:t>母版标题样式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8749" y="1491172"/>
            <a:ext cx="8144921" cy="4998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单击以编辑母版文本样式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sp>
        <p:nvSpPr>
          <p:cNvPr id="17414" name="AutoShape 6"/>
          <p:cNvSpPr>
            <a:spLocks noChangeArrowheads="1"/>
          </p:cNvSpPr>
          <p:nvPr/>
        </p:nvSpPr>
        <p:spPr bwMode="auto">
          <a:xfrm>
            <a:off x="1371600" y="0"/>
            <a:ext cx="514445" cy="276458"/>
          </a:xfrm>
          <a:prstGeom prst="homePlate">
            <a:avLst>
              <a:gd name="adj" fmla="val 40000"/>
            </a:avLst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15" name="AutoShape 7"/>
          <p:cNvSpPr>
            <a:spLocks noChangeArrowheads="1"/>
          </p:cNvSpPr>
          <p:nvPr/>
        </p:nvSpPr>
        <p:spPr bwMode="auto">
          <a:xfrm>
            <a:off x="2133600" y="0"/>
            <a:ext cx="450139" cy="276458"/>
          </a:xfrm>
          <a:prstGeom prst="chevron">
            <a:avLst>
              <a:gd name="adj" fmla="val 35000"/>
            </a:avLst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0" y="0"/>
            <a:ext cx="1157500" cy="27645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17" name="AutoShape 9"/>
          <p:cNvSpPr>
            <a:spLocks noChangeArrowheads="1"/>
          </p:cNvSpPr>
          <p:nvPr/>
        </p:nvSpPr>
        <p:spPr bwMode="auto">
          <a:xfrm>
            <a:off x="2819400" y="0"/>
            <a:ext cx="450139" cy="276458"/>
          </a:xfrm>
          <a:prstGeom prst="chevron">
            <a:avLst>
              <a:gd name="adj" fmla="val 35000"/>
            </a:avLst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18" name="AutoShape 10"/>
          <p:cNvSpPr>
            <a:spLocks noChangeArrowheads="1"/>
          </p:cNvSpPr>
          <p:nvPr/>
        </p:nvSpPr>
        <p:spPr bwMode="auto">
          <a:xfrm>
            <a:off x="3505200" y="0"/>
            <a:ext cx="432619" cy="309014"/>
          </a:xfrm>
          <a:prstGeom prst="chevron">
            <a:avLst>
              <a:gd name="adj" fmla="val 35000"/>
            </a:avLst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19" name="Rectangle 11"/>
          <p:cNvSpPr>
            <a:spLocks noChangeArrowheads="1"/>
          </p:cNvSpPr>
          <p:nvPr/>
        </p:nvSpPr>
        <p:spPr bwMode="auto">
          <a:xfrm>
            <a:off x="3581400" y="7374"/>
            <a:ext cx="282677" cy="276458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50000">
                <a:schemeClr val="hlink"/>
              </a:gs>
              <a:gs pos="100000">
                <a:schemeClr val="accent2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fontAlgn="base" hangingPunct="1">
              <a:spcBef>
                <a:spcPct val="0"/>
              </a:spcBef>
              <a:defRPr/>
            </a:pPr>
            <a:endParaRPr lang="zh-CN" altLang="en-US" sz="2400" u="none"/>
          </a:p>
        </p:txBody>
      </p:sp>
      <p:sp>
        <p:nvSpPr>
          <p:cNvPr id="17420" name="AutoShape 12"/>
          <p:cNvSpPr>
            <a:spLocks noChangeArrowheads="1"/>
          </p:cNvSpPr>
          <p:nvPr/>
        </p:nvSpPr>
        <p:spPr bwMode="auto">
          <a:xfrm rot="-5400000">
            <a:off x="8458200" y="6172200"/>
            <a:ext cx="685800" cy="685800"/>
          </a:xfrm>
          <a:prstGeom prst="rtTriangle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22" name="AutoShape 14"/>
          <p:cNvSpPr>
            <a:spLocks noChangeArrowheads="1"/>
          </p:cNvSpPr>
          <p:nvPr/>
        </p:nvSpPr>
        <p:spPr bwMode="auto">
          <a:xfrm>
            <a:off x="0" y="6783388"/>
            <a:ext cx="9144000" cy="74612"/>
          </a:xfrm>
          <a:prstGeom prst="flowChartProcess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58937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5" r:id="rId1"/>
    <p:sldLayoutId id="2147484246" r:id="rId2"/>
    <p:sldLayoutId id="2147484247" r:id="rId3"/>
    <p:sldLayoutId id="2147484248" r:id="rId4"/>
    <p:sldLayoutId id="2147484249" r:id="rId5"/>
    <p:sldLayoutId id="2147484250" r:id="rId6"/>
    <p:sldLayoutId id="2147484251" r:id="rId7"/>
    <p:sldLayoutId id="2147484252" r:id="rId8"/>
    <p:sldLayoutId id="2147484253" r:id="rId9"/>
    <p:sldLayoutId id="2147484254" r:id="rId10"/>
    <p:sldLayoutId id="2147484255" r:id="rId11"/>
    <p:sldLayoutId id="2147484256" r:id="rId12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tx1"/>
          </a:solidFill>
          <a:latin typeface="Times New Roman" pitchFamily="18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tx1"/>
          </a:solidFill>
          <a:latin typeface="Times New Roman" pitchFamily="18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tx1"/>
          </a:solidFill>
          <a:latin typeface="Times New Roman" pitchFamily="18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tx1"/>
          </a:solidFill>
          <a:latin typeface="Times New Roman" pitchFamily="18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tx1"/>
          </a:solidFill>
          <a:latin typeface="Times New Roman" pitchFamily="18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tx1"/>
          </a:solidFill>
          <a:latin typeface="Times New Roman" pitchFamily="18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tx1"/>
          </a:solidFill>
          <a:latin typeface="Times New Roman" pitchFamily="18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tx1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ebdings" panose="05030102010509060703" pitchFamily="18" charset="2"/>
        <a:buChar char="="/>
        <a:defRPr kumimoji="1"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ebdings" panose="05030102010509060703" pitchFamily="18" charset="2"/>
        <a:buChar char="4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799" y="1040860"/>
            <a:ext cx="7962089" cy="2383276"/>
          </a:xfrm>
        </p:spPr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0</a:t>
            </a:r>
            <a:r>
              <a:rPr lang="en-US" altLang="zh-CN" dirty="0" smtClean="0">
                <a:solidFill>
                  <a:srgbClr val="C00000"/>
                </a:solidFill>
              </a:rPr>
              <a:t>. Software Testing and Delivery</a:t>
            </a:r>
            <a:br>
              <a:rPr lang="en-US" altLang="zh-CN" dirty="0" smtClean="0">
                <a:solidFill>
                  <a:srgbClr val="C00000"/>
                </a:solidFill>
              </a:rPr>
            </a:br>
            <a:r>
              <a:rPr lang="en-US" altLang="zh-CN" dirty="0" smtClean="0">
                <a:solidFill>
                  <a:srgbClr val="C00000"/>
                </a:solidFill>
              </a:rPr>
              <a:t>——Course Information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171122"/>
            <a:ext cx="6400800" cy="1752600"/>
          </a:xfrm>
        </p:spPr>
        <p:txBody>
          <a:bodyPr/>
          <a:lstStyle/>
          <a:p>
            <a:r>
              <a:rPr lang="zh-CN" altLang="en-US" sz="3000" dirty="0"/>
              <a:t>贾经</a:t>
            </a:r>
            <a:r>
              <a:rPr lang="zh-CN" altLang="en-US" sz="3000" dirty="0" smtClean="0"/>
              <a:t>冬</a:t>
            </a:r>
            <a:endParaRPr lang="en-US" altLang="zh-CN" sz="3000" dirty="0" smtClean="0"/>
          </a:p>
          <a:p>
            <a:r>
              <a:rPr lang="zh-CN" altLang="en-US" sz="3000" dirty="0" smtClean="0"/>
              <a:t>北航软件学院</a:t>
            </a:r>
            <a:endParaRPr lang="en-US" altLang="zh-CN" sz="3000" dirty="0" smtClean="0"/>
          </a:p>
          <a:p>
            <a:r>
              <a:rPr lang="en-US" altLang="zh-CN" sz="3000" dirty="0" smtClean="0"/>
              <a:t>jiajingdong@buaa.edu.cn</a:t>
            </a:r>
            <a:endParaRPr lang="zh-CN" altLang="en-US" sz="3000" dirty="0"/>
          </a:p>
        </p:txBody>
      </p:sp>
    </p:spTree>
    <p:extLst>
      <p:ext uri="{BB962C8B-B14F-4D97-AF65-F5344CB8AC3E}">
        <p14:creationId xmlns:p14="http://schemas.microsoft.com/office/powerpoint/2010/main" val="290346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Course Information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Date: Tuesday</a:t>
            </a:r>
          </a:p>
          <a:p>
            <a:r>
              <a:rPr lang="en-US" altLang="zh-CN" dirty="0" smtClean="0"/>
              <a:t>Time: </a:t>
            </a:r>
          </a:p>
          <a:p>
            <a:pPr lvl="1"/>
            <a:r>
              <a:rPr lang="en-US" altLang="zh-CN" dirty="0" smtClean="0"/>
              <a:t>The eighth: </a:t>
            </a:r>
            <a:r>
              <a:rPr lang="en-US" altLang="zh-CN" dirty="0" smtClean="0">
                <a:solidFill>
                  <a:srgbClr val="FF0000"/>
                </a:solidFill>
              </a:rPr>
              <a:t>15:50</a:t>
            </a:r>
            <a:r>
              <a:rPr lang="en-US" altLang="zh-CN" dirty="0" smtClean="0"/>
              <a:t> -16:35</a:t>
            </a:r>
          </a:p>
          <a:p>
            <a:pPr lvl="1"/>
            <a:r>
              <a:rPr lang="en-US" altLang="zh-CN" dirty="0" smtClean="0"/>
              <a:t>The ninth: 16:40 -</a:t>
            </a:r>
            <a:r>
              <a:rPr lang="en-US" altLang="zh-CN" dirty="0" smtClean="0">
                <a:solidFill>
                  <a:srgbClr val="FF0000"/>
                </a:solidFill>
              </a:rPr>
              <a:t>17:25</a:t>
            </a:r>
          </a:p>
          <a:p>
            <a:r>
              <a:rPr lang="en-US" altLang="zh-CN" dirty="0" smtClean="0"/>
              <a:t>Location: </a:t>
            </a:r>
            <a:r>
              <a:rPr lang="zh-CN" altLang="en-US" dirty="0" smtClean="0"/>
              <a:t>（一）</a:t>
            </a:r>
            <a:r>
              <a:rPr lang="en-US" altLang="zh-CN" dirty="0" smtClean="0"/>
              <a:t> 215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5939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Grading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Assignments:</a:t>
            </a:r>
          </a:p>
          <a:p>
            <a:pPr lvl="1"/>
            <a:r>
              <a:rPr lang="en-US" altLang="zh-CN" dirty="0" smtClean="0"/>
              <a:t>1 or 2 assignment</a:t>
            </a:r>
          </a:p>
          <a:p>
            <a:pPr lvl="1"/>
            <a:r>
              <a:rPr lang="en-US" altLang="zh-CN" dirty="0" smtClean="0"/>
              <a:t>Testing report, and</a:t>
            </a:r>
          </a:p>
          <a:p>
            <a:pPr lvl="1"/>
            <a:r>
              <a:rPr lang="en-US" altLang="zh-CN" dirty="0" smtClean="0"/>
              <a:t>Programming assignments </a:t>
            </a:r>
          </a:p>
          <a:p>
            <a:r>
              <a:rPr lang="en-US" altLang="zh-CN" dirty="0" smtClean="0">
                <a:solidFill>
                  <a:srgbClr val="FF0000"/>
                </a:solidFill>
              </a:rPr>
              <a:t>An examination </a:t>
            </a:r>
          </a:p>
          <a:p>
            <a:r>
              <a:rPr lang="en-US" altLang="zh-CN" dirty="0" smtClean="0"/>
              <a:t>Attendance</a:t>
            </a:r>
          </a:p>
        </p:txBody>
      </p:sp>
    </p:spTree>
    <p:extLst>
      <p:ext uri="{BB962C8B-B14F-4D97-AF65-F5344CB8AC3E}">
        <p14:creationId xmlns:p14="http://schemas.microsoft.com/office/powerpoint/2010/main" val="2895323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Independent Work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7864" y="1539810"/>
            <a:ext cx="8565251" cy="3158649"/>
          </a:xfrm>
        </p:spPr>
        <p:txBody>
          <a:bodyPr/>
          <a:lstStyle/>
          <a:p>
            <a:r>
              <a:rPr lang="en-US" altLang="zh-CN" dirty="0"/>
              <a:t>All work turned in must be of that </a:t>
            </a:r>
            <a:r>
              <a:rPr lang="en-US" altLang="zh-CN" dirty="0" smtClean="0"/>
              <a:t>individual student </a:t>
            </a:r>
            <a:r>
              <a:rPr lang="en-US" altLang="zh-CN" dirty="0"/>
              <a:t>unless stated </a:t>
            </a:r>
            <a:r>
              <a:rPr lang="en-US" altLang="zh-CN" dirty="0" smtClean="0"/>
              <a:t>otherwise</a:t>
            </a:r>
          </a:p>
          <a:p>
            <a:r>
              <a:rPr lang="en-US" altLang="zh-CN" dirty="0"/>
              <a:t>Violations will result in zero credit to </a:t>
            </a:r>
            <a:r>
              <a:rPr lang="en-US" altLang="zh-CN" dirty="0" smtClean="0"/>
              <a:t>all students </a:t>
            </a:r>
            <a:r>
              <a:rPr lang="en-US" altLang="zh-CN" dirty="0"/>
              <a:t>concerned</a:t>
            </a:r>
            <a:r>
              <a:rPr lang="en-US" altLang="zh-CN" dirty="0" smtClean="0"/>
              <a:t>.</a:t>
            </a:r>
          </a:p>
          <a:p>
            <a:r>
              <a:rPr lang="en-US" altLang="zh-CN" dirty="0" smtClean="0"/>
              <a:t>Assignment must be submitted on time.</a:t>
            </a:r>
          </a:p>
        </p:txBody>
      </p:sp>
    </p:spTree>
    <p:extLst>
      <p:ext uri="{BB962C8B-B14F-4D97-AF65-F5344CB8AC3E}">
        <p14:creationId xmlns:p14="http://schemas.microsoft.com/office/powerpoint/2010/main" val="390285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Textbook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7216" y="1384168"/>
            <a:ext cx="8518495" cy="4998118"/>
          </a:xfrm>
        </p:spPr>
        <p:txBody>
          <a:bodyPr/>
          <a:lstStyle/>
          <a:p>
            <a:r>
              <a:rPr lang="en-US" altLang="zh-CN" dirty="0" smtClean="0"/>
              <a:t>No required text book</a:t>
            </a:r>
          </a:p>
          <a:p>
            <a:r>
              <a:rPr lang="en-US" altLang="zh-CN" dirty="0" smtClean="0">
                <a:solidFill>
                  <a:srgbClr val="000000"/>
                </a:solidFill>
              </a:rPr>
              <a:t>References</a:t>
            </a:r>
          </a:p>
          <a:p>
            <a:pPr lvl="1"/>
            <a:r>
              <a:rPr lang="en-US" altLang="zh-CN" b="0" dirty="0" smtClean="0">
                <a:solidFill>
                  <a:srgbClr val="FF0000"/>
                </a:solidFill>
              </a:rPr>
              <a:t>P</a:t>
            </a:r>
            <a:r>
              <a:rPr lang="en-US" altLang="zh-CN" b="0" dirty="0">
                <a:solidFill>
                  <a:srgbClr val="FF0000"/>
                </a:solidFill>
              </a:rPr>
              <a:t>. C. Jorgensen, Software Testing: A Craftsman's Approach 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b="0" dirty="0" err="1" smtClean="0"/>
              <a:t>Pezze</a:t>
            </a:r>
            <a:r>
              <a:rPr lang="en-US" altLang="zh-CN" b="0" dirty="0" smtClean="0"/>
              <a:t> </a:t>
            </a:r>
            <a:r>
              <a:rPr lang="en-US" altLang="zh-CN" b="0" dirty="0"/>
              <a:t>&amp; Young, Software Testing and Analysis: Process</a:t>
            </a:r>
            <a:r>
              <a:rPr lang="en-US" altLang="zh-CN" b="0" dirty="0" smtClean="0"/>
              <a:t>, Principles </a:t>
            </a:r>
            <a:r>
              <a:rPr lang="en-US" altLang="zh-CN" b="0" dirty="0"/>
              <a:t>and Techniques</a:t>
            </a:r>
            <a:r>
              <a:rPr lang="en-US" altLang="zh-CN" b="0" dirty="0" smtClean="0"/>
              <a:t>,</a:t>
            </a:r>
          </a:p>
          <a:p>
            <a:pPr lvl="1"/>
            <a:r>
              <a:rPr lang="en-US" altLang="zh-CN" b="0" dirty="0"/>
              <a:t>Paul </a:t>
            </a:r>
            <a:r>
              <a:rPr lang="en-US" altLang="zh-CN" b="0" dirty="0" err="1"/>
              <a:t>Ammann</a:t>
            </a:r>
            <a:r>
              <a:rPr lang="en-US" altLang="zh-CN" b="0" dirty="0"/>
              <a:t> and Je </a:t>
            </a:r>
            <a:r>
              <a:rPr lang="en-US" altLang="zh-CN" b="0" dirty="0" err="1"/>
              <a:t>Outt</a:t>
            </a:r>
            <a:r>
              <a:rPr lang="en-US" altLang="zh-CN" b="0" dirty="0"/>
              <a:t>, Introduction to Software Testing, </a:t>
            </a:r>
            <a:r>
              <a:rPr lang="en-US" altLang="zh-CN" b="0" dirty="0" smtClean="0"/>
              <a:t>Cambridge University </a:t>
            </a:r>
            <a:r>
              <a:rPr lang="en-US" altLang="zh-CN" b="0" dirty="0"/>
              <a:t>Press, Cambridge, UK</a:t>
            </a:r>
            <a:r>
              <a:rPr lang="en-US" altLang="zh-CN" b="0" dirty="0" smtClean="0"/>
              <a:t>,.</a:t>
            </a:r>
            <a:endParaRPr lang="en-US" altLang="zh-CN" b="0" dirty="0"/>
          </a:p>
          <a:p>
            <a:pPr lvl="1"/>
            <a:r>
              <a:rPr lang="en-US" altLang="zh-CN" b="0" dirty="0"/>
              <a:t> G.J. Myers, The Art of Software Testing</a:t>
            </a:r>
            <a:r>
              <a:rPr lang="en-US" altLang="zh-CN" b="0" dirty="0" smtClean="0"/>
              <a:t>,</a:t>
            </a:r>
          </a:p>
          <a:p>
            <a:pPr lvl="1"/>
            <a:r>
              <a:rPr lang="en-US" altLang="zh-CN" dirty="0"/>
              <a:t>Aditya P. </a:t>
            </a:r>
            <a:r>
              <a:rPr lang="en-US" altLang="zh-CN" dirty="0" err="1"/>
              <a:t>Mathur</a:t>
            </a:r>
            <a:r>
              <a:rPr lang="en-US" altLang="zh-CN" dirty="0"/>
              <a:t>, Foundations of Software Testing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6469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Course Description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9098" y="1423079"/>
            <a:ext cx="8604162" cy="4998118"/>
          </a:xfrm>
        </p:spPr>
        <p:txBody>
          <a:bodyPr/>
          <a:lstStyle/>
          <a:p>
            <a:r>
              <a:rPr lang="en-US" altLang="zh-CN" dirty="0" smtClean="0"/>
              <a:t>Study </a:t>
            </a:r>
            <a:r>
              <a:rPr lang="en-US" altLang="zh-CN" dirty="0"/>
              <a:t>the principles, </a:t>
            </a:r>
            <a:r>
              <a:rPr lang="en-US" altLang="zh-CN" dirty="0" smtClean="0"/>
              <a:t>processes, techniques</a:t>
            </a:r>
            <a:r>
              <a:rPr lang="en-US" altLang="zh-CN" dirty="0"/>
              <a:t>, and tools of software testing </a:t>
            </a:r>
            <a:endParaRPr lang="en-US" altLang="zh-CN" dirty="0" smtClean="0"/>
          </a:p>
          <a:p>
            <a:r>
              <a:rPr lang="en-US" altLang="zh-CN" dirty="0"/>
              <a:t>Understand how to achieve </a:t>
            </a:r>
            <a:r>
              <a:rPr lang="en-US" altLang="zh-CN" i="1" u="sng" dirty="0"/>
              <a:t>high quality</a:t>
            </a:r>
            <a:r>
              <a:rPr lang="en-US" altLang="zh-CN" i="1" dirty="0"/>
              <a:t> </a:t>
            </a:r>
            <a:r>
              <a:rPr lang="en-US" altLang="zh-CN" dirty="0" smtClean="0"/>
              <a:t>of</a:t>
            </a:r>
            <a:r>
              <a:rPr lang="en-US" altLang="zh-CN" i="1" dirty="0" smtClean="0"/>
              <a:t> </a:t>
            </a:r>
            <a:r>
              <a:rPr lang="en-US" altLang="zh-CN" dirty="0" smtClean="0"/>
              <a:t>software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57726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Some Topics</a:t>
            </a:r>
            <a:endParaRPr lang="zh-CN" altLang="en-US" dirty="0"/>
          </a:p>
        </p:txBody>
      </p:sp>
      <p:sp>
        <p:nvSpPr>
          <p:cNvPr id="4" name="Rectangle 8"/>
          <p:cNvSpPr>
            <a:spLocks noGrp="1"/>
          </p:cNvSpPr>
          <p:nvPr>
            <p:ph idx="1"/>
          </p:nvPr>
        </p:nvSpPr>
        <p:spPr>
          <a:xfrm>
            <a:off x="209145" y="1371600"/>
            <a:ext cx="4362855" cy="4289898"/>
          </a:xfrm>
        </p:spPr>
        <p:txBody>
          <a:bodyPr/>
          <a:lstStyle/>
          <a:p>
            <a:r>
              <a:rPr lang="en-US" sz="2400" dirty="0"/>
              <a:t>Introduction to software testing</a:t>
            </a:r>
          </a:p>
          <a:p>
            <a:r>
              <a:rPr lang="en-US" altLang="zh-CN" sz="2400" dirty="0"/>
              <a:t>Static analysis and Inspection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Code smell</a:t>
            </a:r>
          </a:p>
          <a:p>
            <a:r>
              <a:rPr lang="en-US" sz="2400" dirty="0" smtClean="0"/>
              <a:t>Functional testing</a:t>
            </a:r>
          </a:p>
          <a:p>
            <a:pPr lvl="1"/>
            <a:r>
              <a:rPr lang="en-US" sz="2400" dirty="0" smtClean="0"/>
              <a:t>EP, BVT, DT</a:t>
            </a:r>
            <a:endParaRPr lang="en-US" sz="2400" dirty="0"/>
          </a:p>
          <a:p>
            <a:r>
              <a:rPr lang="en-US" sz="2400" dirty="0"/>
              <a:t>Structural </a:t>
            </a:r>
            <a:r>
              <a:rPr lang="en-US" sz="2400" dirty="0" smtClean="0"/>
              <a:t>testing</a:t>
            </a:r>
            <a:endParaRPr lang="en-US" sz="2000" dirty="0" smtClean="0"/>
          </a:p>
          <a:p>
            <a:r>
              <a:rPr lang="en-US" sz="2400" dirty="0" smtClean="0"/>
              <a:t>Path testing</a:t>
            </a:r>
          </a:p>
          <a:p>
            <a:r>
              <a:rPr lang="en-US" sz="2400" dirty="0" err="1" smtClean="0"/>
              <a:t>Dateflow</a:t>
            </a:r>
            <a:r>
              <a:rPr lang="en-US" sz="2400" dirty="0" smtClean="0"/>
              <a:t> testing</a:t>
            </a:r>
          </a:p>
        </p:txBody>
      </p:sp>
      <p:sp>
        <p:nvSpPr>
          <p:cNvPr id="6" name="Rectangle 8"/>
          <p:cNvSpPr txBox="1">
            <a:spLocks/>
          </p:cNvSpPr>
          <p:nvPr/>
        </p:nvSpPr>
        <p:spPr bwMode="auto">
          <a:xfrm>
            <a:off x="4824919" y="1371600"/>
            <a:ext cx="3917004" cy="4679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anose="05030102010509060703" pitchFamily="18" charset="2"/>
              <a:buChar char="=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anose="05030102010509060703" pitchFamily="18" charset="2"/>
              <a:buChar char="4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u="none" dirty="0"/>
              <a:t>Combinational testing</a:t>
            </a:r>
          </a:p>
          <a:p>
            <a:r>
              <a:rPr lang="en-US" altLang="zh-CN" sz="2400" u="none" dirty="0"/>
              <a:t>Integration </a:t>
            </a:r>
            <a:r>
              <a:rPr lang="en-US" altLang="zh-CN" sz="2400" u="none" dirty="0" smtClean="0"/>
              <a:t>testing</a:t>
            </a:r>
          </a:p>
          <a:p>
            <a:pPr lvl="1"/>
            <a:r>
              <a:rPr lang="en-US" sz="2000" u="none" kern="0" dirty="0" smtClean="0"/>
              <a:t>MM path</a:t>
            </a:r>
          </a:p>
          <a:p>
            <a:pPr lvl="1"/>
            <a:r>
              <a:rPr lang="en-US" sz="2000" u="none" kern="0" dirty="0" smtClean="0"/>
              <a:t>Call Graph</a:t>
            </a:r>
          </a:p>
          <a:p>
            <a:r>
              <a:rPr lang="en-US" sz="2400" u="none" kern="0" dirty="0" smtClean="0"/>
              <a:t>OO testing</a:t>
            </a:r>
          </a:p>
          <a:p>
            <a:r>
              <a:rPr lang="en-US" altLang="zh-CN" sz="2400" u="none" kern="0" dirty="0" smtClean="0"/>
              <a:t>The process of testing</a:t>
            </a:r>
          </a:p>
          <a:p>
            <a:r>
              <a:rPr lang="en-US" altLang="zh-CN" sz="2400" u="none" kern="0" dirty="0" smtClean="0"/>
              <a:t>The concepts of delivery</a:t>
            </a:r>
          </a:p>
          <a:p>
            <a:r>
              <a:rPr lang="en-US" altLang="zh-CN" sz="2400" u="none" kern="0" dirty="0" smtClean="0"/>
              <a:t>Tool: </a:t>
            </a:r>
            <a:r>
              <a:rPr lang="en-US" altLang="zh-CN" sz="2400" u="none" kern="0" dirty="0" err="1" smtClean="0"/>
              <a:t>pytest</a:t>
            </a:r>
            <a:endParaRPr lang="en-US" altLang="zh-CN" sz="2400" u="none" kern="0" dirty="0"/>
          </a:p>
        </p:txBody>
      </p:sp>
    </p:spTree>
    <p:extLst>
      <p:ext uri="{BB962C8B-B14F-4D97-AF65-F5344CB8AC3E}">
        <p14:creationId xmlns:p14="http://schemas.microsoft.com/office/powerpoint/2010/main" val="3414667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软件测试知识地图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38" y="1732912"/>
            <a:ext cx="8143875" cy="4514539"/>
          </a:xfrm>
        </p:spPr>
      </p:pic>
    </p:spTree>
    <p:extLst>
      <p:ext uri="{BB962C8B-B14F-4D97-AF65-F5344CB8AC3E}">
        <p14:creationId xmlns:p14="http://schemas.microsoft.com/office/powerpoint/2010/main" val="711599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主题2">
  <a:themeElements>
    <a:clrScheme name="form1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form1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ctr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4400" b="0" i="0" u="sng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ctr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400" b="0" i="0" u="sng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form1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rm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rm1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rm1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rm1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rm1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rm1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2" id="{1C98CCFB-0771-4AE0-87FA-2047E507F522}" vid="{62AC49B7-D415-4CF6-BBDE-24678B121250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4591</TotalTime>
  <Pages>49</Pages>
  <Words>259</Words>
  <Application>Microsoft Office PowerPoint</Application>
  <PresentationFormat>全屏显示(4:3)</PresentationFormat>
  <Paragraphs>54</Paragraphs>
  <Slides>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宋体</vt:lpstr>
      <vt:lpstr>Times New Roman</vt:lpstr>
      <vt:lpstr>Webdings</vt:lpstr>
      <vt:lpstr>主题2</vt:lpstr>
      <vt:lpstr>0. Software Testing and Delivery ——Course Information</vt:lpstr>
      <vt:lpstr>Course Information</vt:lpstr>
      <vt:lpstr>Grading</vt:lpstr>
      <vt:lpstr>Independent Work</vt:lpstr>
      <vt:lpstr>Textbook</vt:lpstr>
      <vt:lpstr>Course Description</vt:lpstr>
      <vt:lpstr>Some Topics</vt:lpstr>
      <vt:lpstr>软件测试知识地图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Here! Test this!</dc:title>
  <dc:creator>Jeff Offutt</dc:creator>
  <cp:lastModifiedBy>Windows 用户</cp:lastModifiedBy>
  <cp:revision>457</cp:revision>
  <cp:lastPrinted>2019-08-30T03:19:36Z</cp:lastPrinted>
  <dcterms:created xsi:type="dcterms:W3CDTF">1996-06-15T03:21:08Z</dcterms:created>
  <dcterms:modified xsi:type="dcterms:W3CDTF">2023-02-28T12:31:00Z</dcterms:modified>
</cp:coreProperties>
</file>