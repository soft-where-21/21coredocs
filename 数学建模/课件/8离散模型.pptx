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5"/>
  </p:notesMasterIdLst>
  <p:handoutMasterIdLst>
    <p:handoutMasterId r:id="rId76"/>
  </p:handoutMasterIdLst>
  <p:sldIdLst>
    <p:sldId id="289" r:id="rId2"/>
    <p:sldId id="345" r:id="rId3"/>
    <p:sldId id="347" r:id="rId4"/>
    <p:sldId id="348" r:id="rId5"/>
    <p:sldId id="349" r:id="rId6"/>
    <p:sldId id="350" r:id="rId7"/>
    <p:sldId id="351" r:id="rId8"/>
    <p:sldId id="352" r:id="rId9"/>
    <p:sldId id="355" r:id="rId10"/>
    <p:sldId id="342" r:id="rId11"/>
    <p:sldId id="343" r:id="rId12"/>
    <p:sldId id="341" r:id="rId13"/>
    <p:sldId id="276" r:id="rId14"/>
    <p:sldId id="257" r:id="rId15"/>
    <p:sldId id="258" r:id="rId16"/>
    <p:sldId id="259" r:id="rId17"/>
    <p:sldId id="260" r:id="rId18"/>
    <p:sldId id="261" r:id="rId19"/>
    <p:sldId id="280" r:id="rId20"/>
    <p:sldId id="353" r:id="rId21"/>
    <p:sldId id="354" r:id="rId22"/>
    <p:sldId id="356" r:id="rId23"/>
    <p:sldId id="263" r:id="rId24"/>
    <p:sldId id="264" r:id="rId25"/>
    <p:sldId id="265" r:id="rId26"/>
    <p:sldId id="278" r:id="rId27"/>
    <p:sldId id="279" r:id="rId28"/>
    <p:sldId id="284" r:id="rId29"/>
    <p:sldId id="285" r:id="rId30"/>
    <p:sldId id="277" r:id="rId31"/>
    <p:sldId id="281" r:id="rId32"/>
    <p:sldId id="266" r:id="rId33"/>
    <p:sldId id="282" r:id="rId34"/>
    <p:sldId id="268" r:id="rId35"/>
    <p:sldId id="269" r:id="rId36"/>
    <p:sldId id="271" r:id="rId37"/>
    <p:sldId id="273" r:id="rId38"/>
    <p:sldId id="274" r:id="rId39"/>
    <p:sldId id="283" r:id="rId40"/>
    <p:sldId id="286" r:id="rId41"/>
    <p:sldId id="287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40" r:id="rId59"/>
    <p:sldId id="326" r:id="rId60"/>
    <p:sldId id="327" r:id="rId61"/>
    <p:sldId id="328" r:id="rId62"/>
    <p:sldId id="329" r:id="rId63"/>
    <p:sldId id="330" r:id="rId64"/>
    <p:sldId id="331" r:id="rId65"/>
    <p:sldId id="332" r:id="rId66"/>
    <p:sldId id="333" r:id="rId67"/>
    <p:sldId id="334" r:id="rId68"/>
    <p:sldId id="335" r:id="rId69"/>
    <p:sldId id="336" r:id="rId70"/>
    <p:sldId id="337" r:id="rId71"/>
    <p:sldId id="338" r:id="rId72"/>
    <p:sldId id="339" r:id="rId73"/>
    <p:sldId id="344" r:id="rId74"/>
  </p:sldIdLst>
  <p:sldSz cx="9144000" cy="6858000" type="screen4x3"/>
  <p:notesSz cx="6858000" cy="9144000"/>
  <p:custDataLst>
    <p:tags r:id="rId77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99"/>
    <a:srgbClr val="FFCC00"/>
    <a:srgbClr val="33CCFF"/>
    <a:srgbClr val="FFFF00"/>
    <a:srgbClr val="00FF00"/>
    <a:srgbClr val="FF0000"/>
    <a:srgbClr val="CCFF66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7" d="100"/>
          <a:sy n="57" d="100"/>
        </p:scale>
        <p:origin x="1540" y="48"/>
      </p:cViewPr>
      <p:guideLst>
        <p:guide orient="horz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Relationship Id="rId9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4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5" Type="http://schemas.openxmlformats.org/officeDocument/2006/relationships/image" Target="../media/image56.wmf"/><Relationship Id="rId4" Type="http://schemas.openxmlformats.org/officeDocument/2006/relationships/image" Target="../media/image16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4" Type="http://schemas.openxmlformats.org/officeDocument/2006/relationships/image" Target="../media/image67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image" Target="../media/image76.wmf"/><Relationship Id="rId7" Type="http://schemas.openxmlformats.org/officeDocument/2006/relationships/image" Target="../media/image80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6" Type="http://schemas.openxmlformats.org/officeDocument/2006/relationships/image" Target="../media/image79.wmf"/><Relationship Id="rId11" Type="http://schemas.openxmlformats.org/officeDocument/2006/relationships/image" Target="../media/image84.wmf"/><Relationship Id="rId5" Type="http://schemas.openxmlformats.org/officeDocument/2006/relationships/image" Target="../media/image78.wmf"/><Relationship Id="rId10" Type="http://schemas.openxmlformats.org/officeDocument/2006/relationships/image" Target="../media/image83.wmf"/><Relationship Id="rId4" Type="http://schemas.openxmlformats.org/officeDocument/2006/relationships/image" Target="../media/image77.wmf"/><Relationship Id="rId9" Type="http://schemas.openxmlformats.org/officeDocument/2006/relationships/image" Target="../media/image82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4" Type="http://schemas.openxmlformats.org/officeDocument/2006/relationships/image" Target="../media/image88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6" Type="http://schemas.openxmlformats.org/officeDocument/2006/relationships/image" Target="../media/image94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4" Type="http://schemas.openxmlformats.org/officeDocument/2006/relationships/image" Target="../media/image95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7" Type="http://schemas.openxmlformats.org/officeDocument/2006/relationships/image" Target="../media/image107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6" Type="http://schemas.openxmlformats.org/officeDocument/2006/relationships/image" Target="../media/image106.wmf"/><Relationship Id="rId5" Type="http://schemas.openxmlformats.org/officeDocument/2006/relationships/image" Target="../media/image100.wmf"/><Relationship Id="rId4" Type="http://schemas.openxmlformats.org/officeDocument/2006/relationships/image" Target="../media/image105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image" Target="../media/image120.wmf"/><Relationship Id="rId18" Type="http://schemas.openxmlformats.org/officeDocument/2006/relationships/image" Target="../media/image125.wmf"/><Relationship Id="rId3" Type="http://schemas.openxmlformats.org/officeDocument/2006/relationships/image" Target="../media/image110.wmf"/><Relationship Id="rId7" Type="http://schemas.openxmlformats.org/officeDocument/2006/relationships/image" Target="../media/image114.wmf"/><Relationship Id="rId12" Type="http://schemas.openxmlformats.org/officeDocument/2006/relationships/image" Target="../media/image119.wmf"/><Relationship Id="rId17" Type="http://schemas.openxmlformats.org/officeDocument/2006/relationships/image" Target="../media/image124.wmf"/><Relationship Id="rId2" Type="http://schemas.openxmlformats.org/officeDocument/2006/relationships/image" Target="../media/image109.wmf"/><Relationship Id="rId16" Type="http://schemas.openxmlformats.org/officeDocument/2006/relationships/image" Target="../media/image123.wmf"/><Relationship Id="rId1" Type="http://schemas.openxmlformats.org/officeDocument/2006/relationships/image" Target="../media/image108.wmf"/><Relationship Id="rId6" Type="http://schemas.openxmlformats.org/officeDocument/2006/relationships/image" Target="../media/image113.wmf"/><Relationship Id="rId11" Type="http://schemas.openxmlformats.org/officeDocument/2006/relationships/image" Target="../media/image118.wmf"/><Relationship Id="rId5" Type="http://schemas.openxmlformats.org/officeDocument/2006/relationships/image" Target="../media/image112.wmf"/><Relationship Id="rId15" Type="http://schemas.openxmlformats.org/officeDocument/2006/relationships/image" Target="../media/image122.wmf"/><Relationship Id="rId10" Type="http://schemas.openxmlformats.org/officeDocument/2006/relationships/image" Target="../media/image117.wmf"/><Relationship Id="rId19" Type="http://schemas.openxmlformats.org/officeDocument/2006/relationships/image" Target="../media/image126.wmf"/><Relationship Id="rId4" Type="http://schemas.openxmlformats.org/officeDocument/2006/relationships/image" Target="../media/image111.wmf"/><Relationship Id="rId9" Type="http://schemas.openxmlformats.org/officeDocument/2006/relationships/image" Target="../media/image116.wmf"/><Relationship Id="rId14" Type="http://schemas.openxmlformats.org/officeDocument/2006/relationships/image" Target="../media/image121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Relationship Id="rId4" Type="http://schemas.openxmlformats.org/officeDocument/2006/relationships/image" Target="../media/image133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Relationship Id="rId4" Type="http://schemas.openxmlformats.org/officeDocument/2006/relationships/image" Target="../media/image95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135.wmf"/><Relationship Id="rId1" Type="http://schemas.openxmlformats.org/officeDocument/2006/relationships/image" Target="../media/image137.wmf"/><Relationship Id="rId6" Type="http://schemas.openxmlformats.org/officeDocument/2006/relationships/image" Target="../media/image140.wmf"/><Relationship Id="rId5" Type="http://schemas.openxmlformats.org/officeDocument/2006/relationships/image" Target="../media/image95.wmf"/><Relationship Id="rId4" Type="http://schemas.openxmlformats.org/officeDocument/2006/relationships/image" Target="../media/image139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image" Target="../media/image141.wmf"/><Relationship Id="rId1" Type="http://schemas.openxmlformats.org/officeDocument/2006/relationships/image" Target="../media/image136.wmf"/><Relationship Id="rId6" Type="http://schemas.openxmlformats.org/officeDocument/2006/relationships/image" Target="../media/image95.wmf"/><Relationship Id="rId5" Type="http://schemas.openxmlformats.org/officeDocument/2006/relationships/image" Target="../media/image143.wmf"/><Relationship Id="rId4" Type="http://schemas.openxmlformats.org/officeDocument/2006/relationships/image" Target="../media/image135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5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3" Type="http://schemas.openxmlformats.org/officeDocument/2006/relationships/image" Target="../media/image148.wmf"/><Relationship Id="rId7" Type="http://schemas.openxmlformats.org/officeDocument/2006/relationships/image" Target="../media/image152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Relationship Id="rId6" Type="http://schemas.openxmlformats.org/officeDocument/2006/relationships/image" Target="../media/image151.wmf"/><Relationship Id="rId5" Type="http://schemas.openxmlformats.org/officeDocument/2006/relationships/image" Target="../media/image150.wmf"/><Relationship Id="rId10" Type="http://schemas.openxmlformats.org/officeDocument/2006/relationships/image" Target="../media/image155.wmf"/><Relationship Id="rId4" Type="http://schemas.openxmlformats.org/officeDocument/2006/relationships/image" Target="../media/image149.wmf"/><Relationship Id="rId9" Type="http://schemas.openxmlformats.org/officeDocument/2006/relationships/image" Target="../media/image154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wmf"/><Relationship Id="rId2" Type="http://schemas.openxmlformats.org/officeDocument/2006/relationships/image" Target="../media/image157.wmf"/><Relationship Id="rId1" Type="http://schemas.openxmlformats.org/officeDocument/2006/relationships/image" Target="../media/image156.wmf"/><Relationship Id="rId4" Type="http://schemas.openxmlformats.org/officeDocument/2006/relationships/image" Target="../media/image159.w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wmf"/><Relationship Id="rId1" Type="http://schemas.openxmlformats.org/officeDocument/2006/relationships/image" Target="../media/image160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2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ea typeface="楷体_GB2312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ea typeface="楷体_GB2312" pitchFamily="49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40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ea typeface="楷体_GB2312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40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>
                <a:ea typeface="楷体_GB2312" pitchFamily="49" charset="-122"/>
              </a:rPr>
              <a:t>‹#›</a:t>
            </a:fld>
            <a:endParaRPr lang="en-US" altLang="zh-CN" sz="1200">
              <a:ea typeface="楷体_GB2312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FE0A4-BE3D-4D00-AA0E-99A2C5193C8C}" type="datetimeFigureOut">
              <a:rPr lang="zh-CN" altLang="en-US" smtClean="0"/>
              <a:t>2022/5/17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C8221D-0335-4709-9094-F589FB994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138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8221D-0335-4709-9094-F589FB9940A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351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8221D-0335-4709-9094-F589FB9940A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017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8221D-0335-4709-9094-F589FB9940A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240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8221D-0335-4709-9094-F589FB9940A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743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ormal2_next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20075" y="6457950"/>
            <a:ext cx="238125" cy="247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7" name="Picture 3" descr="Normal2_pre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48600" y="6457950"/>
            <a:ext cx="238125" cy="247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8" name="Picture 4" descr="fanhui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AFAFF"/>
              </a:clrFrom>
              <a:clrTo>
                <a:srgbClr val="FAFA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07425" y="6464300"/>
            <a:ext cx="231775" cy="2413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5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21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8.wmf"/><Relationship Id="rId1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.wmf"/><Relationship Id="rId20" Type="http://schemas.openxmlformats.org/officeDocument/2006/relationships/image" Target="../media/image22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17.wmf"/><Relationship Id="rId19" Type="http://schemas.openxmlformats.org/officeDocument/2006/relationships/oleObject" Target="../embeddings/oleObject18.bin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3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8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9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31.png"/><Relationship Id="rId4" Type="http://schemas.openxmlformats.org/officeDocument/2006/relationships/image" Target="../media/image11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28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37.wmf"/><Relationship Id="rId9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4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44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35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16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6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45.bin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5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52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5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1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49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57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6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56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67.wmf"/><Relationship Id="rId4" Type="http://schemas.openxmlformats.org/officeDocument/2006/relationships/image" Target="../media/image64.wmf"/><Relationship Id="rId9" Type="http://schemas.openxmlformats.org/officeDocument/2006/relationships/oleObject" Target="../embeddings/oleObject61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7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0" Type="http://schemas.openxmlformats.org/officeDocument/2006/relationships/image" Target="../media/image71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65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16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73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73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75.bin"/><Relationship Id="rId18" Type="http://schemas.openxmlformats.org/officeDocument/2006/relationships/image" Target="../media/image81.wmf"/><Relationship Id="rId3" Type="http://schemas.openxmlformats.org/officeDocument/2006/relationships/oleObject" Target="../embeddings/oleObject70.bin"/><Relationship Id="rId21" Type="http://schemas.openxmlformats.org/officeDocument/2006/relationships/oleObject" Target="../embeddings/oleObject79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78.wmf"/><Relationship Id="rId17" Type="http://schemas.openxmlformats.org/officeDocument/2006/relationships/oleObject" Target="../embeddings/oleObject7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0.wmf"/><Relationship Id="rId20" Type="http://schemas.openxmlformats.org/officeDocument/2006/relationships/image" Target="../media/image82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74.bin"/><Relationship Id="rId24" Type="http://schemas.openxmlformats.org/officeDocument/2006/relationships/image" Target="../media/image84.wmf"/><Relationship Id="rId5" Type="http://schemas.openxmlformats.org/officeDocument/2006/relationships/oleObject" Target="../embeddings/oleObject71.bin"/><Relationship Id="rId15" Type="http://schemas.openxmlformats.org/officeDocument/2006/relationships/oleObject" Target="../embeddings/oleObject76.bin"/><Relationship Id="rId23" Type="http://schemas.openxmlformats.org/officeDocument/2006/relationships/oleObject" Target="../embeddings/oleObject80.bin"/><Relationship Id="rId10" Type="http://schemas.openxmlformats.org/officeDocument/2006/relationships/image" Target="../media/image77.wmf"/><Relationship Id="rId19" Type="http://schemas.openxmlformats.org/officeDocument/2006/relationships/oleObject" Target="../embeddings/oleObject78.bin"/><Relationship Id="rId4" Type="http://schemas.openxmlformats.org/officeDocument/2006/relationships/image" Target="../media/image74.wmf"/><Relationship Id="rId9" Type="http://schemas.openxmlformats.org/officeDocument/2006/relationships/oleObject" Target="../embeddings/oleObject73.bin"/><Relationship Id="rId14" Type="http://schemas.openxmlformats.org/officeDocument/2006/relationships/image" Target="../media/image79.wmf"/><Relationship Id="rId22" Type="http://schemas.openxmlformats.org/officeDocument/2006/relationships/image" Target="../media/image83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86.wmf"/><Relationship Id="rId5" Type="http://schemas.openxmlformats.org/officeDocument/2006/relationships/oleObject" Target="../embeddings/oleObject82.bin"/><Relationship Id="rId10" Type="http://schemas.openxmlformats.org/officeDocument/2006/relationships/image" Target="../media/image88.wmf"/><Relationship Id="rId4" Type="http://schemas.openxmlformats.org/officeDocument/2006/relationships/image" Target="../media/image85.wmf"/><Relationship Id="rId9" Type="http://schemas.openxmlformats.org/officeDocument/2006/relationships/oleObject" Target="../embeddings/oleObject84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13" Type="http://schemas.openxmlformats.org/officeDocument/2006/relationships/oleObject" Target="../embeddings/oleObject90.bin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9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90.w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0" Type="http://schemas.openxmlformats.org/officeDocument/2006/relationships/image" Target="../media/image92.wmf"/><Relationship Id="rId4" Type="http://schemas.openxmlformats.org/officeDocument/2006/relationships/image" Target="../media/image89.w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94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5" Type="http://schemas.openxmlformats.org/officeDocument/2006/relationships/image" Target="../media/image96.wmf"/><Relationship Id="rId4" Type="http://schemas.openxmlformats.org/officeDocument/2006/relationships/image" Target="../media/image95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98.w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97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95.wmf"/><Relationship Id="rId4" Type="http://schemas.openxmlformats.org/officeDocument/2006/relationships/image" Target="../media/image99.wmf"/><Relationship Id="rId9" Type="http://schemas.openxmlformats.org/officeDocument/2006/relationships/oleObject" Target="../embeddings/oleObject98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oleObject" Target="../embeddings/oleObject104.bin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10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7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03.wmf"/><Relationship Id="rId11" Type="http://schemas.openxmlformats.org/officeDocument/2006/relationships/oleObject" Target="../embeddings/oleObject103.bin"/><Relationship Id="rId5" Type="http://schemas.openxmlformats.org/officeDocument/2006/relationships/oleObject" Target="../embeddings/oleObject100.bin"/><Relationship Id="rId15" Type="http://schemas.openxmlformats.org/officeDocument/2006/relationships/oleObject" Target="../embeddings/oleObject105.bin"/><Relationship Id="rId10" Type="http://schemas.openxmlformats.org/officeDocument/2006/relationships/image" Target="../media/image105.wmf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106.wmf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11.bin"/><Relationship Id="rId18" Type="http://schemas.openxmlformats.org/officeDocument/2006/relationships/image" Target="../media/image115.wmf"/><Relationship Id="rId26" Type="http://schemas.openxmlformats.org/officeDocument/2006/relationships/image" Target="../media/image119.wmf"/><Relationship Id="rId39" Type="http://schemas.openxmlformats.org/officeDocument/2006/relationships/oleObject" Target="../embeddings/oleObject124.bin"/><Relationship Id="rId21" Type="http://schemas.openxmlformats.org/officeDocument/2006/relationships/oleObject" Target="../embeddings/oleObject115.bin"/><Relationship Id="rId34" Type="http://schemas.openxmlformats.org/officeDocument/2006/relationships/image" Target="../media/image123.wmf"/><Relationship Id="rId7" Type="http://schemas.openxmlformats.org/officeDocument/2006/relationships/oleObject" Target="../embeddings/oleObject10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4.wmf"/><Relationship Id="rId20" Type="http://schemas.openxmlformats.org/officeDocument/2006/relationships/image" Target="../media/image116.wmf"/><Relationship Id="rId29" Type="http://schemas.openxmlformats.org/officeDocument/2006/relationships/oleObject" Target="../embeddings/oleObject119.bin"/><Relationship Id="rId41" Type="http://schemas.openxmlformats.org/officeDocument/2006/relationships/oleObject" Target="../embeddings/oleObject125.bin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110.bin"/><Relationship Id="rId24" Type="http://schemas.openxmlformats.org/officeDocument/2006/relationships/image" Target="../media/image118.wmf"/><Relationship Id="rId32" Type="http://schemas.openxmlformats.org/officeDocument/2006/relationships/image" Target="../media/image122.wmf"/><Relationship Id="rId37" Type="http://schemas.openxmlformats.org/officeDocument/2006/relationships/oleObject" Target="../embeddings/oleObject123.bin"/><Relationship Id="rId40" Type="http://schemas.openxmlformats.org/officeDocument/2006/relationships/image" Target="../media/image126.wmf"/><Relationship Id="rId5" Type="http://schemas.openxmlformats.org/officeDocument/2006/relationships/oleObject" Target="../embeddings/oleObject107.bin"/><Relationship Id="rId15" Type="http://schemas.openxmlformats.org/officeDocument/2006/relationships/oleObject" Target="../embeddings/oleObject112.bin"/><Relationship Id="rId23" Type="http://schemas.openxmlformats.org/officeDocument/2006/relationships/oleObject" Target="../embeddings/oleObject116.bin"/><Relationship Id="rId28" Type="http://schemas.openxmlformats.org/officeDocument/2006/relationships/image" Target="../media/image120.wmf"/><Relationship Id="rId36" Type="http://schemas.openxmlformats.org/officeDocument/2006/relationships/image" Target="../media/image124.wmf"/><Relationship Id="rId10" Type="http://schemas.openxmlformats.org/officeDocument/2006/relationships/image" Target="../media/image111.wmf"/><Relationship Id="rId19" Type="http://schemas.openxmlformats.org/officeDocument/2006/relationships/oleObject" Target="../embeddings/oleObject114.bin"/><Relationship Id="rId31" Type="http://schemas.openxmlformats.org/officeDocument/2006/relationships/oleObject" Target="../embeddings/oleObject120.bin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113.wmf"/><Relationship Id="rId22" Type="http://schemas.openxmlformats.org/officeDocument/2006/relationships/image" Target="../media/image117.wmf"/><Relationship Id="rId27" Type="http://schemas.openxmlformats.org/officeDocument/2006/relationships/oleObject" Target="../embeddings/oleObject118.bin"/><Relationship Id="rId30" Type="http://schemas.openxmlformats.org/officeDocument/2006/relationships/image" Target="../media/image121.wmf"/><Relationship Id="rId35" Type="http://schemas.openxmlformats.org/officeDocument/2006/relationships/oleObject" Target="../embeddings/oleObject122.bin"/><Relationship Id="rId8" Type="http://schemas.openxmlformats.org/officeDocument/2006/relationships/image" Target="../media/image110.wmf"/><Relationship Id="rId3" Type="http://schemas.openxmlformats.org/officeDocument/2006/relationships/oleObject" Target="../embeddings/oleObject106.bin"/><Relationship Id="rId12" Type="http://schemas.openxmlformats.org/officeDocument/2006/relationships/image" Target="../media/image112.wmf"/><Relationship Id="rId17" Type="http://schemas.openxmlformats.org/officeDocument/2006/relationships/oleObject" Target="../embeddings/oleObject113.bin"/><Relationship Id="rId25" Type="http://schemas.openxmlformats.org/officeDocument/2006/relationships/oleObject" Target="../embeddings/oleObject117.bin"/><Relationship Id="rId33" Type="http://schemas.openxmlformats.org/officeDocument/2006/relationships/oleObject" Target="../embeddings/oleObject121.bin"/><Relationship Id="rId38" Type="http://schemas.openxmlformats.org/officeDocument/2006/relationships/image" Target="../media/image125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28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27.wmf"/><Relationship Id="rId9" Type="http://schemas.openxmlformats.org/officeDocument/2006/relationships/image" Target="../media/image96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3" Type="http://schemas.openxmlformats.org/officeDocument/2006/relationships/oleObject" Target="../embeddings/oleObject129.bin"/><Relationship Id="rId7" Type="http://schemas.openxmlformats.org/officeDocument/2006/relationships/oleObject" Target="../embeddings/oleObject1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31.wmf"/><Relationship Id="rId11" Type="http://schemas.openxmlformats.org/officeDocument/2006/relationships/image" Target="../media/image96.wmf"/><Relationship Id="rId5" Type="http://schemas.openxmlformats.org/officeDocument/2006/relationships/oleObject" Target="../embeddings/oleObject130.bin"/><Relationship Id="rId10" Type="http://schemas.openxmlformats.org/officeDocument/2006/relationships/image" Target="../media/image133.wmf"/><Relationship Id="rId4" Type="http://schemas.openxmlformats.org/officeDocument/2006/relationships/image" Target="../media/image130.wmf"/><Relationship Id="rId9" Type="http://schemas.openxmlformats.org/officeDocument/2006/relationships/oleObject" Target="../embeddings/oleObject132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35.wmf"/><Relationship Id="rId5" Type="http://schemas.openxmlformats.org/officeDocument/2006/relationships/oleObject" Target="../embeddings/oleObject134.bin"/><Relationship Id="rId10" Type="http://schemas.openxmlformats.org/officeDocument/2006/relationships/image" Target="../media/image95.wmf"/><Relationship Id="rId4" Type="http://schemas.openxmlformats.org/officeDocument/2006/relationships/image" Target="../media/image134.wmf"/><Relationship Id="rId9" Type="http://schemas.openxmlformats.org/officeDocument/2006/relationships/oleObject" Target="../embeddings/oleObject136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13" Type="http://schemas.openxmlformats.org/officeDocument/2006/relationships/oleObject" Target="../embeddings/oleObject142.bin"/><Relationship Id="rId3" Type="http://schemas.openxmlformats.org/officeDocument/2006/relationships/oleObject" Target="../embeddings/oleObject137.bin"/><Relationship Id="rId7" Type="http://schemas.openxmlformats.org/officeDocument/2006/relationships/oleObject" Target="../embeddings/oleObject139.bin"/><Relationship Id="rId12" Type="http://schemas.openxmlformats.org/officeDocument/2006/relationships/image" Target="../media/image9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35.wmf"/><Relationship Id="rId11" Type="http://schemas.openxmlformats.org/officeDocument/2006/relationships/oleObject" Target="../embeddings/oleObject141.bin"/><Relationship Id="rId5" Type="http://schemas.openxmlformats.org/officeDocument/2006/relationships/oleObject" Target="../embeddings/oleObject138.bin"/><Relationship Id="rId10" Type="http://schemas.openxmlformats.org/officeDocument/2006/relationships/image" Target="../media/image139.wmf"/><Relationship Id="rId4" Type="http://schemas.openxmlformats.org/officeDocument/2006/relationships/image" Target="../media/image137.wmf"/><Relationship Id="rId9" Type="http://schemas.openxmlformats.org/officeDocument/2006/relationships/oleObject" Target="../embeddings/oleObject140.bin"/><Relationship Id="rId14" Type="http://schemas.openxmlformats.org/officeDocument/2006/relationships/image" Target="../media/image140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13" Type="http://schemas.openxmlformats.org/officeDocument/2006/relationships/oleObject" Target="../embeddings/oleObject148.bin"/><Relationship Id="rId3" Type="http://schemas.openxmlformats.org/officeDocument/2006/relationships/oleObject" Target="../embeddings/oleObject143.bin"/><Relationship Id="rId7" Type="http://schemas.openxmlformats.org/officeDocument/2006/relationships/oleObject" Target="../embeddings/oleObject145.bin"/><Relationship Id="rId12" Type="http://schemas.openxmlformats.org/officeDocument/2006/relationships/image" Target="../media/image14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41.wmf"/><Relationship Id="rId11" Type="http://schemas.openxmlformats.org/officeDocument/2006/relationships/oleObject" Target="../embeddings/oleObject147.bin"/><Relationship Id="rId5" Type="http://schemas.openxmlformats.org/officeDocument/2006/relationships/oleObject" Target="../embeddings/oleObject144.bin"/><Relationship Id="rId10" Type="http://schemas.openxmlformats.org/officeDocument/2006/relationships/image" Target="../media/image135.wmf"/><Relationship Id="rId4" Type="http://schemas.openxmlformats.org/officeDocument/2006/relationships/image" Target="../media/image136.wmf"/><Relationship Id="rId9" Type="http://schemas.openxmlformats.org/officeDocument/2006/relationships/oleObject" Target="../embeddings/oleObject146.bin"/><Relationship Id="rId14" Type="http://schemas.openxmlformats.org/officeDocument/2006/relationships/image" Target="../media/image95.w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w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wmf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4" Type="http://schemas.openxmlformats.org/officeDocument/2006/relationships/image" Target="../media/image145.wmf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w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wm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oleObject" Target="../embeddings/oleObject155.bin"/><Relationship Id="rId18" Type="http://schemas.openxmlformats.org/officeDocument/2006/relationships/image" Target="../media/image153.wmf"/><Relationship Id="rId3" Type="http://schemas.openxmlformats.org/officeDocument/2006/relationships/oleObject" Target="../embeddings/oleObject150.bin"/><Relationship Id="rId21" Type="http://schemas.openxmlformats.org/officeDocument/2006/relationships/oleObject" Target="../embeddings/oleObject159.bin"/><Relationship Id="rId7" Type="http://schemas.openxmlformats.org/officeDocument/2006/relationships/oleObject" Target="../embeddings/oleObject152.bin"/><Relationship Id="rId12" Type="http://schemas.openxmlformats.org/officeDocument/2006/relationships/image" Target="../media/image150.wmf"/><Relationship Id="rId17" Type="http://schemas.openxmlformats.org/officeDocument/2006/relationships/oleObject" Target="../embeddings/oleObject157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52.wmf"/><Relationship Id="rId20" Type="http://schemas.openxmlformats.org/officeDocument/2006/relationships/image" Target="../media/image154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47.wmf"/><Relationship Id="rId11" Type="http://schemas.openxmlformats.org/officeDocument/2006/relationships/oleObject" Target="../embeddings/oleObject154.bin"/><Relationship Id="rId5" Type="http://schemas.openxmlformats.org/officeDocument/2006/relationships/oleObject" Target="../embeddings/oleObject151.bin"/><Relationship Id="rId15" Type="http://schemas.openxmlformats.org/officeDocument/2006/relationships/oleObject" Target="../embeddings/oleObject156.bin"/><Relationship Id="rId10" Type="http://schemas.openxmlformats.org/officeDocument/2006/relationships/image" Target="../media/image149.wmf"/><Relationship Id="rId19" Type="http://schemas.openxmlformats.org/officeDocument/2006/relationships/oleObject" Target="../embeddings/oleObject158.bin"/><Relationship Id="rId4" Type="http://schemas.openxmlformats.org/officeDocument/2006/relationships/image" Target="../media/image146.wmf"/><Relationship Id="rId9" Type="http://schemas.openxmlformats.org/officeDocument/2006/relationships/oleObject" Target="../embeddings/oleObject153.bin"/><Relationship Id="rId14" Type="http://schemas.openxmlformats.org/officeDocument/2006/relationships/image" Target="../media/image151.wmf"/><Relationship Id="rId22" Type="http://schemas.openxmlformats.org/officeDocument/2006/relationships/image" Target="../media/image155.wmf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3" Type="http://schemas.openxmlformats.org/officeDocument/2006/relationships/oleObject" Target="../embeddings/oleObject160.bin"/><Relationship Id="rId7" Type="http://schemas.openxmlformats.org/officeDocument/2006/relationships/oleObject" Target="../embeddings/oleObject16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57.wmf"/><Relationship Id="rId5" Type="http://schemas.openxmlformats.org/officeDocument/2006/relationships/oleObject" Target="../embeddings/oleObject161.bin"/><Relationship Id="rId10" Type="http://schemas.openxmlformats.org/officeDocument/2006/relationships/image" Target="../media/image159.wmf"/><Relationship Id="rId4" Type="http://schemas.openxmlformats.org/officeDocument/2006/relationships/image" Target="../media/image156.wmf"/><Relationship Id="rId9" Type="http://schemas.openxmlformats.org/officeDocument/2006/relationships/oleObject" Target="../embeddings/oleObject163.bin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61.wmf"/><Relationship Id="rId5" Type="http://schemas.openxmlformats.org/officeDocument/2006/relationships/oleObject" Target="../embeddings/oleObject165.bin"/><Relationship Id="rId4" Type="http://schemas.openxmlformats.org/officeDocument/2006/relationships/image" Target="../media/image160.wmf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4" Type="http://schemas.openxmlformats.org/officeDocument/2006/relationships/image" Target="../media/image1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026"/>
          <p:cNvSpPr txBox="1"/>
          <p:nvPr/>
        </p:nvSpPr>
        <p:spPr>
          <a:xfrm>
            <a:off x="1476375" y="836613"/>
            <a:ext cx="3879850" cy="641350"/>
          </a:xfrm>
          <a:prstGeom prst="rect">
            <a:avLst/>
          </a:prstGeom>
          <a:solidFill>
            <a:srgbClr val="00FF00"/>
          </a:solidFill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600" b="1" dirty="0">
                <a:latin typeface="Times New Roman" panose="02020603050405020304" pitchFamily="18" charset="0"/>
                <a:ea typeface="楷体_GB2312" pitchFamily="49" charset="-122"/>
              </a:rPr>
              <a:t>第七章    离散模型</a:t>
            </a:r>
          </a:p>
        </p:txBody>
      </p:sp>
      <p:sp>
        <p:nvSpPr>
          <p:cNvPr id="44035" name="Text Box 1027"/>
          <p:cNvSpPr txBox="1"/>
          <p:nvPr/>
        </p:nvSpPr>
        <p:spPr>
          <a:xfrm>
            <a:off x="1187450" y="1989138"/>
            <a:ext cx="7273925" cy="1158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离散模型：差分方程（第</a:t>
            </a:r>
            <a:r>
              <a:rPr lang="en-US" altLang="zh-CN" sz="2800" b="1">
                <a:latin typeface="Times New Roman" panose="02020603050405020304" pitchFamily="18" charset="0"/>
              </a:rPr>
              <a:t>6</a:t>
            </a:r>
            <a:r>
              <a:rPr lang="zh-CN" altLang="en-US" sz="2800" b="1" dirty="0">
                <a:latin typeface="Times New Roman" panose="02020603050405020304" pitchFamily="18" charset="0"/>
              </a:rPr>
              <a:t>章）、整数规划（第</a:t>
            </a:r>
            <a:r>
              <a:rPr lang="en-US" altLang="zh-CN" sz="2800" b="1">
                <a:latin typeface="Times New Roman" panose="02020603050405020304" pitchFamily="18" charset="0"/>
              </a:rPr>
              <a:t>4</a:t>
            </a:r>
            <a:r>
              <a:rPr lang="zh-CN" altLang="en-US" sz="2800" b="1" dirty="0">
                <a:latin typeface="Times New Roman" panose="02020603050405020304" pitchFamily="18" charset="0"/>
              </a:rPr>
              <a:t>章）、图论、对策论、网络流、</a:t>
            </a:r>
            <a:r>
              <a:rPr lang="en-US" altLang="zh-CN" sz="2800" b="1"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44037" name="Text Box 1029"/>
          <p:cNvSpPr txBox="1"/>
          <p:nvPr/>
        </p:nvSpPr>
        <p:spPr>
          <a:xfrm>
            <a:off x="1187450" y="3302793"/>
            <a:ext cx="72723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 dirty="0"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应用较广</a:t>
            </a:r>
            <a:r>
              <a:rPr lang="en-US" altLang="zh-CN" sz="2800" b="1" dirty="0">
                <a:latin typeface="宋体" panose="02010600030101010101" pitchFamily="2" charset="-122"/>
              </a:rPr>
              <a:t>,</a:t>
            </a:r>
            <a:r>
              <a:rPr lang="zh-CN" altLang="en-US" sz="2800" b="1" dirty="0">
                <a:latin typeface="宋体" panose="02010600030101010101" pitchFamily="2" charset="-122"/>
              </a:rPr>
              <a:t>是分析社会经济系统的有力工具</a:t>
            </a:r>
            <a:r>
              <a:rPr lang="en-US" altLang="zh-CN" sz="2800" b="1" dirty="0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44038" name="Text Box 1030"/>
          <p:cNvSpPr txBox="1"/>
          <p:nvPr/>
        </p:nvSpPr>
        <p:spPr>
          <a:xfrm>
            <a:off x="1187450" y="3976686"/>
            <a:ext cx="6913563" cy="625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  <a:buChar char="•"/>
            </a:pPr>
            <a:r>
              <a:rPr lang="en-US" altLang="zh-CN" sz="2800" b="1" dirty="0"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只用到代数、集合及</a:t>
            </a:r>
            <a:r>
              <a:rPr lang="en-US" altLang="zh-CN" sz="2800" b="1" dirty="0">
                <a:latin typeface="宋体" panose="02010600030101010101" pitchFamily="2" charset="-122"/>
              </a:rPr>
              <a:t>(</a:t>
            </a:r>
            <a:r>
              <a:rPr lang="zh-CN" altLang="en-US" sz="2800" b="1" dirty="0">
                <a:latin typeface="宋体" panose="02010600030101010101" pitchFamily="2" charset="-122"/>
              </a:rPr>
              <a:t>少许</a:t>
            </a:r>
            <a:r>
              <a:rPr lang="en-US" altLang="zh-CN" sz="2800" b="1" dirty="0">
                <a:latin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</a:rPr>
              <a:t>图论的知识</a:t>
            </a:r>
            <a:r>
              <a:rPr lang="en-US" altLang="zh-CN" sz="2800" b="1" dirty="0">
                <a:latin typeface="宋体" panose="02010600030101010101" pitchFamily="2" charset="-122"/>
              </a:rPr>
              <a:t>.</a:t>
            </a:r>
          </a:p>
        </p:txBody>
      </p:sp>
      <p:graphicFrame>
        <p:nvGraphicFramePr>
          <p:cNvPr id="3078" name="Object 1031"/>
          <p:cNvGraphicFramePr>
            <a:graphicFrameLocks noChangeAspect="1"/>
          </p:cNvGraphicFramePr>
          <p:nvPr/>
        </p:nvGraphicFramePr>
        <p:xfrm>
          <a:off x="7696200" y="609600"/>
          <a:ext cx="838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r:id="rId3" imgW="777240" imgH="777240" progId="MS_ClipArt_Gallery.2">
                  <p:embed/>
                </p:oleObj>
              </mc:Choice>
              <mc:Fallback>
                <p:oleObj r:id="rId3" imgW="777240" imgH="777240" progId="MS_ClipArt_Gallery.2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96200" y="609600"/>
                        <a:ext cx="838200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030">
            <a:extLst>
              <a:ext uri="{FF2B5EF4-FFF2-40B4-BE49-F238E27FC236}">
                <a16:creationId xmlns:a16="http://schemas.microsoft.com/office/drawing/2014/main" id="{8B927100-03FA-51FA-ABCD-8235C529E043}"/>
              </a:ext>
            </a:extLst>
          </p:cNvPr>
          <p:cNvSpPr txBox="1"/>
          <p:nvPr/>
        </p:nvSpPr>
        <p:spPr>
          <a:xfrm>
            <a:off x="1201737" y="4756941"/>
            <a:ext cx="6913563" cy="55688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  <a:buChar char="•"/>
            </a:pPr>
            <a:r>
              <a:rPr lang="en-US" altLang="zh-CN" sz="2800" b="1" dirty="0"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介绍多属性决策和层次分析法</a:t>
            </a:r>
            <a:endParaRPr lang="en-US" altLang="zh-CN" sz="28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10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animBg="1"/>
      <p:bldP spid="44037" grpId="0" animBg="1"/>
      <p:bldP spid="44038" grpId="0" animBg="1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/>
          <p:nvPr/>
        </p:nvSpPr>
        <p:spPr>
          <a:xfrm>
            <a:off x="564871" y="1319105"/>
            <a:ext cx="3503073" cy="52322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</a:pPr>
            <a:r>
              <a:rPr lang="zh-CN" altLang="en-US" sz="2800" b="1" dirty="0">
                <a:ea typeface="楷体_GB2312" pitchFamily="49" charset="-122"/>
              </a:rPr>
              <a:t>     多属性决策模型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653" name="Text Box 5"/>
          <p:cNvSpPr txBox="1"/>
          <p:nvPr/>
        </p:nvSpPr>
        <p:spPr>
          <a:xfrm>
            <a:off x="564871" y="2316088"/>
            <a:ext cx="685800" cy="106680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背景</a:t>
            </a:r>
          </a:p>
        </p:txBody>
      </p:sp>
      <p:sp>
        <p:nvSpPr>
          <p:cNvPr id="27657" name="Text Box 9"/>
          <p:cNvSpPr txBox="1"/>
          <p:nvPr/>
        </p:nvSpPr>
        <p:spPr>
          <a:xfrm>
            <a:off x="1772506" y="4336102"/>
            <a:ext cx="6275388" cy="218008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决策要素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 dirty="0"/>
              <a:t> </a:t>
            </a:r>
            <a:r>
              <a:rPr lang="zh-CN" altLang="en-US" sz="2800" b="1" dirty="0">
                <a:solidFill>
                  <a:srgbClr val="FF0000"/>
                </a:solidFill>
              </a:rPr>
              <a:t>决策目标、备选方案、属性集合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</a:rPr>
              <a:t> 择优涉及到对方案的排序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zh-CN" altLang="en-US" sz="2800" b="1" dirty="0"/>
              <a:t> 排序依赖对属性的评分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7658" name="Text Box 10"/>
          <p:cNvSpPr txBox="1"/>
          <p:nvPr/>
        </p:nvSpPr>
        <p:spPr>
          <a:xfrm>
            <a:off x="1799010" y="2241949"/>
            <a:ext cx="6491288" cy="5598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在决策时，需要考虑多个因素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9" name="Text Box 11"/>
          <p:cNvSpPr txBox="1"/>
          <p:nvPr/>
        </p:nvSpPr>
        <p:spPr>
          <a:xfrm>
            <a:off x="1799010" y="2731782"/>
            <a:ext cx="6096000" cy="56425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度假地的选择</a:t>
            </a:r>
            <a:r>
              <a:rPr lang="en-US" altLang="zh-CN" sz="2800" b="1" dirty="0">
                <a:latin typeface="Times New Roman" panose="02020603050405020304" pitchFamily="18" charset="0"/>
              </a:rPr>
              <a:t>: </a:t>
            </a:r>
            <a:r>
              <a:rPr lang="zh-CN" altLang="en-US" sz="2800" b="1" dirty="0">
                <a:latin typeface="Times New Roman" panose="02020603050405020304" pitchFamily="18" charset="0"/>
              </a:rPr>
              <a:t>去哪玩？</a:t>
            </a:r>
          </a:p>
        </p:txBody>
      </p:sp>
      <p:sp>
        <p:nvSpPr>
          <p:cNvPr id="7" name="Text Box 11">
            <a:extLst>
              <a:ext uri="{FF2B5EF4-FFF2-40B4-BE49-F238E27FC236}">
                <a16:creationId xmlns:a16="http://schemas.microsoft.com/office/drawing/2014/main" id="{1A149EC8-CDA3-742B-B94F-D5CEBB2C6F82}"/>
              </a:ext>
            </a:extLst>
          </p:cNvPr>
          <p:cNvSpPr txBox="1"/>
          <p:nvPr/>
        </p:nvSpPr>
        <p:spPr>
          <a:xfrm>
            <a:off x="1799010" y="3251799"/>
            <a:ext cx="6096000" cy="56425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购买汽车的选择</a:t>
            </a:r>
            <a:r>
              <a:rPr lang="en-US" altLang="zh-CN" sz="2800" b="1" dirty="0">
                <a:latin typeface="Times New Roman" panose="02020603050405020304" pitchFamily="18" charset="0"/>
              </a:rPr>
              <a:t>: </a:t>
            </a:r>
            <a:r>
              <a:rPr lang="zh-CN" altLang="en-US" sz="2800" b="1" dirty="0">
                <a:latin typeface="Times New Roman" panose="02020603050405020304" pitchFamily="18" charset="0"/>
              </a:rPr>
              <a:t>买什么车？</a:t>
            </a: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7B71C556-808D-E7C4-9DEA-EB81B748B12E}"/>
              </a:ext>
            </a:extLst>
          </p:cNvPr>
          <p:cNvSpPr txBox="1"/>
          <p:nvPr/>
        </p:nvSpPr>
        <p:spPr>
          <a:xfrm>
            <a:off x="1811814" y="3846788"/>
            <a:ext cx="6096000" cy="5598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/>
              <a:t>抗疫方案的</a:t>
            </a:r>
            <a:r>
              <a:rPr lang="zh-CN" altLang="en-US" sz="2800" b="1" dirty="0">
                <a:latin typeface="Times New Roman" panose="02020603050405020304" pitchFamily="18" charset="0"/>
              </a:rPr>
              <a:t>选择</a:t>
            </a:r>
            <a:r>
              <a:rPr lang="en-US" altLang="zh-CN" sz="2800" b="1" dirty="0">
                <a:latin typeface="Times New Roman" panose="02020603050405020304" pitchFamily="18" charset="0"/>
              </a:rPr>
              <a:t>: </a:t>
            </a:r>
            <a:r>
              <a:rPr lang="zh-CN" altLang="en-US" sz="2800" b="1" dirty="0">
                <a:latin typeface="Times New Roman" panose="02020603050405020304" pitchFamily="18" charset="0"/>
              </a:rPr>
              <a:t>清零还是躺平？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410D83EE-782D-9D80-58E1-2D9010C55328}"/>
              </a:ext>
            </a:extLst>
          </p:cNvPr>
          <p:cNvSpPr txBox="1"/>
          <p:nvPr/>
        </p:nvSpPr>
        <p:spPr>
          <a:xfrm>
            <a:off x="1981200" y="527429"/>
            <a:ext cx="5181600" cy="64633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30000"/>
              </a:spcBef>
            </a:pPr>
            <a:r>
              <a:rPr lang="en-US" altLang="zh-CN" sz="3600" b="1" dirty="0">
                <a:solidFill>
                  <a:srgbClr val="0000FF"/>
                </a:solidFill>
                <a:ea typeface="楷体_GB2312" pitchFamily="49" charset="-122"/>
              </a:rPr>
              <a:t>7.1  </a:t>
            </a:r>
            <a:r>
              <a:rPr lang="zh-CN" altLang="en-US" sz="3600" b="1" dirty="0">
                <a:solidFill>
                  <a:srgbClr val="0000FF"/>
                </a:solidFill>
                <a:ea typeface="楷体_GB2312" pitchFamily="49" charset="-122"/>
              </a:rPr>
              <a:t>汽车选购</a:t>
            </a:r>
            <a:endParaRPr lang="zh-CN" altLang="en-US" sz="36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6199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10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10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 animBg="1"/>
      <p:bldP spid="27657" grpId="0"/>
      <p:bldP spid="27658" grpId="0"/>
      <p:bldP spid="27659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537CD30E-6A4F-DBBE-0582-C3FD9467B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072499"/>
              </p:ext>
            </p:extLst>
          </p:nvPr>
        </p:nvGraphicFramePr>
        <p:xfrm>
          <a:off x="935596" y="1772816"/>
          <a:ext cx="7736996" cy="246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34249">
                  <a:extLst>
                    <a:ext uri="{9D8B030D-6E8A-4147-A177-3AD203B41FA5}">
                      <a16:colId xmlns:a16="http://schemas.microsoft.com/office/drawing/2014/main" val="1133229729"/>
                    </a:ext>
                  </a:extLst>
                </a:gridCol>
                <a:gridCol w="1934249">
                  <a:extLst>
                    <a:ext uri="{9D8B030D-6E8A-4147-A177-3AD203B41FA5}">
                      <a16:colId xmlns:a16="http://schemas.microsoft.com/office/drawing/2014/main" val="3581191923"/>
                    </a:ext>
                  </a:extLst>
                </a:gridCol>
                <a:gridCol w="1934249">
                  <a:extLst>
                    <a:ext uri="{9D8B030D-6E8A-4147-A177-3AD203B41FA5}">
                      <a16:colId xmlns:a16="http://schemas.microsoft.com/office/drawing/2014/main" val="682456439"/>
                    </a:ext>
                  </a:extLst>
                </a:gridCol>
                <a:gridCol w="1934249">
                  <a:extLst>
                    <a:ext uri="{9D8B030D-6E8A-4147-A177-3AD203B41FA5}">
                      <a16:colId xmlns:a16="http://schemas.microsoft.com/office/drawing/2014/main" val="3865094998"/>
                    </a:ext>
                  </a:extLst>
                </a:gridCol>
              </a:tblGrid>
              <a:tr h="615829"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00FF"/>
                          </a:solidFill>
                        </a:rPr>
                        <a:t>价格（万）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00FF"/>
                          </a:solidFill>
                        </a:rPr>
                        <a:t>性能（打分）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00FF"/>
                          </a:solidFill>
                        </a:rPr>
                        <a:t>款式（打分）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290904"/>
                  </a:ext>
                </a:extLst>
              </a:tr>
              <a:tr h="61582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00FF"/>
                          </a:solidFill>
                        </a:rPr>
                        <a:t>奥迪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0000FF"/>
                          </a:solidFill>
                        </a:rPr>
                        <a:t>25</a:t>
                      </a:r>
                      <a:endParaRPr lang="zh-CN" altLang="en-US" sz="24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0000FF"/>
                          </a:solidFill>
                        </a:rPr>
                        <a:t>9</a:t>
                      </a:r>
                      <a:endParaRPr lang="zh-CN" altLang="en-US" sz="24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0000FF"/>
                          </a:solidFill>
                        </a:rPr>
                        <a:t>7</a:t>
                      </a:r>
                      <a:endParaRPr lang="zh-CN" altLang="en-US" sz="24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820219"/>
                  </a:ext>
                </a:extLst>
              </a:tr>
              <a:tr h="61582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00FF"/>
                          </a:solidFill>
                        </a:rPr>
                        <a:t>标致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0000FF"/>
                          </a:solidFill>
                        </a:rPr>
                        <a:t>18</a:t>
                      </a:r>
                      <a:endParaRPr lang="zh-CN" altLang="en-US" sz="24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0000FF"/>
                          </a:solidFill>
                        </a:rPr>
                        <a:t>7</a:t>
                      </a:r>
                      <a:endParaRPr lang="zh-CN" altLang="en-US" sz="24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0000FF"/>
                          </a:solidFill>
                        </a:rPr>
                        <a:t>7</a:t>
                      </a:r>
                      <a:endParaRPr lang="zh-CN" altLang="en-US" sz="24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398741"/>
                  </a:ext>
                </a:extLst>
              </a:tr>
              <a:tr h="61582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00FF"/>
                          </a:solidFill>
                        </a:rPr>
                        <a:t>比亚迪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0000FF"/>
                          </a:solidFill>
                        </a:rPr>
                        <a:t>12</a:t>
                      </a:r>
                      <a:endParaRPr lang="zh-CN" altLang="en-US" sz="24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0000FF"/>
                          </a:solidFill>
                        </a:rPr>
                        <a:t>5</a:t>
                      </a:r>
                      <a:endParaRPr lang="zh-CN" altLang="en-US" sz="24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0000FF"/>
                          </a:solidFill>
                        </a:rPr>
                        <a:t>5</a:t>
                      </a:r>
                      <a:endParaRPr lang="zh-CN" altLang="en-US" sz="24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924313"/>
                  </a:ext>
                </a:extLst>
              </a:tr>
            </a:tbl>
          </a:graphicData>
        </a:graphic>
      </p:graphicFrame>
      <p:sp>
        <p:nvSpPr>
          <p:cNvPr id="3" name="Text Box 26">
            <a:extLst>
              <a:ext uri="{FF2B5EF4-FFF2-40B4-BE49-F238E27FC236}">
                <a16:creationId xmlns:a16="http://schemas.microsoft.com/office/drawing/2014/main" id="{E6CA030C-E519-0F3D-8F3C-0D5273B4492F}"/>
              </a:ext>
            </a:extLst>
          </p:cNvPr>
          <p:cNvSpPr txBox="1"/>
          <p:nvPr/>
        </p:nvSpPr>
        <p:spPr>
          <a:xfrm>
            <a:off x="468313" y="549275"/>
            <a:ext cx="2767012" cy="523220"/>
          </a:xfrm>
          <a:prstGeom prst="rect">
            <a:avLst/>
          </a:prstGeom>
          <a:solidFill>
            <a:srgbClr val="00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汽车选购</a:t>
            </a:r>
          </a:p>
        </p:txBody>
      </p:sp>
      <p:sp>
        <p:nvSpPr>
          <p:cNvPr id="4" name="Text Box 27">
            <a:extLst>
              <a:ext uri="{FF2B5EF4-FFF2-40B4-BE49-F238E27FC236}">
                <a16:creationId xmlns:a16="http://schemas.microsoft.com/office/drawing/2014/main" id="{D84DDF9C-70E3-13D5-C8DC-1C28CDFDA40B}"/>
              </a:ext>
            </a:extLst>
          </p:cNvPr>
          <p:cNvSpPr txBox="1"/>
          <p:nvPr/>
        </p:nvSpPr>
        <p:spPr>
          <a:xfrm>
            <a:off x="3516390" y="564663"/>
            <a:ext cx="5156200" cy="10156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三种车（方案）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~ 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三种因素（属性）</a:t>
            </a:r>
            <a:endParaRPr lang="en-US" altLang="zh-CN" b="1" dirty="0"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构成决策矩阵 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：</a:t>
            </a:r>
            <a:endParaRPr lang="en-US" altLang="zh-CN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Text Box 27">
            <a:extLst>
              <a:ext uri="{FF2B5EF4-FFF2-40B4-BE49-F238E27FC236}">
                <a16:creationId xmlns:a16="http://schemas.microsoft.com/office/drawing/2014/main" id="{70F1362B-84BA-2959-FC43-1358B80BCA8A}"/>
              </a:ext>
            </a:extLst>
          </p:cNvPr>
          <p:cNvSpPr txBox="1"/>
          <p:nvPr/>
        </p:nvSpPr>
        <p:spPr>
          <a:xfrm>
            <a:off x="935596" y="4581128"/>
            <a:ext cx="7272808" cy="15696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、  决策矩阵 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D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获得：  </a:t>
            </a:r>
            <a:endParaRPr lang="en-US" altLang="zh-CN" b="1" dirty="0"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）通过量测、调查数据所得，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比较客观</a:t>
            </a:r>
            <a:endParaRPr lang="en-US" altLang="zh-CN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）专家打分评定（老手法），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比较主观</a:t>
            </a:r>
            <a:endParaRPr lang="en-US" altLang="zh-CN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621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7">
            <a:extLst>
              <a:ext uri="{FF2B5EF4-FFF2-40B4-BE49-F238E27FC236}">
                <a16:creationId xmlns:a16="http://schemas.microsoft.com/office/drawing/2014/main" id="{70F1362B-84BA-2959-FC43-1358B80BCA8A}"/>
              </a:ext>
            </a:extLst>
          </p:cNvPr>
          <p:cNvSpPr txBox="1"/>
          <p:nvPr/>
        </p:nvSpPr>
        <p:spPr>
          <a:xfrm>
            <a:off x="1331640" y="764704"/>
            <a:ext cx="4464496" cy="15696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决策矩阵 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D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的指标分为：  </a:t>
            </a:r>
            <a:endParaRPr lang="en-US" altLang="zh-CN" b="1" dirty="0"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）效益型属性：越大越好</a:t>
            </a:r>
            <a:endParaRPr lang="en-US" altLang="zh-CN" b="1" dirty="0"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）费用型属性：越小越好</a:t>
            </a:r>
            <a:endParaRPr lang="en-US" altLang="zh-CN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思想气泡: 云 5">
            <a:extLst>
              <a:ext uri="{FF2B5EF4-FFF2-40B4-BE49-F238E27FC236}">
                <a16:creationId xmlns:a16="http://schemas.microsoft.com/office/drawing/2014/main" id="{C1CD84D7-F37D-6966-83C3-3DE0E7FB115A}"/>
              </a:ext>
            </a:extLst>
          </p:cNvPr>
          <p:cNvSpPr/>
          <p:nvPr/>
        </p:nvSpPr>
        <p:spPr bwMode="auto">
          <a:xfrm>
            <a:off x="6012160" y="1268760"/>
            <a:ext cx="2808312" cy="1224136"/>
          </a:xfrm>
          <a:prstGeom prst="cloudCallout">
            <a:avLst>
              <a:gd name="adj1" fmla="val -62645"/>
              <a:gd name="adj2" fmla="val 59767"/>
            </a:avLst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统一成</a:t>
            </a:r>
            <a:endParaRPr kumimoji="1" lang="en-US" altLang="zh-CN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b="1" dirty="0">
                <a:solidFill>
                  <a:srgbClr val="FF0000"/>
                </a:solidFill>
              </a:rPr>
              <a:t>   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越大越好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A081239-A51B-69E5-D6D1-43E473148865}"/>
                  </a:ext>
                </a:extLst>
              </p:cNvPr>
              <p:cNvSpPr txBox="1"/>
              <p:nvPr/>
            </p:nvSpPr>
            <p:spPr>
              <a:xfrm>
                <a:off x="1475656" y="4025895"/>
                <a:ext cx="3816424" cy="14795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D 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𝟐𝟓</m:t>
                              </m:r>
                            </m:e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𝟗</m:t>
                              </m:r>
                            </m:e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𝟏𝟖</m:t>
                              </m:r>
                            </m:e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</m:e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b="1" dirty="0"/>
                  <a:t> </a:t>
                </a:r>
                <a:endParaRPr lang="zh-CN" altLang="en-US" sz="2800" b="1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A081239-A51B-69E5-D6D1-43E473148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4025895"/>
                <a:ext cx="3816424" cy="1479508"/>
              </a:xfrm>
              <a:prstGeom prst="rect">
                <a:avLst/>
              </a:prstGeom>
              <a:blipFill>
                <a:blip r:embed="rId3"/>
                <a:stretch>
                  <a:fillRect l="-3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27">
            <a:extLst>
              <a:ext uri="{FF2B5EF4-FFF2-40B4-BE49-F238E27FC236}">
                <a16:creationId xmlns:a16="http://schemas.microsoft.com/office/drawing/2014/main" id="{AE90061F-B70B-7EE8-27E3-49A306FD39F8}"/>
              </a:ext>
            </a:extLst>
          </p:cNvPr>
          <p:cNvSpPr txBox="1"/>
          <p:nvPr/>
        </p:nvSpPr>
        <p:spPr>
          <a:xfrm>
            <a:off x="1331640" y="3319174"/>
            <a:ext cx="4464496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、  调整 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D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的指标为效益型：  </a:t>
            </a:r>
            <a:endParaRPr lang="en-US" altLang="zh-CN" b="1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20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7">
            <a:extLst>
              <a:ext uri="{FF2B5EF4-FFF2-40B4-BE49-F238E27FC236}">
                <a16:creationId xmlns:a16="http://schemas.microsoft.com/office/drawing/2014/main" id="{70F1362B-84BA-2959-FC43-1358B80BCA8A}"/>
              </a:ext>
            </a:extLst>
          </p:cNvPr>
          <p:cNvSpPr txBox="1"/>
          <p:nvPr/>
        </p:nvSpPr>
        <p:spPr>
          <a:xfrm>
            <a:off x="1043608" y="764704"/>
            <a:ext cx="6696744" cy="10156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、 决策矩阵 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D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尺度变换 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—— R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：  </a:t>
            </a:r>
            <a:endParaRPr lang="en-US" altLang="zh-CN" b="1" dirty="0"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endParaRPr lang="en-US" altLang="zh-CN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思想气泡: 云 5">
            <a:extLst>
              <a:ext uri="{FF2B5EF4-FFF2-40B4-BE49-F238E27FC236}">
                <a16:creationId xmlns:a16="http://schemas.microsoft.com/office/drawing/2014/main" id="{C1CD84D7-F37D-6966-83C3-3DE0E7FB115A}"/>
              </a:ext>
            </a:extLst>
          </p:cNvPr>
          <p:cNvSpPr/>
          <p:nvPr/>
        </p:nvSpPr>
        <p:spPr bwMode="auto">
          <a:xfrm>
            <a:off x="5724128" y="1407416"/>
            <a:ext cx="3068134" cy="1224136"/>
          </a:xfrm>
          <a:prstGeom prst="cloudCallout">
            <a:avLst>
              <a:gd name="adj1" fmla="val -57557"/>
              <a:gd name="adj2" fmla="val 81630"/>
            </a:avLst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尺度统一</a:t>
            </a:r>
            <a:endParaRPr kumimoji="1" lang="en-US" altLang="zh-CN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b="1" dirty="0">
                <a:solidFill>
                  <a:srgbClr val="FF0000"/>
                </a:solidFill>
              </a:rPr>
              <a:t>     </a:t>
            </a:r>
            <a:r>
              <a:rPr kumimoji="1" lang="zh-CN" altLang="en-US" b="1" dirty="0">
                <a:solidFill>
                  <a:srgbClr val="FF0000"/>
                </a:solidFill>
              </a:rPr>
              <a:t>便于比较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A081239-A51B-69E5-D6D1-43E473148865}"/>
                  </a:ext>
                </a:extLst>
              </p:cNvPr>
              <p:cNvSpPr txBox="1"/>
              <p:nvPr/>
            </p:nvSpPr>
            <p:spPr>
              <a:xfrm>
                <a:off x="1043608" y="1353851"/>
                <a:ext cx="3816424" cy="8678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/>
                  <a:t>归一化：</a:t>
                </a:r>
                <a:r>
                  <a:rPr lang="en-US" altLang="zh-CN" sz="2800" b="1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𝒊𝒋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A081239-A51B-69E5-D6D1-43E473148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1353851"/>
                <a:ext cx="3816424" cy="867802"/>
              </a:xfrm>
              <a:prstGeom prst="rect">
                <a:avLst/>
              </a:prstGeom>
              <a:blipFill>
                <a:blip r:embed="rId3"/>
                <a:stretch>
                  <a:fillRect l="-3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06CA9AE-E63F-7694-1759-B265F1BB2962}"/>
                  </a:ext>
                </a:extLst>
              </p:cNvPr>
              <p:cNvSpPr txBox="1"/>
              <p:nvPr/>
            </p:nvSpPr>
            <p:spPr>
              <a:xfrm>
                <a:off x="1043608" y="2306921"/>
                <a:ext cx="3816424" cy="8678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/>
                  <a:t>最大化：</a:t>
                </a:r>
                <a:r>
                  <a:rPr lang="en-US" altLang="zh-CN" sz="2800" b="1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</m:num>
                      <m:den>
                        <m:func>
                          <m:func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𝒊𝒋</m:t>
                                </m:r>
                              </m:sub>
                            </m:sSub>
                          </m:e>
                        </m:func>
                      </m:den>
                    </m:f>
                  </m:oMath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06CA9AE-E63F-7694-1759-B265F1BB2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306921"/>
                <a:ext cx="3816424" cy="867802"/>
              </a:xfrm>
              <a:prstGeom prst="rect">
                <a:avLst/>
              </a:prstGeom>
              <a:blipFill>
                <a:blip r:embed="rId4"/>
                <a:stretch>
                  <a:fillRect l="-3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ADC6C0F-C49A-9EB4-C3D2-FD8F5E6B7523}"/>
                  </a:ext>
                </a:extLst>
              </p:cNvPr>
              <p:cNvSpPr txBox="1"/>
              <p:nvPr/>
            </p:nvSpPr>
            <p:spPr>
              <a:xfrm>
                <a:off x="971600" y="3278919"/>
                <a:ext cx="4536504" cy="1100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/>
                  <a:t>模一化：</a:t>
                </a:r>
                <a:r>
                  <a:rPr lang="en-US" altLang="zh-CN" sz="2800" b="1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𝒅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𝒊𝒋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e>
                            </m:nary>
                          </m:e>
                        </m:rad>
                      </m:den>
                    </m:f>
                  </m:oMath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ADC6C0F-C49A-9EB4-C3D2-FD8F5E6B7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3278919"/>
                <a:ext cx="4536504" cy="1100238"/>
              </a:xfrm>
              <a:prstGeom prst="rect">
                <a:avLst/>
              </a:prstGeom>
              <a:blipFill>
                <a:blip r:embed="rId5"/>
                <a:stretch>
                  <a:fillRect l="-26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7C8EB8E-EA36-9CB2-03CA-8CADD46C5F05}"/>
                  </a:ext>
                </a:extLst>
              </p:cNvPr>
              <p:cNvSpPr txBox="1"/>
              <p:nvPr/>
            </p:nvSpPr>
            <p:spPr>
              <a:xfrm>
                <a:off x="946799" y="4693707"/>
                <a:ext cx="6480720" cy="1231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R 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𝟐𝟐𝟑𝟔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𝟒𝟐𝟖𝟔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𝟑𝟔𝟖𝟒𝟕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𝟑𝟏𝟎𝟔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𝟑𝟑𝟑𝟑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𝟑𝟖𝟔𝟒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𝟒𝟔𝟓𝟖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𝟐𝟑𝟖𝟏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𝟐𝟔𝟑𝟐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b="1" dirty="0"/>
                  <a:t> </a:t>
                </a:r>
                <a:endParaRPr lang="zh-CN" altLang="en-US" sz="2800" b="1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7C8EB8E-EA36-9CB2-03CA-8CADD46C5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799" y="4693707"/>
                <a:ext cx="6480720" cy="1231940"/>
              </a:xfrm>
              <a:prstGeom prst="rect">
                <a:avLst/>
              </a:prstGeom>
              <a:blipFill>
                <a:blip r:embed="rId6"/>
                <a:stretch>
                  <a:fillRect l="-18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3252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7">
            <a:extLst>
              <a:ext uri="{FF2B5EF4-FFF2-40B4-BE49-F238E27FC236}">
                <a16:creationId xmlns:a16="http://schemas.microsoft.com/office/drawing/2014/main" id="{70F1362B-84BA-2959-FC43-1358B80BCA8A}"/>
              </a:ext>
            </a:extLst>
          </p:cNvPr>
          <p:cNvSpPr txBox="1"/>
          <p:nvPr/>
        </p:nvSpPr>
        <p:spPr>
          <a:xfrm>
            <a:off x="899592" y="476672"/>
            <a:ext cx="6840760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、 确定指标的权重 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—— R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：每列的权重</a:t>
            </a:r>
            <a:endParaRPr lang="en-US" altLang="zh-CN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081239-A51B-69E5-D6D1-43E473148865}"/>
              </a:ext>
            </a:extLst>
          </p:cNvPr>
          <p:cNvSpPr txBox="1"/>
          <p:nvPr/>
        </p:nvSpPr>
        <p:spPr>
          <a:xfrm>
            <a:off x="863588" y="1124744"/>
            <a:ext cx="77048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每列视为概率分布，分布越均匀，对决策支持越少（区分度低），分布的变差越大，区分度越高。</a:t>
            </a:r>
            <a:endParaRPr lang="en-US" altLang="zh-CN" sz="2800" b="1" dirty="0"/>
          </a:p>
          <a:p>
            <a:endParaRPr lang="zh-CN" altLang="en-US" sz="28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8882C85-9A7A-00F2-D5DB-7F8DAC7B8765}"/>
              </a:ext>
            </a:extLst>
          </p:cNvPr>
          <p:cNvSpPr txBox="1"/>
          <p:nvPr/>
        </p:nvSpPr>
        <p:spPr>
          <a:xfrm>
            <a:off x="935596" y="2223816"/>
            <a:ext cx="77048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每列的方差、标准差、极差为依据（越多越好）</a:t>
            </a:r>
            <a:endParaRPr lang="en-US" altLang="zh-CN" sz="2800" b="1" dirty="0"/>
          </a:p>
          <a:p>
            <a:r>
              <a:rPr lang="zh-CN" altLang="en-US" sz="2800" b="1" dirty="0"/>
              <a:t>也可用 </a:t>
            </a:r>
            <a:r>
              <a:rPr lang="en-US" altLang="zh-CN" sz="2800" b="1" dirty="0"/>
              <a:t>Shannon </a:t>
            </a:r>
            <a:r>
              <a:rPr lang="zh-CN" altLang="en-US" sz="2800" b="1" dirty="0"/>
              <a:t>熵（越小越好）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F6AC250-10DE-DF80-21EA-2CEB28D1F4C9}"/>
                  </a:ext>
                </a:extLst>
              </p:cNvPr>
              <p:cNvSpPr txBox="1"/>
              <p:nvPr/>
            </p:nvSpPr>
            <p:spPr>
              <a:xfrm>
                <a:off x="1007604" y="3191148"/>
                <a:ext cx="7704856" cy="739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/>
                  <a:t>信息熵：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𝒍𝒏𝒎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  <m:e>
                        <m:sSub>
                          <m:sSub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𝒍𝒏</m:t>
                        </m:r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2800" b="1" dirty="0"/>
                  <a:t>（越小越好）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F6AC250-10DE-DF80-21EA-2CEB28D1F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604" y="3191148"/>
                <a:ext cx="7704856" cy="739754"/>
              </a:xfrm>
              <a:prstGeom prst="rect">
                <a:avLst/>
              </a:prstGeom>
              <a:blipFill>
                <a:blip r:embed="rId3"/>
                <a:stretch>
                  <a:fillRect l="-1582"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ECC065D-B715-DEE4-277D-BC1C1FD48850}"/>
                  </a:ext>
                </a:extLst>
              </p:cNvPr>
              <p:cNvSpPr txBox="1"/>
              <p:nvPr/>
            </p:nvSpPr>
            <p:spPr>
              <a:xfrm>
                <a:off x="1007604" y="3994994"/>
                <a:ext cx="7704856" cy="564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/>
                  <a:t>区分度：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b="1" dirty="0"/>
                  <a:t>                    （越大越好）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ECC065D-B715-DEE4-277D-BC1C1FD48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604" y="3994994"/>
                <a:ext cx="7704856" cy="564001"/>
              </a:xfrm>
              <a:prstGeom prst="rect">
                <a:avLst/>
              </a:prstGeom>
              <a:blipFill>
                <a:blip r:embed="rId4"/>
                <a:stretch>
                  <a:fillRect l="-1582" t="-13978" r="-237" b="-18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CABE06E-65A2-E3D7-B7A9-5E091A71B1DE}"/>
                  </a:ext>
                </a:extLst>
              </p:cNvPr>
              <p:cNvSpPr txBox="1"/>
              <p:nvPr/>
            </p:nvSpPr>
            <p:spPr>
              <a:xfrm>
                <a:off x="950300" y="4623087"/>
                <a:ext cx="7704856" cy="979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/>
                  <a:t>列权重：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e>
                              <m:sub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num>
                          <m:den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e>
                            </m:nary>
                          </m:den>
                        </m:f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b="1" dirty="0"/>
                  <a:t>         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CABE06E-65A2-E3D7-B7A9-5E091A71B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300" y="4623087"/>
                <a:ext cx="7704856" cy="979114"/>
              </a:xfrm>
              <a:prstGeom prst="rect">
                <a:avLst/>
              </a:prstGeom>
              <a:blipFill>
                <a:blip r:embed="rId5"/>
                <a:stretch>
                  <a:fillRect l="-16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A92BCA8-B157-CCC8-CEF5-CA53E89D240F}"/>
                  </a:ext>
                </a:extLst>
              </p:cNvPr>
              <p:cNvSpPr txBox="1"/>
              <p:nvPr/>
            </p:nvSpPr>
            <p:spPr>
              <a:xfrm>
                <a:off x="935596" y="5539806"/>
                <a:ext cx="7704856" cy="530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/>
                  <a:t>权重向量：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A92BCA8-B157-CCC8-CEF5-CA53E89D2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596" y="5539806"/>
                <a:ext cx="7704856" cy="530915"/>
              </a:xfrm>
              <a:prstGeom prst="rect">
                <a:avLst/>
              </a:prstGeom>
              <a:blipFill>
                <a:blip r:embed="rId6"/>
                <a:stretch>
                  <a:fillRect l="-1582" t="-14943" b="-275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8370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7C8EB8E-EA36-9CB2-03CA-8CADD46C5F05}"/>
                  </a:ext>
                </a:extLst>
              </p:cNvPr>
              <p:cNvSpPr txBox="1"/>
              <p:nvPr/>
            </p:nvSpPr>
            <p:spPr>
              <a:xfrm>
                <a:off x="1259632" y="548680"/>
                <a:ext cx="6048672" cy="1231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R 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𝟐𝟐𝟑𝟔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𝟒𝟐𝟖𝟔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𝟑𝟔𝟖𝟒𝟕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𝟑𝟏𝟎𝟔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𝟑𝟑𝟑𝟑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𝟑𝟖𝟔𝟒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𝟒𝟔𝟓𝟖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𝟐𝟑𝟖𝟏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𝟐𝟔𝟑𝟐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b="1" dirty="0"/>
                  <a:t> </a:t>
                </a:r>
                <a:endParaRPr lang="zh-CN" altLang="en-US" sz="2800" b="1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7C8EB8E-EA36-9CB2-03CA-8CADD46C5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548680"/>
                <a:ext cx="6048672" cy="1231940"/>
              </a:xfrm>
              <a:prstGeom prst="rect">
                <a:avLst/>
              </a:prstGeom>
              <a:blipFill>
                <a:blip r:embed="rId3"/>
                <a:stretch>
                  <a:fillRect l="-21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3B61156-34AA-5ED8-4562-F5667A5F7F25}"/>
                  </a:ext>
                </a:extLst>
              </p:cNvPr>
              <p:cNvSpPr txBox="1"/>
              <p:nvPr/>
            </p:nvSpPr>
            <p:spPr>
              <a:xfrm>
                <a:off x="899592" y="3212976"/>
                <a:ext cx="7488832" cy="994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 </a:t>
                </a:r>
                <a:r>
                  <a:rPr lang="zh-CN" altLang="en-US" sz="2800" b="1" dirty="0"/>
                  <a:t>计算每列区分度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sz="2800" b="1" dirty="0"/>
                  <a:t>：</a:t>
                </a:r>
                <a:endParaRPr lang="en-US" altLang="zh-CN" sz="2800" b="1" dirty="0"/>
              </a:p>
              <a:p>
                <a:r>
                  <a:rPr lang="en-US" altLang="zh-CN" sz="2800" b="1" dirty="0"/>
                  <a:t>         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(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𝟎𝟒𝟎𝟔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𝟎𝟐𝟓𝟏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,  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𝟎𝟏𝟎𝟓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altLang="zh-CN" sz="2800" b="1" dirty="0"/>
                  <a:t>    </a:t>
                </a:r>
                <a:endParaRPr lang="zh-CN" altLang="en-US" sz="2800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3B61156-34AA-5ED8-4562-F5667A5F7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3212976"/>
                <a:ext cx="7488832" cy="994888"/>
              </a:xfrm>
              <a:prstGeom prst="rect">
                <a:avLst/>
              </a:prstGeom>
              <a:blipFill>
                <a:blip r:embed="rId4"/>
                <a:stretch>
                  <a:fillRect l="-489" t="-79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A264BC3-CBF2-6876-C722-B7C4DC4E5B75}"/>
                  </a:ext>
                </a:extLst>
              </p:cNvPr>
              <p:cNvSpPr txBox="1"/>
              <p:nvPr/>
            </p:nvSpPr>
            <p:spPr>
              <a:xfrm>
                <a:off x="1043608" y="4277990"/>
                <a:ext cx="7488832" cy="994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/>
                  <a:t>由区分度计算每列的权重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b="1" dirty="0"/>
                  <a:t>：</a:t>
                </a:r>
                <a:r>
                  <a:rPr lang="en-US" altLang="zh-CN" sz="2800" b="1" dirty="0"/>
                  <a:t>  </a:t>
                </a:r>
              </a:p>
              <a:p>
                <a:r>
                  <a:rPr lang="en-US" altLang="zh-CN" sz="2800" b="1" dirty="0"/>
                  <a:t>       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(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𝟓𝟓𝟑𝟎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𝟑𝟐𝟗𝟑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,   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𝟏𝟑𝟕𝟕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altLang="zh-CN" sz="2800" b="1" dirty="0"/>
                  <a:t>    </a:t>
                </a:r>
                <a:endParaRPr lang="zh-CN" altLang="en-US" sz="2800" b="1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A264BC3-CBF2-6876-C722-B7C4DC4E5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277990"/>
                <a:ext cx="7488832" cy="994888"/>
              </a:xfrm>
              <a:prstGeom prst="rect">
                <a:avLst/>
              </a:prstGeom>
              <a:blipFill>
                <a:blip r:embed="rId5"/>
                <a:stretch>
                  <a:fillRect l="-1627" t="-85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969761B-A19D-0E5F-8D6F-268807BB6928}"/>
                  </a:ext>
                </a:extLst>
              </p:cNvPr>
              <p:cNvSpPr txBox="1"/>
              <p:nvPr/>
            </p:nvSpPr>
            <p:spPr>
              <a:xfrm>
                <a:off x="611560" y="5904666"/>
                <a:ext cx="74888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   </a:t>
                </a:r>
                <a:r>
                  <a:rPr lang="zh-CN" altLang="en-US" sz="2800" b="1" dirty="0"/>
                  <a:t>计算方案的得分向量</a:t>
                </a:r>
                <a14:m>
                  <m:oMath xmlns:m="http://schemas.openxmlformats.org/officeDocument/2006/math">
                    <m:r>
                      <a:rPr lang="zh-CN" altLang="en-US" sz="2800" b="1" i="1" dirty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𝑹𝑾</m:t>
                    </m:r>
                  </m:oMath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969761B-A19D-0E5F-8D6F-268807BB6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5904666"/>
                <a:ext cx="7488832" cy="523220"/>
              </a:xfrm>
              <a:prstGeom prst="rect">
                <a:avLst/>
              </a:prstGeom>
              <a:blipFill>
                <a:blip r:embed="rId6"/>
                <a:stretch>
                  <a:fillRect t="-16471" b="-29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39364AA-93A2-ADD8-B86C-49286AF15805}"/>
                  </a:ext>
                </a:extLst>
              </p:cNvPr>
              <p:cNvSpPr txBox="1"/>
              <p:nvPr/>
            </p:nvSpPr>
            <p:spPr>
              <a:xfrm>
                <a:off x="935050" y="5272878"/>
                <a:ext cx="7165342" cy="530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/>
                  <a:t>权向量</a:t>
                </a:r>
                <a:r>
                  <a:rPr lang="en-US" altLang="zh-CN" sz="28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=(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𝟓𝟓𝟑𝟎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𝟑𝟐𝟗𝟑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𝟏𝟑𝟕𝟕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altLang="zh-CN" sz="2800" b="1" dirty="0"/>
                  <a:t>    </a:t>
                </a:r>
                <a:endParaRPr lang="zh-CN" altLang="en-US" sz="2800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39364AA-93A2-ADD8-B86C-49286AF15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050" y="5272878"/>
                <a:ext cx="7165342" cy="530915"/>
              </a:xfrm>
              <a:prstGeom prst="rect">
                <a:avLst/>
              </a:prstGeom>
              <a:blipFill>
                <a:blip r:embed="rId7"/>
                <a:stretch>
                  <a:fillRect l="-1701" t="-14943" b="-275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1647C6D-12E0-D1D2-84F7-AC72742CF333}"/>
                  </a:ext>
                </a:extLst>
              </p:cNvPr>
              <p:cNvSpPr txBox="1"/>
              <p:nvPr/>
            </p:nvSpPr>
            <p:spPr>
              <a:xfrm>
                <a:off x="899592" y="2019744"/>
                <a:ext cx="7488832" cy="994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 </a:t>
                </a:r>
                <a:r>
                  <a:rPr lang="zh-CN" altLang="en-US" sz="2800" b="1" dirty="0"/>
                  <a:t>计算每列的熵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sz="2800" b="1" dirty="0"/>
                  <a:t>：</a:t>
                </a:r>
                <a:endParaRPr lang="en-US" altLang="zh-CN" sz="2800" b="1" dirty="0"/>
              </a:p>
              <a:p>
                <a:r>
                  <a:rPr lang="en-US" altLang="zh-CN" sz="2800" b="1" dirty="0"/>
                  <a:t>         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(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𝟗𝟓𝟗𝟒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,  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𝟗𝟕𝟒𝟗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,  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𝟗𝟖𝟗𝟓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altLang="zh-CN" sz="2800" b="1" dirty="0"/>
                  <a:t>    </a:t>
                </a:r>
                <a:endParaRPr lang="zh-CN" altLang="en-US" sz="2800" b="1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1647C6D-12E0-D1D2-84F7-AC72742CF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019744"/>
                <a:ext cx="7488832" cy="994888"/>
              </a:xfrm>
              <a:prstGeom prst="rect">
                <a:avLst/>
              </a:prstGeom>
              <a:blipFill>
                <a:blip r:embed="rId8"/>
                <a:stretch>
                  <a:fillRect l="-489" t="-79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5100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/>
          <p:nvPr/>
        </p:nvSpPr>
        <p:spPr>
          <a:xfrm>
            <a:off x="683568" y="1476000"/>
            <a:ext cx="3816424" cy="52322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ct val="30000"/>
              </a:spcBef>
            </a:pPr>
            <a:r>
              <a:rPr lang="zh-CN" altLang="en-US" sz="2800" b="1" dirty="0">
                <a:ea typeface="楷体_GB2312" pitchFamily="49" charset="-122"/>
              </a:rPr>
              <a:t>层次分析法  </a:t>
            </a:r>
            <a:r>
              <a:rPr lang="en-US" altLang="zh-CN" sz="2800" b="1" dirty="0">
                <a:ea typeface="楷体_GB2312" pitchFamily="49" charset="-122"/>
              </a:rPr>
              <a:t>AHP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653" name="Text Box 5"/>
          <p:cNvSpPr txBox="1"/>
          <p:nvPr/>
        </p:nvSpPr>
        <p:spPr>
          <a:xfrm>
            <a:off x="683568" y="2492326"/>
            <a:ext cx="685800" cy="106680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背景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5A1CA198-0B38-A88A-2095-51AA6ED26FB2}"/>
              </a:ext>
            </a:extLst>
          </p:cNvPr>
          <p:cNvSpPr txBox="1"/>
          <p:nvPr/>
        </p:nvSpPr>
        <p:spPr>
          <a:xfrm>
            <a:off x="1667582" y="2334569"/>
            <a:ext cx="6491288" cy="1138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Saaty</a:t>
            </a:r>
            <a:r>
              <a:rPr lang="zh-CN" altLang="en-US" sz="2800" b="1" dirty="0">
                <a:latin typeface="Times New Roman" panose="02020603050405020304" pitchFamily="18" charset="0"/>
              </a:rPr>
              <a:t>于</a:t>
            </a:r>
            <a:r>
              <a:rPr lang="en-US" altLang="zh-CN" sz="2800" b="1" dirty="0">
                <a:latin typeface="Times New Roman" panose="02020603050405020304" pitchFamily="18" charset="0"/>
              </a:rPr>
              <a:t>20</a:t>
            </a:r>
            <a:r>
              <a:rPr lang="zh-CN" altLang="en-US" sz="2800" b="1" dirty="0">
                <a:latin typeface="Times New Roman" panose="02020603050405020304" pitchFamily="18" charset="0"/>
              </a:rPr>
              <a:t>世纪</a:t>
            </a:r>
            <a:r>
              <a:rPr lang="en-US" altLang="zh-CN" sz="2800" b="1" dirty="0">
                <a:latin typeface="Times New Roman" panose="02020603050405020304" pitchFamily="18" charset="0"/>
              </a:rPr>
              <a:t>70</a:t>
            </a:r>
            <a:r>
              <a:rPr lang="zh-CN" altLang="en-US" sz="2800" b="1" dirty="0">
                <a:latin typeface="Times New Roman" panose="02020603050405020304" pitchFamily="18" charset="0"/>
              </a:rPr>
              <a:t>年代提出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层次分析法</a:t>
            </a: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AHP </a:t>
            </a:r>
            <a:r>
              <a:rPr lang="en-US" altLang="zh-CN" sz="2800" b="1" dirty="0">
                <a:latin typeface="Times New Roman" panose="02020603050405020304" pitchFamily="18" charset="0"/>
              </a:rPr>
              <a:t>(Analytic Hierarchy Process)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A1562D06-E14D-3A39-0859-F2E9E4BAECB1}"/>
              </a:ext>
            </a:extLst>
          </p:cNvPr>
          <p:cNvSpPr txBox="1"/>
          <p:nvPr/>
        </p:nvSpPr>
        <p:spPr>
          <a:xfrm>
            <a:off x="1667582" y="3559126"/>
            <a:ext cx="6096000" cy="1138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</a:rPr>
              <a:t> AHP——</a:t>
            </a:r>
            <a:r>
              <a:rPr lang="zh-CN" altLang="en-US" sz="2800" b="1" dirty="0">
                <a:latin typeface="Times New Roman" panose="02020603050405020304" pitchFamily="18" charset="0"/>
              </a:rPr>
              <a:t>一种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定性与定量相结合的、</a:t>
            </a: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系统化、层次化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的分析方法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5EC7C468-B12B-3074-48A3-A09099FC251A}"/>
              </a:ext>
            </a:extLst>
          </p:cNvPr>
          <p:cNvSpPr txBox="1"/>
          <p:nvPr/>
        </p:nvSpPr>
        <p:spPr>
          <a:xfrm>
            <a:off x="1835696" y="495393"/>
            <a:ext cx="5181600" cy="64633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30000"/>
              </a:spcBef>
            </a:pPr>
            <a:r>
              <a:rPr lang="en-US" altLang="zh-CN" sz="3600" b="1" dirty="0">
                <a:solidFill>
                  <a:srgbClr val="0000FF"/>
                </a:solidFill>
                <a:ea typeface="楷体_GB2312" pitchFamily="49" charset="-122"/>
              </a:rPr>
              <a:t>7.2  </a:t>
            </a:r>
            <a:r>
              <a:rPr lang="zh-CN" altLang="en-US" sz="3600" b="1" dirty="0">
                <a:solidFill>
                  <a:srgbClr val="0000FF"/>
                </a:solidFill>
                <a:ea typeface="楷体_GB2312" pitchFamily="49" charset="-122"/>
              </a:rPr>
              <a:t>职员晋升</a:t>
            </a:r>
            <a:endParaRPr lang="zh-CN" altLang="en-US" sz="36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538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/>
          <p:nvPr/>
        </p:nvSpPr>
        <p:spPr>
          <a:xfrm>
            <a:off x="4114800" y="2390775"/>
            <a:ext cx="2152650" cy="533400"/>
          </a:xfrm>
          <a:prstGeom prst="rect">
            <a:avLst/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r>
              <a:rPr lang="en-US" altLang="zh-CN" b="1" i="1" dirty="0">
                <a:latin typeface="Times New Roman" panose="02020603050405020304" pitchFamily="18" charset="0"/>
              </a:rPr>
              <a:t>O 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zh-CN" altLang="en-US" b="1" dirty="0"/>
              <a:t>职员</a:t>
            </a:r>
            <a:r>
              <a:rPr lang="zh-CN" altLang="en-US" b="1" dirty="0">
                <a:latin typeface="Times New Roman" panose="02020603050405020304" pitchFamily="18" charset="0"/>
              </a:rPr>
              <a:t>晋升</a:t>
            </a:r>
            <a:r>
              <a:rPr lang="en-US" altLang="zh-CN" b="1" i="1" dirty="0">
                <a:latin typeface="Times New Roman" panose="02020603050405020304" pitchFamily="18" charset="0"/>
              </a:rPr>
              <a:t>Y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</a:p>
        </p:txBody>
      </p:sp>
      <p:grpSp>
        <p:nvGrpSpPr>
          <p:cNvPr id="6147" name="Group 4"/>
          <p:cNvGrpSpPr/>
          <p:nvPr/>
        </p:nvGrpSpPr>
        <p:grpSpPr>
          <a:xfrm>
            <a:off x="3200400" y="5445125"/>
            <a:ext cx="4287838" cy="879475"/>
            <a:chOff x="2016" y="3264"/>
            <a:chExt cx="2592" cy="554"/>
          </a:xfrm>
        </p:grpSpPr>
        <p:sp>
          <p:nvSpPr>
            <p:cNvPr id="6183" name="Rectangle 5"/>
            <p:cNvSpPr/>
            <p:nvPr/>
          </p:nvSpPr>
          <p:spPr>
            <a:xfrm>
              <a:off x="2981" y="3290"/>
              <a:ext cx="576" cy="528"/>
            </a:xfrm>
            <a:prstGeom prst="rect">
              <a:avLst/>
            </a:prstGeom>
            <a:solidFill>
              <a:srgbClr val="00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 dirty="0">
                  <a:latin typeface="Times New Roman" panose="02020603050405020304" pitchFamily="18" charset="0"/>
                </a:rPr>
                <a:t>P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2</a:t>
              </a: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李四</a:t>
              </a:r>
            </a:p>
          </p:txBody>
        </p:sp>
        <p:sp>
          <p:nvSpPr>
            <p:cNvPr id="6184" name="Rectangle 6"/>
            <p:cNvSpPr/>
            <p:nvPr/>
          </p:nvSpPr>
          <p:spPr>
            <a:xfrm>
              <a:off x="2016" y="3264"/>
              <a:ext cx="624" cy="528"/>
            </a:xfrm>
            <a:prstGeom prst="rect">
              <a:avLst/>
            </a:prstGeom>
            <a:solidFill>
              <a:srgbClr val="00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 dirty="0">
                  <a:latin typeface="Times New Roman" panose="02020603050405020304" pitchFamily="18" charset="0"/>
                </a:rPr>
                <a:t>P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1</a:t>
              </a: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张三</a:t>
              </a:r>
            </a:p>
          </p:txBody>
        </p:sp>
        <p:sp>
          <p:nvSpPr>
            <p:cNvPr id="6185" name="Rectangle 7"/>
            <p:cNvSpPr/>
            <p:nvPr/>
          </p:nvSpPr>
          <p:spPr>
            <a:xfrm>
              <a:off x="3888" y="3264"/>
              <a:ext cx="720" cy="528"/>
            </a:xfrm>
            <a:prstGeom prst="rect">
              <a:avLst/>
            </a:prstGeom>
            <a:solidFill>
              <a:srgbClr val="00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 dirty="0">
                  <a:latin typeface="Times New Roman" panose="02020603050405020304" pitchFamily="18" charset="0"/>
                </a:rPr>
                <a:t>P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王五</a:t>
              </a:r>
            </a:p>
          </p:txBody>
        </p:sp>
      </p:grpSp>
      <p:sp>
        <p:nvSpPr>
          <p:cNvPr id="98312" name="Text Box 8"/>
          <p:cNvSpPr txBox="1"/>
          <p:nvPr/>
        </p:nvSpPr>
        <p:spPr>
          <a:xfrm>
            <a:off x="493712" y="2233194"/>
            <a:ext cx="2198687" cy="461665"/>
          </a:xfrm>
          <a:prstGeom prst="rect">
            <a:avLst/>
          </a:prstGeom>
          <a:solidFill>
            <a:srgbClr val="33CCFF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   层次结构图：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150" name="Group 10"/>
          <p:cNvGrpSpPr/>
          <p:nvPr/>
        </p:nvGrpSpPr>
        <p:grpSpPr>
          <a:xfrm>
            <a:off x="2135188" y="2925763"/>
            <a:ext cx="6235700" cy="1727200"/>
            <a:chOff x="1392" y="1680"/>
            <a:chExt cx="3840" cy="1104"/>
          </a:xfrm>
        </p:grpSpPr>
        <p:sp>
          <p:nvSpPr>
            <p:cNvPr id="6173" name="Rectangle 11"/>
            <p:cNvSpPr/>
            <p:nvPr/>
          </p:nvSpPr>
          <p:spPr>
            <a:xfrm>
              <a:off x="3024" y="2208"/>
              <a:ext cx="528" cy="52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能力</a:t>
              </a:r>
            </a:p>
          </p:txBody>
        </p:sp>
        <p:sp>
          <p:nvSpPr>
            <p:cNvPr id="6174" name="Rectangle 12"/>
            <p:cNvSpPr/>
            <p:nvPr/>
          </p:nvSpPr>
          <p:spPr>
            <a:xfrm>
              <a:off x="1392" y="2208"/>
              <a:ext cx="528" cy="480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1</a:t>
              </a:r>
            </a:p>
            <a:p>
              <a:pPr algn="ctr"/>
              <a:r>
                <a:rPr lang="zh-CN" altLang="en-US" b="1" dirty="0"/>
                <a:t>工龄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75" name="Rectangle 13"/>
            <p:cNvSpPr/>
            <p:nvPr/>
          </p:nvSpPr>
          <p:spPr>
            <a:xfrm>
              <a:off x="2160" y="2208"/>
              <a:ext cx="576" cy="52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2</a:t>
              </a: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教育</a:t>
              </a:r>
            </a:p>
          </p:txBody>
        </p:sp>
        <p:sp>
          <p:nvSpPr>
            <p:cNvPr id="6176" name="Rectangle 14"/>
            <p:cNvSpPr/>
            <p:nvPr/>
          </p:nvSpPr>
          <p:spPr>
            <a:xfrm>
              <a:off x="3840" y="2208"/>
              <a:ext cx="528" cy="576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贡献</a:t>
              </a:r>
            </a:p>
          </p:txBody>
        </p:sp>
        <p:sp>
          <p:nvSpPr>
            <p:cNvPr id="6177" name="Rectangle 15"/>
            <p:cNvSpPr/>
            <p:nvPr/>
          </p:nvSpPr>
          <p:spPr>
            <a:xfrm>
              <a:off x="4656" y="2208"/>
              <a:ext cx="576" cy="52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品德</a:t>
              </a:r>
            </a:p>
          </p:txBody>
        </p:sp>
        <p:sp>
          <p:nvSpPr>
            <p:cNvPr id="6178" name="Line 16"/>
            <p:cNvSpPr/>
            <p:nvPr/>
          </p:nvSpPr>
          <p:spPr>
            <a:xfrm>
              <a:off x="3264" y="1680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79" name="Line 17"/>
            <p:cNvSpPr/>
            <p:nvPr/>
          </p:nvSpPr>
          <p:spPr>
            <a:xfrm flipH="1">
              <a:off x="2496" y="1680"/>
              <a:ext cx="768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0" name="Line 18"/>
            <p:cNvSpPr/>
            <p:nvPr/>
          </p:nvSpPr>
          <p:spPr>
            <a:xfrm flipH="1">
              <a:off x="1632" y="1680"/>
              <a:ext cx="163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1" name="Line 19"/>
            <p:cNvSpPr/>
            <p:nvPr/>
          </p:nvSpPr>
          <p:spPr>
            <a:xfrm>
              <a:off x="3312" y="1680"/>
              <a:ext cx="768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2" name="Line 20"/>
            <p:cNvSpPr/>
            <p:nvPr/>
          </p:nvSpPr>
          <p:spPr>
            <a:xfrm>
              <a:off x="3264" y="1680"/>
              <a:ext cx="163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151" name="Group 21"/>
          <p:cNvGrpSpPr/>
          <p:nvPr/>
        </p:nvGrpSpPr>
        <p:grpSpPr>
          <a:xfrm>
            <a:off x="2667000" y="4530725"/>
            <a:ext cx="4073525" cy="914400"/>
            <a:chOff x="1680" y="2688"/>
            <a:chExt cx="2544" cy="576"/>
          </a:xfrm>
        </p:grpSpPr>
        <p:sp>
          <p:nvSpPr>
            <p:cNvPr id="6170" name="Line 22"/>
            <p:cNvSpPr/>
            <p:nvPr/>
          </p:nvSpPr>
          <p:spPr>
            <a:xfrm>
              <a:off x="1680" y="2688"/>
              <a:ext cx="624" cy="57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71" name="Line 23"/>
            <p:cNvSpPr/>
            <p:nvPr/>
          </p:nvSpPr>
          <p:spPr>
            <a:xfrm>
              <a:off x="1680" y="2688"/>
              <a:ext cx="1584" cy="57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72" name="Line 24"/>
            <p:cNvSpPr/>
            <p:nvPr/>
          </p:nvSpPr>
          <p:spPr>
            <a:xfrm>
              <a:off x="1680" y="2688"/>
              <a:ext cx="2544" cy="57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152" name="Text Box 26"/>
          <p:cNvSpPr txBox="1"/>
          <p:nvPr/>
        </p:nvSpPr>
        <p:spPr>
          <a:xfrm>
            <a:off x="520085" y="691899"/>
            <a:ext cx="2767012" cy="519113"/>
          </a:xfrm>
          <a:prstGeom prst="rect">
            <a:avLst/>
          </a:prstGeom>
          <a:solidFill>
            <a:srgbClr val="00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：职员晋升</a:t>
            </a:r>
          </a:p>
        </p:txBody>
      </p:sp>
      <p:sp>
        <p:nvSpPr>
          <p:cNvPr id="6153" name="Text Box 27"/>
          <p:cNvSpPr txBox="1"/>
          <p:nvPr/>
        </p:nvSpPr>
        <p:spPr>
          <a:xfrm>
            <a:off x="3635375" y="549275"/>
            <a:ext cx="5156200" cy="116955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+mn-ea"/>
                <a:ea typeface="+mn-ea"/>
              </a:rPr>
              <a:t>3</a:t>
            </a:r>
            <a:r>
              <a:rPr lang="zh-CN" altLang="en-US" sz="2800" b="1" dirty="0">
                <a:latin typeface="+mn-ea"/>
                <a:ea typeface="+mn-ea"/>
              </a:rPr>
              <a:t>个职员、依据 五个指标</a:t>
            </a:r>
            <a:endParaRPr lang="en-US" altLang="zh-CN" sz="2800" b="1" dirty="0">
              <a:latin typeface="+mn-ea"/>
              <a:ea typeface="+mn-ea"/>
            </a:endParaRP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+mn-ea"/>
                <a:ea typeface="+mn-ea"/>
              </a:rPr>
              <a:t>如何安排晋升（排序）？</a:t>
            </a:r>
            <a:endParaRPr lang="en-US" altLang="zh-CN" sz="2800" b="1" dirty="0">
              <a:latin typeface="+mn-ea"/>
              <a:ea typeface="+mn-ea"/>
            </a:endParaRPr>
          </a:p>
        </p:txBody>
      </p:sp>
      <p:grpSp>
        <p:nvGrpSpPr>
          <p:cNvPr id="6154" name="Group 28"/>
          <p:cNvGrpSpPr/>
          <p:nvPr/>
        </p:nvGrpSpPr>
        <p:grpSpPr>
          <a:xfrm>
            <a:off x="3657600" y="4581525"/>
            <a:ext cx="3074988" cy="838200"/>
            <a:chOff x="2304" y="2736"/>
            <a:chExt cx="1920" cy="528"/>
          </a:xfrm>
        </p:grpSpPr>
        <p:sp>
          <p:nvSpPr>
            <p:cNvPr id="6167" name="Line 29"/>
            <p:cNvSpPr/>
            <p:nvPr/>
          </p:nvSpPr>
          <p:spPr>
            <a:xfrm flipH="1">
              <a:off x="2304" y="2736"/>
              <a:ext cx="144" cy="528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8" name="Line 30"/>
            <p:cNvSpPr/>
            <p:nvPr/>
          </p:nvSpPr>
          <p:spPr>
            <a:xfrm>
              <a:off x="2448" y="2736"/>
              <a:ext cx="816" cy="528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9" name="Line 31"/>
            <p:cNvSpPr/>
            <p:nvPr/>
          </p:nvSpPr>
          <p:spPr>
            <a:xfrm>
              <a:off x="2448" y="2736"/>
              <a:ext cx="1776" cy="528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155" name="Group 32"/>
          <p:cNvGrpSpPr/>
          <p:nvPr/>
        </p:nvGrpSpPr>
        <p:grpSpPr>
          <a:xfrm>
            <a:off x="3657600" y="4581525"/>
            <a:ext cx="4227513" cy="838200"/>
            <a:chOff x="2304" y="2736"/>
            <a:chExt cx="2640" cy="528"/>
          </a:xfrm>
        </p:grpSpPr>
        <p:sp>
          <p:nvSpPr>
            <p:cNvPr id="6158" name="Line 33"/>
            <p:cNvSpPr/>
            <p:nvPr/>
          </p:nvSpPr>
          <p:spPr>
            <a:xfrm>
              <a:off x="3264" y="2736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9" name="Line 34"/>
            <p:cNvSpPr/>
            <p:nvPr/>
          </p:nvSpPr>
          <p:spPr>
            <a:xfrm flipV="1">
              <a:off x="2304" y="2736"/>
              <a:ext cx="91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0" name="Line 35"/>
            <p:cNvSpPr/>
            <p:nvPr/>
          </p:nvSpPr>
          <p:spPr>
            <a:xfrm flipV="1">
              <a:off x="2352" y="2736"/>
              <a:ext cx="2544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1" name="Line 36"/>
            <p:cNvSpPr/>
            <p:nvPr/>
          </p:nvSpPr>
          <p:spPr>
            <a:xfrm>
              <a:off x="3264" y="2736"/>
              <a:ext cx="96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2" name="Line 37"/>
            <p:cNvSpPr/>
            <p:nvPr/>
          </p:nvSpPr>
          <p:spPr>
            <a:xfrm flipV="1">
              <a:off x="3264" y="2736"/>
              <a:ext cx="163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3" name="Line 38"/>
            <p:cNvSpPr/>
            <p:nvPr/>
          </p:nvSpPr>
          <p:spPr>
            <a:xfrm flipH="1">
              <a:off x="4224" y="2736"/>
              <a:ext cx="72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4" name="Line 39"/>
            <p:cNvSpPr/>
            <p:nvPr/>
          </p:nvSpPr>
          <p:spPr>
            <a:xfrm flipH="1">
              <a:off x="2304" y="2784"/>
              <a:ext cx="1776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5" name="Line 40"/>
            <p:cNvSpPr/>
            <p:nvPr/>
          </p:nvSpPr>
          <p:spPr>
            <a:xfrm flipH="1">
              <a:off x="3264" y="2784"/>
              <a:ext cx="816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6" name="Line 41"/>
            <p:cNvSpPr/>
            <p:nvPr/>
          </p:nvSpPr>
          <p:spPr>
            <a:xfrm>
              <a:off x="4080" y="2784"/>
              <a:ext cx="144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  <p:extLst>
      <p:ext uri="{BB962C8B-B14F-4D97-AF65-F5344CB8AC3E}">
        <p14:creationId xmlns:p14="http://schemas.microsoft.com/office/powerpoint/2010/main" val="280375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/>
          <p:nvPr/>
        </p:nvSpPr>
        <p:spPr>
          <a:xfrm>
            <a:off x="4114800" y="2390775"/>
            <a:ext cx="2152650" cy="533400"/>
          </a:xfrm>
          <a:prstGeom prst="rect">
            <a:avLst/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r>
              <a:rPr lang="en-US" altLang="zh-CN" b="1" i="1">
                <a:latin typeface="Times New Roman" panose="02020603050405020304" pitchFamily="18" charset="0"/>
              </a:rPr>
              <a:t>       O  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</a:rPr>
              <a:t>排序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</a:p>
        </p:txBody>
      </p:sp>
      <p:grpSp>
        <p:nvGrpSpPr>
          <p:cNvPr id="8195" name="Group 4"/>
          <p:cNvGrpSpPr/>
          <p:nvPr/>
        </p:nvGrpSpPr>
        <p:grpSpPr>
          <a:xfrm>
            <a:off x="3200400" y="5445125"/>
            <a:ext cx="4287838" cy="838200"/>
            <a:chOff x="2016" y="3264"/>
            <a:chExt cx="2592" cy="528"/>
          </a:xfrm>
        </p:grpSpPr>
        <p:sp>
          <p:nvSpPr>
            <p:cNvPr id="8231" name="Rectangle 5"/>
            <p:cNvSpPr/>
            <p:nvPr/>
          </p:nvSpPr>
          <p:spPr>
            <a:xfrm>
              <a:off x="2976" y="3264"/>
              <a:ext cx="576" cy="528"/>
            </a:xfrm>
            <a:prstGeom prst="rect">
              <a:avLst/>
            </a:prstGeom>
            <a:solidFill>
              <a:srgbClr val="00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P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2</a:t>
              </a: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李四</a:t>
              </a:r>
            </a:p>
          </p:txBody>
        </p:sp>
        <p:sp>
          <p:nvSpPr>
            <p:cNvPr id="8232" name="Rectangle 6"/>
            <p:cNvSpPr/>
            <p:nvPr/>
          </p:nvSpPr>
          <p:spPr>
            <a:xfrm>
              <a:off x="2016" y="3264"/>
              <a:ext cx="624" cy="528"/>
            </a:xfrm>
            <a:prstGeom prst="rect">
              <a:avLst/>
            </a:prstGeom>
            <a:solidFill>
              <a:srgbClr val="00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P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1</a:t>
              </a: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张三</a:t>
              </a:r>
            </a:p>
          </p:txBody>
        </p:sp>
        <p:sp>
          <p:nvSpPr>
            <p:cNvPr id="8233" name="Rectangle 7"/>
            <p:cNvSpPr/>
            <p:nvPr/>
          </p:nvSpPr>
          <p:spPr>
            <a:xfrm>
              <a:off x="3888" y="3264"/>
              <a:ext cx="720" cy="528"/>
            </a:xfrm>
            <a:prstGeom prst="rect">
              <a:avLst/>
            </a:prstGeom>
            <a:solidFill>
              <a:srgbClr val="00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P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3</a:t>
              </a:r>
              <a:endParaRPr lang="en-US" altLang="zh-CN" b="1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王五</a:t>
              </a:r>
            </a:p>
          </p:txBody>
        </p:sp>
      </p:grpSp>
      <p:sp>
        <p:nvSpPr>
          <p:cNvPr id="98312" name="Text Box 8"/>
          <p:cNvSpPr txBox="1"/>
          <p:nvPr/>
        </p:nvSpPr>
        <p:spPr>
          <a:xfrm>
            <a:off x="468313" y="1257300"/>
            <a:ext cx="2198687" cy="830263"/>
          </a:xfrm>
          <a:prstGeom prst="rect">
            <a:avLst/>
          </a:prstGeom>
          <a:solidFill>
            <a:srgbClr val="33CCFF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先设定每门课成绩的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权重</a:t>
            </a:r>
          </a:p>
        </p:txBody>
      </p:sp>
      <p:sp>
        <p:nvSpPr>
          <p:cNvPr id="98313" name="Text Box 9"/>
          <p:cNvSpPr txBox="1"/>
          <p:nvPr/>
        </p:nvSpPr>
        <p:spPr>
          <a:xfrm>
            <a:off x="541338" y="5430838"/>
            <a:ext cx="2232025" cy="830997"/>
          </a:xfrm>
          <a:prstGeom prst="rect">
            <a:avLst/>
          </a:prstGeom>
          <a:solidFill>
            <a:srgbClr val="33CCFF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再计算每个人的加权成绩。</a:t>
            </a:r>
          </a:p>
        </p:txBody>
      </p:sp>
      <p:grpSp>
        <p:nvGrpSpPr>
          <p:cNvPr id="8198" name="Group 10"/>
          <p:cNvGrpSpPr/>
          <p:nvPr/>
        </p:nvGrpSpPr>
        <p:grpSpPr>
          <a:xfrm>
            <a:off x="2135188" y="2925763"/>
            <a:ext cx="6235700" cy="1727200"/>
            <a:chOff x="1392" y="1680"/>
            <a:chExt cx="3840" cy="1104"/>
          </a:xfrm>
        </p:grpSpPr>
        <p:sp>
          <p:nvSpPr>
            <p:cNvPr id="8221" name="Rectangle 11"/>
            <p:cNvSpPr/>
            <p:nvPr/>
          </p:nvSpPr>
          <p:spPr>
            <a:xfrm>
              <a:off x="3024" y="2208"/>
              <a:ext cx="528" cy="52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3</a:t>
              </a:r>
              <a:endParaRPr lang="en-US" altLang="zh-CN" b="1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语文</a:t>
              </a:r>
            </a:p>
          </p:txBody>
        </p:sp>
        <p:sp>
          <p:nvSpPr>
            <p:cNvPr id="8222" name="Rectangle 12"/>
            <p:cNvSpPr/>
            <p:nvPr/>
          </p:nvSpPr>
          <p:spPr>
            <a:xfrm>
              <a:off x="1392" y="2208"/>
              <a:ext cx="528" cy="480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1</a:t>
              </a: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数学</a:t>
              </a:r>
            </a:p>
          </p:txBody>
        </p:sp>
        <p:sp>
          <p:nvSpPr>
            <p:cNvPr id="8223" name="Rectangle 13"/>
            <p:cNvSpPr/>
            <p:nvPr/>
          </p:nvSpPr>
          <p:spPr>
            <a:xfrm>
              <a:off x="2160" y="2208"/>
              <a:ext cx="576" cy="52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2</a:t>
              </a: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物理</a:t>
              </a:r>
            </a:p>
          </p:txBody>
        </p:sp>
        <p:sp>
          <p:nvSpPr>
            <p:cNvPr id="8224" name="Rectangle 14"/>
            <p:cNvSpPr/>
            <p:nvPr/>
          </p:nvSpPr>
          <p:spPr>
            <a:xfrm>
              <a:off x="3840" y="2208"/>
              <a:ext cx="528" cy="576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4</a:t>
              </a:r>
              <a:endParaRPr lang="en-US" altLang="zh-CN" b="1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政治</a:t>
              </a:r>
            </a:p>
          </p:txBody>
        </p:sp>
        <p:sp>
          <p:nvSpPr>
            <p:cNvPr id="8225" name="Rectangle 15"/>
            <p:cNvSpPr/>
            <p:nvPr/>
          </p:nvSpPr>
          <p:spPr>
            <a:xfrm>
              <a:off x="4656" y="2208"/>
              <a:ext cx="576" cy="52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5</a:t>
              </a:r>
              <a:endParaRPr lang="en-US" altLang="zh-CN" b="1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英语</a:t>
              </a:r>
            </a:p>
          </p:txBody>
        </p:sp>
        <p:sp>
          <p:nvSpPr>
            <p:cNvPr id="8226" name="Line 16"/>
            <p:cNvSpPr/>
            <p:nvPr/>
          </p:nvSpPr>
          <p:spPr>
            <a:xfrm>
              <a:off x="3264" y="1680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27" name="Line 17"/>
            <p:cNvSpPr/>
            <p:nvPr/>
          </p:nvSpPr>
          <p:spPr>
            <a:xfrm flipH="1">
              <a:off x="2496" y="1680"/>
              <a:ext cx="768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28" name="Line 18"/>
            <p:cNvSpPr/>
            <p:nvPr/>
          </p:nvSpPr>
          <p:spPr>
            <a:xfrm flipH="1">
              <a:off x="1632" y="1680"/>
              <a:ext cx="163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29" name="Line 19"/>
            <p:cNvSpPr/>
            <p:nvPr/>
          </p:nvSpPr>
          <p:spPr>
            <a:xfrm>
              <a:off x="3312" y="1680"/>
              <a:ext cx="768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30" name="Line 20"/>
            <p:cNvSpPr/>
            <p:nvPr/>
          </p:nvSpPr>
          <p:spPr>
            <a:xfrm>
              <a:off x="3264" y="1680"/>
              <a:ext cx="163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199" name="Group 21"/>
          <p:cNvGrpSpPr/>
          <p:nvPr/>
        </p:nvGrpSpPr>
        <p:grpSpPr>
          <a:xfrm>
            <a:off x="2667000" y="4530725"/>
            <a:ext cx="4073525" cy="914400"/>
            <a:chOff x="1680" y="2688"/>
            <a:chExt cx="2544" cy="576"/>
          </a:xfrm>
        </p:grpSpPr>
        <p:sp>
          <p:nvSpPr>
            <p:cNvPr id="8218" name="Line 22"/>
            <p:cNvSpPr/>
            <p:nvPr/>
          </p:nvSpPr>
          <p:spPr>
            <a:xfrm>
              <a:off x="1680" y="2688"/>
              <a:ext cx="624" cy="57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9" name="Line 23"/>
            <p:cNvSpPr/>
            <p:nvPr/>
          </p:nvSpPr>
          <p:spPr>
            <a:xfrm>
              <a:off x="1680" y="2688"/>
              <a:ext cx="1584" cy="57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20" name="Line 24"/>
            <p:cNvSpPr/>
            <p:nvPr/>
          </p:nvSpPr>
          <p:spPr>
            <a:xfrm>
              <a:off x="1680" y="2688"/>
              <a:ext cx="2544" cy="57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200" name="Text Box 26"/>
          <p:cNvSpPr txBox="1"/>
          <p:nvPr/>
        </p:nvSpPr>
        <p:spPr>
          <a:xfrm>
            <a:off x="468313" y="549275"/>
            <a:ext cx="2767012" cy="523875"/>
          </a:xfrm>
          <a:prstGeom prst="rect">
            <a:avLst/>
          </a:prstGeom>
          <a:solidFill>
            <a:srgbClr val="00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2 .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录取问题</a:t>
            </a:r>
          </a:p>
        </p:txBody>
      </p:sp>
      <p:sp>
        <p:nvSpPr>
          <p:cNvPr id="8201" name="Text Box 27"/>
          <p:cNvSpPr txBox="1"/>
          <p:nvPr/>
        </p:nvSpPr>
        <p:spPr>
          <a:xfrm>
            <a:off x="3635375" y="549275"/>
            <a:ext cx="5156200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如何在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个候选人中按照数学、英语、政治等成绩排序？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8202" name="Group 28"/>
          <p:cNvGrpSpPr/>
          <p:nvPr/>
        </p:nvGrpSpPr>
        <p:grpSpPr>
          <a:xfrm>
            <a:off x="3657600" y="4581525"/>
            <a:ext cx="3074988" cy="838200"/>
            <a:chOff x="2304" y="2736"/>
            <a:chExt cx="1920" cy="528"/>
          </a:xfrm>
        </p:grpSpPr>
        <p:sp>
          <p:nvSpPr>
            <p:cNvPr id="8215" name="Line 29"/>
            <p:cNvSpPr/>
            <p:nvPr/>
          </p:nvSpPr>
          <p:spPr>
            <a:xfrm flipH="1">
              <a:off x="2304" y="2736"/>
              <a:ext cx="144" cy="528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6" name="Line 30"/>
            <p:cNvSpPr/>
            <p:nvPr/>
          </p:nvSpPr>
          <p:spPr>
            <a:xfrm>
              <a:off x="2448" y="2736"/>
              <a:ext cx="816" cy="528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7" name="Line 31"/>
            <p:cNvSpPr/>
            <p:nvPr/>
          </p:nvSpPr>
          <p:spPr>
            <a:xfrm>
              <a:off x="2448" y="2736"/>
              <a:ext cx="1776" cy="528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203" name="Group 32"/>
          <p:cNvGrpSpPr/>
          <p:nvPr/>
        </p:nvGrpSpPr>
        <p:grpSpPr>
          <a:xfrm>
            <a:off x="3657600" y="4581525"/>
            <a:ext cx="4227513" cy="838200"/>
            <a:chOff x="2304" y="2736"/>
            <a:chExt cx="2640" cy="528"/>
          </a:xfrm>
        </p:grpSpPr>
        <p:sp>
          <p:nvSpPr>
            <p:cNvPr id="8206" name="Line 33"/>
            <p:cNvSpPr/>
            <p:nvPr/>
          </p:nvSpPr>
          <p:spPr>
            <a:xfrm>
              <a:off x="3264" y="2736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7" name="Line 34"/>
            <p:cNvSpPr/>
            <p:nvPr/>
          </p:nvSpPr>
          <p:spPr>
            <a:xfrm flipV="1">
              <a:off x="2304" y="2736"/>
              <a:ext cx="91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8" name="Line 35"/>
            <p:cNvSpPr/>
            <p:nvPr/>
          </p:nvSpPr>
          <p:spPr>
            <a:xfrm flipV="1">
              <a:off x="2352" y="2736"/>
              <a:ext cx="2544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9" name="Line 36"/>
            <p:cNvSpPr/>
            <p:nvPr/>
          </p:nvSpPr>
          <p:spPr>
            <a:xfrm>
              <a:off x="3264" y="2736"/>
              <a:ext cx="96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0" name="Line 37"/>
            <p:cNvSpPr/>
            <p:nvPr/>
          </p:nvSpPr>
          <p:spPr>
            <a:xfrm flipV="1">
              <a:off x="3264" y="2736"/>
              <a:ext cx="163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1" name="Line 38"/>
            <p:cNvSpPr/>
            <p:nvPr/>
          </p:nvSpPr>
          <p:spPr>
            <a:xfrm flipH="1">
              <a:off x="4224" y="2736"/>
              <a:ext cx="72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2" name="Line 39"/>
            <p:cNvSpPr/>
            <p:nvPr/>
          </p:nvSpPr>
          <p:spPr>
            <a:xfrm flipH="1">
              <a:off x="2304" y="2784"/>
              <a:ext cx="1776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3" name="Line 40"/>
            <p:cNvSpPr/>
            <p:nvPr/>
          </p:nvSpPr>
          <p:spPr>
            <a:xfrm flipH="1">
              <a:off x="3264" y="2784"/>
              <a:ext cx="816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4" name="Line 41"/>
            <p:cNvSpPr/>
            <p:nvPr/>
          </p:nvSpPr>
          <p:spPr>
            <a:xfrm>
              <a:off x="4080" y="2784"/>
              <a:ext cx="144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98346" name="AutoShape 42"/>
          <p:cNvSpPr/>
          <p:nvPr/>
        </p:nvSpPr>
        <p:spPr>
          <a:xfrm>
            <a:off x="6674774" y="1664253"/>
            <a:ext cx="2266950" cy="863600"/>
          </a:xfrm>
          <a:prstGeom prst="cloudCallout">
            <a:avLst>
              <a:gd name="adj1" fmla="val -47829"/>
              <a:gd name="adj2" fmla="val 115440"/>
            </a:avLst>
          </a:prstGeom>
          <a:solidFill>
            <a:srgbClr val="33CC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如何做？</a:t>
            </a:r>
          </a:p>
        </p:txBody>
      </p:sp>
      <p:sp>
        <p:nvSpPr>
          <p:cNvPr id="41" name="Text Box 8"/>
          <p:cNvSpPr txBox="1"/>
          <p:nvPr/>
        </p:nvSpPr>
        <p:spPr>
          <a:xfrm>
            <a:off x="473075" y="2360613"/>
            <a:ext cx="2193925" cy="1200329"/>
          </a:xfrm>
          <a:prstGeom prst="rect">
            <a:avLst/>
          </a:prstGeom>
          <a:solidFill>
            <a:srgbClr val="33CCFF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确定每人对课的权重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（考试成绩）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8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98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2" grpId="0" animBg="1"/>
      <p:bldP spid="98313" grpId="0" animBg="1"/>
      <p:bldP spid="98346" grpId="0" animBg="1"/>
      <p:bldP spid="4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12" name="Text Box 8"/>
          <p:cNvSpPr txBox="1"/>
          <p:nvPr/>
        </p:nvSpPr>
        <p:spPr>
          <a:xfrm>
            <a:off x="468313" y="1052513"/>
            <a:ext cx="2198687" cy="831850"/>
          </a:xfrm>
          <a:prstGeom prst="rect">
            <a:avLst/>
          </a:prstGeom>
          <a:solidFill>
            <a:srgbClr val="33CCFF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先设定每门课成绩的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权重</a:t>
            </a:r>
          </a:p>
        </p:txBody>
      </p:sp>
      <p:sp>
        <p:nvSpPr>
          <p:cNvPr id="98313" name="Text Box 9"/>
          <p:cNvSpPr txBox="1"/>
          <p:nvPr/>
        </p:nvSpPr>
        <p:spPr>
          <a:xfrm>
            <a:off x="488950" y="3429000"/>
            <a:ext cx="2232025" cy="831850"/>
          </a:xfrm>
          <a:prstGeom prst="rect">
            <a:avLst/>
          </a:prstGeom>
          <a:solidFill>
            <a:srgbClr val="33CCFF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再计算每个人的总得分：</a:t>
            </a:r>
          </a:p>
        </p:txBody>
      </p:sp>
      <p:sp>
        <p:nvSpPr>
          <p:cNvPr id="9220" name="Text Box 26"/>
          <p:cNvSpPr txBox="1"/>
          <p:nvPr/>
        </p:nvSpPr>
        <p:spPr>
          <a:xfrm>
            <a:off x="468313" y="358775"/>
            <a:ext cx="2767012" cy="523875"/>
          </a:xfrm>
          <a:prstGeom prst="rect">
            <a:avLst/>
          </a:prstGeom>
          <a:solidFill>
            <a:srgbClr val="00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录取问题</a:t>
            </a:r>
          </a:p>
        </p:txBody>
      </p:sp>
      <p:sp>
        <p:nvSpPr>
          <p:cNvPr id="41" name="Text Box 8"/>
          <p:cNvSpPr txBox="1"/>
          <p:nvPr/>
        </p:nvSpPr>
        <p:spPr>
          <a:xfrm>
            <a:off x="473075" y="2289175"/>
            <a:ext cx="2193925" cy="831850"/>
          </a:xfrm>
          <a:prstGeom prst="rect">
            <a:avLst/>
          </a:prstGeom>
          <a:solidFill>
            <a:srgbClr val="33CCFF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再设定每人每门成绩的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得分     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059113" y="1195388"/>
          <a:ext cx="57562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6" r:id="rId3" imgW="2730500" imgH="241300" progId="Equation.DSMT4">
                  <p:embed/>
                </p:oleObj>
              </mc:Choice>
              <mc:Fallback>
                <p:oleObj r:id="rId3" imgW="2730500" imgH="24130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59113" y="1195388"/>
                        <a:ext cx="5756275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2987675" y="2079625"/>
          <a:ext cx="3351213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7" r:id="rId5" imgW="2171700" imgH="711200" progId="Equation.DSMT4">
                  <p:embed/>
                </p:oleObj>
              </mc:Choice>
              <mc:Fallback>
                <p:oleObj r:id="rId5" imgW="2171700" imgH="711200" progId="Equation.DSMT4">
                  <p:embed/>
                  <p:pic>
                    <p:nvPicPr>
                      <p:cNvPr id="43" name="对象 4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87675" y="2079625"/>
                        <a:ext cx="3351213" cy="1333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6372225" y="2136775"/>
          <a:ext cx="2479675" cy="1284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8" r:id="rId7" imgW="1688465" imgH="711200" progId="Equation.DSMT4">
                  <p:embed/>
                </p:oleObj>
              </mc:Choice>
              <mc:Fallback>
                <p:oleObj r:id="rId7" imgW="1688465" imgH="711200" progId="Equation.DSMT4">
                  <p:embed/>
                  <p:pic>
                    <p:nvPicPr>
                      <p:cNvPr id="44" name="对象 4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72225" y="2136775"/>
                        <a:ext cx="2479675" cy="1284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/>
        </p:nvGraphicFramePr>
        <p:xfrm>
          <a:off x="1116013" y="4508500"/>
          <a:ext cx="2606675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9" r:id="rId9" imgW="1358265" imgH="711200" progId="Equation.DSMT4">
                  <p:embed/>
                </p:oleObj>
              </mc:Choice>
              <mc:Fallback>
                <p:oleObj r:id="rId9" imgW="1358265" imgH="711200" progId="Equation.DSMT4">
                  <p:embed/>
                  <p:pic>
                    <p:nvPicPr>
                      <p:cNvPr id="45" name="对象 4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16013" y="4508500"/>
                        <a:ext cx="2606675" cy="1220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/>
        </p:nvGraphicFramePr>
        <p:xfrm>
          <a:off x="3851275" y="4035425"/>
          <a:ext cx="3132138" cy="206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0" r:id="rId11" imgW="2133600" imgH="1143000" progId="Equation.DSMT4">
                  <p:embed/>
                </p:oleObj>
              </mc:Choice>
              <mc:Fallback>
                <p:oleObj r:id="rId11" imgW="2133600" imgH="1143000" progId="Equation.DSMT4">
                  <p:embed/>
                  <p:pic>
                    <p:nvPicPr>
                      <p:cNvPr id="46" name="对象 4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51275" y="4035425"/>
                        <a:ext cx="3132138" cy="2063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227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8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8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2" grpId="0" animBg="1"/>
      <p:bldP spid="98313" grpId="0" animBg="1"/>
      <p:bldP spid="4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/>
          <p:nvPr/>
        </p:nvSpPr>
        <p:spPr>
          <a:xfrm>
            <a:off x="4824378" y="2022654"/>
            <a:ext cx="2152650" cy="533400"/>
          </a:xfrm>
          <a:prstGeom prst="rect">
            <a:avLst/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r>
              <a:rPr lang="en-US" altLang="zh-CN" b="1" i="1" dirty="0">
                <a:latin typeface="Times New Roman" panose="02020603050405020304" pitchFamily="18" charset="0"/>
              </a:rPr>
              <a:t>O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</a:rPr>
              <a:t>选择旅游地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</a:p>
        </p:txBody>
      </p:sp>
      <p:grpSp>
        <p:nvGrpSpPr>
          <p:cNvPr id="6147" name="Group 4"/>
          <p:cNvGrpSpPr/>
          <p:nvPr/>
        </p:nvGrpSpPr>
        <p:grpSpPr>
          <a:xfrm>
            <a:off x="4021522" y="5146186"/>
            <a:ext cx="4287838" cy="838200"/>
            <a:chOff x="2016" y="3264"/>
            <a:chExt cx="2592" cy="528"/>
          </a:xfrm>
        </p:grpSpPr>
        <p:sp>
          <p:nvSpPr>
            <p:cNvPr id="6183" name="Rectangle 5"/>
            <p:cNvSpPr/>
            <p:nvPr/>
          </p:nvSpPr>
          <p:spPr>
            <a:xfrm>
              <a:off x="2976" y="3264"/>
              <a:ext cx="576" cy="528"/>
            </a:xfrm>
            <a:prstGeom prst="rect">
              <a:avLst/>
            </a:prstGeom>
            <a:solidFill>
              <a:srgbClr val="00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P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2</a:t>
              </a: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黄山</a:t>
              </a:r>
            </a:p>
          </p:txBody>
        </p:sp>
        <p:sp>
          <p:nvSpPr>
            <p:cNvPr id="6184" name="Rectangle 6"/>
            <p:cNvSpPr/>
            <p:nvPr/>
          </p:nvSpPr>
          <p:spPr>
            <a:xfrm>
              <a:off x="2016" y="3264"/>
              <a:ext cx="624" cy="528"/>
            </a:xfrm>
            <a:prstGeom prst="rect">
              <a:avLst/>
            </a:prstGeom>
            <a:solidFill>
              <a:srgbClr val="00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P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1</a:t>
              </a: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桂林</a:t>
              </a:r>
            </a:p>
          </p:txBody>
        </p:sp>
        <p:sp>
          <p:nvSpPr>
            <p:cNvPr id="6185" name="Rectangle 7"/>
            <p:cNvSpPr/>
            <p:nvPr/>
          </p:nvSpPr>
          <p:spPr>
            <a:xfrm>
              <a:off x="3888" y="3264"/>
              <a:ext cx="720" cy="528"/>
            </a:xfrm>
            <a:prstGeom prst="rect">
              <a:avLst/>
            </a:prstGeom>
            <a:solidFill>
              <a:srgbClr val="00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P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3</a:t>
              </a:r>
              <a:endParaRPr lang="en-US" altLang="zh-CN" b="1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北戴河</a:t>
              </a:r>
            </a:p>
          </p:txBody>
        </p:sp>
      </p:grpSp>
      <p:sp>
        <p:nvSpPr>
          <p:cNvPr id="98312" name="Text Box 8"/>
          <p:cNvSpPr txBox="1"/>
          <p:nvPr/>
        </p:nvSpPr>
        <p:spPr>
          <a:xfrm>
            <a:off x="468312" y="1549214"/>
            <a:ext cx="2198687" cy="1200329"/>
          </a:xfrm>
          <a:prstGeom prst="rect">
            <a:avLst/>
          </a:prstGeom>
          <a:solidFill>
            <a:srgbClr val="33CCFF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先设定每条标准</a:t>
            </a:r>
            <a:r>
              <a:rPr lang="zh-CN" altLang="en-US" b="1" dirty="0"/>
              <a:t>对目标</a:t>
            </a:r>
            <a:r>
              <a:rPr lang="zh-CN" altLang="en-US" b="1" dirty="0">
                <a:latin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评估 权重</a:t>
            </a:r>
          </a:p>
        </p:txBody>
      </p:sp>
      <p:sp>
        <p:nvSpPr>
          <p:cNvPr id="98313" name="Text Box 9"/>
          <p:cNvSpPr txBox="1"/>
          <p:nvPr/>
        </p:nvSpPr>
        <p:spPr>
          <a:xfrm>
            <a:off x="434974" y="5049666"/>
            <a:ext cx="2232025" cy="1200329"/>
          </a:xfrm>
          <a:prstGeom prst="rect">
            <a:avLst/>
          </a:prstGeom>
          <a:solidFill>
            <a:srgbClr val="33CCFF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最后汇总计算每个方案对目标的总得分。</a:t>
            </a:r>
          </a:p>
        </p:txBody>
      </p:sp>
      <p:grpSp>
        <p:nvGrpSpPr>
          <p:cNvPr id="6150" name="Group 10"/>
          <p:cNvGrpSpPr/>
          <p:nvPr/>
        </p:nvGrpSpPr>
        <p:grpSpPr>
          <a:xfrm>
            <a:off x="2771800" y="2565400"/>
            <a:ext cx="6235700" cy="1727200"/>
            <a:chOff x="1392" y="1680"/>
            <a:chExt cx="3840" cy="1104"/>
          </a:xfrm>
        </p:grpSpPr>
        <p:sp>
          <p:nvSpPr>
            <p:cNvPr id="6173" name="Rectangle 11"/>
            <p:cNvSpPr/>
            <p:nvPr/>
          </p:nvSpPr>
          <p:spPr>
            <a:xfrm>
              <a:off x="3024" y="2208"/>
              <a:ext cx="528" cy="52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3</a:t>
              </a:r>
              <a:endParaRPr lang="en-US" altLang="zh-CN" b="1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居住</a:t>
              </a:r>
            </a:p>
          </p:txBody>
        </p:sp>
        <p:sp>
          <p:nvSpPr>
            <p:cNvPr id="6174" name="Rectangle 12"/>
            <p:cNvSpPr/>
            <p:nvPr/>
          </p:nvSpPr>
          <p:spPr>
            <a:xfrm>
              <a:off x="1392" y="2208"/>
              <a:ext cx="528" cy="480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1</a:t>
              </a: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景色</a:t>
              </a:r>
            </a:p>
          </p:txBody>
        </p:sp>
        <p:sp>
          <p:nvSpPr>
            <p:cNvPr id="6175" name="Rectangle 13"/>
            <p:cNvSpPr/>
            <p:nvPr/>
          </p:nvSpPr>
          <p:spPr>
            <a:xfrm>
              <a:off x="2160" y="2208"/>
              <a:ext cx="576" cy="52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2</a:t>
              </a: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费用</a:t>
              </a:r>
            </a:p>
          </p:txBody>
        </p:sp>
        <p:sp>
          <p:nvSpPr>
            <p:cNvPr id="6176" name="Rectangle 14"/>
            <p:cNvSpPr/>
            <p:nvPr/>
          </p:nvSpPr>
          <p:spPr>
            <a:xfrm>
              <a:off x="3840" y="2208"/>
              <a:ext cx="528" cy="576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4</a:t>
              </a:r>
              <a:endParaRPr lang="en-US" altLang="zh-CN" b="1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饮食</a:t>
              </a:r>
            </a:p>
          </p:txBody>
        </p:sp>
        <p:sp>
          <p:nvSpPr>
            <p:cNvPr id="6177" name="Rectangle 15"/>
            <p:cNvSpPr/>
            <p:nvPr/>
          </p:nvSpPr>
          <p:spPr>
            <a:xfrm>
              <a:off x="4656" y="2208"/>
              <a:ext cx="576" cy="52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旅途</a:t>
              </a:r>
            </a:p>
          </p:txBody>
        </p:sp>
        <p:sp>
          <p:nvSpPr>
            <p:cNvPr id="6178" name="Line 16"/>
            <p:cNvSpPr/>
            <p:nvPr/>
          </p:nvSpPr>
          <p:spPr>
            <a:xfrm>
              <a:off x="3264" y="1680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79" name="Line 17"/>
            <p:cNvSpPr/>
            <p:nvPr/>
          </p:nvSpPr>
          <p:spPr>
            <a:xfrm flipH="1">
              <a:off x="2496" y="1680"/>
              <a:ext cx="768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0" name="Line 18"/>
            <p:cNvSpPr/>
            <p:nvPr/>
          </p:nvSpPr>
          <p:spPr>
            <a:xfrm flipH="1">
              <a:off x="1632" y="1680"/>
              <a:ext cx="163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1" name="Line 19"/>
            <p:cNvSpPr/>
            <p:nvPr/>
          </p:nvSpPr>
          <p:spPr>
            <a:xfrm>
              <a:off x="3312" y="1680"/>
              <a:ext cx="768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2" name="Line 20"/>
            <p:cNvSpPr/>
            <p:nvPr/>
          </p:nvSpPr>
          <p:spPr>
            <a:xfrm>
              <a:off x="3264" y="1680"/>
              <a:ext cx="163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151" name="Group 21"/>
          <p:cNvGrpSpPr/>
          <p:nvPr/>
        </p:nvGrpSpPr>
        <p:grpSpPr>
          <a:xfrm>
            <a:off x="3180812" y="4174397"/>
            <a:ext cx="4073525" cy="914400"/>
            <a:chOff x="1680" y="2688"/>
            <a:chExt cx="2544" cy="576"/>
          </a:xfrm>
        </p:grpSpPr>
        <p:sp>
          <p:nvSpPr>
            <p:cNvPr id="6170" name="Line 22"/>
            <p:cNvSpPr/>
            <p:nvPr/>
          </p:nvSpPr>
          <p:spPr>
            <a:xfrm>
              <a:off x="1680" y="2688"/>
              <a:ext cx="624" cy="57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71" name="Line 23"/>
            <p:cNvSpPr/>
            <p:nvPr/>
          </p:nvSpPr>
          <p:spPr>
            <a:xfrm>
              <a:off x="1680" y="2688"/>
              <a:ext cx="1584" cy="57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72" name="Line 24"/>
            <p:cNvSpPr/>
            <p:nvPr/>
          </p:nvSpPr>
          <p:spPr>
            <a:xfrm>
              <a:off x="1680" y="2688"/>
              <a:ext cx="2544" cy="57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152" name="Text Box 26"/>
          <p:cNvSpPr txBox="1"/>
          <p:nvPr/>
        </p:nvSpPr>
        <p:spPr>
          <a:xfrm>
            <a:off x="468312" y="549275"/>
            <a:ext cx="3023567" cy="523220"/>
          </a:xfrm>
          <a:prstGeom prst="rect">
            <a:avLst/>
          </a:prstGeom>
          <a:solidFill>
            <a:srgbClr val="00FF00"/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：选旅游地</a:t>
            </a:r>
          </a:p>
        </p:txBody>
      </p:sp>
      <p:sp>
        <p:nvSpPr>
          <p:cNvPr id="6153" name="Text Box 27"/>
          <p:cNvSpPr txBox="1"/>
          <p:nvPr/>
        </p:nvSpPr>
        <p:spPr>
          <a:xfrm>
            <a:off x="3635375" y="549275"/>
            <a:ext cx="51562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如何在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个目的地中按照景色、费用、居住条件等因素选择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pSp>
        <p:nvGrpSpPr>
          <p:cNvPr id="6154" name="Group 28"/>
          <p:cNvGrpSpPr/>
          <p:nvPr/>
        </p:nvGrpSpPr>
        <p:grpSpPr>
          <a:xfrm>
            <a:off x="4258649" y="4201213"/>
            <a:ext cx="3074988" cy="838200"/>
            <a:chOff x="2304" y="2736"/>
            <a:chExt cx="1920" cy="528"/>
          </a:xfrm>
        </p:grpSpPr>
        <p:sp>
          <p:nvSpPr>
            <p:cNvPr id="6167" name="Line 29"/>
            <p:cNvSpPr/>
            <p:nvPr/>
          </p:nvSpPr>
          <p:spPr>
            <a:xfrm flipH="1">
              <a:off x="2304" y="2736"/>
              <a:ext cx="144" cy="528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8" name="Line 30"/>
            <p:cNvSpPr/>
            <p:nvPr/>
          </p:nvSpPr>
          <p:spPr>
            <a:xfrm>
              <a:off x="2448" y="2736"/>
              <a:ext cx="816" cy="528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9" name="Line 31"/>
            <p:cNvSpPr/>
            <p:nvPr/>
          </p:nvSpPr>
          <p:spPr>
            <a:xfrm>
              <a:off x="2448" y="2736"/>
              <a:ext cx="1776" cy="528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155" name="Group 32"/>
          <p:cNvGrpSpPr/>
          <p:nvPr/>
        </p:nvGrpSpPr>
        <p:grpSpPr>
          <a:xfrm>
            <a:off x="4531599" y="4282627"/>
            <a:ext cx="4227513" cy="838200"/>
            <a:chOff x="2304" y="2736"/>
            <a:chExt cx="2640" cy="528"/>
          </a:xfrm>
        </p:grpSpPr>
        <p:sp>
          <p:nvSpPr>
            <p:cNvPr id="6158" name="Line 33"/>
            <p:cNvSpPr/>
            <p:nvPr/>
          </p:nvSpPr>
          <p:spPr>
            <a:xfrm>
              <a:off x="3264" y="2736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9" name="Line 34"/>
            <p:cNvSpPr/>
            <p:nvPr/>
          </p:nvSpPr>
          <p:spPr>
            <a:xfrm flipV="1">
              <a:off x="2304" y="2736"/>
              <a:ext cx="91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0" name="Line 35"/>
            <p:cNvSpPr/>
            <p:nvPr/>
          </p:nvSpPr>
          <p:spPr>
            <a:xfrm flipV="1">
              <a:off x="2352" y="2736"/>
              <a:ext cx="2544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1" name="Line 36"/>
            <p:cNvSpPr/>
            <p:nvPr/>
          </p:nvSpPr>
          <p:spPr>
            <a:xfrm>
              <a:off x="3264" y="2736"/>
              <a:ext cx="96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2" name="Line 37"/>
            <p:cNvSpPr/>
            <p:nvPr/>
          </p:nvSpPr>
          <p:spPr>
            <a:xfrm flipV="1">
              <a:off x="3264" y="2736"/>
              <a:ext cx="163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3" name="Line 38"/>
            <p:cNvSpPr/>
            <p:nvPr/>
          </p:nvSpPr>
          <p:spPr>
            <a:xfrm flipH="1">
              <a:off x="4224" y="2736"/>
              <a:ext cx="72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4" name="Line 39"/>
            <p:cNvSpPr/>
            <p:nvPr/>
          </p:nvSpPr>
          <p:spPr>
            <a:xfrm flipH="1">
              <a:off x="2304" y="2784"/>
              <a:ext cx="1776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5" name="Line 40"/>
            <p:cNvSpPr/>
            <p:nvPr/>
          </p:nvSpPr>
          <p:spPr>
            <a:xfrm flipH="1">
              <a:off x="3264" y="2784"/>
              <a:ext cx="816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6" name="Line 41"/>
            <p:cNvSpPr/>
            <p:nvPr/>
          </p:nvSpPr>
          <p:spPr>
            <a:xfrm>
              <a:off x="4080" y="2784"/>
              <a:ext cx="144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1" name="Text Box 8"/>
          <p:cNvSpPr txBox="1"/>
          <p:nvPr/>
        </p:nvSpPr>
        <p:spPr>
          <a:xfrm>
            <a:off x="426841" y="3226262"/>
            <a:ext cx="2193925" cy="1200329"/>
          </a:xfrm>
          <a:prstGeom prst="rect">
            <a:avLst/>
          </a:prstGeom>
          <a:solidFill>
            <a:srgbClr val="33CCFF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再设定每个景点对方案的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得分权重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8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8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2" grpId="0" animBg="1"/>
      <p:bldP spid="98313" grpId="0" animBg="1"/>
      <p:bldP spid="4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"/>
          <p:cNvSpPr txBox="1"/>
          <p:nvPr/>
        </p:nvSpPr>
        <p:spPr>
          <a:xfrm>
            <a:off x="533400" y="533400"/>
            <a:ext cx="5551488" cy="519113"/>
          </a:xfrm>
          <a:prstGeom prst="rect">
            <a:avLst/>
          </a:prstGeom>
          <a:solidFill>
            <a:srgbClr val="00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选择旅游地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思维过程的归纳</a:t>
            </a:r>
          </a:p>
        </p:txBody>
      </p:sp>
      <p:sp>
        <p:nvSpPr>
          <p:cNvPr id="28676" name="Text Box 4"/>
          <p:cNvSpPr txBox="1"/>
          <p:nvPr/>
        </p:nvSpPr>
        <p:spPr>
          <a:xfrm>
            <a:off x="533400" y="1143000"/>
            <a:ext cx="7924800" cy="1671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将决策问题分为</a:t>
            </a:r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</a:rPr>
              <a:t>个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层次</a:t>
            </a:r>
            <a:r>
              <a:rPr lang="zh-CN" altLang="en-US" sz="2800" b="1" dirty="0">
                <a:latin typeface="Times New Roman" panose="02020603050405020304" pitchFamily="18" charset="0"/>
              </a:rPr>
              <a:t>：目标层</a:t>
            </a:r>
            <a:r>
              <a:rPr lang="en-US" altLang="zh-CN" sz="2800" b="1" i="1">
                <a:latin typeface="Times New Roman" panose="02020603050405020304" pitchFamily="18" charset="0"/>
              </a:rPr>
              <a:t>O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，准则层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  方案层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zh-CN" altLang="en-US" sz="2800" b="1" dirty="0">
                <a:latin typeface="Times New Roman" panose="02020603050405020304" pitchFamily="18" charset="0"/>
              </a:rPr>
              <a:t>；每层有若干元素， 各层元素间的关系   </a:t>
            </a: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  用相连的直线表示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8677" name="Text Box 5"/>
          <p:cNvSpPr txBox="1"/>
          <p:nvPr/>
        </p:nvSpPr>
        <p:spPr>
          <a:xfrm>
            <a:off x="457200" y="2819400"/>
            <a:ext cx="7924800" cy="1138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通过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相互比较</a:t>
            </a:r>
            <a:r>
              <a:rPr lang="zh-CN" altLang="en-US" sz="2800" b="1" dirty="0">
                <a:latin typeface="Times New Roman" panose="02020603050405020304" pitchFamily="18" charset="0"/>
              </a:rPr>
              <a:t>确定各准则对目标的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权重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，及各方</a:t>
            </a: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  案对每一准则的权重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8678" name="Text Box 6"/>
          <p:cNvSpPr txBox="1"/>
          <p:nvPr/>
        </p:nvSpPr>
        <p:spPr>
          <a:xfrm>
            <a:off x="457200" y="4038600"/>
            <a:ext cx="7924800" cy="1138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将上述两组权重进行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综合</a:t>
            </a:r>
            <a:r>
              <a:rPr lang="zh-CN" altLang="en-US" sz="2800" b="1" dirty="0">
                <a:latin typeface="Times New Roman" panose="02020603050405020304" pitchFamily="18" charset="0"/>
              </a:rPr>
              <a:t>，确定各方案对目标的</a:t>
            </a: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  权重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8680" name="Rectangle 8"/>
          <p:cNvSpPr/>
          <p:nvPr/>
        </p:nvSpPr>
        <p:spPr>
          <a:xfrm>
            <a:off x="981075" y="5257800"/>
            <a:ext cx="7046913" cy="1117600"/>
          </a:xfrm>
          <a:prstGeom prst="rect">
            <a:avLst/>
          </a:prstGeom>
          <a:solidFill>
            <a:srgbClr val="CCFF66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层次分析法将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定性分析与定量分析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结合起来完成以上步骤，给出决策问题的定量结果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10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animBg="1"/>
      <p:bldP spid="28677" grpId="0" animBg="1"/>
      <p:bldP spid="28678" grpId="0" animBg="1"/>
      <p:bldP spid="2868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1116013" y="3316288"/>
          <a:ext cx="5184775" cy="229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" r:id="rId3" imgW="2336800" imgH="1168400" progId="Equation.DSMT4">
                  <p:embed/>
                </p:oleObj>
              </mc:Choice>
              <mc:Fallback>
                <p:oleObj r:id="rId3" imgW="2336800" imgH="11684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6013" y="3316288"/>
                        <a:ext cx="5184775" cy="22923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3203575" y="2252663"/>
          <a:ext cx="3976688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" r:id="rId5" imgW="1714500" imgH="444500" progId="Equation.DSMT4">
                  <p:embed/>
                </p:oleObj>
              </mc:Choice>
              <mc:Fallback>
                <p:oleObj r:id="rId5" imgW="1714500" imgH="4445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03575" y="2252663"/>
                        <a:ext cx="3976688" cy="1004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2514600" y="381000"/>
            <a:ext cx="4430713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en-US" altLang="zh-CN" sz="2800" b="1" kern="1200" cap="none" spc="0" normalizeH="0" baseline="0" noProof="0" dirty="0">
                <a:solidFill>
                  <a:schemeClr val="accent6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2800" b="1" kern="1200" cap="none" spc="0" normalizeH="0" baseline="0" noProof="0" dirty="0">
                <a:solidFill>
                  <a:schemeClr val="accent6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、层次分析法的基本步骤</a:t>
            </a:r>
          </a:p>
        </p:txBody>
      </p:sp>
      <p:sp>
        <p:nvSpPr>
          <p:cNvPr id="3077" name="Text Box 5"/>
          <p:cNvSpPr txBox="1"/>
          <p:nvPr/>
        </p:nvSpPr>
        <p:spPr>
          <a:xfrm>
            <a:off x="381000" y="806450"/>
            <a:ext cx="1981200" cy="94615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成对比较阵和权向量</a:t>
            </a:r>
          </a:p>
        </p:txBody>
      </p:sp>
      <p:sp>
        <p:nvSpPr>
          <p:cNvPr id="3078" name="Text Box 6"/>
          <p:cNvSpPr txBox="1"/>
          <p:nvPr/>
        </p:nvSpPr>
        <p:spPr>
          <a:xfrm>
            <a:off x="2590800" y="1049338"/>
            <a:ext cx="6400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元素之间两两对比，对比采用相对尺度</a:t>
            </a:r>
          </a:p>
        </p:txBody>
      </p:sp>
      <p:sp>
        <p:nvSpPr>
          <p:cNvPr id="3079" name="Text Box 7"/>
          <p:cNvSpPr txBox="1"/>
          <p:nvPr/>
        </p:nvSpPr>
        <p:spPr>
          <a:xfrm>
            <a:off x="609600" y="1766888"/>
            <a:ext cx="75628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设要比较各准则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,…,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C</a:t>
            </a:r>
            <a:r>
              <a:rPr lang="en-US" altLang="zh-CN" sz="2800" b="1" i="1" baseline="-25000" err="1"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对目标</a:t>
            </a:r>
            <a:r>
              <a:rPr lang="en-US" altLang="zh-CN" sz="2800" b="1" i="1">
                <a:latin typeface="Times New Roman" panose="02020603050405020304" pitchFamily="18" charset="0"/>
              </a:rPr>
              <a:t>O</a:t>
            </a:r>
            <a:r>
              <a:rPr lang="zh-CN" altLang="en-US" sz="2800" b="1" dirty="0">
                <a:latin typeface="Times New Roman" panose="02020603050405020304" pitchFamily="18" charset="0"/>
              </a:rPr>
              <a:t>的重要性</a:t>
            </a:r>
          </a:p>
        </p:txBody>
      </p:sp>
      <p:graphicFrame>
        <p:nvGraphicFramePr>
          <p:cNvPr id="3080" name="Object 8"/>
          <p:cNvGraphicFramePr>
            <a:graphicFrameLocks noChangeAspect="1"/>
          </p:cNvGraphicFramePr>
          <p:nvPr/>
        </p:nvGraphicFramePr>
        <p:xfrm>
          <a:off x="914400" y="2438400"/>
          <a:ext cx="182880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r:id="rId7" imgW="939800" imgH="279400" progId="Equation.3">
                  <p:embed/>
                </p:oleObj>
              </mc:Choice>
              <mc:Fallback>
                <p:oleObj r:id="rId7" imgW="939800" imgH="279400" progId="Equation.3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14400" y="2438400"/>
                        <a:ext cx="1828800" cy="636588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" name="Text Box 9"/>
          <p:cNvSpPr txBox="1"/>
          <p:nvPr/>
        </p:nvSpPr>
        <p:spPr>
          <a:xfrm>
            <a:off x="6553200" y="3581400"/>
            <a:ext cx="2438400" cy="519113"/>
          </a:xfrm>
          <a:prstGeom prst="rect">
            <a:avLst/>
          </a:prstGeom>
          <a:solidFill>
            <a:srgbClr val="99FF33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~</a:t>
            </a:r>
            <a:r>
              <a:rPr lang="zh-CN" altLang="en-US" sz="2800" b="1" dirty="0">
                <a:latin typeface="Times New Roman" panose="02020603050405020304" pitchFamily="18" charset="0"/>
              </a:rPr>
              <a:t>成对比较阵</a:t>
            </a:r>
          </a:p>
        </p:txBody>
      </p:sp>
      <p:sp>
        <p:nvSpPr>
          <p:cNvPr id="3082" name="Text Box 10"/>
          <p:cNvSpPr txBox="1"/>
          <p:nvPr/>
        </p:nvSpPr>
        <p:spPr>
          <a:xfrm>
            <a:off x="6629400" y="4433888"/>
            <a:ext cx="2362200" cy="519112"/>
          </a:xfrm>
          <a:prstGeom prst="rect">
            <a:avLst/>
          </a:prstGeom>
          <a:solidFill>
            <a:srgbClr val="99FF33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是正互反阵</a:t>
            </a:r>
          </a:p>
        </p:txBody>
      </p:sp>
      <p:sp>
        <p:nvSpPr>
          <p:cNvPr id="3083" name="Text Box 11"/>
          <p:cNvSpPr txBox="1"/>
          <p:nvPr/>
        </p:nvSpPr>
        <p:spPr>
          <a:xfrm>
            <a:off x="1763713" y="5876925"/>
            <a:ext cx="5181600" cy="604838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要由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确定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,…,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C</a:t>
            </a:r>
            <a:r>
              <a:rPr lang="en-US" altLang="zh-CN" sz="2800" b="1" i="1" baseline="-25000" err="1"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对</a:t>
            </a:r>
            <a:r>
              <a:rPr lang="en-US" altLang="zh-CN" sz="2800" b="1" i="1">
                <a:latin typeface="Times New Roman" panose="02020603050405020304" pitchFamily="18" charset="0"/>
              </a:rPr>
              <a:t>O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的权向量</a:t>
            </a:r>
          </a:p>
        </p:txBody>
      </p:sp>
      <p:sp>
        <p:nvSpPr>
          <p:cNvPr id="3085" name="Text Box 13"/>
          <p:cNvSpPr txBox="1"/>
          <p:nvPr/>
        </p:nvSpPr>
        <p:spPr>
          <a:xfrm>
            <a:off x="76200" y="3335338"/>
            <a:ext cx="609600" cy="2227262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选择旅游地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8" dur="10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10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10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10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10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 animBg="1"/>
      <p:bldP spid="3078" grpId="0"/>
      <p:bldP spid="3079" grpId="0"/>
      <p:bldP spid="3081" grpId="0" animBg="1"/>
      <p:bldP spid="3082" grpId="0" animBg="1"/>
      <p:bldP spid="3083" grpId="0" animBg="1"/>
      <p:bldP spid="308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4772025" y="3867150"/>
          <a:ext cx="4065588" cy="268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8" r:id="rId3" imgW="1562100" imgH="1574800" progId="Equation.DSMT4">
                  <p:embed/>
                </p:oleObj>
              </mc:Choice>
              <mc:Fallback>
                <p:oleObj r:id="rId3" imgW="1562100" imgH="1574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72025" y="3867150"/>
                        <a:ext cx="4065588" cy="2682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3995738" y="393700"/>
          <a:ext cx="3816350" cy="153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9" r:id="rId5" imgW="1803400" imgH="711200" progId="Equation.DSMT4">
                  <p:embed/>
                </p:oleObj>
              </mc:Choice>
              <mc:Fallback>
                <p:oleObj r:id="rId5" imgW="1803400" imgH="7112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95738" y="393700"/>
                        <a:ext cx="3816350" cy="15351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Text Box 4"/>
          <p:cNvSpPr txBox="1"/>
          <p:nvPr/>
        </p:nvSpPr>
        <p:spPr>
          <a:xfrm>
            <a:off x="76200" y="1031875"/>
            <a:ext cx="3810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成对比较的不一致情况</a:t>
            </a:r>
          </a:p>
        </p:txBody>
      </p:sp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8316913" y="549275"/>
          <a:ext cx="650875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0" r:id="rId7" imgW="3848100" imgH="5478780" progId="MS_ClipArt_Gallery.2">
                  <p:embed/>
                </p:oleObj>
              </mc:Choice>
              <mc:Fallback>
                <p:oleObj r:id="rId7" imgW="3848100" imgH="5478780" progId="MS_ClipArt_Gallery.2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316913" y="549275"/>
                        <a:ext cx="650875" cy="909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685800" y="2022475"/>
          <a:ext cx="23622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1" r:id="rId9" imgW="1345565" imgH="254000" progId="Equation.3">
                  <p:embed/>
                </p:oleObj>
              </mc:Choice>
              <mc:Fallback>
                <p:oleObj r:id="rId9" imgW="1345565" imgH="2540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5800" y="2022475"/>
                        <a:ext cx="2362200" cy="525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819150" y="2632075"/>
          <a:ext cx="19240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2" r:id="rId11" imgW="1167765" imgH="254000" progId="Equation.3">
                  <p:embed/>
                </p:oleObj>
              </mc:Choice>
              <mc:Fallback>
                <p:oleObj r:id="rId11" imgW="1167765" imgH="2540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19150" y="2632075"/>
                        <a:ext cx="1924050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" name="Object 8"/>
          <p:cNvGraphicFramePr>
            <a:graphicFrameLocks noChangeAspect="1"/>
          </p:cNvGraphicFramePr>
          <p:nvPr/>
        </p:nvGraphicFramePr>
        <p:xfrm>
          <a:off x="5181600" y="2439988"/>
          <a:ext cx="2286000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3" r:id="rId13" imgW="1193800" imgH="254000" progId="Equation.3">
                  <p:embed/>
                </p:oleObj>
              </mc:Choice>
              <mc:Fallback>
                <p:oleObj r:id="rId13" imgW="1193800" imgH="2540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181600" y="2439988"/>
                        <a:ext cx="2286000" cy="5730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11" name="Group 15"/>
          <p:cNvGrpSpPr/>
          <p:nvPr/>
        </p:nvGrpSpPr>
        <p:grpSpPr>
          <a:xfrm>
            <a:off x="3352800" y="1946275"/>
            <a:ext cx="1752600" cy="914400"/>
            <a:chOff x="2304" y="1248"/>
            <a:chExt cx="1104" cy="576"/>
          </a:xfrm>
        </p:grpSpPr>
        <p:sp>
          <p:nvSpPr>
            <p:cNvPr id="11286" name="Text Box 9"/>
            <p:cNvSpPr txBox="1"/>
            <p:nvPr/>
          </p:nvSpPr>
          <p:spPr>
            <a:xfrm>
              <a:off x="2304" y="1248"/>
              <a:ext cx="1104" cy="327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一致比较</a:t>
              </a:r>
            </a:p>
          </p:txBody>
        </p:sp>
        <p:sp>
          <p:nvSpPr>
            <p:cNvPr id="11287" name="AutoShape 10"/>
            <p:cNvSpPr/>
            <p:nvPr/>
          </p:nvSpPr>
          <p:spPr>
            <a:xfrm>
              <a:off x="2496" y="1584"/>
              <a:ext cx="624" cy="240"/>
            </a:xfrm>
            <a:prstGeom prst="rightArrow">
              <a:avLst>
                <a:gd name="adj1" fmla="val 50000"/>
                <a:gd name="adj2" fmla="val 65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12" name="Text Box 16"/>
          <p:cNvSpPr txBox="1"/>
          <p:nvPr/>
        </p:nvSpPr>
        <p:spPr>
          <a:xfrm>
            <a:off x="1066800" y="3290888"/>
            <a:ext cx="6705600" cy="519112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允许不一致，但要确定不一致的允许范围</a:t>
            </a:r>
          </a:p>
        </p:txBody>
      </p:sp>
      <p:sp>
        <p:nvSpPr>
          <p:cNvPr id="4113" name="Text Box 17"/>
          <p:cNvSpPr txBox="1"/>
          <p:nvPr/>
        </p:nvSpPr>
        <p:spPr>
          <a:xfrm>
            <a:off x="762000" y="3894138"/>
            <a:ext cx="366553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考察完全一致的情况</a:t>
            </a:r>
          </a:p>
        </p:txBody>
      </p:sp>
      <p:graphicFrame>
        <p:nvGraphicFramePr>
          <p:cNvPr id="4114" name="Object 18"/>
          <p:cNvGraphicFramePr>
            <a:graphicFrameLocks noChangeAspect="1"/>
          </p:cNvGraphicFramePr>
          <p:nvPr/>
        </p:nvGraphicFramePr>
        <p:xfrm>
          <a:off x="1193800" y="4527550"/>
          <a:ext cx="28702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4" r:id="rId15" imgW="1447800" imgH="228600" progId="Equation.3">
                  <p:embed/>
                </p:oleObj>
              </mc:Choice>
              <mc:Fallback>
                <p:oleObj r:id="rId15" imgW="1447800" imgH="2286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93800" y="4527550"/>
                        <a:ext cx="2870200" cy="452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5" name="Object 19"/>
          <p:cNvGraphicFramePr>
            <a:graphicFrameLocks noChangeAspect="1"/>
          </p:cNvGraphicFramePr>
          <p:nvPr/>
        </p:nvGraphicFramePr>
        <p:xfrm>
          <a:off x="1219200" y="5113338"/>
          <a:ext cx="18288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5" r:id="rId17" imgW="1054100" imgH="292100" progId="Equation.3">
                  <p:embed/>
                </p:oleObj>
              </mc:Choice>
              <mc:Fallback>
                <p:oleObj r:id="rId17" imgW="1054100" imgH="2921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19200" y="5113338"/>
                        <a:ext cx="1828800" cy="503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" name="Object 20"/>
          <p:cNvGraphicFramePr>
            <a:graphicFrameLocks noChangeAspect="1"/>
          </p:cNvGraphicFramePr>
          <p:nvPr/>
        </p:nvGraphicFramePr>
        <p:xfrm>
          <a:off x="633413" y="5748338"/>
          <a:ext cx="38989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6" r:id="rId19" imgW="1968500" imgH="241300" progId="Equation.DSMT4">
                  <p:embed/>
                </p:oleObj>
              </mc:Choice>
              <mc:Fallback>
                <p:oleObj r:id="rId19" imgW="1968500" imgH="2413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33413" y="5748338"/>
                        <a:ext cx="3898900" cy="474662"/>
                      </a:xfrm>
                      <a:prstGeom prst="rect">
                        <a:avLst/>
                      </a:prstGeom>
                      <a:solidFill>
                        <a:srgbClr val="CCFF66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9" name="Text Box 22"/>
          <p:cNvSpPr txBox="1"/>
          <p:nvPr/>
        </p:nvSpPr>
        <p:spPr>
          <a:xfrm>
            <a:off x="76200" y="346075"/>
            <a:ext cx="3505200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成对比较阵和权向量</a:t>
            </a:r>
          </a:p>
        </p:txBody>
      </p:sp>
      <p:grpSp>
        <p:nvGrpSpPr>
          <p:cNvPr id="4123" name="Group 27"/>
          <p:cNvGrpSpPr/>
          <p:nvPr/>
        </p:nvGrpSpPr>
        <p:grpSpPr>
          <a:xfrm>
            <a:off x="6156325" y="908050"/>
            <a:ext cx="2987675" cy="1584325"/>
            <a:chOff x="3878" y="572"/>
            <a:chExt cx="1882" cy="998"/>
          </a:xfrm>
        </p:grpSpPr>
        <p:sp>
          <p:nvSpPr>
            <p:cNvPr id="11282" name="Text Box 12"/>
            <p:cNvSpPr txBox="1"/>
            <p:nvPr/>
          </p:nvSpPr>
          <p:spPr>
            <a:xfrm>
              <a:off x="4944" y="1207"/>
              <a:ext cx="8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不一致</a:t>
              </a:r>
            </a:p>
          </p:txBody>
        </p:sp>
        <p:sp>
          <p:nvSpPr>
            <p:cNvPr id="11283" name="Line 13"/>
            <p:cNvSpPr/>
            <p:nvPr/>
          </p:nvSpPr>
          <p:spPr>
            <a:xfrm flipH="1" flipV="1">
              <a:off x="4558" y="799"/>
              <a:ext cx="674" cy="339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284" name="Oval 24"/>
            <p:cNvSpPr/>
            <p:nvPr/>
          </p:nvSpPr>
          <p:spPr>
            <a:xfrm>
              <a:off x="4241" y="572"/>
              <a:ext cx="317" cy="318"/>
            </a:xfrm>
            <a:prstGeom prst="ellipse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85" name="Line 26"/>
            <p:cNvSpPr/>
            <p:nvPr/>
          </p:nvSpPr>
          <p:spPr>
            <a:xfrm flipH="1">
              <a:off x="3878" y="1162"/>
              <a:ext cx="1361" cy="408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1281" name="Text Box 28"/>
          <p:cNvSpPr txBox="1"/>
          <p:nvPr/>
        </p:nvSpPr>
        <p:spPr>
          <a:xfrm>
            <a:off x="3348038" y="5748338"/>
            <a:ext cx="1174750" cy="4889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600" dirty="0">
                <a:latin typeface="Times New Roman" panose="02020603050405020304" pitchFamily="18" charset="0"/>
                <a:ea typeface="楷体_GB2312" pitchFamily="49" charset="-122"/>
              </a:rPr>
              <a:t>权向量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1000"/>
                                        <p:tgtEl>
                                          <p:spTgt spid="4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10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10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10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7" dur="10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1000"/>
                                        <p:tgtEl>
                                          <p:spTgt spid="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/>
      <p:bldP spid="4112" grpId="0" animBg="1"/>
      <p:bldP spid="41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4" name="Object 4"/>
          <p:cNvGraphicFramePr>
            <a:graphicFrameLocks noChangeAspect="1"/>
          </p:cNvGraphicFramePr>
          <p:nvPr/>
        </p:nvGraphicFramePr>
        <p:xfrm>
          <a:off x="4843463" y="620713"/>
          <a:ext cx="4071937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r:id="rId3" imgW="1562100" imgH="1143000" progId="Equation.DSMT4">
                  <p:embed/>
                </p:oleObj>
              </mc:Choice>
              <mc:Fallback>
                <p:oleObj r:id="rId3" imgW="1562100" imgH="11430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3463" y="620713"/>
                        <a:ext cx="4071937" cy="212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Text Box 5"/>
          <p:cNvSpPr txBox="1"/>
          <p:nvPr/>
        </p:nvSpPr>
        <p:spPr>
          <a:xfrm>
            <a:off x="228600" y="1081088"/>
            <a:ext cx="4267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成对比较完全一致的情况</a:t>
            </a:r>
          </a:p>
        </p:txBody>
      </p:sp>
      <p:grpSp>
        <p:nvGrpSpPr>
          <p:cNvPr id="5136" name="Group 16"/>
          <p:cNvGrpSpPr/>
          <p:nvPr/>
        </p:nvGrpSpPr>
        <p:grpSpPr>
          <a:xfrm>
            <a:off x="152400" y="1746250"/>
            <a:ext cx="4479925" cy="996950"/>
            <a:chOff x="96" y="995"/>
            <a:chExt cx="2822" cy="628"/>
          </a:xfrm>
        </p:grpSpPr>
        <p:graphicFrame>
          <p:nvGraphicFramePr>
            <p:cNvPr id="12306" name="Object 2"/>
            <p:cNvGraphicFramePr>
              <a:graphicFrameLocks noChangeAspect="1"/>
            </p:cNvGraphicFramePr>
            <p:nvPr/>
          </p:nvGraphicFramePr>
          <p:xfrm>
            <a:off x="634" y="995"/>
            <a:ext cx="2284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4" r:id="rId5" imgW="1917700" imgH="241300" progId="Equation.3">
                    <p:embed/>
                  </p:oleObj>
                </mc:Choice>
                <mc:Fallback>
                  <p:oleObj r:id="rId5" imgW="1917700" imgH="241300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34" y="995"/>
                          <a:ext cx="2284" cy="3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7" name="Text Box 6"/>
            <p:cNvSpPr txBox="1"/>
            <p:nvPr/>
          </p:nvSpPr>
          <p:spPr>
            <a:xfrm>
              <a:off x="96" y="100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满足</a:t>
              </a:r>
            </a:p>
          </p:txBody>
        </p:sp>
        <p:sp>
          <p:nvSpPr>
            <p:cNvPr id="12308" name="Text Box 7"/>
            <p:cNvSpPr txBox="1"/>
            <p:nvPr/>
          </p:nvSpPr>
          <p:spPr>
            <a:xfrm>
              <a:off x="96" y="1296"/>
              <a:ext cx="27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的正互反阵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A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称</a:t>
              </a:r>
              <a:r>
                <a: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一致阵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，如</a:t>
              </a:r>
            </a:p>
          </p:txBody>
        </p:sp>
      </p:grpSp>
      <p:sp>
        <p:nvSpPr>
          <p:cNvPr id="5128" name="Text Box 8"/>
          <p:cNvSpPr txBox="1"/>
          <p:nvPr/>
        </p:nvSpPr>
        <p:spPr>
          <a:xfrm>
            <a:off x="1828800" y="2924175"/>
            <a:ext cx="6172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的秩为</a:t>
            </a:r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的唯一非零特征根为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5129" name="Text Box 9"/>
          <p:cNvSpPr txBox="1"/>
          <p:nvPr/>
        </p:nvSpPr>
        <p:spPr>
          <a:xfrm>
            <a:off x="1828800" y="3533775"/>
            <a:ext cx="6629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的任一列向量是对应于</a:t>
            </a:r>
            <a:r>
              <a:rPr lang="en-US" altLang="zh-CN" sz="2800" b="1" i="1"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的特征向量</a:t>
            </a:r>
          </a:p>
        </p:txBody>
      </p:sp>
      <p:sp>
        <p:nvSpPr>
          <p:cNvPr id="5130" name="Text Box 10"/>
          <p:cNvSpPr txBox="1"/>
          <p:nvPr/>
        </p:nvSpPr>
        <p:spPr>
          <a:xfrm>
            <a:off x="1828800" y="4143375"/>
            <a:ext cx="5791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的归一化特征向量可作为权向量</a:t>
            </a:r>
          </a:p>
        </p:txBody>
      </p:sp>
      <p:sp>
        <p:nvSpPr>
          <p:cNvPr id="5132" name="Text Box 12"/>
          <p:cNvSpPr txBox="1"/>
          <p:nvPr/>
        </p:nvSpPr>
        <p:spPr>
          <a:xfrm>
            <a:off x="381000" y="3152775"/>
            <a:ext cx="1295400" cy="946150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一致阵性质</a:t>
            </a:r>
          </a:p>
        </p:txBody>
      </p:sp>
      <p:sp>
        <p:nvSpPr>
          <p:cNvPr id="12297" name="Text Box 15"/>
          <p:cNvSpPr txBox="1"/>
          <p:nvPr/>
        </p:nvSpPr>
        <p:spPr>
          <a:xfrm>
            <a:off x="533400" y="395288"/>
            <a:ext cx="3505200" cy="51911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成对比较阵和权向量</a:t>
            </a:r>
          </a:p>
        </p:txBody>
      </p:sp>
      <p:grpSp>
        <p:nvGrpSpPr>
          <p:cNvPr id="5143" name="Group 23"/>
          <p:cNvGrpSpPr/>
          <p:nvPr/>
        </p:nvGrpSpPr>
        <p:grpSpPr>
          <a:xfrm>
            <a:off x="1187450" y="4724400"/>
            <a:ext cx="7416800" cy="1630363"/>
            <a:chOff x="748" y="2976"/>
            <a:chExt cx="4672" cy="1027"/>
          </a:xfrm>
        </p:grpSpPr>
        <p:sp>
          <p:nvSpPr>
            <p:cNvPr id="12299" name="Text Box 11"/>
            <p:cNvSpPr txBox="1"/>
            <p:nvPr/>
          </p:nvSpPr>
          <p:spPr>
            <a:xfrm>
              <a:off x="748" y="2976"/>
              <a:ext cx="4672" cy="1027"/>
            </a:xfrm>
            <a:prstGeom prst="rect">
              <a:avLst/>
            </a:prstGeom>
            <a:solidFill>
              <a:srgbClr val="CCFF66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 dirty="0">
                  <a:latin typeface="宋体" panose="02010600030101010101" pitchFamily="2" charset="-122"/>
                </a:rPr>
                <a:t>对于不一致</a:t>
              </a:r>
              <a:r>
                <a:rPr lang="en-US" altLang="zh-CN" sz="2800" b="1">
                  <a:latin typeface="宋体" panose="02010600030101010101" pitchFamily="2" charset="-122"/>
                </a:rPr>
                <a:t>(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但在允许范围内</a:t>
              </a:r>
              <a:r>
                <a:rPr lang="en-US" altLang="zh-CN" sz="2800" b="1">
                  <a:latin typeface="宋体" panose="02010600030101010101" pitchFamily="2" charset="-122"/>
                </a:rPr>
                <a:t>)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的成对比较阵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>
                  <a:latin typeface="宋体" panose="02010600030101010101" pitchFamily="2" charset="-122"/>
                </a:rPr>
                <a:t>,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建议用对应于最大特征根</a:t>
              </a:r>
              <a:r>
                <a:rPr lang="zh-CN" altLang="en-US" sz="28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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的特征向量作为权向量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w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，即</a:t>
              </a:r>
            </a:p>
          </p:txBody>
        </p:sp>
        <p:grpSp>
          <p:nvGrpSpPr>
            <p:cNvPr id="12300" name="Group 18"/>
            <p:cNvGrpSpPr>
              <a:grpSpLocks noChangeAspect="1"/>
            </p:cNvGrpSpPr>
            <p:nvPr/>
          </p:nvGrpSpPr>
          <p:grpSpPr>
            <a:xfrm>
              <a:off x="2018" y="3612"/>
              <a:ext cx="1225" cy="390"/>
              <a:chOff x="4195" y="3704"/>
              <a:chExt cx="1296" cy="883"/>
            </a:xfrm>
          </p:grpSpPr>
          <p:sp>
            <p:nvSpPr>
              <p:cNvPr id="12301" name="AutoShape 17"/>
              <p:cNvSpPr>
                <a:spLocks noChangeAspect="1" noTextEdit="1"/>
              </p:cNvSpPr>
              <p:nvPr/>
            </p:nvSpPr>
            <p:spPr>
              <a:xfrm>
                <a:off x="4195" y="3748"/>
                <a:ext cx="1296" cy="3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2" name="Rectangle 19"/>
              <p:cNvSpPr/>
              <p:nvPr/>
            </p:nvSpPr>
            <p:spPr>
              <a:xfrm>
                <a:off x="5227" y="3740"/>
                <a:ext cx="220" cy="8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900" b="1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w</a:t>
                </a:r>
                <a:endParaRPr lang="en-US" altLang="zh-CN" b="1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03" name="Rectangle 20"/>
              <p:cNvSpPr/>
              <p:nvPr/>
            </p:nvSpPr>
            <p:spPr>
              <a:xfrm>
                <a:off x="4264" y="3740"/>
                <a:ext cx="440" cy="8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900" b="1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Aw</a:t>
                </a:r>
                <a:endParaRPr lang="en-US" altLang="zh-CN" b="1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04" name="Rectangle 21"/>
              <p:cNvSpPr/>
              <p:nvPr/>
            </p:nvSpPr>
            <p:spPr>
              <a:xfrm>
                <a:off x="5039" y="3704"/>
                <a:ext cx="213" cy="8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3900" b="1" i="1">
                    <a:solidFill>
                      <a:srgbClr val="FF0000"/>
                    </a:solidFill>
                    <a:latin typeface="Symbol" panose="05050102010706020507" pitchFamily="18" charset="2"/>
                  </a:rPr>
                  <a:t>l</a:t>
                </a:r>
                <a:endParaRPr lang="en-US" altLang="zh-CN" b="1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05" name="Rectangle 22"/>
              <p:cNvSpPr/>
              <p:nvPr/>
            </p:nvSpPr>
            <p:spPr>
              <a:xfrm>
                <a:off x="4777" y="3704"/>
                <a:ext cx="170" cy="8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3900" b="1">
                    <a:solidFill>
                      <a:srgbClr val="FF0000"/>
                    </a:solidFill>
                    <a:latin typeface="Symbol" panose="05050102010706020507" pitchFamily="18" charset="2"/>
                  </a:rPr>
                  <a:t>=</a:t>
                </a:r>
                <a:endParaRPr lang="en-US" altLang="zh-CN" b="1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10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1000"/>
                                        <p:tgtEl>
                                          <p:spTgt spid="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/>
      <p:bldP spid="5128" grpId="0"/>
      <p:bldP spid="5129" grpId="0"/>
      <p:bldP spid="5130" grpId="0"/>
      <p:bldP spid="513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7" name="Text Box 23"/>
          <p:cNvSpPr txBox="1"/>
          <p:nvPr/>
        </p:nvSpPr>
        <p:spPr>
          <a:xfrm>
            <a:off x="3657600" y="2438400"/>
            <a:ext cx="4572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2             4               6             8</a:t>
            </a:r>
          </a:p>
        </p:txBody>
      </p:sp>
      <p:sp>
        <p:nvSpPr>
          <p:cNvPr id="6175" name="Text Box 31"/>
          <p:cNvSpPr txBox="1"/>
          <p:nvPr/>
        </p:nvSpPr>
        <p:spPr>
          <a:xfrm>
            <a:off x="990600" y="1079500"/>
            <a:ext cx="1981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比较尺度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 sz="2800" b="1" i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176" name="Text Box 32"/>
          <p:cNvSpPr txBox="1"/>
          <p:nvPr/>
        </p:nvSpPr>
        <p:spPr>
          <a:xfrm>
            <a:off x="3635375" y="622300"/>
            <a:ext cx="5508625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err="1">
                <a:latin typeface="Times New Roman" panose="02020603050405020304" pitchFamily="18" charset="0"/>
              </a:rPr>
              <a:t>Saaty</a:t>
            </a:r>
            <a:r>
              <a:rPr lang="zh-CN" altLang="en-US" sz="2800" b="1" dirty="0">
                <a:latin typeface="Times New Roman" panose="02020603050405020304" pitchFamily="18" charset="0"/>
              </a:rPr>
              <a:t>等人提出</a:t>
            </a:r>
            <a:r>
              <a:rPr lang="en-US" altLang="zh-CN" sz="2800" b="1">
                <a:latin typeface="Times New Roman" panose="02020603050405020304" pitchFamily="18" charset="0"/>
              </a:rPr>
              <a:t>1~9</a:t>
            </a:r>
            <a:r>
              <a:rPr lang="zh-CN" altLang="en-US" sz="2800" b="1" dirty="0">
                <a:latin typeface="Times New Roman" panose="02020603050405020304" pitchFamily="18" charset="0"/>
              </a:rPr>
              <a:t>尺度</a:t>
            </a:r>
            <a:r>
              <a:rPr lang="en-US" altLang="zh-CN" sz="2800" b="1">
                <a:latin typeface="Times New Roman" panose="02020603050405020304" pitchFamily="18" charset="0"/>
              </a:rPr>
              <a:t>——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 sz="2800" b="1" i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取值</a:t>
            </a:r>
            <a:r>
              <a:rPr lang="en-US" altLang="zh-CN" sz="2800" b="1">
                <a:latin typeface="Times New Roman" panose="02020603050405020304" pitchFamily="18" charset="0"/>
              </a:rPr>
              <a:t>1,2,…</a:t>
            </a:r>
            <a:r>
              <a:rPr lang="en-US" altLang="zh-CN" b="1">
                <a:latin typeface="Times New Roman" panose="02020603050405020304" pitchFamily="18" charset="0"/>
              </a:rPr>
              <a:t>,</a:t>
            </a:r>
            <a:r>
              <a:rPr lang="en-US" altLang="zh-CN" sz="2800" b="1">
                <a:latin typeface="Times New Roman" panose="02020603050405020304" pitchFamily="18" charset="0"/>
              </a:rPr>
              <a:t>9</a:t>
            </a:r>
            <a:r>
              <a:rPr lang="zh-CN" altLang="en-US" sz="2800" b="1" dirty="0">
                <a:latin typeface="Times New Roman" panose="02020603050405020304" pitchFamily="18" charset="0"/>
              </a:rPr>
              <a:t>及其互反数</a:t>
            </a:r>
            <a:r>
              <a:rPr lang="en-US" altLang="zh-CN" sz="2800" b="1">
                <a:latin typeface="Times New Roman" panose="02020603050405020304" pitchFamily="18" charset="0"/>
              </a:rPr>
              <a:t>1,1/2, ,…,1/9</a:t>
            </a:r>
          </a:p>
        </p:txBody>
      </p:sp>
      <p:grpSp>
        <p:nvGrpSpPr>
          <p:cNvPr id="6186" name="Group 42"/>
          <p:cNvGrpSpPr/>
          <p:nvPr/>
        </p:nvGrpSpPr>
        <p:grpSpPr>
          <a:xfrm>
            <a:off x="225425" y="2349500"/>
            <a:ext cx="8918575" cy="1143000"/>
            <a:chOff x="142" y="1056"/>
            <a:chExt cx="5618" cy="720"/>
          </a:xfrm>
        </p:grpSpPr>
        <p:sp>
          <p:nvSpPr>
            <p:cNvPr id="13326" name="Line 4"/>
            <p:cNvSpPr/>
            <p:nvPr/>
          </p:nvSpPr>
          <p:spPr>
            <a:xfrm>
              <a:off x="192" y="1104"/>
              <a:ext cx="53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27" name="Line 5"/>
            <p:cNvSpPr/>
            <p:nvPr/>
          </p:nvSpPr>
          <p:spPr>
            <a:xfrm>
              <a:off x="144" y="1392"/>
              <a:ext cx="53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28" name="Text Box 8"/>
            <p:cNvSpPr txBox="1"/>
            <p:nvPr/>
          </p:nvSpPr>
          <p:spPr>
            <a:xfrm>
              <a:off x="576" y="1104"/>
              <a:ext cx="475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尺度                    </a:t>
              </a:r>
              <a:r>
                <a:rPr lang="en-US" altLang="zh-CN" b="1">
                  <a:latin typeface="Times New Roman" panose="02020603050405020304" pitchFamily="18" charset="0"/>
                </a:rPr>
                <a:t>1              3              5              7              9            </a:t>
              </a:r>
            </a:p>
          </p:txBody>
        </p:sp>
        <p:graphicFrame>
          <p:nvGraphicFramePr>
            <p:cNvPr id="13329" name="Object 9"/>
            <p:cNvGraphicFramePr>
              <a:graphicFrameLocks noChangeAspect="1"/>
            </p:cNvGraphicFramePr>
            <p:nvPr/>
          </p:nvGraphicFramePr>
          <p:xfrm>
            <a:off x="1104" y="1056"/>
            <a:ext cx="336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4" r:id="rId3" imgW="203200" imgH="279400" progId="Equation.3">
                    <p:embed/>
                  </p:oleObj>
                </mc:Choice>
                <mc:Fallback>
                  <p:oleObj r:id="rId3" imgW="203200" imgH="279400" progId="Equation.3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04" y="1056"/>
                          <a:ext cx="336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0" name="Text Box 13"/>
            <p:cNvSpPr txBox="1"/>
            <p:nvPr/>
          </p:nvSpPr>
          <p:spPr>
            <a:xfrm>
              <a:off x="1728" y="1440"/>
              <a:ext cx="40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相同         稍强          强        明显强      绝对强</a:t>
              </a:r>
            </a:p>
          </p:txBody>
        </p:sp>
        <p:graphicFrame>
          <p:nvGraphicFramePr>
            <p:cNvPr id="13331" name="Object 37"/>
            <p:cNvGraphicFramePr>
              <a:graphicFrameLocks noChangeAspect="1"/>
            </p:cNvGraphicFramePr>
            <p:nvPr/>
          </p:nvGraphicFramePr>
          <p:xfrm>
            <a:off x="142" y="1440"/>
            <a:ext cx="1394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5" r:id="rId5" imgW="1257300" imgH="292100" progId="Equation.3">
                    <p:embed/>
                  </p:oleObj>
                </mc:Choice>
                <mc:Fallback>
                  <p:oleObj r:id="rId5" imgW="1257300" imgH="292100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42" y="1440"/>
                          <a:ext cx="1394" cy="3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2" name="Line 38"/>
            <p:cNvSpPr/>
            <p:nvPr/>
          </p:nvSpPr>
          <p:spPr>
            <a:xfrm>
              <a:off x="144" y="1776"/>
              <a:ext cx="53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33" name="Line 39"/>
            <p:cNvSpPr/>
            <p:nvPr/>
          </p:nvSpPr>
          <p:spPr>
            <a:xfrm>
              <a:off x="1632" y="1104"/>
              <a:ext cx="0" cy="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195" name="Group 51"/>
          <p:cNvGrpSpPr/>
          <p:nvPr/>
        </p:nvGrpSpPr>
        <p:grpSpPr>
          <a:xfrm>
            <a:off x="1116013" y="3670300"/>
            <a:ext cx="7494587" cy="520700"/>
            <a:chOff x="768" y="2160"/>
            <a:chExt cx="4656" cy="328"/>
          </a:xfrm>
        </p:grpSpPr>
        <p:graphicFrame>
          <p:nvGraphicFramePr>
            <p:cNvPr id="13323" name="Object 41"/>
            <p:cNvGraphicFramePr>
              <a:graphicFrameLocks noChangeAspect="1"/>
            </p:cNvGraphicFramePr>
            <p:nvPr/>
          </p:nvGraphicFramePr>
          <p:xfrm>
            <a:off x="2496" y="2160"/>
            <a:ext cx="720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6" r:id="rId7" imgW="546100" imgH="241300" progId="Equation.3">
                    <p:embed/>
                  </p:oleObj>
                </mc:Choice>
                <mc:Fallback>
                  <p:oleObj r:id="rId7" imgW="546100" imgH="241300" progId="Equation.3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496" y="2160"/>
                          <a:ext cx="720" cy="3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4" name="Text Box 43"/>
            <p:cNvSpPr txBox="1"/>
            <p:nvPr/>
          </p:nvSpPr>
          <p:spPr>
            <a:xfrm>
              <a:off x="768" y="2160"/>
              <a:ext cx="17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err="1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 i="1" baseline="-25000" err="1">
                  <a:latin typeface="Times New Roman" panose="02020603050405020304" pitchFamily="18" charset="0"/>
                </a:rPr>
                <a:t>ij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 = </a:t>
              </a:r>
              <a:r>
                <a:rPr lang="en-US" altLang="zh-CN" sz="2800" b="1">
                  <a:latin typeface="Times New Roman" panose="02020603050405020304" pitchFamily="18" charset="0"/>
                </a:rPr>
                <a:t>1,1/2, ,…,1/9</a:t>
              </a:r>
            </a:p>
          </p:txBody>
        </p:sp>
        <p:sp>
          <p:nvSpPr>
            <p:cNvPr id="13325" name="Text Box 45"/>
            <p:cNvSpPr txBox="1"/>
            <p:nvPr/>
          </p:nvSpPr>
          <p:spPr>
            <a:xfrm>
              <a:off x="3216" y="2160"/>
              <a:ext cx="22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的重要性与上面相反</a:t>
              </a:r>
            </a:p>
          </p:txBody>
        </p:sp>
      </p:grpSp>
      <p:sp>
        <p:nvSpPr>
          <p:cNvPr id="6191" name="Text Box 47"/>
          <p:cNvSpPr txBox="1"/>
          <p:nvPr/>
        </p:nvSpPr>
        <p:spPr>
          <a:xfrm>
            <a:off x="457200" y="4267200"/>
            <a:ext cx="8001000" cy="519113"/>
          </a:xfrm>
          <a:prstGeom prst="rect">
            <a:avLst/>
          </a:prstGeom>
          <a:solidFill>
            <a:srgbClr val="FFCC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心理学家认为成对比较的因素不宜超过</a:t>
            </a:r>
            <a:r>
              <a:rPr lang="en-US" altLang="zh-CN" sz="2800" b="1">
                <a:latin typeface="Times New Roman" panose="02020603050405020304" pitchFamily="18" charset="0"/>
              </a:rPr>
              <a:t>9</a:t>
            </a:r>
            <a:r>
              <a:rPr lang="zh-CN" altLang="en-US" sz="2800" b="1" dirty="0">
                <a:latin typeface="Times New Roman" panose="02020603050405020304" pitchFamily="18" charset="0"/>
              </a:rPr>
              <a:t>个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6192" name="Text Box 48"/>
          <p:cNvSpPr txBox="1"/>
          <p:nvPr/>
        </p:nvSpPr>
        <p:spPr>
          <a:xfrm>
            <a:off x="457200" y="4770438"/>
            <a:ext cx="8305800" cy="16303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用</a:t>
            </a:r>
            <a:r>
              <a:rPr lang="en-US" altLang="zh-CN" sz="2800" b="1">
                <a:latin typeface="Times New Roman" panose="02020603050405020304" pitchFamily="18" charset="0"/>
              </a:rPr>
              <a:t>1~3,1~5,…,1~17,…,1</a:t>
            </a:r>
            <a:r>
              <a:rPr lang="en-US" altLang="zh-CN" sz="2800" b="1" i="1" baseline="30000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~9</a:t>
            </a:r>
            <a:r>
              <a:rPr lang="en-US" altLang="zh-CN" sz="2800" b="1" i="1" baseline="30000">
                <a:latin typeface="Times New Roman" panose="02020603050405020304" pitchFamily="18" charset="0"/>
              </a:rPr>
              <a:t>p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=2,3,4,5), </a:t>
            </a:r>
            <a:r>
              <a:rPr lang="en-US" altLang="zh-CN" sz="2800" b="1" i="1">
                <a:latin typeface="Times New Roman" panose="02020603050405020304" pitchFamily="18" charset="0"/>
              </a:rPr>
              <a:t>d</a:t>
            </a:r>
            <a:r>
              <a:rPr lang="en-US" altLang="zh-CN" sz="2800" b="1">
                <a:latin typeface="Times New Roman" panose="02020603050405020304" pitchFamily="18" charset="0"/>
              </a:rPr>
              <a:t>+0.1~</a:t>
            </a:r>
            <a:r>
              <a:rPr lang="en-US" altLang="zh-CN" sz="2800" b="1" i="1">
                <a:latin typeface="Times New Roman" panose="02020603050405020304" pitchFamily="18" charset="0"/>
              </a:rPr>
              <a:t>d</a:t>
            </a:r>
            <a:r>
              <a:rPr lang="en-US" altLang="zh-CN" sz="2800" b="1">
                <a:latin typeface="Times New Roman" panose="02020603050405020304" pitchFamily="18" charset="0"/>
              </a:rPr>
              <a:t>+0.9 (</a:t>
            </a:r>
            <a:r>
              <a:rPr lang="en-US" altLang="zh-CN" sz="2800" b="1" i="1">
                <a:latin typeface="Times New Roman" panose="02020603050405020304" pitchFamily="18" charset="0"/>
              </a:rPr>
              <a:t>d</a:t>
            </a:r>
            <a:r>
              <a:rPr lang="en-US" altLang="zh-CN" sz="2800" b="1">
                <a:latin typeface="Times New Roman" panose="02020603050405020304" pitchFamily="18" charset="0"/>
              </a:rPr>
              <a:t>=1,2,3,4)</a:t>
            </a:r>
            <a:r>
              <a:rPr lang="zh-CN" altLang="en-US" sz="2800" b="1" dirty="0">
                <a:latin typeface="Times New Roman" panose="02020603050405020304" pitchFamily="18" charset="0"/>
              </a:rPr>
              <a:t>等</a:t>
            </a:r>
            <a:r>
              <a:rPr lang="en-US" altLang="zh-CN" sz="2800" b="1">
                <a:latin typeface="Times New Roman" panose="02020603050405020304" pitchFamily="18" charset="0"/>
              </a:rPr>
              <a:t>27</a:t>
            </a:r>
            <a:r>
              <a:rPr lang="zh-CN" altLang="en-US" sz="2800" b="1" dirty="0">
                <a:latin typeface="Times New Roman" panose="02020603050405020304" pitchFamily="18" charset="0"/>
              </a:rPr>
              <a:t>种比较尺度对若干实例构造成对比较阵，算出权向量，与实际对比发现， </a:t>
            </a:r>
            <a:r>
              <a:rPr lang="en-US" altLang="zh-CN" sz="2800" b="1">
                <a:latin typeface="Times New Roman" panose="02020603050405020304" pitchFamily="18" charset="0"/>
              </a:rPr>
              <a:t>1~9</a:t>
            </a:r>
            <a:r>
              <a:rPr lang="zh-CN" altLang="en-US" sz="2800" b="1" dirty="0">
                <a:latin typeface="Times New Roman" panose="02020603050405020304" pitchFamily="18" charset="0"/>
              </a:rPr>
              <a:t>尺度较优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6193" name="Text Box 49"/>
          <p:cNvSpPr txBox="1"/>
          <p:nvPr/>
        </p:nvSpPr>
        <p:spPr>
          <a:xfrm>
            <a:off x="685800" y="1855788"/>
            <a:ext cx="4462463" cy="519112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便于定性到定量的转化：</a:t>
            </a:r>
          </a:p>
        </p:txBody>
      </p:sp>
      <p:sp>
        <p:nvSpPr>
          <p:cNvPr id="13322" name="Text Box 50"/>
          <p:cNvSpPr txBox="1"/>
          <p:nvPr/>
        </p:nvSpPr>
        <p:spPr>
          <a:xfrm>
            <a:off x="76200" y="469900"/>
            <a:ext cx="3505200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成对比较阵和权向量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1000"/>
                                        <p:tgtEl>
                                          <p:spTgt spid="6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6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1000"/>
                                        <p:tgtEl>
                                          <p:spTgt spid="6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1000"/>
                                        <p:tgtEl>
                                          <p:spTgt spid="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1000"/>
                                        <p:tgtEl>
                                          <p:spTgt spid="6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1000"/>
                                        <p:tgtEl>
                                          <p:spTgt spid="6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7" grpId="0"/>
      <p:bldP spid="6175" grpId="0" animBg="1"/>
      <p:bldP spid="6176" grpId="0" animBg="1"/>
      <p:bldP spid="6191" grpId="0" animBg="1"/>
      <p:bldP spid="6192" grpId="0" animBg="1"/>
      <p:bldP spid="619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34"/>
          <p:cNvSpPr txBox="1"/>
          <p:nvPr/>
        </p:nvSpPr>
        <p:spPr>
          <a:xfrm>
            <a:off x="228600" y="381000"/>
            <a:ext cx="2057400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一致性检验</a:t>
            </a:r>
          </a:p>
        </p:txBody>
      </p:sp>
      <p:sp>
        <p:nvSpPr>
          <p:cNvPr id="7203" name="Text Box 35"/>
          <p:cNvSpPr txBox="1"/>
          <p:nvPr/>
        </p:nvSpPr>
        <p:spPr>
          <a:xfrm>
            <a:off x="2484438" y="404813"/>
            <a:ext cx="4572000" cy="51911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对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</a:rPr>
              <a:t>确定不一致的允许范围</a:t>
            </a:r>
          </a:p>
        </p:txBody>
      </p:sp>
      <p:sp>
        <p:nvSpPr>
          <p:cNvPr id="7204" name="Text Box 36"/>
          <p:cNvSpPr txBox="1"/>
          <p:nvPr/>
        </p:nvSpPr>
        <p:spPr>
          <a:xfrm>
            <a:off x="152400" y="990600"/>
            <a:ext cx="6477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已知：</a:t>
            </a:r>
            <a:r>
              <a:rPr lang="en-US" altLang="zh-CN" sz="2800" b="1" i="1"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latin typeface="Times New Roman" panose="02020603050405020304" pitchFamily="18" charset="0"/>
              </a:rPr>
              <a:t>阶一致阵的唯一非零特征根为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7205" name="Text Box 37"/>
          <p:cNvSpPr txBox="1"/>
          <p:nvPr/>
        </p:nvSpPr>
        <p:spPr>
          <a:xfrm>
            <a:off x="152400" y="1614488"/>
            <a:ext cx="8915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可证：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阶正互反阵最大特征根</a:t>
            </a:r>
            <a:r>
              <a:rPr lang="zh-CN" altLang="en-US" sz="2800" b="1" i="1" dirty="0">
                <a:latin typeface="宋体" panose="02010600030101010101" pitchFamily="2" charset="-122"/>
                <a:sym typeface="Symbol" panose="05050102010706020507" pitchFamily="18" charset="2"/>
              </a:rPr>
              <a:t>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且</a:t>
            </a:r>
            <a:r>
              <a:rPr lang="zh-CN" altLang="en-US" sz="2800" b="1" i="1" dirty="0">
                <a:latin typeface="宋体" panose="02010600030101010101" pitchFamily="2" charset="-122"/>
                <a:sym typeface="Symbol" panose="05050102010706020507" pitchFamily="18" charset="2"/>
              </a:rPr>
              <a:t>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时为一致阵</a:t>
            </a:r>
          </a:p>
        </p:txBody>
      </p:sp>
      <p:grpSp>
        <p:nvGrpSpPr>
          <p:cNvPr id="7221" name="Group 53"/>
          <p:cNvGrpSpPr/>
          <p:nvPr/>
        </p:nvGrpSpPr>
        <p:grpSpPr>
          <a:xfrm>
            <a:off x="152400" y="2133600"/>
            <a:ext cx="4953000" cy="990600"/>
            <a:chOff x="96" y="1344"/>
            <a:chExt cx="3120" cy="624"/>
          </a:xfrm>
        </p:grpSpPr>
        <p:graphicFrame>
          <p:nvGraphicFramePr>
            <p:cNvPr id="14378" name="Object 2"/>
            <p:cNvGraphicFramePr>
              <a:graphicFrameLocks noChangeAspect="1"/>
            </p:cNvGraphicFramePr>
            <p:nvPr/>
          </p:nvGraphicFramePr>
          <p:xfrm>
            <a:off x="1867" y="1344"/>
            <a:ext cx="1349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4" r:id="rId3" imgW="850265" imgH="469900" progId="Equation.3">
                    <p:embed/>
                  </p:oleObj>
                </mc:Choice>
                <mc:Fallback>
                  <p:oleObj r:id="rId3" imgW="850265" imgH="469900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67" y="1344"/>
                          <a:ext cx="1349" cy="624"/>
                        </a:xfrm>
                        <a:prstGeom prst="rect">
                          <a:avLst/>
                        </a:prstGeom>
                        <a:solidFill>
                          <a:srgbClr val="FF99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79" name="Text Box 38"/>
            <p:cNvSpPr txBox="1"/>
            <p:nvPr/>
          </p:nvSpPr>
          <p:spPr>
            <a:xfrm>
              <a:off x="96" y="1440"/>
              <a:ext cx="1776" cy="327"/>
            </a:xfrm>
            <a:prstGeom prst="rect">
              <a:avLst/>
            </a:prstGeom>
            <a:solidFill>
              <a:srgbClr val="FF99FF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定义一致性指标</a:t>
              </a:r>
              <a:r>
                <a:rPr lang="en-US" altLang="zh-CN" sz="2800" b="1">
                  <a:latin typeface="Times New Roman" panose="02020603050405020304" pitchFamily="18" charset="0"/>
                </a:rPr>
                <a:t>:</a:t>
              </a:r>
            </a:p>
          </p:txBody>
        </p:sp>
      </p:grpSp>
      <p:sp>
        <p:nvSpPr>
          <p:cNvPr id="7207" name="Text Box 39"/>
          <p:cNvSpPr txBox="1"/>
          <p:nvPr/>
        </p:nvSpPr>
        <p:spPr>
          <a:xfrm>
            <a:off x="5181600" y="2300288"/>
            <a:ext cx="3962400" cy="519112"/>
          </a:xfrm>
          <a:prstGeom prst="rect">
            <a:avLst/>
          </a:prstGeom>
          <a:solidFill>
            <a:srgbClr val="99FF33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CI </a:t>
            </a:r>
            <a:r>
              <a:rPr lang="zh-CN" altLang="en-US" sz="2800" b="1" dirty="0">
                <a:latin typeface="Times New Roman" panose="02020603050405020304" pitchFamily="18" charset="0"/>
              </a:rPr>
              <a:t>越大，不一致越严重</a:t>
            </a:r>
          </a:p>
        </p:txBody>
      </p:sp>
      <p:grpSp>
        <p:nvGrpSpPr>
          <p:cNvPr id="7211" name="Group 43"/>
          <p:cNvGrpSpPr/>
          <p:nvPr/>
        </p:nvGrpSpPr>
        <p:grpSpPr>
          <a:xfrm>
            <a:off x="228600" y="4800600"/>
            <a:ext cx="8686800" cy="990600"/>
            <a:chOff x="336" y="2688"/>
            <a:chExt cx="5424" cy="624"/>
          </a:xfrm>
        </p:grpSpPr>
        <p:sp>
          <p:nvSpPr>
            <p:cNvPr id="14349" name="Line 5"/>
            <p:cNvSpPr/>
            <p:nvPr/>
          </p:nvSpPr>
          <p:spPr>
            <a:xfrm>
              <a:off x="336" y="2976"/>
              <a:ext cx="52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0" name="Line 6"/>
            <p:cNvSpPr/>
            <p:nvPr/>
          </p:nvSpPr>
          <p:spPr>
            <a:xfrm>
              <a:off x="336" y="3312"/>
              <a:ext cx="52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1" name="Line 7"/>
            <p:cNvSpPr/>
            <p:nvPr/>
          </p:nvSpPr>
          <p:spPr>
            <a:xfrm>
              <a:off x="816" y="2688"/>
              <a:ext cx="0" cy="6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2" name="Text Box 9"/>
            <p:cNvSpPr txBox="1"/>
            <p:nvPr/>
          </p:nvSpPr>
          <p:spPr>
            <a:xfrm>
              <a:off x="432" y="3024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RI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14353" name="Text Box 11"/>
            <p:cNvSpPr txBox="1"/>
            <p:nvPr/>
          </p:nvSpPr>
          <p:spPr>
            <a:xfrm>
              <a:off x="864" y="3024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4354" name="Text Box 13"/>
            <p:cNvSpPr txBox="1"/>
            <p:nvPr/>
          </p:nvSpPr>
          <p:spPr>
            <a:xfrm>
              <a:off x="1104" y="3024"/>
              <a:ext cx="1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4355" name="Text Box 15"/>
            <p:cNvSpPr txBox="1"/>
            <p:nvPr/>
          </p:nvSpPr>
          <p:spPr>
            <a:xfrm>
              <a:off x="1344" y="3024"/>
              <a:ext cx="5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</a:rPr>
                <a:t>0.58</a:t>
              </a:r>
            </a:p>
          </p:txBody>
        </p:sp>
        <p:sp>
          <p:nvSpPr>
            <p:cNvPr id="14356" name="Text Box 16"/>
            <p:cNvSpPr txBox="1"/>
            <p:nvPr/>
          </p:nvSpPr>
          <p:spPr>
            <a:xfrm>
              <a:off x="1824" y="3024"/>
              <a:ext cx="5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</a:rPr>
                <a:t>0.90</a:t>
              </a:r>
            </a:p>
          </p:txBody>
        </p:sp>
        <p:sp>
          <p:nvSpPr>
            <p:cNvPr id="14357" name="Text Box 18"/>
            <p:cNvSpPr txBox="1"/>
            <p:nvPr/>
          </p:nvSpPr>
          <p:spPr>
            <a:xfrm>
              <a:off x="2256" y="3024"/>
              <a:ext cx="5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</a:rPr>
                <a:t>1.12</a:t>
              </a:r>
            </a:p>
          </p:txBody>
        </p:sp>
        <p:sp>
          <p:nvSpPr>
            <p:cNvPr id="14358" name="Text Box 20"/>
            <p:cNvSpPr txBox="1"/>
            <p:nvPr/>
          </p:nvSpPr>
          <p:spPr>
            <a:xfrm>
              <a:off x="2736" y="3024"/>
              <a:ext cx="5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</a:rPr>
                <a:t>1.24</a:t>
              </a:r>
            </a:p>
          </p:txBody>
        </p:sp>
        <p:sp>
          <p:nvSpPr>
            <p:cNvPr id="14359" name="Text Box 22"/>
            <p:cNvSpPr txBox="1"/>
            <p:nvPr/>
          </p:nvSpPr>
          <p:spPr>
            <a:xfrm>
              <a:off x="3216" y="3024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</a:rPr>
                <a:t>1.32</a:t>
              </a:r>
            </a:p>
          </p:txBody>
        </p:sp>
        <p:sp>
          <p:nvSpPr>
            <p:cNvPr id="14360" name="Text Box 24"/>
            <p:cNvSpPr txBox="1"/>
            <p:nvPr/>
          </p:nvSpPr>
          <p:spPr>
            <a:xfrm>
              <a:off x="3648" y="3024"/>
              <a:ext cx="5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</a:rPr>
                <a:t>1.41</a:t>
              </a:r>
            </a:p>
          </p:txBody>
        </p:sp>
        <p:sp>
          <p:nvSpPr>
            <p:cNvPr id="14361" name="Text Box 26"/>
            <p:cNvSpPr txBox="1"/>
            <p:nvPr/>
          </p:nvSpPr>
          <p:spPr>
            <a:xfrm>
              <a:off x="4128" y="3024"/>
              <a:ext cx="6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</a:rPr>
                <a:t>1.45</a:t>
              </a:r>
            </a:p>
          </p:txBody>
        </p:sp>
        <p:sp>
          <p:nvSpPr>
            <p:cNvPr id="14362" name="Text Box 28"/>
            <p:cNvSpPr txBox="1"/>
            <p:nvPr/>
          </p:nvSpPr>
          <p:spPr>
            <a:xfrm>
              <a:off x="4608" y="3024"/>
              <a:ext cx="5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</a:rPr>
                <a:t>1.49</a:t>
              </a:r>
            </a:p>
          </p:txBody>
        </p:sp>
        <p:sp>
          <p:nvSpPr>
            <p:cNvPr id="14363" name="Text Box 29"/>
            <p:cNvSpPr txBox="1"/>
            <p:nvPr/>
          </p:nvSpPr>
          <p:spPr>
            <a:xfrm>
              <a:off x="5088" y="3024"/>
              <a:ext cx="6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</a:rPr>
                <a:t>1.51</a:t>
              </a:r>
            </a:p>
          </p:txBody>
        </p:sp>
        <p:grpSp>
          <p:nvGrpSpPr>
            <p:cNvPr id="14364" name="Group 41"/>
            <p:cNvGrpSpPr/>
            <p:nvPr/>
          </p:nvGrpSpPr>
          <p:grpSpPr>
            <a:xfrm>
              <a:off x="432" y="2688"/>
              <a:ext cx="5184" cy="336"/>
              <a:chOff x="432" y="2592"/>
              <a:chExt cx="5184" cy="336"/>
            </a:xfrm>
          </p:grpSpPr>
          <p:sp>
            <p:nvSpPr>
              <p:cNvPr id="14366" name="Text Box 8"/>
              <p:cNvSpPr txBox="1"/>
              <p:nvPr/>
            </p:nvSpPr>
            <p:spPr>
              <a:xfrm>
                <a:off x="432" y="2592"/>
                <a:ext cx="28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 </a:t>
                </a:r>
                <a:r>
                  <a:rPr lang="en-US" altLang="zh-CN" b="1" i="1"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14367" name="Text Box 10"/>
              <p:cNvSpPr txBox="1"/>
              <p:nvPr/>
            </p:nvSpPr>
            <p:spPr>
              <a:xfrm>
                <a:off x="864" y="2592"/>
                <a:ext cx="28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4368" name="Text Box 12"/>
              <p:cNvSpPr txBox="1"/>
              <p:nvPr/>
            </p:nvSpPr>
            <p:spPr>
              <a:xfrm>
                <a:off x="1104" y="2592"/>
                <a:ext cx="28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4369" name="Text Box 14"/>
              <p:cNvSpPr txBox="1"/>
              <p:nvPr/>
            </p:nvSpPr>
            <p:spPr>
              <a:xfrm>
                <a:off x="1536" y="2592"/>
                <a:ext cx="28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4370" name="Text Box 17"/>
              <p:cNvSpPr txBox="1"/>
              <p:nvPr/>
            </p:nvSpPr>
            <p:spPr>
              <a:xfrm>
                <a:off x="1968" y="2592"/>
                <a:ext cx="3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4371" name="Text Box 19"/>
              <p:cNvSpPr txBox="1"/>
              <p:nvPr/>
            </p:nvSpPr>
            <p:spPr>
              <a:xfrm>
                <a:off x="2400" y="2592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14372" name="Text Box 21"/>
              <p:cNvSpPr txBox="1"/>
              <p:nvPr/>
            </p:nvSpPr>
            <p:spPr>
              <a:xfrm>
                <a:off x="2880" y="2592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14373" name="Text Box 23"/>
              <p:cNvSpPr txBox="1"/>
              <p:nvPr/>
            </p:nvSpPr>
            <p:spPr>
              <a:xfrm>
                <a:off x="3360" y="2592"/>
                <a:ext cx="24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14374" name="Text Box 25"/>
              <p:cNvSpPr txBox="1"/>
              <p:nvPr/>
            </p:nvSpPr>
            <p:spPr>
              <a:xfrm>
                <a:off x="3792" y="2592"/>
                <a:ext cx="19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14375" name="Text Box 27"/>
              <p:cNvSpPr txBox="1"/>
              <p:nvPr/>
            </p:nvSpPr>
            <p:spPr>
              <a:xfrm>
                <a:off x="4272" y="2592"/>
                <a:ext cx="24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9</a:t>
                </a:r>
              </a:p>
            </p:txBody>
          </p:sp>
          <p:sp>
            <p:nvSpPr>
              <p:cNvPr id="14376" name="Text Box 30"/>
              <p:cNvSpPr txBox="1"/>
              <p:nvPr/>
            </p:nvSpPr>
            <p:spPr>
              <a:xfrm>
                <a:off x="5184" y="2640"/>
                <a:ext cx="4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11</a:t>
                </a:r>
              </a:p>
            </p:txBody>
          </p:sp>
          <p:sp>
            <p:nvSpPr>
              <p:cNvPr id="14377" name="Text Box 31"/>
              <p:cNvSpPr txBox="1"/>
              <p:nvPr/>
            </p:nvSpPr>
            <p:spPr>
              <a:xfrm>
                <a:off x="4704" y="2640"/>
                <a:ext cx="3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10</a:t>
                </a:r>
              </a:p>
            </p:txBody>
          </p:sp>
        </p:grpSp>
        <p:sp>
          <p:nvSpPr>
            <p:cNvPr id="14365" name="Line 42"/>
            <p:cNvSpPr/>
            <p:nvPr/>
          </p:nvSpPr>
          <p:spPr>
            <a:xfrm>
              <a:off x="336" y="2688"/>
              <a:ext cx="52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208" name="Text Box 40"/>
          <p:cNvSpPr txBox="1"/>
          <p:nvPr/>
        </p:nvSpPr>
        <p:spPr>
          <a:xfrm>
            <a:off x="395288" y="3068638"/>
            <a:ext cx="837565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为衡量</a:t>
            </a:r>
            <a:r>
              <a:rPr lang="en-US" altLang="zh-CN" sz="2800" b="1" i="1">
                <a:latin typeface="Times New Roman" panose="02020603050405020304" pitchFamily="18" charset="0"/>
              </a:rPr>
              <a:t>CI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的大小，引入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随机一致性指标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RI</a:t>
            </a:r>
            <a:r>
              <a:rPr lang="en-US" altLang="zh-CN" sz="2800" b="1">
                <a:latin typeface="Times New Roman" panose="02020603050405020304" pitchFamily="18" charset="0"/>
              </a:rPr>
              <a:t>——</a:t>
            </a:r>
            <a:r>
              <a:rPr lang="zh-CN" altLang="en-US" sz="2800" b="1" dirty="0">
                <a:latin typeface="Times New Roman" panose="02020603050405020304" pitchFamily="18" charset="0"/>
              </a:rPr>
              <a:t>随机模拟得到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 sz="2800" b="1">
                <a:latin typeface="Times New Roman" panose="02020603050405020304" pitchFamily="18" charset="0"/>
              </a:rPr>
              <a:t> ,  </a:t>
            </a:r>
            <a:r>
              <a:rPr lang="zh-CN" altLang="en-US" sz="2800" b="1" dirty="0">
                <a:latin typeface="Times New Roman" panose="02020603050405020304" pitchFamily="18" charset="0"/>
              </a:rPr>
              <a:t>形成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，计算</a:t>
            </a:r>
            <a:r>
              <a:rPr lang="en-US" altLang="zh-CN" sz="2800" b="1" i="1">
                <a:latin typeface="Times New Roman" panose="02020603050405020304" pitchFamily="18" charset="0"/>
              </a:rPr>
              <a:t>CI </a:t>
            </a:r>
            <a:r>
              <a:rPr lang="zh-CN" altLang="en-US" sz="2800" b="1" dirty="0">
                <a:latin typeface="Times New Roman" panose="02020603050405020304" pitchFamily="18" charset="0"/>
              </a:rPr>
              <a:t>即得</a:t>
            </a:r>
            <a:r>
              <a:rPr lang="en-US" altLang="zh-CN" sz="2800" b="1" i="1">
                <a:latin typeface="Times New Roman" panose="02020603050405020304" pitchFamily="18" charset="0"/>
              </a:rPr>
              <a:t>RI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7213" name="Text Box 45"/>
          <p:cNvSpPr txBox="1"/>
          <p:nvPr/>
        </p:nvSpPr>
        <p:spPr>
          <a:xfrm>
            <a:off x="0" y="5949950"/>
            <a:ext cx="4427538" cy="519113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定义一致性比率</a:t>
            </a:r>
            <a:r>
              <a:rPr lang="en-US" altLang="zh-CN" sz="2800" b="1" i="1">
                <a:latin typeface="Times New Roman" panose="02020603050405020304" pitchFamily="18" charset="0"/>
              </a:rPr>
              <a:t>CR = CI</a:t>
            </a:r>
            <a:r>
              <a:rPr lang="en-US" altLang="zh-CN" sz="2800" b="1">
                <a:latin typeface="Times New Roman" panose="02020603050405020304" pitchFamily="18" charset="0"/>
              </a:rPr>
              <a:t>/</a:t>
            </a:r>
            <a:r>
              <a:rPr lang="en-US" altLang="zh-CN" sz="2800" b="1" i="1">
                <a:latin typeface="Times New Roman" panose="02020603050405020304" pitchFamily="18" charset="0"/>
              </a:rPr>
              <a:t>RI</a:t>
            </a:r>
          </a:p>
        </p:txBody>
      </p:sp>
      <p:sp>
        <p:nvSpPr>
          <p:cNvPr id="7214" name="Text Box 46"/>
          <p:cNvSpPr txBox="1"/>
          <p:nvPr/>
        </p:nvSpPr>
        <p:spPr>
          <a:xfrm>
            <a:off x="4495800" y="5867400"/>
            <a:ext cx="4648200" cy="604838"/>
          </a:xfrm>
          <a:prstGeom prst="rect">
            <a:avLst/>
          </a:prstGeom>
          <a:solidFill>
            <a:srgbClr val="99FF33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当</a:t>
            </a:r>
            <a:r>
              <a:rPr lang="en-US" altLang="zh-CN" sz="2800" b="1" i="1">
                <a:latin typeface="Times New Roman" panose="02020603050405020304" pitchFamily="18" charset="0"/>
              </a:rPr>
              <a:t>CR</a:t>
            </a:r>
            <a:r>
              <a:rPr lang="en-US" altLang="zh-CN" sz="2800" b="1">
                <a:latin typeface="Times New Roman" panose="02020603050405020304" pitchFamily="18" charset="0"/>
              </a:rPr>
              <a:t>&lt;0.1</a:t>
            </a:r>
            <a:r>
              <a:rPr lang="zh-CN" altLang="en-US" sz="2800" b="1" dirty="0">
                <a:latin typeface="Times New Roman" panose="02020603050405020304" pitchFamily="18" charset="0"/>
              </a:rPr>
              <a:t>时通过一致性检验</a:t>
            </a:r>
          </a:p>
        </p:txBody>
      </p:sp>
      <p:sp>
        <p:nvSpPr>
          <p:cNvPr id="7220" name="Text Box 52"/>
          <p:cNvSpPr txBox="1"/>
          <p:nvPr/>
        </p:nvSpPr>
        <p:spPr>
          <a:xfrm>
            <a:off x="3276600" y="4191000"/>
            <a:ext cx="2971800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err="1">
                <a:latin typeface="Times New Roman" panose="02020603050405020304" pitchFamily="18" charset="0"/>
              </a:rPr>
              <a:t>Saaty</a:t>
            </a:r>
            <a:r>
              <a:rPr lang="zh-CN" altLang="en-US" sz="2800" b="1" dirty="0">
                <a:latin typeface="Times New Roman" panose="02020603050405020304" pitchFamily="18" charset="0"/>
              </a:rPr>
              <a:t>的结果如下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8" dur="1000"/>
                                        <p:tgtEl>
                                          <p:spTgt spid="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1000"/>
                                        <p:tgtEl>
                                          <p:spTgt spid="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1000"/>
                                        <p:tgtEl>
                                          <p:spTgt spid="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1000"/>
                                        <p:tgtEl>
                                          <p:spTgt spid="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1000"/>
                                        <p:tgtEl>
                                          <p:spTgt spid="7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1000"/>
                                        <p:tgtEl>
                                          <p:spTgt spid="7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7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3" grpId="0" animBg="1"/>
      <p:bldP spid="7204" grpId="0"/>
      <p:bldP spid="7205" grpId="0"/>
      <p:bldP spid="7207" grpId="0" animBg="1"/>
      <p:bldP spid="7208" grpId="0"/>
      <p:bldP spid="7213" grpId="0" animBg="1"/>
      <p:bldP spid="7214" grpId="0" animBg="1"/>
      <p:bldP spid="72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3"/>
          <p:cNvSpPr txBox="1"/>
          <p:nvPr/>
        </p:nvSpPr>
        <p:spPr>
          <a:xfrm>
            <a:off x="304800" y="635000"/>
            <a:ext cx="3124200" cy="1373188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“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选择旅游地”中准则层对目标的权向量及一致性检验</a:t>
            </a:r>
          </a:p>
        </p:txBody>
      </p:sp>
      <p:grpSp>
        <p:nvGrpSpPr>
          <p:cNvPr id="32786" name="Group 18"/>
          <p:cNvGrpSpPr/>
          <p:nvPr/>
        </p:nvGrpSpPr>
        <p:grpSpPr>
          <a:xfrm>
            <a:off x="4038600" y="534988"/>
            <a:ext cx="4572000" cy="2473325"/>
            <a:chOff x="2592" y="201"/>
            <a:chExt cx="2880" cy="1558"/>
          </a:xfrm>
        </p:grpSpPr>
        <p:graphicFrame>
          <p:nvGraphicFramePr>
            <p:cNvPr id="15372" name="Object 2"/>
            <p:cNvGraphicFramePr>
              <a:graphicFrameLocks noChangeAspect="1"/>
            </p:cNvGraphicFramePr>
            <p:nvPr/>
          </p:nvGraphicFramePr>
          <p:xfrm>
            <a:off x="2776" y="648"/>
            <a:ext cx="2512" cy="1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5" r:id="rId3" imgW="2336800" imgH="1168400" progId="Equation.DSMT4">
                    <p:embed/>
                  </p:oleObj>
                </mc:Choice>
                <mc:Fallback>
                  <p:oleObj r:id="rId3" imgW="2336800" imgH="1168400" progId="Equation.DSMT4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76" y="648"/>
                          <a:ext cx="2512" cy="11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3" name="Text Box 4"/>
            <p:cNvSpPr txBox="1"/>
            <p:nvPr/>
          </p:nvSpPr>
          <p:spPr>
            <a:xfrm>
              <a:off x="2592" y="201"/>
              <a:ext cx="28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楷体_GB2312" pitchFamily="49" charset="-122"/>
                </a:rPr>
                <a:t>准则层对目标的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成对比较阵</a:t>
              </a:r>
            </a:p>
          </p:txBody>
        </p:sp>
      </p:grpSp>
      <p:sp>
        <p:nvSpPr>
          <p:cNvPr id="32773" name="Text Box 5"/>
          <p:cNvSpPr txBox="1"/>
          <p:nvPr/>
        </p:nvSpPr>
        <p:spPr>
          <a:xfrm>
            <a:off x="457200" y="2554288"/>
            <a:ext cx="3200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最大特征根</a:t>
            </a:r>
            <a:r>
              <a:rPr lang="zh-CN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=5.073</a:t>
            </a:r>
            <a:endParaRPr lang="en-US" altLang="zh-CN" sz="2800" b="1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2775" name="Rectangle 7"/>
          <p:cNvSpPr/>
          <p:nvPr/>
        </p:nvSpPr>
        <p:spPr>
          <a:xfrm>
            <a:off x="457200" y="3302000"/>
            <a:ext cx="8382000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</a:rPr>
              <a:t>权向量</a:t>
            </a:r>
            <a:r>
              <a:rPr lang="en-US" altLang="zh-CN" sz="2800" b="1" dirty="0">
                <a:latin typeface="宋体" panose="02010600030101010101" pitchFamily="2" charset="-122"/>
              </a:rPr>
              <a:t>(</a:t>
            </a:r>
            <a:r>
              <a:rPr lang="zh-CN" altLang="en-US" sz="2800" b="1" dirty="0">
                <a:latin typeface="宋体" panose="02010600030101010101" pitchFamily="2" charset="-122"/>
              </a:rPr>
              <a:t>特征向量</a:t>
            </a:r>
            <a:r>
              <a:rPr lang="en-US" altLang="zh-CN" sz="2800" b="1" dirty="0">
                <a:latin typeface="宋体" panose="02010600030101010101" pitchFamily="2" charset="-122"/>
              </a:rPr>
              <a:t>)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w </a:t>
            </a:r>
            <a:r>
              <a:rPr lang="en-US" altLang="zh-CN" sz="2800" b="1" dirty="0">
                <a:latin typeface="Times New Roman" panose="02020603050405020304" pitchFamily="18" charset="0"/>
              </a:rPr>
              <a:t>=(0.263,0.475,0.055,0.090,0.110)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T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grpSp>
        <p:nvGrpSpPr>
          <p:cNvPr id="32784" name="Group 16"/>
          <p:cNvGrpSpPr/>
          <p:nvPr/>
        </p:nvGrpSpPr>
        <p:grpSpPr>
          <a:xfrm>
            <a:off x="533400" y="3987800"/>
            <a:ext cx="5410200" cy="846138"/>
            <a:chOff x="480" y="2496"/>
            <a:chExt cx="3408" cy="533"/>
          </a:xfrm>
        </p:grpSpPr>
        <p:graphicFrame>
          <p:nvGraphicFramePr>
            <p:cNvPr id="15370" name="Object 9"/>
            <p:cNvGraphicFramePr>
              <a:graphicFrameLocks noChangeAspect="1"/>
            </p:cNvGraphicFramePr>
            <p:nvPr/>
          </p:nvGraphicFramePr>
          <p:xfrm>
            <a:off x="1691" y="2496"/>
            <a:ext cx="2197" cy="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6" r:id="rId5" imgW="1752600" imgH="469900" progId="Equation.3">
                    <p:embed/>
                  </p:oleObj>
                </mc:Choice>
                <mc:Fallback>
                  <p:oleObj r:id="rId5" imgW="1752600" imgH="469900" progId="Equation.3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691" y="2496"/>
                          <a:ext cx="2197" cy="5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1" name="Text Box 10"/>
            <p:cNvSpPr txBox="1"/>
            <p:nvPr/>
          </p:nvSpPr>
          <p:spPr>
            <a:xfrm>
              <a:off x="480" y="2544"/>
              <a:ext cx="124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一致性指标</a:t>
              </a:r>
            </a:p>
          </p:txBody>
        </p:sp>
      </p:grpSp>
      <p:sp>
        <p:nvSpPr>
          <p:cNvPr id="32780" name="Rectangle 12"/>
          <p:cNvSpPr/>
          <p:nvPr/>
        </p:nvSpPr>
        <p:spPr>
          <a:xfrm>
            <a:off x="533400" y="4978400"/>
            <a:ext cx="5486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</a:rPr>
              <a:t>随机一致性指标 </a:t>
            </a:r>
            <a:r>
              <a:rPr lang="en-US" altLang="zh-CN" sz="2800" b="1" i="1">
                <a:latin typeface="Times New Roman" panose="02020603050405020304" pitchFamily="18" charset="0"/>
              </a:rPr>
              <a:t>RI=</a:t>
            </a:r>
            <a:r>
              <a:rPr lang="en-US" altLang="zh-CN" sz="2800" b="1">
                <a:latin typeface="Times New Roman" panose="02020603050405020304" pitchFamily="18" charset="0"/>
              </a:rPr>
              <a:t>1.12 (</a:t>
            </a:r>
            <a:r>
              <a:rPr lang="zh-CN" altLang="zh-CN" sz="2800" b="1" dirty="0">
                <a:latin typeface="Times New Roman" panose="02020603050405020304" pitchFamily="18" charset="0"/>
              </a:rPr>
              <a:t>查表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2783" name="Text Box 15"/>
          <p:cNvSpPr txBox="1"/>
          <p:nvPr/>
        </p:nvSpPr>
        <p:spPr>
          <a:xfrm>
            <a:off x="533400" y="5664200"/>
            <a:ext cx="6019800" cy="519113"/>
          </a:xfrm>
          <a:prstGeom prst="rect">
            <a:avLst/>
          </a:prstGeom>
          <a:solidFill>
            <a:srgbClr val="FFCC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一致性比率</a:t>
            </a:r>
            <a:r>
              <a:rPr lang="en-US" altLang="zh-CN" sz="2800" b="1" i="1">
                <a:latin typeface="Times New Roman" panose="02020603050405020304" pitchFamily="18" charset="0"/>
              </a:rPr>
              <a:t>CR</a:t>
            </a:r>
            <a:r>
              <a:rPr lang="en-US" altLang="zh-CN" sz="2800" b="1">
                <a:latin typeface="Times New Roman" panose="02020603050405020304" pitchFamily="18" charset="0"/>
              </a:rPr>
              <a:t>=0.018/1.12=0.016&lt;0.1</a:t>
            </a:r>
          </a:p>
        </p:txBody>
      </p:sp>
      <p:sp>
        <p:nvSpPr>
          <p:cNvPr id="32785" name="Text Box 17"/>
          <p:cNvSpPr txBox="1"/>
          <p:nvPr/>
        </p:nvSpPr>
        <p:spPr>
          <a:xfrm>
            <a:off x="6877050" y="5105400"/>
            <a:ext cx="2016125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通过一致性检验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10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10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10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/>
      <p:bldP spid="32775" grpId="0" animBg="1"/>
      <p:bldP spid="32780" grpId="0"/>
      <p:bldP spid="32783" grpId="0" animBg="1"/>
      <p:bldP spid="3278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/>
          <p:nvPr/>
        </p:nvSpPr>
        <p:spPr>
          <a:xfrm>
            <a:off x="2699792" y="452580"/>
            <a:ext cx="2152650" cy="533400"/>
          </a:xfrm>
          <a:prstGeom prst="rect">
            <a:avLst/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r>
              <a:rPr lang="en-US" altLang="zh-CN" b="1" i="1" dirty="0">
                <a:latin typeface="Times New Roman" panose="02020603050405020304" pitchFamily="18" charset="0"/>
              </a:rPr>
              <a:t>O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</a:rPr>
              <a:t>选择旅游地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</a:p>
        </p:txBody>
      </p:sp>
      <p:grpSp>
        <p:nvGrpSpPr>
          <p:cNvPr id="6150" name="Group 10"/>
          <p:cNvGrpSpPr/>
          <p:nvPr/>
        </p:nvGrpSpPr>
        <p:grpSpPr>
          <a:xfrm>
            <a:off x="841256" y="991741"/>
            <a:ext cx="6235700" cy="1727200"/>
            <a:chOff x="1392" y="1680"/>
            <a:chExt cx="3840" cy="1104"/>
          </a:xfrm>
        </p:grpSpPr>
        <p:sp>
          <p:nvSpPr>
            <p:cNvPr id="6173" name="Rectangle 11"/>
            <p:cNvSpPr/>
            <p:nvPr/>
          </p:nvSpPr>
          <p:spPr>
            <a:xfrm>
              <a:off x="3024" y="2208"/>
              <a:ext cx="528" cy="52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3</a:t>
              </a:r>
              <a:endParaRPr lang="en-US" altLang="zh-CN" b="1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居住</a:t>
              </a:r>
            </a:p>
          </p:txBody>
        </p:sp>
        <p:sp>
          <p:nvSpPr>
            <p:cNvPr id="6174" name="Rectangle 12"/>
            <p:cNvSpPr/>
            <p:nvPr/>
          </p:nvSpPr>
          <p:spPr>
            <a:xfrm>
              <a:off x="1392" y="2208"/>
              <a:ext cx="528" cy="480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1</a:t>
              </a: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景色</a:t>
              </a:r>
            </a:p>
          </p:txBody>
        </p:sp>
        <p:sp>
          <p:nvSpPr>
            <p:cNvPr id="6175" name="Rectangle 13"/>
            <p:cNvSpPr/>
            <p:nvPr/>
          </p:nvSpPr>
          <p:spPr>
            <a:xfrm>
              <a:off x="2160" y="2208"/>
              <a:ext cx="576" cy="52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2</a:t>
              </a: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费用</a:t>
              </a:r>
            </a:p>
          </p:txBody>
        </p:sp>
        <p:sp>
          <p:nvSpPr>
            <p:cNvPr id="6176" name="Rectangle 14"/>
            <p:cNvSpPr/>
            <p:nvPr/>
          </p:nvSpPr>
          <p:spPr>
            <a:xfrm>
              <a:off x="3840" y="2208"/>
              <a:ext cx="528" cy="576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4</a:t>
              </a:r>
              <a:endParaRPr lang="en-US" altLang="zh-CN" b="1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饮食</a:t>
              </a:r>
            </a:p>
          </p:txBody>
        </p:sp>
        <p:sp>
          <p:nvSpPr>
            <p:cNvPr id="6177" name="Rectangle 15"/>
            <p:cNvSpPr/>
            <p:nvPr/>
          </p:nvSpPr>
          <p:spPr>
            <a:xfrm>
              <a:off x="4656" y="2208"/>
              <a:ext cx="576" cy="52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5</a:t>
              </a:r>
              <a:endParaRPr lang="en-US" altLang="zh-CN" b="1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旅途</a:t>
              </a:r>
            </a:p>
          </p:txBody>
        </p:sp>
        <p:sp>
          <p:nvSpPr>
            <p:cNvPr id="6178" name="Line 16"/>
            <p:cNvSpPr/>
            <p:nvPr/>
          </p:nvSpPr>
          <p:spPr>
            <a:xfrm>
              <a:off x="3264" y="1680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79" name="Line 17"/>
            <p:cNvSpPr/>
            <p:nvPr/>
          </p:nvSpPr>
          <p:spPr>
            <a:xfrm flipH="1">
              <a:off x="2496" y="1680"/>
              <a:ext cx="768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0" name="Line 18"/>
            <p:cNvSpPr/>
            <p:nvPr/>
          </p:nvSpPr>
          <p:spPr>
            <a:xfrm flipH="1">
              <a:off x="1632" y="1680"/>
              <a:ext cx="163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1" name="Line 19"/>
            <p:cNvSpPr/>
            <p:nvPr/>
          </p:nvSpPr>
          <p:spPr>
            <a:xfrm>
              <a:off x="3312" y="1680"/>
              <a:ext cx="768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82" name="Line 20"/>
            <p:cNvSpPr/>
            <p:nvPr/>
          </p:nvSpPr>
          <p:spPr>
            <a:xfrm>
              <a:off x="3264" y="1680"/>
              <a:ext cx="163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42" name="Object 2">
            <a:extLst>
              <a:ext uri="{FF2B5EF4-FFF2-40B4-BE49-F238E27FC236}">
                <a16:creationId xmlns:a16="http://schemas.microsoft.com/office/drawing/2014/main" id="{031B74B7-E88C-BE8F-84AC-6E34784D34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7325400"/>
              </p:ext>
            </p:extLst>
          </p:nvPr>
        </p:nvGraphicFramePr>
        <p:xfrm>
          <a:off x="882182" y="2992885"/>
          <a:ext cx="3934334" cy="2497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0" r:id="rId3" imgW="2336800" imgH="1168400" progId="Equation.DSMT4">
                  <p:embed/>
                </p:oleObj>
              </mc:Choice>
              <mc:Fallback>
                <p:oleObj r:id="rId3" imgW="2336800" imgH="1168400" progId="Equation.DSMT4">
                  <p:embed/>
                  <p:pic>
                    <p:nvPicPr>
                      <p:cNvPr id="42" name="Object 2">
                        <a:extLst>
                          <a:ext uri="{FF2B5EF4-FFF2-40B4-BE49-F238E27FC236}">
                            <a16:creationId xmlns:a16="http://schemas.microsoft.com/office/drawing/2014/main" id="{031B74B7-E88C-BE8F-84AC-6E34784D34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2182" y="2992885"/>
                        <a:ext cx="3934334" cy="249707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思想气泡: 云 1">
            <a:extLst>
              <a:ext uri="{FF2B5EF4-FFF2-40B4-BE49-F238E27FC236}">
                <a16:creationId xmlns:a16="http://schemas.microsoft.com/office/drawing/2014/main" id="{6E0E7324-3C79-C053-E3F1-97EFD462B1E1}"/>
              </a:ext>
            </a:extLst>
          </p:cNvPr>
          <p:cNvSpPr/>
          <p:nvPr/>
        </p:nvSpPr>
        <p:spPr bwMode="auto">
          <a:xfrm>
            <a:off x="6989616" y="2400167"/>
            <a:ext cx="2088232" cy="1185436"/>
          </a:xfrm>
          <a:prstGeom prst="cloudCallout">
            <a:avLst>
              <a:gd name="adj1" fmla="val -33781"/>
              <a:gd name="adj2" fmla="val -87725"/>
            </a:avLst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dirty="0"/>
              <a:t>    </a:t>
            </a:r>
            <a:r>
              <a:rPr kumimoji="1" lang="zh-CN" altLang="en-US" sz="1800" b="1" dirty="0">
                <a:solidFill>
                  <a:srgbClr val="FF0000"/>
                </a:solidFill>
              </a:rPr>
              <a:t>上下</a:t>
            </a:r>
            <a:endParaRPr kumimoji="1" lang="en-US" altLang="zh-CN" sz="1800" b="1" dirty="0">
              <a:solidFill>
                <a:srgbClr val="FF0000"/>
              </a:solidFill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rgbClr val="FF0000"/>
                </a:solidFill>
              </a:rPr>
              <a:t>     </a:t>
            </a:r>
            <a:r>
              <a:rPr kumimoji="1" lang="zh-CN" altLang="en-US" sz="1800" b="1" dirty="0">
                <a:solidFill>
                  <a:srgbClr val="FF0000"/>
                </a:solidFill>
              </a:rPr>
              <a:t>层结构</a:t>
            </a:r>
            <a:endParaRPr kumimoji="1" lang="zh-CN" altLang="en-US" sz="1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思想气泡: 云 44">
            <a:extLst>
              <a:ext uri="{FF2B5EF4-FFF2-40B4-BE49-F238E27FC236}">
                <a16:creationId xmlns:a16="http://schemas.microsoft.com/office/drawing/2014/main" id="{EA4A19C1-3666-2C35-6395-925331A44AE0}"/>
              </a:ext>
            </a:extLst>
          </p:cNvPr>
          <p:cNvSpPr/>
          <p:nvPr/>
        </p:nvSpPr>
        <p:spPr bwMode="auto">
          <a:xfrm>
            <a:off x="5203292" y="3742675"/>
            <a:ext cx="2088232" cy="1185436"/>
          </a:xfrm>
          <a:prstGeom prst="cloudCallout">
            <a:avLst>
              <a:gd name="adj1" fmla="val -42325"/>
              <a:gd name="adj2" fmla="val -86784"/>
            </a:avLst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dirty="0"/>
              <a:t>    </a:t>
            </a:r>
            <a:r>
              <a:rPr kumimoji="1" lang="zh-CN" altLang="en-US" sz="1800" b="1" dirty="0">
                <a:solidFill>
                  <a:srgbClr val="FF0000"/>
                </a:solidFill>
              </a:rPr>
              <a:t>两两</a:t>
            </a:r>
            <a:endParaRPr kumimoji="1" lang="en-US" altLang="zh-CN" sz="1800" b="1" dirty="0">
              <a:solidFill>
                <a:srgbClr val="FF0000"/>
              </a:solidFill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rgbClr val="FF0000"/>
                </a:solidFill>
              </a:rPr>
              <a:t> </a:t>
            </a:r>
            <a:r>
              <a:rPr kumimoji="1" lang="zh-CN" altLang="en-US" sz="1800" b="1" dirty="0">
                <a:solidFill>
                  <a:srgbClr val="FF0000"/>
                </a:solidFill>
              </a:rPr>
              <a:t>比较</a:t>
            </a:r>
            <a:r>
              <a:rPr kumimoji="1" lang="en-US" altLang="zh-CN" sz="1800" b="1" dirty="0">
                <a:solidFill>
                  <a:srgbClr val="FF0000"/>
                </a:solidFill>
              </a:rPr>
              <a:t> </a:t>
            </a:r>
            <a:r>
              <a:rPr kumimoji="1" lang="zh-CN" altLang="en-US" sz="1800" b="1" dirty="0">
                <a:solidFill>
                  <a:srgbClr val="FF0000"/>
                </a:solidFill>
              </a:rPr>
              <a:t>矩阵</a:t>
            </a:r>
            <a:endParaRPr kumimoji="1" lang="zh-CN" altLang="en-US" sz="1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思想气泡: 云 45">
            <a:extLst>
              <a:ext uri="{FF2B5EF4-FFF2-40B4-BE49-F238E27FC236}">
                <a16:creationId xmlns:a16="http://schemas.microsoft.com/office/drawing/2014/main" id="{13986777-983E-A9B6-E318-BA2A8268643E}"/>
              </a:ext>
            </a:extLst>
          </p:cNvPr>
          <p:cNvSpPr/>
          <p:nvPr/>
        </p:nvSpPr>
        <p:spPr bwMode="auto">
          <a:xfrm>
            <a:off x="6609278" y="5119603"/>
            <a:ext cx="2088232" cy="1185436"/>
          </a:xfrm>
          <a:prstGeom prst="cloudCallout">
            <a:avLst>
              <a:gd name="adj1" fmla="val -69559"/>
              <a:gd name="adj2" fmla="val -35987"/>
            </a:avLst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dirty="0"/>
              <a:t>     </a:t>
            </a:r>
            <a:r>
              <a:rPr kumimoji="1" lang="zh-CN" altLang="en-US" sz="1800" b="1" dirty="0">
                <a:solidFill>
                  <a:srgbClr val="FF0000"/>
                </a:solidFill>
              </a:rPr>
              <a:t>算出</a:t>
            </a:r>
            <a:endParaRPr kumimoji="1" lang="en-US" altLang="zh-CN" sz="1800" b="1" dirty="0">
              <a:solidFill>
                <a:srgbClr val="FF0000"/>
              </a:solidFill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rgbClr val="FF0000"/>
                </a:solidFill>
              </a:rPr>
              <a:t>    </a:t>
            </a:r>
            <a:r>
              <a:rPr kumimoji="1" lang="zh-CN" altLang="en-US" sz="1800" b="1" dirty="0">
                <a:solidFill>
                  <a:srgbClr val="FF0000"/>
                </a:solidFill>
              </a:rPr>
              <a:t>权向量</a:t>
            </a:r>
            <a:endParaRPr kumimoji="1" lang="zh-CN" altLang="en-US" sz="1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2191563-C251-C2C5-8F86-D43CA9118F4C}"/>
                  </a:ext>
                </a:extLst>
              </p:cNvPr>
              <p:cNvSpPr txBox="1"/>
              <p:nvPr/>
            </p:nvSpPr>
            <p:spPr>
              <a:xfrm>
                <a:off x="841256" y="5838995"/>
                <a:ext cx="5991781" cy="476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sz="2400" b="1" i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=(0.263,   0.475,   0.055,   0.090,   0.110)</a:t>
                </a:r>
                <a:r>
                  <a:rPr lang="en-US" altLang="zh-CN" sz="2400" b="1" baseline="30000" dirty="0">
                    <a:latin typeface="Times New Roman" panose="02020603050405020304" pitchFamily="18" charset="0"/>
                  </a:rPr>
                  <a:t>T</a:t>
                </a:r>
                <a:endParaRPr lang="zh-CN" altLang="en-US" dirty="0"/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2191563-C251-C2C5-8F86-D43CA9118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56" y="5838995"/>
                <a:ext cx="5991781" cy="476990"/>
              </a:xfrm>
              <a:prstGeom prst="rect">
                <a:avLst/>
              </a:prstGeom>
              <a:blipFill>
                <a:blip r:embed="rId5"/>
                <a:stretch>
                  <a:fillRect t="-6410" r="-305" b="-294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688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nimBg="1"/>
      <p:bldP spid="2" grpId="0" animBg="1"/>
      <p:bldP spid="45" grpId="0" animBg="1"/>
      <p:bldP spid="46" grpId="0" animBg="1"/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7" name="Group 4"/>
          <p:cNvGrpSpPr/>
          <p:nvPr/>
        </p:nvGrpSpPr>
        <p:grpSpPr>
          <a:xfrm>
            <a:off x="1869704" y="1789212"/>
            <a:ext cx="4287838" cy="838200"/>
            <a:chOff x="2016" y="3264"/>
            <a:chExt cx="2592" cy="528"/>
          </a:xfrm>
        </p:grpSpPr>
        <p:sp>
          <p:nvSpPr>
            <p:cNvPr id="6183" name="Rectangle 5"/>
            <p:cNvSpPr/>
            <p:nvPr/>
          </p:nvSpPr>
          <p:spPr>
            <a:xfrm>
              <a:off x="2976" y="3264"/>
              <a:ext cx="576" cy="528"/>
            </a:xfrm>
            <a:prstGeom prst="rect">
              <a:avLst/>
            </a:prstGeom>
            <a:solidFill>
              <a:srgbClr val="00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P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2</a:t>
              </a: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黄山</a:t>
              </a:r>
            </a:p>
          </p:txBody>
        </p:sp>
        <p:sp>
          <p:nvSpPr>
            <p:cNvPr id="6184" name="Rectangle 6"/>
            <p:cNvSpPr/>
            <p:nvPr/>
          </p:nvSpPr>
          <p:spPr>
            <a:xfrm>
              <a:off x="2016" y="3264"/>
              <a:ext cx="624" cy="528"/>
            </a:xfrm>
            <a:prstGeom prst="rect">
              <a:avLst/>
            </a:prstGeom>
            <a:solidFill>
              <a:srgbClr val="00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 dirty="0">
                  <a:latin typeface="Times New Roman" panose="02020603050405020304" pitchFamily="18" charset="0"/>
                </a:rPr>
                <a:t>P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1</a:t>
              </a: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桂林</a:t>
              </a:r>
            </a:p>
          </p:txBody>
        </p:sp>
        <p:sp>
          <p:nvSpPr>
            <p:cNvPr id="6185" name="Rectangle 7"/>
            <p:cNvSpPr/>
            <p:nvPr/>
          </p:nvSpPr>
          <p:spPr>
            <a:xfrm>
              <a:off x="3888" y="3264"/>
              <a:ext cx="720" cy="528"/>
            </a:xfrm>
            <a:prstGeom prst="rect">
              <a:avLst/>
            </a:prstGeom>
            <a:solidFill>
              <a:srgbClr val="00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P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3</a:t>
              </a:r>
              <a:endParaRPr lang="en-US" altLang="zh-CN" b="1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北戴河</a:t>
              </a:r>
            </a:p>
          </p:txBody>
        </p:sp>
      </p:grpSp>
      <p:sp>
        <p:nvSpPr>
          <p:cNvPr id="6174" name="Rectangle 12"/>
          <p:cNvSpPr/>
          <p:nvPr/>
        </p:nvSpPr>
        <p:spPr>
          <a:xfrm>
            <a:off x="586760" y="527756"/>
            <a:ext cx="857409" cy="750957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b="1" i="1" dirty="0">
                <a:latin typeface="Times New Roman" panose="02020603050405020304" pitchFamily="18" charset="0"/>
              </a:rPr>
              <a:t>C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</a:p>
          <a:p>
            <a:pPr algn="ctr"/>
            <a:r>
              <a:rPr lang="zh-CN" altLang="en-US" b="1" dirty="0">
                <a:latin typeface="Times New Roman" panose="02020603050405020304" pitchFamily="18" charset="0"/>
              </a:rPr>
              <a:t>景色</a:t>
            </a:r>
          </a:p>
        </p:txBody>
      </p:sp>
      <p:grpSp>
        <p:nvGrpSpPr>
          <p:cNvPr id="6151" name="Group 21"/>
          <p:cNvGrpSpPr/>
          <p:nvPr/>
        </p:nvGrpSpPr>
        <p:grpSpPr>
          <a:xfrm>
            <a:off x="1444169" y="836712"/>
            <a:ext cx="4073525" cy="914400"/>
            <a:chOff x="1680" y="2688"/>
            <a:chExt cx="2544" cy="576"/>
          </a:xfrm>
        </p:grpSpPr>
        <p:sp>
          <p:nvSpPr>
            <p:cNvPr id="6170" name="Line 22"/>
            <p:cNvSpPr/>
            <p:nvPr/>
          </p:nvSpPr>
          <p:spPr>
            <a:xfrm>
              <a:off x="1680" y="2688"/>
              <a:ext cx="624" cy="57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71" name="Line 23"/>
            <p:cNvSpPr/>
            <p:nvPr/>
          </p:nvSpPr>
          <p:spPr>
            <a:xfrm>
              <a:off x="1680" y="2688"/>
              <a:ext cx="1584" cy="57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72" name="Line 24"/>
            <p:cNvSpPr/>
            <p:nvPr/>
          </p:nvSpPr>
          <p:spPr>
            <a:xfrm>
              <a:off x="1680" y="2688"/>
              <a:ext cx="2544" cy="57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59" name="Object 2">
            <a:extLst>
              <a:ext uri="{FF2B5EF4-FFF2-40B4-BE49-F238E27FC236}">
                <a16:creationId xmlns:a16="http://schemas.microsoft.com/office/drawing/2014/main" id="{963D8DC2-6AC6-AE06-8FEF-13B1078D42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63852"/>
              </p:ext>
            </p:extLst>
          </p:nvPr>
        </p:nvGraphicFramePr>
        <p:xfrm>
          <a:off x="1156615" y="3708786"/>
          <a:ext cx="2573442" cy="1748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4" r:id="rId3" imgW="1358265" imgH="711200" progId="Equation.DSMT4">
                  <p:embed/>
                </p:oleObj>
              </mc:Choice>
              <mc:Fallback>
                <p:oleObj r:id="rId3" imgW="1358265" imgH="711200" progId="Equation.DSMT4">
                  <p:embed/>
                  <p:pic>
                    <p:nvPicPr>
                      <p:cNvPr id="16399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56615" y="3708786"/>
                        <a:ext cx="2573442" cy="1748348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Text Box 9">
            <a:extLst>
              <a:ext uri="{FF2B5EF4-FFF2-40B4-BE49-F238E27FC236}">
                <a16:creationId xmlns:a16="http://schemas.microsoft.com/office/drawing/2014/main" id="{5C411454-14C5-124E-407D-A57855260EF1}"/>
              </a:ext>
            </a:extLst>
          </p:cNvPr>
          <p:cNvSpPr txBox="1"/>
          <p:nvPr/>
        </p:nvSpPr>
        <p:spPr>
          <a:xfrm>
            <a:off x="377238" y="2832486"/>
            <a:ext cx="5049445" cy="49314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三个方案对</a:t>
            </a:r>
            <a:r>
              <a:rPr lang="en-US" altLang="zh-CN" b="1" i="1" dirty="0">
                <a:latin typeface="Times New Roman" panose="02020603050405020304" pitchFamily="18" charset="0"/>
              </a:rPr>
              <a:t>C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</a:rPr>
              <a:t>景色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的成对比较阵</a:t>
            </a:r>
          </a:p>
        </p:txBody>
      </p:sp>
      <p:sp>
        <p:nvSpPr>
          <p:cNvPr id="13" name="思想气泡: 云 12">
            <a:extLst>
              <a:ext uri="{FF2B5EF4-FFF2-40B4-BE49-F238E27FC236}">
                <a16:creationId xmlns:a16="http://schemas.microsoft.com/office/drawing/2014/main" id="{6279E00A-1BC0-B394-D751-D8F2492D07FE}"/>
              </a:ext>
            </a:extLst>
          </p:cNvPr>
          <p:cNvSpPr/>
          <p:nvPr/>
        </p:nvSpPr>
        <p:spPr bwMode="auto">
          <a:xfrm>
            <a:off x="6497107" y="1441976"/>
            <a:ext cx="2088232" cy="1185436"/>
          </a:xfrm>
          <a:prstGeom prst="cloudCallout">
            <a:avLst>
              <a:gd name="adj1" fmla="val -53005"/>
              <a:gd name="adj2" fmla="val -82081"/>
            </a:avLst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800" b="1" dirty="0">
                <a:solidFill>
                  <a:srgbClr val="FF0000"/>
                </a:solidFill>
              </a:rPr>
              <a:t>    层次结构</a:t>
            </a:r>
            <a:endParaRPr kumimoji="1" lang="en-US" altLang="zh-CN" sz="1800" b="1" dirty="0">
              <a:solidFill>
                <a:srgbClr val="FF0000"/>
              </a:solidFill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kumimoji="1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相同</a:t>
            </a: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9C047697-B444-2D71-CCEA-09DA67EEC893}"/>
              </a:ext>
            </a:extLst>
          </p:cNvPr>
          <p:cNvSpPr/>
          <p:nvPr/>
        </p:nvSpPr>
        <p:spPr bwMode="auto">
          <a:xfrm>
            <a:off x="4203290" y="4474948"/>
            <a:ext cx="737419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bject 2">
                <a:extLst>
                  <a:ext uri="{FF2B5EF4-FFF2-40B4-BE49-F238E27FC236}">
                    <a16:creationId xmlns:a16="http://schemas.microsoft.com/office/drawing/2014/main" id="{36595574-BE2C-AA55-3F3E-80862546FD78}"/>
                  </a:ext>
                </a:extLst>
              </p:cNvPr>
              <p:cNvSpPr txBox="1"/>
              <p:nvPr/>
            </p:nvSpPr>
            <p:spPr>
              <a:xfrm>
                <a:off x="5413942" y="3600774"/>
                <a:ext cx="2698087" cy="174834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38100">
                <a:noFill/>
                <a:miter/>
              </a:ln>
            </p:spPr>
            <p:txBody>
              <a:bodyPr anchor="ctr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𝟓𝟗𝟓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𝟐𝟕𝟕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𝟐𝟏𝟗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15" name="Object 2">
                <a:extLst>
                  <a:ext uri="{FF2B5EF4-FFF2-40B4-BE49-F238E27FC236}">
                    <a16:creationId xmlns:a16="http://schemas.microsoft.com/office/drawing/2014/main" id="{36595574-BE2C-AA55-3F3E-80862546F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942" y="3600774"/>
                <a:ext cx="2698087" cy="17483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Box 9">
                <a:extLst>
                  <a:ext uri="{FF2B5EF4-FFF2-40B4-BE49-F238E27FC236}">
                    <a16:creationId xmlns:a16="http://schemas.microsoft.com/office/drawing/2014/main" id="{47E33C23-A9EF-8F14-1CEF-7D6BFE5D7E95}"/>
                  </a:ext>
                </a:extLst>
              </p:cNvPr>
              <p:cNvSpPr txBox="1"/>
              <p:nvPr/>
            </p:nvSpPr>
            <p:spPr>
              <a:xfrm>
                <a:off x="1078590" y="5773940"/>
                <a:ext cx="3332056" cy="5355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𝟎𝟎𝟓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𝑪𝑰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𝟎𝟎𝟑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" name="Text Box 9">
                <a:extLst>
                  <a:ext uri="{FF2B5EF4-FFF2-40B4-BE49-F238E27FC236}">
                    <a16:creationId xmlns:a16="http://schemas.microsoft.com/office/drawing/2014/main" id="{47E33C23-A9EF-8F14-1CEF-7D6BFE5D7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590" y="5773940"/>
                <a:ext cx="3332056" cy="5355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9934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13" grpId="0" animBg="1"/>
      <p:bldP spid="2" grpId="0" animBg="1"/>
      <p:bldP spid="15" grpId="0" animBg="1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7" name="Group 4"/>
          <p:cNvGrpSpPr/>
          <p:nvPr/>
        </p:nvGrpSpPr>
        <p:grpSpPr>
          <a:xfrm>
            <a:off x="1869704" y="1789212"/>
            <a:ext cx="4287838" cy="838200"/>
            <a:chOff x="2016" y="3264"/>
            <a:chExt cx="2592" cy="528"/>
          </a:xfrm>
        </p:grpSpPr>
        <p:sp>
          <p:nvSpPr>
            <p:cNvPr id="6183" name="Rectangle 5"/>
            <p:cNvSpPr/>
            <p:nvPr/>
          </p:nvSpPr>
          <p:spPr>
            <a:xfrm>
              <a:off x="2976" y="3264"/>
              <a:ext cx="576" cy="528"/>
            </a:xfrm>
            <a:prstGeom prst="rect">
              <a:avLst/>
            </a:prstGeom>
            <a:solidFill>
              <a:srgbClr val="00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P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2</a:t>
              </a: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黄山</a:t>
              </a:r>
            </a:p>
          </p:txBody>
        </p:sp>
        <p:sp>
          <p:nvSpPr>
            <p:cNvPr id="6184" name="Rectangle 6"/>
            <p:cNvSpPr/>
            <p:nvPr/>
          </p:nvSpPr>
          <p:spPr>
            <a:xfrm>
              <a:off x="2016" y="3264"/>
              <a:ext cx="624" cy="528"/>
            </a:xfrm>
            <a:prstGeom prst="rect">
              <a:avLst/>
            </a:prstGeom>
            <a:solidFill>
              <a:srgbClr val="00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 dirty="0">
                  <a:latin typeface="Times New Roman" panose="02020603050405020304" pitchFamily="18" charset="0"/>
                </a:rPr>
                <a:t>P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1</a:t>
              </a: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桂林</a:t>
              </a:r>
            </a:p>
          </p:txBody>
        </p:sp>
        <p:sp>
          <p:nvSpPr>
            <p:cNvPr id="6185" name="Rectangle 7"/>
            <p:cNvSpPr/>
            <p:nvPr/>
          </p:nvSpPr>
          <p:spPr>
            <a:xfrm>
              <a:off x="3888" y="3264"/>
              <a:ext cx="720" cy="528"/>
            </a:xfrm>
            <a:prstGeom prst="rect">
              <a:avLst/>
            </a:prstGeom>
            <a:solidFill>
              <a:srgbClr val="00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P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3</a:t>
              </a:r>
              <a:endParaRPr lang="en-US" altLang="zh-CN" b="1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北戴河</a:t>
              </a:r>
            </a:p>
          </p:txBody>
        </p:sp>
      </p:grpSp>
      <p:sp>
        <p:nvSpPr>
          <p:cNvPr id="6174" name="Rectangle 12"/>
          <p:cNvSpPr/>
          <p:nvPr/>
        </p:nvSpPr>
        <p:spPr>
          <a:xfrm>
            <a:off x="586760" y="527756"/>
            <a:ext cx="857409" cy="750957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b="1" i="1" dirty="0">
                <a:latin typeface="Times New Roman" panose="02020603050405020304" pitchFamily="18" charset="0"/>
              </a:rPr>
              <a:t>C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</a:p>
          <a:p>
            <a:pPr algn="ctr"/>
            <a:r>
              <a:rPr lang="zh-CN" altLang="en-US" b="1" dirty="0">
                <a:latin typeface="Times New Roman" panose="02020603050405020304" pitchFamily="18" charset="0"/>
              </a:rPr>
              <a:t>费用</a:t>
            </a:r>
          </a:p>
        </p:txBody>
      </p:sp>
      <p:grpSp>
        <p:nvGrpSpPr>
          <p:cNvPr id="6151" name="Group 21"/>
          <p:cNvGrpSpPr/>
          <p:nvPr/>
        </p:nvGrpSpPr>
        <p:grpSpPr>
          <a:xfrm>
            <a:off x="1444169" y="836712"/>
            <a:ext cx="4073525" cy="914400"/>
            <a:chOff x="1680" y="2688"/>
            <a:chExt cx="2544" cy="576"/>
          </a:xfrm>
        </p:grpSpPr>
        <p:sp>
          <p:nvSpPr>
            <p:cNvPr id="6170" name="Line 22"/>
            <p:cNvSpPr/>
            <p:nvPr/>
          </p:nvSpPr>
          <p:spPr>
            <a:xfrm>
              <a:off x="1680" y="2688"/>
              <a:ext cx="624" cy="57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71" name="Line 23"/>
            <p:cNvSpPr/>
            <p:nvPr/>
          </p:nvSpPr>
          <p:spPr>
            <a:xfrm>
              <a:off x="1680" y="2688"/>
              <a:ext cx="1584" cy="57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72" name="Line 24"/>
            <p:cNvSpPr/>
            <p:nvPr/>
          </p:nvSpPr>
          <p:spPr>
            <a:xfrm>
              <a:off x="1680" y="2688"/>
              <a:ext cx="2544" cy="57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0" name="Text Box 9">
            <a:extLst>
              <a:ext uri="{FF2B5EF4-FFF2-40B4-BE49-F238E27FC236}">
                <a16:creationId xmlns:a16="http://schemas.microsoft.com/office/drawing/2014/main" id="{5C411454-14C5-124E-407D-A57855260EF1}"/>
              </a:ext>
            </a:extLst>
          </p:cNvPr>
          <p:cNvSpPr txBox="1"/>
          <p:nvPr/>
        </p:nvSpPr>
        <p:spPr>
          <a:xfrm>
            <a:off x="377238" y="2832486"/>
            <a:ext cx="5049445" cy="49314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三个方案对</a:t>
            </a:r>
            <a:r>
              <a:rPr lang="en-US" altLang="zh-CN" b="1" i="1" dirty="0">
                <a:latin typeface="Times New Roman" panose="02020603050405020304" pitchFamily="18" charset="0"/>
              </a:rPr>
              <a:t>C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</a:rPr>
              <a:t>费用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的成对比较阵</a:t>
            </a:r>
          </a:p>
        </p:txBody>
      </p:sp>
      <p:sp>
        <p:nvSpPr>
          <p:cNvPr id="13" name="思想气泡: 云 12">
            <a:extLst>
              <a:ext uri="{FF2B5EF4-FFF2-40B4-BE49-F238E27FC236}">
                <a16:creationId xmlns:a16="http://schemas.microsoft.com/office/drawing/2014/main" id="{6279E00A-1BC0-B394-D751-D8F2492D07FE}"/>
              </a:ext>
            </a:extLst>
          </p:cNvPr>
          <p:cNvSpPr/>
          <p:nvPr/>
        </p:nvSpPr>
        <p:spPr bwMode="auto">
          <a:xfrm>
            <a:off x="6483772" y="1335246"/>
            <a:ext cx="2088232" cy="1185436"/>
          </a:xfrm>
          <a:prstGeom prst="cloudCallout">
            <a:avLst>
              <a:gd name="adj1" fmla="val -53005"/>
              <a:gd name="adj2" fmla="val -82081"/>
            </a:avLst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800" b="1" dirty="0">
                <a:solidFill>
                  <a:srgbClr val="FF0000"/>
                </a:solidFill>
              </a:rPr>
              <a:t>    层次结构</a:t>
            </a:r>
            <a:endParaRPr kumimoji="1" lang="en-US" altLang="zh-CN" sz="1800" b="1" dirty="0">
              <a:solidFill>
                <a:srgbClr val="FF0000"/>
              </a:solidFill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kumimoji="1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相同</a:t>
            </a: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9C047697-B444-2D71-CCEA-09DA67EEC893}"/>
              </a:ext>
            </a:extLst>
          </p:cNvPr>
          <p:cNvSpPr/>
          <p:nvPr/>
        </p:nvSpPr>
        <p:spPr bwMode="auto">
          <a:xfrm>
            <a:off x="4060804" y="3996127"/>
            <a:ext cx="737419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bject 2">
                <a:extLst>
                  <a:ext uri="{FF2B5EF4-FFF2-40B4-BE49-F238E27FC236}">
                    <a16:creationId xmlns:a16="http://schemas.microsoft.com/office/drawing/2014/main" id="{36595574-BE2C-AA55-3F3E-80862546FD78}"/>
                  </a:ext>
                </a:extLst>
              </p:cNvPr>
              <p:cNvSpPr txBox="1"/>
              <p:nvPr/>
            </p:nvSpPr>
            <p:spPr>
              <a:xfrm>
                <a:off x="4966476" y="3392492"/>
                <a:ext cx="2698087" cy="167619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38100">
                <a:noFill/>
                <a:miter/>
              </a:ln>
            </p:spPr>
            <p:txBody>
              <a:bodyPr anchor="ctr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𝟎𝟖𝟐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𝟐𝟑𝟔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𝟔𝟖𝟐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15" name="Object 2">
                <a:extLst>
                  <a:ext uri="{FF2B5EF4-FFF2-40B4-BE49-F238E27FC236}">
                    <a16:creationId xmlns:a16="http://schemas.microsoft.com/office/drawing/2014/main" id="{36595574-BE2C-AA55-3F3E-80862546F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476" y="3392492"/>
                <a:ext cx="2698087" cy="16761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Object 7">
            <a:extLst>
              <a:ext uri="{FF2B5EF4-FFF2-40B4-BE49-F238E27FC236}">
                <a16:creationId xmlns:a16="http://schemas.microsoft.com/office/drawing/2014/main" id="{FF31FEFC-AC0B-587F-B4D0-90A7D23C51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913908"/>
              </p:ext>
            </p:extLst>
          </p:nvPr>
        </p:nvGraphicFramePr>
        <p:xfrm>
          <a:off x="773793" y="3462073"/>
          <a:ext cx="3099410" cy="1676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0" r:id="rId4" imgW="1295400" imgH="711200" progId="Equation.DSMT4">
                  <p:embed/>
                </p:oleObj>
              </mc:Choice>
              <mc:Fallback>
                <p:oleObj r:id="rId4" imgW="1295400" imgH="711200" progId="Equation.DSMT4">
                  <p:embed/>
                  <p:pic>
                    <p:nvPicPr>
                      <p:cNvPr id="16397" name="Object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73793" y="3462073"/>
                        <a:ext cx="3099410" cy="1676194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9">
            <a:extLst>
              <a:ext uri="{FF2B5EF4-FFF2-40B4-BE49-F238E27FC236}">
                <a16:creationId xmlns:a16="http://schemas.microsoft.com/office/drawing/2014/main" id="{D22DD891-E750-B8B2-F3A9-B88B4B2DEE2C}"/>
              </a:ext>
            </a:extLst>
          </p:cNvPr>
          <p:cNvSpPr txBox="1"/>
          <p:nvPr/>
        </p:nvSpPr>
        <p:spPr>
          <a:xfrm>
            <a:off x="586760" y="5461651"/>
            <a:ext cx="8161704" cy="49314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完全类似，把其余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个指标依次做完，数据汇总于下表。</a:t>
            </a:r>
          </a:p>
        </p:txBody>
      </p:sp>
    </p:spTree>
    <p:extLst>
      <p:ext uri="{BB962C8B-B14F-4D97-AF65-F5344CB8AC3E}">
        <p14:creationId xmlns:p14="http://schemas.microsoft.com/office/powerpoint/2010/main" val="169566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13" grpId="0" animBg="1"/>
      <p:bldP spid="2" grpId="0" animBg="1"/>
      <p:bldP spid="15" grpId="0" animBg="1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71" name="Group 55"/>
          <p:cNvGrpSpPr/>
          <p:nvPr/>
        </p:nvGrpSpPr>
        <p:grpSpPr>
          <a:xfrm>
            <a:off x="671861" y="427008"/>
            <a:ext cx="6172200" cy="3810000"/>
            <a:chOff x="528" y="288"/>
            <a:chExt cx="3888" cy="2400"/>
          </a:xfrm>
        </p:grpSpPr>
        <p:sp>
          <p:nvSpPr>
            <p:cNvPr id="17416" name="Text Box 2"/>
            <p:cNvSpPr txBox="1"/>
            <p:nvPr/>
          </p:nvSpPr>
          <p:spPr>
            <a:xfrm>
              <a:off x="1728" y="288"/>
              <a:ext cx="24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第</a:t>
              </a:r>
              <a:r>
                <a:rPr lang="en-US" altLang="zh-CN" b="1" dirty="0">
                  <a:latin typeface="Times New Roman" panose="02020603050405020304" pitchFamily="18" charset="0"/>
                </a:rPr>
                <a:t>3</a:t>
              </a:r>
              <a:r>
                <a:rPr lang="zh-CN" altLang="en-US" b="1" dirty="0">
                  <a:latin typeface="Times New Roman" panose="02020603050405020304" pitchFamily="18" charset="0"/>
                </a:rPr>
                <a:t>层对第</a:t>
              </a:r>
              <a:r>
                <a:rPr lang="en-US" altLang="zh-CN" b="1" dirty="0">
                  <a:latin typeface="Times New Roman" panose="02020603050405020304" pitchFamily="18" charset="0"/>
                </a:rPr>
                <a:t>2</a:t>
              </a:r>
              <a:r>
                <a:rPr lang="zh-CN" altLang="en-US" b="1" dirty="0">
                  <a:latin typeface="Times New Roman" panose="02020603050405020304" pitchFamily="18" charset="0"/>
                </a:rPr>
                <a:t>层的计算结果</a:t>
              </a:r>
            </a:p>
          </p:txBody>
        </p:sp>
        <p:grpSp>
          <p:nvGrpSpPr>
            <p:cNvPr id="17417" name="Group 52"/>
            <p:cNvGrpSpPr/>
            <p:nvPr/>
          </p:nvGrpSpPr>
          <p:grpSpPr>
            <a:xfrm>
              <a:off x="528" y="672"/>
              <a:ext cx="3888" cy="2016"/>
              <a:chOff x="528" y="672"/>
              <a:chExt cx="3888" cy="2016"/>
            </a:xfrm>
          </p:grpSpPr>
          <p:sp>
            <p:nvSpPr>
              <p:cNvPr id="17418" name="Line 3"/>
              <p:cNvSpPr/>
              <p:nvPr/>
            </p:nvSpPr>
            <p:spPr>
              <a:xfrm>
                <a:off x="528" y="672"/>
                <a:ext cx="388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19" name="Line 4"/>
              <p:cNvSpPr/>
              <p:nvPr/>
            </p:nvSpPr>
            <p:spPr>
              <a:xfrm>
                <a:off x="528" y="960"/>
                <a:ext cx="38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20" name="Line 5"/>
              <p:cNvSpPr/>
              <p:nvPr/>
            </p:nvSpPr>
            <p:spPr>
              <a:xfrm>
                <a:off x="576" y="1872"/>
                <a:ext cx="37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21" name="Line 6"/>
              <p:cNvSpPr/>
              <p:nvPr/>
            </p:nvSpPr>
            <p:spPr>
              <a:xfrm>
                <a:off x="576" y="2304"/>
                <a:ext cx="37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22" name="Line 7"/>
              <p:cNvSpPr/>
              <p:nvPr/>
            </p:nvSpPr>
            <p:spPr>
              <a:xfrm>
                <a:off x="576" y="2688"/>
                <a:ext cx="37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23" name="Line 8"/>
              <p:cNvSpPr/>
              <p:nvPr/>
            </p:nvSpPr>
            <p:spPr>
              <a:xfrm>
                <a:off x="1008" y="672"/>
                <a:ext cx="0" cy="201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24" name="Text Box 9"/>
              <p:cNvSpPr txBox="1"/>
              <p:nvPr/>
            </p:nvSpPr>
            <p:spPr>
              <a:xfrm>
                <a:off x="672" y="672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>
                    <a:latin typeface="Times New Roman" panose="02020603050405020304" pitchFamily="18" charset="0"/>
                  </a:rPr>
                  <a:t>k</a:t>
                </a:r>
              </a:p>
            </p:txBody>
          </p:sp>
          <p:graphicFrame>
            <p:nvGraphicFramePr>
              <p:cNvPr id="17425" name="Object 10"/>
              <p:cNvGraphicFramePr>
                <a:graphicFrameLocks noChangeAspect="1"/>
              </p:cNvGraphicFramePr>
              <p:nvPr/>
            </p:nvGraphicFramePr>
            <p:xfrm>
              <a:off x="576" y="1296"/>
              <a:ext cx="384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10" r:id="rId3" imgW="304800" imgH="266700" progId="Equation.3">
                      <p:embed/>
                    </p:oleObj>
                  </mc:Choice>
                  <mc:Fallback>
                    <p:oleObj r:id="rId3" imgW="304800" imgH="266700" progId="Equation.3">
                      <p:embed/>
                      <p:pic>
                        <p:nvPicPr>
                          <p:cNvPr id="0" name="图片 3120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576" y="1296"/>
                            <a:ext cx="384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26" name="Object 11"/>
              <p:cNvGraphicFramePr>
                <a:graphicFrameLocks noChangeAspect="1"/>
              </p:cNvGraphicFramePr>
              <p:nvPr/>
            </p:nvGraphicFramePr>
            <p:xfrm>
              <a:off x="611" y="1920"/>
              <a:ext cx="301" cy="3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11" r:id="rId5" imgW="203200" imgH="254000" progId="Equation.3">
                      <p:embed/>
                    </p:oleObj>
                  </mc:Choice>
                  <mc:Fallback>
                    <p:oleObj r:id="rId5" imgW="203200" imgH="254000" progId="Equation.3">
                      <p:embed/>
                      <p:pic>
                        <p:nvPicPr>
                          <p:cNvPr id="0" name="图片 3121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611" y="1920"/>
                            <a:ext cx="301" cy="32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27" name="Object 12"/>
              <p:cNvGraphicFramePr>
                <a:graphicFrameLocks noChangeAspect="1"/>
              </p:cNvGraphicFramePr>
              <p:nvPr/>
            </p:nvGraphicFramePr>
            <p:xfrm>
              <a:off x="576" y="2352"/>
              <a:ext cx="332" cy="2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12" r:id="rId7" imgW="292100" imgH="254000" progId="Equation.3">
                      <p:embed/>
                    </p:oleObj>
                  </mc:Choice>
                  <mc:Fallback>
                    <p:oleObj r:id="rId7" imgW="292100" imgH="254000" progId="Equation.3">
                      <p:embed/>
                      <p:pic>
                        <p:nvPicPr>
                          <p:cNvPr id="0" name="图片 3117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576" y="2352"/>
                            <a:ext cx="332" cy="28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428" name="Text Box 13"/>
              <p:cNvSpPr txBox="1"/>
              <p:nvPr/>
            </p:nvSpPr>
            <p:spPr>
              <a:xfrm>
                <a:off x="1200" y="672"/>
                <a:ext cx="28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7429" name="Text Box 14"/>
              <p:cNvSpPr txBox="1"/>
              <p:nvPr/>
            </p:nvSpPr>
            <p:spPr>
              <a:xfrm>
                <a:off x="1056" y="1008"/>
                <a:ext cx="62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0.595</a:t>
                </a:r>
              </a:p>
            </p:txBody>
          </p:sp>
          <p:sp>
            <p:nvSpPr>
              <p:cNvPr id="17430" name="Text Box 15"/>
              <p:cNvSpPr txBox="1"/>
              <p:nvPr/>
            </p:nvSpPr>
            <p:spPr>
              <a:xfrm>
                <a:off x="1056" y="1296"/>
                <a:ext cx="6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0.277</a:t>
                </a:r>
              </a:p>
            </p:txBody>
          </p:sp>
          <p:sp>
            <p:nvSpPr>
              <p:cNvPr id="17431" name="Text Box 16"/>
              <p:cNvSpPr txBox="1"/>
              <p:nvPr/>
            </p:nvSpPr>
            <p:spPr>
              <a:xfrm>
                <a:off x="1056" y="1584"/>
                <a:ext cx="62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0.129</a:t>
                </a:r>
              </a:p>
            </p:txBody>
          </p:sp>
          <p:sp>
            <p:nvSpPr>
              <p:cNvPr id="17432" name="Text Box 17"/>
              <p:cNvSpPr txBox="1"/>
              <p:nvPr/>
            </p:nvSpPr>
            <p:spPr>
              <a:xfrm>
                <a:off x="1056" y="1968"/>
                <a:ext cx="6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3.005</a:t>
                </a:r>
              </a:p>
            </p:txBody>
          </p:sp>
          <p:sp>
            <p:nvSpPr>
              <p:cNvPr id="17433" name="Text Box 18"/>
              <p:cNvSpPr txBox="1"/>
              <p:nvPr/>
            </p:nvSpPr>
            <p:spPr>
              <a:xfrm>
                <a:off x="1056" y="2352"/>
                <a:ext cx="6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0.003</a:t>
                </a:r>
              </a:p>
            </p:txBody>
          </p:sp>
          <p:sp>
            <p:nvSpPr>
              <p:cNvPr id="17434" name="Text Box 19"/>
              <p:cNvSpPr txBox="1"/>
              <p:nvPr/>
            </p:nvSpPr>
            <p:spPr>
              <a:xfrm>
                <a:off x="1728" y="2352"/>
                <a:ext cx="6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0.001</a:t>
                </a:r>
              </a:p>
            </p:txBody>
          </p:sp>
          <p:sp>
            <p:nvSpPr>
              <p:cNvPr id="17435" name="Text Box 20"/>
              <p:cNvSpPr txBox="1"/>
              <p:nvPr/>
            </p:nvSpPr>
            <p:spPr>
              <a:xfrm>
                <a:off x="2496" y="2352"/>
                <a:ext cx="28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7436" name="Text Box 21"/>
              <p:cNvSpPr txBox="1"/>
              <p:nvPr/>
            </p:nvSpPr>
            <p:spPr>
              <a:xfrm>
                <a:off x="3120" y="2352"/>
                <a:ext cx="6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0.005</a:t>
                </a:r>
              </a:p>
            </p:txBody>
          </p:sp>
          <p:sp>
            <p:nvSpPr>
              <p:cNvPr id="17437" name="Text Box 22"/>
              <p:cNvSpPr txBox="1"/>
              <p:nvPr/>
            </p:nvSpPr>
            <p:spPr>
              <a:xfrm>
                <a:off x="3936" y="2352"/>
                <a:ext cx="28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7438" name="Text Box 23"/>
              <p:cNvSpPr txBox="1"/>
              <p:nvPr/>
            </p:nvSpPr>
            <p:spPr>
              <a:xfrm>
                <a:off x="1728" y="1968"/>
                <a:ext cx="62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3.002</a:t>
                </a:r>
              </a:p>
            </p:txBody>
          </p:sp>
          <p:sp>
            <p:nvSpPr>
              <p:cNvPr id="17439" name="Text Box 24"/>
              <p:cNvSpPr txBox="1"/>
              <p:nvPr/>
            </p:nvSpPr>
            <p:spPr>
              <a:xfrm>
                <a:off x="1728" y="1584"/>
                <a:ext cx="62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0.682</a:t>
                </a:r>
              </a:p>
            </p:txBody>
          </p:sp>
          <p:sp>
            <p:nvSpPr>
              <p:cNvPr id="17440" name="Text Box 25"/>
              <p:cNvSpPr txBox="1"/>
              <p:nvPr/>
            </p:nvSpPr>
            <p:spPr>
              <a:xfrm>
                <a:off x="1728" y="1296"/>
                <a:ext cx="62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0.236</a:t>
                </a:r>
              </a:p>
            </p:txBody>
          </p:sp>
          <p:sp>
            <p:nvSpPr>
              <p:cNvPr id="17441" name="Text Box 26"/>
              <p:cNvSpPr txBox="1"/>
              <p:nvPr/>
            </p:nvSpPr>
            <p:spPr>
              <a:xfrm>
                <a:off x="1728" y="1008"/>
                <a:ext cx="57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0.082</a:t>
                </a:r>
              </a:p>
            </p:txBody>
          </p:sp>
          <p:sp>
            <p:nvSpPr>
              <p:cNvPr id="17442" name="Text Box 27"/>
              <p:cNvSpPr txBox="1"/>
              <p:nvPr/>
            </p:nvSpPr>
            <p:spPr>
              <a:xfrm>
                <a:off x="1920" y="672"/>
                <a:ext cx="28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7443" name="Text Box 28"/>
              <p:cNvSpPr txBox="1"/>
              <p:nvPr/>
            </p:nvSpPr>
            <p:spPr>
              <a:xfrm>
                <a:off x="2496" y="1968"/>
                <a:ext cx="28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7444" name="Text Box 29"/>
              <p:cNvSpPr txBox="1"/>
              <p:nvPr/>
            </p:nvSpPr>
            <p:spPr>
              <a:xfrm>
                <a:off x="2400" y="1584"/>
                <a:ext cx="6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0.142</a:t>
                </a:r>
              </a:p>
            </p:txBody>
          </p:sp>
          <p:sp>
            <p:nvSpPr>
              <p:cNvPr id="17445" name="Text Box 30"/>
              <p:cNvSpPr txBox="1"/>
              <p:nvPr/>
            </p:nvSpPr>
            <p:spPr>
              <a:xfrm>
                <a:off x="2400" y="1296"/>
                <a:ext cx="62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0.429</a:t>
                </a:r>
              </a:p>
            </p:txBody>
          </p:sp>
          <p:sp>
            <p:nvSpPr>
              <p:cNvPr id="17446" name="Text Box 31"/>
              <p:cNvSpPr txBox="1"/>
              <p:nvPr/>
            </p:nvSpPr>
            <p:spPr>
              <a:xfrm>
                <a:off x="2400" y="1008"/>
                <a:ext cx="57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0.429</a:t>
                </a:r>
              </a:p>
            </p:txBody>
          </p:sp>
          <p:sp>
            <p:nvSpPr>
              <p:cNvPr id="17447" name="Text Box 32"/>
              <p:cNvSpPr txBox="1"/>
              <p:nvPr/>
            </p:nvSpPr>
            <p:spPr>
              <a:xfrm>
                <a:off x="2592" y="672"/>
                <a:ext cx="28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7448" name="Text Box 33"/>
              <p:cNvSpPr txBox="1"/>
              <p:nvPr/>
            </p:nvSpPr>
            <p:spPr>
              <a:xfrm>
                <a:off x="3120" y="1968"/>
                <a:ext cx="62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3.009</a:t>
                </a:r>
              </a:p>
            </p:txBody>
          </p:sp>
          <p:sp>
            <p:nvSpPr>
              <p:cNvPr id="17449" name="Text Box 34"/>
              <p:cNvSpPr txBox="1"/>
              <p:nvPr/>
            </p:nvSpPr>
            <p:spPr>
              <a:xfrm>
                <a:off x="3072" y="1584"/>
                <a:ext cx="6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0.175</a:t>
                </a:r>
              </a:p>
            </p:txBody>
          </p:sp>
          <p:sp>
            <p:nvSpPr>
              <p:cNvPr id="17450" name="Text Box 35"/>
              <p:cNvSpPr txBox="1"/>
              <p:nvPr/>
            </p:nvSpPr>
            <p:spPr>
              <a:xfrm>
                <a:off x="3072" y="1296"/>
                <a:ext cx="76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0.193</a:t>
                </a:r>
              </a:p>
            </p:txBody>
          </p:sp>
          <p:sp>
            <p:nvSpPr>
              <p:cNvPr id="17451" name="Text Box 36"/>
              <p:cNvSpPr txBox="1"/>
              <p:nvPr/>
            </p:nvSpPr>
            <p:spPr>
              <a:xfrm>
                <a:off x="3072" y="1008"/>
                <a:ext cx="57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0.633</a:t>
                </a:r>
              </a:p>
            </p:txBody>
          </p:sp>
          <p:sp>
            <p:nvSpPr>
              <p:cNvPr id="17452" name="Text Box 37"/>
              <p:cNvSpPr txBox="1"/>
              <p:nvPr/>
            </p:nvSpPr>
            <p:spPr>
              <a:xfrm>
                <a:off x="3216" y="672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7453" name="Text Box 38"/>
              <p:cNvSpPr txBox="1"/>
              <p:nvPr/>
            </p:nvSpPr>
            <p:spPr>
              <a:xfrm>
                <a:off x="3936" y="1968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7454" name="Text Box 39"/>
              <p:cNvSpPr txBox="1"/>
              <p:nvPr/>
            </p:nvSpPr>
            <p:spPr>
              <a:xfrm>
                <a:off x="3744" y="1584"/>
                <a:ext cx="6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0.668</a:t>
                </a:r>
              </a:p>
            </p:txBody>
          </p:sp>
          <p:sp>
            <p:nvSpPr>
              <p:cNvPr id="17455" name="Text Box 40"/>
              <p:cNvSpPr txBox="1"/>
              <p:nvPr/>
            </p:nvSpPr>
            <p:spPr>
              <a:xfrm>
                <a:off x="3744" y="1296"/>
                <a:ext cx="6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0.166</a:t>
                </a:r>
              </a:p>
            </p:txBody>
          </p:sp>
          <p:sp>
            <p:nvSpPr>
              <p:cNvPr id="17456" name="Text Box 41"/>
              <p:cNvSpPr txBox="1"/>
              <p:nvPr/>
            </p:nvSpPr>
            <p:spPr>
              <a:xfrm>
                <a:off x="3744" y="1008"/>
                <a:ext cx="62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0.166</a:t>
                </a:r>
              </a:p>
            </p:txBody>
          </p:sp>
          <p:sp>
            <p:nvSpPr>
              <p:cNvPr id="17457" name="Text Box 42"/>
              <p:cNvSpPr txBox="1"/>
              <p:nvPr/>
            </p:nvSpPr>
            <p:spPr>
              <a:xfrm>
                <a:off x="3888" y="672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latin typeface="Times New Roman" panose="02020603050405020304" pitchFamily="18" charset="0"/>
                  </a:rPr>
                  <a:t>5</a:t>
                </a:r>
              </a:p>
            </p:txBody>
          </p:sp>
        </p:grpSp>
      </p:grpSp>
      <p:sp>
        <p:nvSpPr>
          <p:cNvPr id="17411" name="Text Box 44"/>
          <p:cNvSpPr txBox="1"/>
          <p:nvPr/>
        </p:nvSpPr>
        <p:spPr>
          <a:xfrm>
            <a:off x="578005" y="4440453"/>
            <a:ext cx="4894456" cy="52322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+mj-ea"/>
                <a:ea typeface="+mj-ea"/>
              </a:rPr>
              <a:t>组合权向量  </a:t>
            </a:r>
            <a:r>
              <a:rPr lang="en-US" altLang="zh-CN" sz="2800" b="1" dirty="0">
                <a:latin typeface="+mj-ea"/>
                <a:ea typeface="+mj-ea"/>
              </a:rPr>
              <a:t>(</a:t>
            </a:r>
            <a:r>
              <a:rPr lang="zh-CN" altLang="en-US" sz="2800" b="1" dirty="0">
                <a:latin typeface="+mj-ea"/>
                <a:ea typeface="+mj-ea"/>
              </a:rPr>
              <a:t>最后评估得分</a:t>
            </a:r>
            <a:r>
              <a:rPr lang="en-US" altLang="zh-CN" sz="2800" b="1" dirty="0">
                <a:latin typeface="+mj-ea"/>
                <a:ea typeface="+mj-ea"/>
              </a:rPr>
              <a:t>)</a:t>
            </a:r>
            <a:r>
              <a:rPr lang="zh-CN" altLang="en-US" sz="2800" b="1" dirty="0">
                <a:latin typeface="+mj-ea"/>
                <a:ea typeface="+mj-ea"/>
              </a:rPr>
              <a:t>：</a:t>
            </a:r>
          </a:p>
        </p:txBody>
      </p:sp>
      <p:sp>
        <p:nvSpPr>
          <p:cNvPr id="9267" name="Rectangle 51"/>
          <p:cNvSpPr/>
          <p:nvPr/>
        </p:nvSpPr>
        <p:spPr>
          <a:xfrm>
            <a:off x="7164659" y="1292093"/>
            <a:ext cx="990600" cy="265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w</a:t>
            </a:r>
            <a:r>
              <a:rPr lang="en-US" altLang="zh-CN" sz="28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0.2630.4750.0550.0900.110</a:t>
            </a:r>
            <a:endParaRPr lang="en-US" altLang="zh-CN" sz="28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70" name="Text Box 54"/>
          <p:cNvSpPr txBox="1"/>
          <p:nvPr/>
        </p:nvSpPr>
        <p:spPr>
          <a:xfrm>
            <a:off x="477704" y="5133996"/>
            <a:ext cx="7766704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方案层对目标的组合权向量为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 Box 54">
                <a:extLst>
                  <a:ext uri="{FF2B5EF4-FFF2-40B4-BE49-F238E27FC236}">
                    <a16:creationId xmlns:a16="http://schemas.microsoft.com/office/drawing/2014/main" id="{7265064C-C782-FF2D-9258-C81B4B877DFB}"/>
                  </a:ext>
                </a:extLst>
              </p:cNvPr>
              <p:cNvSpPr txBox="1"/>
              <p:nvPr/>
            </p:nvSpPr>
            <p:spPr>
              <a:xfrm>
                <a:off x="1339095" y="5743595"/>
                <a:ext cx="6590331" cy="5411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sSup>
                      <m:sSup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sz="2800" b="1" dirty="0">
                    <a:latin typeface="Times New Roman" panose="02020603050405020304" pitchFamily="18" charset="0"/>
                  </a:rPr>
                  <a:t>= (0.300, 0.246, 0.456)</a:t>
                </a:r>
                <a:r>
                  <a:rPr lang="en-US" altLang="zh-CN" sz="2800" b="1" baseline="30000" dirty="0">
                    <a:latin typeface="Times New Roman" panose="02020603050405020304" pitchFamily="18" charset="0"/>
                  </a:rPr>
                  <a:t>T</a:t>
                </a:r>
                <a:endPara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50" name="Text Box 54">
                <a:extLst>
                  <a:ext uri="{FF2B5EF4-FFF2-40B4-BE49-F238E27FC236}">
                    <a16:creationId xmlns:a16="http://schemas.microsoft.com/office/drawing/2014/main" id="{7265064C-C782-FF2D-9258-C81B4B877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095" y="5743595"/>
                <a:ext cx="6590331" cy="541110"/>
              </a:xfrm>
              <a:prstGeom prst="rect">
                <a:avLst/>
              </a:prstGeom>
              <a:blipFill>
                <a:blip r:embed="rId9"/>
                <a:stretch>
                  <a:fillRect t="-7865" b="-30337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10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1000"/>
                                        <p:tgtEl>
                                          <p:spTgt spid="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animBg="1"/>
      <p:bldP spid="9267" grpId="0"/>
      <p:bldP spid="9270" grpId="0" animBg="1"/>
      <p:bldP spid="5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2124075" y="1322388"/>
          <a:ext cx="30575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" r:id="rId3" imgW="1346200" imgH="241300" progId="Equation.DSMT4">
                  <p:embed/>
                </p:oleObj>
              </mc:Choice>
              <mc:Fallback>
                <p:oleObj r:id="rId3" imgW="1346200" imgH="2413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4075" y="1322388"/>
                        <a:ext cx="3057525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5983288" y="4300538"/>
          <a:ext cx="2587625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9" r:id="rId5" imgW="939165" imgH="203200" progId="Equation.DSMT4">
                  <p:embed/>
                </p:oleObj>
              </mc:Choice>
              <mc:Fallback>
                <p:oleObj r:id="rId5" imgW="939165" imgH="2032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83288" y="4300538"/>
                        <a:ext cx="2587625" cy="534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 Box 7"/>
          <p:cNvSpPr txBox="1"/>
          <p:nvPr/>
        </p:nvSpPr>
        <p:spPr>
          <a:xfrm>
            <a:off x="228600" y="609600"/>
            <a:ext cx="1295400" cy="10318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组合</a:t>
            </a:r>
          </a:p>
          <a:p>
            <a:pPr>
              <a:spcBef>
                <a:spcPct val="2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权向量</a:t>
            </a:r>
          </a:p>
        </p:txBody>
      </p:sp>
      <p:grpSp>
        <p:nvGrpSpPr>
          <p:cNvPr id="10263" name="Group 23"/>
          <p:cNvGrpSpPr/>
          <p:nvPr/>
        </p:nvGrpSpPr>
        <p:grpSpPr>
          <a:xfrm>
            <a:off x="6372225" y="549275"/>
            <a:ext cx="2509838" cy="2281238"/>
            <a:chOff x="4080" y="240"/>
            <a:chExt cx="1488" cy="1437"/>
          </a:xfrm>
        </p:grpSpPr>
        <p:sp>
          <p:nvSpPr>
            <p:cNvPr id="18448" name="Text Box 8"/>
            <p:cNvSpPr txBox="1"/>
            <p:nvPr/>
          </p:nvSpPr>
          <p:spPr>
            <a:xfrm>
              <a:off x="4320" y="240"/>
              <a:ext cx="912" cy="333"/>
            </a:xfrm>
            <a:prstGeom prst="rect">
              <a:avLst/>
            </a:prstGeom>
            <a:solidFill>
              <a:srgbClr val="CC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第</a:t>
              </a:r>
              <a:r>
                <a:rPr lang="en-US" altLang="zh-CN" sz="2800" b="1">
                  <a:latin typeface="Times New Roman" panose="02020603050405020304" pitchFamily="18" charset="0"/>
                </a:rPr>
                <a:t>1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层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18449" name="Text Box 9"/>
            <p:cNvSpPr txBox="1"/>
            <p:nvPr/>
          </p:nvSpPr>
          <p:spPr>
            <a:xfrm>
              <a:off x="4080" y="768"/>
              <a:ext cx="1488" cy="333"/>
            </a:xfrm>
            <a:prstGeom prst="rect">
              <a:avLst/>
            </a:prstGeom>
            <a:solidFill>
              <a:srgbClr val="CC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第</a:t>
              </a:r>
              <a:r>
                <a:rPr lang="en-US" altLang="zh-CN" sz="2800" b="1">
                  <a:latin typeface="Times New Roman" panose="02020603050405020304" pitchFamily="18" charset="0"/>
                </a:rPr>
                <a:t>2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层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>
                  <a:latin typeface="Times New Roman" panose="02020603050405020304" pitchFamily="18" charset="0"/>
                </a:rPr>
                <a:t>,…,</a:t>
              </a:r>
              <a:r>
                <a:rPr lang="en-US" altLang="zh-CN" sz="2800" b="1" i="1" err="1">
                  <a:latin typeface="Times New Roman" panose="02020603050405020304" pitchFamily="18" charset="0"/>
                </a:rPr>
                <a:t>C</a:t>
              </a:r>
              <a:r>
                <a:rPr lang="en-US" altLang="zh-CN" sz="2800" b="1" i="1" baseline="-25000" err="1">
                  <a:latin typeface="Times New Roman" panose="02020603050405020304" pitchFamily="18" charset="0"/>
                </a:rPr>
                <a:t>n</a:t>
              </a:r>
              <a:endParaRPr lang="en-US" altLang="zh-CN" sz="2800" b="1" i="1">
                <a:latin typeface="Times New Roman" panose="02020603050405020304" pitchFamily="18" charset="0"/>
              </a:endParaRPr>
            </a:p>
          </p:txBody>
        </p:sp>
        <p:sp>
          <p:nvSpPr>
            <p:cNvPr id="18450" name="Text Box 10"/>
            <p:cNvSpPr txBox="1"/>
            <p:nvPr/>
          </p:nvSpPr>
          <p:spPr>
            <a:xfrm>
              <a:off x="4080" y="1344"/>
              <a:ext cx="1488" cy="333"/>
            </a:xfrm>
            <a:prstGeom prst="rect">
              <a:avLst/>
            </a:prstGeom>
            <a:solidFill>
              <a:srgbClr val="CC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第</a:t>
              </a:r>
              <a:r>
                <a:rPr lang="en-US" altLang="zh-CN" sz="2800" b="1">
                  <a:latin typeface="Times New Roman" panose="02020603050405020304" pitchFamily="18" charset="0"/>
                </a:rPr>
                <a:t>3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层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P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>
                  <a:latin typeface="Times New Roman" panose="02020603050405020304" pitchFamily="18" charset="0"/>
                </a:rPr>
                <a:t>, …,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P</a:t>
              </a:r>
              <a:r>
                <a:rPr lang="en-US" altLang="zh-CN" sz="2800" b="1" i="1" baseline="-25000">
                  <a:latin typeface="Times New Roman" panose="02020603050405020304" pitchFamily="18" charset="0"/>
                </a:rPr>
                <a:t>m</a:t>
              </a:r>
              <a:endParaRPr lang="en-US" altLang="zh-CN" sz="2800" b="1" i="1">
                <a:latin typeface="Times New Roman" panose="02020603050405020304" pitchFamily="18" charset="0"/>
              </a:endParaRPr>
            </a:p>
          </p:txBody>
        </p:sp>
        <p:sp>
          <p:nvSpPr>
            <p:cNvPr id="18451" name="Line 13"/>
            <p:cNvSpPr/>
            <p:nvPr/>
          </p:nvSpPr>
          <p:spPr>
            <a:xfrm>
              <a:off x="4752" y="576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2" name="Line 14"/>
            <p:cNvSpPr/>
            <p:nvPr/>
          </p:nvSpPr>
          <p:spPr>
            <a:xfrm>
              <a:off x="4752" y="1104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10255" name="Object 15"/>
          <p:cNvGraphicFramePr>
            <a:graphicFrameLocks noChangeAspect="1"/>
          </p:cNvGraphicFramePr>
          <p:nvPr/>
        </p:nvGraphicFramePr>
        <p:xfrm>
          <a:off x="1258888" y="2814638"/>
          <a:ext cx="5478462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0" r:id="rId7" imgW="2159000" imgH="241300" progId="Equation.DSMT4">
                  <p:embed/>
                </p:oleObj>
              </mc:Choice>
              <mc:Fallback>
                <p:oleObj r:id="rId7" imgW="2159000" imgH="241300" progId="Equation.DSMT4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58888" y="2814638"/>
                        <a:ext cx="5478462" cy="560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7" name="Text Box 17"/>
          <p:cNvSpPr txBox="1"/>
          <p:nvPr/>
        </p:nvSpPr>
        <p:spPr>
          <a:xfrm>
            <a:off x="1905000" y="609600"/>
            <a:ext cx="3810000" cy="604838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第</a:t>
            </a:r>
            <a:r>
              <a:rPr lang="en-US" altLang="zh-CN" sz="2800" b="1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层对第</a:t>
            </a:r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层的权向量</a:t>
            </a:r>
          </a:p>
        </p:txBody>
      </p:sp>
      <p:sp>
        <p:nvSpPr>
          <p:cNvPr id="10259" name="Text Box 19"/>
          <p:cNvSpPr txBox="1"/>
          <p:nvPr/>
        </p:nvSpPr>
        <p:spPr>
          <a:xfrm>
            <a:off x="1219200" y="1985963"/>
            <a:ext cx="4876800" cy="604837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第</a:t>
            </a:r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</a:rPr>
              <a:t>层对第</a:t>
            </a:r>
            <a:r>
              <a:rPr lang="en-US" altLang="zh-CN" sz="2800" b="1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层各元素的权向量</a:t>
            </a:r>
          </a:p>
        </p:txBody>
      </p:sp>
      <p:grpSp>
        <p:nvGrpSpPr>
          <p:cNvPr id="10264" name="Group 24"/>
          <p:cNvGrpSpPr/>
          <p:nvPr/>
        </p:nvGrpSpPr>
        <p:grpSpPr>
          <a:xfrm>
            <a:off x="1066800" y="3581400"/>
            <a:ext cx="5151438" cy="574675"/>
            <a:chOff x="672" y="2544"/>
            <a:chExt cx="3245" cy="362"/>
          </a:xfrm>
        </p:grpSpPr>
        <p:graphicFrame>
          <p:nvGraphicFramePr>
            <p:cNvPr id="18446" name="Object 3"/>
            <p:cNvGraphicFramePr>
              <a:graphicFrameLocks noChangeAspect="1"/>
            </p:cNvGraphicFramePr>
            <p:nvPr/>
          </p:nvGraphicFramePr>
          <p:xfrm>
            <a:off x="1939" y="2562"/>
            <a:ext cx="1978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51" r:id="rId9" imgW="1308100" imgH="241300" progId="Equation.DSMT4">
                    <p:embed/>
                  </p:oleObj>
                </mc:Choice>
                <mc:Fallback>
                  <p:oleObj r:id="rId9" imgW="1308100" imgH="241300" progId="Equation.DSMT4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939" y="2562"/>
                          <a:ext cx="1978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7" name="Text Box 20"/>
            <p:cNvSpPr txBox="1"/>
            <p:nvPr/>
          </p:nvSpPr>
          <p:spPr>
            <a:xfrm>
              <a:off x="672" y="2544"/>
              <a:ext cx="105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构造矩阵</a:t>
              </a:r>
            </a:p>
          </p:txBody>
        </p:sp>
      </p:grpSp>
      <p:sp>
        <p:nvSpPr>
          <p:cNvPr id="10261" name="Text Box 21"/>
          <p:cNvSpPr txBox="1"/>
          <p:nvPr/>
        </p:nvSpPr>
        <p:spPr>
          <a:xfrm>
            <a:off x="762000" y="4271963"/>
            <a:ext cx="4876800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则第</a:t>
            </a:r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</a:rPr>
              <a:t>层对第</a:t>
            </a:r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层的组合权向量</a:t>
            </a:r>
          </a:p>
        </p:txBody>
      </p:sp>
      <p:graphicFrame>
        <p:nvGraphicFramePr>
          <p:cNvPr id="10262" name="Object 22"/>
          <p:cNvGraphicFramePr>
            <a:graphicFrameLocks noChangeAspect="1"/>
          </p:cNvGraphicFramePr>
          <p:nvPr/>
        </p:nvGraphicFramePr>
        <p:xfrm>
          <a:off x="654050" y="5980113"/>
          <a:ext cx="37560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2" r:id="rId11" imgW="1752600" imgH="203200" progId="Equation.DSMT4">
                  <p:embed/>
                </p:oleObj>
              </mc:Choice>
              <mc:Fallback>
                <p:oleObj r:id="rId11" imgW="1752600" imgH="2032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54050" y="5980113"/>
                        <a:ext cx="3756025" cy="4889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6" name="Text Box 26"/>
          <p:cNvSpPr txBox="1"/>
          <p:nvPr/>
        </p:nvSpPr>
        <p:spPr>
          <a:xfrm>
            <a:off x="228600" y="5186363"/>
            <a:ext cx="4572000" cy="604837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第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层对第</a:t>
            </a: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层的组合权向量</a:t>
            </a:r>
          </a:p>
        </p:txBody>
      </p:sp>
      <p:sp>
        <p:nvSpPr>
          <p:cNvPr id="10267" name="Text Box 27"/>
          <p:cNvSpPr txBox="1"/>
          <p:nvPr/>
        </p:nvSpPr>
        <p:spPr>
          <a:xfrm>
            <a:off x="5029200" y="5207000"/>
            <a:ext cx="396240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zh-CN" sz="2800" b="1" dirty="0">
                <a:latin typeface="Times New Roman" panose="02020603050405020304" pitchFamily="18" charset="0"/>
              </a:rPr>
              <a:t>其中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W</a:t>
            </a:r>
            <a:r>
              <a:rPr lang="en-US" altLang="zh-CN" sz="2800" b="1" baseline="30000" err="1">
                <a:latin typeface="Times New Roman" panose="02020603050405020304" pitchFamily="18" charset="0"/>
              </a:rPr>
              <a:t>(</a:t>
            </a:r>
            <a:r>
              <a:rPr lang="en-US" altLang="zh-CN" sz="2800" b="1" i="1" baseline="30000" err="1">
                <a:latin typeface="Times New Roman" panose="02020603050405020304" pitchFamily="18" charset="0"/>
              </a:rPr>
              <a:t>p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是由第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zh-CN" altLang="en-US" sz="2800" b="1" dirty="0">
                <a:latin typeface="Times New Roman" panose="02020603050405020304" pitchFamily="18" charset="0"/>
              </a:rPr>
              <a:t>层对第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-1</a:t>
            </a:r>
            <a:r>
              <a:rPr lang="zh-CN" altLang="en-US" sz="2800" b="1" dirty="0">
                <a:latin typeface="Times New Roman" panose="02020603050405020304" pitchFamily="18" charset="0"/>
              </a:rPr>
              <a:t>层权向量组成的矩阵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10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10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10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4" dur="10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9" dur="1000"/>
                                        <p:tgtEl>
                                          <p:spTgt spid="1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10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9" dur="1000"/>
                                        <p:tgtEl>
                                          <p:spTgt spid="1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7" grpId="0" animBg="1"/>
      <p:bldP spid="10259" grpId="0" animBg="1"/>
      <p:bldP spid="10261" grpId="0"/>
      <p:bldP spid="10266" grpId="0" animBg="1"/>
      <p:bldP spid="1026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8"/>
          <p:cNvSpPr txBox="1"/>
          <p:nvPr/>
        </p:nvSpPr>
        <p:spPr>
          <a:xfrm>
            <a:off x="2286000" y="319088"/>
            <a:ext cx="4419600" cy="579437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+mj-ea"/>
                <a:ea typeface="+mj-ea"/>
              </a:rPr>
              <a:t>层次分析法的基本步骤</a:t>
            </a:r>
          </a:p>
        </p:txBody>
      </p:sp>
      <p:sp>
        <p:nvSpPr>
          <p:cNvPr id="11275" name="Text Box 11"/>
          <p:cNvSpPr txBox="1"/>
          <p:nvPr/>
        </p:nvSpPr>
        <p:spPr>
          <a:xfrm>
            <a:off x="304800" y="928688"/>
            <a:ext cx="4572000" cy="519112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+mj-ea"/>
                <a:ea typeface="+mj-ea"/>
              </a:rPr>
              <a:t>1</a:t>
            </a:r>
            <a:r>
              <a:rPr lang="zh-CN" altLang="en-US" sz="2800" b="1" dirty="0">
                <a:latin typeface="+mj-ea"/>
                <a:ea typeface="+mj-ea"/>
              </a:rPr>
              <a:t>）建立层次分析结构模型</a:t>
            </a:r>
          </a:p>
        </p:txBody>
      </p:sp>
      <p:sp>
        <p:nvSpPr>
          <p:cNvPr id="11276" name="Text Box 12"/>
          <p:cNvSpPr txBox="1"/>
          <p:nvPr/>
        </p:nvSpPr>
        <p:spPr>
          <a:xfrm>
            <a:off x="838200" y="1446213"/>
            <a:ext cx="7620000" cy="1354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zh-CN" altLang="en-US" b="1" dirty="0">
                <a:latin typeface="+mj-ea"/>
                <a:ea typeface="+mj-ea"/>
              </a:rPr>
              <a:t>深入分析实际问题，将有关因素自上而下分层（目标</a:t>
            </a:r>
            <a:r>
              <a:rPr lang="en-US" altLang="zh-CN" b="1">
                <a:latin typeface="+mj-ea"/>
                <a:ea typeface="+mj-ea"/>
              </a:rPr>
              <a:t>—</a:t>
            </a:r>
            <a:r>
              <a:rPr lang="zh-CN" altLang="en-US" b="1" dirty="0">
                <a:latin typeface="+mj-ea"/>
                <a:ea typeface="+mj-ea"/>
              </a:rPr>
              <a:t>准则或指标</a:t>
            </a:r>
            <a:r>
              <a:rPr lang="en-US" altLang="zh-CN" b="1">
                <a:latin typeface="+mj-ea"/>
                <a:ea typeface="+mj-ea"/>
              </a:rPr>
              <a:t>—</a:t>
            </a:r>
            <a:r>
              <a:rPr lang="zh-CN" altLang="en-US" b="1" dirty="0">
                <a:latin typeface="+mj-ea"/>
                <a:ea typeface="+mj-ea"/>
              </a:rPr>
              <a:t>方案或对象），上层受下层影响，而层内各因素基本上相对独立</a:t>
            </a:r>
            <a:r>
              <a:rPr lang="en-US" altLang="zh-CN" b="1">
                <a:latin typeface="+mj-ea"/>
                <a:ea typeface="+mj-ea"/>
              </a:rPr>
              <a:t>.</a:t>
            </a:r>
          </a:p>
        </p:txBody>
      </p:sp>
      <p:sp>
        <p:nvSpPr>
          <p:cNvPr id="11277" name="Text Box 13"/>
          <p:cNvSpPr txBox="1"/>
          <p:nvPr/>
        </p:nvSpPr>
        <p:spPr>
          <a:xfrm>
            <a:off x="228600" y="2819400"/>
            <a:ext cx="3581400" cy="519113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+mj-ea"/>
                <a:ea typeface="+mj-ea"/>
              </a:rPr>
              <a:t>2</a:t>
            </a:r>
            <a:r>
              <a:rPr lang="zh-CN" altLang="en-US" sz="2800" b="1" dirty="0">
                <a:latin typeface="+mj-ea"/>
                <a:ea typeface="+mj-ea"/>
              </a:rPr>
              <a:t>）构造成对比较阵</a:t>
            </a:r>
          </a:p>
        </p:txBody>
      </p:sp>
      <p:sp>
        <p:nvSpPr>
          <p:cNvPr id="11278" name="Text Box 14"/>
          <p:cNvSpPr txBox="1"/>
          <p:nvPr/>
        </p:nvSpPr>
        <p:spPr>
          <a:xfrm>
            <a:off x="838200" y="3276600"/>
            <a:ext cx="7772400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+mj-ea"/>
                <a:ea typeface="+mj-ea"/>
              </a:rPr>
              <a:t>用成对比较法和</a:t>
            </a:r>
            <a:r>
              <a:rPr lang="en-US" altLang="zh-CN" b="1">
                <a:latin typeface="+mj-ea"/>
                <a:ea typeface="+mj-ea"/>
              </a:rPr>
              <a:t>1~9</a:t>
            </a:r>
            <a:r>
              <a:rPr lang="zh-CN" altLang="en-US" b="1" dirty="0">
                <a:latin typeface="+mj-ea"/>
                <a:ea typeface="+mj-ea"/>
              </a:rPr>
              <a:t>尺度，构造各层对上一层每一因素的成对比较阵</a:t>
            </a:r>
            <a:r>
              <a:rPr lang="en-US" altLang="zh-CN" b="1">
                <a:latin typeface="+mj-ea"/>
                <a:ea typeface="+mj-ea"/>
              </a:rPr>
              <a:t>.</a:t>
            </a:r>
          </a:p>
        </p:txBody>
      </p:sp>
      <p:sp>
        <p:nvSpPr>
          <p:cNvPr id="11279" name="Text Box 15"/>
          <p:cNvSpPr txBox="1"/>
          <p:nvPr/>
        </p:nvSpPr>
        <p:spPr>
          <a:xfrm>
            <a:off x="228600" y="4114800"/>
            <a:ext cx="5257800" cy="519113"/>
          </a:xfrm>
          <a:prstGeom prst="rect">
            <a:avLst/>
          </a:prstGeom>
          <a:solidFill>
            <a:srgbClr val="00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+mj-ea"/>
                <a:ea typeface="+mj-ea"/>
              </a:rPr>
              <a:t>3</a:t>
            </a:r>
            <a:r>
              <a:rPr lang="zh-CN" altLang="en-US" sz="2800" b="1" dirty="0">
                <a:latin typeface="+mj-ea"/>
                <a:ea typeface="+mj-ea"/>
              </a:rPr>
              <a:t>）计算权向量并作一致性检验</a:t>
            </a:r>
          </a:p>
        </p:txBody>
      </p:sp>
      <p:sp>
        <p:nvSpPr>
          <p:cNvPr id="11280" name="Text Box 16"/>
          <p:cNvSpPr txBox="1"/>
          <p:nvPr/>
        </p:nvSpPr>
        <p:spPr>
          <a:xfrm>
            <a:off x="762000" y="4648200"/>
            <a:ext cx="7848600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+mj-ea"/>
                <a:ea typeface="+mj-ea"/>
              </a:rPr>
              <a:t>对每一成对比较阵计算最大特征根和特征向量，作一致性检验，若通过，则特征向量为权向量</a:t>
            </a:r>
            <a:r>
              <a:rPr lang="en-US" altLang="zh-CN" b="1">
                <a:latin typeface="+mj-ea"/>
                <a:ea typeface="+mj-ea"/>
              </a:rPr>
              <a:t>.</a:t>
            </a:r>
          </a:p>
        </p:txBody>
      </p:sp>
      <p:sp>
        <p:nvSpPr>
          <p:cNvPr id="11281" name="Text Box 17"/>
          <p:cNvSpPr txBox="1"/>
          <p:nvPr/>
        </p:nvSpPr>
        <p:spPr>
          <a:xfrm>
            <a:off x="228600" y="5500688"/>
            <a:ext cx="7080250" cy="519112"/>
          </a:xfrm>
          <a:prstGeom prst="rect">
            <a:avLst/>
          </a:prstGeom>
          <a:solidFill>
            <a:srgbClr val="FFCC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+mj-ea"/>
                <a:ea typeface="+mj-ea"/>
              </a:rPr>
              <a:t>4</a:t>
            </a:r>
            <a:r>
              <a:rPr lang="zh-CN" altLang="en-US" sz="2800" b="1" dirty="0">
                <a:latin typeface="+mj-ea"/>
                <a:ea typeface="+mj-ea"/>
              </a:rPr>
              <a:t>）计算组合权向量（作组合一致性检验</a:t>
            </a:r>
            <a:r>
              <a:rPr lang="zh-CN" altLang="en-US" sz="2800" b="1" baseline="30000" dirty="0">
                <a:latin typeface="+mj-ea"/>
                <a:ea typeface="+mj-ea"/>
              </a:rPr>
              <a:t>*</a:t>
            </a:r>
            <a:r>
              <a:rPr lang="zh-CN" altLang="en-US" sz="2800" b="1" dirty="0">
                <a:latin typeface="+mj-ea"/>
                <a:ea typeface="+mj-ea"/>
              </a:rPr>
              <a:t>）</a:t>
            </a:r>
          </a:p>
        </p:txBody>
      </p:sp>
      <p:sp>
        <p:nvSpPr>
          <p:cNvPr id="11282" name="Text Box 18"/>
          <p:cNvSpPr txBox="1"/>
          <p:nvPr/>
        </p:nvSpPr>
        <p:spPr>
          <a:xfrm>
            <a:off x="762000" y="6019800"/>
            <a:ext cx="5181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+mj-ea"/>
                <a:ea typeface="+mj-ea"/>
              </a:rPr>
              <a:t>组合权向量可作为决策的定量依据</a:t>
            </a:r>
            <a:r>
              <a:rPr lang="en-US" altLang="zh-CN" b="1">
                <a:latin typeface="+mj-ea"/>
                <a:ea typeface="+mj-ea"/>
              </a:rPr>
              <a:t>.</a:t>
            </a:r>
          </a:p>
        </p:txBody>
      </p:sp>
      <p:graphicFrame>
        <p:nvGraphicFramePr>
          <p:cNvPr id="19467" name="Object 19"/>
          <p:cNvGraphicFramePr>
            <a:graphicFrameLocks noChangeAspect="1"/>
          </p:cNvGraphicFramePr>
          <p:nvPr/>
        </p:nvGraphicFramePr>
        <p:xfrm>
          <a:off x="8243888" y="476250"/>
          <a:ext cx="6540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r:id="rId3" imgW="3848100" imgH="5478780" progId="MS_ClipArt_Gallery.2">
                  <p:embed/>
                </p:oleObj>
              </mc:Choice>
              <mc:Fallback>
                <p:oleObj r:id="rId3" imgW="3848100" imgH="5478780" progId="MS_ClipArt_Gallery.2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43888" y="476250"/>
                        <a:ext cx="65405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10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5" grpId="0" animBg="1"/>
      <p:bldP spid="11276" grpId="0"/>
      <p:bldP spid="11277" grpId="0" animBg="1"/>
      <p:bldP spid="11278" grpId="0"/>
      <p:bldP spid="11279" grpId="0" animBg="1"/>
      <p:bldP spid="11280" grpId="0"/>
      <p:bldP spid="11281" grpId="0" animBg="1"/>
      <p:bldP spid="1128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6" name="Text Box 36"/>
          <p:cNvSpPr txBox="1">
            <a:spLocks noChangeArrowheads="1"/>
          </p:cNvSpPr>
          <p:nvPr/>
        </p:nvSpPr>
        <p:spPr bwMode="auto">
          <a:xfrm>
            <a:off x="1447800" y="563563"/>
            <a:ext cx="571500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en-US" altLang="zh-CN" sz="3200" b="1" kern="1200" cap="none" spc="0" normalizeH="0" baseline="0" noProof="0" dirty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3</a:t>
            </a:r>
            <a:r>
              <a:rPr kumimoji="1" lang="zh-CN" altLang="en-US" sz="3200" b="1" kern="1200" cap="none" spc="0" normalizeH="0" baseline="0" noProof="0" dirty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、层次分析法的广泛应用</a:t>
            </a:r>
          </a:p>
        </p:txBody>
      </p:sp>
      <p:sp>
        <p:nvSpPr>
          <p:cNvPr id="30757" name="Text Box 37"/>
          <p:cNvSpPr txBox="1"/>
          <p:nvPr/>
        </p:nvSpPr>
        <p:spPr>
          <a:xfrm>
            <a:off x="609600" y="1268413"/>
            <a:ext cx="8066088" cy="1671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 dirty="0">
                <a:latin typeface="+mn-ea"/>
                <a:ea typeface="+mn-ea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应用领域：</a:t>
            </a:r>
            <a:r>
              <a:rPr lang="zh-CN" altLang="en-US" sz="2800" b="1" dirty="0">
                <a:latin typeface="+mn-ea"/>
                <a:ea typeface="+mn-ea"/>
              </a:rPr>
              <a:t>经济计划和管理，能源政策和分配，</a:t>
            </a: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latin typeface="+mn-ea"/>
                <a:ea typeface="+mn-ea"/>
              </a:rPr>
              <a:t>  人才选拔和评价，生产决策，交通运输，科研选  </a:t>
            </a: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latin typeface="+mn-ea"/>
                <a:ea typeface="+mn-ea"/>
              </a:rPr>
              <a:t>  题，产业结构，教育，医疗，环境，军事等</a:t>
            </a:r>
            <a:r>
              <a:rPr lang="en-US" altLang="zh-CN" sz="28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30758" name="Text Box 38"/>
          <p:cNvSpPr txBox="1"/>
          <p:nvPr/>
        </p:nvSpPr>
        <p:spPr>
          <a:xfrm>
            <a:off x="533400" y="3124200"/>
            <a:ext cx="81422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+mn-ea"/>
                <a:ea typeface="+mn-ea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处理问题类型：</a:t>
            </a:r>
            <a:r>
              <a:rPr lang="zh-CN" altLang="en-US" sz="2800" b="1" dirty="0">
                <a:latin typeface="+mn-ea"/>
                <a:ea typeface="+mn-ea"/>
              </a:rPr>
              <a:t>决策、评价、分析、预测等</a:t>
            </a:r>
            <a:r>
              <a:rPr lang="en-US" altLang="zh-CN" sz="2800" b="1">
                <a:latin typeface="+mn-ea"/>
                <a:ea typeface="+mn-ea"/>
              </a:rPr>
              <a:t>.</a:t>
            </a:r>
          </a:p>
        </p:txBody>
      </p:sp>
      <p:sp>
        <p:nvSpPr>
          <p:cNvPr id="30759" name="Text Box 39"/>
          <p:cNvSpPr txBox="1"/>
          <p:nvPr/>
        </p:nvSpPr>
        <p:spPr>
          <a:xfrm>
            <a:off x="533400" y="3803650"/>
            <a:ext cx="8142288" cy="107933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 dirty="0">
                <a:latin typeface="+mn-ea"/>
                <a:ea typeface="+mn-ea"/>
              </a:rPr>
              <a:t> 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建立层次分析结构模型是关键一步，要有主要决</a:t>
            </a: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  策层参与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30760" name="Text Box 40"/>
          <p:cNvSpPr txBox="1"/>
          <p:nvPr/>
        </p:nvSpPr>
        <p:spPr>
          <a:xfrm>
            <a:off x="539750" y="5027613"/>
            <a:ext cx="8352730" cy="107933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 dirty="0">
                <a:latin typeface="+mn-ea"/>
                <a:ea typeface="+mn-ea"/>
              </a:rPr>
              <a:t> 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构造成对比较阵是数量依据，应由经验丰富、判</a:t>
            </a: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  断力强的专家给出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  <a:ea typeface="+mn-ea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3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1000"/>
                                        <p:tgtEl>
                                          <p:spTgt spid="3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3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3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7" grpId="0" animBg="1"/>
      <p:bldP spid="30758" grpId="0" animBg="1"/>
      <p:bldP spid="30759" grpId="0" animBg="1"/>
      <p:bldP spid="3076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18" name="Group 1098"/>
          <p:cNvGrpSpPr/>
          <p:nvPr/>
        </p:nvGrpSpPr>
        <p:grpSpPr>
          <a:xfrm>
            <a:off x="3635375" y="404813"/>
            <a:ext cx="3887788" cy="2890837"/>
            <a:chOff x="2290" y="255"/>
            <a:chExt cx="2449" cy="1821"/>
          </a:xfrm>
        </p:grpSpPr>
        <p:sp>
          <p:nvSpPr>
            <p:cNvPr id="21554" name="Text Box 1027"/>
            <p:cNvSpPr txBox="1"/>
            <p:nvPr/>
          </p:nvSpPr>
          <p:spPr>
            <a:xfrm>
              <a:off x="2835" y="255"/>
              <a:ext cx="1339" cy="288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国家综合实力</a:t>
              </a:r>
            </a:p>
          </p:txBody>
        </p:sp>
        <p:sp>
          <p:nvSpPr>
            <p:cNvPr id="21555" name="Text Box 1051"/>
            <p:cNvSpPr txBox="1"/>
            <p:nvPr/>
          </p:nvSpPr>
          <p:spPr>
            <a:xfrm>
              <a:off x="2290" y="1788"/>
              <a:ext cx="2449" cy="288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美、俄、中、日、德等大国</a:t>
              </a:r>
            </a:p>
          </p:txBody>
        </p:sp>
      </p:grpSp>
      <p:grpSp>
        <p:nvGrpSpPr>
          <p:cNvPr id="31822" name="Group 1102"/>
          <p:cNvGrpSpPr/>
          <p:nvPr/>
        </p:nvGrpSpPr>
        <p:grpSpPr>
          <a:xfrm>
            <a:off x="2051050" y="857250"/>
            <a:ext cx="6778625" cy="1905000"/>
            <a:chOff x="1292" y="540"/>
            <a:chExt cx="4270" cy="1200"/>
          </a:xfrm>
        </p:grpSpPr>
        <p:sp>
          <p:nvSpPr>
            <p:cNvPr id="21537" name="Text Box 1046"/>
            <p:cNvSpPr txBox="1"/>
            <p:nvPr/>
          </p:nvSpPr>
          <p:spPr>
            <a:xfrm>
              <a:off x="1292" y="914"/>
              <a:ext cx="589" cy="576"/>
            </a:xfrm>
            <a:prstGeom prst="rect">
              <a:avLst/>
            </a:prstGeom>
            <a:solidFill>
              <a:srgbClr val="CCFF66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国民</a:t>
              </a:r>
            </a:p>
            <a:p>
              <a:pPr>
                <a:spcBef>
                  <a:spcPct val="25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收入</a:t>
              </a:r>
            </a:p>
          </p:txBody>
        </p:sp>
        <p:sp>
          <p:nvSpPr>
            <p:cNvPr id="21538" name="Line 1033"/>
            <p:cNvSpPr/>
            <p:nvPr/>
          </p:nvSpPr>
          <p:spPr>
            <a:xfrm>
              <a:off x="1530" y="732"/>
              <a:ext cx="36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39" name="Line 1034"/>
            <p:cNvSpPr/>
            <p:nvPr/>
          </p:nvSpPr>
          <p:spPr>
            <a:xfrm>
              <a:off x="1530" y="1644"/>
              <a:ext cx="36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40" name="Line 1037"/>
            <p:cNvSpPr/>
            <p:nvPr/>
          </p:nvSpPr>
          <p:spPr>
            <a:xfrm>
              <a:off x="1530" y="7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41" name="Line 1038"/>
            <p:cNvSpPr/>
            <p:nvPr/>
          </p:nvSpPr>
          <p:spPr>
            <a:xfrm>
              <a:off x="1519" y="1434"/>
              <a:ext cx="11" cy="19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42" name="Line 1039"/>
            <p:cNvSpPr/>
            <p:nvPr/>
          </p:nvSpPr>
          <p:spPr>
            <a:xfrm>
              <a:off x="4362" y="7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43" name="Line 1040"/>
            <p:cNvSpPr/>
            <p:nvPr/>
          </p:nvSpPr>
          <p:spPr>
            <a:xfrm>
              <a:off x="2442" y="7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44" name="Line 1041"/>
            <p:cNvSpPr/>
            <p:nvPr/>
          </p:nvSpPr>
          <p:spPr>
            <a:xfrm>
              <a:off x="5226" y="7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45" name="Line 1042"/>
            <p:cNvSpPr/>
            <p:nvPr/>
          </p:nvSpPr>
          <p:spPr>
            <a:xfrm>
              <a:off x="2442" y="1308"/>
              <a:ext cx="0" cy="3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46" name="Line 1043"/>
            <p:cNvSpPr/>
            <p:nvPr/>
          </p:nvSpPr>
          <p:spPr>
            <a:xfrm>
              <a:off x="4362" y="1308"/>
              <a:ext cx="0" cy="3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47" name="Line 1044"/>
            <p:cNvSpPr/>
            <p:nvPr/>
          </p:nvSpPr>
          <p:spPr>
            <a:xfrm>
              <a:off x="5226" y="1260"/>
              <a:ext cx="0" cy="3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48" name="Text Box 1047"/>
            <p:cNvSpPr txBox="1"/>
            <p:nvPr/>
          </p:nvSpPr>
          <p:spPr>
            <a:xfrm>
              <a:off x="2200" y="924"/>
              <a:ext cx="528" cy="576"/>
            </a:xfrm>
            <a:prstGeom prst="rect">
              <a:avLst/>
            </a:prstGeom>
            <a:solidFill>
              <a:srgbClr val="CCFF66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军事</a:t>
              </a:r>
            </a:p>
            <a:p>
              <a:pPr>
                <a:spcBef>
                  <a:spcPct val="25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力量</a:t>
              </a:r>
            </a:p>
          </p:txBody>
        </p:sp>
        <p:sp>
          <p:nvSpPr>
            <p:cNvPr id="21549" name="Text Box 1048"/>
            <p:cNvSpPr txBox="1"/>
            <p:nvPr/>
          </p:nvSpPr>
          <p:spPr>
            <a:xfrm>
              <a:off x="3198" y="924"/>
              <a:ext cx="528" cy="576"/>
            </a:xfrm>
            <a:prstGeom prst="rect">
              <a:avLst/>
            </a:prstGeom>
            <a:solidFill>
              <a:srgbClr val="CCFF66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科技</a:t>
              </a:r>
            </a:p>
            <a:p>
              <a:pPr>
                <a:spcBef>
                  <a:spcPct val="25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水平</a:t>
              </a:r>
            </a:p>
          </p:txBody>
        </p:sp>
        <p:sp>
          <p:nvSpPr>
            <p:cNvPr id="21550" name="Text Box 1049"/>
            <p:cNvSpPr txBox="1"/>
            <p:nvPr/>
          </p:nvSpPr>
          <p:spPr>
            <a:xfrm>
              <a:off x="4150" y="890"/>
              <a:ext cx="544" cy="576"/>
            </a:xfrm>
            <a:prstGeom prst="rect">
              <a:avLst/>
            </a:prstGeom>
            <a:solidFill>
              <a:srgbClr val="CCFF66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社会</a:t>
              </a:r>
            </a:p>
            <a:p>
              <a:pPr>
                <a:spcBef>
                  <a:spcPct val="25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稳定</a:t>
              </a:r>
            </a:p>
          </p:txBody>
        </p:sp>
        <p:sp>
          <p:nvSpPr>
            <p:cNvPr id="21551" name="Text Box 1050"/>
            <p:cNvSpPr txBox="1"/>
            <p:nvPr/>
          </p:nvSpPr>
          <p:spPr>
            <a:xfrm>
              <a:off x="5034" y="924"/>
              <a:ext cx="528" cy="576"/>
            </a:xfrm>
            <a:prstGeom prst="rect">
              <a:avLst/>
            </a:prstGeom>
            <a:solidFill>
              <a:srgbClr val="CCFF66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对外</a:t>
              </a:r>
            </a:p>
            <a:p>
              <a:pPr>
                <a:spcBef>
                  <a:spcPct val="25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贸易</a:t>
              </a:r>
            </a:p>
          </p:txBody>
        </p:sp>
        <p:sp>
          <p:nvSpPr>
            <p:cNvPr id="21552" name="Line 1053"/>
            <p:cNvSpPr/>
            <p:nvPr/>
          </p:nvSpPr>
          <p:spPr>
            <a:xfrm>
              <a:off x="3450" y="540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53" name="Line 1054"/>
            <p:cNvSpPr/>
            <p:nvPr/>
          </p:nvSpPr>
          <p:spPr>
            <a:xfrm>
              <a:off x="3450" y="1500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1819" name="Group 1099"/>
          <p:cNvGrpSpPr/>
          <p:nvPr/>
        </p:nvGrpSpPr>
        <p:grpSpPr>
          <a:xfrm>
            <a:off x="4335463" y="3573463"/>
            <a:ext cx="2108200" cy="2760662"/>
            <a:chOff x="2731" y="2251"/>
            <a:chExt cx="1328" cy="1739"/>
          </a:xfrm>
        </p:grpSpPr>
        <p:sp>
          <p:nvSpPr>
            <p:cNvPr id="21535" name="Text Box 1057"/>
            <p:cNvSpPr txBox="1"/>
            <p:nvPr/>
          </p:nvSpPr>
          <p:spPr>
            <a:xfrm>
              <a:off x="2928" y="2251"/>
              <a:ext cx="996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工作选择</a:t>
              </a:r>
            </a:p>
          </p:txBody>
        </p:sp>
        <p:sp>
          <p:nvSpPr>
            <p:cNvPr id="21536" name="Text Box 1087"/>
            <p:cNvSpPr txBox="1"/>
            <p:nvPr/>
          </p:nvSpPr>
          <p:spPr>
            <a:xfrm>
              <a:off x="2731" y="3702"/>
              <a:ext cx="1328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供选择的岗位</a:t>
              </a:r>
            </a:p>
          </p:txBody>
        </p:sp>
      </p:grpSp>
      <p:grpSp>
        <p:nvGrpSpPr>
          <p:cNvPr id="31821" name="Group 1101"/>
          <p:cNvGrpSpPr/>
          <p:nvPr/>
        </p:nvGrpSpPr>
        <p:grpSpPr>
          <a:xfrm>
            <a:off x="2484438" y="4005263"/>
            <a:ext cx="5938837" cy="1871662"/>
            <a:chOff x="1565" y="2523"/>
            <a:chExt cx="3741" cy="1179"/>
          </a:xfrm>
        </p:grpSpPr>
        <p:sp>
          <p:nvSpPr>
            <p:cNvPr id="21513" name="Line 1058"/>
            <p:cNvSpPr/>
            <p:nvPr/>
          </p:nvSpPr>
          <p:spPr>
            <a:xfrm>
              <a:off x="3379" y="2523"/>
              <a:ext cx="8" cy="1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14" name="Line 1065"/>
            <p:cNvSpPr/>
            <p:nvPr/>
          </p:nvSpPr>
          <p:spPr>
            <a:xfrm flipV="1">
              <a:off x="1706" y="2652"/>
              <a:ext cx="34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15" name="Line 1066"/>
            <p:cNvSpPr/>
            <p:nvPr/>
          </p:nvSpPr>
          <p:spPr>
            <a:xfrm flipV="1">
              <a:off x="1754" y="3610"/>
              <a:ext cx="3360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16" name="Line 1067"/>
            <p:cNvSpPr/>
            <p:nvPr/>
          </p:nvSpPr>
          <p:spPr>
            <a:xfrm>
              <a:off x="1706" y="2652"/>
              <a:ext cx="1" cy="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17" name="Line 1068"/>
            <p:cNvSpPr/>
            <p:nvPr/>
          </p:nvSpPr>
          <p:spPr>
            <a:xfrm>
              <a:off x="2378" y="2652"/>
              <a:ext cx="1" cy="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18" name="Line 1069"/>
            <p:cNvSpPr/>
            <p:nvPr/>
          </p:nvSpPr>
          <p:spPr>
            <a:xfrm>
              <a:off x="3002" y="2652"/>
              <a:ext cx="1" cy="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19" name="Line 1070"/>
            <p:cNvSpPr/>
            <p:nvPr/>
          </p:nvSpPr>
          <p:spPr>
            <a:xfrm>
              <a:off x="3674" y="2652"/>
              <a:ext cx="1" cy="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0" name="Line 1071"/>
            <p:cNvSpPr/>
            <p:nvPr/>
          </p:nvSpPr>
          <p:spPr>
            <a:xfrm>
              <a:off x="4394" y="2652"/>
              <a:ext cx="1" cy="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1" name="Line 1072"/>
            <p:cNvSpPr/>
            <p:nvPr/>
          </p:nvSpPr>
          <p:spPr>
            <a:xfrm>
              <a:off x="5114" y="2652"/>
              <a:ext cx="1" cy="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2" name="Line 1073"/>
            <p:cNvSpPr/>
            <p:nvPr/>
          </p:nvSpPr>
          <p:spPr>
            <a:xfrm>
              <a:off x="1754" y="3274"/>
              <a:ext cx="1" cy="3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3" name="Line 1074"/>
            <p:cNvSpPr/>
            <p:nvPr/>
          </p:nvSpPr>
          <p:spPr>
            <a:xfrm>
              <a:off x="2426" y="3274"/>
              <a:ext cx="1" cy="3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4" name="Line 1075"/>
            <p:cNvSpPr/>
            <p:nvPr/>
          </p:nvSpPr>
          <p:spPr>
            <a:xfrm>
              <a:off x="3050" y="3257"/>
              <a:ext cx="1" cy="3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5" name="Line 1076"/>
            <p:cNvSpPr/>
            <p:nvPr/>
          </p:nvSpPr>
          <p:spPr>
            <a:xfrm>
              <a:off x="4442" y="3274"/>
              <a:ext cx="1" cy="3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6" name="Line 1077"/>
            <p:cNvSpPr/>
            <p:nvPr/>
          </p:nvSpPr>
          <p:spPr>
            <a:xfrm>
              <a:off x="3722" y="3274"/>
              <a:ext cx="1" cy="3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7" name="Line 1078"/>
            <p:cNvSpPr/>
            <p:nvPr/>
          </p:nvSpPr>
          <p:spPr>
            <a:xfrm>
              <a:off x="5114" y="3257"/>
              <a:ext cx="1" cy="3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8" name="Text Box 1079"/>
            <p:cNvSpPr txBox="1"/>
            <p:nvPr/>
          </p:nvSpPr>
          <p:spPr>
            <a:xfrm>
              <a:off x="1565" y="2938"/>
              <a:ext cx="288" cy="518"/>
            </a:xfrm>
            <a:prstGeom prst="rect">
              <a:avLst/>
            </a:prstGeom>
            <a:solidFill>
              <a:srgbClr val="CCFF66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贡献</a:t>
              </a:r>
            </a:p>
          </p:txBody>
        </p:sp>
        <p:sp>
          <p:nvSpPr>
            <p:cNvPr id="21529" name="Text Box 1080"/>
            <p:cNvSpPr txBox="1"/>
            <p:nvPr/>
          </p:nvSpPr>
          <p:spPr>
            <a:xfrm>
              <a:off x="2245" y="2938"/>
              <a:ext cx="288" cy="518"/>
            </a:xfrm>
            <a:prstGeom prst="rect">
              <a:avLst/>
            </a:prstGeom>
            <a:solidFill>
              <a:srgbClr val="CCFF66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收入</a:t>
              </a:r>
            </a:p>
          </p:txBody>
        </p:sp>
        <p:sp>
          <p:nvSpPr>
            <p:cNvPr id="21530" name="Text Box 1081"/>
            <p:cNvSpPr txBox="1"/>
            <p:nvPr/>
          </p:nvSpPr>
          <p:spPr>
            <a:xfrm>
              <a:off x="2880" y="2938"/>
              <a:ext cx="288" cy="518"/>
            </a:xfrm>
            <a:prstGeom prst="rect">
              <a:avLst/>
            </a:prstGeom>
            <a:solidFill>
              <a:srgbClr val="CCFF66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发展</a:t>
              </a:r>
            </a:p>
          </p:txBody>
        </p:sp>
        <p:sp>
          <p:nvSpPr>
            <p:cNvPr id="21531" name="Text Box 1082"/>
            <p:cNvSpPr txBox="1"/>
            <p:nvPr/>
          </p:nvSpPr>
          <p:spPr>
            <a:xfrm>
              <a:off x="3560" y="2938"/>
              <a:ext cx="288" cy="518"/>
            </a:xfrm>
            <a:prstGeom prst="rect">
              <a:avLst/>
            </a:prstGeom>
            <a:solidFill>
              <a:srgbClr val="CCFF66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声誉</a:t>
              </a:r>
            </a:p>
          </p:txBody>
        </p:sp>
        <p:sp>
          <p:nvSpPr>
            <p:cNvPr id="21532" name="Text Box 1083"/>
            <p:cNvSpPr txBox="1"/>
            <p:nvPr/>
          </p:nvSpPr>
          <p:spPr>
            <a:xfrm>
              <a:off x="4241" y="2938"/>
              <a:ext cx="336" cy="518"/>
            </a:xfrm>
            <a:prstGeom prst="rect">
              <a:avLst/>
            </a:prstGeom>
            <a:solidFill>
              <a:srgbClr val="CCFF66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关系</a:t>
              </a:r>
            </a:p>
          </p:txBody>
        </p:sp>
        <p:sp>
          <p:nvSpPr>
            <p:cNvPr id="21533" name="Text Box 1084"/>
            <p:cNvSpPr txBox="1"/>
            <p:nvPr/>
          </p:nvSpPr>
          <p:spPr>
            <a:xfrm>
              <a:off x="4970" y="2931"/>
              <a:ext cx="336" cy="518"/>
            </a:xfrm>
            <a:prstGeom prst="rect">
              <a:avLst/>
            </a:prstGeom>
            <a:solidFill>
              <a:srgbClr val="CCFF66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位置</a:t>
              </a:r>
            </a:p>
          </p:txBody>
        </p:sp>
        <p:sp>
          <p:nvSpPr>
            <p:cNvPr id="21534" name="Line 1089"/>
            <p:cNvSpPr/>
            <p:nvPr/>
          </p:nvSpPr>
          <p:spPr>
            <a:xfrm flipH="1">
              <a:off x="3379" y="3610"/>
              <a:ext cx="7" cy="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1812" name="Text Box 1092"/>
          <p:cNvSpPr txBox="1"/>
          <p:nvPr/>
        </p:nvSpPr>
        <p:spPr>
          <a:xfrm>
            <a:off x="150813" y="1231900"/>
            <a:ext cx="1828800" cy="1117600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国家实力分析</a:t>
            </a:r>
          </a:p>
        </p:txBody>
      </p:sp>
      <p:sp>
        <p:nvSpPr>
          <p:cNvPr id="31813" name="Text Box 1093"/>
          <p:cNvSpPr txBox="1"/>
          <p:nvPr/>
        </p:nvSpPr>
        <p:spPr>
          <a:xfrm>
            <a:off x="152400" y="3657600"/>
            <a:ext cx="2438400" cy="519113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工作选择</a:t>
            </a:r>
          </a:p>
        </p:txBody>
      </p:sp>
      <p:sp>
        <p:nvSpPr>
          <p:cNvPr id="21512" name="Rectangle 1104"/>
          <p:cNvSpPr/>
          <p:nvPr/>
        </p:nvSpPr>
        <p:spPr>
          <a:xfrm>
            <a:off x="250825" y="404813"/>
            <a:ext cx="1816100" cy="579437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广泛应用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1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31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31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1000"/>
                                        <p:tgtEl>
                                          <p:spTgt spid="31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1000"/>
                                        <p:tgtEl>
                                          <p:spTgt spid="31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12" grpId="0" animBg="1"/>
      <p:bldP spid="318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31" name="Group 67"/>
          <p:cNvGrpSpPr/>
          <p:nvPr/>
        </p:nvGrpSpPr>
        <p:grpSpPr>
          <a:xfrm>
            <a:off x="2971800" y="1200150"/>
            <a:ext cx="5334000" cy="1676400"/>
            <a:chOff x="1872" y="756"/>
            <a:chExt cx="3360" cy="1056"/>
          </a:xfrm>
        </p:grpSpPr>
        <p:sp>
          <p:nvSpPr>
            <p:cNvPr id="22582" name="Rectangle 2"/>
            <p:cNvSpPr/>
            <p:nvPr/>
          </p:nvSpPr>
          <p:spPr>
            <a:xfrm>
              <a:off x="3120" y="756"/>
              <a:ext cx="912" cy="336"/>
            </a:xfrm>
            <a:prstGeom prst="rect">
              <a:avLst/>
            </a:prstGeom>
            <a:solidFill>
              <a:srgbClr val="FF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过河的效益</a:t>
              </a:r>
            </a:p>
            <a:p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        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</a:p>
          </p:txBody>
        </p:sp>
        <p:sp>
          <p:nvSpPr>
            <p:cNvPr id="22583" name="Rectangle 3"/>
            <p:cNvSpPr/>
            <p:nvPr/>
          </p:nvSpPr>
          <p:spPr>
            <a:xfrm>
              <a:off x="1872" y="1380"/>
              <a:ext cx="720" cy="432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经济效益</a:t>
              </a:r>
            </a:p>
            <a:p>
              <a:pPr algn="ctr"/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/>
              <a:endParaRPr lang="en-US" altLang="zh-CN" sz="2000" b="1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584" name="Rectangle 4"/>
            <p:cNvSpPr/>
            <p:nvPr/>
          </p:nvSpPr>
          <p:spPr>
            <a:xfrm>
              <a:off x="3168" y="1380"/>
              <a:ext cx="768" cy="432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社会效益</a:t>
              </a:r>
            </a:p>
            <a:p>
              <a:pPr algn="ctr"/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/>
              <a:endParaRPr lang="en-US" altLang="zh-CN" sz="2000" b="1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585" name="Rectangle 5"/>
            <p:cNvSpPr/>
            <p:nvPr/>
          </p:nvSpPr>
          <p:spPr>
            <a:xfrm>
              <a:off x="4512" y="1380"/>
              <a:ext cx="720" cy="432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环境效益</a:t>
              </a:r>
            </a:p>
            <a:p>
              <a:pPr algn="ctr"/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</a:p>
          </p:txBody>
        </p:sp>
        <p:sp>
          <p:nvSpPr>
            <p:cNvPr id="22586" name="Line 6"/>
            <p:cNvSpPr/>
            <p:nvPr/>
          </p:nvSpPr>
          <p:spPr>
            <a:xfrm>
              <a:off x="2160" y="1236"/>
              <a:ext cx="27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87" name="Line 7"/>
            <p:cNvSpPr/>
            <p:nvPr/>
          </p:nvSpPr>
          <p:spPr>
            <a:xfrm>
              <a:off x="3552" y="109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88" name="Line 8"/>
            <p:cNvSpPr/>
            <p:nvPr/>
          </p:nvSpPr>
          <p:spPr>
            <a:xfrm>
              <a:off x="2160" y="1236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89" name="Line 9"/>
            <p:cNvSpPr/>
            <p:nvPr/>
          </p:nvSpPr>
          <p:spPr>
            <a:xfrm>
              <a:off x="4896" y="1236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6932" name="Group 68"/>
          <p:cNvGrpSpPr/>
          <p:nvPr/>
        </p:nvGrpSpPr>
        <p:grpSpPr>
          <a:xfrm>
            <a:off x="2971800" y="5543550"/>
            <a:ext cx="5105400" cy="838200"/>
            <a:chOff x="1872" y="3492"/>
            <a:chExt cx="3216" cy="528"/>
          </a:xfrm>
        </p:grpSpPr>
        <p:sp>
          <p:nvSpPr>
            <p:cNvPr id="22579" name="Rectangle 49"/>
            <p:cNvSpPr/>
            <p:nvPr/>
          </p:nvSpPr>
          <p:spPr>
            <a:xfrm>
              <a:off x="1872" y="3492"/>
              <a:ext cx="528" cy="528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桥梁</a:t>
              </a:r>
            </a:p>
            <a:p>
              <a:pPr algn="ctr"/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580" name="Rectangle 51"/>
            <p:cNvSpPr/>
            <p:nvPr/>
          </p:nvSpPr>
          <p:spPr>
            <a:xfrm>
              <a:off x="3264" y="3492"/>
              <a:ext cx="528" cy="528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隧道</a:t>
              </a:r>
            </a:p>
            <a:p>
              <a:pPr algn="ctr"/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581" name="Rectangle 52"/>
            <p:cNvSpPr/>
            <p:nvPr/>
          </p:nvSpPr>
          <p:spPr>
            <a:xfrm>
              <a:off x="4560" y="3492"/>
              <a:ext cx="528" cy="528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渡船</a:t>
              </a:r>
              <a:endParaRPr lang="en-US" altLang="en-US" sz="2000" b="1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/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36933" name="Group 69"/>
          <p:cNvGrpSpPr/>
          <p:nvPr/>
        </p:nvGrpSpPr>
        <p:grpSpPr>
          <a:xfrm>
            <a:off x="2209800" y="2876550"/>
            <a:ext cx="6477000" cy="2667000"/>
            <a:chOff x="1392" y="1812"/>
            <a:chExt cx="4080" cy="1680"/>
          </a:xfrm>
        </p:grpSpPr>
        <p:sp>
          <p:nvSpPr>
            <p:cNvPr id="22536" name="Line 11"/>
            <p:cNvSpPr/>
            <p:nvPr/>
          </p:nvSpPr>
          <p:spPr>
            <a:xfrm>
              <a:off x="3168" y="2004"/>
              <a:ext cx="7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37" name="Line 12"/>
            <p:cNvSpPr/>
            <p:nvPr/>
          </p:nvSpPr>
          <p:spPr>
            <a:xfrm>
              <a:off x="1536" y="2004"/>
              <a:ext cx="13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38" name="Line 13"/>
            <p:cNvSpPr/>
            <p:nvPr/>
          </p:nvSpPr>
          <p:spPr>
            <a:xfrm>
              <a:off x="4464" y="2004"/>
              <a:ext cx="8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39" name="Line 14"/>
            <p:cNvSpPr/>
            <p:nvPr/>
          </p:nvSpPr>
          <p:spPr>
            <a:xfrm>
              <a:off x="1536" y="2004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40" name="Line 15"/>
            <p:cNvSpPr/>
            <p:nvPr/>
          </p:nvSpPr>
          <p:spPr>
            <a:xfrm>
              <a:off x="1872" y="2004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41" name="Line 16"/>
            <p:cNvSpPr/>
            <p:nvPr/>
          </p:nvSpPr>
          <p:spPr>
            <a:xfrm>
              <a:off x="2544" y="2004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42" name="Line 17"/>
            <p:cNvSpPr/>
            <p:nvPr/>
          </p:nvSpPr>
          <p:spPr>
            <a:xfrm>
              <a:off x="2208" y="2004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43" name="Line 18"/>
            <p:cNvSpPr/>
            <p:nvPr/>
          </p:nvSpPr>
          <p:spPr>
            <a:xfrm>
              <a:off x="2880" y="2004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44" name="Line 19"/>
            <p:cNvSpPr/>
            <p:nvPr/>
          </p:nvSpPr>
          <p:spPr>
            <a:xfrm>
              <a:off x="3936" y="2004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45" name="Line 20"/>
            <p:cNvSpPr/>
            <p:nvPr/>
          </p:nvSpPr>
          <p:spPr>
            <a:xfrm>
              <a:off x="3168" y="2004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46" name="Line 21"/>
            <p:cNvSpPr/>
            <p:nvPr/>
          </p:nvSpPr>
          <p:spPr>
            <a:xfrm>
              <a:off x="3552" y="2004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47" name="Line 22"/>
            <p:cNvSpPr/>
            <p:nvPr/>
          </p:nvSpPr>
          <p:spPr>
            <a:xfrm>
              <a:off x="4848" y="2004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48" name="Line 23"/>
            <p:cNvSpPr/>
            <p:nvPr/>
          </p:nvSpPr>
          <p:spPr>
            <a:xfrm>
              <a:off x="4464" y="2004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49" name="Line 24"/>
            <p:cNvSpPr/>
            <p:nvPr/>
          </p:nvSpPr>
          <p:spPr>
            <a:xfrm>
              <a:off x="5280" y="2004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0" name="Text Box 25"/>
            <p:cNvSpPr txBox="1"/>
            <p:nvPr/>
          </p:nvSpPr>
          <p:spPr>
            <a:xfrm>
              <a:off x="1392" y="2100"/>
              <a:ext cx="288" cy="10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节省时间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551" name="Text Box 26"/>
            <p:cNvSpPr txBox="1"/>
            <p:nvPr/>
          </p:nvSpPr>
          <p:spPr>
            <a:xfrm>
              <a:off x="1776" y="2100"/>
              <a:ext cx="288" cy="6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收入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552" name="Text Box 27"/>
            <p:cNvSpPr txBox="1"/>
            <p:nvPr/>
          </p:nvSpPr>
          <p:spPr>
            <a:xfrm>
              <a:off x="2064" y="2100"/>
              <a:ext cx="288" cy="10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岸间商业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553" name="Text Box 28"/>
            <p:cNvSpPr txBox="1"/>
            <p:nvPr/>
          </p:nvSpPr>
          <p:spPr>
            <a:xfrm>
              <a:off x="2400" y="2090"/>
              <a:ext cx="288" cy="10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当地商业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554" name="Text Box 29"/>
            <p:cNvSpPr txBox="1"/>
            <p:nvPr/>
          </p:nvSpPr>
          <p:spPr>
            <a:xfrm>
              <a:off x="2736" y="2090"/>
              <a:ext cx="288" cy="10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建筑就业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5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555" name="Text Box 30"/>
            <p:cNvSpPr txBox="1"/>
            <p:nvPr/>
          </p:nvSpPr>
          <p:spPr>
            <a:xfrm>
              <a:off x="3024" y="2090"/>
              <a:ext cx="384" cy="10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安全可靠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6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556" name="Text Box 31"/>
            <p:cNvSpPr txBox="1"/>
            <p:nvPr/>
          </p:nvSpPr>
          <p:spPr>
            <a:xfrm>
              <a:off x="3408" y="2090"/>
              <a:ext cx="384" cy="10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交往沟通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7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557" name="Text Box 32"/>
            <p:cNvSpPr txBox="1"/>
            <p:nvPr/>
          </p:nvSpPr>
          <p:spPr>
            <a:xfrm>
              <a:off x="3792" y="2100"/>
              <a:ext cx="432" cy="8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自豪感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8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558" name="Text Box 34"/>
            <p:cNvSpPr txBox="1"/>
            <p:nvPr/>
          </p:nvSpPr>
          <p:spPr>
            <a:xfrm>
              <a:off x="4320" y="2100"/>
              <a:ext cx="288" cy="6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舒适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9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559" name="Text Box 35"/>
            <p:cNvSpPr txBox="1"/>
            <p:nvPr/>
          </p:nvSpPr>
          <p:spPr>
            <a:xfrm>
              <a:off x="4704" y="2052"/>
              <a:ext cx="336" cy="10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进出方便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10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560" name="Text Box 36"/>
            <p:cNvSpPr txBox="1"/>
            <p:nvPr/>
          </p:nvSpPr>
          <p:spPr>
            <a:xfrm>
              <a:off x="5136" y="2100"/>
              <a:ext cx="336" cy="6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美化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11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561" name="Line 37"/>
            <p:cNvSpPr/>
            <p:nvPr/>
          </p:nvSpPr>
          <p:spPr>
            <a:xfrm>
              <a:off x="1488" y="3252"/>
              <a:ext cx="37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62" name="Line 38"/>
            <p:cNvSpPr/>
            <p:nvPr/>
          </p:nvSpPr>
          <p:spPr>
            <a:xfrm>
              <a:off x="5280" y="2820"/>
              <a:ext cx="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63" name="Line 39"/>
            <p:cNvSpPr/>
            <p:nvPr/>
          </p:nvSpPr>
          <p:spPr>
            <a:xfrm>
              <a:off x="4464" y="2772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64" name="Line 40"/>
            <p:cNvSpPr/>
            <p:nvPr/>
          </p:nvSpPr>
          <p:spPr>
            <a:xfrm>
              <a:off x="4848" y="306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65" name="Line 41"/>
            <p:cNvSpPr/>
            <p:nvPr/>
          </p:nvSpPr>
          <p:spPr>
            <a:xfrm>
              <a:off x="3936" y="2916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66" name="Line 42"/>
            <p:cNvSpPr/>
            <p:nvPr/>
          </p:nvSpPr>
          <p:spPr>
            <a:xfrm>
              <a:off x="3552" y="3108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67" name="Line 43"/>
            <p:cNvSpPr/>
            <p:nvPr/>
          </p:nvSpPr>
          <p:spPr>
            <a:xfrm>
              <a:off x="1488" y="3108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68" name="Line 44"/>
            <p:cNvSpPr/>
            <p:nvPr/>
          </p:nvSpPr>
          <p:spPr>
            <a:xfrm>
              <a:off x="2544" y="3108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69" name="Line 45"/>
            <p:cNvSpPr/>
            <p:nvPr/>
          </p:nvSpPr>
          <p:spPr>
            <a:xfrm>
              <a:off x="2880" y="3108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0" name="Line 46"/>
            <p:cNvSpPr/>
            <p:nvPr/>
          </p:nvSpPr>
          <p:spPr>
            <a:xfrm>
              <a:off x="2208" y="3108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1" name="Line 47"/>
            <p:cNvSpPr/>
            <p:nvPr/>
          </p:nvSpPr>
          <p:spPr>
            <a:xfrm>
              <a:off x="3168" y="3108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2" name="Line 48"/>
            <p:cNvSpPr/>
            <p:nvPr/>
          </p:nvSpPr>
          <p:spPr>
            <a:xfrm>
              <a:off x="1872" y="2772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3" name="Line 55"/>
            <p:cNvSpPr/>
            <p:nvPr/>
          </p:nvSpPr>
          <p:spPr>
            <a:xfrm>
              <a:off x="2208" y="1812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4" name="Line 56"/>
            <p:cNvSpPr/>
            <p:nvPr/>
          </p:nvSpPr>
          <p:spPr>
            <a:xfrm>
              <a:off x="4848" y="1812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5" name="Line 57"/>
            <p:cNvSpPr/>
            <p:nvPr/>
          </p:nvSpPr>
          <p:spPr>
            <a:xfrm>
              <a:off x="3552" y="1812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6" name="Line 58"/>
            <p:cNvSpPr/>
            <p:nvPr/>
          </p:nvSpPr>
          <p:spPr>
            <a:xfrm>
              <a:off x="3552" y="325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7" name="Line 59"/>
            <p:cNvSpPr/>
            <p:nvPr/>
          </p:nvSpPr>
          <p:spPr>
            <a:xfrm flipV="1">
              <a:off x="2112" y="3252"/>
              <a:ext cx="144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8" name="Line 60"/>
            <p:cNvSpPr/>
            <p:nvPr/>
          </p:nvSpPr>
          <p:spPr>
            <a:xfrm>
              <a:off x="3552" y="3252"/>
              <a:ext cx="1296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6925" name="Text Box 61"/>
          <p:cNvSpPr txBox="1"/>
          <p:nvPr/>
        </p:nvSpPr>
        <p:spPr>
          <a:xfrm>
            <a:off x="3708400" y="523875"/>
            <a:ext cx="350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b="1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）过河效益层次结构</a:t>
            </a:r>
          </a:p>
        </p:txBody>
      </p:sp>
      <p:sp>
        <p:nvSpPr>
          <p:cNvPr id="36930" name="Text Box 66"/>
          <p:cNvSpPr txBox="1"/>
          <p:nvPr/>
        </p:nvSpPr>
        <p:spPr>
          <a:xfrm>
            <a:off x="250825" y="1341438"/>
            <a:ext cx="2057400" cy="1630362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" altLang="en-US" sz="2800" b="1" dirty="0">
                <a:latin typeface="楷体_GB2312" pitchFamily="49" charset="-122"/>
                <a:ea typeface="楷体_GB2312" pitchFamily="49" charset="-122"/>
              </a:rPr>
              <a:t>横渡江河、海峡方案的抉择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535" name="Rectangle 71"/>
          <p:cNvSpPr/>
          <p:nvPr/>
        </p:nvSpPr>
        <p:spPr>
          <a:xfrm>
            <a:off x="395288" y="476250"/>
            <a:ext cx="1816100" cy="579438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广泛应用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6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36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36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36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36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25" grpId="0"/>
      <p:bldP spid="3693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47" name="Group 59"/>
          <p:cNvGrpSpPr/>
          <p:nvPr/>
        </p:nvGrpSpPr>
        <p:grpSpPr>
          <a:xfrm>
            <a:off x="2667000" y="990600"/>
            <a:ext cx="5562600" cy="5534025"/>
            <a:chOff x="1680" y="624"/>
            <a:chExt cx="3504" cy="3486"/>
          </a:xfrm>
        </p:grpSpPr>
        <p:grpSp>
          <p:nvGrpSpPr>
            <p:cNvPr id="23593" name="Group 56"/>
            <p:cNvGrpSpPr/>
            <p:nvPr/>
          </p:nvGrpSpPr>
          <p:grpSpPr>
            <a:xfrm>
              <a:off x="1680" y="624"/>
              <a:ext cx="3504" cy="1037"/>
              <a:chOff x="1680" y="638"/>
              <a:chExt cx="3504" cy="1037"/>
            </a:xfrm>
          </p:grpSpPr>
          <p:sp>
            <p:nvSpPr>
              <p:cNvPr id="23598" name="Rectangle 2"/>
              <p:cNvSpPr/>
              <p:nvPr/>
            </p:nvSpPr>
            <p:spPr>
              <a:xfrm>
                <a:off x="2928" y="638"/>
                <a:ext cx="960" cy="361"/>
              </a:xfrm>
              <a:prstGeom prst="rect">
                <a:avLst/>
              </a:prstGeom>
              <a:solidFill>
                <a:srgbClr val="FFCC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过河的代价</a:t>
                </a:r>
              </a:p>
              <a:p>
                <a:r>
                  <a:rPr lang="zh-CN" altLang="en-US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        </a:t>
                </a:r>
                <a:r>
                  <a:rPr lang="en-US" altLang="zh-CN" sz="2000" b="1"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23599" name="Rectangle 3"/>
              <p:cNvSpPr/>
              <p:nvPr/>
            </p:nvSpPr>
            <p:spPr>
              <a:xfrm>
                <a:off x="1680" y="1269"/>
                <a:ext cx="912" cy="406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经济代价</a:t>
                </a:r>
              </a:p>
              <a:p>
                <a:pPr algn="ctr"/>
                <a:r>
                  <a:rPr lang="zh-CN" altLang="en-US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 </a:t>
                </a:r>
                <a:r>
                  <a:rPr lang="en-US" altLang="zh-CN" sz="2000" b="1"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  <a:r>
                  <a:rPr lang="en-US" altLang="zh-CN" sz="2000" b="1" baseline="-25000"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b="1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00" name="Rectangle 4"/>
              <p:cNvSpPr/>
              <p:nvPr/>
            </p:nvSpPr>
            <p:spPr>
              <a:xfrm>
                <a:off x="4320" y="1269"/>
                <a:ext cx="864" cy="406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环境代价</a:t>
                </a:r>
              </a:p>
              <a:p>
                <a:pPr algn="ctr"/>
                <a:r>
                  <a:rPr lang="en-US" altLang="zh-CN" sz="2000" b="1"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  <a:r>
                  <a:rPr lang="en-US" altLang="zh-CN" sz="2000" b="1" baseline="-25000">
                    <a:latin typeface="Times New Roman" panose="02020603050405020304" pitchFamily="18" charset="0"/>
                    <a:ea typeface="楷体_GB2312" pitchFamily="49" charset="-122"/>
                  </a:rPr>
                  <a:t>3</a:t>
                </a:r>
                <a:endParaRPr lang="en-US" altLang="zh-CN" sz="2800" b="1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01" name="Rectangle 5"/>
              <p:cNvSpPr/>
              <p:nvPr/>
            </p:nvSpPr>
            <p:spPr>
              <a:xfrm>
                <a:off x="2976" y="1269"/>
                <a:ext cx="912" cy="406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社会代价</a:t>
                </a:r>
              </a:p>
              <a:p>
                <a:pPr algn="ctr"/>
                <a:r>
                  <a:rPr lang="en-US" altLang="zh-CN" sz="2000" b="1"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  <a:r>
                  <a:rPr lang="en-US" altLang="zh-CN" sz="2000" b="1" baseline="-25000"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  <a:endParaRPr lang="en-US" altLang="zh-CN" sz="2800" b="1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02" name="Line 6"/>
              <p:cNvSpPr/>
              <p:nvPr/>
            </p:nvSpPr>
            <p:spPr>
              <a:xfrm>
                <a:off x="2064" y="1134"/>
                <a:ext cx="27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603" name="Line 7"/>
              <p:cNvSpPr/>
              <p:nvPr/>
            </p:nvSpPr>
            <p:spPr>
              <a:xfrm>
                <a:off x="3408" y="999"/>
                <a:ext cx="0" cy="27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604" name="Line 8"/>
              <p:cNvSpPr/>
              <p:nvPr/>
            </p:nvSpPr>
            <p:spPr>
              <a:xfrm>
                <a:off x="2064" y="1134"/>
                <a:ext cx="0" cy="13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605" name="Line 9"/>
              <p:cNvSpPr/>
              <p:nvPr/>
            </p:nvSpPr>
            <p:spPr>
              <a:xfrm>
                <a:off x="4800" y="1134"/>
                <a:ext cx="0" cy="13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3594" name="Group 55"/>
            <p:cNvGrpSpPr/>
            <p:nvPr/>
          </p:nvGrpSpPr>
          <p:grpSpPr>
            <a:xfrm>
              <a:off x="2160" y="3705"/>
              <a:ext cx="2496" cy="405"/>
              <a:chOff x="2160" y="3705"/>
              <a:chExt cx="2496" cy="405"/>
            </a:xfrm>
          </p:grpSpPr>
          <p:sp>
            <p:nvSpPr>
              <p:cNvPr id="23595" name="Rectangle 41"/>
              <p:cNvSpPr/>
              <p:nvPr/>
            </p:nvSpPr>
            <p:spPr>
              <a:xfrm>
                <a:off x="2160" y="3705"/>
                <a:ext cx="528" cy="405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桥梁</a:t>
                </a:r>
              </a:p>
              <a:p>
                <a:pPr algn="ctr"/>
                <a:r>
                  <a:rPr lang="en-US" altLang="zh-CN" sz="2000" b="1">
                    <a:latin typeface="Times New Roman" panose="02020603050405020304" pitchFamily="18" charset="0"/>
                    <a:ea typeface="楷体_GB2312" pitchFamily="49" charset="-122"/>
                  </a:rPr>
                  <a:t>D</a:t>
                </a:r>
                <a:r>
                  <a:rPr lang="en-US" altLang="zh-CN" sz="2000" b="1" baseline="-25000"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b="1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596" name="Rectangle 42"/>
              <p:cNvSpPr/>
              <p:nvPr/>
            </p:nvSpPr>
            <p:spPr>
              <a:xfrm>
                <a:off x="3120" y="3705"/>
                <a:ext cx="528" cy="405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隧道</a:t>
                </a:r>
              </a:p>
              <a:p>
                <a:pPr algn="ctr"/>
                <a:r>
                  <a:rPr lang="en-US" altLang="zh-CN" sz="2000" b="1">
                    <a:latin typeface="Times New Roman" panose="02020603050405020304" pitchFamily="18" charset="0"/>
                    <a:ea typeface="楷体_GB2312" pitchFamily="49" charset="-122"/>
                  </a:rPr>
                  <a:t>D</a:t>
                </a:r>
                <a:r>
                  <a:rPr lang="en-US" altLang="zh-CN" sz="2000" b="1" baseline="-25000"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  <a:endParaRPr lang="en-US" altLang="zh-CN" sz="2800" b="1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597" name="Rectangle 43"/>
              <p:cNvSpPr/>
              <p:nvPr/>
            </p:nvSpPr>
            <p:spPr>
              <a:xfrm>
                <a:off x="4128" y="3705"/>
                <a:ext cx="528" cy="405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渡船</a:t>
                </a:r>
              </a:p>
              <a:p>
                <a:pPr algn="ctr"/>
                <a:r>
                  <a:rPr lang="en-US" altLang="zh-CN" sz="2000" b="1">
                    <a:latin typeface="Times New Roman" panose="02020603050405020304" pitchFamily="18" charset="0"/>
                    <a:ea typeface="楷体_GB2312" pitchFamily="49" charset="-122"/>
                  </a:rPr>
                  <a:t>D</a:t>
                </a:r>
                <a:r>
                  <a:rPr lang="en-US" altLang="zh-CN" sz="2000" b="1" baseline="-25000"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  <a:endParaRPr lang="en-US" altLang="zh-CN" sz="2800" b="1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</p:grpSp>
      <p:grpSp>
        <p:nvGrpSpPr>
          <p:cNvPr id="37945" name="Group 57"/>
          <p:cNvGrpSpPr/>
          <p:nvPr/>
        </p:nvGrpSpPr>
        <p:grpSpPr>
          <a:xfrm>
            <a:off x="2268538" y="2636838"/>
            <a:ext cx="6400800" cy="3222625"/>
            <a:chOff x="1440" y="1675"/>
            <a:chExt cx="4032" cy="2030"/>
          </a:xfrm>
        </p:grpSpPr>
        <p:sp>
          <p:nvSpPr>
            <p:cNvPr id="23559" name="Line 10"/>
            <p:cNvSpPr/>
            <p:nvPr/>
          </p:nvSpPr>
          <p:spPr>
            <a:xfrm>
              <a:off x="1584" y="1810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0" name="Line 11"/>
            <p:cNvSpPr/>
            <p:nvPr/>
          </p:nvSpPr>
          <p:spPr>
            <a:xfrm>
              <a:off x="2928" y="1810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1" name="Line 12"/>
            <p:cNvSpPr/>
            <p:nvPr/>
          </p:nvSpPr>
          <p:spPr>
            <a:xfrm>
              <a:off x="4272" y="1810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2" name="Line 13"/>
            <p:cNvSpPr/>
            <p:nvPr/>
          </p:nvSpPr>
          <p:spPr>
            <a:xfrm>
              <a:off x="2064" y="1675"/>
              <a:ext cx="0" cy="22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3" name="Line 14"/>
            <p:cNvSpPr/>
            <p:nvPr/>
          </p:nvSpPr>
          <p:spPr>
            <a:xfrm>
              <a:off x="4752" y="1675"/>
              <a:ext cx="0" cy="22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4" name="Line 15"/>
            <p:cNvSpPr/>
            <p:nvPr/>
          </p:nvSpPr>
          <p:spPr>
            <a:xfrm>
              <a:off x="3408" y="1675"/>
              <a:ext cx="0" cy="22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5" name="Line 16"/>
            <p:cNvSpPr/>
            <p:nvPr/>
          </p:nvSpPr>
          <p:spPr>
            <a:xfrm>
              <a:off x="1584" y="1810"/>
              <a:ext cx="0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6" name="Line 17"/>
            <p:cNvSpPr/>
            <p:nvPr/>
          </p:nvSpPr>
          <p:spPr>
            <a:xfrm>
              <a:off x="5232" y="1810"/>
              <a:ext cx="0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7" name="Line 18"/>
            <p:cNvSpPr/>
            <p:nvPr/>
          </p:nvSpPr>
          <p:spPr>
            <a:xfrm>
              <a:off x="4272" y="1810"/>
              <a:ext cx="0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8" name="Line 19"/>
            <p:cNvSpPr/>
            <p:nvPr/>
          </p:nvSpPr>
          <p:spPr>
            <a:xfrm>
              <a:off x="3888" y="1810"/>
              <a:ext cx="0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9" name="Line 20"/>
            <p:cNvSpPr/>
            <p:nvPr/>
          </p:nvSpPr>
          <p:spPr>
            <a:xfrm>
              <a:off x="2928" y="1810"/>
              <a:ext cx="0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0" name="Line 21"/>
            <p:cNvSpPr/>
            <p:nvPr/>
          </p:nvSpPr>
          <p:spPr>
            <a:xfrm>
              <a:off x="2544" y="1810"/>
              <a:ext cx="0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1" name="Text Box 22"/>
            <p:cNvSpPr txBox="1"/>
            <p:nvPr/>
          </p:nvSpPr>
          <p:spPr>
            <a:xfrm>
              <a:off x="1440" y="1891"/>
              <a:ext cx="384" cy="10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投入资金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72" name="Text Box 23"/>
            <p:cNvSpPr txBox="1"/>
            <p:nvPr/>
          </p:nvSpPr>
          <p:spPr>
            <a:xfrm>
              <a:off x="1920" y="1891"/>
              <a:ext cx="288" cy="10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操作维护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73" name="Text Box 24"/>
            <p:cNvSpPr txBox="1"/>
            <p:nvPr/>
          </p:nvSpPr>
          <p:spPr>
            <a:xfrm>
              <a:off x="2400" y="1891"/>
              <a:ext cx="288" cy="12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冲击渡船业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74" name="Text Box 25"/>
            <p:cNvSpPr txBox="1"/>
            <p:nvPr/>
          </p:nvSpPr>
          <p:spPr>
            <a:xfrm>
              <a:off x="2784" y="1891"/>
              <a:ext cx="336" cy="14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冲击生活方式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75" name="Text Box 26"/>
            <p:cNvSpPr txBox="1"/>
            <p:nvPr/>
          </p:nvSpPr>
          <p:spPr>
            <a:xfrm>
              <a:off x="3264" y="1901"/>
              <a:ext cx="384" cy="10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交通拥挤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5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76" name="Text Box 27"/>
            <p:cNvSpPr txBox="1"/>
            <p:nvPr/>
          </p:nvSpPr>
          <p:spPr>
            <a:xfrm>
              <a:off x="3744" y="1901"/>
              <a:ext cx="336" cy="10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居民搬迁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6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77" name="Text Box 28"/>
            <p:cNvSpPr txBox="1"/>
            <p:nvPr/>
          </p:nvSpPr>
          <p:spPr>
            <a:xfrm>
              <a:off x="4176" y="1901"/>
              <a:ext cx="336" cy="12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汽车排放物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7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78" name="Text Box 29"/>
            <p:cNvSpPr txBox="1"/>
            <p:nvPr/>
          </p:nvSpPr>
          <p:spPr>
            <a:xfrm>
              <a:off x="4656" y="1891"/>
              <a:ext cx="336" cy="12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对水的污染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8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79" name="Text Box 30"/>
            <p:cNvSpPr txBox="1"/>
            <p:nvPr/>
          </p:nvSpPr>
          <p:spPr>
            <a:xfrm>
              <a:off x="5088" y="1891"/>
              <a:ext cx="384" cy="14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对生态的破坏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楷体_GB2312" pitchFamily="49" charset="-122"/>
                </a:rPr>
                <a:t>9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80" name="Line 31"/>
            <p:cNvSpPr/>
            <p:nvPr/>
          </p:nvSpPr>
          <p:spPr>
            <a:xfrm>
              <a:off x="1536" y="3434"/>
              <a:ext cx="36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1" name="Line 32"/>
            <p:cNvSpPr/>
            <p:nvPr/>
          </p:nvSpPr>
          <p:spPr>
            <a:xfrm>
              <a:off x="5232" y="3208"/>
              <a:ext cx="0" cy="22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2" name="Line 33"/>
            <p:cNvSpPr/>
            <p:nvPr/>
          </p:nvSpPr>
          <p:spPr>
            <a:xfrm>
              <a:off x="2928" y="3254"/>
              <a:ext cx="0" cy="1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3" name="Line 34"/>
            <p:cNvSpPr/>
            <p:nvPr/>
          </p:nvSpPr>
          <p:spPr>
            <a:xfrm>
              <a:off x="1536" y="2983"/>
              <a:ext cx="0" cy="45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4" name="Line 35"/>
            <p:cNvSpPr/>
            <p:nvPr/>
          </p:nvSpPr>
          <p:spPr>
            <a:xfrm>
              <a:off x="2496" y="3028"/>
              <a:ext cx="0" cy="40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5" name="Line 36"/>
            <p:cNvSpPr/>
            <p:nvPr/>
          </p:nvSpPr>
          <p:spPr>
            <a:xfrm>
              <a:off x="4752" y="3073"/>
              <a:ext cx="0" cy="36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6" name="Line 37"/>
            <p:cNvSpPr/>
            <p:nvPr/>
          </p:nvSpPr>
          <p:spPr>
            <a:xfrm>
              <a:off x="3360" y="2848"/>
              <a:ext cx="0" cy="58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7" name="Line 38"/>
            <p:cNvSpPr/>
            <p:nvPr/>
          </p:nvSpPr>
          <p:spPr>
            <a:xfrm>
              <a:off x="3840" y="2848"/>
              <a:ext cx="0" cy="58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8" name="Line 39"/>
            <p:cNvSpPr/>
            <p:nvPr/>
          </p:nvSpPr>
          <p:spPr>
            <a:xfrm flipH="1">
              <a:off x="4272" y="3073"/>
              <a:ext cx="0" cy="36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9" name="Line 40"/>
            <p:cNvSpPr/>
            <p:nvPr/>
          </p:nvSpPr>
          <p:spPr>
            <a:xfrm>
              <a:off x="2016" y="2893"/>
              <a:ext cx="0" cy="54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0" name="Line 44"/>
            <p:cNvSpPr/>
            <p:nvPr/>
          </p:nvSpPr>
          <p:spPr>
            <a:xfrm>
              <a:off x="3360" y="3434"/>
              <a:ext cx="0" cy="27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1" name="Line 45"/>
            <p:cNvSpPr/>
            <p:nvPr/>
          </p:nvSpPr>
          <p:spPr>
            <a:xfrm flipV="1">
              <a:off x="2448" y="3434"/>
              <a:ext cx="912" cy="27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2" name="Line 46"/>
            <p:cNvSpPr/>
            <p:nvPr/>
          </p:nvSpPr>
          <p:spPr>
            <a:xfrm>
              <a:off x="3360" y="3434"/>
              <a:ext cx="1056" cy="27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7937" name="Text Box 49"/>
          <p:cNvSpPr txBox="1"/>
          <p:nvPr/>
        </p:nvSpPr>
        <p:spPr>
          <a:xfrm>
            <a:off x="3563938" y="404813"/>
            <a:ext cx="350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b="1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）过河代价层次结构</a:t>
            </a:r>
          </a:p>
        </p:txBody>
      </p:sp>
      <p:sp>
        <p:nvSpPr>
          <p:cNvPr id="23557" name="Text Box 54"/>
          <p:cNvSpPr txBox="1"/>
          <p:nvPr/>
        </p:nvSpPr>
        <p:spPr>
          <a:xfrm>
            <a:off x="152400" y="1222375"/>
            <a:ext cx="2057400" cy="1630363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" altLang="en-US" sz="2800" b="1" dirty="0">
                <a:latin typeface="楷体_GB2312" pitchFamily="49" charset="-122"/>
                <a:ea typeface="楷体_GB2312" pitchFamily="49" charset="-122"/>
              </a:rPr>
              <a:t>横渡江河、海峡方案的抉择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558" name="Rectangle 58"/>
          <p:cNvSpPr/>
          <p:nvPr/>
        </p:nvSpPr>
        <p:spPr>
          <a:xfrm>
            <a:off x="395288" y="476250"/>
            <a:ext cx="1816100" cy="579438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广泛应用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37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3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49" name="Group 53"/>
          <p:cNvGrpSpPr/>
          <p:nvPr/>
        </p:nvGrpSpPr>
        <p:grpSpPr>
          <a:xfrm>
            <a:off x="900113" y="620713"/>
            <a:ext cx="8135937" cy="5867400"/>
            <a:chOff x="567" y="391"/>
            <a:chExt cx="5125" cy="3696"/>
          </a:xfrm>
        </p:grpSpPr>
        <p:sp>
          <p:nvSpPr>
            <p:cNvPr id="24581" name="Rectangle 2"/>
            <p:cNvSpPr/>
            <p:nvPr/>
          </p:nvSpPr>
          <p:spPr>
            <a:xfrm>
              <a:off x="2967" y="3755"/>
              <a:ext cx="1824" cy="332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82" name="Text Box 3"/>
            <p:cNvSpPr txBox="1"/>
            <p:nvPr/>
          </p:nvSpPr>
          <p:spPr>
            <a:xfrm>
              <a:off x="3111" y="3793"/>
              <a:ext cx="16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待评价的科技成果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583" name="Rectangle 4"/>
            <p:cNvSpPr/>
            <p:nvPr/>
          </p:nvSpPr>
          <p:spPr>
            <a:xfrm>
              <a:off x="1335" y="2239"/>
              <a:ext cx="480" cy="104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84" name="Rectangle 6"/>
            <p:cNvSpPr/>
            <p:nvPr/>
          </p:nvSpPr>
          <p:spPr>
            <a:xfrm>
              <a:off x="2103" y="2239"/>
              <a:ext cx="432" cy="104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85" name="Rectangle 7"/>
            <p:cNvSpPr/>
            <p:nvPr/>
          </p:nvSpPr>
          <p:spPr>
            <a:xfrm>
              <a:off x="567" y="2192"/>
              <a:ext cx="480" cy="1089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86" name="Rectangle 8"/>
            <p:cNvSpPr/>
            <p:nvPr/>
          </p:nvSpPr>
          <p:spPr>
            <a:xfrm>
              <a:off x="2871" y="2239"/>
              <a:ext cx="432" cy="104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87" name="Rectangle 9"/>
            <p:cNvSpPr/>
            <p:nvPr/>
          </p:nvSpPr>
          <p:spPr>
            <a:xfrm>
              <a:off x="3591" y="2239"/>
              <a:ext cx="432" cy="104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88" name="Rectangle 10"/>
            <p:cNvSpPr/>
            <p:nvPr/>
          </p:nvSpPr>
          <p:spPr>
            <a:xfrm>
              <a:off x="4311" y="2239"/>
              <a:ext cx="432" cy="104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89" name="Rectangle 11"/>
            <p:cNvSpPr/>
            <p:nvPr/>
          </p:nvSpPr>
          <p:spPr>
            <a:xfrm>
              <a:off x="5031" y="2239"/>
              <a:ext cx="432" cy="104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90" name="Text Box 12"/>
            <p:cNvSpPr txBox="1"/>
            <p:nvPr/>
          </p:nvSpPr>
          <p:spPr>
            <a:xfrm>
              <a:off x="567" y="2203"/>
              <a:ext cx="528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3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直接</a:t>
              </a:r>
            </a:p>
            <a:p>
              <a:pPr>
                <a:spcBef>
                  <a:spcPct val="3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经济</a:t>
              </a:r>
            </a:p>
            <a:p>
              <a:pPr>
                <a:spcBef>
                  <a:spcPct val="3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效益</a:t>
              </a:r>
            </a:p>
            <a:p>
              <a:pPr>
                <a:spcBef>
                  <a:spcPct val="3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000" b="1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</a:rPr>
                <a:t>11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591" name="Text Box 13"/>
            <p:cNvSpPr txBox="1"/>
            <p:nvPr/>
          </p:nvSpPr>
          <p:spPr>
            <a:xfrm>
              <a:off x="1335" y="2229"/>
              <a:ext cx="48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3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间接</a:t>
              </a:r>
            </a:p>
            <a:p>
              <a:pPr>
                <a:spcBef>
                  <a:spcPct val="3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经济</a:t>
              </a:r>
            </a:p>
            <a:p>
              <a:pPr>
                <a:spcBef>
                  <a:spcPct val="3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效益</a:t>
              </a:r>
            </a:p>
            <a:p>
              <a:pPr>
                <a:spcBef>
                  <a:spcPct val="3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000" b="1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</a:rPr>
                <a:t>12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592" name="Text Box 14"/>
            <p:cNvSpPr txBox="1"/>
            <p:nvPr/>
          </p:nvSpPr>
          <p:spPr>
            <a:xfrm>
              <a:off x="2103" y="2371"/>
              <a:ext cx="576" cy="8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社会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效益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000" b="1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</a:rPr>
                <a:t>13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593" name="Text Box 16"/>
            <p:cNvSpPr txBox="1"/>
            <p:nvPr/>
          </p:nvSpPr>
          <p:spPr>
            <a:xfrm>
              <a:off x="2871" y="2381"/>
              <a:ext cx="528" cy="8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学识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水平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000" b="1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</a:rPr>
                <a:t>21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594" name="Text Box 17"/>
            <p:cNvSpPr txBox="1"/>
            <p:nvPr/>
          </p:nvSpPr>
          <p:spPr>
            <a:xfrm>
              <a:off x="3591" y="2371"/>
              <a:ext cx="528" cy="111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学术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创新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000" b="1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</a:rPr>
                <a:t>22</a:t>
              </a:r>
              <a:endParaRPr lang="en-US" altLang="zh-CN" sz="2000" b="1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595" name="Text Box 18"/>
            <p:cNvSpPr txBox="1"/>
            <p:nvPr/>
          </p:nvSpPr>
          <p:spPr>
            <a:xfrm>
              <a:off x="4311" y="2371"/>
              <a:ext cx="528" cy="8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技术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水平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000" b="1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</a:rPr>
                <a:t>23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596" name="Text Box 19"/>
            <p:cNvSpPr txBox="1"/>
            <p:nvPr/>
          </p:nvSpPr>
          <p:spPr>
            <a:xfrm>
              <a:off x="5031" y="2371"/>
              <a:ext cx="528" cy="8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技术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创新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000" b="1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</a:rPr>
                <a:t>24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597" name="Rectangle 20"/>
            <p:cNvSpPr/>
            <p:nvPr/>
          </p:nvSpPr>
          <p:spPr>
            <a:xfrm>
              <a:off x="1247" y="1244"/>
              <a:ext cx="635" cy="284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98" name="Rectangle 21"/>
            <p:cNvSpPr/>
            <p:nvPr/>
          </p:nvSpPr>
          <p:spPr>
            <a:xfrm>
              <a:off x="3424" y="1244"/>
              <a:ext cx="635" cy="284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99" name="Rectangle 22"/>
            <p:cNvSpPr/>
            <p:nvPr/>
          </p:nvSpPr>
          <p:spPr>
            <a:xfrm>
              <a:off x="5057" y="1291"/>
              <a:ext cx="545" cy="285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600" name="Text Box 23"/>
            <p:cNvSpPr txBox="1"/>
            <p:nvPr/>
          </p:nvSpPr>
          <p:spPr>
            <a:xfrm>
              <a:off x="1287" y="1281"/>
              <a:ext cx="72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效益</a:t>
              </a:r>
              <a:r>
                <a:rPr lang="en-US" altLang="zh-CN" sz="2000" b="1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601" name="Text Box 24"/>
            <p:cNvSpPr txBox="1"/>
            <p:nvPr/>
          </p:nvSpPr>
          <p:spPr>
            <a:xfrm>
              <a:off x="3447" y="1281"/>
              <a:ext cx="81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水平</a:t>
              </a:r>
              <a:r>
                <a:rPr lang="en-US" altLang="zh-CN" sz="2000" b="1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</a:rPr>
                <a:t>2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602" name="Text Box 25"/>
            <p:cNvSpPr txBox="1"/>
            <p:nvPr/>
          </p:nvSpPr>
          <p:spPr>
            <a:xfrm>
              <a:off x="5035" y="1298"/>
              <a:ext cx="65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规模</a:t>
              </a:r>
              <a:r>
                <a:rPr lang="en-US" altLang="zh-CN" sz="2000" b="1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</a:rPr>
                <a:t>3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603" name="Rectangle 26"/>
            <p:cNvSpPr/>
            <p:nvPr/>
          </p:nvSpPr>
          <p:spPr>
            <a:xfrm>
              <a:off x="3159" y="391"/>
              <a:ext cx="1152" cy="379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604" name="Text Box 27"/>
            <p:cNvSpPr txBox="1"/>
            <p:nvPr/>
          </p:nvSpPr>
          <p:spPr>
            <a:xfrm>
              <a:off x="3207" y="438"/>
              <a:ext cx="139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科技成果评价</a:t>
              </a:r>
            </a:p>
          </p:txBody>
        </p:sp>
        <p:sp>
          <p:nvSpPr>
            <p:cNvPr id="24605" name="Line 28"/>
            <p:cNvSpPr/>
            <p:nvPr/>
          </p:nvSpPr>
          <p:spPr>
            <a:xfrm>
              <a:off x="3783" y="770"/>
              <a:ext cx="0" cy="47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6" name="Line 29"/>
            <p:cNvSpPr/>
            <p:nvPr/>
          </p:nvSpPr>
          <p:spPr>
            <a:xfrm>
              <a:off x="3783" y="1528"/>
              <a:ext cx="0" cy="7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7" name="Line 30"/>
            <p:cNvSpPr/>
            <p:nvPr/>
          </p:nvSpPr>
          <p:spPr>
            <a:xfrm>
              <a:off x="3783" y="3281"/>
              <a:ext cx="0" cy="47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8" name="Line 31"/>
            <p:cNvSpPr/>
            <p:nvPr/>
          </p:nvSpPr>
          <p:spPr>
            <a:xfrm>
              <a:off x="807" y="3566"/>
              <a:ext cx="474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9" name="Line 32"/>
            <p:cNvSpPr/>
            <p:nvPr/>
          </p:nvSpPr>
          <p:spPr>
            <a:xfrm>
              <a:off x="5556" y="1570"/>
              <a:ext cx="0" cy="19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0" name="Line 33"/>
            <p:cNvSpPr/>
            <p:nvPr/>
          </p:nvSpPr>
          <p:spPr>
            <a:xfrm>
              <a:off x="807" y="3281"/>
              <a:ext cx="0" cy="28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1" name="Line 35"/>
            <p:cNvSpPr/>
            <p:nvPr/>
          </p:nvSpPr>
          <p:spPr>
            <a:xfrm>
              <a:off x="1575" y="3281"/>
              <a:ext cx="0" cy="28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2" name="Line 36"/>
            <p:cNvSpPr/>
            <p:nvPr/>
          </p:nvSpPr>
          <p:spPr>
            <a:xfrm>
              <a:off x="2295" y="3281"/>
              <a:ext cx="0" cy="28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3" name="Line 37"/>
            <p:cNvSpPr/>
            <p:nvPr/>
          </p:nvSpPr>
          <p:spPr>
            <a:xfrm>
              <a:off x="3063" y="3281"/>
              <a:ext cx="0" cy="28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4" name="Line 38"/>
            <p:cNvSpPr/>
            <p:nvPr/>
          </p:nvSpPr>
          <p:spPr>
            <a:xfrm>
              <a:off x="4551" y="3281"/>
              <a:ext cx="0" cy="28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5" name="Line 39"/>
            <p:cNvSpPr/>
            <p:nvPr/>
          </p:nvSpPr>
          <p:spPr>
            <a:xfrm>
              <a:off x="5223" y="3281"/>
              <a:ext cx="0" cy="28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6" name="Line 40"/>
            <p:cNvSpPr/>
            <p:nvPr/>
          </p:nvSpPr>
          <p:spPr>
            <a:xfrm flipH="1">
              <a:off x="807" y="1528"/>
              <a:ext cx="768" cy="6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7" name="Line 41"/>
            <p:cNvSpPr/>
            <p:nvPr/>
          </p:nvSpPr>
          <p:spPr>
            <a:xfrm>
              <a:off x="1575" y="1528"/>
              <a:ext cx="0" cy="7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8" name="Line 42"/>
            <p:cNvSpPr/>
            <p:nvPr/>
          </p:nvSpPr>
          <p:spPr>
            <a:xfrm>
              <a:off x="1575" y="1528"/>
              <a:ext cx="768" cy="7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9" name="Line 43"/>
            <p:cNvSpPr/>
            <p:nvPr/>
          </p:nvSpPr>
          <p:spPr>
            <a:xfrm flipV="1">
              <a:off x="1610" y="754"/>
              <a:ext cx="2163" cy="49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20" name="Line 44"/>
            <p:cNvSpPr/>
            <p:nvPr/>
          </p:nvSpPr>
          <p:spPr>
            <a:xfrm>
              <a:off x="3783" y="770"/>
              <a:ext cx="1546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21" name="Line 45"/>
            <p:cNvSpPr/>
            <p:nvPr/>
          </p:nvSpPr>
          <p:spPr>
            <a:xfrm flipH="1">
              <a:off x="3063" y="1528"/>
              <a:ext cx="720" cy="7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22" name="Line 46"/>
            <p:cNvSpPr/>
            <p:nvPr/>
          </p:nvSpPr>
          <p:spPr>
            <a:xfrm>
              <a:off x="3783" y="1528"/>
              <a:ext cx="768" cy="7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23" name="Line 47"/>
            <p:cNvSpPr/>
            <p:nvPr/>
          </p:nvSpPr>
          <p:spPr>
            <a:xfrm>
              <a:off x="3783" y="1528"/>
              <a:ext cx="1488" cy="7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4579" name="Text Box 51"/>
          <p:cNvSpPr txBox="1"/>
          <p:nvPr/>
        </p:nvSpPr>
        <p:spPr>
          <a:xfrm>
            <a:off x="144463" y="1222375"/>
            <a:ext cx="1619250" cy="1630363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4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科技成果的综合评价</a:t>
            </a:r>
          </a:p>
        </p:txBody>
      </p:sp>
      <p:sp>
        <p:nvSpPr>
          <p:cNvPr id="24580" name="Rectangle 52"/>
          <p:cNvSpPr/>
          <p:nvPr/>
        </p:nvSpPr>
        <p:spPr>
          <a:xfrm>
            <a:off x="250825" y="404813"/>
            <a:ext cx="1816100" cy="579437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广泛应用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1473671" y="603410"/>
            <a:ext cx="6479232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en-US" altLang="zh-CN" sz="3200" b="1" kern="1200" cap="none" spc="0" normalizeH="0" baseline="0" noProof="0" dirty="0">
                <a:solidFill>
                  <a:schemeClr val="accent6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4.  </a:t>
            </a:r>
            <a:r>
              <a:rPr kumimoji="1" lang="zh-CN" altLang="en-US" sz="3200" b="1" kern="1200" cap="none" spc="0" normalizeH="0" baseline="0" noProof="0" dirty="0">
                <a:solidFill>
                  <a:schemeClr val="accent6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层次分析法的若干问题（</a:t>
            </a:r>
            <a:r>
              <a:rPr kumimoji="1" lang="zh-CN" altLang="en-US" sz="3200" b="1" dirty="0">
                <a:solidFill>
                  <a:schemeClr val="accent6"/>
                </a:solidFill>
                <a:ea typeface="楷体_GB2312" pitchFamily="49" charset="-122"/>
              </a:rPr>
              <a:t>略）</a:t>
            </a:r>
            <a:endParaRPr kumimoji="1" lang="zh-CN" altLang="en-US" sz="3200" b="1" kern="1200" cap="none" spc="0" normalizeH="0" baseline="0" noProof="0" dirty="0">
              <a:solidFill>
                <a:schemeClr val="accent6"/>
              </a:solidFill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33795" name="Text Box 3"/>
          <p:cNvSpPr txBox="1"/>
          <p:nvPr/>
        </p:nvSpPr>
        <p:spPr>
          <a:xfrm>
            <a:off x="609600" y="1447800"/>
            <a:ext cx="7764463" cy="1671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正互反阵的最大特征根是否为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正数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？特征向量</a:t>
            </a: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 是否为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正向量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？一致性指标能否反映正互反阵</a:t>
            </a: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 接近一致阵的程度？</a:t>
            </a:r>
          </a:p>
        </p:txBody>
      </p:sp>
      <p:sp>
        <p:nvSpPr>
          <p:cNvPr id="33796" name="Text Box 4"/>
          <p:cNvSpPr txBox="1"/>
          <p:nvPr/>
        </p:nvSpPr>
        <p:spPr>
          <a:xfrm>
            <a:off x="533400" y="3367088"/>
            <a:ext cx="83597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怎样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简化计算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正互反阵的最大特征根和特征向量？</a:t>
            </a:r>
          </a:p>
        </p:txBody>
      </p:sp>
      <p:sp>
        <p:nvSpPr>
          <p:cNvPr id="33797" name="Text Box 5"/>
          <p:cNvSpPr txBox="1"/>
          <p:nvPr/>
        </p:nvSpPr>
        <p:spPr>
          <a:xfrm>
            <a:off x="533400" y="4267200"/>
            <a:ext cx="5511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为什么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用特征向量作为权向量？</a:t>
            </a:r>
          </a:p>
        </p:txBody>
      </p:sp>
      <p:sp>
        <p:nvSpPr>
          <p:cNvPr id="33798" name="Text Box 6"/>
          <p:cNvSpPr txBox="1"/>
          <p:nvPr/>
        </p:nvSpPr>
        <p:spPr>
          <a:xfrm>
            <a:off x="533400" y="5029200"/>
            <a:ext cx="8151813" cy="1138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当层次结构不完全或成对比较阵有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空缺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时怎样用</a:t>
            </a: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 层次分析法？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10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animBg="1"/>
      <p:bldP spid="33796" grpId="0" animBg="1"/>
      <p:bldP spid="33797" grpId="0" animBg="1"/>
      <p:bldP spid="3379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6"/>
          <p:cNvSpPr/>
          <p:nvPr/>
        </p:nvSpPr>
        <p:spPr>
          <a:xfrm>
            <a:off x="609600" y="592138"/>
            <a:ext cx="7239000" cy="519112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1.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正互反阵的最大特征根和特征向量的性质</a:t>
            </a:r>
          </a:p>
        </p:txBody>
      </p:sp>
      <p:grpSp>
        <p:nvGrpSpPr>
          <p:cNvPr id="26627" name="Group 39"/>
          <p:cNvGrpSpPr/>
          <p:nvPr/>
        </p:nvGrpSpPr>
        <p:grpSpPr>
          <a:xfrm>
            <a:off x="533400" y="1277938"/>
            <a:ext cx="7772400" cy="1531937"/>
            <a:chOff x="336" y="805"/>
            <a:chExt cx="4896" cy="965"/>
          </a:xfrm>
        </p:grpSpPr>
        <p:sp>
          <p:nvSpPr>
            <p:cNvPr id="26637" name="Text Box 7"/>
            <p:cNvSpPr txBox="1"/>
            <p:nvPr/>
          </p:nvSpPr>
          <p:spPr>
            <a:xfrm>
              <a:off x="336" y="805"/>
              <a:ext cx="4896" cy="86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定理</a:t>
              </a:r>
              <a:r>
                <a:rPr lang="en-US" altLang="zh-CN" sz="2800" b="1">
                  <a:solidFill>
                    <a:srgbClr val="FF0000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sz="2800" b="1">
                  <a:latin typeface="宋体" panose="02010600030101010101" pitchFamily="2" charset="-122"/>
                </a:rPr>
                <a:t> 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正矩阵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A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的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最大特征根</a:t>
              </a:r>
              <a:r>
                <a:rPr lang="zh-CN" altLang="en-US" sz="28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是正单根，对应正特征向量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w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，且</a:t>
              </a:r>
            </a:p>
          </p:txBody>
        </p:sp>
        <p:graphicFrame>
          <p:nvGraphicFramePr>
            <p:cNvPr id="26638" name="Object 8"/>
            <p:cNvGraphicFramePr>
              <a:graphicFrameLocks noChangeAspect="1"/>
            </p:cNvGraphicFramePr>
            <p:nvPr/>
          </p:nvGraphicFramePr>
          <p:xfrm>
            <a:off x="2200" y="1162"/>
            <a:ext cx="2858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5" r:id="rId3" imgW="1943100" imgH="419100" progId="Equation.DSMT4">
                    <p:embed/>
                  </p:oleObj>
                </mc:Choice>
                <mc:Fallback>
                  <p:oleObj r:id="rId3" imgW="1943100" imgH="419100" progId="Equation.DSMT4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00" y="1162"/>
                          <a:ext cx="2858" cy="6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7" name="Text Box 9"/>
          <p:cNvSpPr txBox="1"/>
          <p:nvPr/>
        </p:nvSpPr>
        <p:spPr>
          <a:xfrm>
            <a:off x="838200" y="4249738"/>
            <a:ext cx="6934200" cy="1158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定理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</a:rPr>
              <a:t>2  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zh-CN" sz="2800" b="1" dirty="0">
                <a:latin typeface="Times New Roman" panose="02020603050405020304" pitchFamily="18" charset="0"/>
              </a:rPr>
              <a:t>阶</a:t>
            </a:r>
            <a:r>
              <a:rPr lang="zh-CN" altLang="en-US" sz="2800" b="1" dirty="0">
                <a:latin typeface="Times New Roman" panose="02020603050405020304" pitchFamily="18" charset="0"/>
              </a:rPr>
              <a:t>正互反阵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的最大特征根</a:t>
            </a:r>
            <a:r>
              <a:rPr lang="zh-CN" altLang="en-US" sz="2800" b="1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≥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</a:rPr>
              <a:t> , 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是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为一致阵的充要条件。             </a:t>
            </a:r>
          </a:p>
        </p:txBody>
      </p:sp>
      <p:grpSp>
        <p:nvGrpSpPr>
          <p:cNvPr id="12325" name="Group 37"/>
          <p:cNvGrpSpPr/>
          <p:nvPr/>
        </p:nvGrpSpPr>
        <p:grpSpPr>
          <a:xfrm>
            <a:off x="1979613" y="2997200"/>
            <a:ext cx="5832475" cy="1117600"/>
            <a:chOff x="1392" y="1728"/>
            <a:chExt cx="3552" cy="704"/>
          </a:xfrm>
        </p:grpSpPr>
        <p:sp>
          <p:nvSpPr>
            <p:cNvPr id="26635" name="Text Box 29"/>
            <p:cNvSpPr txBox="1"/>
            <p:nvPr/>
          </p:nvSpPr>
          <p:spPr>
            <a:xfrm>
              <a:off x="1728" y="1728"/>
              <a:ext cx="3216" cy="704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正互反阵的最大特征根是正数，特征向量是正向量。</a:t>
              </a:r>
            </a:p>
          </p:txBody>
        </p:sp>
        <p:sp>
          <p:nvSpPr>
            <p:cNvPr id="26636" name="AutoShape 30"/>
            <p:cNvSpPr/>
            <p:nvPr/>
          </p:nvSpPr>
          <p:spPr>
            <a:xfrm>
              <a:off x="1392" y="1920"/>
              <a:ext cx="96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2326" name="Group 38"/>
          <p:cNvGrpSpPr/>
          <p:nvPr/>
        </p:nvGrpSpPr>
        <p:grpSpPr>
          <a:xfrm>
            <a:off x="1763713" y="5516563"/>
            <a:ext cx="5976937" cy="808037"/>
            <a:chOff x="1344" y="3360"/>
            <a:chExt cx="3648" cy="443"/>
          </a:xfrm>
        </p:grpSpPr>
        <p:grpSp>
          <p:nvGrpSpPr>
            <p:cNvPr id="26631" name="Group 35"/>
            <p:cNvGrpSpPr/>
            <p:nvPr/>
          </p:nvGrpSpPr>
          <p:grpSpPr>
            <a:xfrm>
              <a:off x="1680" y="3360"/>
              <a:ext cx="3312" cy="443"/>
              <a:chOff x="1152" y="3360"/>
              <a:chExt cx="3312" cy="443"/>
            </a:xfrm>
          </p:grpSpPr>
          <p:sp>
            <p:nvSpPr>
              <p:cNvPr id="26633" name="Text Box 34"/>
              <p:cNvSpPr txBox="1"/>
              <p:nvPr/>
            </p:nvSpPr>
            <p:spPr>
              <a:xfrm>
                <a:off x="1152" y="3408"/>
                <a:ext cx="3312" cy="284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latin typeface="Times New Roman" panose="02020603050405020304" pitchFamily="18" charset="0"/>
                  </a:rPr>
                  <a:t>一致性指标                    定义合理</a:t>
                </a:r>
                <a:endParaRPr lang="zh-CN" altLang="en-US" sz="28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graphicFrame>
            <p:nvGraphicFramePr>
              <p:cNvPr id="26634" name="Object 33"/>
              <p:cNvGraphicFramePr>
                <a:graphicFrameLocks noChangeAspect="1"/>
              </p:cNvGraphicFramePr>
              <p:nvPr/>
            </p:nvGraphicFramePr>
            <p:xfrm>
              <a:off x="2400" y="3360"/>
              <a:ext cx="960" cy="4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376" r:id="rId5" imgW="850265" imgH="469900" progId="Equation.3">
                      <p:embed/>
                    </p:oleObj>
                  </mc:Choice>
                  <mc:Fallback>
                    <p:oleObj r:id="rId5" imgW="850265" imgH="469900" progId="Equation.3">
                      <p:embed/>
                      <p:pic>
                        <p:nvPicPr>
                          <p:cNvPr id="0" name="图片 3145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400" y="3360"/>
                            <a:ext cx="960" cy="443"/>
                          </a:xfrm>
                          <a:prstGeom prst="rect">
                            <a:avLst/>
                          </a:prstGeom>
                          <a:solidFill>
                            <a:srgbClr val="FFFF00"/>
                          </a:solidFill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6632" name="AutoShape 36"/>
            <p:cNvSpPr/>
            <p:nvPr/>
          </p:nvSpPr>
          <p:spPr>
            <a:xfrm>
              <a:off x="1344" y="3408"/>
              <a:ext cx="96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10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2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2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/>
          <p:nvPr/>
        </p:nvSpPr>
        <p:spPr>
          <a:xfrm>
            <a:off x="381000" y="404813"/>
            <a:ext cx="7620000" cy="519112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2.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正互反阵最大特征根和特征向量的简化计算</a:t>
            </a:r>
          </a:p>
        </p:txBody>
      </p:sp>
      <p:sp>
        <p:nvSpPr>
          <p:cNvPr id="34819" name="Text Box 3"/>
          <p:cNvSpPr txBox="1"/>
          <p:nvPr/>
        </p:nvSpPr>
        <p:spPr>
          <a:xfrm>
            <a:off x="611188" y="908050"/>
            <a:ext cx="4495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精确计算复杂且不必要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34820" name="Text Box 4"/>
          <p:cNvSpPr txBox="1"/>
          <p:nvPr/>
        </p:nvSpPr>
        <p:spPr>
          <a:xfrm>
            <a:off x="630238" y="1447800"/>
            <a:ext cx="7974012" cy="1414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"/>
              </a:spcBef>
              <a:buChar char="•"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简化计算的思路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一致阵的任一列向量都是</a:t>
            </a:r>
          </a:p>
          <a:p>
            <a:pPr>
              <a:spcBef>
                <a:spcPct val="5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特征向量，一致性尚好的正互反阵的列向量都</a:t>
            </a:r>
          </a:p>
          <a:p>
            <a:pPr>
              <a:spcBef>
                <a:spcPct val="5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应近似特征向量，可取其某种意义下的平均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4821" name="Text Box 5"/>
          <p:cNvSpPr txBox="1"/>
          <p:nvPr/>
        </p:nvSpPr>
        <p:spPr>
          <a:xfrm>
            <a:off x="250825" y="2827338"/>
            <a:ext cx="4897438" cy="51911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和法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取列向量的算术平均</a:t>
            </a:r>
          </a:p>
        </p:txBody>
      </p:sp>
      <p:graphicFrame>
        <p:nvGraphicFramePr>
          <p:cNvPr id="34823" name="Object 7"/>
          <p:cNvGraphicFramePr>
            <a:graphicFrameLocks noChangeAspect="1"/>
          </p:cNvGraphicFramePr>
          <p:nvPr/>
        </p:nvGraphicFramePr>
        <p:xfrm>
          <a:off x="395288" y="3343275"/>
          <a:ext cx="2808287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7" r:id="rId3" imgW="1536700" imgH="711200" progId="Equation.DSMT4">
                  <p:embed/>
                </p:oleObj>
              </mc:Choice>
              <mc:Fallback>
                <p:oleObj r:id="rId3" imgW="1536700" imgH="711200" progId="Equation.DSMT4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5288" y="3343275"/>
                        <a:ext cx="2808287" cy="14351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Object 9"/>
          <p:cNvGraphicFramePr>
            <a:graphicFrameLocks noChangeAspect="1"/>
          </p:cNvGraphicFramePr>
          <p:nvPr/>
        </p:nvGraphicFramePr>
        <p:xfrm>
          <a:off x="4356100" y="3281363"/>
          <a:ext cx="25146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8" r:id="rId5" imgW="1473200" imgH="850900" progId="Equation.3">
                  <p:embed/>
                </p:oleObj>
              </mc:Choice>
              <mc:Fallback>
                <p:oleObj r:id="rId5" imgW="1473200" imgH="8509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56100" y="3281363"/>
                        <a:ext cx="2514600" cy="1371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6" name="Object 10"/>
          <p:cNvGraphicFramePr>
            <a:graphicFrameLocks noChangeAspect="1"/>
          </p:cNvGraphicFramePr>
          <p:nvPr/>
        </p:nvGraphicFramePr>
        <p:xfrm>
          <a:off x="7704138" y="3284538"/>
          <a:ext cx="1349375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9" r:id="rId7" imgW="787400" imgH="711200" progId="Equation.DSMT4">
                  <p:embed/>
                </p:oleObj>
              </mc:Choice>
              <mc:Fallback>
                <p:oleObj r:id="rId7" imgW="787400" imgH="711200" progId="Equation.DSMT4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04138" y="3284538"/>
                        <a:ext cx="1349375" cy="1439862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7" name="Object 11"/>
          <p:cNvGraphicFramePr>
            <a:graphicFrameLocks noChangeAspect="1"/>
          </p:cNvGraphicFramePr>
          <p:nvPr/>
        </p:nvGraphicFramePr>
        <p:xfrm>
          <a:off x="608013" y="4895850"/>
          <a:ext cx="1803400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0" r:id="rId9" imgW="901065" imgH="711200" progId="Equation.DSMT4">
                  <p:embed/>
                </p:oleObj>
              </mc:Choice>
              <mc:Fallback>
                <p:oleObj r:id="rId9" imgW="901065" imgH="711200" progId="Equation.DSMT4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8013" y="4895850"/>
                        <a:ext cx="1803400" cy="1441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8" name="Object 12"/>
          <p:cNvGraphicFramePr>
            <a:graphicFrameLocks noChangeAspect="1"/>
          </p:cNvGraphicFramePr>
          <p:nvPr/>
        </p:nvGraphicFramePr>
        <p:xfrm>
          <a:off x="4114800" y="4953000"/>
          <a:ext cx="4724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1" r:id="rId11" imgW="2921000" imgH="469900" progId="Equation.3">
                  <p:embed/>
                </p:oleObj>
              </mc:Choice>
              <mc:Fallback>
                <p:oleObj r:id="rId11" imgW="2921000" imgH="4699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14800" y="4953000"/>
                        <a:ext cx="4724400" cy="762000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36" name="Group 20"/>
          <p:cNvGrpSpPr/>
          <p:nvPr/>
        </p:nvGrpSpPr>
        <p:grpSpPr>
          <a:xfrm>
            <a:off x="3200400" y="3446463"/>
            <a:ext cx="990600" cy="990600"/>
            <a:chOff x="2016" y="2064"/>
            <a:chExt cx="624" cy="624"/>
          </a:xfrm>
        </p:grpSpPr>
        <p:sp>
          <p:nvSpPr>
            <p:cNvPr id="27667" name="Text Box 14"/>
            <p:cNvSpPr txBox="1"/>
            <p:nvPr/>
          </p:nvSpPr>
          <p:spPr>
            <a:xfrm>
              <a:off x="2016" y="2064"/>
              <a:ext cx="624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列向量归一化</a:t>
              </a:r>
            </a:p>
          </p:txBody>
        </p:sp>
        <p:sp>
          <p:nvSpPr>
            <p:cNvPr id="27668" name="AutoShape 16"/>
            <p:cNvSpPr/>
            <p:nvPr/>
          </p:nvSpPr>
          <p:spPr>
            <a:xfrm>
              <a:off x="2112" y="2496"/>
              <a:ext cx="336" cy="192"/>
            </a:xfrm>
            <a:prstGeom prst="rightArrow">
              <a:avLst>
                <a:gd name="adj1" fmla="val 50000"/>
                <a:gd name="adj2" fmla="val 4375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37" name="Group 21"/>
          <p:cNvGrpSpPr/>
          <p:nvPr/>
        </p:nvGrpSpPr>
        <p:grpSpPr>
          <a:xfrm>
            <a:off x="6934200" y="3359150"/>
            <a:ext cx="762000" cy="1006475"/>
            <a:chOff x="4368" y="2054"/>
            <a:chExt cx="480" cy="634"/>
          </a:xfrm>
        </p:grpSpPr>
        <p:sp>
          <p:nvSpPr>
            <p:cNvPr id="27665" name="Text Box 15"/>
            <p:cNvSpPr txBox="1"/>
            <p:nvPr/>
          </p:nvSpPr>
          <p:spPr>
            <a:xfrm>
              <a:off x="4368" y="2054"/>
              <a:ext cx="480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算术平均</a:t>
              </a:r>
            </a:p>
          </p:txBody>
        </p:sp>
        <p:sp>
          <p:nvSpPr>
            <p:cNvPr id="27666" name="AutoShape 17"/>
            <p:cNvSpPr/>
            <p:nvPr/>
          </p:nvSpPr>
          <p:spPr>
            <a:xfrm>
              <a:off x="4416" y="2496"/>
              <a:ext cx="336" cy="192"/>
            </a:xfrm>
            <a:prstGeom prst="rightArrow">
              <a:avLst>
                <a:gd name="adj1" fmla="val 50000"/>
                <a:gd name="adj2" fmla="val 4375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38" name="Group 22"/>
          <p:cNvGrpSpPr/>
          <p:nvPr/>
        </p:nvGrpSpPr>
        <p:grpSpPr>
          <a:xfrm>
            <a:off x="2600325" y="4995863"/>
            <a:ext cx="1201738" cy="738187"/>
            <a:chOff x="1638" y="3087"/>
            <a:chExt cx="757" cy="465"/>
          </a:xfrm>
        </p:grpSpPr>
        <p:graphicFrame>
          <p:nvGraphicFramePr>
            <p:cNvPr id="27663" name="Object 13"/>
            <p:cNvGraphicFramePr>
              <a:graphicFrameLocks noChangeAspect="1"/>
            </p:cNvGraphicFramePr>
            <p:nvPr/>
          </p:nvGraphicFramePr>
          <p:xfrm>
            <a:off x="1638" y="3087"/>
            <a:ext cx="757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32" r:id="rId13" imgW="621665" imgH="177800" progId="Equation.DSMT4">
                    <p:embed/>
                  </p:oleObj>
                </mc:Choice>
                <mc:Fallback>
                  <p:oleObj r:id="rId13" imgW="621665" imgH="177800" progId="Equation.DSMT4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638" y="3087"/>
                          <a:ext cx="757" cy="2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4" name="AutoShape 18"/>
            <p:cNvSpPr/>
            <p:nvPr/>
          </p:nvSpPr>
          <p:spPr>
            <a:xfrm>
              <a:off x="1776" y="3360"/>
              <a:ext cx="480" cy="192"/>
            </a:xfrm>
            <a:prstGeom prst="rightArrow">
              <a:avLst>
                <a:gd name="adj1" fmla="val 50000"/>
                <a:gd name="adj2" fmla="val 625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4835" name="Text Box 19"/>
          <p:cNvSpPr txBox="1"/>
          <p:nvPr/>
        </p:nvSpPr>
        <p:spPr>
          <a:xfrm>
            <a:off x="2362200" y="5943600"/>
            <a:ext cx="6629400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精确结果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=(0.588,0.322,0.090)</a:t>
            </a:r>
            <a:r>
              <a:rPr lang="en-US" altLang="zh-CN" sz="2800" b="1" baseline="300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=3.010</a:t>
            </a:r>
            <a:endParaRPr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10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10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10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1000"/>
                                        <p:tgtEl>
                                          <p:spTgt spid="3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48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8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animBg="1"/>
      <p:bldP spid="34820" grpId="0" animBg="1"/>
      <p:bldP spid="34821" grpId="0" animBg="1"/>
      <p:bldP spid="348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Text Box 6"/>
          <p:cNvSpPr txBox="1"/>
          <p:nvPr/>
        </p:nvSpPr>
        <p:spPr>
          <a:xfrm>
            <a:off x="1371600" y="457200"/>
            <a:ext cx="5029200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根法</a:t>
            </a:r>
            <a:r>
              <a:rPr lang="en-US" altLang="zh-CN" sz="2800" b="1">
                <a:latin typeface="Times New Roman" panose="02020603050405020304" pitchFamily="18" charset="0"/>
              </a:rPr>
              <a:t>——</a:t>
            </a:r>
            <a:r>
              <a:rPr lang="zh-CN" altLang="en-US" sz="2800" b="1" dirty="0">
                <a:latin typeface="Times New Roman" panose="02020603050405020304" pitchFamily="18" charset="0"/>
              </a:rPr>
              <a:t>取列向量的几何平均</a:t>
            </a:r>
          </a:p>
        </p:txBody>
      </p:sp>
      <p:sp>
        <p:nvSpPr>
          <p:cNvPr id="14343" name="Text Box 7"/>
          <p:cNvSpPr txBox="1"/>
          <p:nvPr/>
        </p:nvSpPr>
        <p:spPr>
          <a:xfrm>
            <a:off x="1371600" y="1066800"/>
            <a:ext cx="3124200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幂法</a:t>
            </a:r>
            <a:r>
              <a:rPr lang="en-US" altLang="zh-CN" sz="2800" b="1">
                <a:latin typeface="Times New Roman" panose="02020603050405020304" pitchFamily="18" charset="0"/>
              </a:rPr>
              <a:t>——</a:t>
            </a:r>
            <a:r>
              <a:rPr lang="zh-CN" altLang="en-US" sz="2800" b="1" dirty="0">
                <a:latin typeface="Times New Roman" panose="02020603050405020304" pitchFamily="18" charset="0"/>
              </a:rPr>
              <a:t>迭代算法</a:t>
            </a:r>
          </a:p>
        </p:txBody>
      </p:sp>
      <p:sp>
        <p:nvSpPr>
          <p:cNvPr id="14344" name="Text Box 8"/>
          <p:cNvSpPr txBox="1"/>
          <p:nvPr/>
        </p:nvSpPr>
        <p:spPr>
          <a:xfrm>
            <a:off x="1295400" y="1752600"/>
            <a:ext cx="6324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）任取初始向量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lang="en-US" altLang="zh-CN" sz="2800" b="1" baseline="30000">
                <a:latin typeface="Times New Roman" panose="02020603050405020304" pitchFamily="18" charset="0"/>
                <a:ea typeface="楷体_GB2312" pitchFamily="49" charset="-122"/>
              </a:rPr>
              <a:t>(0)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:=0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，设置精度</a:t>
            </a:r>
            <a:r>
              <a:rPr lang="zh-CN" altLang="en-US" sz="2800" b="1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endParaRPr lang="zh-CN" altLang="en-US" sz="2800" b="1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4349" name="Group 13"/>
          <p:cNvGrpSpPr/>
          <p:nvPr/>
        </p:nvGrpSpPr>
        <p:grpSpPr>
          <a:xfrm>
            <a:off x="1292225" y="2438400"/>
            <a:ext cx="3525838" cy="519113"/>
            <a:chOff x="768" y="1584"/>
            <a:chExt cx="2221" cy="327"/>
          </a:xfrm>
        </p:grpSpPr>
        <p:graphicFrame>
          <p:nvGraphicFramePr>
            <p:cNvPr id="28689" name="Object 2"/>
            <p:cNvGraphicFramePr>
              <a:graphicFrameLocks noChangeAspect="1"/>
            </p:cNvGraphicFramePr>
            <p:nvPr/>
          </p:nvGraphicFramePr>
          <p:xfrm>
            <a:off x="1668" y="1601"/>
            <a:ext cx="1321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4" r:id="rId3" imgW="888365" imgH="203200" progId="Equation.DSMT4">
                    <p:embed/>
                  </p:oleObj>
                </mc:Choice>
                <mc:Fallback>
                  <p:oleObj r:id="rId3" imgW="888365" imgH="203200" progId="Equation.DSMT4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68" y="1601"/>
                          <a:ext cx="1321" cy="2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0" name="Text Box 9"/>
            <p:cNvSpPr txBox="1"/>
            <p:nvPr/>
          </p:nvSpPr>
          <p:spPr>
            <a:xfrm>
              <a:off x="768" y="1584"/>
              <a:ext cx="8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2) </a:t>
              </a:r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计算</a:t>
              </a:r>
            </a:p>
          </p:txBody>
        </p:sp>
      </p:grpSp>
      <p:grpSp>
        <p:nvGrpSpPr>
          <p:cNvPr id="14350" name="Group 14"/>
          <p:cNvGrpSpPr/>
          <p:nvPr/>
        </p:nvGrpSpPr>
        <p:grpSpPr>
          <a:xfrm>
            <a:off x="1231900" y="2971800"/>
            <a:ext cx="6073775" cy="960438"/>
            <a:chOff x="768" y="1872"/>
            <a:chExt cx="3826" cy="605"/>
          </a:xfrm>
        </p:grpSpPr>
        <p:graphicFrame>
          <p:nvGraphicFramePr>
            <p:cNvPr id="28687" name="Object 3"/>
            <p:cNvGraphicFramePr>
              <a:graphicFrameLocks noChangeAspect="1"/>
            </p:cNvGraphicFramePr>
            <p:nvPr/>
          </p:nvGraphicFramePr>
          <p:xfrm>
            <a:off x="2117" y="1872"/>
            <a:ext cx="2477" cy="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5" r:id="rId5" imgW="1473200" imgH="431800" progId="Equation.DSMT4">
                    <p:embed/>
                  </p:oleObj>
                </mc:Choice>
                <mc:Fallback>
                  <p:oleObj r:id="rId5" imgW="1473200" imgH="431800" progId="Equation.DSMT4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17" y="1872"/>
                          <a:ext cx="2477" cy="6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8" name="Text Box 10"/>
            <p:cNvSpPr txBox="1"/>
            <p:nvPr/>
          </p:nvSpPr>
          <p:spPr>
            <a:xfrm>
              <a:off x="768" y="2016"/>
              <a:ext cx="124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）归一化</a:t>
              </a:r>
            </a:p>
          </p:txBody>
        </p:sp>
      </p:grpSp>
      <p:grpSp>
        <p:nvGrpSpPr>
          <p:cNvPr id="14351" name="Group 15"/>
          <p:cNvGrpSpPr/>
          <p:nvPr/>
        </p:nvGrpSpPr>
        <p:grpSpPr>
          <a:xfrm>
            <a:off x="1187450" y="5410200"/>
            <a:ext cx="4191000" cy="1019175"/>
            <a:chOff x="816" y="3408"/>
            <a:chExt cx="2640" cy="642"/>
          </a:xfrm>
        </p:grpSpPr>
        <p:graphicFrame>
          <p:nvGraphicFramePr>
            <p:cNvPr id="28685" name="Object 5"/>
            <p:cNvGraphicFramePr>
              <a:graphicFrameLocks noChangeAspect="1"/>
            </p:cNvGraphicFramePr>
            <p:nvPr/>
          </p:nvGraphicFramePr>
          <p:xfrm>
            <a:off x="1632" y="3408"/>
            <a:ext cx="1824" cy="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6" r:id="rId7" imgW="1078865" imgH="533400" progId="Equation.3">
                    <p:embed/>
                  </p:oleObj>
                </mc:Choice>
                <mc:Fallback>
                  <p:oleObj r:id="rId7" imgW="1078865" imgH="533400" progId="Equation.3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632" y="3408"/>
                          <a:ext cx="1824" cy="6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6" name="Text Box 12"/>
            <p:cNvSpPr txBox="1"/>
            <p:nvPr/>
          </p:nvSpPr>
          <p:spPr>
            <a:xfrm>
              <a:off x="816" y="3504"/>
              <a:ext cx="8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5) </a:t>
              </a:r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计算</a:t>
              </a:r>
            </a:p>
          </p:txBody>
        </p:sp>
      </p:grpSp>
      <p:graphicFrame>
        <p:nvGraphicFramePr>
          <p:cNvPr id="28680" name="Object 16"/>
          <p:cNvGraphicFramePr>
            <a:graphicFrameLocks noChangeAspect="1"/>
          </p:cNvGraphicFramePr>
          <p:nvPr/>
        </p:nvGraphicFramePr>
        <p:xfrm>
          <a:off x="8110538" y="571500"/>
          <a:ext cx="704850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7" r:id="rId9" imgW="3848100" imgH="5478780" progId="MS_ClipArt_Gallery.2">
                  <p:embed/>
                </p:oleObj>
              </mc:Choice>
              <mc:Fallback>
                <p:oleObj r:id="rId9" imgW="3848100" imgH="5478780" progId="MS_ClipArt_Gallery.2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110538" y="571500"/>
                        <a:ext cx="704850" cy="985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1" name="Rectangle 18"/>
          <p:cNvSpPr/>
          <p:nvPr/>
        </p:nvSpPr>
        <p:spPr>
          <a:xfrm>
            <a:off x="228600" y="457200"/>
            <a:ext cx="914400" cy="946150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简化计算</a:t>
            </a:r>
          </a:p>
        </p:txBody>
      </p:sp>
      <p:grpSp>
        <p:nvGrpSpPr>
          <p:cNvPr id="14355" name="Group 19"/>
          <p:cNvGrpSpPr/>
          <p:nvPr/>
        </p:nvGrpSpPr>
        <p:grpSpPr>
          <a:xfrm>
            <a:off x="1116013" y="3959225"/>
            <a:ext cx="6156325" cy="1374775"/>
            <a:chOff x="816" y="2494"/>
            <a:chExt cx="3744" cy="866"/>
          </a:xfrm>
        </p:grpSpPr>
        <p:sp>
          <p:nvSpPr>
            <p:cNvPr id="28683" name="Text Box 11"/>
            <p:cNvSpPr txBox="1"/>
            <p:nvPr/>
          </p:nvSpPr>
          <p:spPr>
            <a:xfrm>
              <a:off x="816" y="2494"/>
              <a:ext cx="3744" cy="86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）若                                       ，停止；否则，</a:t>
              </a: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k:=k</a:t>
              </a:r>
              <a:r>
                <a:rPr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+1, </a:t>
              </a:r>
              <a:r>
                <a:rPr lang="zh-CN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转2</a:t>
              </a:r>
              <a:endParaRPr lang="en-US" altLang="zh-CN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28684" name="Object 4"/>
            <p:cNvGraphicFramePr>
              <a:graphicFrameLocks noChangeAspect="1"/>
            </p:cNvGraphicFramePr>
            <p:nvPr/>
          </p:nvGraphicFramePr>
          <p:xfrm>
            <a:off x="1536" y="2544"/>
            <a:ext cx="2064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8" r:id="rId11" imgW="1536700" imgH="330200" progId="Equation.3">
                    <p:embed/>
                  </p:oleObj>
                </mc:Choice>
                <mc:Fallback>
                  <p:oleObj r:id="rId11" imgW="1536700" imgH="330200" progId="Equation.3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536" y="2544"/>
                          <a:ext cx="2064" cy="4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10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10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10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2" grpId="0" animBg="1"/>
      <p:bldP spid="14343" grpId="0" animBg="1"/>
      <p:bldP spid="1434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8"/>
          <p:cNvSpPr txBox="1"/>
          <p:nvPr/>
        </p:nvSpPr>
        <p:spPr>
          <a:xfrm>
            <a:off x="304800" y="547688"/>
            <a:ext cx="4987925" cy="519112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3.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为什么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特征向量作为权向量</a:t>
            </a:r>
          </a:p>
        </p:txBody>
      </p:sp>
      <p:sp>
        <p:nvSpPr>
          <p:cNvPr id="15369" name="Text Box 9"/>
          <p:cNvSpPr txBox="1"/>
          <p:nvPr/>
        </p:nvSpPr>
        <p:spPr>
          <a:xfrm>
            <a:off x="533400" y="1233488"/>
            <a:ext cx="1066800" cy="51911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问题</a:t>
            </a:r>
          </a:p>
        </p:txBody>
      </p:sp>
      <p:sp>
        <p:nvSpPr>
          <p:cNvPr id="15370" name="Text Box 10"/>
          <p:cNvSpPr txBox="1"/>
          <p:nvPr/>
        </p:nvSpPr>
        <p:spPr>
          <a:xfrm>
            <a:off x="1676400" y="1309688"/>
            <a:ext cx="6629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一致阵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权向量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w=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,…,</a:t>
            </a:r>
            <a:r>
              <a:rPr lang="en-US" altLang="zh-CN" sz="2800" b="1" i="1" err="1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lang="en-US" altLang="zh-CN" sz="2800" b="1" i="1" baseline="-25000" err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err="1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sz="2800" b="1" baseline="30000" err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 err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800" b="1" i="1" baseline="-25000" err="1">
                <a:latin typeface="Times New Roman" panose="02020603050405020304" pitchFamily="18" charset="0"/>
                <a:ea typeface="楷体_GB2312" pitchFamily="49" charset="-122"/>
              </a:rPr>
              <a:t>ij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en-US" altLang="zh-CN" sz="2800" b="1" i="1" err="1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lang="en-US" altLang="zh-CN" sz="2800" b="1" i="1" baseline="-2500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i="1" err="1">
                <a:latin typeface="Times New Roman" panose="02020603050405020304" pitchFamily="18" charset="0"/>
                <a:ea typeface="楷体_GB2312" pitchFamily="49" charset="-122"/>
              </a:rPr>
              <a:t>/w</a:t>
            </a:r>
            <a:r>
              <a:rPr lang="en-US" altLang="zh-CN" sz="2800" b="1" i="1" baseline="-25000" err="1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endParaRPr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371" name="Text Box 11"/>
          <p:cNvSpPr txBox="1"/>
          <p:nvPr/>
        </p:nvSpPr>
        <p:spPr>
          <a:xfrm>
            <a:off x="1676400" y="1995488"/>
            <a:ext cx="647700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不一致</a:t>
            </a:r>
            <a:r>
              <a:rPr lang="en-US" altLang="en-US" sz="2800" b="1">
                <a:latin typeface="Times New Roman" panose="02020603050405020304" pitchFamily="18" charset="0"/>
                <a:ea typeface="楷体_GB2312" pitchFamily="49" charset="-122"/>
              </a:rPr>
              <a:t>, 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应选权向量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使</a:t>
            </a:r>
            <a:r>
              <a:rPr lang="en-US" altLang="zh-CN" sz="2800" b="1" i="1" err="1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lang="en-US" altLang="zh-CN" sz="2800" b="1" i="1" baseline="-2500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i="1" err="1">
                <a:latin typeface="Times New Roman" panose="02020603050405020304" pitchFamily="18" charset="0"/>
                <a:ea typeface="楷体_GB2312" pitchFamily="49" charset="-122"/>
              </a:rPr>
              <a:t>/w</a:t>
            </a:r>
            <a:r>
              <a:rPr lang="en-US" altLang="zh-CN" sz="2800" b="1" i="1" baseline="-25000" err="1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与</a:t>
            </a:r>
            <a:r>
              <a:rPr lang="zh-CN" altLang="en-US" sz="2800" b="1" baseline="-250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i="1" err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800" b="1" i="1" baseline="-25000" err="1">
                <a:latin typeface="Times New Roman" panose="02020603050405020304" pitchFamily="18" charset="0"/>
                <a:ea typeface="楷体_GB2312" pitchFamily="49" charset="-122"/>
              </a:rPr>
              <a:t>ij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相差尽量小（对所有</a:t>
            </a:r>
            <a:r>
              <a:rPr lang="en-US" altLang="zh-CN" sz="2800" b="1" i="1" err="1">
                <a:latin typeface="Times New Roman" panose="02020603050405020304" pitchFamily="18" charset="0"/>
                <a:ea typeface="楷体_GB2312" pitchFamily="49" charset="-122"/>
              </a:rPr>
              <a:t>i,j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graphicFrame>
        <p:nvGraphicFramePr>
          <p:cNvPr id="15373" name="Object 13"/>
          <p:cNvGraphicFramePr>
            <a:graphicFrameLocks noChangeAspect="1"/>
          </p:cNvGraphicFramePr>
          <p:nvPr/>
        </p:nvGraphicFramePr>
        <p:xfrm>
          <a:off x="2971800" y="3214688"/>
          <a:ext cx="411480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" r:id="rId3" imgW="1714500" imgH="635000" progId="Equation.3">
                  <p:embed/>
                </p:oleObj>
              </mc:Choice>
              <mc:Fallback>
                <p:oleObj r:id="rId3" imgW="1714500" imgH="6350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71800" y="3214688"/>
                        <a:ext cx="4114800" cy="1276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76" name="Group 16"/>
          <p:cNvGrpSpPr/>
          <p:nvPr/>
        </p:nvGrpSpPr>
        <p:grpSpPr>
          <a:xfrm>
            <a:off x="395288" y="3284538"/>
            <a:ext cx="2667000" cy="762000"/>
            <a:chOff x="816" y="2064"/>
            <a:chExt cx="1440" cy="480"/>
          </a:xfrm>
        </p:grpSpPr>
        <p:sp>
          <p:nvSpPr>
            <p:cNvPr id="29708" name="Text Box 14"/>
            <p:cNvSpPr txBox="1"/>
            <p:nvPr/>
          </p:nvSpPr>
          <p:spPr>
            <a:xfrm>
              <a:off x="816" y="2064"/>
              <a:ext cx="14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楷体_GB2312" pitchFamily="49" charset="-122"/>
                </a:rPr>
                <a:t>用拟合方法确定</a:t>
              </a:r>
              <a:r>
                <a:rPr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w</a:t>
              </a:r>
            </a:p>
          </p:txBody>
        </p:sp>
        <p:sp>
          <p:nvSpPr>
            <p:cNvPr id="29709" name="AutoShape 15"/>
            <p:cNvSpPr/>
            <p:nvPr/>
          </p:nvSpPr>
          <p:spPr>
            <a:xfrm>
              <a:off x="1056" y="2352"/>
              <a:ext cx="864" cy="192"/>
            </a:xfrm>
            <a:prstGeom prst="rightArrow">
              <a:avLst>
                <a:gd name="adj1" fmla="val 50000"/>
                <a:gd name="adj2" fmla="val 1125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5377" name="Text Box 17"/>
          <p:cNvSpPr txBox="1"/>
          <p:nvPr/>
        </p:nvSpPr>
        <p:spPr>
          <a:xfrm>
            <a:off x="7239000" y="3290888"/>
            <a:ext cx="1676400" cy="10318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非线性</a:t>
            </a:r>
          </a:p>
          <a:p>
            <a:pPr>
              <a:spcBef>
                <a:spcPct val="2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最小二乘</a:t>
            </a:r>
          </a:p>
        </p:txBody>
      </p:sp>
      <p:graphicFrame>
        <p:nvGraphicFramePr>
          <p:cNvPr id="15378" name="Object 18"/>
          <p:cNvGraphicFramePr>
            <a:graphicFrameLocks noChangeAspect="1"/>
          </p:cNvGraphicFramePr>
          <p:nvPr/>
        </p:nvGraphicFramePr>
        <p:xfrm>
          <a:off x="2917825" y="4586288"/>
          <a:ext cx="4397375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8" r:id="rId5" imgW="2057400" imgH="635000" progId="Equation.3">
                  <p:embed/>
                </p:oleObj>
              </mc:Choice>
              <mc:Fallback>
                <p:oleObj r:id="rId5" imgW="2057400" imgH="6350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17825" y="4586288"/>
                        <a:ext cx="4397375" cy="1168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9" name="Text Box 19"/>
          <p:cNvSpPr txBox="1"/>
          <p:nvPr/>
        </p:nvSpPr>
        <p:spPr>
          <a:xfrm>
            <a:off x="381000" y="4586288"/>
            <a:ext cx="2438400" cy="10318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线性化</a:t>
            </a:r>
            <a:r>
              <a:rPr lang="en-US" altLang="zh-CN" sz="2800" b="1">
                <a:latin typeface="Times New Roman" panose="02020603050405020304" pitchFamily="18" charset="0"/>
              </a:rPr>
              <a:t>——</a:t>
            </a:r>
          </a:p>
          <a:p>
            <a:pPr>
              <a:spcBef>
                <a:spcPct val="2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对数最小二乘</a:t>
            </a:r>
          </a:p>
        </p:txBody>
      </p:sp>
      <p:sp>
        <p:nvSpPr>
          <p:cNvPr id="15380" name="Text Box 20"/>
          <p:cNvSpPr txBox="1"/>
          <p:nvPr/>
        </p:nvSpPr>
        <p:spPr>
          <a:xfrm>
            <a:off x="3352800" y="5957888"/>
            <a:ext cx="2743200" cy="5191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结果与根法相同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10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10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1000"/>
                                        <p:tgtEl>
                                          <p:spTgt spid="1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10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10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10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5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5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9" grpId="0" animBg="1"/>
      <p:bldP spid="15370" grpId="0" animBg="1"/>
      <p:bldP spid="15371" grpId="0" animBg="1"/>
      <p:bldP spid="15377" grpId="0" animBg="1"/>
      <p:bldP spid="15379" grpId="0" animBg="1"/>
      <p:bldP spid="1538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5"/>
          <p:cNvSpPr txBox="1"/>
          <p:nvPr/>
        </p:nvSpPr>
        <p:spPr>
          <a:xfrm>
            <a:off x="2819400" y="381000"/>
            <a:ext cx="5424488" cy="966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按不同准则确定的权向量不同，</a:t>
            </a:r>
          </a:p>
          <a:p>
            <a:pPr>
              <a:spcBef>
                <a:spcPct val="5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选特征向量为权向量的优点：</a:t>
            </a:r>
          </a:p>
        </p:txBody>
      </p:sp>
      <p:sp>
        <p:nvSpPr>
          <p:cNvPr id="17415" name="Text Box 7"/>
          <p:cNvSpPr txBox="1"/>
          <p:nvPr/>
        </p:nvSpPr>
        <p:spPr>
          <a:xfrm>
            <a:off x="533400" y="1371600"/>
            <a:ext cx="1676400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成对比较</a:t>
            </a:r>
          </a:p>
        </p:txBody>
      </p:sp>
      <p:sp>
        <p:nvSpPr>
          <p:cNvPr id="17417" name="Text Box 9"/>
          <p:cNvSpPr txBox="1"/>
          <p:nvPr/>
        </p:nvSpPr>
        <p:spPr>
          <a:xfrm>
            <a:off x="2667000" y="1462088"/>
            <a:ext cx="29845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err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b="1" i="1" baseline="-2500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err="1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lang="en-US" altLang="zh-CN" sz="2800" b="1" i="1" err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b="1" i="1" baseline="-25000" err="1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直接比较）</a:t>
            </a:r>
          </a:p>
        </p:txBody>
      </p:sp>
      <p:sp>
        <p:nvSpPr>
          <p:cNvPr id="17418" name="Text Box 10"/>
          <p:cNvSpPr txBox="1"/>
          <p:nvPr/>
        </p:nvSpPr>
        <p:spPr>
          <a:xfrm>
            <a:off x="5651500" y="1462088"/>
            <a:ext cx="3313113" cy="51911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err="1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25000" err="1">
                <a:latin typeface="Times New Roman" panose="02020603050405020304" pitchFamily="18" charset="0"/>
              </a:rPr>
              <a:t>ij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~ </a:t>
            </a:r>
            <a:r>
              <a:rPr lang="en-US" altLang="zh-CN" sz="2800" b="1">
                <a:latin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</a:rPr>
              <a:t>步比较的强度</a:t>
            </a:r>
          </a:p>
        </p:txBody>
      </p:sp>
      <p:grpSp>
        <p:nvGrpSpPr>
          <p:cNvPr id="17436" name="Group 28"/>
          <p:cNvGrpSpPr/>
          <p:nvPr/>
        </p:nvGrpSpPr>
        <p:grpSpPr>
          <a:xfrm>
            <a:off x="817563" y="1981200"/>
            <a:ext cx="3983037" cy="939800"/>
            <a:chOff x="515" y="1152"/>
            <a:chExt cx="2509" cy="592"/>
          </a:xfrm>
        </p:grpSpPr>
        <p:graphicFrame>
          <p:nvGraphicFramePr>
            <p:cNvPr id="30745" name="Object 11"/>
            <p:cNvGraphicFramePr>
              <a:graphicFrameLocks noChangeAspect="1"/>
            </p:cNvGraphicFramePr>
            <p:nvPr/>
          </p:nvGraphicFramePr>
          <p:xfrm>
            <a:off x="515" y="1320"/>
            <a:ext cx="910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92" r:id="rId3" imgW="698500" imgH="254000" progId="Equation.DSMT4">
                    <p:embed/>
                  </p:oleObj>
                </mc:Choice>
                <mc:Fallback>
                  <p:oleObj r:id="rId3" imgW="698500" imgH="254000" progId="Equation.DSMT4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5" y="1320"/>
                          <a:ext cx="910" cy="3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6" name="Object 12"/>
            <p:cNvGraphicFramePr>
              <a:graphicFrameLocks noChangeAspect="1"/>
            </p:cNvGraphicFramePr>
            <p:nvPr/>
          </p:nvGraphicFramePr>
          <p:xfrm>
            <a:off x="1584" y="1152"/>
            <a:ext cx="1440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93" r:id="rId5" imgW="1016000" imgH="431800" progId="Equation.3">
                    <p:embed/>
                  </p:oleObj>
                </mc:Choice>
                <mc:Fallback>
                  <p:oleObj r:id="rId5" imgW="1016000" imgH="431800" progId="Equation.3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84" y="1152"/>
                          <a:ext cx="1440" cy="5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21" name="Text Box 13"/>
          <p:cNvSpPr txBox="1"/>
          <p:nvPr/>
        </p:nvSpPr>
        <p:spPr>
          <a:xfrm>
            <a:off x="533400" y="2895600"/>
            <a:ext cx="44767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err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800" b="1" i="1" baseline="-25000" err="1">
                <a:latin typeface="Times New Roman" panose="02020603050405020304" pitchFamily="18" charset="0"/>
                <a:ea typeface="楷体_GB2312" pitchFamily="49" charset="-122"/>
              </a:rPr>
              <a:t>is</a:t>
            </a:r>
            <a:r>
              <a:rPr lang="en-US" altLang="zh-CN" sz="2800" b="1" i="1" err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800" b="1" i="1" baseline="-25000" err="1">
                <a:latin typeface="Times New Roman" panose="02020603050405020304" pitchFamily="18" charset="0"/>
                <a:ea typeface="楷体_GB2312" pitchFamily="49" charset="-122"/>
              </a:rPr>
              <a:t>sj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~ </a:t>
            </a:r>
            <a:r>
              <a:rPr lang="en-US" altLang="zh-CN" sz="2800" b="1" i="1" err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b="1" i="1" baseline="-2500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通过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楷体_GB2312" pitchFamily="49" charset="-122"/>
              </a:rPr>
              <a:t>s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与</a:t>
            </a:r>
            <a:r>
              <a:rPr lang="en-US" altLang="zh-CN" sz="2800" b="1" i="1" err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b="1" i="1" baseline="-25000" err="1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的比较</a:t>
            </a:r>
          </a:p>
        </p:txBody>
      </p:sp>
      <p:sp>
        <p:nvSpPr>
          <p:cNvPr id="17422" name="Text Box 14"/>
          <p:cNvSpPr txBox="1"/>
          <p:nvPr/>
        </p:nvSpPr>
        <p:spPr>
          <a:xfrm>
            <a:off x="5508625" y="2133600"/>
            <a:ext cx="3635375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ij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(2)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~ </a:t>
            </a:r>
            <a:r>
              <a:rPr lang="en-US" altLang="zh-CN" sz="2800" b="1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</a:rPr>
              <a:t>步比较的强度</a:t>
            </a:r>
          </a:p>
        </p:txBody>
      </p:sp>
      <p:sp>
        <p:nvSpPr>
          <p:cNvPr id="17423" name="Text Box 15"/>
          <p:cNvSpPr txBox="1"/>
          <p:nvPr/>
        </p:nvSpPr>
        <p:spPr>
          <a:xfrm>
            <a:off x="5181600" y="2819400"/>
            <a:ext cx="3810000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更能反映</a:t>
            </a:r>
            <a:r>
              <a:rPr lang="en-US" altLang="zh-CN" sz="2800" b="1" i="1" err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b="1" i="1" baseline="-2500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对</a:t>
            </a:r>
            <a:r>
              <a:rPr lang="en-US" altLang="zh-CN" sz="2800" b="1" i="1" err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b="1" i="1" baseline="-25000" err="1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的强度</a:t>
            </a:r>
            <a:endParaRPr lang="zh-CN" altLang="en-US" sz="2800" b="1" baseline="-250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30" name="Rectangle 17"/>
          <p:cNvSpPr/>
          <p:nvPr/>
        </p:nvSpPr>
        <p:spPr>
          <a:xfrm>
            <a:off x="304800" y="457200"/>
            <a:ext cx="2327275" cy="519113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多步累积效应</a:t>
            </a:r>
          </a:p>
        </p:txBody>
      </p:sp>
      <p:graphicFrame>
        <p:nvGraphicFramePr>
          <p:cNvPr id="17428" name="Object 20"/>
          <p:cNvGraphicFramePr>
            <a:graphicFrameLocks noChangeAspect="1"/>
          </p:cNvGraphicFramePr>
          <p:nvPr/>
        </p:nvGraphicFramePr>
        <p:xfrm>
          <a:off x="1206500" y="4189413"/>
          <a:ext cx="7253288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4" r:id="rId7" imgW="3098800" imgH="254000" progId="Equation.DSMT4">
                  <p:embed/>
                </p:oleObj>
              </mc:Choice>
              <mc:Fallback>
                <p:oleObj r:id="rId7" imgW="3098800" imgH="254000" progId="Equation.DSMT4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06500" y="4189413"/>
                        <a:ext cx="7253288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33" name="Group 25"/>
          <p:cNvGrpSpPr/>
          <p:nvPr/>
        </p:nvGrpSpPr>
        <p:grpSpPr>
          <a:xfrm>
            <a:off x="457200" y="5622925"/>
            <a:ext cx="3352800" cy="800100"/>
            <a:chOff x="384" y="3158"/>
            <a:chExt cx="2112" cy="504"/>
          </a:xfrm>
        </p:grpSpPr>
        <p:sp>
          <p:nvSpPr>
            <p:cNvPr id="30743" name="Text Box 23"/>
            <p:cNvSpPr txBox="1"/>
            <p:nvPr/>
          </p:nvSpPr>
          <p:spPr>
            <a:xfrm>
              <a:off x="384" y="3168"/>
              <a:ext cx="2112" cy="46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定理</a:t>
              </a:r>
              <a:r>
                <a:rPr lang="en-US" altLang="zh-CN" sz="2800" b="1">
                  <a:solidFill>
                    <a:srgbClr val="FF0000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28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0744" name="Object 24"/>
            <p:cNvGraphicFramePr>
              <a:graphicFrameLocks noChangeAspect="1"/>
            </p:cNvGraphicFramePr>
            <p:nvPr/>
          </p:nvGraphicFramePr>
          <p:xfrm>
            <a:off x="1156" y="3158"/>
            <a:ext cx="1143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95" r:id="rId9" imgW="939800" imgH="419100" progId="Equation.DSMT4">
                    <p:embed/>
                  </p:oleObj>
                </mc:Choice>
                <mc:Fallback>
                  <p:oleObj r:id="rId9" imgW="939800" imgH="419100" progId="Equation.DSMT4">
                    <p:embed/>
                    <p:pic>
                      <p:nvPicPr>
                        <p:cNvPr id="0" name="图片 314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56" y="3158"/>
                          <a:ext cx="1143" cy="5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34" name="Text Box 26"/>
          <p:cNvSpPr txBox="1"/>
          <p:nvPr/>
        </p:nvSpPr>
        <p:spPr>
          <a:xfrm>
            <a:off x="4211638" y="5805488"/>
            <a:ext cx="4648200" cy="519112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特征向量体现</a:t>
            </a:r>
            <a:r>
              <a:rPr lang="zh-CN" altLang="en-US" sz="2800" b="1" dirty="0">
                <a:latin typeface="宋体" panose="02010600030101010101" pitchFamily="2" charset="-122"/>
                <a:ea typeface="楷体_GB2312" pitchFamily="49" charset="-122"/>
              </a:rPr>
              <a:t>多步累积效应</a:t>
            </a:r>
          </a:p>
        </p:txBody>
      </p:sp>
      <p:grpSp>
        <p:nvGrpSpPr>
          <p:cNvPr id="17439" name="Group 31"/>
          <p:cNvGrpSpPr/>
          <p:nvPr/>
        </p:nvGrpSpPr>
        <p:grpSpPr>
          <a:xfrm>
            <a:off x="152400" y="4953000"/>
            <a:ext cx="6477000" cy="519113"/>
            <a:chOff x="288" y="3120"/>
            <a:chExt cx="3984" cy="327"/>
          </a:xfrm>
        </p:grpSpPr>
        <p:sp>
          <p:nvSpPr>
            <p:cNvPr id="30741" name="Text Box 21"/>
            <p:cNvSpPr txBox="1"/>
            <p:nvPr/>
          </p:nvSpPr>
          <p:spPr>
            <a:xfrm>
              <a:off x="576" y="3120"/>
              <a:ext cx="3696" cy="32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当</a:t>
              </a: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k</a:t>
              </a:r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足够大</a:t>
              </a:r>
              <a:r>
                <a:rPr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, </a:t>
              </a:r>
              <a:r>
                <a:rPr lang="en-US" altLang="zh-CN" sz="2800" b="1" i="1" err="1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lang="en-US" altLang="zh-CN" sz="2800" b="1" i="1" baseline="30000" err="1">
                  <a:latin typeface="Times New Roman" panose="02020603050405020304" pitchFamily="18" charset="0"/>
                  <a:ea typeface="楷体_GB2312" pitchFamily="49" charset="-122"/>
                </a:rPr>
                <a:t>k</a:t>
              </a:r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第</a:t>
              </a: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行元素反映</a:t>
              </a:r>
              <a:r>
                <a:rPr lang="en-US" altLang="zh-CN" sz="2800" b="1" i="1" err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800" b="1" i="1" baseline="-25000" err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的权重</a:t>
              </a:r>
            </a:p>
          </p:txBody>
        </p:sp>
        <p:sp>
          <p:nvSpPr>
            <p:cNvPr id="30742" name="AutoShape 29"/>
            <p:cNvSpPr/>
            <p:nvPr/>
          </p:nvSpPr>
          <p:spPr>
            <a:xfrm>
              <a:off x="288" y="3216"/>
              <a:ext cx="288" cy="162"/>
            </a:xfrm>
            <a:prstGeom prst="rightArrow">
              <a:avLst>
                <a:gd name="adj1" fmla="val 50000"/>
                <a:gd name="adj2" fmla="val 44444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440" name="Group 32"/>
          <p:cNvGrpSpPr/>
          <p:nvPr/>
        </p:nvGrpSpPr>
        <p:grpSpPr>
          <a:xfrm>
            <a:off x="6629400" y="4953000"/>
            <a:ext cx="2362200" cy="519113"/>
            <a:chOff x="4512" y="3120"/>
            <a:chExt cx="1248" cy="327"/>
          </a:xfrm>
        </p:grpSpPr>
        <p:sp>
          <p:nvSpPr>
            <p:cNvPr id="30739" name="Text Box 27"/>
            <p:cNvSpPr txBox="1"/>
            <p:nvPr/>
          </p:nvSpPr>
          <p:spPr>
            <a:xfrm>
              <a:off x="4704" y="3120"/>
              <a:ext cx="1056" cy="32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求</a:t>
              </a:r>
              <a:r>
                <a:rPr lang="en-US" altLang="zh-CN" sz="2800" b="1" i="1" err="1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lang="en-US" altLang="zh-CN" sz="2800" b="1" i="1" baseline="30000" err="1">
                  <a:latin typeface="Times New Roman" panose="02020603050405020304" pitchFamily="18" charset="0"/>
                  <a:ea typeface="楷体_GB2312" pitchFamily="49" charset="-122"/>
                </a:rPr>
                <a:t>k</a:t>
              </a:r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的行和</a:t>
              </a:r>
            </a:p>
          </p:txBody>
        </p:sp>
        <p:sp>
          <p:nvSpPr>
            <p:cNvPr id="30740" name="AutoShape 30"/>
            <p:cNvSpPr/>
            <p:nvPr/>
          </p:nvSpPr>
          <p:spPr>
            <a:xfrm>
              <a:off x="4512" y="3216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462" name="Group 54"/>
          <p:cNvGrpSpPr/>
          <p:nvPr/>
        </p:nvGrpSpPr>
        <p:grpSpPr>
          <a:xfrm>
            <a:off x="539750" y="3519488"/>
            <a:ext cx="8208963" cy="593725"/>
            <a:chOff x="340" y="2217"/>
            <a:chExt cx="5171" cy="374"/>
          </a:xfrm>
        </p:grpSpPr>
        <p:sp>
          <p:nvSpPr>
            <p:cNvPr id="30737" name="Text Box 18"/>
            <p:cNvSpPr txBox="1"/>
            <p:nvPr/>
          </p:nvSpPr>
          <p:spPr>
            <a:xfrm>
              <a:off x="1746" y="2251"/>
              <a:ext cx="3765" cy="327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～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k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步比较强度，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反映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多步比较效应</a:t>
              </a:r>
            </a:p>
          </p:txBody>
        </p:sp>
        <p:graphicFrame>
          <p:nvGraphicFramePr>
            <p:cNvPr id="30738" name="Object 53"/>
            <p:cNvGraphicFramePr>
              <a:graphicFrameLocks noChangeAspect="1"/>
            </p:cNvGraphicFramePr>
            <p:nvPr/>
          </p:nvGraphicFramePr>
          <p:xfrm>
            <a:off x="340" y="2217"/>
            <a:ext cx="1497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96" r:id="rId11" imgW="1015365" imgH="254000" progId="Equation.3">
                    <p:embed/>
                  </p:oleObj>
                </mc:Choice>
                <mc:Fallback>
                  <p:oleObj r:id="rId11" imgW="1015365" imgH="254000" progId="Equation.3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40" y="2217"/>
                          <a:ext cx="1497" cy="374"/>
                        </a:xfrm>
                        <a:prstGeom prst="rect">
                          <a:avLst/>
                        </a:prstGeom>
                        <a:solidFill>
                          <a:srgbClr val="FFCC00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10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1000"/>
                                        <p:tgtEl>
                                          <p:spTgt spid="1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1" dur="10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10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1000"/>
                                        <p:tgtEl>
                                          <p:spTgt spid="1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10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1000"/>
                                        <p:tgtEl>
                                          <p:spTgt spid="17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7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17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10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3" dur="1000"/>
                                        <p:tgtEl>
                                          <p:spTgt spid="1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animBg="1"/>
      <p:bldP spid="17415" grpId="0" animBg="1"/>
      <p:bldP spid="17417" grpId="0" animBg="1"/>
      <p:bldP spid="17418" grpId="0" animBg="1"/>
      <p:bldP spid="17421" grpId="0"/>
      <p:bldP spid="17422" grpId="0" animBg="1"/>
      <p:bldP spid="17423" grpId="0" animBg="1"/>
      <p:bldP spid="1743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8"/>
          <p:cNvSpPr/>
          <p:nvPr/>
        </p:nvSpPr>
        <p:spPr>
          <a:xfrm>
            <a:off x="304800" y="381000"/>
            <a:ext cx="6248400" cy="519113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4.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不完全层次结构中组合权向量的计算</a:t>
            </a:r>
          </a:p>
        </p:txBody>
      </p:sp>
      <p:sp>
        <p:nvSpPr>
          <p:cNvPr id="19475" name="Rectangle 19"/>
          <p:cNvSpPr/>
          <p:nvPr/>
        </p:nvSpPr>
        <p:spPr>
          <a:xfrm>
            <a:off x="304800" y="1004888"/>
            <a:ext cx="8534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完全层次结构：上层每一元素与下层所有元素相关联</a:t>
            </a:r>
          </a:p>
        </p:txBody>
      </p:sp>
      <p:sp>
        <p:nvSpPr>
          <p:cNvPr id="19476" name="Text Box 20"/>
          <p:cNvSpPr txBox="1"/>
          <p:nvPr/>
        </p:nvSpPr>
        <p:spPr>
          <a:xfrm>
            <a:off x="381000" y="1662113"/>
            <a:ext cx="2819400" cy="51911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不完全层次结构</a:t>
            </a:r>
          </a:p>
        </p:txBody>
      </p:sp>
      <p:sp>
        <p:nvSpPr>
          <p:cNvPr id="19478" name="Text Box 22"/>
          <p:cNvSpPr txBox="1"/>
          <p:nvPr/>
        </p:nvSpPr>
        <p:spPr>
          <a:xfrm>
            <a:off x="381000" y="2362200"/>
            <a:ext cx="38100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设已知第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层对第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层权向量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lang="en-US" altLang="zh-CN" sz="2800" b="1" baseline="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lang="en-US" altLang="zh-CN" sz="2800" b="1" baseline="300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=(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 baseline="30000"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 baseline="30000"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sz="2800" b="1" baseline="300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endParaRPr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479" name="Text Box 23"/>
          <p:cNvSpPr txBox="1"/>
          <p:nvPr/>
        </p:nvSpPr>
        <p:spPr>
          <a:xfrm>
            <a:off x="323850" y="3357563"/>
            <a:ext cx="4248150" cy="1587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及第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层对第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层权向量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 baseline="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r>
              <a:rPr lang="en-US" altLang="zh-CN" sz="2800" b="1" baseline="300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=(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11</a:t>
            </a:r>
            <a:r>
              <a:rPr lang="en-US" altLang="zh-CN" sz="2800" b="1" baseline="30000">
                <a:latin typeface="Times New Roman" panose="02020603050405020304" pitchFamily="18" charset="0"/>
                <a:ea typeface="楷体_GB2312" pitchFamily="49" charset="-122"/>
              </a:rPr>
              <a:t>(3</a:t>
            </a:r>
            <a:r>
              <a:rPr lang="en-US" altLang="zh-CN" sz="2800" b="1" i="1" baseline="300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,w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12</a:t>
            </a:r>
            <a:r>
              <a:rPr lang="en-US" altLang="zh-CN" sz="2800" b="1" baseline="30000">
                <a:latin typeface="Times New Roman" panose="02020603050405020304" pitchFamily="18" charset="0"/>
                <a:ea typeface="楷体_GB2312" pitchFamily="49" charset="-122"/>
              </a:rPr>
              <a:t>(3</a:t>
            </a:r>
            <a:r>
              <a:rPr lang="en-US" altLang="zh-CN" sz="2800" b="1" i="1" baseline="300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,w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13</a:t>
            </a:r>
            <a:r>
              <a:rPr lang="en-US" altLang="zh-CN" sz="2800" b="1" baseline="30000"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,0)</a:t>
            </a:r>
            <a:r>
              <a:rPr lang="en-US" altLang="zh-CN" sz="2800" b="1" baseline="30000">
                <a:latin typeface="Times New Roman" panose="02020603050405020304" pitchFamily="18" charset="0"/>
                <a:ea typeface="楷体_GB2312" pitchFamily="49" charset="-122"/>
              </a:rPr>
              <a:t>T</a:t>
            </a:r>
          </a:p>
          <a:p>
            <a:pPr>
              <a:spcBef>
                <a:spcPct val="50000"/>
              </a:spcBef>
            </a:pP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 baseline="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r>
              <a:rPr lang="en-US" altLang="zh-CN" sz="2800" b="1" baseline="300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=(0,0,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23</a:t>
            </a:r>
            <a:r>
              <a:rPr lang="en-US" altLang="zh-CN" sz="2800" b="1" baseline="30000">
                <a:latin typeface="Times New Roman" panose="02020603050405020304" pitchFamily="18" charset="0"/>
                <a:ea typeface="楷体_GB2312" pitchFamily="49" charset="-122"/>
              </a:rPr>
              <a:t>(3</a:t>
            </a:r>
            <a:r>
              <a:rPr lang="en-US" altLang="zh-CN" sz="2800" b="1" i="1" baseline="300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,w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24</a:t>
            </a:r>
            <a:r>
              <a:rPr lang="en-US" altLang="zh-CN" sz="2800" b="1" baseline="30000">
                <a:latin typeface="Times New Roman" panose="02020603050405020304" pitchFamily="18" charset="0"/>
                <a:ea typeface="楷体_GB2312" pitchFamily="49" charset="-122"/>
              </a:rPr>
              <a:t>(3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sz="2800" b="1" baseline="300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endParaRPr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481" name="Text Box 25"/>
          <p:cNvSpPr txBox="1"/>
          <p:nvPr/>
        </p:nvSpPr>
        <p:spPr>
          <a:xfrm>
            <a:off x="152400" y="4876800"/>
            <a:ext cx="4343400" cy="1630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讨论由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lang="en-US" altLang="zh-CN" sz="2800" b="1" baseline="30000"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lang="en-US" altLang="zh-CN" sz="2800" b="1" baseline="30000"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=(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 baseline="30000"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800" b="1" baseline="300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 baseline="30000"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计算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第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层对第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层权向量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lang="en-US" altLang="zh-CN" sz="2800" b="1" baseline="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(3</a:t>
            </a:r>
            <a:r>
              <a:rPr lang="zh-CN" alt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的方法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19480" name="Group 24"/>
          <p:cNvGrpSpPr/>
          <p:nvPr/>
        </p:nvGrpSpPr>
        <p:grpSpPr>
          <a:xfrm>
            <a:off x="4500563" y="2306638"/>
            <a:ext cx="4567237" cy="2054225"/>
            <a:chOff x="2640" y="1584"/>
            <a:chExt cx="2832" cy="1680"/>
          </a:xfrm>
        </p:grpSpPr>
        <p:sp>
          <p:nvSpPr>
            <p:cNvPr id="31756" name="Rectangle 2"/>
            <p:cNvSpPr/>
            <p:nvPr/>
          </p:nvSpPr>
          <p:spPr>
            <a:xfrm>
              <a:off x="3648" y="1584"/>
              <a:ext cx="720" cy="299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贡献</a:t>
              </a:r>
              <a:r>
                <a:rPr lang="en-US" altLang="zh-CN" b="1" i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31757" name="Rectangle 3"/>
            <p:cNvSpPr/>
            <p:nvPr/>
          </p:nvSpPr>
          <p:spPr>
            <a:xfrm>
              <a:off x="2784" y="2219"/>
              <a:ext cx="768" cy="29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教学</a:t>
              </a:r>
              <a:r>
                <a:rPr lang="en-US" altLang="zh-CN" b="1" i="1"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1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1758" name="Rectangle 4"/>
            <p:cNvSpPr/>
            <p:nvPr/>
          </p:nvSpPr>
          <p:spPr>
            <a:xfrm>
              <a:off x="4512" y="2219"/>
              <a:ext cx="645" cy="29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科研</a:t>
              </a:r>
              <a:r>
                <a:rPr lang="en-US" altLang="zh-CN" b="1" i="1"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2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1759" name="Rectangle 5"/>
            <p:cNvSpPr/>
            <p:nvPr/>
          </p:nvSpPr>
          <p:spPr>
            <a:xfrm>
              <a:off x="3409" y="2928"/>
              <a:ext cx="315" cy="336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P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2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1760" name="Rectangle 6"/>
            <p:cNvSpPr/>
            <p:nvPr/>
          </p:nvSpPr>
          <p:spPr>
            <a:xfrm>
              <a:off x="2640" y="2928"/>
              <a:ext cx="315" cy="336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latin typeface="Times New Roman" panose="02020603050405020304" pitchFamily="18" charset="0"/>
                </a:rPr>
                <a:t> </a:t>
              </a:r>
              <a:r>
                <a:rPr lang="en-US" altLang="zh-CN" b="1" i="1">
                  <a:latin typeface="Times New Roman" panose="02020603050405020304" pitchFamily="18" charset="0"/>
                </a:rPr>
                <a:t>P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1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1761" name="Rectangle 7"/>
            <p:cNvSpPr/>
            <p:nvPr/>
          </p:nvSpPr>
          <p:spPr>
            <a:xfrm>
              <a:off x="4318" y="2928"/>
              <a:ext cx="315" cy="336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P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3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1762" name="Rectangle 8"/>
            <p:cNvSpPr/>
            <p:nvPr/>
          </p:nvSpPr>
          <p:spPr>
            <a:xfrm>
              <a:off x="5157" y="2928"/>
              <a:ext cx="315" cy="336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i="1">
                  <a:latin typeface="Times New Roman" panose="02020603050405020304" pitchFamily="18" charset="0"/>
                </a:rPr>
                <a:t>P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4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1763" name="Line 9"/>
            <p:cNvSpPr/>
            <p:nvPr/>
          </p:nvSpPr>
          <p:spPr>
            <a:xfrm flipV="1">
              <a:off x="3164" y="1883"/>
              <a:ext cx="84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4" name="Line 10"/>
            <p:cNvSpPr/>
            <p:nvPr/>
          </p:nvSpPr>
          <p:spPr>
            <a:xfrm>
              <a:off x="3969" y="1883"/>
              <a:ext cx="944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5" name="Line 11"/>
            <p:cNvSpPr/>
            <p:nvPr/>
          </p:nvSpPr>
          <p:spPr>
            <a:xfrm>
              <a:off x="3129" y="2517"/>
              <a:ext cx="1364" cy="4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6" name="Line 12"/>
            <p:cNvSpPr/>
            <p:nvPr/>
          </p:nvSpPr>
          <p:spPr>
            <a:xfrm>
              <a:off x="3164" y="2517"/>
              <a:ext cx="385" cy="4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7" name="Line 13"/>
            <p:cNvSpPr/>
            <p:nvPr/>
          </p:nvSpPr>
          <p:spPr>
            <a:xfrm flipV="1">
              <a:off x="2780" y="2517"/>
              <a:ext cx="384" cy="4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8" name="Line 14"/>
            <p:cNvSpPr/>
            <p:nvPr/>
          </p:nvSpPr>
          <p:spPr>
            <a:xfrm flipV="1">
              <a:off x="4458" y="2517"/>
              <a:ext cx="420" cy="4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9" name="Line 15"/>
            <p:cNvSpPr/>
            <p:nvPr/>
          </p:nvSpPr>
          <p:spPr>
            <a:xfrm>
              <a:off x="4878" y="2517"/>
              <a:ext cx="454" cy="4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9477" name="Text Box 21"/>
          <p:cNvSpPr txBox="1"/>
          <p:nvPr/>
        </p:nvSpPr>
        <p:spPr>
          <a:xfrm>
            <a:off x="4191000" y="1752600"/>
            <a:ext cx="4800600" cy="519113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评价教师贡献的层次结构</a:t>
            </a:r>
          </a:p>
        </p:txBody>
      </p:sp>
      <p:sp>
        <p:nvSpPr>
          <p:cNvPr id="19482" name="Text Box 26"/>
          <p:cNvSpPr txBox="1"/>
          <p:nvPr/>
        </p:nvSpPr>
        <p:spPr>
          <a:xfrm>
            <a:off x="4648200" y="4673600"/>
            <a:ext cx="449580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只作教学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只作科研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兼作教学、科研。</a:t>
            </a:r>
          </a:p>
        </p:txBody>
      </p:sp>
      <p:sp>
        <p:nvSpPr>
          <p:cNvPr id="19484" name="Text Box 28"/>
          <p:cNvSpPr txBox="1"/>
          <p:nvPr/>
        </p:nvSpPr>
        <p:spPr>
          <a:xfrm>
            <a:off x="4648200" y="5957888"/>
            <a:ext cx="4267200" cy="519112"/>
          </a:xfrm>
          <a:prstGeom prst="rect">
            <a:avLst/>
          </a:prstGeom>
          <a:solidFill>
            <a:srgbClr val="FFCC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支配元素的数目不等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1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1000"/>
                                        <p:tgtEl>
                                          <p:spTgt spid="19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1000"/>
                                        <p:tgtEl>
                                          <p:spTgt spid="1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2" dur="1000"/>
                                        <p:tgtEl>
                                          <p:spTgt spid="1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1000"/>
                                        <p:tgtEl>
                                          <p:spTgt spid="1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5" grpId="0"/>
      <p:bldP spid="19476" grpId="0" animBg="1"/>
      <p:bldP spid="19478" grpId="0"/>
      <p:bldP spid="19479" grpId="0"/>
      <p:bldP spid="19481" grpId="0"/>
      <p:bldP spid="19477" grpId="0" animBg="1"/>
      <p:bldP spid="19482" grpId="0"/>
      <p:bldP spid="1948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241300" y="4503738"/>
          <a:ext cx="56261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9" r:id="rId3" imgW="2400300" imgH="241300" progId="Equation.DSMT4">
                  <p:embed/>
                </p:oleObj>
              </mc:Choice>
              <mc:Fallback>
                <p:oleObj r:id="rId3" imgW="2400300" imgH="241300" progId="Equation.DSMT4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300" y="4503738"/>
                        <a:ext cx="5626100" cy="628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Text Box 7"/>
          <p:cNvSpPr txBox="1"/>
          <p:nvPr/>
        </p:nvSpPr>
        <p:spPr>
          <a:xfrm>
            <a:off x="152400" y="2147888"/>
            <a:ext cx="5486400" cy="519112"/>
          </a:xfrm>
          <a:prstGeom prst="rect">
            <a:avLst/>
          </a:prstGeom>
          <a:solidFill>
            <a:srgbClr val="99FF33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不考虑支配元素数目不等的影响</a:t>
            </a:r>
          </a:p>
        </p:txBody>
      </p:sp>
      <p:grpSp>
        <p:nvGrpSpPr>
          <p:cNvPr id="20496" name="Group 16"/>
          <p:cNvGrpSpPr/>
          <p:nvPr/>
        </p:nvGrpSpPr>
        <p:grpSpPr>
          <a:xfrm>
            <a:off x="304800" y="2757488"/>
            <a:ext cx="4343400" cy="519112"/>
            <a:chOff x="336" y="1689"/>
            <a:chExt cx="2736" cy="327"/>
          </a:xfrm>
        </p:grpSpPr>
        <p:graphicFrame>
          <p:nvGraphicFramePr>
            <p:cNvPr id="32798" name="Object 6"/>
            <p:cNvGraphicFramePr>
              <a:graphicFrameLocks noChangeAspect="1"/>
            </p:cNvGraphicFramePr>
            <p:nvPr/>
          </p:nvGraphicFramePr>
          <p:xfrm>
            <a:off x="906" y="1689"/>
            <a:ext cx="1539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10" r:id="rId5" imgW="1079500" imgH="228600" progId="Equation.3">
                    <p:embed/>
                  </p:oleObj>
                </mc:Choice>
                <mc:Fallback>
                  <p:oleObj r:id="rId5" imgW="1079500" imgH="228600" progId="Equation.3">
                    <p:embed/>
                    <p:pic>
                      <p:nvPicPr>
                        <p:cNvPr id="0" name="图片 314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06" y="1689"/>
                          <a:ext cx="1539" cy="3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9" name="Text Box 8"/>
            <p:cNvSpPr txBox="1"/>
            <p:nvPr/>
          </p:nvSpPr>
          <p:spPr>
            <a:xfrm>
              <a:off x="336" y="1689"/>
              <a:ext cx="27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仍用                           计算</a:t>
              </a:r>
            </a:p>
          </p:txBody>
        </p:sp>
      </p:grpSp>
      <p:sp>
        <p:nvSpPr>
          <p:cNvPr id="20490" name="Text Box 10"/>
          <p:cNvSpPr txBox="1"/>
          <p:nvPr/>
        </p:nvSpPr>
        <p:spPr>
          <a:xfrm>
            <a:off x="228600" y="3367088"/>
            <a:ext cx="4038600" cy="519112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支配元素越多权重越大</a:t>
            </a:r>
          </a:p>
        </p:txBody>
      </p:sp>
      <p:sp>
        <p:nvSpPr>
          <p:cNvPr id="20491" name="Text Box 11"/>
          <p:cNvSpPr txBox="1"/>
          <p:nvPr/>
        </p:nvSpPr>
        <p:spPr>
          <a:xfrm>
            <a:off x="304800" y="3962400"/>
            <a:ext cx="5791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用支配元素数目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对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lang="en-US" altLang="zh-CN" sz="2800" b="1" baseline="30000"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加权修正</a:t>
            </a:r>
          </a:p>
        </p:txBody>
      </p:sp>
      <p:sp>
        <p:nvSpPr>
          <p:cNvPr id="20495" name="Text Box 15"/>
          <p:cNvSpPr txBox="1"/>
          <p:nvPr/>
        </p:nvSpPr>
        <p:spPr>
          <a:xfrm>
            <a:off x="250825" y="1628775"/>
            <a:ext cx="6400800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公正的评价应为： 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=1:1:2:1</a:t>
            </a:r>
            <a:endParaRPr lang="en-US" altLang="zh-CN" sz="2800" b="1" baseline="-25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0509" name="Group 29"/>
          <p:cNvGrpSpPr/>
          <p:nvPr/>
        </p:nvGrpSpPr>
        <p:grpSpPr>
          <a:xfrm>
            <a:off x="304800" y="5334000"/>
            <a:ext cx="4114800" cy="519113"/>
            <a:chOff x="192" y="3360"/>
            <a:chExt cx="2592" cy="327"/>
          </a:xfrm>
        </p:grpSpPr>
        <p:sp>
          <p:nvSpPr>
            <p:cNvPr id="32796" name="Text Box 19"/>
            <p:cNvSpPr txBox="1"/>
            <p:nvPr/>
          </p:nvSpPr>
          <p:spPr>
            <a:xfrm>
              <a:off x="192" y="3360"/>
              <a:ext cx="25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再用                         计算</a:t>
              </a:r>
            </a:p>
          </p:txBody>
        </p:sp>
        <p:graphicFrame>
          <p:nvGraphicFramePr>
            <p:cNvPr id="32797" name="Object 3"/>
            <p:cNvGraphicFramePr>
              <a:graphicFrameLocks noChangeAspect="1"/>
            </p:cNvGraphicFramePr>
            <p:nvPr/>
          </p:nvGraphicFramePr>
          <p:xfrm>
            <a:off x="768" y="3360"/>
            <a:ext cx="1396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11" r:id="rId7" imgW="1079500" imgH="228600" progId="Equation.3">
                    <p:embed/>
                  </p:oleObj>
                </mc:Choice>
                <mc:Fallback>
                  <p:oleObj r:id="rId7" imgW="1079500" imgH="228600" progId="Equation.3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68" y="3360"/>
                          <a:ext cx="1396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503" name="Group 23"/>
          <p:cNvGrpSpPr/>
          <p:nvPr/>
        </p:nvGrpSpPr>
        <p:grpSpPr>
          <a:xfrm>
            <a:off x="4572000" y="2743200"/>
            <a:ext cx="4038600" cy="533400"/>
            <a:chOff x="2880" y="1728"/>
            <a:chExt cx="2544" cy="336"/>
          </a:xfrm>
        </p:grpSpPr>
        <p:sp>
          <p:nvSpPr>
            <p:cNvPr id="32794" name="Text Box 17"/>
            <p:cNvSpPr txBox="1"/>
            <p:nvPr/>
          </p:nvSpPr>
          <p:spPr>
            <a:xfrm>
              <a:off x="3120" y="1737"/>
              <a:ext cx="23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w</a:t>
              </a:r>
              <a:r>
                <a:rPr lang="en-US" altLang="zh-CN" sz="2800" b="1" baseline="30000">
                  <a:latin typeface="Times New Roman" panose="02020603050405020304" pitchFamily="18" charset="0"/>
                  <a:ea typeface="楷体_GB2312" pitchFamily="49" charset="-122"/>
                </a:rPr>
                <a:t>(3)</a:t>
              </a:r>
              <a:r>
                <a:rPr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=(1/6,1/6,5/12,1/4)</a:t>
              </a:r>
              <a:r>
                <a:rPr lang="en-US" altLang="zh-CN" sz="2800" b="1" baseline="30000">
                  <a:latin typeface="Times New Roman" panose="02020603050405020304" pitchFamily="18" charset="0"/>
                  <a:ea typeface="楷体_GB2312" pitchFamily="49" charset="-122"/>
                </a:rPr>
                <a:t>T</a:t>
              </a:r>
              <a:endParaRPr lang="en-US" altLang="zh-CN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2795" name="AutoShape 21"/>
            <p:cNvSpPr/>
            <p:nvPr/>
          </p:nvSpPr>
          <p:spPr>
            <a:xfrm>
              <a:off x="2880" y="1728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504" name="Group 24"/>
          <p:cNvGrpSpPr/>
          <p:nvPr/>
        </p:nvGrpSpPr>
        <p:grpSpPr>
          <a:xfrm>
            <a:off x="4572000" y="5334000"/>
            <a:ext cx="4038600" cy="533400"/>
            <a:chOff x="2880" y="3552"/>
            <a:chExt cx="2544" cy="336"/>
          </a:xfrm>
        </p:grpSpPr>
        <p:sp>
          <p:nvSpPr>
            <p:cNvPr id="32792" name="Text Box 18"/>
            <p:cNvSpPr txBox="1"/>
            <p:nvPr/>
          </p:nvSpPr>
          <p:spPr>
            <a:xfrm>
              <a:off x="3120" y="3552"/>
              <a:ext cx="2304" cy="327"/>
            </a:xfrm>
            <a:prstGeom prst="rect">
              <a:avLst/>
            </a:prstGeom>
            <a:solidFill>
              <a:srgbClr val="FF99FF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w</a:t>
              </a:r>
              <a:r>
                <a:rPr lang="en-US" altLang="zh-CN" sz="2800" b="1" baseline="30000">
                  <a:latin typeface="Times New Roman" panose="02020603050405020304" pitchFamily="18" charset="0"/>
                  <a:ea typeface="楷体_GB2312" pitchFamily="49" charset="-122"/>
                </a:rPr>
                <a:t>(3)</a:t>
              </a:r>
              <a:r>
                <a:rPr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=(1/5,1/5,2/5,1/5)</a:t>
              </a:r>
              <a:r>
                <a:rPr lang="en-US" altLang="zh-CN" sz="2800" b="1" baseline="30000">
                  <a:latin typeface="Times New Roman" panose="02020603050405020304" pitchFamily="18" charset="0"/>
                  <a:ea typeface="楷体_GB2312" pitchFamily="49" charset="-122"/>
                </a:rPr>
                <a:t>T</a:t>
              </a:r>
              <a:endParaRPr lang="en-US" altLang="zh-CN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2793" name="AutoShape 22"/>
            <p:cNvSpPr/>
            <p:nvPr/>
          </p:nvSpPr>
          <p:spPr>
            <a:xfrm>
              <a:off x="2880" y="3582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99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20505" name="Object 25"/>
          <p:cNvGraphicFramePr>
            <a:graphicFrameLocks noChangeAspect="1"/>
          </p:cNvGraphicFramePr>
          <p:nvPr/>
        </p:nvGraphicFramePr>
        <p:xfrm>
          <a:off x="6516688" y="4022725"/>
          <a:ext cx="2270125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2" r:id="rId9" imgW="1130300" imgH="457200" progId="Equation.DSMT4">
                  <p:embed/>
                </p:oleObj>
              </mc:Choice>
              <mc:Fallback>
                <p:oleObj r:id="rId9" imgW="1130300" imgH="457200" progId="Equation.DSMT4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16688" y="4022725"/>
                        <a:ext cx="2270125" cy="10826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6" name="Text Box 26"/>
          <p:cNvSpPr txBox="1"/>
          <p:nvPr/>
        </p:nvSpPr>
        <p:spPr>
          <a:xfrm>
            <a:off x="228600" y="5957888"/>
            <a:ext cx="4038600" cy="519112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支配元素越多权重越小</a:t>
            </a:r>
          </a:p>
        </p:txBody>
      </p:sp>
      <p:sp>
        <p:nvSpPr>
          <p:cNvPr id="20507" name="Text Box 27"/>
          <p:cNvSpPr txBox="1"/>
          <p:nvPr/>
        </p:nvSpPr>
        <p:spPr>
          <a:xfrm>
            <a:off x="4419600" y="3352800"/>
            <a:ext cx="4572000" cy="519113"/>
          </a:xfrm>
          <a:prstGeom prst="rect">
            <a:avLst/>
          </a:prstGeom>
          <a:solidFill>
            <a:srgbClr val="FFCC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教学、科研任务由上级安排</a:t>
            </a:r>
          </a:p>
        </p:txBody>
      </p:sp>
      <p:sp>
        <p:nvSpPr>
          <p:cNvPr id="20508" name="Text Box 28"/>
          <p:cNvSpPr txBox="1"/>
          <p:nvPr/>
        </p:nvSpPr>
        <p:spPr>
          <a:xfrm>
            <a:off x="4419600" y="5948363"/>
            <a:ext cx="4572000" cy="519112"/>
          </a:xfrm>
          <a:prstGeom prst="rect">
            <a:avLst/>
          </a:prstGeom>
          <a:solidFill>
            <a:srgbClr val="FFCC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教学、科研靠个人积极性</a:t>
            </a:r>
          </a:p>
        </p:txBody>
      </p:sp>
      <p:sp>
        <p:nvSpPr>
          <p:cNvPr id="32783" name="Text Box 30"/>
          <p:cNvSpPr txBox="1"/>
          <p:nvPr/>
        </p:nvSpPr>
        <p:spPr>
          <a:xfrm>
            <a:off x="304800" y="395288"/>
            <a:ext cx="2754313" cy="519112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考察一个特例：</a:t>
            </a:r>
          </a:p>
        </p:txBody>
      </p:sp>
      <p:sp>
        <p:nvSpPr>
          <p:cNvPr id="20512" name="Rectangle 32"/>
          <p:cNvSpPr/>
          <p:nvPr/>
        </p:nvSpPr>
        <p:spPr>
          <a:xfrm>
            <a:off x="3276600" y="476250"/>
            <a:ext cx="27654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重要性相同</a:t>
            </a:r>
          </a:p>
        </p:txBody>
      </p:sp>
      <p:sp>
        <p:nvSpPr>
          <p:cNvPr id="20516" name="Rectangle 36"/>
          <p:cNvSpPr/>
          <p:nvPr/>
        </p:nvSpPr>
        <p:spPr>
          <a:xfrm>
            <a:off x="323850" y="1052513"/>
            <a:ext cx="24669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~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能力相同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0520" name="Group 40"/>
          <p:cNvGrpSpPr/>
          <p:nvPr/>
        </p:nvGrpSpPr>
        <p:grpSpPr>
          <a:xfrm>
            <a:off x="2843213" y="1052513"/>
            <a:ext cx="6300787" cy="519112"/>
            <a:chOff x="1791" y="663"/>
            <a:chExt cx="3969" cy="327"/>
          </a:xfrm>
        </p:grpSpPr>
        <p:sp>
          <p:nvSpPr>
            <p:cNvPr id="32790" name="Text Box 13"/>
            <p:cNvSpPr txBox="1"/>
            <p:nvPr/>
          </p:nvSpPr>
          <p:spPr>
            <a:xfrm>
              <a:off x="1904" y="663"/>
              <a:ext cx="385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w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2800" b="1" baseline="30000">
                  <a:latin typeface="Times New Roman" panose="02020603050405020304" pitchFamily="18" charset="0"/>
                  <a:ea typeface="楷体_GB2312" pitchFamily="49" charset="-122"/>
                </a:rPr>
                <a:t>(3)</a:t>
              </a:r>
              <a:r>
                <a:rPr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=(1/3,1/3,1/3,0)</a:t>
              </a:r>
              <a:r>
                <a:rPr lang="en-US" altLang="zh-CN" sz="2800" b="1" baseline="30000">
                  <a:latin typeface="Times New Roman" panose="02020603050405020304" pitchFamily="18" charset="0"/>
                  <a:ea typeface="楷体_GB2312" pitchFamily="49" charset="-122"/>
                </a:rPr>
                <a:t>T</a:t>
              </a: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,w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en-US" altLang="zh-CN" sz="2800" b="1" baseline="30000">
                  <a:latin typeface="Times New Roman" panose="02020603050405020304" pitchFamily="18" charset="0"/>
                  <a:ea typeface="楷体_GB2312" pitchFamily="49" charset="-122"/>
                </a:rPr>
                <a:t>(3)</a:t>
              </a:r>
              <a:r>
                <a:rPr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=(0,0,1/2,1/2)</a:t>
              </a:r>
              <a:r>
                <a:rPr lang="en-US" altLang="zh-CN" sz="2800" b="1" baseline="30000">
                  <a:latin typeface="Times New Roman" panose="02020603050405020304" pitchFamily="18" charset="0"/>
                  <a:ea typeface="楷体_GB2312" pitchFamily="49" charset="-122"/>
                </a:rPr>
                <a:t>T</a:t>
              </a:r>
            </a:p>
          </p:txBody>
        </p:sp>
        <p:sp>
          <p:nvSpPr>
            <p:cNvPr id="32791" name="AutoShape 37"/>
            <p:cNvSpPr/>
            <p:nvPr/>
          </p:nvSpPr>
          <p:spPr>
            <a:xfrm>
              <a:off x="1791" y="675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519" name="Group 39"/>
          <p:cNvGrpSpPr/>
          <p:nvPr/>
        </p:nvGrpSpPr>
        <p:grpSpPr>
          <a:xfrm>
            <a:off x="6156325" y="476250"/>
            <a:ext cx="2479675" cy="519113"/>
            <a:chOff x="3878" y="300"/>
            <a:chExt cx="1562" cy="327"/>
          </a:xfrm>
        </p:grpSpPr>
        <p:sp>
          <p:nvSpPr>
            <p:cNvPr id="32788" name="Rectangle 34"/>
            <p:cNvSpPr/>
            <p:nvPr/>
          </p:nvSpPr>
          <p:spPr>
            <a:xfrm>
              <a:off x="4014" y="300"/>
              <a:ext cx="14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w</a:t>
              </a:r>
              <a:r>
                <a:rPr lang="en-US" altLang="zh-CN" sz="2800" b="1" baseline="30000">
                  <a:latin typeface="Times New Roman" panose="02020603050405020304" pitchFamily="18" charset="0"/>
                  <a:ea typeface="楷体_GB2312" pitchFamily="49" charset="-122"/>
                </a:rPr>
                <a:t>(2)</a:t>
              </a:r>
              <a:r>
                <a:rPr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=(1/2,1/2</a:t>
              </a:r>
              <a:r>
                <a:rPr lang="en-US" altLang="zh-CN" sz="2800" b="1" baseline="30000">
                  <a:latin typeface="Times New Roman" panose="02020603050405020304" pitchFamily="18" charset="0"/>
                  <a:ea typeface="楷体_GB2312" pitchFamily="49" charset="-122"/>
                </a:rPr>
                <a:t>)T</a:t>
              </a:r>
            </a:p>
          </p:txBody>
        </p:sp>
        <p:sp>
          <p:nvSpPr>
            <p:cNvPr id="32789" name="AutoShape 38"/>
            <p:cNvSpPr/>
            <p:nvPr/>
          </p:nvSpPr>
          <p:spPr>
            <a:xfrm>
              <a:off x="3878" y="300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2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1" dur="10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10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1" dur="1000"/>
                                        <p:tgtEl>
                                          <p:spTgt spid="2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1000"/>
                                        <p:tgtEl>
                                          <p:spTgt spid="2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2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0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0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05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05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7" grpId="0" animBg="1"/>
      <p:bldP spid="20490" grpId="0" animBg="1"/>
      <p:bldP spid="20491" grpId="0"/>
      <p:bldP spid="20495" grpId="0" animBg="1"/>
      <p:bldP spid="20506" grpId="0" animBg="1"/>
      <p:bldP spid="20507" grpId="0" animBg="1"/>
      <p:bldP spid="20508" grpId="0" animBg="1"/>
      <p:bldP spid="20512" grpId="0"/>
      <p:bldP spid="2051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/>
          <p:nvPr/>
        </p:nvSpPr>
        <p:spPr>
          <a:xfrm>
            <a:off x="609600" y="457200"/>
            <a:ext cx="4495800" cy="519113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5.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残缺成对比较阵的处理</a:t>
            </a:r>
          </a:p>
        </p:txBody>
      </p:sp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1474788" y="3208338"/>
          <a:ext cx="123983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0" r:id="rId3" imgW="609600" imgH="177800" progId="Equation.DSMT4">
                  <p:embed/>
                </p:oleObj>
              </mc:Choice>
              <mc:Fallback>
                <p:oleObj r:id="rId3" imgW="609600" imgH="1778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4788" y="3208338"/>
                        <a:ext cx="1239837" cy="3587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860" name="Group 20"/>
          <p:cNvGrpSpPr/>
          <p:nvPr/>
        </p:nvGrpSpPr>
        <p:grpSpPr>
          <a:xfrm>
            <a:off x="971550" y="4189413"/>
            <a:ext cx="1827213" cy="1962150"/>
            <a:chOff x="612" y="2639"/>
            <a:chExt cx="1151" cy="1236"/>
          </a:xfrm>
        </p:grpSpPr>
        <p:graphicFrame>
          <p:nvGraphicFramePr>
            <p:cNvPr id="33871" name="Object 7"/>
            <p:cNvGraphicFramePr>
              <a:graphicFrameLocks noChangeAspect="1"/>
            </p:cNvGraphicFramePr>
            <p:nvPr/>
          </p:nvGraphicFramePr>
          <p:xfrm>
            <a:off x="612" y="3100"/>
            <a:ext cx="1151" cy="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41" r:id="rId5" imgW="1155700" imgH="711200" progId="Equation.DSMT4">
                    <p:embed/>
                  </p:oleObj>
                </mc:Choice>
                <mc:Fallback>
                  <p:oleObj r:id="rId5" imgW="1155700" imgH="711200" progId="Equation.DSMT4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12" y="3100"/>
                          <a:ext cx="1151" cy="775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72" name="Object 8"/>
            <p:cNvGraphicFramePr>
              <a:graphicFrameLocks noChangeAspect="1"/>
            </p:cNvGraphicFramePr>
            <p:nvPr/>
          </p:nvGraphicFramePr>
          <p:xfrm>
            <a:off x="893" y="2639"/>
            <a:ext cx="843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42" r:id="rId7" imgW="622300" imgH="203200" progId="Equation.DSMT4">
                    <p:embed/>
                  </p:oleObj>
                </mc:Choice>
                <mc:Fallback>
                  <p:oleObj r:id="rId7" imgW="622300" imgH="203200" progId="Equation.DSMT4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93" y="2639"/>
                          <a:ext cx="843" cy="274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849" name="Object 9"/>
          <p:cNvGraphicFramePr>
            <a:graphicFrameLocks noChangeAspect="1"/>
          </p:cNvGraphicFramePr>
          <p:nvPr/>
        </p:nvGraphicFramePr>
        <p:xfrm>
          <a:off x="3179763" y="4692650"/>
          <a:ext cx="3395662" cy="152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3" r:id="rId9" imgW="1638300" imgH="736600" progId="Equation.3">
                  <p:embed/>
                </p:oleObj>
              </mc:Choice>
              <mc:Fallback>
                <p:oleObj r:id="rId9" imgW="1638300" imgH="7366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79763" y="4692650"/>
                        <a:ext cx="3395662" cy="15255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0" name="Text Box 10"/>
          <p:cNvSpPr txBox="1"/>
          <p:nvPr/>
        </p:nvSpPr>
        <p:spPr>
          <a:xfrm>
            <a:off x="6805613" y="5013325"/>
            <a:ext cx="1943100" cy="11176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i="1" err="1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en-US" altLang="zh-CN" sz="2800" b="1" i="1" baseline="-2500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err="1">
                <a:latin typeface="Times New Roman" panose="02020603050405020304" pitchFamily="18" charset="0"/>
                <a:ea typeface="楷体_GB2312" pitchFamily="49" charset="-122"/>
              </a:rPr>
              <a:t>~</a:t>
            </a:r>
            <a:r>
              <a:rPr lang="en-US" altLang="zh-CN" sz="2800" b="1" i="1" err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第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i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行中</a:t>
            </a:r>
            <a:r>
              <a:rPr lang="zh-CN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的个数</a:t>
            </a:r>
          </a:p>
        </p:txBody>
      </p:sp>
      <p:grpSp>
        <p:nvGrpSpPr>
          <p:cNvPr id="35858" name="Group 18"/>
          <p:cNvGrpSpPr/>
          <p:nvPr/>
        </p:nvGrpSpPr>
        <p:grpSpPr>
          <a:xfrm>
            <a:off x="3492500" y="1557338"/>
            <a:ext cx="1676400" cy="976312"/>
            <a:chOff x="2208" y="960"/>
            <a:chExt cx="1104" cy="615"/>
          </a:xfrm>
        </p:grpSpPr>
        <p:sp>
          <p:nvSpPr>
            <p:cNvPr id="33869" name="Text Box 12"/>
            <p:cNvSpPr txBox="1"/>
            <p:nvPr/>
          </p:nvSpPr>
          <p:spPr>
            <a:xfrm>
              <a:off x="2208" y="1248"/>
              <a:ext cx="1104" cy="327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辅助矩阵</a:t>
              </a:r>
            </a:p>
          </p:txBody>
        </p:sp>
        <p:sp>
          <p:nvSpPr>
            <p:cNvPr id="33870" name="AutoShape 13"/>
            <p:cNvSpPr/>
            <p:nvPr/>
          </p:nvSpPr>
          <p:spPr>
            <a:xfrm>
              <a:off x="2448" y="960"/>
              <a:ext cx="480" cy="24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5859" name="Group 19"/>
          <p:cNvGrpSpPr/>
          <p:nvPr/>
        </p:nvGrpSpPr>
        <p:grpSpPr>
          <a:xfrm>
            <a:off x="3124200" y="3198813"/>
            <a:ext cx="5400675" cy="423862"/>
            <a:chOff x="1968" y="2015"/>
            <a:chExt cx="3402" cy="267"/>
          </a:xfrm>
        </p:grpSpPr>
        <p:graphicFrame>
          <p:nvGraphicFramePr>
            <p:cNvPr id="33867" name="Object 6"/>
            <p:cNvGraphicFramePr>
              <a:graphicFrameLocks noChangeAspect="1"/>
            </p:cNvGraphicFramePr>
            <p:nvPr/>
          </p:nvGraphicFramePr>
          <p:xfrm>
            <a:off x="2597" y="2015"/>
            <a:ext cx="2773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44" r:id="rId11" imgW="2222500" imgH="228600" progId="Equation.DSMT4">
                    <p:embed/>
                  </p:oleObj>
                </mc:Choice>
                <mc:Fallback>
                  <p:oleObj r:id="rId11" imgW="2222500" imgH="228600" progId="Equation.DSMT4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597" y="2015"/>
                          <a:ext cx="2773" cy="267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68" name="AutoShape 14"/>
            <p:cNvSpPr/>
            <p:nvPr/>
          </p:nvSpPr>
          <p:spPr>
            <a:xfrm>
              <a:off x="1968" y="2016"/>
              <a:ext cx="192" cy="240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5855" name="AutoShape 15"/>
          <p:cNvSpPr/>
          <p:nvPr/>
        </p:nvSpPr>
        <p:spPr>
          <a:xfrm>
            <a:off x="1828800" y="3733800"/>
            <a:ext cx="409575" cy="304800"/>
          </a:xfrm>
          <a:prstGeom prst="upDownArrow">
            <a:avLst>
              <a:gd name="adj1" fmla="val 50000"/>
              <a:gd name="adj2" fmla="val 2000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35891" name="Group 51"/>
          <p:cNvGrpSpPr/>
          <p:nvPr/>
        </p:nvGrpSpPr>
        <p:grpSpPr>
          <a:xfrm>
            <a:off x="323850" y="1125538"/>
            <a:ext cx="3001963" cy="2005012"/>
            <a:chOff x="204" y="709"/>
            <a:chExt cx="1891" cy="1263"/>
          </a:xfrm>
        </p:grpSpPr>
        <p:sp>
          <p:nvSpPr>
            <p:cNvPr id="33838" name="Text Box 11"/>
            <p:cNvSpPr txBox="1"/>
            <p:nvPr/>
          </p:nvSpPr>
          <p:spPr>
            <a:xfrm>
              <a:off x="596" y="1645"/>
              <a:ext cx="148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</a:t>
              </a:r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为残缺元素</a:t>
              </a:r>
            </a:p>
          </p:txBody>
        </p:sp>
        <p:sp>
          <p:nvSpPr>
            <p:cNvPr id="33839" name="Text Box 22"/>
            <p:cNvSpPr txBox="1"/>
            <p:nvPr/>
          </p:nvSpPr>
          <p:spPr>
            <a:xfrm>
              <a:off x="204" y="981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例</a:t>
              </a:r>
            </a:p>
          </p:txBody>
        </p:sp>
        <p:grpSp>
          <p:nvGrpSpPr>
            <p:cNvPr id="33840" name="Group 25"/>
            <p:cNvGrpSpPr>
              <a:grpSpLocks noChangeAspect="1"/>
            </p:cNvGrpSpPr>
            <p:nvPr/>
          </p:nvGrpSpPr>
          <p:grpSpPr>
            <a:xfrm>
              <a:off x="567" y="709"/>
              <a:ext cx="1528" cy="973"/>
              <a:chOff x="567" y="709"/>
              <a:chExt cx="1528" cy="973"/>
            </a:xfrm>
          </p:grpSpPr>
          <p:sp>
            <p:nvSpPr>
              <p:cNvPr id="33841" name="AutoShape 24"/>
              <p:cNvSpPr>
                <a:spLocks noChangeAspect="1" noTextEdit="1"/>
              </p:cNvSpPr>
              <p:nvPr/>
            </p:nvSpPr>
            <p:spPr>
              <a:xfrm>
                <a:off x="567" y="709"/>
                <a:ext cx="1442" cy="9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42" name="Rectangle 26"/>
              <p:cNvSpPr/>
              <p:nvPr/>
            </p:nvSpPr>
            <p:spPr>
              <a:xfrm>
                <a:off x="1906" y="1317"/>
                <a:ext cx="189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ú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43" name="Rectangle 27"/>
              <p:cNvSpPr/>
              <p:nvPr/>
            </p:nvSpPr>
            <p:spPr>
              <a:xfrm>
                <a:off x="1906" y="1125"/>
                <a:ext cx="189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ú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44" name="Rectangle 28"/>
              <p:cNvSpPr/>
              <p:nvPr/>
            </p:nvSpPr>
            <p:spPr>
              <a:xfrm>
                <a:off x="1906" y="932"/>
                <a:ext cx="189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ú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45" name="Rectangle 29"/>
              <p:cNvSpPr/>
              <p:nvPr/>
            </p:nvSpPr>
            <p:spPr>
              <a:xfrm>
                <a:off x="1906" y="1382"/>
                <a:ext cx="189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û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46" name="Rectangle 30"/>
              <p:cNvSpPr/>
              <p:nvPr/>
            </p:nvSpPr>
            <p:spPr>
              <a:xfrm>
                <a:off x="1906" y="739"/>
                <a:ext cx="189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ù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47" name="Rectangle 31"/>
              <p:cNvSpPr/>
              <p:nvPr/>
            </p:nvSpPr>
            <p:spPr>
              <a:xfrm>
                <a:off x="909" y="1317"/>
                <a:ext cx="189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ê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48" name="Rectangle 32"/>
              <p:cNvSpPr/>
              <p:nvPr/>
            </p:nvSpPr>
            <p:spPr>
              <a:xfrm>
                <a:off x="909" y="1125"/>
                <a:ext cx="189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ê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49" name="Rectangle 33"/>
              <p:cNvSpPr/>
              <p:nvPr/>
            </p:nvSpPr>
            <p:spPr>
              <a:xfrm>
                <a:off x="909" y="932"/>
                <a:ext cx="189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ê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50" name="Rectangle 34"/>
              <p:cNvSpPr/>
              <p:nvPr/>
            </p:nvSpPr>
            <p:spPr>
              <a:xfrm>
                <a:off x="909" y="1382"/>
                <a:ext cx="189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ë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51" name="Rectangle 35"/>
              <p:cNvSpPr/>
              <p:nvPr/>
            </p:nvSpPr>
            <p:spPr>
              <a:xfrm>
                <a:off x="909" y="739"/>
                <a:ext cx="189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é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52" name="Rectangle 36"/>
              <p:cNvSpPr/>
              <p:nvPr/>
            </p:nvSpPr>
            <p:spPr>
              <a:xfrm>
                <a:off x="761" y="1026"/>
                <a:ext cx="221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=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53" name="Rectangle 37"/>
              <p:cNvSpPr/>
              <p:nvPr/>
            </p:nvSpPr>
            <p:spPr>
              <a:xfrm>
                <a:off x="1784" y="1351"/>
                <a:ext cx="173" cy="2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54" name="Rectangle 38"/>
              <p:cNvSpPr/>
              <p:nvPr/>
            </p:nvSpPr>
            <p:spPr>
              <a:xfrm>
                <a:off x="1537" y="1351"/>
                <a:ext cx="173" cy="2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55" name="Rectangle 39"/>
              <p:cNvSpPr/>
              <p:nvPr/>
            </p:nvSpPr>
            <p:spPr>
              <a:xfrm>
                <a:off x="1453" y="1351"/>
                <a:ext cx="130" cy="2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/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56" name="Rectangle 40"/>
              <p:cNvSpPr/>
              <p:nvPr/>
            </p:nvSpPr>
            <p:spPr>
              <a:xfrm>
                <a:off x="1348" y="1351"/>
                <a:ext cx="173" cy="2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57" name="Rectangle 41"/>
              <p:cNvSpPr/>
              <p:nvPr/>
            </p:nvSpPr>
            <p:spPr>
              <a:xfrm>
                <a:off x="1758" y="1049"/>
                <a:ext cx="173" cy="2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58" name="Rectangle 42"/>
              <p:cNvSpPr/>
              <p:nvPr/>
            </p:nvSpPr>
            <p:spPr>
              <a:xfrm>
                <a:off x="1400" y="1049"/>
                <a:ext cx="173" cy="2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59" name="Rectangle 43"/>
              <p:cNvSpPr/>
              <p:nvPr/>
            </p:nvSpPr>
            <p:spPr>
              <a:xfrm>
                <a:off x="1153" y="1049"/>
                <a:ext cx="173" cy="2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60" name="Rectangle 44"/>
              <p:cNvSpPr/>
              <p:nvPr/>
            </p:nvSpPr>
            <p:spPr>
              <a:xfrm>
                <a:off x="1069" y="1049"/>
                <a:ext cx="130" cy="2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/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61" name="Rectangle 45"/>
              <p:cNvSpPr/>
              <p:nvPr/>
            </p:nvSpPr>
            <p:spPr>
              <a:xfrm>
                <a:off x="964" y="1049"/>
                <a:ext cx="173" cy="2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62" name="Rectangle 46"/>
              <p:cNvSpPr/>
              <p:nvPr/>
            </p:nvSpPr>
            <p:spPr>
              <a:xfrm>
                <a:off x="1427" y="748"/>
                <a:ext cx="173" cy="2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63" name="Rectangle 47"/>
              <p:cNvSpPr/>
              <p:nvPr/>
            </p:nvSpPr>
            <p:spPr>
              <a:xfrm>
                <a:off x="1069" y="748"/>
                <a:ext cx="173" cy="2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64" name="Rectangle 48"/>
              <p:cNvSpPr/>
              <p:nvPr/>
            </p:nvSpPr>
            <p:spPr>
              <a:xfrm>
                <a:off x="1072" y="1328"/>
                <a:ext cx="104" cy="2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 b="1" i="1">
                    <a:solidFill>
                      <a:srgbClr val="FF0000"/>
                    </a:solidFill>
                    <a:latin typeface="Symbol" panose="05050102010706020507" pitchFamily="18" charset="2"/>
                  </a:rPr>
                  <a:t>q</a:t>
                </a:r>
                <a:endParaRPr lang="en-US" altLang="zh-CN" b="1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65" name="Rectangle 49"/>
              <p:cNvSpPr/>
              <p:nvPr/>
            </p:nvSpPr>
            <p:spPr>
              <a:xfrm>
                <a:off x="1781" y="725"/>
                <a:ext cx="104" cy="2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 b="1" i="1">
                    <a:solidFill>
                      <a:srgbClr val="FF0000"/>
                    </a:solidFill>
                    <a:latin typeface="Symbol" panose="05050102010706020507" pitchFamily="18" charset="2"/>
                  </a:rPr>
                  <a:t>q</a:t>
                </a:r>
                <a:endParaRPr lang="en-US" altLang="zh-CN" b="1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66" name="Rectangle 50"/>
              <p:cNvSpPr/>
              <p:nvPr/>
            </p:nvSpPr>
            <p:spPr>
              <a:xfrm>
                <a:off x="610" y="1049"/>
                <a:ext cx="133" cy="2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500" b="1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</a:t>
                </a:r>
                <a:endParaRPr lang="en-US" altLang="zh-CN" b="1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5927" name="Group 87"/>
          <p:cNvGrpSpPr/>
          <p:nvPr/>
        </p:nvGrpSpPr>
        <p:grpSpPr>
          <a:xfrm>
            <a:off x="5208588" y="990600"/>
            <a:ext cx="3173412" cy="1492250"/>
            <a:chOff x="3281" y="624"/>
            <a:chExt cx="1999" cy="940"/>
          </a:xfrm>
        </p:grpSpPr>
        <p:sp>
          <p:nvSpPr>
            <p:cNvPr id="33804" name="AutoShape 52"/>
            <p:cNvSpPr>
              <a:spLocks noChangeAspect="1" noTextEdit="1"/>
            </p:cNvSpPr>
            <p:nvPr/>
          </p:nvSpPr>
          <p:spPr>
            <a:xfrm>
              <a:off x="3281" y="624"/>
              <a:ext cx="1999" cy="94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5" name="Rectangle 54"/>
            <p:cNvSpPr/>
            <p:nvPr/>
          </p:nvSpPr>
          <p:spPr>
            <a:xfrm>
              <a:off x="5174" y="1243"/>
              <a:ext cx="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>
                  <a:solidFill>
                    <a:srgbClr val="000000"/>
                  </a:solidFill>
                  <a:latin typeface="Symbol" panose="05050102010706020507" pitchFamily="18" charset="2"/>
                </a:rPr>
                <a:t>ú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806" name="Rectangle 55"/>
            <p:cNvSpPr/>
            <p:nvPr/>
          </p:nvSpPr>
          <p:spPr>
            <a:xfrm>
              <a:off x="5174" y="1043"/>
              <a:ext cx="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>
                  <a:solidFill>
                    <a:srgbClr val="000000"/>
                  </a:solidFill>
                  <a:latin typeface="Symbol" panose="05050102010706020507" pitchFamily="18" charset="2"/>
                </a:rPr>
                <a:t>ú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807" name="Rectangle 56"/>
            <p:cNvSpPr/>
            <p:nvPr/>
          </p:nvSpPr>
          <p:spPr>
            <a:xfrm>
              <a:off x="5174" y="843"/>
              <a:ext cx="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>
                  <a:solidFill>
                    <a:srgbClr val="000000"/>
                  </a:solidFill>
                  <a:latin typeface="Symbol" panose="05050102010706020507" pitchFamily="18" charset="2"/>
                </a:rPr>
                <a:t>ú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808" name="Rectangle 57"/>
            <p:cNvSpPr/>
            <p:nvPr/>
          </p:nvSpPr>
          <p:spPr>
            <a:xfrm>
              <a:off x="5174" y="1309"/>
              <a:ext cx="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>
                  <a:solidFill>
                    <a:srgbClr val="000000"/>
                  </a:solidFill>
                  <a:latin typeface="Symbol" panose="05050102010706020507" pitchFamily="18" charset="2"/>
                </a:rPr>
                <a:t>û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809" name="Rectangle 58"/>
            <p:cNvSpPr/>
            <p:nvPr/>
          </p:nvSpPr>
          <p:spPr>
            <a:xfrm>
              <a:off x="5174" y="643"/>
              <a:ext cx="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>
                  <a:solidFill>
                    <a:srgbClr val="000000"/>
                  </a:solidFill>
                  <a:latin typeface="Symbol" panose="05050102010706020507" pitchFamily="18" charset="2"/>
                </a:rPr>
                <a:t>ù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810" name="Rectangle 59"/>
            <p:cNvSpPr/>
            <p:nvPr/>
          </p:nvSpPr>
          <p:spPr>
            <a:xfrm>
              <a:off x="3627" y="1243"/>
              <a:ext cx="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>
                  <a:solidFill>
                    <a:srgbClr val="000000"/>
                  </a:solidFill>
                  <a:latin typeface="Symbol" panose="05050102010706020507" pitchFamily="18" charset="2"/>
                </a:rPr>
                <a:t>ê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811" name="Rectangle 60"/>
            <p:cNvSpPr/>
            <p:nvPr/>
          </p:nvSpPr>
          <p:spPr>
            <a:xfrm>
              <a:off x="3627" y="1043"/>
              <a:ext cx="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>
                  <a:solidFill>
                    <a:srgbClr val="000000"/>
                  </a:solidFill>
                  <a:latin typeface="Symbol" panose="05050102010706020507" pitchFamily="18" charset="2"/>
                </a:rPr>
                <a:t>ê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812" name="Rectangle 61"/>
            <p:cNvSpPr/>
            <p:nvPr/>
          </p:nvSpPr>
          <p:spPr>
            <a:xfrm>
              <a:off x="3627" y="843"/>
              <a:ext cx="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>
                  <a:solidFill>
                    <a:srgbClr val="000000"/>
                  </a:solidFill>
                  <a:latin typeface="Symbol" panose="05050102010706020507" pitchFamily="18" charset="2"/>
                </a:rPr>
                <a:t>ê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813" name="Rectangle 62"/>
            <p:cNvSpPr/>
            <p:nvPr/>
          </p:nvSpPr>
          <p:spPr>
            <a:xfrm>
              <a:off x="3627" y="1309"/>
              <a:ext cx="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>
                  <a:solidFill>
                    <a:srgbClr val="000000"/>
                  </a:solidFill>
                  <a:latin typeface="Symbol" panose="05050102010706020507" pitchFamily="18" charset="2"/>
                </a:rPr>
                <a:t>ë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814" name="Rectangle 63"/>
            <p:cNvSpPr/>
            <p:nvPr/>
          </p:nvSpPr>
          <p:spPr>
            <a:xfrm>
              <a:off x="3627" y="643"/>
              <a:ext cx="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>
                  <a:solidFill>
                    <a:srgbClr val="000000"/>
                  </a:solidFill>
                  <a:latin typeface="Symbol" panose="05050102010706020507" pitchFamily="18" charset="2"/>
                </a:rPr>
                <a:t>é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815" name="Rectangle 64"/>
            <p:cNvSpPr/>
            <p:nvPr/>
          </p:nvSpPr>
          <p:spPr>
            <a:xfrm>
              <a:off x="3477" y="940"/>
              <a:ext cx="1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816" name="Rectangle 65"/>
            <p:cNvSpPr/>
            <p:nvPr/>
          </p:nvSpPr>
          <p:spPr>
            <a:xfrm>
              <a:off x="4827" y="1275"/>
              <a:ext cx="10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817" name="Rectangle 66"/>
            <p:cNvSpPr/>
            <p:nvPr/>
          </p:nvSpPr>
          <p:spPr>
            <a:xfrm>
              <a:off x="4522" y="1275"/>
              <a:ext cx="10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818" name="Rectangle 67"/>
            <p:cNvSpPr/>
            <p:nvPr/>
          </p:nvSpPr>
          <p:spPr>
            <a:xfrm>
              <a:off x="4439" y="1275"/>
              <a:ext cx="5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819" name="Rectangle 68"/>
            <p:cNvSpPr/>
            <p:nvPr/>
          </p:nvSpPr>
          <p:spPr>
            <a:xfrm>
              <a:off x="4334" y="1275"/>
              <a:ext cx="10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820" name="Rectangle 69"/>
            <p:cNvSpPr/>
            <p:nvPr/>
          </p:nvSpPr>
          <p:spPr>
            <a:xfrm>
              <a:off x="3917" y="1275"/>
              <a:ext cx="5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/</a:t>
              </a:r>
              <a:endParaRPr lang="en-US" altLang="zh-CN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821" name="Rectangle 70"/>
            <p:cNvSpPr/>
            <p:nvPr/>
          </p:nvSpPr>
          <p:spPr>
            <a:xfrm>
              <a:off x="4866" y="964"/>
              <a:ext cx="10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822" name="Rectangle 71"/>
            <p:cNvSpPr/>
            <p:nvPr/>
          </p:nvSpPr>
          <p:spPr>
            <a:xfrm>
              <a:off x="4418" y="964"/>
              <a:ext cx="10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823" name="Rectangle 72"/>
            <p:cNvSpPr/>
            <p:nvPr/>
          </p:nvSpPr>
          <p:spPr>
            <a:xfrm>
              <a:off x="3976" y="964"/>
              <a:ext cx="10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824" name="Rectangle 73"/>
            <p:cNvSpPr/>
            <p:nvPr/>
          </p:nvSpPr>
          <p:spPr>
            <a:xfrm>
              <a:off x="3893" y="964"/>
              <a:ext cx="5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825" name="Rectangle 74"/>
            <p:cNvSpPr/>
            <p:nvPr/>
          </p:nvSpPr>
          <p:spPr>
            <a:xfrm>
              <a:off x="3788" y="964"/>
              <a:ext cx="10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826" name="Rectangle 75"/>
            <p:cNvSpPr/>
            <p:nvPr/>
          </p:nvSpPr>
          <p:spPr>
            <a:xfrm>
              <a:off x="4900" y="649"/>
              <a:ext cx="5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/</a:t>
              </a:r>
              <a:endParaRPr lang="en-US" altLang="zh-CN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827" name="Rectangle 76"/>
            <p:cNvSpPr/>
            <p:nvPr/>
          </p:nvSpPr>
          <p:spPr>
            <a:xfrm>
              <a:off x="4426" y="649"/>
              <a:ext cx="10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828" name="Rectangle 77"/>
            <p:cNvSpPr/>
            <p:nvPr/>
          </p:nvSpPr>
          <p:spPr>
            <a:xfrm>
              <a:off x="3874" y="649"/>
              <a:ext cx="10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829" name="Rectangle 78"/>
            <p:cNvSpPr/>
            <p:nvPr/>
          </p:nvSpPr>
          <p:spPr>
            <a:xfrm>
              <a:off x="4116" y="1425"/>
              <a:ext cx="48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830" name="Rectangle 79"/>
            <p:cNvSpPr/>
            <p:nvPr/>
          </p:nvSpPr>
          <p:spPr>
            <a:xfrm>
              <a:off x="3827" y="1425"/>
              <a:ext cx="48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831" name="Rectangle 80"/>
            <p:cNvSpPr/>
            <p:nvPr/>
          </p:nvSpPr>
          <p:spPr>
            <a:xfrm>
              <a:off x="5106" y="798"/>
              <a:ext cx="48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832" name="Rectangle 81"/>
            <p:cNvSpPr/>
            <p:nvPr/>
          </p:nvSpPr>
          <p:spPr>
            <a:xfrm>
              <a:off x="4814" y="798"/>
              <a:ext cx="48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833" name="Rectangle 82"/>
            <p:cNvSpPr/>
            <p:nvPr/>
          </p:nvSpPr>
          <p:spPr>
            <a:xfrm>
              <a:off x="4003" y="1275"/>
              <a:ext cx="13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w</a:t>
              </a:r>
              <a:endParaRPr lang="en-US" altLang="zh-CN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834" name="Rectangle 83"/>
            <p:cNvSpPr/>
            <p:nvPr/>
          </p:nvSpPr>
          <p:spPr>
            <a:xfrm>
              <a:off x="3708" y="1275"/>
              <a:ext cx="13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w</a:t>
              </a:r>
              <a:endParaRPr lang="en-US" altLang="zh-CN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835" name="Rectangle 84"/>
            <p:cNvSpPr/>
            <p:nvPr/>
          </p:nvSpPr>
          <p:spPr>
            <a:xfrm>
              <a:off x="4986" y="649"/>
              <a:ext cx="13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w</a:t>
              </a:r>
              <a:endParaRPr lang="en-US" altLang="zh-CN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836" name="Rectangle 85"/>
            <p:cNvSpPr/>
            <p:nvPr/>
          </p:nvSpPr>
          <p:spPr>
            <a:xfrm>
              <a:off x="4702" y="649"/>
              <a:ext cx="13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w</a:t>
              </a:r>
              <a:endParaRPr lang="en-US" altLang="zh-CN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837" name="Rectangle 86"/>
            <p:cNvSpPr/>
            <p:nvPr/>
          </p:nvSpPr>
          <p:spPr>
            <a:xfrm>
              <a:off x="3298" y="964"/>
              <a:ext cx="13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35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10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1000"/>
                                        <p:tgtEl>
                                          <p:spTgt spid="3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1000"/>
                                        <p:tgtEl>
                                          <p:spTgt spid="3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10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35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5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50" grpId="0" animBg="1"/>
      <p:bldP spid="3585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/>
          <p:nvPr/>
        </p:nvSpPr>
        <p:spPr>
          <a:xfrm>
            <a:off x="609600" y="381000"/>
            <a:ext cx="3886200" cy="519113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6.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更复杂的层次结构</a:t>
            </a:r>
          </a:p>
        </p:txBody>
      </p:sp>
      <p:sp>
        <p:nvSpPr>
          <p:cNvPr id="38915" name="Text Box 3"/>
          <p:cNvSpPr txBox="1"/>
          <p:nvPr/>
        </p:nvSpPr>
        <p:spPr>
          <a:xfrm>
            <a:off x="533400" y="838200"/>
            <a:ext cx="8153400" cy="1138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递阶层次结构：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层内各元素独立，无相互影响和</a:t>
            </a: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 支配；层间自上而下、逐层传递，无反馈和循环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38916" name="Text Box 4"/>
          <p:cNvSpPr txBox="1"/>
          <p:nvPr/>
        </p:nvSpPr>
        <p:spPr>
          <a:xfrm>
            <a:off x="533400" y="1905000"/>
            <a:ext cx="8153400" cy="1138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更复杂的层次结构：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层内各元素间存在相互影响</a:t>
            </a: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  或支配；层间存在反馈或循环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38981" name="Group 69"/>
          <p:cNvGrpSpPr/>
          <p:nvPr/>
        </p:nvGrpSpPr>
        <p:grpSpPr>
          <a:xfrm>
            <a:off x="228600" y="3124200"/>
            <a:ext cx="8534400" cy="3414713"/>
            <a:chOff x="144" y="1968"/>
            <a:chExt cx="5376" cy="2151"/>
          </a:xfrm>
        </p:grpSpPr>
        <p:grpSp>
          <p:nvGrpSpPr>
            <p:cNvPr id="34823" name="Group 34"/>
            <p:cNvGrpSpPr/>
            <p:nvPr/>
          </p:nvGrpSpPr>
          <p:grpSpPr>
            <a:xfrm>
              <a:off x="144" y="3120"/>
              <a:ext cx="5376" cy="288"/>
              <a:chOff x="144" y="3216"/>
              <a:chExt cx="5376" cy="288"/>
            </a:xfrm>
          </p:grpSpPr>
          <p:sp>
            <p:nvSpPr>
              <p:cNvPr id="34866" name="Text Box 6"/>
              <p:cNvSpPr txBox="1"/>
              <p:nvPr/>
            </p:nvSpPr>
            <p:spPr>
              <a:xfrm>
                <a:off x="144" y="3216"/>
                <a:ext cx="52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18" charset="0"/>
                    <a:ea typeface="楷体_GB2312" pitchFamily="49" charset="-122"/>
                  </a:rPr>
                  <a:t>制动</a:t>
                </a:r>
              </a:p>
            </p:txBody>
          </p:sp>
          <p:sp>
            <p:nvSpPr>
              <p:cNvPr id="34867" name="Text Box 7"/>
              <p:cNvSpPr txBox="1"/>
              <p:nvPr/>
            </p:nvSpPr>
            <p:spPr>
              <a:xfrm>
                <a:off x="1872" y="3216"/>
                <a:ext cx="52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18" charset="0"/>
                    <a:ea typeface="楷体_GB2312" pitchFamily="49" charset="-122"/>
                  </a:rPr>
                  <a:t>底盘</a:t>
                </a:r>
              </a:p>
            </p:txBody>
          </p:sp>
          <p:sp>
            <p:nvSpPr>
              <p:cNvPr id="34868" name="Text Box 8"/>
              <p:cNvSpPr txBox="1"/>
              <p:nvPr/>
            </p:nvSpPr>
            <p:spPr>
              <a:xfrm>
                <a:off x="3696" y="3216"/>
                <a:ext cx="57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18" charset="0"/>
                    <a:ea typeface="楷体_GB2312" pitchFamily="49" charset="-122"/>
                  </a:rPr>
                  <a:t>车轮</a:t>
                </a:r>
              </a:p>
            </p:txBody>
          </p:sp>
          <p:sp>
            <p:nvSpPr>
              <p:cNvPr id="34869" name="Text Box 14"/>
              <p:cNvSpPr txBox="1"/>
              <p:nvPr/>
            </p:nvSpPr>
            <p:spPr>
              <a:xfrm>
                <a:off x="912" y="3216"/>
                <a:ext cx="72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18" charset="0"/>
                    <a:ea typeface="楷体_GB2312" pitchFamily="49" charset="-122"/>
                  </a:rPr>
                  <a:t>方向盘</a:t>
                </a:r>
              </a:p>
            </p:txBody>
          </p:sp>
          <p:sp>
            <p:nvSpPr>
              <p:cNvPr id="34870" name="Text Box 15"/>
              <p:cNvSpPr txBox="1"/>
              <p:nvPr/>
            </p:nvSpPr>
            <p:spPr>
              <a:xfrm>
                <a:off x="2688" y="3216"/>
                <a:ext cx="72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18" charset="0"/>
                    <a:ea typeface="楷体_GB2312" pitchFamily="49" charset="-122"/>
                  </a:rPr>
                  <a:t>发动机</a:t>
                </a:r>
              </a:p>
            </p:txBody>
          </p:sp>
          <p:sp>
            <p:nvSpPr>
              <p:cNvPr id="34871" name="Text Box 16"/>
              <p:cNvSpPr txBox="1"/>
              <p:nvPr/>
            </p:nvSpPr>
            <p:spPr>
              <a:xfrm>
                <a:off x="4560" y="3216"/>
                <a:ext cx="96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18" charset="0"/>
                    <a:ea typeface="楷体_GB2312" pitchFamily="49" charset="-122"/>
                  </a:rPr>
                  <a:t>减震装置</a:t>
                </a:r>
              </a:p>
            </p:txBody>
          </p:sp>
          <p:sp>
            <p:nvSpPr>
              <p:cNvPr id="34872" name="Line 17"/>
              <p:cNvSpPr/>
              <p:nvPr/>
            </p:nvSpPr>
            <p:spPr>
              <a:xfrm>
                <a:off x="672" y="3312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4873" name="Line 18"/>
              <p:cNvSpPr/>
              <p:nvPr/>
            </p:nvSpPr>
            <p:spPr>
              <a:xfrm>
                <a:off x="1632" y="3312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4874" name="Line 19"/>
              <p:cNvSpPr/>
              <p:nvPr/>
            </p:nvSpPr>
            <p:spPr>
              <a:xfrm>
                <a:off x="2400" y="3312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4875" name="Line 20"/>
              <p:cNvSpPr/>
              <p:nvPr/>
            </p:nvSpPr>
            <p:spPr>
              <a:xfrm>
                <a:off x="3408" y="3312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4876" name="Line 21"/>
              <p:cNvSpPr/>
              <p:nvPr/>
            </p:nvSpPr>
            <p:spPr>
              <a:xfrm>
                <a:off x="4272" y="3312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4877" name="Line 22"/>
              <p:cNvSpPr/>
              <p:nvPr/>
            </p:nvSpPr>
            <p:spPr>
              <a:xfrm flipH="1">
                <a:off x="4272" y="3408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4878" name="Line 23"/>
              <p:cNvSpPr/>
              <p:nvPr/>
            </p:nvSpPr>
            <p:spPr>
              <a:xfrm flipH="1">
                <a:off x="672" y="3408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4879" name="Line 24"/>
              <p:cNvSpPr/>
              <p:nvPr/>
            </p:nvSpPr>
            <p:spPr>
              <a:xfrm flipH="1">
                <a:off x="1632" y="3408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4880" name="Line 25"/>
              <p:cNvSpPr/>
              <p:nvPr/>
            </p:nvSpPr>
            <p:spPr>
              <a:xfrm flipH="1">
                <a:off x="2400" y="3408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4881" name="Line 26"/>
              <p:cNvSpPr/>
              <p:nvPr/>
            </p:nvSpPr>
            <p:spPr>
              <a:xfrm flipH="1">
                <a:off x="3408" y="3408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34824" name="Group 67"/>
            <p:cNvGrpSpPr/>
            <p:nvPr/>
          </p:nvGrpSpPr>
          <p:grpSpPr>
            <a:xfrm>
              <a:off x="384" y="1968"/>
              <a:ext cx="4704" cy="2151"/>
              <a:chOff x="384" y="1968"/>
              <a:chExt cx="4704" cy="2151"/>
            </a:xfrm>
          </p:grpSpPr>
          <p:sp>
            <p:nvSpPr>
              <p:cNvPr id="34825" name="Text Box 9"/>
              <p:cNvSpPr txBox="1"/>
              <p:nvPr/>
            </p:nvSpPr>
            <p:spPr>
              <a:xfrm>
                <a:off x="720" y="2496"/>
                <a:ext cx="576" cy="288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18" charset="0"/>
                    <a:ea typeface="楷体_GB2312" pitchFamily="49" charset="-122"/>
                  </a:rPr>
                  <a:t>刹车</a:t>
                </a:r>
              </a:p>
            </p:txBody>
          </p:sp>
          <p:sp>
            <p:nvSpPr>
              <p:cNvPr id="34826" name="Text Box 10"/>
              <p:cNvSpPr txBox="1"/>
              <p:nvPr/>
            </p:nvSpPr>
            <p:spPr>
              <a:xfrm>
                <a:off x="1920" y="2496"/>
                <a:ext cx="576" cy="288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18" charset="0"/>
                    <a:ea typeface="楷体_GB2312" pitchFamily="49" charset="-122"/>
                  </a:rPr>
                  <a:t>转向</a:t>
                </a:r>
              </a:p>
            </p:txBody>
          </p:sp>
          <p:sp>
            <p:nvSpPr>
              <p:cNvPr id="34827" name="Text Box 11"/>
              <p:cNvSpPr txBox="1"/>
              <p:nvPr/>
            </p:nvSpPr>
            <p:spPr>
              <a:xfrm>
                <a:off x="3024" y="2496"/>
                <a:ext cx="528" cy="288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18" charset="0"/>
                    <a:ea typeface="楷体_GB2312" pitchFamily="49" charset="-122"/>
                  </a:rPr>
                  <a:t>运行</a:t>
                </a:r>
              </a:p>
            </p:txBody>
          </p:sp>
          <p:sp>
            <p:nvSpPr>
              <p:cNvPr id="34828" name="Text Box 12"/>
              <p:cNvSpPr txBox="1"/>
              <p:nvPr/>
            </p:nvSpPr>
            <p:spPr>
              <a:xfrm>
                <a:off x="4176" y="2496"/>
                <a:ext cx="912" cy="288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18" charset="0"/>
                    <a:ea typeface="楷体_GB2312" pitchFamily="49" charset="-122"/>
                  </a:rPr>
                  <a:t>加速性能</a:t>
                </a:r>
              </a:p>
            </p:txBody>
          </p:sp>
          <p:sp>
            <p:nvSpPr>
              <p:cNvPr id="34829" name="Text Box 13"/>
              <p:cNvSpPr txBox="1"/>
              <p:nvPr/>
            </p:nvSpPr>
            <p:spPr>
              <a:xfrm>
                <a:off x="2208" y="1968"/>
                <a:ext cx="1296" cy="288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18" charset="0"/>
                    <a:ea typeface="楷体_GB2312" pitchFamily="49" charset="-122"/>
                  </a:rPr>
                  <a:t>汽车行驶性能</a:t>
                </a:r>
              </a:p>
            </p:txBody>
          </p:sp>
          <p:sp>
            <p:nvSpPr>
              <p:cNvPr id="34830" name="Text Box 27"/>
              <p:cNvSpPr txBox="1"/>
              <p:nvPr/>
            </p:nvSpPr>
            <p:spPr>
              <a:xfrm>
                <a:off x="1008" y="3792"/>
                <a:ext cx="624" cy="288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18" charset="0"/>
                    <a:ea typeface="楷体_GB2312" pitchFamily="49" charset="-122"/>
                  </a:rPr>
                  <a:t>汽车</a:t>
                </a:r>
                <a:r>
                  <a:rPr lang="en-US" altLang="zh-CN" b="1"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34831" name="Text Box 28"/>
              <p:cNvSpPr txBox="1"/>
              <p:nvPr/>
            </p:nvSpPr>
            <p:spPr>
              <a:xfrm>
                <a:off x="2064" y="3792"/>
                <a:ext cx="624" cy="288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18" charset="0"/>
                    <a:ea typeface="楷体_GB2312" pitchFamily="49" charset="-122"/>
                  </a:rPr>
                  <a:t>汽车</a:t>
                </a:r>
                <a:r>
                  <a:rPr lang="en-US" altLang="zh-CN" b="1"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</a:p>
            </p:txBody>
          </p:sp>
          <p:sp>
            <p:nvSpPr>
              <p:cNvPr id="34832" name="Text Box 29"/>
              <p:cNvSpPr txBox="1"/>
              <p:nvPr/>
            </p:nvSpPr>
            <p:spPr>
              <a:xfrm>
                <a:off x="4080" y="3792"/>
                <a:ext cx="624" cy="288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18" charset="0"/>
                    <a:ea typeface="楷体_GB2312" pitchFamily="49" charset="-122"/>
                  </a:rPr>
                  <a:t>汽车</a:t>
                </a:r>
                <a:r>
                  <a:rPr lang="en-US" altLang="zh-CN" b="1" i="1">
                    <a:latin typeface="Times New Roman" panose="02020603050405020304" pitchFamily="18" charset="0"/>
                    <a:ea typeface="楷体_GB2312" pitchFamily="49" charset="-122"/>
                  </a:rPr>
                  <a:t>n</a:t>
                </a:r>
              </a:p>
            </p:txBody>
          </p:sp>
          <p:sp>
            <p:nvSpPr>
              <p:cNvPr id="34833" name="Text Box 30"/>
              <p:cNvSpPr txBox="1"/>
              <p:nvPr/>
            </p:nvSpPr>
            <p:spPr>
              <a:xfrm>
                <a:off x="3120" y="3792"/>
                <a:ext cx="624" cy="327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>
                    <a:latin typeface="Times New Roman" panose="02020603050405020304" pitchFamily="18" charset="0"/>
                    <a:ea typeface="楷体_GB2312" pitchFamily="49" charset="-122"/>
                  </a:rPr>
                  <a:t>……</a:t>
                </a:r>
              </a:p>
            </p:txBody>
          </p:sp>
          <p:sp>
            <p:nvSpPr>
              <p:cNvPr id="34834" name="Line 31"/>
              <p:cNvSpPr/>
              <p:nvPr/>
            </p:nvSpPr>
            <p:spPr>
              <a:xfrm>
                <a:off x="384" y="3504"/>
                <a:ext cx="460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35" name="Line 32"/>
              <p:cNvSpPr/>
              <p:nvPr/>
            </p:nvSpPr>
            <p:spPr>
              <a:xfrm>
                <a:off x="1008" y="2352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36" name="Line 33"/>
              <p:cNvSpPr/>
              <p:nvPr/>
            </p:nvSpPr>
            <p:spPr>
              <a:xfrm>
                <a:off x="1008" y="2928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37" name="Line 35"/>
              <p:cNvSpPr/>
              <p:nvPr/>
            </p:nvSpPr>
            <p:spPr>
              <a:xfrm>
                <a:off x="1296" y="3648"/>
                <a:ext cx="316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38" name="Line 36"/>
              <p:cNvSpPr/>
              <p:nvPr/>
            </p:nvSpPr>
            <p:spPr>
              <a:xfrm>
                <a:off x="1008" y="2352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39" name="Line 37"/>
              <p:cNvSpPr/>
              <p:nvPr/>
            </p:nvSpPr>
            <p:spPr>
              <a:xfrm>
                <a:off x="2160" y="2352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40" name="Line 38"/>
              <p:cNvSpPr/>
              <p:nvPr/>
            </p:nvSpPr>
            <p:spPr>
              <a:xfrm>
                <a:off x="3264" y="2352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41" name="Line 39"/>
              <p:cNvSpPr/>
              <p:nvPr/>
            </p:nvSpPr>
            <p:spPr>
              <a:xfrm>
                <a:off x="4608" y="2352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42" name="Line 40"/>
              <p:cNvSpPr/>
              <p:nvPr/>
            </p:nvSpPr>
            <p:spPr>
              <a:xfrm>
                <a:off x="1008" y="2784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43" name="Line 41"/>
              <p:cNvSpPr/>
              <p:nvPr/>
            </p:nvSpPr>
            <p:spPr>
              <a:xfrm>
                <a:off x="2160" y="2784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44" name="Line 42"/>
              <p:cNvSpPr/>
              <p:nvPr/>
            </p:nvSpPr>
            <p:spPr>
              <a:xfrm>
                <a:off x="3264" y="2736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45" name="Line 43"/>
              <p:cNvSpPr/>
              <p:nvPr/>
            </p:nvSpPr>
            <p:spPr>
              <a:xfrm>
                <a:off x="4608" y="2784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46" name="Line 44"/>
              <p:cNvSpPr/>
              <p:nvPr/>
            </p:nvSpPr>
            <p:spPr>
              <a:xfrm>
                <a:off x="1296" y="3648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47" name="Line 45"/>
              <p:cNvSpPr/>
              <p:nvPr/>
            </p:nvSpPr>
            <p:spPr>
              <a:xfrm>
                <a:off x="432" y="3024"/>
                <a:ext cx="45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48" name="Line 47"/>
              <p:cNvSpPr/>
              <p:nvPr/>
            </p:nvSpPr>
            <p:spPr>
              <a:xfrm>
                <a:off x="2880" y="2160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49" name="Line 48"/>
              <p:cNvSpPr/>
              <p:nvPr/>
            </p:nvSpPr>
            <p:spPr>
              <a:xfrm>
                <a:off x="2880" y="2928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50" name="Line 49"/>
              <p:cNvSpPr/>
              <p:nvPr/>
            </p:nvSpPr>
            <p:spPr>
              <a:xfrm>
                <a:off x="432" y="302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51" name="Line 50"/>
              <p:cNvSpPr/>
              <p:nvPr/>
            </p:nvSpPr>
            <p:spPr>
              <a:xfrm>
                <a:off x="1248" y="302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52" name="Line 51"/>
              <p:cNvSpPr/>
              <p:nvPr/>
            </p:nvSpPr>
            <p:spPr>
              <a:xfrm>
                <a:off x="2112" y="302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53" name="Line 52"/>
              <p:cNvSpPr/>
              <p:nvPr/>
            </p:nvSpPr>
            <p:spPr>
              <a:xfrm>
                <a:off x="3024" y="3024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54" name="Line 53"/>
              <p:cNvSpPr/>
              <p:nvPr/>
            </p:nvSpPr>
            <p:spPr>
              <a:xfrm>
                <a:off x="3936" y="302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55" name="Line 54"/>
              <p:cNvSpPr/>
              <p:nvPr/>
            </p:nvSpPr>
            <p:spPr>
              <a:xfrm>
                <a:off x="4992" y="302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56" name="Line 55"/>
              <p:cNvSpPr/>
              <p:nvPr/>
            </p:nvSpPr>
            <p:spPr>
              <a:xfrm>
                <a:off x="2880" y="3504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57" name="Line 56"/>
              <p:cNvSpPr/>
              <p:nvPr/>
            </p:nvSpPr>
            <p:spPr>
              <a:xfrm>
                <a:off x="2304" y="3648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58" name="Line 58"/>
              <p:cNvSpPr/>
              <p:nvPr/>
            </p:nvSpPr>
            <p:spPr>
              <a:xfrm>
                <a:off x="3408" y="3648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59" name="Line 59"/>
              <p:cNvSpPr/>
              <p:nvPr/>
            </p:nvSpPr>
            <p:spPr>
              <a:xfrm>
                <a:off x="4464" y="3648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60" name="Line 60"/>
              <p:cNvSpPr/>
              <p:nvPr/>
            </p:nvSpPr>
            <p:spPr>
              <a:xfrm flipV="1">
                <a:off x="384" y="3408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61" name="Line 61"/>
              <p:cNvSpPr/>
              <p:nvPr/>
            </p:nvSpPr>
            <p:spPr>
              <a:xfrm flipV="1">
                <a:off x="1200" y="3408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62" name="Line 62"/>
              <p:cNvSpPr/>
              <p:nvPr/>
            </p:nvSpPr>
            <p:spPr>
              <a:xfrm flipV="1">
                <a:off x="2112" y="3408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63" name="Line 63"/>
              <p:cNvSpPr/>
              <p:nvPr/>
            </p:nvSpPr>
            <p:spPr>
              <a:xfrm flipV="1">
                <a:off x="3024" y="3360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64" name="Line 65"/>
              <p:cNvSpPr/>
              <p:nvPr/>
            </p:nvSpPr>
            <p:spPr>
              <a:xfrm>
                <a:off x="3936" y="3408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65" name="Line 66"/>
              <p:cNvSpPr/>
              <p:nvPr/>
            </p:nvSpPr>
            <p:spPr>
              <a:xfrm>
                <a:off x="4992" y="3408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38980" name="Text Box 68"/>
          <p:cNvSpPr txBox="1"/>
          <p:nvPr/>
        </p:nvSpPr>
        <p:spPr>
          <a:xfrm>
            <a:off x="533400" y="3200400"/>
            <a:ext cx="685800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10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38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animBg="1"/>
      <p:bldP spid="38916" grpId="0" animBg="1"/>
      <p:bldP spid="3898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/>
          <p:nvPr/>
        </p:nvSpPr>
        <p:spPr>
          <a:xfrm>
            <a:off x="304800" y="381000"/>
            <a:ext cx="3352800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层次分析法的优点</a:t>
            </a:r>
          </a:p>
        </p:txBody>
      </p:sp>
      <p:sp>
        <p:nvSpPr>
          <p:cNvPr id="39939" name="Text Box 3"/>
          <p:cNvSpPr txBox="1"/>
          <p:nvPr/>
        </p:nvSpPr>
        <p:spPr>
          <a:xfrm>
            <a:off x="533400" y="836613"/>
            <a:ext cx="7854950" cy="1393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"/>
              </a:spcBef>
              <a:buChar char="•"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系统性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将对象视作系统，按照分解、比较、</a:t>
            </a:r>
          </a:p>
          <a:p>
            <a:pPr>
              <a:spcBef>
                <a:spcPct val="5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 判断、综合的思维方式进行决策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系统分析（与机理分析、测试分析并列）；</a:t>
            </a:r>
          </a:p>
        </p:txBody>
      </p:sp>
      <p:sp>
        <p:nvSpPr>
          <p:cNvPr id="39940" name="Text Box 4"/>
          <p:cNvSpPr txBox="1"/>
          <p:nvPr/>
        </p:nvSpPr>
        <p:spPr>
          <a:xfrm>
            <a:off x="533400" y="2205038"/>
            <a:ext cx="7620000" cy="9667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"/>
              </a:spcBef>
              <a:buChar char="•"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实用性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定性与定量相结合，能处理传统的</a:t>
            </a:r>
          </a:p>
          <a:p>
            <a:pPr>
              <a:spcBef>
                <a:spcPct val="5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 优化方法不能解决的问题；</a:t>
            </a:r>
          </a:p>
        </p:txBody>
      </p:sp>
      <p:sp>
        <p:nvSpPr>
          <p:cNvPr id="39941" name="Text Box 5"/>
          <p:cNvSpPr txBox="1"/>
          <p:nvPr/>
        </p:nvSpPr>
        <p:spPr>
          <a:xfrm>
            <a:off x="533400" y="3213100"/>
            <a:ext cx="7783513" cy="966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"/>
              </a:spcBef>
              <a:buChar char="•"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简洁性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计算简便，结果明确，便于决策者</a:t>
            </a:r>
          </a:p>
          <a:p>
            <a:pPr>
              <a:spcBef>
                <a:spcPct val="5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 直接了解和掌握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39942" name="Text Box 6"/>
          <p:cNvSpPr txBox="1"/>
          <p:nvPr/>
        </p:nvSpPr>
        <p:spPr>
          <a:xfrm>
            <a:off x="381000" y="4191000"/>
            <a:ext cx="3124200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层次分析法的局限</a:t>
            </a:r>
          </a:p>
        </p:txBody>
      </p:sp>
      <p:sp>
        <p:nvSpPr>
          <p:cNvPr id="39943" name="Text Box 7"/>
          <p:cNvSpPr txBox="1"/>
          <p:nvPr/>
        </p:nvSpPr>
        <p:spPr>
          <a:xfrm>
            <a:off x="533400" y="4800600"/>
            <a:ext cx="8280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囿旧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只能从原方案中选优，不能产生新方案；</a:t>
            </a:r>
          </a:p>
        </p:txBody>
      </p:sp>
      <p:sp>
        <p:nvSpPr>
          <p:cNvPr id="39944" name="Text Box 8"/>
          <p:cNvSpPr txBox="1"/>
          <p:nvPr/>
        </p:nvSpPr>
        <p:spPr>
          <a:xfrm>
            <a:off x="533400" y="5334000"/>
            <a:ext cx="6172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粗略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定性化为定量，结果粗糙；</a:t>
            </a:r>
          </a:p>
        </p:txBody>
      </p:sp>
      <p:sp>
        <p:nvSpPr>
          <p:cNvPr id="39945" name="Text Box 9"/>
          <p:cNvSpPr txBox="1"/>
          <p:nvPr/>
        </p:nvSpPr>
        <p:spPr>
          <a:xfrm>
            <a:off x="547688" y="5867400"/>
            <a:ext cx="79867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主观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主观因素作用大，结果可能难以服人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35850" name="Object 10"/>
          <p:cNvGraphicFramePr>
            <a:graphicFrameLocks noChangeAspect="1"/>
          </p:cNvGraphicFramePr>
          <p:nvPr/>
        </p:nvGraphicFramePr>
        <p:xfrm>
          <a:off x="8243888" y="476250"/>
          <a:ext cx="6540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6" r:id="rId3" imgW="3848100" imgH="5478780" progId="MS_ClipArt_Gallery.2">
                  <p:embed/>
                </p:oleObj>
              </mc:Choice>
              <mc:Fallback>
                <p:oleObj r:id="rId3" imgW="3848100" imgH="5478780" progId="MS_ClipArt_Gallery.2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43888" y="476250"/>
                        <a:ext cx="65405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10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10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10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animBg="1"/>
      <p:bldP spid="39940" grpId="0" animBg="1"/>
      <p:bldP spid="39941" grpId="0" animBg="1"/>
      <p:bldP spid="39942" grpId="0" animBg="1"/>
      <p:bldP spid="39943" grpId="0" animBg="1"/>
      <p:bldP spid="39944" grpId="0" animBg="1"/>
      <p:bldP spid="3994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/>
          <p:nvPr/>
        </p:nvSpPr>
        <p:spPr>
          <a:xfrm>
            <a:off x="457200" y="381000"/>
            <a:ext cx="4572000" cy="579438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>
                <a:latin typeface="Times New Roman" panose="02020603050405020304" pitchFamily="18" charset="0"/>
                <a:ea typeface="楷体_GB2312" pitchFamily="49" charset="-122"/>
              </a:rPr>
              <a:t>8.2    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循环比赛的名次</a:t>
            </a:r>
          </a:p>
        </p:txBody>
      </p:sp>
      <p:sp>
        <p:nvSpPr>
          <p:cNvPr id="45059" name="Text Box 3"/>
          <p:cNvSpPr txBox="1"/>
          <p:nvPr/>
        </p:nvSpPr>
        <p:spPr>
          <a:xfrm>
            <a:off x="533400" y="971550"/>
            <a:ext cx="457200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支球队循环赛，每场比赛</a:t>
            </a: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  只计胜负，没有平局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45060" name="Text Box 4"/>
          <p:cNvSpPr txBox="1"/>
          <p:nvPr/>
        </p:nvSpPr>
        <p:spPr>
          <a:xfrm>
            <a:off x="457200" y="2133600"/>
            <a:ext cx="4800600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根据比赛结果排出各队名次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45061" name="Text Box 5"/>
          <p:cNvSpPr txBox="1"/>
          <p:nvPr/>
        </p:nvSpPr>
        <p:spPr>
          <a:xfrm>
            <a:off x="533400" y="2819400"/>
            <a:ext cx="4648200" cy="11176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方法</a:t>
            </a:r>
            <a:r>
              <a:rPr lang="en-US" altLang="zh-CN" sz="2800" b="1">
                <a:latin typeface="Times New Roman" panose="02020603050405020304" pitchFamily="18" charset="0"/>
              </a:rPr>
              <a:t>1.  </a:t>
            </a:r>
            <a:r>
              <a:rPr lang="zh-CN" altLang="en-US" sz="2800" b="1" dirty="0">
                <a:latin typeface="Times New Roman" panose="02020603050405020304" pitchFamily="18" charset="0"/>
              </a:rPr>
              <a:t>寻找按箭头方向通过全部顶点的路径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  <a:endParaRPr lang="en-US" altLang="zh-CN" sz="2800" b="1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5062" name="Group 6"/>
          <p:cNvGrpSpPr/>
          <p:nvPr/>
        </p:nvGrpSpPr>
        <p:grpSpPr>
          <a:xfrm>
            <a:off x="5334000" y="1095375"/>
            <a:ext cx="3810000" cy="3171825"/>
            <a:chOff x="3216" y="480"/>
            <a:chExt cx="2400" cy="1998"/>
          </a:xfrm>
        </p:grpSpPr>
        <p:sp>
          <p:nvSpPr>
            <p:cNvPr id="36899" name="Line 7"/>
            <p:cNvSpPr/>
            <p:nvPr/>
          </p:nvSpPr>
          <p:spPr>
            <a:xfrm flipV="1">
              <a:off x="3888" y="1431"/>
              <a:ext cx="1488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00" name="Line 8"/>
            <p:cNvSpPr/>
            <p:nvPr/>
          </p:nvSpPr>
          <p:spPr>
            <a:xfrm>
              <a:off x="3888" y="663"/>
              <a:ext cx="0" cy="15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01" name="Line 9"/>
            <p:cNvSpPr/>
            <p:nvPr/>
          </p:nvSpPr>
          <p:spPr>
            <a:xfrm flipH="1">
              <a:off x="3888" y="663"/>
              <a:ext cx="1008" cy="15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02" name="Line 10"/>
            <p:cNvSpPr/>
            <p:nvPr/>
          </p:nvSpPr>
          <p:spPr>
            <a:xfrm>
              <a:off x="3888" y="663"/>
              <a:ext cx="1008" cy="15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03" name="Line 11"/>
            <p:cNvSpPr/>
            <p:nvPr/>
          </p:nvSpPr>
          <p:spPr>
            <a:xfrm>
              <a:off x="3888" y="663"/>
              <a:ext cx="1488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04" name="Line 12"/>
            <p:cNvSpPr/>
            <p:nvPr/>
          </p:nvSpPr>
          <p:spPr>
            <a:xfrm flipV="1">
              <a:off x="3408" y="1431"/>
              <a:ext cx="19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05" name="Line 13"/>
            <p:cNvSpPr/>
            <p:nvPr/>
          </p:nvSpPr>
          <p:spPr>
            <a:xfrm flipV="1">
              <a:off x="3408" y="663"/>
              <a:ext cx="1488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06" name="Line 14"/>
            <p:cNvSpPr/>
            <p:nvPr/>
          </p:nvSpPr>
          <p:spPr>
            <a:xfrm>
              <a:off x="4896" y="663"/>
              <a:ext cx="0" cy="15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07" name="Line 15"/>
            <p:cNvSpPr/>
            <p:nvPr/>
          </p:nvSpPr>
          <p:spPr>
            <a:xfrm>
              <a:off x="3408" y="1431"/>
              <a:ext cx="1488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08" name="Line 16"/>
            <p:cNvSpPr/>
            <p:nvPr/>
          </p:nvSpPr>
          <p:spPr>
            <a:xfrm>
              <a:off x="4224" y="663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09" name="Line 17"/>
            <p:cNvSpPr/>
            <p:nvPr/>
          </p:nvSpPr>
          <p:spPr>
            <a:xfrm flipH="1" flipV="1">
              <a:off x="5088" y="999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10" name="Line 18"/>
            <p:cNvSpPr/>
            <p:nvPr/>
          </p:nvSpPr>
          <p:spPr>
            <a:xfrm flipH="1">
              <a:off x="5088" y="1719"/>
              <a:ext cx="144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11" name="Line 19"/>
            <p:cNvSpPr/>
            <p:nvPr/>
          </p:nvSpPr>
          <p:spPr>
            <a:xfrm flipH="1">
              <a:off x="4272" y="2247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12" name="Line 20"/>
            <p:cNvSpPr/>
            <p:nvPr/>
          </p:nvSpPr>
          <p:spPr>
            <a:xfrm flipH="1" flipV="1">
              <a:off x="3648" y="1815"/>
              <a:ext cx="96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13" name="Line 21"/>
            <p:cNvSpPr/>
            <p:nvPr/>
          </p:nvSpPr>
          <p:spPr>
            <a:xfrm flipH="1">
              <a:off x="3648" y="903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14" name="Line 22"/>
            <p:cNvSpPr/>
            <p:nvPr/>
          </p:nvSpPr>
          <p:spPr>
            <a:xfrm flipH="1" flipV="1">
              <a:off x="4464" y="951"/>
              <a:ext cx="96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15" name="Line 23"/>
            <p:cNvSpPr/>
            <p:nvPr/>
          </p:nvSpPr>
          <p:spPr>
            <a:xfrm>
              <a:off x="4560" y="1431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16" name="Line 24"/>
            <p:cNvSpPr/>
            <p:nvPr/>
          </p:nvSpPr>
          <p:spPr>
            <a:xfrm flipV="1">
              <a:off x="4416" y="1863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17" name="Line 25"/>
            <p:cNvSpPr/>
            <p:nvPr/>
          </p:nvSpPr>
          <p:spPr>
            <a:xfrm>
              <a:off x="4464" y="1575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18" name="Line 26"/>
            <p:cNvSpPr/>
            <p:nvPr/>
          </p:nvSpPr>
          <p:spPr>
            <a:xfrm>
              <a:off x="4896" y="1431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19" name="Line 27"/>
            <p:cNvSpPr/>
            <p:nvPr/>
          </p:nvSpPr>
          <p:spPr>
            <a:xfrm flipH="1" flipV="1">
              <a:off x="3936" y="1719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20" name="Line 28"/>
            <p:cNvSpPr/>
            <p:nvPr/>
          </p:nvSpPr>
          <p:spPr>
            <a:xfrm>
              <a:off x="3888" y="1479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21" name="Line 29"/>
            <p:cNvSpPr/>
            <p:nvPr/>
          </p:nvSpPr>
          <p:spPr>
            <a:xfrm flipH="1">
              <a:off x="3984" y="1047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22" name="Text Box 30"/>
            <p:cNvSpPr txBox="1"/>
            <p:nvPr/>
          </p:nvSpPr>
          <p:spPr>
            <a:xfrm>
              <a:off x="3792" y="480"/>
              <a:ext cx="2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23" name="Text Box 31"/>
            <p:cNvSpPr txBox="1"/>
            <p:nvPr/>
          </p:nvSpPr>
          <p:spPr>
            <a:xfrm>
              <a:off x="4800" y="480"/>
              <a:ext cx="2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6924" name="Text Box 32"/>
            <p:cNvSpPr txBox="1"/>
            <p:nvPr/>
          </p:nvSpPr>
          <p:spPr>
            <a:xfrm>
              <a:off x="5376" y="1344"/>
              <a:ext cx="2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6925" name="Text Box 33"/>
            <p:cNvSpPr txBox="1"/>
            <p:nvPr/>
          </p:nvSpPr>
          <p:spPr>
            <a:xfrm>
              <a:off x="4800" y="2208"/>
              <a:ext cx="2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6926" name="Text Box 34"/>
            <p:cNvSpPr txBox="1"/>
            <p:nvPr/>
          </p:nvSpPr>
          <p:spPr>
            <a:xfrm>
              <a:off x="3792" y="2247"/>
              <a:ext cx="2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6927" name="Text Box 35"/>
            <p:cNvSpPr txBox="1"/>
            <p:nvPr/>
          </p:nvSpPr>
          <p:spPr>
            <a:xfrm>
              <a:off x="3216" y="1335"/>
              <a:ext cx="2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6928" name="Line 36"/>
            <p:cNvSpPr/>
            <p:nvPr/>
          </p:nvSpPr>
          <p:spPr>
            <a:xfrm>
              <a:off x="3888" y="672"/>
              <a:ext cx="10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29" name="Line 37"/>
            <p:cNvSpPr/>
            <p:nvPr/>
          </p:nvSpPr>
          <p:spPr>
            <a:xfrm>
              <a:off x="4896" y="672"/>
              <a:ext cx="48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30" name="Line 38"/>
            <p:cNvSpPr/>
            <p:nvPr/>
          </p:nvSpPr>
          <p:spPr>
            <a:xfrm flipH="1">
              <a:off x="4896" y="1440"/>
              <a:ext cx="480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31" name="Line 39"/>
            <p:cNvSpPr/>
            <p:nvPr/>
          </p:nvSpPr>
          <p:spPr>
            <a:xfrm flipH="1">
              <a:off x="3888" y="2256"/>
              <a:ext cx="10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32" name="Line 40"/>
            <p:cNvSpPr/>
            <p:nvPr/>
          </p:nvSpPr>
          <p:spPr>
            <a:xfrm flipH="1" flipV="1">
              <a:off x="3408" y="1392"/>
              <a:ext cx="480" cy="8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33" name="Line 41"/>
            <p:cNvSpPr/>
            <p:nvPr/>
          </p:nvSpPr>
          <p:spPr>
            <a:xfrm flipV="1">
              <a:off x="3408" y="672"/>
              <a:ext cx="480" cy="7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34" name="Line 42"/>
            <p:cNvSpPr/>
            <p:nvPr/>
          </p:nvSpPr>
          <p:spPr>
            <a:xfrm flipH="1">
              <a:off x="4224" y="1536"/>
              <a:ext cx="96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45099" name="Line 43"/>
          <p:cNvSpPr/>
          <p:nvPr/>
        </p:nvSpPr>
        <p:spPr>
          <a:xfrm>
            <a:off x="6400800" y="1371600"/>
            <a:ext cx="1600200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0" name="Line 44"/>
          <p:cNvSpPr/>
          <p:nvPr/>
        </p:nvSpPr>
        <p:spPr>
          <a:xfrm>
            <a:off x="6400800" y="1371600"/>
            <a:ext cx="2362200" cy="121920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1" name="Line 45"/>
          <p:cNvSpPr/>
          <p:nvPr/>
        </p:nvSpPr>
        <p:spPr>
          <a:xfrm>
            <a:off x="8001000" y="1371600"/>
            <a:ext cx="0" cy="251460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2" name="Line 46"/>
          <p:cNvSpPr/>
          <p:nvPr/>
        </p:nvSpPr>
        <p:spPr>
          <a:xfrm flipH="1">
            <a:off x="6400800" y="3886200"/>
            <a:ext cx="1600200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3" name="Line 47"/>
          <p:cNvSpPr/>
          <p:nvPr/>
        </p:nvSpPr>
        <p:spPr>
          <a:xfrm flipH="1" flipV="1">
            <a:off x="5638800" y="2514600"/>
            <a:ext cx="762000" cy="137160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4" name="Line 48"/>
          <p:cNvSpPr/>
          <p:nvPr/>
        </p:nvSpPr>
        <p:spPr>
          <a:xfrm>
            <a:off x="5638800" y="2590800"/>
            <a:ext cx="2362200" cy="1295400"/>
          </a:xfrm>
          <a:prstGeom prst="line">
            <a:avLst/>
          </a:prstGeom>
          <a:ln w="38100" cap="flat" cmpd="sng">
            <a:solidFill>
              <a:srgbClr val="0033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05" name="Line 49"/>
          <p:cNvSpPr/>
          <p:nvPr/>
        </p:nvSpPr>
        <p:spPr>
          <a:xfrm>
            <a:off x="6400800" y="1371600"/>
            <a:ext cx="1600200" cy="2514600"/>
          </a:xfrm>
          <a:prstGeom prst="line">
            <a:avLst/>
          </a:prstGeom>
          <a:ln w="38100" cap="flat" cmpd="sng">
            <a:solidFill>
              <a:srgbClr val="0033CC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5106" name="Group 50"/>
          <p:cNvGrpSpPr/>
          <p:nvPr/>
        </p:nvGrpSpPr>
        <p:grpSpPr>
          <a:xfrm>
            <a:off x="5562600" y="1371600"/>
            <a:ext cx="3200400" cy="2514600"/>
            <a:chOff x="1392" y="1449"/>
            <a:chExt cx="2016" cy="1584"/>
          </a:xfrm>
        </p:grpSpPr>
        <p:sp>
          <p:nvSpPr>
            <p:cNvPr id="36896" name="Line 51"/>
            <p:cNvSpPr/>
            <p:nvPr/>
          </p:nvSpPr>
          <p:spPr>
            <a:xfrm flipV="1">
              <a:off x="1392" y="2208"/>
              <a:ext cx="1968" cy="0"/>
            </a:xfrm>
            <a:prstGeom prst="line">
              <a:avLst/>
            </a:prstGeom>
            <a:ln w="38100" cap="flat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7" name="Line 52"/>
            <p:cNvSpPr/>
            <p:nvPr/>
          </p:nvSpPr>
          <p:spPr>
            <a:xfrm flipH="1">
              <a:off x="1920" y="1449"/>
              <a:ext cx="1008" cy="1584"/>
            </a:xfrm>
            <a:prstGeom prst="line">
              <a:avLst/>
            </a:prstGeom>
            <a:ln w="38100" cap="flat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8" name="Line 53"/>
            <p:cNvSpPr/>
            <p:nvPr/>
          </p:nvSpPr>
          <p:spPr>
            <a:xfrm>
              <a:off x="2928" y="1449"/>
              <a:ext cx="480" cy="768"/>
            </a:xfrm>
            <a:prstGeom prst="line">
              <a:avLst/>
            </a:prstGeom>
            <a:ln w="38100" cap="flat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5110" name="Text Box 54"/>
          <p:cNvSpPr txBox="1"/>
          <p:nvPr/>
        </p:nvSpPr>
        <p:spPr>
          <a:xfrm>
            <a:off x="685800" y="4100513"/>
            <a:ext cx="1447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312456</a:t>
            </a:r>
            <a:endParaRPr lang="en-US" altLang="zh-CN" sz="2800" b="1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111" name="Text Box 55"/>
          <p:cNvSpPr txBox="1"/>
          <p:nvPr/>
        </p:nvSpPr>
        <p:spPr>
          <a:xfrm>
            <a:off x="2514600" y="4100513"/>
            <a:ext cx="1295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146325</a:t>
            </a:r>
          </a:p>
        </p:txBody>
      </p:sp>
      <p:sp>
        <p:nvSpPr>
          <p:cNvPr id="45112" name="Text Box 56"/>
          <p:cNvSpPr txBox="1"/>
          <p:nvPr/>
        </p:nvSpPr>
        <p:spPr>
          <a:xfrm>
            <a:off x="533400" y="4710113"/>
            <a:ext cx="2959100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方法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2. 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计算得分：</a:t>
            </a:r>
          </a:p>
        </p:txBody>
      </p:sp>
      <p:grpSp>
        <p:nvGrpSpPr>
          <p:cNvPr id="45113" name="Group 57"/>
          <p:cNvGrpSpPr/>
          <p:nvPr/>
        </p:nvGrpSpPr>
        <p:grpSpPr>
          <a:xfrm>
            <a:off x="5334000" y="4100513"/>
            <a:ext cx="2133600" cy="519112"/>
            <a:chOff x="2112" y="2784"/>
            <a:chExt cx="1344" cy="327"/>
          </a:xfrm>
        </p:grpSpPr>
        <p:sp>
          <p:nvSpPr>
            <p:cNvPr id="36894" name="Text Box 58"/>
            <p:cNvSpPr txBox="1"/>
            <p:nvPr/>
          </p:nvSpPr>
          <p:spPr>
            <a:xfrm>
              <a:off x="2352" y="2784"/>
              <a:ext cx="1104" cy="327"/>
            </a:xfrm>
            <a:prstGeom prst="rect">
              <a:avLst/>
            </a:prstGeom>
            <a:solidFill>
              <a:srgbClr val="99FF33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无法排名</a:t>
              </a:r>
            </a:p>
          </p:txBody>
        </p:sp>
        <p:sp>
          <p:nvSpPr>
            <p:cNvPr id="36895" name="AutoShape 59"/>
            <p:cNvSpPr/>
            <p:nvPr/>
          </p:nvSpPr>
          <p:spPr>
            <a:xfrm>
              <a:off x="2112" y="2832"/>
              <a:ext cx="144" cy="240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99FF33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5116" name="Text Box 60"/>
          <p:cNvSpPr txBox="1"/>
          <p:nvPr/>
        </p:nvSpPr>
        <p:spPr>
          <a:xfrm>
            <a:off x="5076825" y="5229225"/>
            <a:ext cx="3798888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2, 3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队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, 4, 5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队无法排名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!</a:t>
            </a:r>
          </a:p>
        </p:txBody>
      </p:sp>
      <p:sp>
        <p:nvSpPr>
          <p:cNvPr id="45117" name="Text Box 61"/>
          <p:cNvSpPr txBox="1"/>
          <p:nvPr/>
        </p:nvSpPr>
        <p:spPr>
          <a:xfrm>
            <a:off x="5795963" y="549275"/>
            <a:ext cx="2895600" cy="519113"/>
          </a:xfrm>
          <a:prstGeom prst="rect">
            <a:avLst/>
          </a:prstGeom>
          <a:solidFill>
            <a:srgbClr val="99FF33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6</a:t>
            </a:r>
            <a:r>
              <a:rPr lang="zh-CN" altLang="en-US" sz="2800" b="1" dirty="0">
                <a:latin typeface="Times New Roman" panose="02020603050405020304" pitchFamily="18" charset="0"/>
              </a:rPr>
              <a:t>支球队比赛结果</a:t>
            </a:r>
          </a:p>
        </p:txBody>
      </p:sp>
      <p:sp>
        <p:nvSpPr>
          <p:cNvPr id="45118" name="Text Box 62"/>
          <p:cNvSpPr txBox="1"/>
          <p:nvPr/>
        </p:nvSpPr>
        <p:spPr>
          <a:xfrm>
            <a:off x="4038600" y="4038600"/>
            <a:ext cx="990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……</a:t>
            </a:r>
          </a:p>
        </p:txBody>
      </p:sp>
      <p:sp>
        <p:nvSpPr>
          <p:cNvPr id="45119" name="Text Box 63"/>
          <p:cNvSpPr txBox="1"/>
          <p:nvPr/>
        </p:nvSpPr>
        <p:spPr>
          <a:xfrm>
            <a:off x="1752600" y="5929313"/>
            <a:ext cx="2133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2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4 5</a:t>
            </a:r>
          </a:p>
        </p:txBody>
      </p:sp>
      <p:grpSp>
        <p:nvGrpSpPr>
          <p:cNvPr id="45120" name="Group 64"/>
          <p:cNvGrpSpPr/>
          <p:nvPr/>
        </p:nvGrpSpPr>
        <p:grpSpPr>
          <a:xfrm>
            <a:off x="4114800" y="5929313"/>
            <a:ext cx="3913188" cy="609600"/>
            <a:chOff x="2592" y="3840"/>
            <a:chExt cx="2352" cy="384"/>
          </a:xfrm>
        </p:grpSpPr>
        <p:sp>
          <p:nvSpPr>
            <p:cNvPr id="36892" name="AutoShape 65"/>
            <p:cNvSpPr/>
            <p:nvPr/>
          </p:nvSpPr>
          <p:spPr>
            <a:xfrm>
              <a:off x="2592" y="3840"/>
              <a:ext cx="144" cy="38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99FF33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6893" name="Text Box 66"/>
            <p:cNvSpPr txBox="1"/>
            <p:nvPr/>
          </p:nvSpPr>
          <p:spPr>
            <a:xfrm>
              <a:off x="2832" y="3840"/>
              <a:ext cx="2112" cy="327"/>
            </a:xfrm>
            <a:prstGeom prst="rect">
              <a:avLst/>
            </a:prstGeom>
            <a:solidFill>
              <a:srgbClr val="99FF33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排名 </a:t>
              </a:r>
              <a:r>
                <a:rPr lang="en-US" altLang="zh-CN" sz="2800" b="1">
                  <a:latin typeface="Times New Roman" panose="02020603050405020304" pitchFamily="18" charset="0"/>
                </a:rPr>
                <a:t>132456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合理吗</a:t>
              </a:r>
              <a:r>
                <a:rPr lang="en-US" altLang="zh-CN" sz="2800" b="1">
                  <a:latin typeface="Times New Roman" panose="02020603050405020304" pitchFamily="18" charset="0"/>
                </a:rPr>
                <a:t>?</a:t>
              </a:r>
            </a:p>
          </p:txBody>
        </p:sp>
      </p:grpSp>
      <p:sp>
        <p:nvSpPr>
          <p:cNvPr id="45124" name="Rectangle 68"/>
          <p:cNvSpPr/>
          <p:nvPr/>
        </p:nvSpPr>
        <p:spPr>
          <a:xfrm>
            <a:off x="3635375" y="4797425"/>
            <a:ext cx="19685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队胜</a:t>
            </a:r>
            <a:r>
              <a:rPr lang="en-US" altLang="zh-CN" sz="2800" b="1">
                <a:latin typeface="Times New Roman" panose="02020603050405020304" pitchFamily="18" charset="0"/>
              </a:rPr>
              <a:t>4</a:t>
            </a:r>
            <a:r>
              <a:rPr lang="zh-CN" altLang="en-US" sz="2800" b="1" dirty="0">
                <a:latin typeface="Times New Roman" panose="02020603050405020304" pitchFamily="18" charset="0"/>
              </a:rPr>
              <a:t>场，</a:t>
            </a:r>
          </a:p>
        </p:txBody>
      </p:sp>
      <p:sp>
        <p:nvSpPr>
          <p:cNvPr id="45126" name="Rectangle 70"/>
          <p:cNvSpPr/>
          <p:nvPr/>
        </p:nvSpPr>
        <p:spPr>
          <a:xfrm>
            <a:off x="5651500" y="4797425"/>
            <a:ext cx="26812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</a:rPr>
              <a:t>2, 3</a:t>
            </a:r>
            <a:r>
              <a:rPr lang="zh-CN" altLang="en-US" sz="2800" b="1" dirty="0">
                <a:latin typeface="Times New Roman" panose="02020603050405020304" pitchFamily="18" charset="0"/>
              </a:rPr>
              <a:t>队各胜</a:t>
            </a:r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</a:rPr>
              <a:t>场，</a:t>
            </a:r>
          </a:p>
        </p:txBody>
      </p:sp>
      <p:sp>
        <p:nvSpPr>
          <p:cNvPr id="45128" name="Rectangle 72"/>
          <p:cNvSpPr/>
          <p:nvPr/>
        </p:nvSpPr>
        <p:spPr>
          <a:xfrm>
            <a:off x="611188" y="5300663"/>
            <a:ext cx="268128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</a:rPr>
              <a:t>4, 5</a:t>
            </a:r>
            <a:r>
              <a:rPr lang="zh-CN" altLang="en-US" sz="2800" b="1" dirty="0">
                <a:latin typeface="Times New Roman" panose="02020603050405020304" pitchFamily="18" charset="0"/>
              </a:rPr>
              <a:t>队各胜</a:t>
            </a:r>
            <a:r>
              <a:rPr lang="en-US" altLang="zh-CN" sz="2800" b="1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场，</a:t>
            </a:r>
          </a:p>
        </p:txBody>
      </p:sp>
      <p:sp>
        <p:nvSpPr>
          <p:cNvPr id="45130" name="Rectangle 74"/>
          <p:cNvSpPr/>
          <p:nvPr/>
        </p:nvSpPr>
        <p:spPr>
          <a:xfrm>
            <a:off x="3132138" y="5300663"/>
            <a:ext cx="170021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</a:rPr>
              <a:t>6</a:t>
            </a:r>
            <a:r>
              <a:rPr lang="zh-CN" altLang="en-US" sz="2800" b="1" dirty="0">
                <a:latin typeface="Times New Roman" panose="02020603050405020304" pitchFamily="18" charset="0"/>
              </a:rPr>
              <a:t>队胜</a:t>
            </a:r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场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10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45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45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45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5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5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45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45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45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5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5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5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5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45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45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45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45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1000"/>
                                        <p:tgtEl>
                                          <p:spTgt spid="4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5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5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4" dur="1000"/>
                                        <p:tgtEl>
                                          <p:spTgt spid="45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9" dur="1000"/>
                                        <p:tgtEl>
                                          <p:spTgt spid="45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4" dur="1000"/>
                                        <p:tgtEl>
                                          <p:spTgt spid="4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9" dur="1000"/>
                                        <p:tgtEl>
                                          <p:spTgt spid="4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4" dur="1000"/>
                                        <p:tgtEl>
                                          <p:spTgt spid="4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9" dur="1000"/>
                                        <p:tgtEl>
                                          <p:spTgt spid="4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1000"/>
                                        <p:tgtEl>
                                          <p:spTgt spid="45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9" dur="1000"/>
                                        <p:tgtEl>
                                          <p:spTgt spid="45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1000" fill="hold"/>
                                        <p:tgtEl>
                                          <p:spTgt spid="45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1000" fill="hold"/>
                                        <p:tgtEl>
                                          <p:spTgt spid="45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animBg="1"/>
      <p:bldP spid="45060" grpId="0" animBg="1"/>
      <p:bldP spid="45061" grpId="0" animBg="1"/>
      <p:bldP spid="45110" grpId="0"/>
      <p:bldP spid="45111" grpId="0"/>
      <p:bldP spid="45112" grpId="0"/>
      <p:bldP spid="45116" grpId="0" animBg="1"/>
      <p:bldP spid="45117" grpId="0" animBg="1"/>
      <p:bldP spid="45118" grpId="0"/>
      <p:bldP spid="45119" grpId="0" animBg="1"/>
      <p:bldP spid="45124" grpId="0"/>
      <p:bldP spid="45126" grpId="0"/>
      <p:bldP spid="45128" grpId="0"/>
      <p:bldP spid="4513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2" name="Group 2"/>
          <p:cNvGrpSpPr/>
          <p:nvPr/>
        </p:nvGrpSpPr>
        <p:grpSpPr>
          <a:xfrm>
            <a:off x="3276600" y="1511300"/>
            <a:ext cx="2362200" cy="1562100"/>
            <a:chOff x="2064" y="912"/>
            <a:chExt cx="1488" cy="984"/>
          </a:xfrm>
        </p:grpSpPr>
        <p:sp>
          <p:nvSpPr>
            <p:cNvPr id="37981" name="AutoShape 3"/>
            <p:cNvSpPr/>
            <p:nvPr/>
          </p:nvSpPr>
          <p:spPr>
            <a:xfrm>
              <a:off x="2208" y="1063"/>
              <a:ext cx="1008" cy="603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7982" name="Line 4"/>
            <p:cNvSpPr/>
            <p:nvPr/>
          </p:nvSpPr>
          <p:spPr>
            <a:xfrm>
              <a:off x="2544" y="166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83" name="Line 5"/>
            <p:cNvSpPr/>
            <p:nvPr/>
          </p:nvSpPr>
          <p:spPr>
            <a:xfrm>
              <a:off x="2832" y="1214"/>
              <a:ext cx="144" cy="1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84" name="Line 6"/>
            <p:cNvSpPr/>
            <p:nvPr/>
          </p:nvSpPr>
          <p:spPr>
            <a:xfrm flipV="1">
              <a:off x="2400" y="1289"/>
              <a:ext cx="144" cy="15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85" name="Text Box 7"/>
            <p:cNvSpPr txBox="1"/>
            <p:nvPr/>
          </p:nvSpPr>
          <p:spPr>
            <a:xfrm>
              <a:off x="2064" y="1598"/>
              <a:ext cx="2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7986" name="Text Box 8"/>
            <p:cNvSpPr txBox="1"/>
            <p:nvPr/>
          </p:nvSpPr>
          <p:spPr>
            <a:xfrm>
              <a:off x="2640" y="912"/>
              <a:ext cx="38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7987" name="Text Box 9"/>
            <p:cNvSpPr txBox="1"/>
            <p:nvPr/>
          </p:nvSpPr>
          <p:spPr>
            <a:xfrm>
              <a:off x="3216" y="1598"/>
              <a:ext cx="3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7988" name="Text Box 10"/>
            <p:cNvSpPr txBox="1"/>
            <p:nvPr/>
          </p:nvSpPr>
          <p:spPr>
            <a:xfrm>
              <a:off x="2592" y="1704"/>
              <a:ext cx="43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</a:rPr>
                <a:t>(1)</a:t>
              </a:r>
            </a:p>
          </p:txBody>
        </p:sp>
      </p:grpSp>
      <p:grpSp>
        <p:nvGrpSpPr>
          <p:cNvPr id="46091" name="Group 11"/>
          <p:cNvGrpSpPr/>
          <p:nvPr/>
        </p:nvGrpSpPr>
        <p:grpSpPr>
          <a:xfrm>
            <a:off x="6248400" y="1571625"/>
            <a:ext cx="2286000" cy="1562100"/>
            <a:chOff x="3936" y="950"/>
            <a:chExt cx="1440" cy="984"/>
          </a:xfrm>
        </p:grpSpPr>
        <p:sp>
          <p:nvSpPr>
            <p:cNvPr id="37973" name="AutoShape 12"/>
            <p:cNvSpPr/>
            <p:nvPr/>
          </p:nvSpPr>
          <p:spPr>
            <a:xfrm>
              <a:off x="4080" y="1101"/>
              <a:ext cx="1008" cy="603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7974" name="Line 13"/>
            <p:cNvSpPr/>
            <p:nvPr/>
          </p:nvSpPr>
          <p:spPr>
            <a:xfrm flipH="1">
              <a:off x="4560" y="170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75" name="Line 14"/>
            <p:cNvSpPr/>
            <p:nvPr/>
          </p:nvSpPr>
          <p:spPr>
            <a:xfrm flipV="1">
              <a:off x="4224" y="1364"/>
              <a:ext cx="144" cy="15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76" name="Line 15"/>
            <p:cNvSpPr/>
            <p:nvPr/>
          </p:nvSpPr>
          <p:spPr>
            <a:xfrm>
              <a:off x="4656" y="1176"/>
              <a:ext cx="192" cy="22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77" name="Text Box 16"/>
            <p:cNvSpPr txBox="1"/>
            <p:nvPr/>
          </p:nvSpPr>
          <p:spPr>
            <a:xfrm>
              <a:off x="3936" y="1629"/>
              <a:ext cx="2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7978" name="Text Box 17"/>
            <p:cNvSpPr txBox="1"/>
            <p:nvPr/>
          </p:nvSpPr>
          <p:spPr>
            <a:xfrm>
              <a:off x="4512" y="950"/>
              <a:ext cx="2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7979" name="Text Box 18"/>
            <p:cNvSpPr txBox="1"/>
            <p:nvPr/>
          </p:nvSpPr>
          <p:spPr>
            <a:xfrm>
              <a:off x="5088" y="1629"/>
              <a:ext cx="2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7980" name="Text Box 19"/>
            <p:cNvSpPr txBox="1"/>
            <p:nvPr/>
          </p:nvSpPr>
          <p:spPr>
            <a:xfrm>
              <a:off x="4464" y="1742"/>
              <a:ext cx="48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</a:rPr>
                <a:t>(2)</a:t>
              </a:r>
            </a:p>
          </p:txBody>
        </p:sp>
      </p:grpSp>
      <p:grpSp>
        <p:nvGrpSpPr>
          <p:cNvPr id="46100" name="Group 20"/>
          <p:cNvGrpSpPr/>
          <p:nvPr/>
        </p:nvGrpSpPr>
        <p:grpSpPr>
          <a:xfrm>
            <a:off x="1524000" y="3657600"/>
            <a:ext cx="1968500" cy="1905000"/>
            <a:chOff x="960" y="2400"/>
            <a:chExt cx="1240" cy="1200"/>
          </a:xfrm>
        </p:grpSpPr>
        <p:grpSp>
          <p:nvGrpSpPr>
            <p:cNvPr id="37957" name="Group 21"/>
            <p:cNvGrpSpPr/>
            <p:nvPr/>
          </p:nvGrpSpPr>
          <p:grpSpPr>
            <a:xfrm>
              <a:off x="960" y="2400"/>
              <a:ext cx="1240" cy="1104"/>
              <a:chOff x="1296" y="2160"/>
              <a:chExt cx="1488" cy="1104"/>
            </a:xfrm>
          </p:grpSpPr>
          <p:sp>
            <p:nvSpPr>
              <p:cNvPr id="37965" name="AutoShape 22"/>
              <p:cNvSpPr/>
              <p:nvPr/>
            </p:nvSpPr>
            <p:spPr>
              <a:xfrm>
                <a:off x="1488" y="2352"/>
                <a:ext cx="1008" cy="768"/>
              </a:xfrm>
              <a:prstGeom prst="triangle">
                <a:avLst>
                  <a:gd name="adj" fmla="val 5238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66" name="Line 23"/>
              <p:cNvSpPr/>
              <p:nvPr/>
            </p:nvSpPr>
            <p:spPr>
              <a:xfrm>
                <a:off x="2016" y="2400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67" name="Line 24"/>
              <p:cNvSpPr/>
              <p:nvPr/>
            </p:nvSpPr>
            <p:spPr>
              <a:xfrm flipV="1">
                <a:off x="1488" y="2880"/>
                <a:ext cx="528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68" name="Line 25"/>
              <p:cNvSpPr/>
              <p:nvPr/>
            </p:nvSpPr>
            <p:spPr>
              <a:xfrm>
                <a:off x="2016" y="2880"/>
                <a:ext cx="48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69" name="Text Box 26"/>
              <p:cNvSpPr txBox="1"/>
              <p:nvPr/>
            </p:nvSpPr>
            <p:spPr>
              <a:xfrm>
                <a:off x="1920" y="2160"/>
                <a:ext cx="33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7970" name="Text Box 27"/>
              <p:cNvSpPr txBox="1"/>
              <p:nvPr/>
            </p:nvSpPr>
            <p:spPr>
              <a:xfrm>
                <a:off x="2016" y="2688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7971" name="Text Box 28"/>
              <p:cNvSpPr txBox="1"/>
              <p:nvPr/>
            </p:nvSpPr>
            <p:spPr>
              <a:xfrm>
                <a:off x="2496" y="3024"/>
                <a:ext cx="28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7972" name="Text Box 29"/>
              <p:cNvSpPr txBox="1"/>
              <p:nvPr/>
            </p:nvSpPr>
            <p:spPr>
              <a:xfrm>
                <a:off x="1296" y="3033"/>
                <a:ext cx="384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4</a:t>
                </a:r>
              </a:p>
            </p:txBody>
          </p:sp>
        </p:grpSp>
        <p:sp>
          <p:nvSpPr>
            <p:cNvPr id="37958" name="Line 30"/>
            <p:cNvSpPr/>
            <p:nvPr/>
          </p:nvSpPr>
          <p:spPr>
            <a:xfrm flipH="1">
              <a:off x="1320" y="2832"/>
              <a:ext cx="12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59" name="Line 31"/>
            <p:cNvSpPr/>
            <p:nvPr/>
          </p:nvSpPr>
          <p:spPr>
            <a:xfrm>
              <a:off x="1720" y="2880"/>
              <a:ext cx="12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60" name="Line 32"/>
            <p:cNvSpPr/>
            <p:nvPr/>
          </p:nvSpPr>
          <p:spPr>
            <a:xfrm>
              <a:off x="1560" y="2736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61" name="Line 33"/>
            <p:cNvSpPr/>
            <p:nvPr/>
          </p:nvSpPr>
          <p:spPr>
            <a:xfrm flipH="1">
              <a:off x="1320" y="3120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62" name="Line 34"/>
            <p:cNvSpPr/>
            <p:nvPr/>
          </p:nvSpPr>
          <p:spPr>
            <a:xfrm>
              <a:off x="1560" y="3120"/>
              <a:ext cx="20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63" name="Line 35"/>
            <p:cNvSpPr/>
            <p:nvPr/>
          </p:nvSpPr>
          <p:spPr>
            <a:xfrm flipH="1">
              <a:off x="1480" y="3360"/>
              <a:ext cx="1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64" name="Text Box 36"/>
            <p:cNvSpPr txBox="1"/>
            <p:nvPr/>
          </p:nvSpPr>
          <p:spPr>
            <a:xfrm>
              <a:off x="1480" y="3408"/>
              <a:ext cx="32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</a:rPr>
                <a:t>(1)</a:t>
              </a:r>
            </a:p>
          </p:txBody>
        </p:sp>
      </p:grpSp>
      <p:grpSp>
        <p:nvGrpSpPr>
          <p:cNvPr id="46117" name="Group 37"/>
          <p:cNvGrpSpPr/>
          <p:nvPr/>
        </p:nvGrpSpPr>
        <p:grpSpPr>
          <a:xfrm>
            <a:off x="3492500" y="3657600"/>
            <a:ext cx="1968500" cy="1905000"/>
            <a:chOff x="2200" y="2400"/>
            <a:chExt cx="1240" cy="1200"/>
          </a:xfrm>
        </p:grpSpPr>
        <p:grpSp>
          <p:nvGrpSpPr>
            <p:cNvPr id="37941" name="Group 38"/>
            <p:cNvGrpSpPr/>
            <p:nvPr/>
          </p:nvGrpSpPr>
          <p:grpSpPr>
            <a:xfrm>
              <a:off x="2200" y="2400"/>
              <a:ext cx="1240" cy="1104"/>
              <a:chOff x="1296" y="2160"/>
              <a:chExt cx="1488" cy="1104"/>
            </a:xfrm>
          </p:grpSpPr>
          <p:sp>
            <p:nvSpPr>
              <p:cNvPr id="37949" name="AutoShape 39"/>
              <p:cNvSpPr/>
              <p:nvPr/>
            </p:nvSpPr>
            <p:spPr>
              <a:xfrm>
                <a:off x="1488" y="2352"/>
                <a:ext cx="1008" cy="768"/>
              </a:xfrm>
              <a:prstGeom prst="triangle">
                <a:avLst>
                  <a:gd name="adj" fmla="val 5238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50" name="Line 40"/>
              <p:cNvSpPr/>
              <p:nvPr/>
            </p:nvSpPr>
            <p:spPr>
              <a:xfrm>
                <a:off x="2016" y="2400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51" name="Line 41"/>
              <p:cNvSpPr/>
              <p:nvPr/>
            </p:nvSpPr>
            <p:spPr>
              <a:xfrm flipV="1">
                <a:off x="1488" y="2880"/>
                <a:ext cx="528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52" name="Line 42"/>
              <p:cNvSpPr/>
              <p:nvPr/>
            </p:nvSpPr>
            <p:spPr>
              <a:xfrm>
                <a:off x="2016" y="2880"/>
                <a:ext cx="48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53" name="Text Box 43"/>
              <p:cNvSpPr txBox="1"/>
              <p:nvPr/>
            </p:nvSpPr>
            <p:spPr>
              <a:xfrm>
                <a:off x="1920" y="2160"/>
                <a:ext cx="33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7954" name="Text Box 44"/>
              <p:cNvSpPr txBox="1"/>
              <p:nvPr/>
            </p:nvSpPr>
            <p:spPr>
              <a:xfrm>
                <a:off x="2016" y="2688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7955" name="Text Box 45"/>
              <p:cNvSpPr txBox="1"/>
              <p:nvPr/>
            </p:nvSpPr>
            <p:spPr>
              <a:xfrm>
                <a:off x="2496" y="3024"/>
                <a:ext cx="28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7956" name="Text Box 46"/>
              <p:cNvSpPr txBox="1"/>
              <p:nvPr/>
            </p:nvSpPr>
            <p:spPr>
              <a:xfrm>
                <a:off x="1296" y="3033"/>
                <a:ext cx="384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4</a:t>
                </a:r>
              </a:p>
            </p:txBody>
          </p:sp>
        </p:grpSp>
        <p:sp>
          <p:nvSpPr>
            <p:cNvPr id="37942" name="Line 47"/>
            <p:cNvSpPr/>
            <p:nvPr/>
          </p:nvSpPr>
          <p:spPr>
            <a:xfrm flipH="1">
              <a:off x="2600" y="3120"/>
              <a:ext cx="20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43" name="Line 48"/>
            <p:cNvSpPr/>
            <p:nvPr/>
          </p:nvSpPr>
          <p:spPr>
            <a:xfrm>
              <a:off x="2800" y="3120"/>
              <a:ext cx="20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44" name="Line 49"/>
            <p:cNvSpPr/>
            <p:nvPr/>
          </p:nvSpPr>
          <p:spPr>
            <a:xfrm flipH="1">
              <a:off x="2720" y="3360"/>
              <a:ext cx="2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45" name="Line 50"/>
            <p:cNvSpPr/>
            <p:nvPr/>
          </p:nvSpPr>
          <p:spPr>
            <a:xfrm flipV="1">
              <a:off x="2800" y="2880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46" name="Line 51"/>
            <p:cNvSpPr/>
            <p:nvPr/>
          </p:nvSpPr>
          <p:spPr>
            <a:xfrm flipV="1">
              <a:off x="2520" y="2880"/>
              <a:ext cx="12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47" name="Line 52"/>
            <p:cNvSpPr/>
            <p:nvPr/>
          </p:nvSpPr>
          <p:spPr>
            <a:xfrm>
              <a:off x="2880" y="2784"/>
              <a:ext cx="16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48" name="Text Box 53"/>
            <p:cNvSpPr txBox="1"/>
            <p:nvPr/>
          </p:nvSpPr>
          <p:spPr>
            <a:xfrm>
              <a:off x="2720" y="3408"/>
              <a:ext cx="304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</a:rPr>
                <a:t>(2)</a:t>
              </a:r>
            </a:p>
          </p:txBody>
        </p:sp>
      </p:grpSp>
      <p:grpSp>
        <p:nvGrpSpPr>
          <p:cNvPr id="46134" name="Group 54"/>
          <p:cNvGrpSpPr/>
          <p:nvPr/>
        </p:nvGrpSpPr>
        <p:grpSpPr>
          <a:xfrm>
            <a:off x="5334000" y="3657600"/>
            <a:ext cx="1968500" cy="1905000"/>
            <a:chOff x="3360" y="2400"/>
            <a:chExt cx="1240" cy="1200"/>
          </a:xfrm>
        </p:grpSpPr>
        <p:grpSp>
          <p:nvGrpSpPr>
            <p:cNvPr id="37925" name="Group 55"/>
            <p:cNvGrpSpPr/>
            <p:nvPr/>
          </p:nvGrpSpPr>
          <p:grpSpPr>
            <a:xfrm>
              <a:off x="3360" y="2400"/>
              <a:ext cx="1240" cy="1104"/>
              <a:chOff x="1296" y="2160"/>
              <a:chExt cx="1488" cy="1104"/>
            </a:xfrm>
          </p:grpSpPr>
          <p:sp>
            <p:nvSpPr>
              <p:cNvPr id="37933" name="AutoShape 56"/>
              <p:cNvSpPr/>
              <p:nvPr/>
            </p:nvSpPr>
            <p:spPr>
              <a:xfrm>
                <a:off x="1488" y="2352"/>
                <a:ext cx="1008" cy="768"/>
              </a:xfrm>
              <a:prstGeom prst="triangle">
                <a:avLst>
                  <a:gd name="adj" fmla="val 5238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34" name="Line 57"/>
              <p:cNvSpPr/>
              <p:nvPr/>
            </p:nvSpPr>
            <p:spPr>
              <a:xfrm>
                <a:off x="2016" y="2400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35" name="Line 58"/>
              <p:cNvSpPr/>
              <p:nvPr/>
            </p:nvSpPr>
            <p:spPr>
              <a:xfrm flipV="1">
                <a:off x="1488" y="2880"/>
                <a:ext cx="528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36" name="Line 59"/>
              <p:cNvSpPr/>
              <p:nvPr/>
            </p:nvSpPr>
            <p:spPr>
              <a:xfrm>
                <a:off x="2016" y="2880"/>
                <a:ext cx="48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37" name="Text Box 60"/>
              <p:cNvSpPr txBox="1"/>
              <p:nvPr/>
            </p:nvSpPr>
            <p:spPr>
              <a:xfrm>
                <a:off x="1920" y="2160"/>
                <a:ext cx="33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7938" name="Text Box 61"/>
              <p:cNvSpPr txBox="1"/>
              <p:nvPr/>
            </p:nvSpPr>
            <p:spPr>
              <a:xfrm>
                <a:off x="2016" y="2688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7939" name="Text Box 62"/>
              <p:cNvSpPr txBox="1"/>
              <p:nvPr/>
            </p:nvSpPr>
            <p:spPr>
              <a:xfrm>
                <a:off x="2496" y="3024"/>
                <a:ext cx="28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7940" name="Text Box 63"/>
              <p:cNvSpPr txBox="1"/>
              <p:nvPr/>
            </p:nvSpPr>
            <p:spPr>
              <a:xfrm>
                <a:off x="1296" y="3033"/>
                <a:ext cx="384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4</a:t>
                </a:r>
              </a:p>
            </p:txBody>
          </p:sp>
        </p:grpSp>
        <p:sp>
          <p:nvSpPr>
            <p:cNvPr id="37926" name="Line 64"/>
            <p:cNvSpPr/>
            <p:nvPr/>
          </p:nvSpPr>
          <p:spPr>
            <a:xfrm flipV="1">
              <a:off x="3680" y="2880"/>
              <a:ext cx="12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27" name="Line 65"/>
            <p:cNvSpPr/>
            <p:nvPr/>
          </p:nvSpPr>
          <p:spPr>
            <a:xfrm>
              <a:off x="4080" y="2832"/>
              <a:ext cx="12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28" name="Line 66"/>
            <p:cNvSpPr/>
            <p:nvPr/>
          </p:nvSpPr>
          <p:spPr>
            <a:xfrm>
              <a:off x="3960" y="2736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29" name="Line 67"/>
            <p:cNvSpPr/>
            <p:nvPr/>
          </p:nvSpPr>
          <p:spPr>
            <a:xfrm flipV="1">
              <a:off x="3680" y="3168"/>
              <a:ext cx="16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30" name="Line 68"/>
            <p:cNvSpPr/>
            <p:nvPr/>
          </p:nvSpPr>
          <p:spPr>
            <a:xfrm flipH="1">
              <a:off x="3840" y="3360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31" name="Line 69"/>
            <p:cNvSpPr/>
            <p:nvPr/>
          </p:nvSpPr>
          <p:spPr>
            <a:xfrm flipH="1" flipV="1">
              <a:off x="4040" y="3168"/>
              <a:ext cx="16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32" name="Text Box 70"/>
            <p:cNvSpPr txBox="1"/>
            <p:nvPr/>
          </p:nvSpPr>
          <p:spPr>
            <a:xfrm>
              <a:off x="3880" y="3408"/>
              <a:ext cx="29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</a:rPr>
                <a:t>(3)</a:t>
              </a:r>
            </a:p>
          </p:txBody>
        </p:sp>
      </p:grpSp>
      <p:grpSp>
        <p:nvGrpSpPr>
          <p:cNvPr id="46151" name="Group 71"/>
          <p:cNvGrpSpPr/>
          <p:nvPr/>
        </p:nvGrpSpPr>
        <p:grpSpPr>
          <a:xfrm>
            <a:off x="7175500" y="3657600"/>
            <a:ext cx="1968500" cy="1905000"/>
            <a:chOff x="4520" y="2400"/>
            <a:chExt cx="1240" cy="1200"/>
          </a:xfrm>
        </p:grpSpPr>
        <p:sp>
          <p:nvSpPr>
            <p:cNvPr id="37910" name="AutoShape 72"/>
            <p:cNvSpPr/>
            <p:nvPr/>
          </p:nvSpPr>
          <p:spPr>
            <a:xfrm>
              <a:off x="4680" y="2592"/>
              <a:ext cx="840" cy="768"/>
            </a:xfrm>
            <a:prstGeom prst="triangle">
              <a:avLst>
                <a:gd name="adj" fmla="val 52380"/>
              </a:avLst>
            </a:prstGeom>
            <a:noFill/>
            <a:ln w="9525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7911" name="Line 73"/>
            <p:cNvSpPr/>
            <p:nvPr/>
          </p:nvSpPr>
          <p:spPr>
            <a:xfrm>
              <a:off x="5120" y="2640"/>
              <a:ext cx="0" cy="480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2" name="Line 74"/>
            <p:cNvSpPr/>
            <p:nvPr/>
          </p:nvSpPr>
          <p:spPr>
            <a:xfrm flipV="1">
              <a:off x="4680" y="3120"/>
              <a:ext cx="440" cy="240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3" name="Line 75"/>
            <p:cNvSpPr/>
            <p:nvPr/>
          </p:nvSpPr>
          <p:spPr>
            <a:xfrm>
              <a:off x="5120" y="3120"/>
              <a:ext cx="400" cy="240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4" name="Text Box 76"/>
            <p:cNvSpPr txBox="1"/>
            <p:nvPr/>
          </p:nvSpPr>
          <p:spPr>
            <a:xfrm>
              <a:off x="5040" y="2400"/>
              <a:ext cx="28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7915" name="Text Box 77"/>
            <p:cNvSpPr txBox="1"/>
            <p:nvPr/>
          </p:nvSpPr>
          <p:spPr>
            <a:xfrm>
              <a:off x="5120" y="2928"/>
              <a:ext cx="20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7916" name="Text Box 78"/>
            <p:cNvSpPr txBox="1"/>
            <p:nvPr/>
          </p:nvSpPr>
          <p:spPr>
            <a:xfrm>
              <a:off x="5520" y="3264"/>
              <a:ext cx="2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7917" name="Text Box 79"/>
            <p:cNvSpPr txBox="1"/>
            <p:nvPr/>
          </p:nvSpPr>
          <p:spPr>
            <a:xfrm>
              <a:off x="4520" y="3273"/>
              <a:ext cx="32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7918" name="Line 80"/>
            <p:cNvSpPr/>
            <p:nvPr/>
          </p:nvSpPr>
          <p:spPr>
            <a:xfrm>
              <a:off x="5120" y="2736"/>
              <a:ext cx="0" cy="192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19" name="Line 81"/>
            <p:cNvSpPr/>
            <p:nvPr/>
          </p:nvSpPr>
          <p:spPr>
            <a:xfrm flipV="1">
              <a:off x="4840" y="2880"/>
              <a:ext cx="120" cy="192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20" name="Line 82"/>
            <p:cNvSpPr/>
            <p:nvPr/>
          </p:nvSpPr>
          <p:spPr>
            <a:xfrm>
              <a:off x="5280" y="2880"/>
              <a:ext cx="120" cy="240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21" name="Line 83"/>
            <p:cNvSpPr/>
            <p:nvPr/>
          </p:nvSpPr>
          <p:spPr>
            <a:xfrm flipH="1">
              <a:off x="5000" y="3360"/>
              <a:ext cx="200" cy="0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22" name="Line 84"/>
            <p:cNvSpPr/>
            <p:nvPr/>
          </p:nvSpPr>
          <p:spPr>
            <a:xfrm flipH="1">
              <a:off x="4840" y="3168"/>
              <a:ext cx="200" cy="96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23" name="Line 85"/>
            <p:cNvSpPr/>
            <p:nvPr/>
          </p:nvSpPr>
          <p:spPr>
            <a:xfrm>
              <a:off x="5120" y="3120"/>
              <a:ext cx="240" cy="144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24" name="Text Box 86"/>
            <p:cNvSpPr txBox="1"/>
            <p:nvPr/>
          </p:nvSpPr>
          <p:spPr>
            <a:xfrm>
              <a:off x="5040" y="3408"/>
              <a:ext cx="28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(4)</a:t>
              </a:r>
            </a:p>
          </p:txBody>
        </p:sp>
      </p:grpSp>
      <p:sp>
        <p:nvSpPr>
          <p:cNvPr id="37896" name="Text Box 87"/>
          <p:cNvSpPr txBox="1"/>
          <p:nvPr/>
        </p:nvSpPr>
        <p:spPr>
          <a:xfrm>
            <a:off x="1447800" y="381000"/>
            <a:ext cx="5257800" cy="676275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Bef>
                <a:spcPct val="1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循环比赛的结果</a:t>
            </a:r>
            <a:r>
              <a:rPr lang="en-US" altLang="zh-CN" sz="3200" b="1"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竞赛图</a:t>
            </a:r>
          </a:p>
        </p:txBody>
      </p:sp>
      <p:graphicFrame>
        <p:nvGraphicFramePr>
          <p:cNvPr id="37897" name="Object 88"/>
          <p:cNvGraphicFramePr>
            <a:graphicFrameLocks noChangeAspect="1"/>
          </p:cNvGraphicFramePr>
          <p:nvPr/>
        </p:nvGraphicFramePr>
        <p:xfrm>
          <a:off x="8045450" y="609600"/>
          <a:ext cx="723900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r:id="rId3" imgW="2256155" imgH="3173730" progId="MS_ClipArt_Gallery.2">
                  <p:embed/>
                </p:oleObj>
              </mc:Choice>
              <mc:Fallback>
                <p:oleObj r:id="rId3" imgW="2256155" imgH="3173730" progId="MS_ClipArt_Gallery.2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45450" y="609600"/>
                        <a:ext cx="723900" cy="947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69" name="Text Box 89"/>
          <p:cNvSpPr txBox="1"/>
          <p:nvPr/>
        </p:nvSpPr>
        <p:spPr>
          <a:xfrm>
            <a:off x="762000" y="1739900"/>
            <a:ext cx="167640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个顶点的竞赛图</a:t>
            </a:r>
          </a:p>
        </p:txBody>
      </p:sp>
      <p:sp>
        <p:nvSpPr>
          <p:cNvPr id="46170" name="Text Box 90"/>
          <p:cNvSpPr txBox="1"/>
          <p:nvPr/>
        </p:nvSpPr>
        <p:spPr>
          <a:xfrm>
            <a:off x="2286000" y="3035300"/>
            <a:ext cx="990600" cy="519113"/>
          </a:xfrm>
          <a:prstGeom prst="rect">
            <a:avLst/>
          </a:prstGeom>
          <a:solidFill>
            <a:srgbClr val="66FF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名次</a:t>
            </a:r>
          </a:p>
        </p:txBody>
      </p:sp>
      <p:sp>
        <p:nvSpPr>
          <p:cNvPr id="46171" name="Text Box 91"/>
          <p:cNvSpPr txBox="1"/>
          <p:nvPr/>
        </p:nvSpPr>
        <p:spPr>
          <a:xfrm>
            <a:off x="3505200" y="3111500"/>
            <a:ext cx="1676400" cy="457200"/>
          </a:xfrm>
          <a:prstGeom prst="rect">
            <a:avLst/>
          </a:prstGeom>
          <a:solidFill>
            <a:srgbClr val="66FF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{1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</a:rPr>
              <a:t>3}</a:t>
            </a:r>
          </a:p>
        </p:txBody>
      </p:sp>
      <p:sp>
        <p:nvSpPr>
          <p:cNvPr id="46172" name="Text Box 92"/>
          <p:cNvSpPr txBox="1"/>
          <p:nvPr/>
        </p:nvSpPr>
        <p:spPr>
          <a:xfrm>
            <a:off x="6553200" y="3187700"/>
            <a:ext cx="2209800" cy="457200"/>
          </a:xfrm>
          <a:prstGeom prst="rect">
            <a:avLst/>
          </a:prstGeom>
          <a:solidFill>
            <a:srgbClr val="66FF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{(1,2,3)}</a:t>
            </a:r>
            <a:r>
              <a:rPr lang="zh-CN" altLang="en-US" b="1" dirty="0">
                <a:latin typeface="Times New Roman" panose="02020603050405020304" pitchFamily="18" charset="0"/>
              </a:rPr>
              <a:t>并列</a:t>
            </a:r>
          </a:p>
        </p:txBody>
      </p:sp>
      <p:sp>
        <p:nvSpPr>
          <p:cNvPr id="46173" name="Text Box 93"/>
          <p:cNvSpPr txBox="1"/>
          <p:nvPr/>
        </p:nvSpPr>
        <p:spPr>
          <a:xfrm>
            <a:off x="1600200" y="5638800"/>
            <a:ext cx="1600200" cy="457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{1, 2, 3, 4}</a:t>
            </a:r>
          </a:p>
        </p:txBody>
      </p:sp>
      <p:sp>
        <p:nvSpPr>
          <p:cNvPr id="46174" name="Text Box 94"/>
          <p:cNvSpPr txBox="1"/>
          <p:nvPr/>
        </p:nvSpPr>
        <p:spPr>
          <a:xfrm>
            <a:off x="3581400" y="5638800"/>
            <a:ext cx="1600200" cy="457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{2,(1,3,4)}</a:t>
            </a:r>
          </a:p>
        </p:txBody>
      </p:sp>
      <p:sp>
        <p:nvSpPr>
          <p:cNvPr id="46175" name="Text Box 95"/>
          <p:cNvSpPr txBox="1"/>
          <p:nvPr/>
        </p:nvSpPr>
        <p:spPr>
          <a:xfrm>
            <a:off x="5486400" y="5638800"/>
            <a:ext cx="1600200" cy="457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{(1,3,4), 2}</a:t>
            </a:r>
          </a:p>
        </p:txBody>
      </p:sp>
      <p:sp>
        <p:nvSpPr>
          <p:cNvPr id="46176" name="Text Box 96"/>
          <p:cNvSpPr txBox="1"/>
          <p:nvPr/>
        </p:nvSpPr>
        <p:spPr>
          <a:xfrm>
            <a:off x="228600" y="3352800"/>
            <a:ext cx="167640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个顶点的竞赛图</a:t>
            </a:r>
          </a:p>
        </p:txBody>
      </p:sp>
      <p:sp>
        <p:nvSpPr>
          <p:cNvPr id="46177" name="Text Box 97"/>
          <p:cNvSpPr txBox="1"/>
          <p:nvPr/>
        </p:nvSpPr>
        <p:spPr>
          <a:xfrm>
            <a:off x="381000" y="5562600"/>
            <a:ext cx="990600" cy="519113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名次</a:t>
            </a:r>
          </a:p>
        </p:txBody>
      </p:sp>
      <p:sp>
        <p:nvSpPr>
          <p:cNvPr id="46178" name="Text Box 98"/>
          <p:cNvSpPr txBox="1"/>
          <p:nvPr/>
        </p:nvSpPr>
        <p:spPr>
          <a:xfrm>
            <a:off x="7315200" y="5562600"/>
            <a:ext cx="1752600" cy="466725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{(1,2),(3,4)}</a:t>
            </a:r>
          </a:p>
        </p:txBody>
      </p:sp>
      <p:sp>
        <p:nvSpPr>
          <p:cNvPr id="46179" name="Text Box 99"/>
          <p:cNvSpPr txBox="1"/>
          <p:nvPr/>
        </p:nvSpPr>
        <p:spPr>
          <a:xfrm>
            <a:off x="7315200" y="6096000"/>
            <a:ext cx="16764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{1, 2, 3, 4}?</a:t>
            </a:r>
          </a:p>
        </p:txBody>
      </p:sp>
      <p:sp>
        <p:nvSpPr>
          <p:cNvPr id="46180" name="Text Box 100"/>
          <p:cNvSpPr txBox="1"/>
          <p:nvPr/>
        </p:nvSpPr>
        <p:spPr>
          <a:xfrm>
            <a:off x="755650" y="981075"/>
            <a:ext cx="6553200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竞赛图</a:t>
            </a:r>
            <a:r>
              <a:rPr lang="en-US" altLang="zh-CN" sz="2800" b="1">
                <a:latin typeface="Times New Roman" panose="02020603050405020304" pitchFamily="18" charset="0"/>
              </a:rPr>
              <a:t>~</a:t>
            </a:r>
            <a:r>
              <a:rPr lang="zh-CN" altLang="en-US" sz="2800" b="1" dirty="0">
                <a:latin typeface="Times New Roman" panose="02020603050405020304" pitchFamily="18" charset="0"/>
              </a:rPr>
              <a:t>每对顶点间都有边相连的有向图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6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10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1000"/>
                                        <p:tgtEl>
                                          <p:spTgt spid="46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0" dur="10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5" dur="1000"/>
                                        <p:tgtEl>
                                          <p:spTgt spid="46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1000"/>
                                        <p:tgtEl>
                                          <p:spTgt spid="46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46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46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1000"/>
                                        <p:tgtEl>
                                          <p:spTgt spid="4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1000"/>
                                        <p:tgtEl>
                                          <p:spTgt spid="46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1000"/>
                                        <p:tgtEl>
                                          <p:spTgt spid="4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1000"/>
                                        <p:tgtEl>
                                          <p:spTgt spid="4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4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1000"/>
                                        <p:tgtEl>
                                          <p:spTgt spid="4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1000"/>
                                        <p:tgtEl>
                                          <p:spTgt spid="46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69" grpId="0"/>
      <p:bldP spid="46170" grpId="0" animBg="1"/>
      <p:bldP spid="46171" grpId="0" animBg="1"/>
      <p:bldP spid="46172" grpId="0" animBg="1"/>
      <p:bldP spid="46173" grpId="0" animBg="1"/>
      <p:bldP spid="46174" grpId="0" animBg="1"/>
      <p:bldP spid="46175" grpId="0" animBg="1"/>
      <p:bldP spid="46176" grpId="0"/>
      <p:bldP spid="46177" grpId="0" animBg="1"/>
      <p:bldP spid="46178" grpId="0" animBg="1"/>
      <p:bldP spid="46179" grpId="0" animBg="1"/>
      <p:bldP spid="4618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1026"/>
          <p:cNvGrpSpPr/>
          <p:nvPr/>
        </p:nvGrpSpPr>
        <p:grpSpPr>
          <a:xfrm>
            <a:off x="1560513" y="330200"/>
            <a:ext cx="7620000" cy="1905000"/>
            <a:chOff x="960" y="2400"/>
            <a:chExt cx="4800" cy="1200"/>
          </a:xfrm>
        </p:grpSpPr>
        <p:grpSp>
          <p:nvGrpSpPr>
            <p:cNvPr id="38924" name="Group 1027"/>
            <p:cNvGrpSpPr/>
            <p:nvPr/>
          </p:nvGrpSpPr>
          <p:grpSpPr>
            <a:xfrm>
              <a:off x="2200" y="2400"/>
              <a:ext cx="1240" cy="1104"/>
              <a:chOff x="1296" y="2160"/>
              <a:chExt cx="1488" cy="1104"/>
            </a:xfrm>
          </p:grpSpPr>
          <p:sp>
            <p:nvSpPr>
              <p:cNvPr id="38980" name="AutoShape 1028"/>
              <p:cNvSpPr/>
              <p:nvPr/>
            </p:nvSpPr>
            <p:spPr>
              <a:xfrm>
                <a:off x="1488" y="2352"/>
                <a:ext cx="1008" cy="768"/>
              </a:xfrm>
              <a:prstGeom prst="triangle">
                <a:avLst>
                  <a:gd name="adj" fmla="val 5238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981" name="Line 1029"/>
              <p:cNvSpPr/>
              <p:nvPr/>
            </p:nvSpPr>
            <p:spPr>
              <a:xfrm>
                <a:off x="2016" y="2400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82" name="Line 1030"/>
              <p:cNvSpPr/>
              <p:nvPr/>
            </p:nvSpPr>
            <p:spPr>
              <a:xfrm flipV="1">
                <a:off x="1488" y="2880"/>
                <a:ext cx="528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83" name="Line 1031"/>
              <p:cNvSpPr/>
              <p:nvPr/>
            </p:nvSpPr>
            <p:spPr>
              <a:xfrm>
                <a:off x="2016" y="2880"/>
                <a:ext cx="48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84" name="Text Box 1032"/>
              <p:cNvSpPr txBox="1"/>
              <p:nvPr/>
            </p:nvSpPr>
            <p:spPr>
              <a:xfrm>
                <a:off x="1920" y="2160"/>
                <a:ext cx="33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8985" name="Text Box 1033"/>
              <p:cNvSpPr txBox="1"/>
              <p:nvPr/>
            </p:nvSpPr>
            <p:spPr>
              <a:xfrm>
                <a:off x="2016" y="2688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8986" name="Text Box 1034"/>
              <p:cNvSpPr txBox="1"/>
              <p:nvPr/>
            </p:nvSpPr>
            <p:spPr>
              <a:xfrm>
                <a:off x="2496" y="3024"/>
                <a:ext cx="28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8987" name="Text Box 1035"/>
              <p:cNvSpPr txBox="1"/>
              <p:nvPr/>
            </p:nvSpPr>
            <p:spPr>
              <a:xfrm>
                <a:off x="1296" y="3033"/>
                <a:ext cx="384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4</a:t>
                </a:r>
              </a:p>
            </p:txBody>
          </p:sp>
        </p:grpSp>
        <p:grpSp>
          <p:nvGrpSpPr>
            <p:cNvPr id="38925" name="Group 1036"/>
            <p:cNvGrpSpPr/>
            <p:nvPr/>
          </p:nvGrpSpPr>
          <p:grpSpPr>
            <a:xfrm>
              <a:off x="960" y="2400"/>
              <a:ext cx="1240" cy="1104"/>
              <a:chOff x="1296" y="2160"/>
              <a:chExt cx="1488" cy="1104"/>
            </a:xfrm>
          </p:grpSpPr>
          <p:sp>
            <p:nvSpPr>
              <p:cNvPr id="38972" name="AutoShape 1037"/>
              <p:cNvSpPr/>
              <p:nvPr/>
            </p:nvSpPr>
            <p:spPr>
              <a:xfrm>
                <a:off x="1488" y="2352"/>
                <a:ext cx="1008" cy="768"/>
              </a:xfrm>
              <a:prstGeom prst="triangle">
                <a:avLst>
                  <a:gd name="adj" fmla="val 5238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973" name="Line 1038"/>
              <p:cNvSpPr/>
              <p:nvPr/>
            </p:nvSpPr>
            <p:spPr>
              <a:xfrm>
                <a:off x="2016" y="2400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74" name="Line 1039"/>
              <p:cNvSpPr/>
              <p:nvPr/>
            </p:nvSpPr>
            <p:spPr>
              <a:xfrm flipV="1">
                <a:off x="1488" y="2880"/>
                <a:ext cx="528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75" name="Line 1040"/>
              <p:cNvSpPr/>
              <p:nvPr/>
            </p:nvSpPr>
            <p:spPr>
              <a:xfrm>
                <a:off x="2016" y="2880"/>
                <a:ext cx="48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76" name="Text Box 1041"/>
              <p:cNvSpPr txBox="1"/>
              <p:nvPr/>
            </p:nvSpPr>
            <p:spPr>
              <a:xfrm>
                <a:off x="1920" y="2160"/>
                <a:ext cx="33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8977" name="Text Box 1042"/>
              <p:cNvSpPr txBox="1"/>
              <p:nvPr/>
            </p:nvSpPr>
            <p:spPr>
              <a:xfrm>
                <a:off x="2016" y="2688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8978" name="Text Box 1043"/>
              <p:cNvSpPr txBox="1"/>
              <p:nvPr/>
            </p:nvSpPr>
            <p:spPr>
              <a:xfrm>
                <a:off x="2496" y="3024"/>
                <a:ext cx="28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8979" name="Text Box 1044"/>
              <p:cNvSpPr txBox="1"/>
              <p:nvPr/>
            </p:nvSpPr>
            <p:spPr>
              <a:xfrm>
                <a:off x="1296" y="3033"/>
                <a:ext cx="384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4</a:t>
                </a:r>
              </a:p>
            </p:txBody>
          </p:sp>
        </p:grpSp>
        <p:grpSp>
          <p:nvGrpSpPr>
            <p:cNvPr id="38926" name="Group 1045"/>
            <p:cNvGrpSpPr/>
            <p:nvPr/>
          </p:nvGrpSpPr>
          <p:grpSpPr>
            <a:xfrm>
              <a:off x="3360" y="2400"/>
              <a:ext cx="1240" cy="1104"/>
              <a:chOff x="1296" y="2160"/>
              <a:chExt cx="1488" cy="1104"/>
            </a:xfrm>
          </p:grpSpPr>
          <p:sp>
            <p:nvSpPr>
              <p:cNvPr id="38964" name="AutoShape 1046"/>
              <p:cNvSpPr/>
              <p:nvPr/>
            </p:nvSpPr>
            <p:spPr>
              <a:xfrm>
                <a:off x="1488" y="2352"/>
                <a:ext cx="1008" cy="768"/>
              </a:xfrm>
              <a:prstGeom prst="triangle">
                <a:avLst>
                  <a:gd name="adj" fmla="val 5238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965" name="Line 1047"/>
              <p:cNvSpPr/>
              <p:nvPr/>
            </p:nvSpPr>
            <p:spPr>
              <a:xfrm>
                <a:off x="2016" y="2400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66" name="Line 1048"/>
              <p:cNvSpPr/>
              <p:nvPr/>
            </p:nvSpPr>
            <p:spPr>
              <a:xfrm flipV="1">
                <a:off x="1488" y="2880"/>
                <a:ext cx="528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67" name="Line 1049"/>
              <p:cNvSpPr/>
              <p:nvPr/>
            </p:nvSpPr>
            <p:spPr>
              <a:xfrm>
                <a:off x="2016" y="2880"/>
                <a:ext cx="48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68" name="Text Box 1050"/>
              <p:cNvSpPr txBox="1"/>
              <p:nvPr/>
            </p:nvSpPr>
            <p:spPr>
              <a:xfrm>
                <a:off x="1920" y="2160"/>
                <a:ext cx="33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8969" name="Text Box 1051"/>
              <p:cNvSpPr txBox="1"/>
              <p:nvPr/>
            </p:nvSpPr>
            <p:spPr>
              <a:xfrm>
                <a:off x="2016" y="2688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8970" name="Text Box 1052"/>
              <p:cNvSpPr txBox="1"/>
              <p:nvPr/>
            </p:nvSpPr>
            <p:spPr>
              <a:xfrm>
                <a:off x="2496" y="3024"/>
                <a:ext cx="28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8971" name="Text Box 1053"/>
              <p:cNvSpPr txBox="1"/>
              <p:nvPr/>
            </p:nvSpPr>
            <p:spPr>
              <a:xfrm>
                <a:off x="1296" y="3033"/>
                <a:ext cx="384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4</a:t>
                </a:r>
              </a:p>
            </p:txBody>
          </p:sp>
        </p:grpSp>
        <p:sp>
          <p:nvSpPr>
            <p:cNvPr id="38927" name="Line 1054"/>
            <p:cNvSpPr/>
            <p:nvPr/>
          </p:nvSpPr>
          <p:spPr>
            <a:xfrm flipH="1">
              <a:off x="1320" y="2832"/>
              <a:ext cx="12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28" name="Line 1055"/>
            <p:cNvSpPr/>
            <p:nvPr/>
          </p:nvSpPr>
          <p:spPr>
            <a:xfrm>
              <a:off x="1720" y="2880"/>
              <a:ext cx="12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29" name="Line 1056"/>
            <p:cNvSpPr/>
            <p:nvPr/>
          </p:nvSpPr>
          <p:spPr>
            <a:xfrm>
              <a:off x="1560" y="2736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30" name="Line 1057"/>
            <p:cNvSpPr/>
            <p:nvPr/>
          </p:nvSpPr>
          <p:spPr>
            <a:xfrm flipH="1">
              <a:off x="1320" y="3120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31" name="Line 1058"/>
            <p:cNvSpPr/>
            <p:nvPr/>
          </p:nvSpPr>
          <p:spPr>
            <a:xfrm>
              <a:off x="1560" y="3120"/>
              <a:ext cx="20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32" name="Line 1059"/>
            <p:cNvSpPr/>
            <p:nvPr/>
          </p:nvSpPr>
          <p:spPr>
            <a:xfrm flipH="1">
              <a:off x="1480" y="3360"/>
              <a:ext cx="1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33" name="Line 1060"/>
            <p:cNvSpPr/>
            <p:nvPr/>
          </p:nvSpPr>
          <p:spPr>
            <a:xfrm flipH="1">
              <a:off x="2600" y="3120"/>
              <a:ext cx="20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34" name="Line 1061"/>
            <p:cNvSpPr/>
            <p:nvPr/>
          </p:nvSpPr>
          <p:spPr>
            <a:xfrm>
              <a:off x="2800" y="3120"/>
              <a:ext cx="20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35" name="Line 1062"/>
            <p:cNvSpPr/>
            <p:nvPr/>
          </p:nvSpPr>
          <p:spPr>
            <a:xfrm flipH="1">
              <a:off x="2720" y="3360"/>
              <a:ext cx="2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36" name="Line 1063"/>
            <p:cNvSpPr/>
            <p:nvPr/>
          </p:nvSpPr>
          <p:spPr>
            <a:xfrm flipV="1">
              <a:off x="2800" y="2880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37" name="Line 1064"/>
            <p:cNvSpPr/>
            <p:nvPr/>
          </p:nvSpPr>
          <p:spPr>
            <a:xfrm flipV="1">
              <a:off x="2520" y="2880"/>
              <a:ext cx="12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38" name="Line 1065"/>
            <p:cNvSpPr/>
            <p:nvPr/>
          </p:nvSpPr>
          <p:spPr>
            <a:xfrm>
              <a:off x="2880" y="2784"/>
              <a:ext cx="16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39" name="Line 1066"/>
            <p:cNvSpPr/>
            <p:nvPr/>
          </p:nvSpPr>
          <p:spPr>
            <a:xfrm flipV="1">
              <a:off x="3680" y="2880"/>
              <a:ext cx="12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40" name="Line 1067"/>
            <p:cNvSpPr/>
            <p:nvPr/>
          </p:nvSpPr>
          <p:spPr>
            <a:xfrm>
              <a:off x="4080" y="2832"/>
              <a:ext cx="12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41" name="Line 1068"/>
            <p:cNvSpPr/>
            <p:nvPr/>
          </p:nvSpPr>
          <p:spPr>
            <a:xfrm>
              <a:off x="3960" y="2736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42" name="Line 1069"/>
            <p:cNvSpPr/>
            <p:nvPr/>
          </p:nvSpPr>
          <p:spPr>
            <a:xfrm flipV="1">
              <a:off x="3680" y="3168"/>
              <a:ext cx="16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43" name="Line 1070"/>
            <p:cNvSpPr/>
            <p:nvPr/>
          </p:nvSpPr>
          <p:spPr>
            <a:xfrm flipH="1">
              <a:off x="3840" y="3360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44" name="Line 1071"/>
            <p:cNvSpPr/>
            <p:nvPr/>
          </p:nvSpPr>
          <p:spPr>
            <a:xfrm flipH="1" flipV="1">
              <a:off x="4040" y="3168"/>
              <a:ext cx="16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8945" name="Text Box 1072"/>
            <p:cNvSpPr txBox="1"/>
            <p:nvPr/>
          </p:nvSpPr>
          <p:spPr>
            <a:xfrm>
              <a:off x="1480" y="3408"/>
              <a:ext cx="32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</a:rPr>
                <a:t>(1)</a:t>
              </a:r>
            </a:p>
          </p:txBody>
        </p:sp>
        <p:sp>
          <p:nvSpPr>
            <p:cNvPr id="38946" name="Text Box 1073"/>
            <p:cNvSpPr txBox="1"/>
            <p:nvPr/>
          </p:nvSpPr>
          <p:spPr>
            <a:xfrm>
              <a:off x="2720" y="3408"/>
              <a:ext cx="304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</a:rPr>
                <a:t>(2)</a:t>
              </a:r>
            </a:p>
          </p:txBody>
        </p:sp>
        <p:sp>
          <p:nvSpPr>
            <p:cNvPr id="38947" name="Text Box 1074"/>
            <p:cNvSpPr txBox="1"/>
            <p:nvPr/>
          </p:nvSpPr>
          <p:spPr>
            <a:xfrm>
              <a:off x="3880" y="3408"/>
              <a:ext cx="29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>
                  <a:latin typeface="Times New Roman" panose="02020603050405020304" pitchFamily="18" charset="0"/>
                </a:rPr>
                <a:t>(3)</a:t>
              </a:r>
            </a:p>
          </p:txBody>
        </p:sp>
        <p:grpSp>
          <p:nvGrpSpPr>
            <p:cNvPr id="38948" name="Group 1075"/>
            <p:cNvGrpSpPr/>
            <p:nvPr/>
          </p:nvGrpSpPr>
          <p:grpSpPr>
            <a:xfrm>
              <a:off x="4520" y="2400"/>
              <a:ext cx="1240" cy="1200"/>
              <a:chOff x="4520" y="2400"/>
              <a:chExt cx="1240" cy="1200"/>
            </a:xfrm>
          </p:grpSpPr>
          <p:sp>
            <p:nvSpPr>
              <p:cNvPr id="38949" name="AutoShape 1076"/>
              <p:cNvSpPr/>
              <p:nvPr/>
            </p:nvSpPr>
            <p:spPr>
              <a:xfrm>
                <a:off x="4680" y="2592"/>
                <a:ext cx="840" cy="768"/>
              </a:xfrm>
              <a:prstGeom prst="triangle">
                <a:avLst>
                  <a:gd name="adj" fmla="val 52380"/>
                </a:avLst>
              </a:prstGeom>
              <a:noFill/>
              <a:ln w="9525" cap="flat" cmpd="sng">
                <a:solidFill>
                  <a:srgbClr val="FF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950" name="Line 1077"/>
              <p:cNvSpPr/>
              <p:nvPr/>
            </p:nvSpPr>
            <p:spPr>
              <a:xfrm>
                <a:off x="5120" y="2640"/>
                <a:ext cx="0" cy="480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51" name="Line 1078"/>
              <p:cNvSpPr/>
              <p:nvPr/>
            </p:nvSpPr>
            <p:spPr>
              <a:xfrm flipV="1">
                <a:off x="4680" y="3120"/>
                <a:ext cx="440" cy="240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52" name="Line 1079"/>
              <p:cNvSpPr/>
              <p:nvPr/>
            </p:nvSpPr>
            <p:spPr>
              <a:xfrm>
                <a:off x="5120" y="3120"/>
                <a:ext cx="400" cy="240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53" name="Text Box 1080"/>
              <p:cNvSpPr txBox="1"/>
              <p:nvPr/>
            </p:nvSpPr>
            <p:spPr>
              <a:xfrm>
                <a:off x="5040" y="2400"/>
                <a:ext cx="28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8954" name="Text Box 1081"/>
              <p:cNvSpPr txBox="1"/>
              <p:nvPr/>
            </p:nvSpPr>
            <p:spPr>
              <a:xfrm>
                <a:off x="5120" y="2928"/>
                <a:ext cx="20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8955" name="Text Box 1082"/>
              <p:cNvSpPr txBox="1"/>
              <p:nvPr/>
            </p:nvSpPr>
            <p:spPr>
              <a:xfrm>
                <a:off x="5520" y="3264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8956" name="Text Box 1083"/>
              <p:cNvSpPr txBox="1"/>
              <p:nvPr/>
            </p:nvSpPr>
            <p:spPr>
              <a:xfrm>
                <a:off x="4520" y="3273"/>
                <a:ext cx="32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38957" name="Line 1084"/>
              <p:cNvSpPr/>
              <p:nvPr/>
            </p:nvSpPr>
            <p:spPr>
              <a:xfrm>
                <a:off x="5120" y="2736"/>
                <a:ext cx="0" cy="192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8958" name="Line 1085"/>
              <p:cNvSpPr/>
              <p:nvPr/>
            </p:nvSpPr>
            <p:spPr>
              <a:xfrm flipV="1">
                <a:off x="4840" y="2880"/>
                <a:ext cx="120" cy="192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8959" name="Line 1086"/>
              <p:cNvSpPr/>
              <p:nvPr/>
            </p:nvSpPr>
            <p:spPr>
              <a:xfrm>
                <a:off x="5280" y="2880"/>
                <a:ext cx="120" cy="240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8960" name="Line 1087"/>
              <p:cNvSpPr/>
              <p:nvPr/>
            </p:nvSpPr>
            <p:spPr>
              <a:xfrm flipH="1">
                <a:off x="5000" y="3360"/>
                <a:ext cx="200" cy="0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8961" name="Line 1088"/>
              <p:cNvSpPr/>
              <p:nvPr/>
            </p:nvSpPr>
            <p:spPr>
              <a:xfrm flipH="1">
                <a:off x="4840" y="3168"/>
                <a:ext cx="200" cy="96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8962" name="Line 1089"/>
              <p:cNvSpPr/>
              <p:nvPr/>
            </p:nvSpPr>
            <p:spPr>
              <a:xfrm>
                <a:off x="5120" y="3120"/>
                <a:ext cx="240" cy="144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8963" name="Text Box 1090"/>
              <p:cNvSpPr txBox="1"/>
              <p:nvPr/>
            </p:nvSpPr>
            <p:spPr>
              <a:xfrm>
                <a:off x="5040" y="3408"/>
                <a:ext cx="280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4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(4)</a:t>
                </a:r>
              </a:p>
            </p:txBody>
          </p:sp>
        </p:grpSp>
      </p:grpSp>
      <p:sp>
        <p:nvSpPr>
          <p:cNvPr id="47171" name="Text Box 1091"/>
          <p:cNvSpPr txBox="1"/>
          <p:nvPr/>
        </p:nvSpPr>
        <p:spPr>
          <a:xfrm>
            <a:off x="323850" y="2276475"/>
            <a:ext cx="1752600" cy="11176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竞赛图的</a:t>
            </a:r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</a:rPr>
              <a:t>种形式</a:t>
            </a:r>
          </a:p>
        </p:txBody>
      </p:sp>
      <p:sp>
        <p:nvSpPr>
          <p:cNvPr id="47172" name="Text Box 1092"/>
          <p:cNvSpPr txBox="1"/>
          <p:nvPr/>
        </p:nvSpPr>
        <p:spPr>
          <a:xfrm>
            <a:off x="2133600" y="2311400"/>
            <a:ext cx="51752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具有唯一的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完全路径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，如</a:t>
            </a:r>
            <a:r>
              <a:rPr lang="en-US" altLang="zh-CN" sz="2800" b="1">
                <a:latin typeface="Times New Roman" panose="02020603050405020304" pitchFamily="18" charset="0"/>
              </a:rPr>
              <a:t>(1)</a:t>
            </a:r>
            <a:r>
              <a:rPr lang="zh-CN" altLang="en-US" sz="2800" b="1" dirty="0">
                <a:latin typeface="Times New Roman" panose="02020603050405020304" pitchFamily="18" charset="0"/>
              </a:rPr>
              <a:t>； </a:t>
            </a:r>
          </a:p>
        </p:txBody>
      </p:sp>
      <p:sp>
        <p:nvSpPr>
          <p:cNvPr id="47173" name="Text Box 1093"/>
          <p:cNvSpPr txBox="1"/>
          <p:nvPr/>
        </p:nvSpPr>
        <p:spPr>
          <a:xfrm>
            <a:off x="2133600" y="2889250"/>
            <a:ext cx="6470650" cy="1138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双向连通图</a:t>
            </a:r>
            <a:r>
              <a:rPr lang="en-US" altLang="zh-CN" sz="2800" b="1">
                <a:latin typeface="Times New Roman" panose="02020603050405020304" pitchFamily="18" charset="0"/>
              </a:rPr>
              <a:t>——</a:t>
            </a:r>
            <a:r>
              <a:rPr lang="zh-CN" altLang="en-US" sz="2800" b="1" dirty="0">
                <a:latin typeface="Times New Roman" panose="02020603050405020304" pitchFamily="18" charset="0"/>
              </a:rPr>
              <a:t>任一对顶点存在两条</a:t>
            </a: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  有向路径相互连通，如</a:t>
            </a:r>
            <a:r>
              <a:rPr lang="en-US" altLang="zh-CN" sz="2800" b="1">
                <a:latin typeface="Times New Roman" panose="02020603050405020304" pitchFamily="18" charset="0"/>
              </a:rPr>
              <a:t>(4)</a:t>
            </a:r>
            <a:r>
              <a:rPr lang="zh-CN" altLang="en-US" sz="2800" b="1" dirty="0">
                <a:latin typeface="Times New Roman" panose="02020603050405020304" pitchFamily="18" charset="0"/>
              </a:rPr>
              <a:t>； </a:t>
            </a:r>
          </a:p>
        </p:txBody>
      </p:sp>
      <p:sp>
        <p:nvSpPr>
          <p:cNvPr id="47174" name="Text Box 1094"/>
          <p:cNvSpPr txBox="1"/>
          <p:nvPr/>
        </p:nvSpPr>
        <p:spPr>
          <a:xfrm>
            <a:off x="2133600" y="4013200"/>
            <a:ext cx="3581400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其他，如</a:t>
            </a:r>
            <a:r>
              <a:rPr lang="en-US" altLang="zh-CN" sz="2800" b="1">
                <a:latin typeface="Times New Roman" panose="02020603050405020304" pitchFamily="18" charset="0"/>
              </a:rPr>
              <a:t>(2)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</a:t>
            </a:r>
            <a:r>
              <a:rPr lang="en-US" altLang="zh-CN" sz="2800" b="1">
                <a:latin typeface="Times New Roman" panose="02020603050405020304" pitchFamily="18" charset="0"/>
              </a:rPr>
              <a:t>(3) .</a:t>
            </a:r>
          </a:p>
        </p:txBody>
      </p:sp>
      <p:sp>
        <p:nvSpPr>
          <p:cNvPr id="47175" name="Text Box 1095"/>
          <p:cNvSpPr txBox="1"/>
          <p:nvPr/>
        </p:nvSpPr>
        <p:spPr>
          <a:xfrm>
            <a:off x="457200" y="4652963"/>
            <a:ext cx="1295400" cy="11176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竞赛图的性质</a:t>
            </a:r>
          </a:p>
        </p:txBody>
      </p:sp>
      <p:sp>
        <p:nvSpPr>
          <p:cNvPr id="47176" name="Text Box 1096"/>
          <p:cNvSpPr txBox="1"/>
          <p:nvPr/>
        </p:nvSpPr>
        <p:spPr>
          <a:xfrm>
            <a:off x="2133600" y="4764088"/>
            <a:ext cx="3352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必存在完全路径； </a:t>
            </a:r>
          </a:p>
        </p:txBody>
      </p:sp>
      <p:sp>
        <p:nvSpPr>
          <p:cNvPr id="47177" name="Text Box 1097"/>
          <p:cNvSpPr txBox="1"/>
          <p:nvPr/>
        </p:nvSpPr>
        <p:spPr>
          <a:xfrm>
            <a:off x="2133600" y="5283200"/>
            <a:ext cx="6858000" cy="1138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若存在唯一的完全路径，则由它确定的顶</a:t>
            </a: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  点顺序与按得分排列的顺序一致，如</a:t>
            </a:r>
            <a:r>
              <a:rPr lang="en-US" altLang="zh-CN" sz="2800" b="1">
                <a:latin typeface="Times New Roman" panose="02020603050405020304" pitchFamily="18" charset="0"/>
              </a:rPr>
              <a:t>(1) .</a:t>
            </a:r>
          </a:p>
        </p:txBody>
      </p:sp>
      <p:graphicFrame>
        <p:nvGraphicFramePr>
          <p:cNvPr id="38922" name="Object 1098"/>
          <p:cNvGraphicFramePr>
            <a:graphicFrameLocks noChangeAspect="1"/>
          </p:cNvGraphicFramePr>
          <p:nvPr/>
        </p:nvGraphicFramePr>
        <p:xfrm>
          <a:off x="8604250" y="333375"/>
          <a:ext cx="4603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" r:id="rId3" imgW="2256155" imgH="3173730" progId="MS_ClipArt_Gallery.2">
                  <p:embed/>
                </p:oleObj>
              </mc:Choice>
              <mc:Fallback>
                <p:oleObj r:id="rId3" imgW="2256155" imgH="3173730" progId="MS_ClipArt_Gallery.2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604250" y="333375"/>
                        <a:ext cx="460375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3" name="Text Box 1099"/>
          <p:cNvSpPr txBox="1"/>
          <p:nvPr/>
        </p:nvSpPr>
        <p:spPr>
          <a:xfrm>
            <a:off x="179388" y="404813"/>
            <a:ext cx="167640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个顶点的竞赛图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1000"/>
                                        <p:tgtEl>
                                          <p:spTgt spid="4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4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4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1000"/>
                                        <p:tgtEl>
                                          <p:spTgt spid="4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1000"/>
                                        <p:tgtEl>
                                          <p:spTgt spid="4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71" grpId="0" animBg="1"/>
      <p:bldP spid="47172" grpId="0" animBg="1"/>
      <p:bldP spid="47173" grpId="0" animBg="1"/>
      <p:bldP spid="47174" grpId="0" animBg="1"/>
      <p:bldP spid="47175" grpId="0" animBg="1"/>
      <p:bldP spid="47176" grpId="0" animBg="1"/>
      <p:bldP spid="4717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30" name="Object 2"/>
          <p:cNvGraphicFramePr>
            <a:graphicFrameLocks noChangeAspect="1"/>
          </p:cNvGraphicFramePr>
          <p:nvPr/>
        </p:nvGraphicFramePr>
        <p:xfrm>
          <a:off x="1292225" y="2709863"/>
          <a:ext cx="3433763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78" r:id="rId3" imgW="1371600" imgH="228600" progId="Equation.DSMT4">
                  <p:embed/>
                </p:oleObj>
              </mc:Choice>
              <mc:Fallback>
                <p:oleObj r:id="rId3" imgW="1371600" imgH="2286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92225" y="2709863"/>
                        <a:ext cx="3433763" cy="5095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5"/>
          <p:cNvGraphicFramePr>
            <a:graphicFrameLocks noChangeAspect="1"/>
          </p:cNvGraphicFramePr>
          <p:nvPr/>
        </p:nvGraphicFramePr>
        <p:xfrm>
          <a:off x="6224588" y="2325688"/>
          <a:ext cx="2624137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79" r:id="rId5" imgW="1638300" imgH="914400" progId="Equation.DSMT4">
                  <p:embed/>
                </p:oleObj>
              </mc:Choice>
              <mc:Fallback>
                <p:oleObj r:id="rId5" imgW="1638300" imgH="9144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24588" y="2325688"/>
                        <a:ext cx="2624137" cy="1463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6"/>
          <p:cNvGraphicFramePr>
            <a:graphicFrameLocks noChangeAspect="1"/>
          </p:cNvGraphicFramePr>
          <p:nvPr/>
        </p:nvGraphicFramePr>
        <p:xfrm>
          <a:off x="2438400" y="914400"/>
          <a:ext cx="2667000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0" r:id="rId7" imgW="1270000" imgH="609600" progId="Equation.3">
                  <p:embed/>
                </p:oleObj>
              </mc:Choice>
              <mc:Fallback>
                <p:oleObj r:id="rId7" imgW="1270000" imgH="6096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38400" y="914400"/>
                        <a:ext cx="2667000" cy="1160463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135" name="Group 7"/>
          <p:cNvGrpSpPr/>
          <p:nvPr/>
        </p:nvGrpSpPr>
        <p:grpSpPr>
          <a:xfrm>
            <a:off x="6553200" y="563563"/>
            <a:ext cx="1968500" cy="1712912"/>
            <a:chOff x="4520" y="2400"/>
            <a:chExt cx="1240" cy="1226"/>
          </a:xfrm>
        </p:grpSpPr>
        <p:sp>
          <p:nvSpPr>
            <p:cNvPr id="39958" name="AutoShape 8"/>
            <p:cNvSpPr/>
            <p:nvPr/>
          </p:nvSpPr>
          <p:spPr>
            <a:xfrm>
              <a:off x="4680" y="2592"/>
              <a:ext cx="840" cy="768"/>
            </a:xfrm>
            <a:prstGeom prst="triangle">
              <a:avLst>
                <a:gd name="adj" fmla="val 52380"/>
              </a:avLst>
            </a:prstGeom>
            <a:noFill/>
            <a:ln w="9525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9959" name="Line 9"/>
            <p:cNvSpPr/>
            <p:nvPr/>
          </p:nvSpPr>
          <p:spPr>
            <a:xfrm>
              <a:off x="5120" y="2640"/>
              <a:ext cx="0" cy="480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0" name="Line 10"/>
            <p:cNvSpPr/>
            <p:nvPr/>
          </p:nvSpPr>
          <p:spPr>
            <a:xfrm flipV="1">
              <a:off x="4680" y="3120"/>
              <a:ext cx="440" cy="240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1" name="Line 11"/>
            <p:cNvSpPr/>
            <p:nvPr/>
          </p:nvSpPr>
          <p:spPr>
            <a:xfrm>
              <a:off x="5120" y="3120"/>
              <a:ext cx="400" cy="240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2" name="Text Box 12"/>
            <p:cNvSpPr txBox="1"/>
            <p:nvPr/>
          </p:nvSpPr>
          <p:spPr>
            <a:xfrm>
              <a:off x="5040" y="2400"/>
              <a:ext cx="280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963" name="Text Box 13"/>
            <p:cNvSpPr txBox="1"/>
            <p:nvPr/>
          </p:nvSpPr>
          <p:spPr>
            <a:xfrm>
              <a:off x="5120" y="2928"/>
              <a:ext cx="200" cy="26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964" name="Text Box 14"/>
            <p:cNvSpPr txBox="1"/>
            <p:nvPr/>
          </p:nvSpPr>
          <p:spPr>
            <a:xfrm>
              <a:off x="5520" y="3264"/>
              <a:ext cx="240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9965" name="Text Box 15"/>
            <p:cNvSpPr txBox="1"/>
            <p:nvPr/>
          </p:nvSpPr>
          <p:spPr>
            <a:xfrm>
              <a:off x="4520" y="3273"/>
              <a:ext cx="320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9966" name="Line 16"/>
            <p:cNvSpPr/>
            <p:nvPr/>
          </p:nvSpPr>
          <p:spPr>
            <a:xfrm>
              <a:off x="5120" y="2736"/>
              <a:ext cx="0" cy="192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67" name="Line 17"/>
            <p:cNvSpPr/>
            <p:nvPr/>
          </p:nvSpPr>
          <p:spPr>
            <a:xfrm flipV="1">
              <a:off x="4840" y="2880"/>
              <a:ext cx="120" cy="192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68" name="Line 18"/>
            <p:cNvSpPr/>
            <p:nvPr/>
          </p:nvSpPr>
          <p:spPr>
            <a:xfrm>
              <a:off x="5280" y="2880"/>
              <a:ext cx="120" cy="240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69" name="Line 19"/>
            <p:cNvSpPr/>
            <p:nvPr/>
          </p:nvSpPr>
          <p:spPr>
            <a:xfrm flipH="1">
              <a:off x="5000" y="3360"/>
              <a:ext cx="200" cy="0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70" name="Line 20"/>
            <p:cNvSpPr/>
            <p:nvPr/>
          </p:nvSpPr>
          <p:spPr>
            <a:xfrm flipH="1">
              <a:off x="4840" y="3168"/>
              <a:ext cx="200" cy="96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71" name="Line 21"/>
            <p:cNvSpPr/>
            <p:nvPr/>
          </p:nvSpPr>
          <p:spPr>
            <a:xfrm>
              <a:off x="5120" y="3120"/>
              <a:ext cx="240" cy="144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72" name="Text Box 22"/>
            <p:cNvSpPr txBox="1"/>
            <p:nvPr/>
          </p:nvSpPr>
          <p:spPr>
            <a:xfrm>
              <a:off x="5040" y="3408"/>
              <a:ext cx="280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(4)</a:t>
              </a:r>
            </a:p>
          </p:txBody>
        </p:sp>
      </p:grpSp>
      <p:sp>
        <p:nvSpPr>
          <p:cNvPr id="39942" name="Text Box 23"/>
          <p:cNvSpPr txBox="1"/>
          <p:nvPr/>
        </p:nvSpPr>
        <p:spPr>
          <a:xfrm>
            <a:off x="533400" y="381000"/>
            <a:ext cx="6172200" cy="519113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双向连通竞赛图</a:t>
            </a:r>
            <a:r>
              <a:rPr lang="en-US" altLang="zh-CN" sz="2800" b="1">
                <a:latin typeface="Times New Roman" panose="02020603050405020304" pitchFamily="18" charset="0"/>
              </a:rPr>
              <a:t>G=(</a:t>
            </a:r>
            <a:r>
              <a:rPr lang="en-US" altLang="zh-CN" sz="2800" b="1" i="1">
                <a:latin typeface="Times New Roman" panose="02020603050405020304" pitchFamily="18" charset="0"/>
              </a:rPr>
              <a:t>V,E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的名次排序</a:t>
            </a:r>
          </a:p>
        </p:txBody>
      </p:sp>
      <p:sp>
        <p:nvSpPr>
          <p:cNvPr id="48152" name="Text Box 24"/>
          <p:cNvSpPr txBox="1"/>
          <p:nvPr/>
        </p:nvSpPr>
        <p:spPr>
          <a:xfrm>
            <a:off x="533400" y="1143000"/>
            <a:ext cx="1752600" cy="519113"/>
          </a:xfrm>
          <a:prstGeom prst="rect">
            <a:avLst/>
          </a:prstGeom>
          <a:solidFill>
            <a:srgbClr val="66FF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邻接矩阵</a:t>
            </a:r>
          </a:p>
        </p:txBody>
      </p:sp>
      <p:grpSp>
        <p:nvGrpSpPr>
          <p:cNvPr id="48153" name="Group 25"/>
          <p:cNvGrpSpPr/>
          <p:nvPr/>
        </p:nvGrpSpPr>
        <p:grpSpPr>
          <a:xfrm>
            <a:off x="533400" y="2139950"/>
            <a:ext cx="4402138" cy="519113"/>
            <a:chOff x="336" y="1344"/>
            <a:chExt cx="2773" cy="327"/>
          </a:xfrm>
        </p:grpSpPr>
        <p:graphicFrame>
          <p:nvGraphicFramePr>
            <p:cNvPr id="39956" name="Object 26"/>
            <p:cNvGraphicFramePr>
              <a:graphicFrameLocks noChangeAspect="1"/>
            </p:cNvGraphicFramePr>
            <p:nvPr/>
          </p:nvGraphicFramePr>
          <p:xfrm>
            <a:off x="1726" y="1360"/>
            <a:ext cx="1383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81" r:id="rId9" imgW="1104900" imgH="241300" progId="Equation.DSMT4">
                    <p:embed/>
                  </p:oleObj>
                </mc:Choice>
                <mc:Fallback>
                  <p:oleObj r:id="rId9" imgW="1104900" imgH="241300" progId="Equation.DSMT4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726" y="1360"/>
                          <a:ext cx="1383" cy="300"/>
                        </a:xfrm>
                        <a:prstGeom prst="rect">
                          <a:avLst/>
                        </a:prstGeom>
                        <a:solidFill>
                          <a:srgbClr val="99FF33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7" name="Text Box 27"/>
            <p:cNvSpPr txBox="1"/>
            <p:nvPr/>
          </p:nvSpPr>
          <p:spPr>
            <a:xfrm>
              <a:off x="336" y="1344"/>
              <a:ext cx="1104" cy="327"/>
            </a:xfrm>
            <a:prstGeom prst="rect">
              <a:avLst/>
            </a:prstGeom>
            <a:solidFill>
              <a:srgbClr val="99FF33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得分向量</a:t>
              </a:r>
            </a:p>
          </p:txBody>
        </p:sp>
      </p:grpSp>
      <p:graphicFrame>
        <p:nvGraphicFramePr>
          <p:cNvPr id="48156" name="Object 28"/>
          <p:cNvGraphicFramePr>
            <a:graphicFrameLocks noChangeAspect="1"/>
          </p:cNvGraphicFramePr>
          <p:nvPr/>
        </p:nvGraphicFramePr>
        <p:xfrm>
          <a:off x="398463" y="4495800"/>
          <a:ext cx="575786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2" r:id="rId11" imgW="2159000" imgH="228600" progId="Equation.DSMT4">
                  <p:embed/>
                </p:oleObj>
              </mc:Choice>
              <mc:Fallback>
                <p:oleObj r:id="rId11" imgW="2159000" imgH="2286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8463" y="4495800"/>
                        <a:ext cx="5757862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7" name="Object 29"/>
          <p:cNvGraphicFramePr>
            <a:graphicFrameLocks noChangeAspect="1"/>
          </p:cNvGraphicFramePr>
          <p:nvPr/>
        </p:nvGraphicFramePr>
        <p:xfrm>
          <a:off x="6369050" y="4678363"/>
          <a:ext cx="250031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3" r:id="rId13" imgW="1206500" imgH="203200" progId="Equation.DSMT4">
                  <p:embed/>
                </p:oleObj>
              </mc:Choice>
              <mc:Fallback>
                <p:oleObj r:id="rId13" imgW="1206500" imgH="2032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369050" y="4678363"/>
                        <a:ext cx="2500313" cy="4857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8" name="Object 30"/>
          <p:cNvGraphicFramePr>
            <a:graphicFrameLocks noChangeAspect="1"/>
          </p:cNvGraphicFramePr>
          <p:nvPr/>
        </p:nvGraphicFramePr>
        <p:xfrm>
          <a:off x="6588125" y="5435600"/>
          <a:ext cx="202247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4" r:id="rId15" imgW="990600" imgH="228600" progId="Equation.DSMT4">
                  <p:embed/>
                </p:oleObj>
              </mc:Choice>
              <mc:Fallback>
                <p:oleObj r:id="rId15" imgW="990600" imgH="2286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588125" y="5435600"/>
                        <a:ext cx="2022475" cy="481013"/>
                      </a:xfrm>
                      <a:prstGeom prst="rect">
                        <a:avLst/>
                      </a:prstGeom>
                      <a:solidFill>
                        <a:srgbClr val="FF99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9" name="Object 31"/>
          <p:cNvGraphicFramePr>
            <a:graphicFrameLocks noChangeAspect="1"/>
          </p:cNvGraphicFramePr>
          <p:nvPr/>
        </p:nvGraphicFramePr>
        <p:xfrm>
          <a:off x="409575" y="5105400"/>
          <a:ext cx="56753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5" r:id="rId17" imgW="2171700" imgH="228600" progId="Equation.DSMT4">
                  <p:embed/>
                </p:oleObj>
              </mc:Choice>
              <mc:Fallback>
                <p:oleObj r:id="rId17" imgW="2171700" imgH="2286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09575" y="5105400"/>
                        <a:ext cx="5675313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60" name="Object 32"/>
          <p:cNvGraphicFramePr>
            <a:graphicFrameLocks noChangeAspect="1"/>
          </p:cNvGraphicFramePr>
          <p:nvPr/>
        </p:nvGraphicFramePr>
        <p:xfrm>
          <a:off x="433388" y="5734050"/>
          <a:ext cx="56515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6" r:id="rId19" imgW="2373630" imgH="406400" progId="Equation.DSMT4">
                  <p:embed/>
                </p:oleObj>
              </mc:Choice>
              <mc:Fallback>
                <p:oleObj r:id="rId19" imgW="2373630" imgH="4064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33388" y="5734050"/>
                        <a:ext cx="5651500" cy="895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163" name="Group 35"/>
          <p:cNvGrpSpPr/>
          <p:nvPr/>
        </p:nvGrpSpPr>
        <p:grpSpPr>
          <a:xfrm>
            <a:off x="395288" y="3213100"/>
            <a:ext cx="5905500" cy="525463"/>
            <a:chOff x="249" y="2024"/>
            <a:chExt cx="3720" cy="331"/>
          </a:xfrm>
        </p:grpSpPr>
        <p:graphicFrame>
          <p:nvGraphicFramePr>
            <p:cNvPr id="39954" name="Object 3"/>
            <p:cNvGraphicFramePr>
              <a:graphicFrameLocks noChangeAspect="1"/>
            </p:cNvGraphicFramePr>
            <p:nvPr/>
          </p:nvGraphicFramePr>
          <p:xfrm>
            <a:off x="249" y="2036"/>
            <a:ext cx="3720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87" r:id="rId21" imgW="2336800" imgH="228600" progId="Equation.DSMT4">
                    <p:embed/>
                  </p:oleObj>
                </mc:Choice>
                <mc:Fallback>
                  <p:oleObj r:id="rId21" imgW="2336800" imgH="228600" progId="Equation.DSMT4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49" y="2036"/>
                          <a:ext cx="3720" cy="3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5" name="Text Box 33"/>
            <p:cNvSpPr txBox="1"/>
            <p:nvPr/>
          </p:nvSpPr>
          <p:spPr>
            <a:xfrm>
              <a:off x="2653" y="2024"/>
              <a:ext cx="324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600" dirty="0">
                  <a:latin typeface="Times New Roman" panose="02020603050405020304" pitchFamily="18" charset="0"/>
                  <a:ea typeface="楷体_GB2312" pitchFamily="49" charset="-122"/>
                </a:rPr>
                <a:t>级</a:t>
              </a:r>
            </a:p>
          </p:txBody>
        </p:sp>
      </p:grpSp>
      <p:grpSp>
        <p:nvGrpSpPr>
          <p:cNvPr id="48164" name="Group 36"/>
          <p:cNvGrpSpPr/>
          <p:nvPr/>
        </p:nvGrpSpPr>
        <p:grpSpPr>
          <a:xfrm>
            <a:off x="395288" y="3835400"/>
            <a:ext cx="5976937" cy="534988"/>
            <a:chOff x="249" y="2416"/>
            <a:chExt cx="3765" cy="337"/>
          </a:xfrm>
        </p:grpSpPr>
        <p:graphicFrame>
          <p:nvGraphicFramePr>
            <p:cNvPr id="39952" name="Object 4"/>
            <p:cNvGraphicFramePr>
              <a:graphicFrameLocks noChangeAspect="1"/>
            </p:cNvGraphicFramePr>
            <p:nvPr/>
          </p:nvGraphicFramePr>
          <p:xfrm>
            <a:off x="249" y="2420"/>
            <a:ext cx="3765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88" r:id="rId23" imgW="2463800" imgH="228600" progId="Equation.DSMT4">
                    <p:embed/>
                  </p:oleObj>
                </mc:Choice>
                <mc:Fallback>
                  <p:oleObj r:id="rId23" imgW="2463800" imgH="228600" progId="Equation.DSMT4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49" y="2420"/>
                          <a:ext cx="3765" cy="3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3" name="Text Box 34"/>
            <p:cNvSpPr txBox="1"/>
            <p:nvPr/>
          </p:nvSpPr>
          <p:spPr>
            <a:xfrm>
              <a:off x="2783" y="2416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Times New Roman" panose="02020603050405020304" pitchFamily="18" charset="0"/>
                  <a:ea typeface="楷体_GB2312" pitchFamily="49" charset="-122"/>
                </a:rPr>
                <a:t>级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48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" dur="10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1000"/>
                                        <p:tgtEl>
                                          <p:spTgt spid="4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10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8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1000"/>
                                        <p:tgtEl>
                                          <p:spTgt spid="48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8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1000"/>
                                        <p:tgtEl>
                                          <p:spTgt spid="48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1000"/>
                                        <p:tgtEl>
                                          <p:spTgt spid="48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9" dur="1000"/>
                                        <p:tgtEl>
                                          <p:spTgt spid="48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1000"/>
                                        <p:tgtEl>
                                          <p:spTgt spid="48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5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/>
          <p:nvPr/>
        </p:nvSpPr>
        <p:spPr>
          <a:xfrm>
            <a:off x="533400" y="457200"/>
            <a:ext cx="4572000" cy="519113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双向连通竞赛图的名次排序</a:t>
            </a:r>
          </a:p>
        </p:txBody>
      </p:sp>
      <p:sp>
        <p:nvSpPr>
          <p:cNvPr id="49155" name="Text Box 3"/>
          <p:cNvSpPr txBox="1"/>
          <p:nvPr/>
        </p:nvSpPr>
        <p:spPr>
          <a:xfrm>
            <a:off x="990600" y="1066800"/>
            <a:ext cx="7326313" cy="1138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对于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</a:rPr>
              <a:t>(&gt;3)</a:t>
            </a:r>
            <a:r>
              <a:rPr lang="zh-CN" altLang="en-US" sz="2800" b="1" dirty="0">
                <a:latin typeface="Times New Roman" panose="02020603050405020304" pitchFamily="18" charset="0"/>
              </a:rPr>
              <a:t>个顶点的双向连通竞赛图，存在</a:t>
            </a: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  正整数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</a:rPr>
              <a:t>，使邻接矩阵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满足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30000" err="1">
                <a:latin typeface="Times New Roman" panose="02020603050405020304" pitchFamily="18" charset="0"/>
              </a:rPr>
              <a:t>r</a:t>
            </a:r>
            <a:r>
              <a:rPr lang="en-US" altLang="zh-CN" sz="2800" b="1" i="1" baseline="30000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&gt;0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称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素阵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49159" name="Object 7"/>
          <p:cNvGraphicFramePr>
            <a:graphicFrameLocks noChangeAspect="1"/>
          </p:cNvGraphicFramePr>
          <p:nvPr/>
        </p:nvGraphicFramePr>
        <p:xfrm>
          <a:off x="5651500" y="485775"/>
          <a:ext cx="243522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3" r:id="rId3" imgW="1206500" imgH="203200" progId="Equation.DSMT4">
                  <p:embed/>
                </p:oleObj>
              </mc:Choice>
              <mc:Fallback>
                <p:oleObj r:id="rId3" imgW="1206500" imgH="2032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51500" y="485775"/>
                        <a:ext cx="2435225" cy="474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0" name="Object 8"/>
          <p:cNvGraphicFramePr>
            <a:graphicFrameLocks noChangeAspect="1"/>
          </p:cNvGraphicFramePr>
          <p:nvPr/>
        </p:nvGraphicFramePr>
        <p:xfrm>
          <a:off x="1763713" y="4292600"/>
          <a:ext cx="2654300" cy="148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4" r:id="rId5" imgW="1638300" imgH="914400" progId="Equation.DSMT4">
                  <p:embed/>
                </p:oleObj>
              </mc:Choice>
              <mc:Fallback>
                <p:oleObj r:id="rId5" imgW="1638300" imgH="9144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63713" y="4292600"/>
                        <a:ext cx="2654300" cy="1481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1" name="Text Box 9"/>
          <p:cNvSpPr txBox="1"/>
          <p:nvPr/>
        </p:nvSpPr>
        <p:spPr>
          <a:xfrm>
            <a:off x="5105400" y="5562600"/>
            <a:ext cx="3352800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排名为</a:t>
            </a:r>
            <a:r>
              <a:rPr lang="en-US" altLang="zh-CN" sz="2800" b="1">
                <a:latin typeface="Times New Roman" panose="02020603050405020304" pitchFamily="18" charset="0"/>
              </a:rPr>
              <a:t>{1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</a:rPr>
              <a:t>4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</a:rPr>
              <a:t>3}</a:t>
            </a:r>
          </a:p>
        </p:txBody>
      </p:sp>
      <p:grpSp>
        <p:nvGrpSpPr>
          <p:cNvPr id="49162" name="Group 10"/>
          <p:cNvGrpSpPr/>
          <p:nvPr/>
        </p:nvGrpSpPr>
        <p:grpSpPr>
          <a:xfrm>
            <a:off x="1295400" y="3581400"/>
            <a:ext cx="4800600" cy="560388"/>
            <a:chOff x="816" y="2352"/>
            <a:chExt cx="3024" cy="353"/>
          </a:xfrm>
        </p:grpSpPr>
        <p:graphicFrame>
          <p:nvGraphicFramePr>
            <p:cNvPr id="41006" name="Object 11"/>
            <p:cNvGraphicFramePr>
              <a:graphicFrameLocks noChangeAspect="1"/>
            </p:cNvGraphicFramePr>
            <p:nvPr/>
          </p:nvGraphicFramePr>
          <p:xfrm>
            <a:off x="1160" y="2352"/>
            <a:ext cx="2680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55" r:id="rId7" imgW="2082800" imgH="266700" progId="Equation.DSMT4">
                    <p:embed/>
                  </p:oleObj>
                </mc:Choice>
                <mc:Fallback>
                  <p:oleObj r:id="rId7" imgW="2082800" imgH="266700" progId="Equation.DSMT4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160" y="2352"/>
                          <a:ext cx="2680" cy="353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07" name="AutoShape 12"/>
            <p:cNvSpPr/>
            <p:nvPr/>
          </p:nvSpPr>
          <p:spPr>
            <a:xfrm>
              <a:off x="816" y="2400"/>
              <a:ext cx="144" cy="288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9165" name="Group 13"/>
          <p:cNvGrpSpPr/>
          <p:nvPr/>
        </p:nvGrpSpPr>
        <p:grpSpPr>
          <a:xfrm>
            <a:off x="4475163" y="4383088"/>
            <a:ext cx="4418012" cy="917575"/>
            <a:chOff x="2784" y="2857"/>
            <a:chExt cx="2692" cy="557"/>
          </a:xfrm>
        </p:grpSpPr>
        <p:graphicFrame>
          <p:nvGraphicFramePr>
            <p:cNvPr id="41004" name="Object 14"/>
            <p:cNvGraphicFramePr>
              <a:graphicFrameLocks noChangeAspect="1"/>
            </p:cNvGraphicFramePr>
            <p:nvPr/>
          </p:nvGraphicFramePr>
          <p:xfrm>
            <a:off x="3211" y="2857"/>
            <a:ext cx="2265" cy="5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56" r:id="rId9" imgW="1955800" imgH="457200" progId="Equation.DSMT4">
                    <p:embed/>
                  </p:oleObj>
                </mc:Choice>
                <mc:Fallback>
                  <p:oleObj r:id="rId9" imgW="1955800" imgH="457200" progId="Equation.DSMT4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211" y="2857"/>
                          <a:ext cx="2265" cy="5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05" name="AutoShape 15"/>
            <p:cNvSpPr/>
            <p:nvPr/>
          </p:nvSpPr>
          <p:spPr>
            <a:xfrm>
              <a:off x="2784" y="2976"/>
              <a:ext cx="96" cy="288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9168" name="Group 16"/>
          <p:cNvGrpSpPr/>
          <p:nvPr/>
        </p:nvGrpSpPr>
        <p:grpSpPr>
          <a:xfrm>
            <a:off x="6553200" y="3581400"/>
            <a:ext cx="1905000" cy="519113"/>
            <a:chOff x="4128" y="2352"/>
            <a:chExt cx="1200" cy="327"/>
          </a:xfrm>
        </p:grpSpPr>
        <p:sp>
          <p:nvSpPr>
            <p:cNvPr id="41002" name="Text Box 17"/>
            <p:cNvSpPr txBox="1"/>
            <p:nvPr/>
          </p:nvSpPr>
          <p:spPr>
            <a:xfrm>
              <a:off x="4416" y="2352"/>
              <a:ext cx="912" cy="327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用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s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排名</a:t>
              </a:r>
            </a:p>
          </p:txBody>
        </p:sp>
        <p:sp>
          <p:nvSpPr>
            <p:cNvPr id="41003" name="AutoShape 18"/>
            <p:cNvSpPr/>
            <p:nvPr/>
          </p:nvSpPr>
          <p:spPr>
            <a:xfrm>
              <a:off x="4128" y="2352"/>
              <a:ext cx="144" cy="288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9171" name="Group 19"/>
          <p:cNvGrpSpPr/>
          <p:nvPr/>
        </p:nvGrpSpPr>
        <p:grpSpPr>
          <a:xfrm>
            <a:off x="12700" y="4038600"/>
            <a:ext cx="1968500" cy="1905000"/>
            <a:chOff x="4520" y="2400"/>
            <a:chExt cx="1240" cy="1200"/>
          </a:xfrm>
        </p:grpSpPr>
        <p:sp>
          <p:nvSpPr>
            <p:cNvPr id="40987" name="AutoShape 20"/>
            <p:cNvSpPr/>
            <p:nvPr/>
          </p:nvSpPr>
          <p:spPr>
            <a:xfrm>
              <a:off x="4680" y="2592"/>
              <a:ext cx="840" cy="768"/>
            </a:xfrm>
            <a:prstGeom prst="triangle">
              <a:avLst>
                <a:gd name="adj" fmla="val 52380"/>
              </a:avLst>
            </a:prstGeom>
            <a:noFill/>
            <a:ln w="9525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0988" name="Line 21"/>
            <p:cNvSpPr/>
            <p:nvPr/>
          </p:nvSpPr>
          <p:spPr>
            <a:xfrm>
              <a:off x="5120" y="2640"/>
              <a:ext cx="0" cy="480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9" name="Line 22"/>
            <p:cNvSpPr/>
            <p:nvPr/>
          </p:nvSpPr>
          <p:spPr>
            <a:xfrm flipV="1">
              <a:off x="4680" y="3120"/>
              <a:ext cx="440" cy="240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0" name="Line 23"/>
            <p:cNvSpPr/>
            <p:nvPr/>
          </p:nvSpPr>
          <p:spPr>
            <a:xfrm>
              <a:off x="5120" y="3120"/>
              <a:ext cx="400" cy="240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1" name="Text Box 24"/>
            <p:cNvSpPr txBox="1"/>
            <p:nvPr/>
          </p:nvSpPr>
          <p:spPr>
            <a:xfrm>
              <a:off x="5040" y="2400"/>
              <a:ext cx="28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0992" name="Text Box 25"/>
            <p:cNvSpPr txBox="1"/>
            <p:nvPr/>
          </p:nvSpPr>
          <p:spPr>
            <a:xfrm>
              <a:off x="5120" y="2928"/>
              <a:ext cx="20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0993" name="Text Box 26"/>
            <p:cNvSpPr txBox="1"/>
            <p:nvPr/>
          </p:nvSpPr>
          <p:spPr>
            <a:xfrm>
              <a:off x="5520" y="3264"/>
              <a:ext cx="2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0994" name="Text Box 27"/>
            <p:cNvSpPr txBox="1"/>
            <p:nvPr/>
          </p:nvSpPr>
          <p:spPr>
            <a:xfrm>
              <a:off x="4520" y="3273"/>
              <a:ext cx="32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0995" name="Line 28"/>
            <p:cNvSpPr/>
            <p:nvPr/>
          </p:nvSpPr>
          <p:spPr>
            <a:xfrm>
              <a:off x="5120" y="2736"/>
              <a:ext cx="0" cy="192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96" name="Line 29"/>
            <p:cNvSpPr/>
            <p:nvPr/>
          </p:nvSpPr>
          <p:spPr>
            <a:xfrm flipV="1">
              <a:off x="4840" y="2880"/>
              <a:ext cx="120" cy="192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97" name="Line 30"/>
            <p:cNvSpPr/>
            <p:nvPr/>
          </p:nvSpPr>
          <p:spPr>
            <a:xfrm>
              <a:off x="5280" y="2880"/>
              <a:ext cx="120" cy="240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98" name="Line 31"/>
            <p:cNvSpPr/>
            <p:nvPr/>
          </p:nvSpPr>
          <p:spPr>
            <a:xfrm flipH="1">
              <a:off x="5000" y="3360"/>
              <a:ext cx="200" cy="0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99" name="Line 32"/>
            <p:cNvSpPr/>
            <p:nvPr/>
          </p:nvSpPr>
          <p:spPr>
            <a:xfrm flipH="1">
              <a:off x="4840" y="3168"/>
              <a:ext cx="200" cy="96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000" name="Line 33"/>
            <p:cNvSpPr/>
            <p:nvPr/>
          </p:nvSpPr>
          <p:spPr>
            <a:xfrm>
              <a:off x="5120" y="3120"/>
              <a:ext cx="240" cy="144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001" name="Text Box 34"/>
            <p:cNvSpPr txBox="1"/>
            <p:nvPr/>
          </p:nvSpPr>
          <p:spPr>
            <a:xfrm>
              <a:off x="5040" y="3408"/>
              <a:ext cx="28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(4)</a:t>
              </a:r>
            </a:p>
          </p:txBody>
        </p:sp>
      </p:grpSp>
      <p:sp>
        <p:nvSpPr>
          <p:cNvPr id="49187" name="Text Box 35"/>
          <p:cNvSpPr txBox="1"/>
          <p:nvPr/>
        </p:nvSpPr>
        <p:spPr>
          <a:xfrm>
            <a:off x="152400" y="5943600"/>
            <a:ext cx="16764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{1, 2, 3, 4}?</a:t>
            </a:r>
          </a:p>
        </p:txBody>
      </p:sp>
      <p:grpSp>
        <p:nvGrpSpPr>
          <p:cNvPr id="49204" name="Group 52"/>
          <p:cNvGrpSpPr/>
          <p:nvPr/>
        </p:nvGrpSpPr>
        <p:grpSpPr>
          <a:xfrm>
            <a:off x="914400" y="2286000"/>
            <a:ext cx="7165975" cy="1143000"/>
            <a:chOff x="576" y="1440"/>
            <a:chExt cx="4514" cy="720"/>
          </a:xfrm>
        </p:grpSpPr>
        <p:sp>
          <p:nvSpPr>
            <p:cNvPr id="40973" name="Text Box 6"/>
            <p:cNvSpPr txBox="1"/>
            <p:nvPr/>
          </p:nvSpPr>
          <p:spPr>
            <a:xfrm>
              <a:off x="576" y="1440"/>
              <a:ext cx="2976" cy="704"/>
            </a:xfrm>
            <a:prstGeom prst="rect">
              <a:avLst/>
            </a:prstGeom>
            <a:solidFill>
              <a:srgbClr val="99FF33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buChar char="•"/>
              </a:pPr>
              <a:r>
                <a:rPr lang="en-US" altLang="zh-CN" sz="2800" b="1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素阵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A</a:t>
              </a:r>
              <a:r>
                <a:rPr lang="zh-CN" altLang="zh-CN" sz="2800" b="1" dirty="0">
                  <a:latin typeface="Times New Roman" panose="02020603050405020304" pitchFamily="18" charset="0"/>
                </a:rPr>
                <a:t>的最大特征根为正单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  </a:t>
              </a:r>
              <a:r>
                <a:rPr lang="zh-CN" altLang="zh-CN" sz="2800" b="1" dirty="0">
                  <a:latin typeface="Times New Roman" panose="02020603050405020304" pitchFamily="18" charset="0"/>
                </a:rPr>
                <a:t>根</a:t>
              </a:r>
              <a:r>
                <a:rPr lang="zh-CN" altLang="zh-CN" sz="28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zh-CN" altLang="zh-CN" sz="2800" b="1" dirty="0">
                  <a:latin typeface="Times New Roman" panose="02020603050405020304" pitchFamily="18" charset="0"/>
                </a:rPr>
                <a:t>，对应正特征向量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s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，</a:t>
              </a:r>
              <a:r>
                <a:rPr lang="zh-CN" altLang="zh-CN" sz="2800" b="1" dirty="0">
                  <a:latin typeface="Times New Roman" panose="02020603050405020304" pitchFamily="18" charset="0"/>
                </a:rPr>
                <a:t>且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74" name="AutoShape 36"/>
            <p:cNvSpPr>
              <a:spLocks noChangeAspect="1" noTextEdit="1"/>
            </p:cNvSpPr>
            <p:nvPr/>
          </p:nvSpPr>
          <p:spPr>
            <a:xfrm>
              <a:off x="3606" y="1480"/>
              <a:ext cx="1484" cy="68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5" name="Line 38"/>
            <p:cNvSpPr/>
            <p:nvPr/>
          </p:nvSpPr>
          <p:spPr>
            <a:xfrm>
              <a:off x="4106" y="1842"/>
              <a:ext cx="488" cy="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6" name="Rectangle 39"/>
            <p:cNvSpPr/>
            <p:nvPr/>
          </p:nvSpPr>
          <p:spPr>
            <a:xfrm>
              <a:off x="4928" y="1670"/>
              <a:ext cx="106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77" name="Rectangle 40"/>
            <p:cNvSpPr/>
            <p:nvPr/>
          </p:nvSpPr>
          <p:spPr>
            <a:xfrm>
              <a:off x="4444" y="1503"/>
              <a:ext cx="121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78" name="Rectangle 41"/>
            <p:cNvSpPr/>
            <p:nvPr/>
          </p:nvSpPr>
          <p:spPr>
            <a:xfrm>
              <a:off x="4147" y="1503"/>
              <a:ext cx="181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79" name="Rectangle 42"/>
            <p:cNvSpPr/>
            <p:nvPr/>
          </p:nvSpPr>
          <p:spPr>
            <a:xfrm>
              <a:off x="4380" y="1834"/>
              <a:ext cx="64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k</a:t>
              </a:r>
              <a:endParaRPr lang="en-US" altLang="zh-CN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80" name="Rectangle 43"/>
            <p:cNvSpPr/>
            <p:nvPr/>
          </p:nvSpPr>
          <p:spPr>
            <a:xfrm>
              <a:off x="4351" y="1509"/>
              <a:ext cx="64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k</a:t>
              </a:r>
              <a:endParaRPr lang="en-US" altLang="zh-CN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81" name="Rectangle 44"/>
            <p:cNvSpPr/>
            <p:nvPr/>
          </p:nvSpPr>
          <p:spPr>
            <a:xfrm>
              <a:off x="3681" y="1923"/>
              <a:ext cx="64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k</a:t>
              </a:r>
              <a:endParaRPr lang="en-US" altLang="zh-CN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82" name="Rectangle 45"/>
            <p:cNvSpPr/>
            <p:nvPr/>
          </p:nvSpPr>
          <p:spPr>
            <a:xfrm>
              <a:off x="4677" y="1639"/>
              <a:ext cx="149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400" b="1">
                  <a:solidFill>
                    <a:srgbClr val="FF0000"/>
                  </a:solidFill>
                  <a:latin typeface="Symbol" panose="05050102010706020507" pitchFamily="18" charset="2"/>
                </a:rPr>
                <a:t>=</a:t>
              </a:r>
              <a:endParaRPr lang="en-US" altLang="zh-CN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83" name="Rectangle 46"/>
            <p:cNvSpPr/>
            <p:nvPr/>
          </p:nvSpPr>
          <p:spPr>
            <a:xfrm>
              <a:off x="3914" y="1909"/>
              <a:ext cx="91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 b="1">
                  <a:solidFill>
                    <a:srgbClr val="FF0000"/>
                  </a:solidFill>
                  <a:latin typeface="Symbol" panose="05050102010706020507" pitchFamily="18" charset="2"/>
                </a:rPr>
                <a:t>¥</a:t>
              </a:r>
              <a:endParaRPr lang="en-US" altLang="zh-CN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84" name="Rectangle 47"/>
            <p:cNvSpPr/>
            <p:nvPr/>
          </p:nvSpPr>
          <p:spPr>
            <a:xfrm>
              <a:off x="3764" y="1909"/>
              <a:ext cx="12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 b="1">
                  <a:solidFill>
                    <a:srgbClr val="FF0000"/>
                  </a:solidFill>
                  <a:latin typeface="Symbol" panose="05050102010706020507" pitchFamily="18" charset="2"/>
                </a:rPr>
                <a:t>®</a:t>
              </a:r>
              <a:endParaRPr lang="en-US" altLang="zh-CN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85" name="Rectangle 48"/>
            <p:cNvSpPr/>
            <p:nvPr/>
          </p:nvSpPr>
          <p:spPr>
            <a:xfrm>
              <a:off x="4207" y="1797"/>
              <a:ext cx="149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400" b="1" i="1">
                  <a:solidFill>
                    <a:srgbClr val="FF0000"/>
                  </a:solidFill>
                  <a:latin typeface="Symbol" panose="05050102010706020507" pitchFamily="18" charset="2"/>
                </a:rPr>
                <a:t>l</a:t>
              </a:r>
              <a:endParaRPr lang="en-US" altLang="zh-CN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86" name="Rectangle 49"/>
            <p:cNvSpPr/>
            <p:nvPr/>
          </p:nvSpPr>
          <p:spPr>
            <a:xfrm>
              <a:off x="3638" y="1670"/>
              <a:ext cx="379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400" b="1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lim</a:t>
              </a:r>
              <a:endParaRPr lang="en-US" altLang="zh-CN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1000"/>
                                        <p:tgtEl>
                                          <p:spTgt spid="4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" dur="10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9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49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9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9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10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10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49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9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animBg="1"/>
      <p:bldP spid="49161" grpId="0" animBg="1"/>
      <p:bldP spid="4918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Object 2"/>
          <p:cNvGraphicFramePr>
            <a:graphicFrameLocks noChangeAspect="1"/>
          </p:cNvGraphicFramePr>
          <p:nvPr/>
        </p:nvGraphicFramePr>
        <p:xfrm>
          <a:off x="4284663" y="711200"/>
          <a:ext cx="3671887" cy="233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1" r:id="rId3" imgW="1587500" imgH="1371600" progId="Equation.DSMT4">
                  <p:embed/>
                </p:oleObj>
              </mc:Choice>
              <mc:Fallback>
                <p:oleObj r:id="rId3" imgW="1587500" imgH="13716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84663" y="711200"/>
                        <a:ext cx="3671887" cy="2330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9" name="Object 3"/>
          <p:cNvGraphicFramePr>
            <a:graphicFrameLocks noChangeAspect="1"/>
          </p:cNvGraphicFramePr>
          <p:nvPr/>
        </p:nvGraphicFramePr>
        <p:xfrm>
          <a:off x="4532313" y="3286125"/>
          <a:ext cx="3246437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2" r:id="rId5" imgW="1295400" imgH="228600" progId="Equation.DSMT4">
                  <p:embed/>
                </p:oleObj>
              </mc:Choice>
              <mc:Fallback>
                <p:oleObj r:id="rId5" imgW="1295400" imgH="2286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32313" y="3286125"/>
                        <a:ext cx="3246437" cy="522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180" name="Group 4"/>
          <p:cNvGrpSpPr/>
          <p:nvPr/>
        </p:nvGrpSpPr>
        <p:grpSpPr>
          <a:xfrm>
            <a:off x="179388" y="981075"/>
            <a:ext cx="3744912" cy="3044825"/>
            <a:chOff x="3216" y="480"/>
            <a:chExt cx="2400" cy="2010"/>
          </a:xfrm>
        </p:grpSpPr>
        <p:sp>
          <p:nvSpPr>
            <p:cNvPr id="41999" name="Line 5"/>
            <p:cNvSpPr/>
            <p:nvPr/>
          </p:nvSpPr>
          <p:spPr>
            <a:xfrm flipV="1">
              <a:off x="3888" y="1431"/>
              <a:ext cx="1488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0" name="Line 6"/>
            <p:cNvSpPr/>
            <p:nvPr/>
          </p:nvSpPr>
          <p:spPr>
            <a:xfrm>
              <a:off x="3888" y="663"/>
              <a:ext cx="0" cy="15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1" name="Line 7"/>
            <p:cNvSpPr/>
            <p:nvPr/>
          </p:nvSpPr>
          <p:spPr>
            <a:xfrm flipH="1">
              <a:off x="3888" y="663"/>
              <a:ext cx="1008" cy="15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2" name="Line 8"/>
            <p:cNvSpPr/>
            <p:nvPr/>
          </p:nvSpPr>
          <p:spPr>
            <a:xfrm>
              <a:off x="3888" y="663"/>
              <a:ext cx="1008" cy="15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3" name="Line 9"/>
            <p:cNvSpPr/>
            <p:nvPr/>
          </p:nvSpPr>
          <p:spPr>
            <a:xfrm>
              <a:off x="3888" y="663"/>
              <a:ext cx="1488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4" name="Line 10"/>
            <p:cNvSpPr/>
            <p:nvPr/>
          </p:nvSpPr>
          <p:spPr>
            <a:xfrm flipV="1">
              <a:off x="3408" y="1431"/>
              <a:ext cx="19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5" name="Line 11"/>
            <p:cNvSpPr/>
            <p:nvPr/>
          </p:nvSpPr>
          <p:spPr>
            <a:xfrm flipV="1">
              <a:off x="3408" y="663"/>
              <a:ext cx="1488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6" name="Line 12"/>
            <p:cNvSpPr/>
            <p:nvPr/>
          </p:nvSpPr>
          <p:spPr>
            <a:xfrm>
              <a:off x="4896" y="663"/>
              <a:ext cx="0" cy="15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7" name="Line 13"/>
            <p:cNvSpPr/>
            <p:nvPr/>
          </p:nvSpPr>
          <p:spPr>
            <a:xfrm>
              <a:off x="3408" y="1431"/>
              <a:ext cx="1488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8" name="Line 14"/>
            <p:cNvSpPr/>
            <p:nvPr/>
          </p:nvSpPr>
          <p:spPr>
            <a:xfrm>
              <a:off x="4224" y="663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09" name="Line 15"/>
            <p:cNvSpPr/>
            <p:nvPr/>
          </p:nvSpPr>
          <p:spPr>
            <a:xfrm flipH="1" flipV="1">
              <a:off x="5088" y="999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10" name="Line 16"/>
            <p:cNvSpPr/>
            <p:nvPr/>
          </p:nvSpPr>
          <p:spPr>
            <a:xfrm flipH="1">
              <a:off x="5088" y="1719"/>
              <a:ext cx="144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11" name="Line 17"/>
            <p:cNvSpPr/>
            <p:nvPr/>
          </p:nvSpPr>
          <p:spPr>
            <a:xfrm flipH="1">
              <a:off x="4272" y="2247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12" name="Line 18"/>
            <p:cNvSpPr/>
            <p:nvPr/>
          </p:nvSpPr>
          <p:spPr>
            <a:xfrm flipH="1" flipV="1">
              <a:off x="3648" y="1815"/>
              <a:ext cx="96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13" name="Line 19"/>
            <p:cNvSpPr/>
            <p:nvPr/>
          </p:nvSpPr>
          <p:spPr>
            <a:xfrm flipH="1">
              <a:off x="3648" y="903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14" name="Line 20"/>
            <p:cNvSpPr/>
            <p:nvPr/>
          </p:nvSpPr>
          <p:spPr>
            <a:xfrm flipH="1" flipV="1">
              <a:off x="4464" y="951"/>
              <a:ext cx="96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15" name="Line 21"/>
            <p:cNvSpPr/>
            <p:nvPr/>
          </p:nvSpPr>
          <p:spPr>
            <a:xfrm>
              <a:off x="4560" y="1431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16" name="Line 22"/>
            <p:cNvSpPr/>
            <p:nvPr/>
          </p:nvSpPr>
          <p:spPr>
            <a:xfrm flipV="1">
              <a:off x="4416" y="1863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17" name="Line 23"/>
            <p:cNvSpPr/>
            <p:nvPr/>
          </p:nvSpPr>
          <p:spPr>
            <a:xfrm>
              <a:off x="4464" y="1575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18" name="Line 24"/>
            <p:cNvSpPr/>
            <p:nvPr/>
          </p:nvSpPr>
          <p:spPr>
            <a:xfrm>
              <a:off x="4896" y="1431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19" name="Line 25"/>
            <p:cNvSpPr/>
            <p:nvPr/>
          </p:nvSpPr>
          <p:spPr>
            <a:xfrm flipH="1" flipV="1">
              <a:off x="3936" y="1719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20" name="Line 26"/>
            <p:cNvSpPr/>
            <p:nvPr/>
          </p:nvSpPr>
          <p:spPr>
            <a:xfrm>
              <a:off x="3888" y="1479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21" name="Line 27"/>
            <p:cNvSpPr/>
            <p:nvPr/>
          </p:nvSpPr>
          <p:spPr>
            <a:xfrm flipH="1">
              <a:off x="3984" y="1047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22" name="Text Box 28"/>
            <p:cNvSpPr txBox="1"/>
            <p:nvPr/>
          </p:nvSpPr>
          <p:spPr>
            <a:xfrm>
              <a:off x="3792" y="480"/>
              <a:ext cx="240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2023" name="Text Box 29"/>
            <p:cNvSpPr txBox="1"/>
            <p:nvPr/>
          </p:nvSpPr>
          <p:spPr>
            <a:xfrm>
              <a:off x="4800" y="480"/>
              <a:ext cx="288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2024" name="Text Box 30"/>
            <p:cNvSpPr txBox="1"/>
            <p:nvPr/>
          </p:nvSpPr>
          <p:spPr>
            <a:xfrm>
              <a:off x="5376" y="1344"/>
              <a:ext cx="240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2025" name="Text Box 31"/>
            <p:cNvSpPr txBox="1"/>
            <p:nvPr/>
          </p:nvSpPr>
          <p:spPr>
            <a:xfrm>
              <a:off x="4800" y="2208"/>
              <a:ext cx="288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2026" name="Text Box 32"/>
            <p:cNvSpPr txBox="1"/>
            <p:nvPr/>
          </p:nvSpPr>
          <p:spPr>
            <a:xfrm>
              <a:off x="3792" y="2248"/>
              <a:ext cx="288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42027" name="Text Box 33"/>
            <p:cNvSpPr txBox="1"/>
            <p:nvPr/>
          </p:nvSpPr>
          <p:spPr>
            <a:xfrm>
              <a:off x="3216" y="1335"/>
              <a:ext cx="240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42028" name="Line 34"/>
            <p:cNvSpPr/>
            <p:nvPr/>
          </p:nvSpPr>
          <p:spPr>
            <a:xfrm>
              <a:off x="3888" y="672"/>
              <a:ext cx="10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29" name="Line 35"/>
            <p:cNvSpPr/>
            <p:nvPr/>
          </p:nvSpPr>
          <p:spPr>
            <a:xfrm>
              <a:off x="4896" y="672"/>
              <a:ext cx="48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0" name="Line 36"/>
            <p:cNvSpPr/>
            <p:nvPr/>
          </p:nvSpPr>
          <p:spPr>
            <a:xfrm flipH="1">
              <a:off x="4896" y="1440"/>
              <a:ext cx="480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1" name="Line 37"/>
            <p:cNvSpPr/>
            <p:nvPr/>
          </p:nvSpPr>
          <p:spPr>
            <a:xfrm flipH="1">
              <a:off x="3888" y="2256"/>
              <a:ext cx="10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2" name="Line 38"/>
            <p:cNvSpPr/>
            <p:nvPr/>
          </p:nvSpPr>
          <p:spPr>
            <a:xfrm flipH="1" flipV="1">
              <a:off x="3408" y="1392"/>
              <a:ext cx="480" cy="8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3" name="Line 39"/>
            <p:cNvSpPr/>
            <p:nvPr/>
          </p:nvSpPr>
          <p:spPr>
            <a:xfrm flipV="1">
              <a:off x="3408" y="672"/>
              <a:ext cx="480" cy="7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4" name="Line 40"/>
            <p:cNvSpPr/>
            <p:nvPr/>
          </p:nvSpPr>
          <p:spPr>
            <a:xfrm flipH="1">
              <a:off x="4224" y="1536"/>
              <a:ext cx="96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41989" name="Text Box 41"/>
          <p:cNvSpPr txBox="1"/>
          <p:nvPr/>
        </p:nvSpPr>
        <p:spPr>
          <a:xfrm>
            <a:off x="250825" y="404813"/>
            <a:ext cx="2971800" cy="519112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6</a:t>
            </a:r>
            <a:r>
              <a:rPr lang="zh-CN" altLang="en-US" sz="2800" b="1" dirty="0">
                <a:latin typeface="Times New Roman" panose="02020603050405020304" pitchFamily="18" charset="0"/>
              </a:rPr>
              <a:t>支球队比赛结果</a:t>
            </a:r>
          </a:p>
        </p:txBody>
      </p:sp>
      <p:graphicFrame>
        <p:nvGraphicFramePr>
          <p:cNvPr id="50218" name="Object 42"/>
          <p:cNvGraphicFramePr>
            <a:graphicFrameLocks noChangeAspect="1"/>
          </p:cNvGraphicFramePr>
          <p:nvPr/>
        </p:nvGraphicFramePr>
        <p:xfrm>
          <a:off x="1176338" y="5408613"/>
          <a:ext cx="67548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3" r:id="rId7" imgW="3390900" imgH="228600" progId="Equation.DSMT4">
                  <p:embed/>
                </p:oleObj>
              </mc:Choice>
              <mc:Fallback>
                <p:oleObj r:id="rId7" imgW="3390900" imgH="2286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76338" y="5408613"/>
                        <a:ext cx="6754812" cy="428625"/>
                      </a:xfrm>
                      <a:prstGeom prst="rect">
                        <a:avLst/>
                      </a:prstGeom>
                      <a:solidFill>
                        <a:srgbClr val="CCFF66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19" name="Text Box 43"/>
          <p:cNvSpPr txBox="1"/>
          <p:nvPr/>
        </p:nvSpPr>
        <p:spPr>
          <a:xfrm>
            <a:off x="1828800" y="5957888"/>
            <a:ext cx="5334000" cy="51911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排名次序为</a:t>
            </a:r>
            <a:r>
              <a:rPr lang="en-US" altLang="zh-CN" sz="2800" b="1">
                <a:latin typeface="Times New Roman" panose="02020603050405020304" pitchFamily="18" charset="0"/>
              </a:rPr>
              <a:t>{1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</a:t>
            </a:r>
            <a:r>
              <a:rPr lang="en-US" altLang="zh-CN" sz="2800" b="1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</a:rPr>
              <a:t>5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</a:rPr>
              <a:t>4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</a:rPr>
              <a:t>6}</a:t>
            </a:r>
          </a:p>
        </p:txBody>
      </p:sp>
      <p:sp>
        <p:nvSpPr>
          <p:cNvPr id="50221" name="Text Box 45"/>
          <p:cNvSpPr txBox="1"/>
          <p:nvPr/>
        </p:nvSpPr>
        <p:spPr>
          <a:xfrm>
            <a:off x="250825" y="4797425"/>
            <a:ext cx="1728788" cy="457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3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2, 4 5</a:t>
            </a:r>
          </a:p>
        </p:txBody>
      </p:sp>
      <p:sp>
        <p:nvSpPr>
          <p:cNvPr id="41993" name="AutoShape 47"/>
          <p:cNvSpPr/>
          <p:nvPr/>
        </p:nvSpPr>
        <p:spPr>
          <a:xfrm>
            <a:off x="8243888" y="6424613"/>
            <a:ext cx="142875" cy="433387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0224" name="Text Box 48"/>
          <p:cNvSpPr txBox="1"/>
          <p:nvPr/>
        </p:nvSpPr>
        <p:spPr>
          <a:xfrm>
            <a:off x="2124075" y="4843463"/>
            <a:ext cx="1871663" cy="457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排名 </a:t>
            </a:r>
            <a:r>
              <a:rPr lang="en-US" altLang="zh-CN" b="1">
                <a:latin typeface="Times New Roman" panose="02020603050405020304" pitchFamily="18" charset="0"/>
              </a:rPr>
              <a:t>132456?</a:t>
            </a:r>
          </a:p>
        </p:txBody>
      </p:sp>
      <p:graphicFrame>
        <p:nvGraphicFramePr>
          <p:cNvPr id="50226" name="Object 50"/>
          <p:cNvGraphicFramePr>
            <a:graphicFrameLocks noChangeAspect="1"/>
          </p:cNvGraphicFramePr>
          <p:nvPr/>
        </p:nvGraphicFramePr>
        <p:xfrm>
          <a:off x="4559300" y="4294188"/>
          <a:ext cx="3481388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4" r:id="rId9" imgW="1574800" imgH="228600" progId="Equation.DSMT4">
                  <p:embed/>
                </p:oleObj>
              </mc:Choice>
              <mc:Fallback>
                <p:oleObj r:id="rId9" imgW="1574800" imgH="2286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59300" y="4294188"/>
                        <a:ext cx="3481388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28" name="Object 52"/>
          <p:cNvGraphicFramePr>
            <a:graphicFrameLocks noChangeAspect="1"/>
          </p:cNvGraphicFramePr>
          <p:nvPr/>
        </p:nvGraphicFramePr>
        <p:xfrm>
          <a:off x="4546600" y="3789363"/>
          <a:ext cx="33639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5" r:id="rId11" imgW="1308100" imgH="228600" progId="Equation.DSMT4">
                  <p:embed/>
                </p:oleObj>
              </mc:Choice>
              <mc:Fallback>
                <p:oleObj r:id="rId11" imgW="1308100" imgH="2286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46600" y="3789363"/>
                        <a:ext cx="3363913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29" name="Object 53"/>
          <p:cNvGraphicFramePr>
            <a:graphicFrameLocks noChangeAspect="1"/>
          </p:cNvGraphicFramePr>
          <p:nvPr/>
        </p:nvGraphicFramePr>
        <p:xfrm>
          <a:off x="4524375" y="4799013"/>
          <a:ext cx="43942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6" r:id="rId13" imgW="1714500" imgH="228600" progId="Equation.DSMT4">
                  <p:embed/>
                </p:oleObj>
              </mc:Choice>
              <mc:Fallback>
                <p:oleObj r:id="rId13" imgW="1714500" imgH="2286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24375" y="4799013"/>
                        <a:ext cx="4394200" cy="477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30" name="Text Box 54"/>
          <p:cNvSpPr txBox="1"/>
          <p:nvPr/>
        </p:nvSpPr>
        <p:spPr>
          <a:xfrm>
            <a:off x="684213" y="3933825"/>
            <a:ext cx="2232025" cy="93345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1:4</a:t>
            </a:r>
            <a:r>
              <a:rPr lang="zh-CN" altLang="en-US" b="1" dirty="0">
                <a:latin typeface="Times New Roman" panose="02020603050405020304" pitchFamily="18" charset="0"/>
              </a:rPr>
              <a:t>分</a:t>
            </a:r>
            <a:r>
              <a:rPr lang="en-US" altLang="zh-CN" b="1">
                <a:latin typeface="Times New Roman" panose="02020603050405020304" pitchFamily="18" charset="0"/>
              </a:rPr>
              <a:t>; 2,3:3</a:t>
            </a:r>
            <a:r>
              <a:rPr lang="zh-CN" altLang="en-US" b="1" dirty="0">
                <a:latin typeface="Times New Roman" panose="02020603050405020304" pitchFamily="18" charset="0"/>
              </a:rPr>
              <a:t>分</a:t>
            </a:r>
            <a:r>
              <a:rPr lang="en-US" altLang="zh-CN" b="1">
                <a:latin typeface="Times New Roman" panose="02020603050405020304" pitchFamily="18" charset="0"/>
              </a:rPr>
              <a:t>; 4,5:2</a:t>
            </a:r>
            <a:r>
              <a:rPr lang="zh-CN" altLang="en-US" b="1" dirty="0">
                <a:latin typeface="Times New Roman" panose="02020603050405020304" pitchFamily="18" charset="0"/>
              </a:rPr>
              <a:t>分</a:t>
            </a:r>
            <a:r>
              <a:rPr lang="en-US" altLang="zh-CN" b="1">
                <a:latin typeface="Times New Roman" panose="02020603050405020304" pitchFamily="18" charset="0"/>
              </a:rPr>
              <a:t>; 6:1</a:t>
            </a:r>
            <a:r>
              <a:rPr lang="zh-CN" altLang="en-US" b="1" dirty="0">
                <a:latin typeface="Times New Roman" panose="02020603050405020304" pitchFamily="18" charset="0"/>
              </a:rPr>
              <a:t>分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5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50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50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10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1000"/>
                                        <p:tgtEl>
                                          <p:spTgt spid="5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1000"/>
                                        <p:tgtEl>
                                          <p:spTgt spid="5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1000"/>
                                        <p:tgtEl>
                                          <p:spTgt spid="5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50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50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50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19" grpId="0" animBg="1"/>
      <p:bldP spid="50221" grpId="0" animBg="1"/>
      <p:bldP spid="50224" grpId="0" animBg="1"/>
      <p:bldP spid="5023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/>
          <p:nvPr/>
        </p:nvSpPr>
        <p:spPr>
          <a:xfrm>
            <a:off x="250825" y="1785938"/>
            <a:ext cx="5041900" cy="2057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—</a:t>
            </a:r>
            <a:r>
              <a:rPr lang="zh-CN" altLang="en-US" sz="2800" b="1" dirty="0">
                <a:latin typeface="Times New Roman" panose="02020603050405020304" pitchFamily="18" charset="0"/>
              </a:rPr>
              <a:t>能源利用量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—</a:t>
            </a:r>
            <a:r>
              <a:rPr lang="zh-CN" altLang="en-US" sz="2800" b="1" dirty="0">
                <a:latin typeface="Times New Roman" panose="02020603050405020304" pitchFamily="18" charset="0"/>
              </a:rPr>
              <a:t>能源价格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</a:p>
          <a:p>
            <a:pPr>
              <a:spcBef>
                <a:spcPct val="2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</a:rPr>
              <a:t>—</a:t>
            </a:r>
            <a:r>
              <a:rPr lang="zh-CN" altLang="en-US" sz="2800" b="1" dirty="0">
                <a:latin typeface="Times New Roman" panose="02020603050405020304" pitchFamily="18" charset="0"/>
              </a:rPr>
              <a:t>能源生产率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4</a:t>
            </a:r>
            <a:r>
              <a:rPr lang="en-US" altLang="zh-CN" sz="2800" b="1">
                <a:latin typeface="Times New Roman" panose="02020603050405020304" pitchFamily="18" charset="0"/>
              </a:rPr>
              <a:t>—</a:t>
            </a:r>
            <a:r>
              <a:rPr lang="zh-CN" altLang="en-US" sz="2800" b="1" dirty="0">
                <a:latin typeface="Times New Roman" panose="02020603050405020304" pitchFamily="18" charset="0"/>
              </a:rPr>
              <a:t>环境质量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</a:p>
          <a:p>
            <a:pPr>
              <a:spcBef>
                <a:spcPct val="2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5</a:t>
            </a:r>
            <a:r>
              <a:rPr lang="en-US" altLang="zh-CN" sz="2800" b="1">
                <a:latin typeface="Times New Roman" panose="02020603050405020304" pitchFamily="18" charset="0"/>
              </a:rPr>
              <a:t>—</a:t>
            </a:r>
            <a:r>
              <a:rPr lang="zh-CN" altLang="en-US" sz="2800" b="1" dirty="0">
                <a:latin typeface="Times New Roman" panose="02020603050405020304" pitchFamily="18" charset="0"/>
              </a:rPr>
              <a:t>工业产值</a:t>
            </a:r>
            <a:r>
              <a:rPr lang="en-US" altLang="zh-CN" sz="2800" b="1">
                <a:latin typeface="Times New Roman" panose="02020603050405020304" pitchFamily="18" charset="0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6</a:t>
            </a:r>
            <a:r>
              <a:rPr lang="en-US" altLang="zh-CN" sz="2800" b="1">
                <a:latin typeface="Times New Roman" panose="02020603050405020304" pitchFamily="18" charset="0"/>
              </a:rPr>
              <a:t>—</a:t>
            </a:r>
            <a:r>
              <a:rPr lang="zh-CN" altLang="en-US" sz="2800" b="1" dirty="0">
                <a:latin typeface="Times New Roman" panose="02020603050405020304" pitchFamily="18" charset="0"/>
              </a:rPr>
              <a:t>就业机会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</a:p>
          <a:p>
            <a:pPr>
              <a:spcBef>
                <a:spcPct val="2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7</a:t>
            </a:r>
            <a:r>
              <a:rPr lang="en-US" altLang="zh-CN" sz="2800" b="1">
                <a:latin typeface="Times New Roman" panose="02020603050405020304" pitchFamily="18" charset="0"/>
              </a:rPr>
              <a:t>—</a:t>
            </a:r>
            <a:r>
              <a:rPr lang="zh-CN" altLang="en-US" sz="2800" b="1" dirty="0">
                <a:latin typeface="Times New Roman" panose="02020603050405020304" pitchFamily="18" charset="0"/>
              </a:rPr>
              <a:t>人口总数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43011" name="Text Box 3"/>
          <p:cNvSpPr txBox="1"/>
          <p:nvPr/>
        </p:nvSpPr>
        <p:spPr>
          <a:xfrm>
            <a:off x="381000" y="381000"/>
            <a:ext cx="6477000" cy="579438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>
                <a:latin typeface="Times New Roman" panose="02020603050405020304" pitchFamily="18" charset="0"/>
                <a:ea typeface="楷体_GB2312" pitchFamily="49" charset="-122"/>
              </a:rPr>
              <a:t>8.3   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社会经济系统的冲量过程</a:t>
            </a:r>
          </a:p>
        </p:txBody>
      </p:sp>
      <p:sp>
        <p:nvSpPr>
          <p:cNvPr id="51208" name="Text Box 8"/>
          <p:cNvSpPr txBox="1"/>
          <p:nvPr/>
        </p:nvSpPr>
        <p:spPr>
          <a:xfrm>
            <a:off x="381000" y="3933825"/>
            <a:ext cx="4267200" cy="519113"/>
          </a:xfrm>
          <a:prstGeom prst="rect">
            <a:avLst/>
          </a:prstGeom>
          <a:solidFill>
            <a:srgbClr val="99FF33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系统的元素</a:t>
            </a:r>
            <a:r>
              <a:rPr lang="en-US" altLang="zh-CN" sz="2800" b="1">
                <a:latin typeface="Times New Roman" panose="02020603050405020304" pitchFamily="18" charset="0"/>
              </a:rPr>
              <a:t>——</a:t>
            </a:r>
            <a:r>
              <a:rPr lang="zh-CN" altLang="en-US" sz="2800" b="1" dirty="0">
                <a:latin typeface="Times New Roman" panose="02020603050405020304" pitchFamily="18" charset="0"/>
              </a:rPr>
              <a:t>图的顶点</a:t>
            </a:r>
          </a:p>
        </p:txBody>
      </p:sp>
      <p:sp>
        <p:nvSpPr>
          <p:cNvPr id="51209" name="Text Box 9"/>
          <p:cNvSpPr txBox="1"/>
          <p:nvPr/>
        </p:nvSpPr>
        <p:spPr>
          <a:xfrm>
            <a:off x="381000" y="4586288"/>
            <a:ext cx="5630863" cy="519112"/>
          </a:xfrm>
          <a:prstGeom prst="rect">
            <a:avLst/>
          </a:prstGeom>
          <a:solidFill>
            <a:srgbClr val="66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元素间的直接影响</a:t>
            </a:r>
            <a:r>
              <a:rPr lang="en-US" altLang="zh-CN" sz="2800" b="1">
                <a:latin typeface="Times New Roman" panose="02020603050405020304" pitchFamily="18" charset="0"/>
              </a:rPr>
              <a:t>——</a:t>
            </a:r>
            <a:r>
              <a:rPr lang="zh-CN" altLang="en-US" sz="2800" b="1" dirty="0">
                <a:latin typeface="Times New Roman" panose="02020603050405020304" pitchFamily="18" charset="0"/>
              </a:rPr>
              <a:t>有方向的弧</a:t>
            </a:r>
          </a:p>
        </p:txBody>
      </p:sp>
      <p:sp>
        <p:nvSpPr>
          <p:cNvPr id="51210" name="Text Box 10"/>
          <p:cNvSpPr txBox="1"/>
          <p:nvPr/>
        </p:nvSpPr>
        <p:spPr>
          <a:xfrm>
            <a:off x="381000" y="5195888"/>
            <a:ext cx="8223250" cy="51911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正面影响</a:t>
            </a:r>
            <a:r>
              <a:rPr lang="en-US" altLang="zh-CN" sz="2800" b="1">
                <a:latin typeface="Times New Roman" panose="02020603050405020304" pitchFamily="18" charset="0"/>
              </a:rPr>
              <a:t>——</a:t>
            </a:r>
            <a:r>
              <a:rPr lang="zh-CN" altLang="en-US" sz="2800" b="1" dirty="0">
                <a:latin typeface="Times New Roman" panose="02020603050405020304" pitchFamily="18" charset="0"/>
              </a:rPr>
              <a:t>弧旁的</a:t>
            </a:r>
            <a:r>
              <a:rPr lang="en-US" altLang="zh-CN" sz="2800" b="1">
                <a:latin typeface="Times New Roman" panose="02020603050405020304" pitchFamily="18" charset="0"/>
              </a:rPr>
              <a:t>+</a:t>
            </a:r>
            <a:r>
              <a:rPr lang="zh-CN" altLang="en-US" sz="2800" b="1" dirty="0">
                <a:latin typeface="Times New Roman" panose="02020603050405020304" pitchFamily="18" charset="0"/>
              </a:rPr>
              <a:t>号；负面影响</a:t>
            </a:r>
            <a:r>
              <a:rPr lang="en-US" altLang="zh-CN" sz="2800" b="1">
                <a:latin typeface="Times New Roman" panose="02020603050405020304" pitchFamily="18" charset="0"/>
              </a:rPr>
              <a:t>——</a:t>
            </a:r>
            <a:r>
              <a:rPr lang="zh-CN" altLang="en-US" sz="2800" b="1" dirty="0">
                <a:latin typeface="Times New Roman" panose="02020603050405020304" pitchFamily="18" charset="0"/>
              </a:rPr>
              <a:t>弧旁的</a:t>
            </a:r>
            <a:r>
              <a:rPr lang="en-US" altLang="zh-CN" sz="2800" b="1">
                <a:latin typeface="Times New Roman" panose="02020603050405020304" pitchFamily="18" charset="0"/>
              </a:rPr>
              <a:t>–</a:t>
            </a:r>
            <a:r>
              <a:rPr lang="zh-CN" altLang="en-US" sz="2800" b="1" dirty="0">
                <a:latin typeface="Times New Roman" panose="02020603050405020304" pitchFamily="18" charset="0"/>
              </a:rPr>
              <a:t>号</a:t>
            </a:r>
          </a:p>
        </p:txBody>
      </p:sp>
      <p:sp>
        <p:nvSpPr>
          <p:cNvPr id="51211" name="Text Box 11"/>
          <p:cNvSpPr txBox="1"/>
          <p:nvPr/>
        </p:nvSpPr>
        <p:spPr>
          <a:xfrm>
            <a:off x="5867400" y="4149725"/>
            <a:ext cx="28432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带符号的有向图</a:t>
            </a:r>
          </a:p>
        </p:txBody>
      </p:sp>
      <p:sp>
        <p:nvSpPr>
          <p:cNvPr id="51213" name="Text Box 13"/>
          <p:cNvSpPr txBox="1"/>
          <p:nvPr/>
        </p:nvSpPr>
        <p:spPr>
          <a:xfrm>
            <a:off x="1763713" y="5876925"/>
            <a:ext cx="61928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符号＋、－　～ 客观规律；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方针政策</a:t>
            </a:r>
          </a:p>
        </p:txBody>
      </p:sp>
      <p:sp>
        <p:nvSpPr>
          <p:cNvPr id="51214" name="Text Box 14"/>
          <p:cNvSpPr txBox="1"/>
          <p:nvPr/>
        </p:nvSpPr>
        <p:spPr>
          <a:xfrm>
            <a:off x="381000" y="1143000"/>
            <a:ext cx="4495800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例  能源利用系统的预测</a:t>
            </a:r>
          </a:p>
        </p:txBody>
      </p:sp>
      <p:grpSp>
        <p:nvGrpSpPr>
          <p:cNvPr id="51298" name="Group 98"/>
          <p:cNvGrpSpPr/>
          <p:nvPr/>
        </p:nvGrpSpPr>
        <p:grpSpPr>
          <a:xfrm>
            <a:off x="5181600" y="836613"/>
            <a:ext cx="3962400" cy="3200400"/>
            <a:chOff x="3264" y="672"/>
            <a:chExt cx="2496" cy="2016"/>
          </a:xfrm>
        </p:grpSpPr>
        <p:sp>
          <p:nvSpPr>
            <p:cNvPr id="43020" name="Text Box 53"/>
            <p:cNvSpPr txBox="1"/>
            <p:nvPr/>
          </p:nvSpPr>
          <p:spPr>
            <a:xfrm>
              <a:off x="3600" y="2073"/>
              <a:ext cx="3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3021" name="Text Box 54"/>
            <p:cNvSpPr txBox="1"/>
            <p:nvPr/>
          </p:nvSpPr>
          <p:spPr>
            <a:xfrm>
              <a:off x="3600" y="1027"/>
              <a:ext cx="38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43022" name="Text Box 55"/>
            <p:cNvSpPr txBox="1"/>
            <p:nvPr/>
          </p:nvSpPr>
          <p:spPr>
            <a:xfrm>
              <a:off x="3936" y="1680"/>
              <a:ext cx="38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3023" name="Text Box 56"/>
            <p:cNvSpPr txBox="1"/>
            <p:nvPr/>
          </p:nvSpPr>
          <p:spPr>
            <a:xfrm>
              <a:off x="3888" y="1200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-</a:t>
              </a:r>
            </a:p>
          </p:txBody>
        </p:sp>
        <p:grpSp>
          <p:nvGrpSpPr>
            <p:cNvPr id="43024" name="Group 58"/>
            <p:cNvGrpSpPr/>
            <p:nvPr/>
          </p:nvGrpSpPr>
          <p:grpSpPr>
            <a:xfrm>
              <a:off x="4272" y="912"/>
              <a:ext cx="1296" cy="1767"/>
              <a:chOff x="4272" y="816"/>
              <a:chExt cx="1296" cy="1767"/>
            </a:xfrm>
          </p:grpSpPr>
          <p:sp>
            <p:nvSpPr>
              <p:cNvPr id="43051" name="Text Box 59"/>
              <p:cNvSpPr txBox="1"/>
              <p:nvPr/>
            </p:nvSpPr>
            <p:spPr>
              <a:xfrm>
                <a:off x="4272" y="1872"/>
                <a:ext cx="43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43052" name="Text Box 60"/>
              <p:cNvSpPr txBox="1"/>
              <p:nvPr/>
            </p:nvSpPr>
            <p:spPr>
              <a:xfrm>
                <a:off x="5184" y="1920"/>
                <a:ext cx="384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43053" name="Text Box 61"/>
              <p:cNvSpPr txBox="1"/>
              <p:nvPr/>
            </p:nvSpPr>
            <p:spPr>
              <a:xfrm>
                <a:off x="4464" y="2352"/>
                <a:ext cx="384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43054" name="Text Box 62"/>
              <p:cNvSpPr txBox="1"/>
              <p:nvPr/>
            </p:nvSpPr>
            <p:spPr>
              <a:xfrm>
                <a:off x="4848" y="1584"/>
                <a:ext cx="33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43055" name="Text Box 63"/>
              <p:cNvSpPr txBox="1"/>
              <p:nvPr/>
            </p:nvSpPr>
            <p:spPr>
              <a:xfrm>
                <a:off x="4368" y="816"/>
                <a:ext cx="336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>
                    <a:latin typeface="Times New Roman" panose="02020603050405020304" pitchFamily="18" charset="0"/>
                  </a:rPr>
                  <a:t>-</a:t>
                </a:r>
              </a:p>
            </p:txBody>
          </p:sp>
          <p:sp>
            <p:nvSpPr>
              <p:cNvPr id="43056" name="Text Box 64"/>
              <p:cNvSpPr txBox="1"/>
              <p:nvPr/>
            </p:nvSpPr>
            <p:spPr>
              <a:xfrm>
                <a:off x="4560" y="912"/>
                <a:ext cx="240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>
                    <a:latin typeface="Times New Roman" panose="02020603050405020304" pitchFamily="18" charset="0"/>
                  </a:rPr>
                  <a:t>-</a:t>
                </a:r>
              </a:p>
            </p:txBody>
          </p:sp>
          <p:sp>
            <p:nvSpPr>
              <p:cNvPr id="43057" name="Text Box 65"/>
              <p:cNvSpPr txBox="1"/>
              <p:nvPr/>
            </p:nvSpPr>
            <p:spPr>
              <a:xfrm>
                <a:off x="5184" y="960"/>
                <a:ext cx="384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</p:grpSp>
        <p:sp>
          <p:nvSpPr>
            <p:cNvPr id="43025" name="Text Box 67"/>
            <p:cNvSpPr txBox="1"/>
            <p:nvPr/>
          </p:nvSpPr>
          <p:spPr>
            <a:xfrm>
              <a:off x="3787" y="672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2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3026" name="AutoShape 68"/>
            <p:cNvSpPr/>
            <p:nvPr/>
          </p:nvSpPr>
          <p:spPr>
            <a:xfrm>
              <a:off x="3504" y="960"/>
              <a:ext cx="1920" cy="1536"/>
            </a:xfrm>
            <a:prstGeom prst="hexagon">
              <a:avLst>
                <a:gd name="adj" fmla="val 31250"/>
                <a:gd name="vf" fmla="val 11547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3027" name="Rectangle 69"/>
            <p:cNvSpPr/>
            <p:nvPr/>
          </p:nvSpPr>
          <p:spPr>
            <a:xfrm>
              <a:off x="3984" y="864"/>
              <a:ext cx="960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3028" name="Line 70"/>
            <p:cNvSpPr/>
            <p:nvPr/>
          </p:nvSpPr>
          <p:spPr>
            <a:xfrm flipH="1">
              <a:off x="3984" y="960"/>
              <a:ext cx="960" cy="15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29" name="Line 71"/>
            <p:cNvSpPr/>
            <p:nvPr/>
          </p:nvSpPr>
          <p:spPr>
            <a:xfrm>
              <a:off x="3504" y="1728"/>
              <a:ext cx="19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30" name="Arc 72"/>
            <p:cNvSpPr/>
            <p:nvPr/>
          </p:nvSpPr>
          <p:spPr>
            <a:xfrm>
              <a:off x="3984" y="960"/>
              <a:ext cx="480" cy="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0" b="0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1" name="Arc 73"/>
            <p:cNvSpPr/>
            <p:nvPr/>
          </p:nvSpPr>
          <p:spPr>
            <a:xfrm rot="-4049453" flipH="1">
              <a:off x="3984" y="960"/>
              <a:ext cx="480" cy="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0" b="0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2" name="Line 74"/>
            <p:cNvSpPr/>
            <p:nvPr/>
          </p:nvSpPr>
          <p:spPr>
            <a:xfrm>
              <a:off x="4272" y="1152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33" name="Line 75"/>
            <p:cNvSpPr/>
            <p:nvPr/>
          </p:nvSpPr>
          <p:spPr>
            <a:xfrm flipH="1" flipV="1">
              <a:off x="4032" y="1392"/>
              <a:ext cx="144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34" name="Line 76"/>
            <p:cNvSpPr/>
            <p:nvPr/>
          </p:nvSpPr>
          <p:spPr>
            <a:xfrm flipV="1">
              <a:off x="3696" y="1296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35" name="Line 77"/>
            <p:cNvSpPr/>
            <p:nvPr/>
          </p:nvSpPr>
          <p:spPr>
            <a:xfrm>
              <a:off x="5040" y="1104"/>
              <a:ext cx="144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36" name="Line 78"/>
            <p:cNvSpPr/>
            <p:nvPr/>
          </p:nvSpPr>
          <p:spPr>
            <a:xfrm flipV="1">
              <a:off x="4656" y="1248"/>
              <a:ext cx="96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37" name="Line 79"/>
            <p:cNvSpPr/>
            <p:nvPr/>
          </p:nvSpPr>
          <p:spPr>
            <a:xfrm flipV="1">
              <a:off x="5088" y="2016"/>
              <a:ext cx="144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38" name="Line 80"/>
            <p:cNvSpPr/>
            <p:nvPr/>
          </p:nvSpPr>
          <p:spPr>
            <a:xfrm>
              <a:off x="4224" y="2496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39" name="Line 81"/>
            <p:cNvSpPr/>
            <p:nvPr/>
          </p:nvSpPr>
          <p:spPr>
            <a:xfrm flipV="1">
              <a:off x="4128" y="2016"/>
              <a:ext cx="144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40" name="Line 82"/>
            <p:cNvSpPr/>
            <p:nvPr/>
          </p:nvSpPr>
          <p:spPr>
            <a:xfrm>
              <a:off x="3648" y="1968"/>
              <a:ext cx="144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41" name="Line 83"/>
            <p:cNvSpPr/>
            <p:nvPr/>
          </p:nvSpPr>
          <p:spPr>
            <a:xfrm flipH="1">
              <a:off x="4848" y="1728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42" name="Line 84"/>
            <p:cNvSpPr/>
            <p:nvPr/>
          </p:nvSpPr>
          <p:spPr>
            <a:xfrm flipH="1">
              <a:off x="3984" y="1728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43043" name="Object 85"/>
            <p:cNvGraphicFramePr>
              <a:graphicFrameLocks noChangeAspect="1"/>
            </p:cNvGraphicFramePr>
            <p:nvPr/>
          </p:nvGraphicFramePr>
          <p:xfrm>
            <a:off x="4433" y="1688"/>
            <a:ext cx="79" cy="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80" r:id="rId3" imgW="127000" imgH="139700" progId="Equation.3">
                    <p:embed/>
                  </p:oleObj>
                </mc:Choice>
                <mc:Fallback>
                  <p:oleObj r:id="rId3" imgW="127000" imgH="1397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433" y="1688"/>
                          <a:ext cx="79" cy="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44" name="Text Box 86"/>
            <p:cNvSpPr txBox="1"/>
            <p:nvPr/>
          </p:nvSpPr>
          <p:spPr>
            <a:xfrm>
              <a:off x="4416" y="1632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1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3045" name="Text Box 87"/>
            <p:cNvSpPr txBox="1"/>
            <p:nvPr/>
          </p:nvSpPr>
          <p:spPr>
            <a:xfrm>
              <a:off x="3264" y="1536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3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3046" name="Text Box 88"/>
            <p:cNvSpPr txBox="1"/>
            <p:nvPr/>
          </p:nvSpPr>
          <p:spPr>
            <a:xfrm>
              <a:off x="4944" y="768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4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3047" name="Text Box 89"/>
            <p:cNvSpPr txBox="1"/>
            <p:nvPr/>
          </p:nvSpPr>
          <p:spPr>
            <a:xfrm>
              <a:off x="4848" y="2400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6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3048" name="Text Box 90"/>
            <p:cNvSpPr txBox="1"/>
            <p:nvPr/>
          </p:nvSpPr>
          <p:spPr>
            <a:xfrm>
              <a:off x="5424" y="1584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7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3049" name="Text Box 91"/>
            <p:cNvSpPr txBox="1"/>
            <p:nvPr/>
          </p:nvSpPr>
          <p:spPr>
            <a:xfrm>
              <a:off x="3840" y="2400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5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3050" name="Text Box 97"/>
            <p:cNvSpPr txBox="1"/>
            <p:nvPr/>
          </p:nvSpPr>
          <p:spPr>
            <a:xfrm>
              <a:off x="4105" y="845"/>
              <a:ext cx="816" cy="136"/>
            </a:xfrm>
            <a:prstGeom prst="rect">
              <a:avLst/>
            </a:prstGeom>
            <a:solidFill>
              <a:srgbClr val="FFFFCC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800" b="1" dirty="0">
                <a:latin typeface="Times New Roman" panose="02020603050405020304" pitchFamily="18" charset="0"/>
              </a:endParaRPr>
            </a:p>
          </p:txBody>
        </p:sp>
      </p:grpSp>
      <p:pic>
        <p:nvPicPr>
          <p:cNvPr id="43019" name="Picture 99" descr="j014988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9438" y="476250"/>
            <a:ext cx="836612" cy="669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10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5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1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1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10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10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/>
      <p:bldP spid="51208" grpId="0" animBg="1"/>
      <p:bldP spid="51209" grpId="0" animBg="1"/>
      <p:bldP spid="51210" grpId="0" animBg="1"/>
      <p:bldP spid="51211" grpId="0"/>
      <p:bldP spid="51213" grpId="0"/>
      <p:bldP spid="5121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26" name="Object 2"/>
          <p:cNvGraphicFramePr>
            <a:graphicFrameLocks noChangeAspect="1"/>
          </p:cNvGraphicFramePr>
          <p:nvPr/>
        </p:nvGraphicFramePr>
        <p:xfrm>
          <a:off x="533400" y="1066800"/>
          <a:ext cx="4191000" cy="181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8" r:id="rId3" imgW="1917065" imgH="951865" progId="Equation.3">
                  <p:embed/>
                </p:oleObj>
              </mc:Choice>
              <mc:Fallback>
                <p:oleObj r:id="rId3" imgW="1917065" imgH="951865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3400" y="1066800"/>
                        <a:ext cx="4191000" cy="1817688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7" name="Object 3"/>
          <p:cNvGraphicFramePr>
            <a:graphicFrameLocks noChangeAspect="1"/>
          </p:cNvGraphicFramePr>
          <p:nvPr/>
        </p:nvGraphicFramePr>
        <p:xfrm>
          <a:off x="611188" y="3141663"/>
          <a:ext cx="4406900" cy="278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9" r:id="rId5" imgW="2120900" imgH="1625600" progId="Equation.DSMT4">
                  <p:embed/>
                </p:oleObj>
              </mc:Choice>
              <mc:Fallback>
                <p:oleObj r:id="rId5" imgW="2120900" imgH="16256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1188" y="3141663"/>
                        <a:ext cx="4406900" cy="2782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6" name="Text Box 4"/>
          <p:cNvSpPr txBox="1"/>
          <p:nvPr/>
        </p:nvSpPr>
        <p:spPr>
          <a:xfrm>
            <a:off x="228600" y="381000"/>
            <a:ext cx="5867400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带符号有向图</a:t>
            </a:r>
            <a:r>
              <a:rPr lang="en-US" altLang="zh-CN" sz="2800" b="1">
                <a:latin typeface="Times New Roman" panose="02020603050405020304" pitchFamily="18" charset="0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=(</a:t>
            </a:r>
            <a:r>
              <a:rPr lang="en-US" altLang="zh-CN" sz="2800" b="1" i="1">
                <a:latin typeface="Times New Roman" panose="02020603050405020304" pitchFamily="18" charset="0"/>
              </a:rPr>
              <a:t>V,E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的邻接矩阵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2229" name="Text Box 5"/>
          <p:cNvSpPr txBox="1"/>
          <p:nvPr/>
        </p:nvSpPr>
        <p:spPr>
          <a:xfrm>
            <a:off x="6011863" y="765175"/>
            <a:ext cx="3132137" cy="519113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V</a:t>
            </a:r>
            <a:r>
              <a:rPr lang="en-US" altLang="zh-CN" sz="2800" b="1">
                <a:latin typeface="Times New Roman" panose="02020603050405020304" pitchFamily="18" charset="0"/>
              </a:rPr>
              <a:t>~</a:t>
            </a:r>
            <a:r>
              <a:rPr lang="zh-CN" altLang="zh-CN" sz="2800" b="1" dirty="0">
                <a:latin typeface="Times New Roman" panose="02020603050405020304" pitchFamily="18" charset="0"/>
              </a:rPr>
              <a:t>顶点集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~</a:t>
            </a:r>
            <a:r>
              <a:rPr lang="zh-CN" altLang="en-US" sz="2800" b="1" dirty="0">
                <a:latin typeface="Times New Roman" panose="02020603050405020304" pitchFamily="18" charset="0"/>
              </a:rPr>
              <a:t>弧集</a:t>
            </a:r>
          </a:p>
        </p:txBody>
      </p:sp>
      <p:sp>
        <p:nvSpPr>
          <p:cNvPr id="52230" name="Text Box 6"/>
          <p:cNvSpPr txBox="1"/>
          <p:nvPr/>
        </p:nvSpPr>
        <p:spPr>
          <a:xfrm>
            <a:off x="1905000" y="6019800"/>
            <a:ext cx="1752600" cy="519113"/>
          </a:xfrm>
          <a:prstGeom prst="rect">
            <a:avLst/>
          </a:prstGeom>
          <a:solidFill>
            <a:srgbClr val="99FF33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定性模型</a:t>
            </a:r>
          </a:p>
        </p:txBody>
      </p:sp>
      <p:grpSp>
        <p:nvGrpSpPr>
          <p:cNvPr id="52231" name="Group 7"/>
          <p:cNvGrpSpPr/>
          <p:nvPr/>
        </p:nvGrpSpPr>
        <p:grpSpPr>
          <a:xfrm>
            <a:off x="5570538" y="4913313"/>
            <a:ext cx="3322637" cy="1614487"/>
            <a:chOff x="3504" y="3095"/>
            <a:chExt cx="1968" cy="1017"/>
          </a:xfrm>
        </p:grpSpPr>
        <p:sp>
          <p:nvSpPr>
            <p:cNvPr id="44080" name="Text Box 8"/>
            <p:cNvSpPr txBox="1"/>
            <p:nvPr/>
          </p:nvSpPr>
          <p:spPr>
            <a:xfrm>
              <a:off x="4307" y="3120"/>
              <a:ext cx="349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44081" name="Text Box 9"/>
            <p:cNvSpPr txBox="1"/>
            <p:nvPr/>
          </p:nvSpPr>
          <p:spPr>
            <a:xfrm>
              <a:off x="3984" y="3134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i="1" baseline="-25000">
                  <a:latin typeface="Times New Roman" panose="02020603050405020304" pitchFamily="18" charset="0"/>
                </a:rPr>
                <a:t>i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  <p:sp>
          <p:nvSpPr>
            <p:cNvPr id="44082" name="Text Box 10"/>
            <p:cNvSpPr txBox="1"/>
            <p:nvPr/>
          </p:nvSpPr>
          <p:spPr>
            <a:xfrm>
              <a:off x="4608" y="3134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err="1">
                  <a:latin typeface="Times New Roman" panose="02020603050405020304" pitchFamily="18" charset="0"/>
                </a:rPr>
                <a:t>v</a:t>
              </a:r>
              <a:r>
                <a:rPr lang="en-US" altLang="zh-CN" b="1" i="1" baseline="-25000" err="1">
                  <a:latin typeface="Times New Roman" panose="02020603050405020304" pitchFamily="18" charset="0"/>
                </a:rPr>
                <a:t>j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  <p:sp>
          <p:nvSpPr>
            <p:cNvPr id="44083" name="Text Box 11"/>
            <p:cNvSpPr txBox="1"/>
            <p:nvPr/>
          </p:nvSpPr>
          <p:spPr>
            <a:xfrm>
              <a:off x="4307" y="3095"/>
              <a:ext cx="34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4084" name="Text Box 12"/>
            <p:cNvSpPr txBox="1"/>
            <p:nvPr/>
          </p:nvSpPr>
          <p:spPr>
            <a:xfrm>
              <a:off x="3504" y="3408"/>
              <a:ext cx="1968" cy="7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某时段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v</a:t>
              </a:r>
              <a:r>
                <a:rPr lang="en-US" altLang="zh-CN" sz="2800" b="1" i="1" baseline="-25000">
                  <a:latin typeface="Times New Roman" panose="02020603050405020304" pitchFamily="18" charset="0"/>
                </a:rPr>
                <a:t>i</a:t>
              </a:r>
              <a:r>
                <a:rPr lang="en-US" altLang="zh-CN" sz="2800" b="1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增加导致下时段</a:t>
              </a:r>
              <a:r>
                <a:rPr lang="en-US" altLang="zh-CN" sz="2800" b="1" i="1" err="1">
                  <a:latin typeface="Times New Roman" panose="02020603050405020304" pitchFamily="18" charset="0"/>
                </a:rPr>
                <a:t>v</a:t>
              </a:r>
              <a:r>
                <a:rPr lang="en-US" altLang="zh-CN" sz="2800" b="1" i="1" baseline="-25000" err="1">
                  <a:latin typeface="Times New Roman" panose="02020603050405020304" pitchFamily="18" charset="0"/>
                </a:rPr>
                <a:t>j</a:t>
              </a:r>
              <a:r>
                <a:rPr lang="en-US" altLang="zh-CN" sz="2800" b="1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增加</a:t>
              </a: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减少</a:t>
              </a: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  <a:endParaRPr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44085" name="Line 13"/>
            <p:cNvSpPr/>
            <p:nvPr/>
          </p:nvSpPr>
          <p:spPr>
            <a:xfrm>
              <a:off x="4224" y="3278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52243" name="Text Box 19"/>
          <p:cNvSpPr txBox="1"/>
          <p:nvPr/>
        </p:nvSpPr>
        <p:spPr>
          <a:xfrm>
            <a:off x="5651500" y="4495800"/>
            <a:ext cx="32416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带符号的有向图</a:t>
            </a:r>
            <a:r>
              <a:rPr lang="en-US" altLang="zh-CN" sz="2800" b="1">
                <a:latin typeface="Times New Roman" panose="02020603050405020304" pitchFamily="18" charset="0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</a:p>
        </p:txBody>
      </p:sp>
      <p:grpSp>
        <p:nvGrpSpPr>
          <p:cNvPr id="52282" name="Group 58"/>
          <p:cNvGrpSpPr/>
          <p:nvPr/>
        </p:nvGrpSpPr>
        <p:grpSpPr>
          <a:xfrm>
            <a:off x="5181600" y="1196975"/>
            <a:ext cx="3962400" cy="3208338"/>
            <a:chOff x="3264" y="754"/>
            <a:chExt cx="2496" cy="2021"/>
          </a:xfrm>
        </p:grpSpPr>
        <p:sp>
          <p:nvSpPr>
            <p:cNvPr id="44042" name="Text Box 15"/>
            <p:cNvSpPr txBox="1"/>
            <p:nvPr/>
          </p:nvSpPr>
          <p:spPr>
            <a:xfrm>
              <a:off x="3600" y="2169"/>
              <a:ext cx="3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4043" name="Text Box 16"/>
            <p:cNvSpPr txBox="1"/>
            <p:nvPr/>
          </p:nvSpPr>
          <p:spPr>
            <a:xfrm>
              <a:off x="3600" y="1123"/>
              <a:ext cx="38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44044" name="Text Box 17"/>
            <p:cNvSpPr txBox="1"/>
            <p:nvPr/>
          </p:nvSpPr>
          <p:spPr>
            <a:xfrm>
              <a:off x="3936" y="1776"/>
              <a:ext cx="38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4045" name="Text Box 18"/>
            <p:cNvSpPr txBox="1"/>
            <p:nvPr/>
          </p:nvSpPr>
          <p:spPr>
            <a:xfrm>
              <a:off x="3888" y="1296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-</a:t>
              </a:r>
            </a:p>
          </p:txBody>
        </p:sp>
        <p:grpSp>
          <p:nvGrpSpPr>
            <p:cNvPr id="44046" name="Group 20"/>
            <p:cNvGrpSpPr/>
            <p:nvPr/>
          </p:nvGrpSpPr>
          <p:grpSpPr>
            <a:xfrm>
              <a:off x="4272" y="1008"/>
              <a:ext cx="1296" cy="1767"/>
              <a:chOff x="4272" y="816"/>
              <a:chExt cx="1296" cy="1767"/>
            </a:xfrm>
          </p:grpSpPr>
          <p:sp>
            <p:nvSpPr>
              <p:cNvPr id="44073" name="Text Box 21"/>
              <p:cNvSpPr txBox="1"/>
              <p:nvPr/>
            </p:nvSpPr>
            <p:spPr>
              <a:xfrm>
                <a:off x="4272" y="1872"/>
                <a:ext cx="43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44074" name="Text Box 22"/>
              <p:cNvSpPr txBox="1"/>
              <p:nvPr/>
            </p:nvSpPr>
            <p:spPr>
              <a:xfrm>
                <a:off x="5184" y="1920"/>
                <a:ext cx="384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44075" name="Text Box 23"/>
              <p:cNvSpPr txBox="1"/>
              <p:nvPr/>
            </p:nvSpPr>
            <p:spPr>
              <a:xfrm>
                <a:off x="4464" y="2352"/>
                <a:ext cx="384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44076" name="Text Box 24"/>
              <p:cNvSpPr txBox="1"/>
              <p:nvPr/>
            </p:nvSpPr>
            <p:spPr>
              <a:xfrm>
                <a:off x="4848" y="1584"/>
                <a:ext cx="33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44077" name="Text Box 25"/>
              <p:cNvSpPr txBox="1"/>
              <p:nvPr/>
            </p:nvSpPr>
            <p:spPr>
              <a:xfrm>
                <a:off x="4368" y="816"/>
                <a:ext cx="336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>
                    <a:latin typeface="Times New Roman" panose="02020603050405020304" pitchFamily="18" charset="0"/>
                  </a:rPr>
                  <a:t>-</a:t>
                </a:r>
              </a:p>
            </p:txBody>
          </p:sp>
          <p:sp>
            <p:nvSpPr>
              <p:cNvPr id="44078" name="Text Box 26"/>
              <p:cNvSpPr txBox="1"/>
              <p:nvPr/>
            </p:nvSpPr>
            <p:spPr>
              <a:xfrm>
                <a:off x="4560" y="912"/>
                <a:ext cx="240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>
                    <a:latin typeface="Times New Roman" panose="02020603050405020304" pitchFamily="18" charset="0"/>
                  </a:rPr>
                  <a:t>-</a:t>
                </a:r>
              </a:p>
            </p:txBody>
          </p:sp>
          <p:sp>
            <p:nvSpPr>
              <p:cNvPr id="44079" name="Text Box 27"/>
              <p:cNvSpPr txBox="1"/>
              <p:nvPr/>
            </p:nvSpPr>
            <p:spPr>
              <a:xfrm>
                <a:off x="5184" y="960"/>
                <a:ext cx="384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</p:grpSp>
        <p:sp>
          <p:nvSpPr>
            <p:cNvPr id="44047" name="Text Box 29"/>
            <p:cNvSpPr txBox="1"/>
            <p:nvPr/>
          </p:nvSpPr>
          <p:spPr>
            <a:xfrm>
              <a:off x="3787" y="754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2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4048" name="AutoShape 30"/>
            <p:cNvSpPr/>
            <p:nvPr/>
          </p:nvSpPr>
          <p:spPr>
            <a:xfrm>
              <a:off x="3504" y="1042"/>
              <a:ext cx="1920" cy="1536"/>
            </a:xfrm>
            <a:prstGeom prst="hexagon">
              <a:avLst>
                <a:gd name="adj" fmla="val 31250"/>
                <a:gd name="vf" fmla="val 11547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4049" name="Rectangle 31"/>
            <p:cNvSpPr/>
            <p:nvPr/>
          </p:nvSpPr>
          <p:spPr>
            <a:xfrm>
              <a:off x="3984" y="946"/>
              <a:ext cx="960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4050" name="Line 32"/>
            <p:cNvSpPr/>
            <p:nvPr/>
          </p:nvSpPr>
          <p:spPr>
            <a:xfrm flipH="1">
              <a:off x="3984" y="1042"/>
              <a:ext cx="960" cy="15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1" name="Line 33"/>
            <p:cNvSpPr/>
            <p:nvPr/>
          </p:nvSpPr>
          <p:spPr>
            <a:xfrm>
              <a:off x="3504" y="1810"/>
              <a:ext cx="19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2" name="Arc 34"/>
            <p:cNvSpPr/>
            <p:nvPr/>
          </p:nvSpPr>
          <p:spPr>
            <a:xfrm>
              <a:off x="3984" y="1042"/>
              <a:ext cx="480" cy="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0" b="0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3" name="Arc 35"/>
            <p:cNvSpPr/>
            <p:nvPr/>
          </p:nvSpPr>
          <p:spPr>
            <a:xfrm rot="-4049453" flipH="1">
              <a:off x="3984" y="1042"/>
              <a:ext cx="480" cy="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0" b="0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4" name="Line 36"/>
            <p:cNvSpPr/>
            <p:nvPr/>
          </p:nvSpPr>
          <p:spPr>
            <a:xfrm>
              <a:off x="4272" y="123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4055" name="Line 37"/>
            <p:cNvSpPr/>
            <p:nvPr/>
          </p:nvSpPr>
          <p:spPr>
            <a:xfrm flipH="1" flipV="1">
              <a:off x="4032" y="1474"/>
              <a:ext cx="144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4056" name="Line 38"/>
            <p:cNvSpPr/>
            <p:nvPr/>
          </p:nvSpPr>
          <p:spPr>
            <a:xfrm flipV="1">
              <a:off x="3696" y="1378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4057" name="Line 39"/>
            <p:cNvSpPr/>
            <p:nvPr/>
          </p:nvSpPr>
          <p:spPr>
            <a:xfrm>
              <a:off x="5040" y="1186"/>
              <a:ext cx="144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4058" name="Line 40"/>
            <p:cNvSpPr/>
            <p:nvPr/>
          </p:nvSpPr>
          <p:spPr>
            <a:xfrm flipV="1">
              <a:off x="4656" y="1330"/>
              <a:ext cx="96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4059" name="Line 41"/>
            <p:cNvSpPr/>
            <p:nvPr/>
          </p:nvSpPr>
          <p:spPr>
            <a:xfrm flipV="1">
              <a:off x="5088" y="2098"/>
              <a:ext cx="144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4060" name="Line 42"/>
            <p:cNvSpPr/>
            <p:nvPr/>
          </p:nvSpPr>
          <p:spPr>
            <a:xfrm>
              <a:off x="4224" y="2578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4061" name="Line 43"/>
            <p:cNvSpPr/>
            <p:nvPr/>
          </p:nvSpPr>
          <p:spPr>
            <a:xfrm flipV="1">
              <a:off x="4128" y="2098"/>
              <a:ext cx="144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4062" name="Line 44"/>
            <p:cNvSpPr/>
            <p:nvPr/>
          </p:nvSpPr>
          <p:spPr>
            <a:xfrm>
              <a:off x="3648" y="2050"/>
              <a:ext cx="144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4063" name="Line 45"/>
            <p:cNvSpPr/>
            <p:nvPr/>
          </p:nvSpPr>
          <p:spPr>
            <a:xfrm flipH="1">
              <a:off x="4848" y="1810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4064" name="Line 46"/>
            <p:cNvSpPr/>
            <p:nvPr/>
          </p:nvSpPr>
          <p:spPr>
            <a:xfrm flipH="1">
              <a:off x="3984" y="1810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44065" name="Object 47"/>
            <p:cNvGraphicFramePr>
              <a:graphicFrameLocks noChangeAspect="1"/>
            </p:cNvGraphicFramePr>
            <p:nvPr/>
          </p:nvGraphicFramePr>
          <p:xfrm>
            <a:off x="4433" y="1770"/>
            <a:ext cx="79" cy="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20" r:id="rId7" imgW="127000" imgH="139700" progId="Equation.3">
                    <p:embed/>
                  </p:oleObj>
                </mc:Choice>
                <mc:Fallback>
                  <p:oleObj r:id="rId7" imgW="127000" imgH="139700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33" y="1770"/>
                          <a:ext cx="79" cy="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66" name="Text Box 48"/>
            <p:cNvSpPr txBox="1"/>
            <p:nvPr/>
          </p:nvSpPr>
          <p:spPr>
            <a:xfrm>
              <a:off x="4416" y="1714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1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4067" name="Text Box 49"/>
            <p:cNvSpPr txBox="1"/>
            <p:nvPr/>
          </p:nvSpPr>
          <p:spPr>
            <a:xfrm>
              <a:off x="3264" y="1618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3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4068" name="Text Box 50"/>
            <p:cNvSpPr txBox="1"/>
            <p:nvPr/>
          </p:nvSpPr>
          <p:spPr>
            <a:xfrm>
              <a:off x="4944" y="850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4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4069" name="Text Box 51"/>
            <p:cNvSpPr txBox="1"/>
            <p:nvPr/>
          </p:nvSpPr>
          <p:spPr>
            <a:xfrm>
              <a:off x="4848" y="2482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6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4070" name="Text Box 52"/>
            <p:cNvSpPr txBox="1"/>
            <p:nvPr/>
          </p:nvSpPr>
          <p:spPr>
            <a:xfrm>
              <a:off x="5424" y="1666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7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4071" name="Text Box 53"/>
            <p:cNvSpPr txBox="1"/>
            <p:nvPr/>
          </p:nvSpPr>
          <p:spPr>
            <a:xfrm>
              <a:off x="3840" y="2482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5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4072" name="Text Box 57"/>
            <p:cNvSpPr txBox="1"/>
            <p:nvPr/>
          </p:nvSpPr>
          <p:spPr>
            <a:xfrm>
              <a:off x="4150" y="935"/>
              <a:ext cx="754" cy="135"/>
            </a:xfrm>
            <a:prstGeom prst="rect">
              <a:avLst/>
            </a:prstGeom>
            <a:solidFill>
              <a:srgbClr val="FFFFCC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800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1000"/>
                                        <p:tgtEl>
                                          <p:spTgt spid="5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10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10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10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 animBg="1"/>
      <p:bldP spid="52230" grpId="0" animBg="1"/>
      <p:bldP spid="5224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0" name="Object 2"/>
          <p:cNvGraphicFramePr>
            <a:graphicFrameLocks noChangeAspect="1"/>
          </p:cNvGraphicFramePr>
          <p:nvPr/>
        </p:nvGraphicFramePr>
        <p:xfrm>
          <a:off x="611188" y="3357563"/>
          <a:ext cx="5343525" cy="270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9" r:id="rId3" imgW="3009900" imgH="1625600" progId="Equation.DSMT4">
                  <p:embed/>
                </p:oleObj>
              </mc:Choice>
              <mc:Fallback>
                <p:oleObj r:id="rId3" imgW="3009900" imgH="16256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188" y="3357563"/>
                        <a:ext cx="5343525" cy="2709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9" name="Text Box 3"/>
          <p:cNvSpPr txBox="1"/>
          <p:nvPr/>
        </p:nvSpPr>
        <p:spPr>
          <a:xfrm>
            <a:off x="609600" y="471488"/>
            <a:ext cx="4953000" cy="51911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加权有向图</a:t>
            </a:r>
            <a:r>
              <a:rPr lang="en-US" altLang="zh-CN" sz="2800" b="1">
                <a:latin typeface="Times New Roman" panose="02020603050405020304" pitchFamily="18" charset="0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及其邻接矩阵</a:t>
            </a:r>
            <a:r>
              <a:rPr lang="en-US" altLang="zh-CN" sz="2800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53292" name="Text Box 44"/>
          <p:cNvSpPr txBox="1"/>
          <p:nvPr/>
        </p:nvSpPr>
        <p:spPr>
          <a:xfrm>
            <a:off x="6400800" y="4494213"/>
            <a:ext cx="1752600" cy="519112"/>
          </a:xfrm>
          <a:prstGeom prst="rect">
            <a:avLst/>
          </a:prstGeom>
          <a:solidFill>
            <a:srgbClr val="99FF33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定量模型</a:t>
            </a:r>
          </a:p>
        </p:txBody>
      </p:sp>
      <p:grpSp>
        <p:nvGrpSpPr>
          <p:cNvPr id="53293" name="Group 45"/>
          <p:cNvGrpSpPr/>
          <p:nvPr/>
        </p:nvGrpSpPr>
        <p:grpSpPr>
          <a:xfrm>
            <a:off x="609600" y="1066800"/>
            <a:ext cx="3962400" cy="1955800"/>
            <a:chOff x="384" y="672"/>
            <a:chExt cx="2496" cy="1232"/>
          </a:xfrm>
        </p:grpSpPr>
        <p:sp>
          <p:nvSpPr>
            <p:cNvPr id="45102" name="Text Box 46"/>
            <p:cNvSpPr txBox="1"/>
            <p:nvPr/>
          </p:nvSpPr>
          <p:spPr>
            <a:xfrm>
              <a:off x="384" y="1200"/>
              <a:ext cx="2496" cy="704"/>
            </a:xfrm>
            <a:prstGeom prst="rect">
              <a:avLst/>
            </a:prstGeom>
            <a:solidFill>
              <a:srgbClr val="FF99FF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某时段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v</a:t>
              </a:r>
              <a:r>
                <a:rPr lang="en-US" altLang="zh-CN" sz="2800" b="1" i="1" baseline="-25000">
                  <a:latin typeface="Times New Roman" panose="02020603050405020304" pitchFamily="18" charset="0"/>
                </a:rPr>
                <a:t>i</a:t>
              </a:r>
              <a:r>
                <a:rPr lang="en-US" altLang="zh-CN" sz="2800" b="1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增加</a:t>
              </a:r>
              <a:r>
                <a:rPr lang="en-US" altLang="zh-CN" sz="2800" b="1">
                  <a:latin typeface="Times New Roman" panose="02020603050405020304" pitchFamily="18" charset="0"/>
                </a:rPr>
                <a:t>1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单位导致下时段</a:t>
              </a:r>
              <a:r>
                <a:rPr lang="en-US" altLang="zh-CN" sz="2800" b="1" i="1" err="1">
                  <a:latin typeface="Times New Roman" panose="02020603050405020304" pitchFamily="18" charset="0"/>
                </a:rPr>
                <a:t>v</a:t>
              </a:r>
              <a:r>
                <a:rPr lang="en-US" altLang="zh-CN" sz="2800" b="1" i="1" baseline="-25000" err="1">
                  <a:latin typeface="Times New Roman" panose="02020603050405020304" pitchFamily="18" charset="0"/>
                </a:rPr>
                <a:t>j</a:t>
              </a:r>
              <a:r>
                <a:rPr lang="en-US" altLang="zh-CN" sz="2800" b="1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增加</a:t>
              </a:r>
              <a:r>
                <a:rPr lang="en-US" altLang="zh-CN" sz="2800" b="1" i="1" err="1">
                  <a:latin typeface="Times New Roman" panose="02020603050405020304" pitchFamily="18" charset="0"/>
                </a:rPr>
                <a:t>w</a:t>
              </a:r>
              <a:r>
                <a:rPr lang="en-US" altLang="zh-CN" sz="2800" b="1" i="1" baseline="-25000" err="1">
                  <a:latin typeface="Times New Roman" panose="02020603050405020304" pitchFamily="18" charset="0"/>
                </a:rPr>
                <a:t>ij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单位</a:t>
              </a:r>
            </a:p>
          </p:txBody>
        </p:sp>
        <p:graphicFrame>
          <p:nvGraphicFramePr>
            <p:cNvPr id="45103" name="Object 47"/>
            <p:cNvGraphicFramePr>
              <a:graphicFrameLocks noChangeAspect="1"/>
            </p:cNvGraphicFramePr>
            <p:nvPr/>
          </p:nvGraphicFramePr>
          <p:xfrm>
            <a:off x="960" y="672"/>
            <a:ext cx="1296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0" r:id="rId5" imgW="723900" imgH="266700" progId="Equation.3">
                    <p:embed/>
                  </p:oleObj>
                </mc:Choice>
                <mc:Fallback>
                  <p:oleObj r:id="rId5" imgW="723900" imgH="266700" progId="Equation.3">
                    <p:embed/>
                    <p:pic>
                      <p:nvPicPr>
                        <p:cNvPr id="0" name="图片 321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60" y="672"/>
                          <a:ext cx="1296" cy="520"/>
                        </a:xfrm>
                        <a:prstGeom prst="rect">
                          <a:avLst/>
                        </a:prstGeom>
                        <a:solidFill>
                          <a:srgbClr val="FF99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296" name="Object 48"/>
          <p:cNvGraphicFramePr>
            <a:graphicFrameLocks noChangeAspect="1"/>
          </p:cNvGraphicFramePr>
          <p:nvPr/>
        </p:nvGraphicFramePr>
        <p:xfrm>
          <a:off x="5976938" y="5334000"/>
          <a:ext cx="2938462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1" r:id="rId7" imgW="1282700" imgH="241300" progId="Equation.3">
                  <p:embed/>
                </p:oleObj>
              </mc:Choice>
              <mc:Fallback>
                <p:oleObj r:id="rId7" imgW="1282700" imgH="2413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76938" y="5334000"/>
                        <a:ext cx="2938462" cy="493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3" name="Text Box 41"/>
          <p:cNvSpPr txBox="1"/>
          <p:nvPr/>
        </p:nvSpPr>
        <p:spPr>
          <a:xfrm>
            <a:off x="8686800" y="19050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</a:rPr>
              <a:t>v</a:t>
            </a:r>
            <a:r>
              <a:rPr lang="en-US" altLang="zh-CN" b="1" baseline="-25000">
                <a:latin typeface="Times New Roman" panose="02020603050405020304" pitchFamily="18" charset="0"/>
              </a:rPr>
              <a:t>7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grpSp>
        <p:nvGrpSpPr>
          <p:cNvPr id="53300" name="Group 52"/>
          <p:cNvGrpSpPr/>
          <p:nvPr/>
        </p:nvGrpSpPr>
        <p:grpSpPr>
          <a:xfrm>
            <a:off x="5257800" y="479425"/>
            <a:ext cx="3657600" cy="3886200"/>
            <a:chOff x="3312" y="288"/>
            <a:chExt cx="2304" cy="2448"/>
          </a:xfrm>
        </p:grpSpPr>
        <p:sp>
          <p:nvSpPr>
            <p:cNvPr id="45065" name="AutoShape 6"/>
            <p:cNvSpPr/>
            <p:nvPr/>
          </p:nvSpPr>
          <p:spPr>
            <a:xfrm>
              <a:off x="3552" y="576"/>
              <a:ext cx="1920" cy="1536"/>
            </a:xfrm>
            <a:prstGeom prst="hexagon">
              <a:avLst>
                <a:gd name="adj" fmla="val 31250"/>
                <a:gd name="vf" fmla="val 11547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066" name="Rectangle 7"/>
            <p:cNvSpPr/>
            <p:nvPr/>
          </p:nvSpPr>
          <p:spPr>
            <a:xfrm>
              <a:off x="4032" y="480"/>
              <a:ext cx="960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067" name="Line 8"/>
            <p:cNvSpPr/>
            <p:nvPr/>
          </p:nvSpPr>
          <p:spPr>
            <a:xfrm flipH="1">
              <a:off x="4032" y="576"/>
              <a:ext cx="960" cy="15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8" name="Line 9"/>
            <p:cNvSpPr/>
            <p:nvPr/>
          </p:nvSpPr>
          <p:spPr>
            <a:xfrm>
              <a:off x="3552" y="1344"/>
              <a:ext cx="19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9" name="Arc 10"/>
            <p:cNvSpPr/>
            <p:nvPr/>
          </p:nvSpPr>
          <p:spPr>
            <a:xfrm>
              <a:off x="4032" y="576"/>
              <a:ext cx="480" cy="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0" b="0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0" name="Arc 11"/>
            <p:cNvSpPr/>
            <p:nvPr/>
          </p:nvSpPr>
          <p:spPr>
            <a:xfrm rot="-4049453" flipH="1">
              <a:off x="4032" y="576"/>
              <a:ext cx="480" cy="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0" b="0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1" name="Line 12"/>
            <p:cNvSpPr/>
            <p:nvPr/>
          </p:nvSpPr>
          <p:spPr>
            <a:xfrm>
              <a:off x="4320" y="768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072" name="Line 13"/>
            <p:cNvSpPr/>
            <p:nvPr/>
          </p:nvSpPr>
          <p:spPr>
            <a:xfrm flipH="1" flipV="1">
              <a:off x="4080" y="1008"/>
              <a:ext cx="144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073" name="Line 14"/>
            <p:cNvSpPr/>
            <p:nvPr/>
          </p:nvSpPr>
          <p:spPr>
            <a:xfrm flipV="1">
              <a:off x="3744" y="912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074" name="Line 15"/>
            <p:cNvSpPr/>
            <p:nvPr/>
          </p:nvSpPr>
          <p:spPr>
            <a:xfrm>
              <a:off x="5088" y="720"/>
              <a:ext cx="144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075" name="Line 16"/>
            <p:cNvSpPr/>
            <p:nvPr/>
          </p:nvSpPr>
          <p:spPr>
            <a:xfrm flipV="1">
              <a:off x="4704" y="864"/>
              <a:ext cx="96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076" name="Line 17"/>
            <p:cNvSpPr/>
            <p:nvPr/>
          </p:nvSpPr>
          <p:spPr>
            <a:xfrm flipV="1">
              <a:off x="5136" y="1632"/>
              <a:ext cx="144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077" name="Line 18"/>
            <p:cNvSpPr/>
            <p:nvPr/>
          </p:nvSpPr>
          <p:spPr>
            <a:xfrm>
              <a:off x="4272" y="2112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078" name="Line 19"/>
            <p:cNvSpPr/>
            <p:nvPr/>
          </p:nvSpPr>
          <p:spPr>
            <a:xfrm flipV="1">
              <a:off x="4176" y="1632"/>
              <a:ext cx="144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079" name="Line 20"/>
            <p:cNvSpPr/>
            <p:nvPr/>
          </p:nvSpPr>
          <p:spPr>
            <a:xfrm>
              <a:off x="3696" y="1584"/>
              <a:ext cx="144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080" name="Line 21"/>
            <p:cNvSpPr/>
            <p:nvPr/>
          </p:nvSpPr>
          <p:spPr>
            <a:xfrm flipH="1">
              <a:off x="4896" y="134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081" name="Line 22"/>
            <p:cNvSpPr/>
            <p:nvPr/>
          </p:nvSpPr>
          <p:spPr>
            <a:xfrm flipH="1">
              <a:off x="4032" y="1344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082" name="Text Box 23"/>
            <p:cNvSpPr txBox="1"/>
            <p:nvPr/>
          </p:nvSpPr>
          <p:spPr>
            <a:xfrm>
              <a:off x="5232" y="816"/>
              <a:ext cx="38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0.3</a:t>
              </a:r>
            </a:p>
          </p:txBody>
        </p:sp>
        <p:sp>
          <p:nvSpPr>
            <p:cNvPr id="45083" name="Text Box 24"/>
            <p:cNvSpPr txBox="1"/>
            <p:nvPr/>
          </p:nvSpPr>
          <p:spPr>
            <a:xfrm>
              <a:off x="5184" y="1680"/>
              <a:ext cx="3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5084" name="Text Box 25"/>
            <p:cNvSpPr txBox="1"/>
            <p:nvPr/>
          </p:nvSpPr>
          <p:spPr>
            <a:xfrm>
              <a:off x="4464" y="2112"/>
              <a:ext cx="38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1.5</a:t>
              </a:r>
            </a:p>
          </p:txBody>
        </p:sp>
        <p:sp>
          <p:nvSpPr>
            <p:cNvPr id="45085" name="Text Box 26"/>
            <p:cNvSpPr txBox="1"/>
            <p:nvPr/>
          </p:nvSpPr>
          <p:spPr>
            <a:xfrm>
              <a:off x="3648" y="1737"/>
              <a:ext cx="3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5086" name="Text Box 27"/>
            <p:cNvSpPr txBox="1"/>
            <p:nvPr/>
          </p:nvSpPr>
          <p:spPr>
            <a:xfrm>
              <a:off x="4848" y="1353"/>
              <a:ext cx="3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1.5</a:t>
              </a:r>
            </a:p>
          </p:txBody>
        </p:sp>
        <p:sp>
          <p:nvSpPr>
            <p:cNvPr id="45087" name="Text Box 28"/>
            <p:cNvSpPr txBox="1"/>
            <p:nvPr/>
          </p:nvSpPr>
          <p:spPr>
            <a:xfrm>
              <a:off x="4272" y="1593"/>
              <a:ext cx="43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1.2</a:t>
              </a:r>
            </a:p>
          </p:txBody>
        </p:sp>
        <p:sp>
          <p:nvSpPr>
            <p:cNvPr id="45088" name="Text Box 29"/>
            <p:cNvSpPr txBox="1"/>
            <p:nvPr/>
          </p:nvSpPr>
          <p:spPr>
            <a:xfrm>
              <a:off x="3936" y="1353"/>
              <a:ext cx="38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0.8</a:t>
              </a:r>
            </a:p>
          </p:txBody>
        </p:sp>
        <p:sp>
          <p:nvSpPr>
            <p:cNvPr id="45089" name="Text Box 30"/>
            <p:cNvSpPr txBox="1"/>
            <p:nvPr/>
          </p:nvSpPr>
          <p:spPr>
            <a:xfrm>
              <a:off x="4704" y="816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</a:rPr>
                <a:t>-</a:t>
              </a:r>
              <a:r>
                <a:rPr lang="en-US" altLang="zh-CN" sz="1800" b="1">
                  <a:latin typeface="Times New Roman" panose="02020603050405020304" pitchFamily="18" charset="0"/>
                </a:rPr>
                <a:t>2</a:t>
              </a:r>
              <a:endParaRPr lang="en-US" altLang="zh-CN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45090" name="Text Box 31"/>
            <p:cNvSpPr txBox="1"/>
            <p:nvPr/>
          </p:nvSpPr>
          <p:spPr>
            <a:xfrm>
              <a:off x="3552" y="691"/>
              <a:ext cx="38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</a:rPr>
                <a:t>-</a:t>
              </a:r>
              <a:r>
                <a:rPr lang="en-US" altLang="zh-CN" sz="1800" b="1">
                  <a:latin typeface="Times New Roman" panose="02020603050405020304" pitchFamily="18" charset="0"/>
                </a:rPr>
                <a:t>2</a:t>
              </a:r>
              <a:endParaRPr lang="en-US" altLang="zh-CN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45091" name="Text Box 32"/>
            <p:cNvSpPr txBox="1"/>
            <p:nvPr/>
          </p:nvSpPr>
          <p:spPr>
            <a:xfrm>
              <a:off x="4368" y="576"/>
              <a:ext cx="5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</a:rPr>
                <a:t>-</a:t>
              </a:r>
              <a:r>
                <a:rPr lang="en-US" altLang="zh-CN" sz="1800" b="1">
                  <a:latin typeface="Times New Roman" panose="02020603050405020304" pitchFamily="18" charset="0"/>
                </a:rPr>
                <a:t>0.7</a:t>
              </a:r>
              <a:endParaRPr lang="en-US" altLang="zh-CN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45092" name="Text Box 33"/>
            <p:cNvSpPr txBox="1"/>
            <p:nvPr/>
          </p:nvSpPr>
          <p:spPr>
            <a:xfrm>
              <a:off x="3792" y="931"/>
              <a:ext cx="43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</a:rPr>
                <a:t>-</a:t>
              </a:r>
              <a:r>
                <a:rPr lang="en-US" altLang="zh-CN" sz="1800" b="1">
                  <a:latin typeface="Times New Roman" panose="02020603050405020304" pitchFamily="18" charset="0"/>
                </a:rPr>
                <a:t>0.5</a:t>
              </a:r>
              <a:endParaRPr lang="en-US" altLang="zh-CN" sz="32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5093" name="Object 34"/>
            <p:cNvGraphicFramePr>
              <a:graphicFrameLocks noChangeAspect="1"/>
            </p:cNvGraphicFramePr>
            <p:nvPr/>
          </p:nvGraphicFramePr>
          <p:xfrm>
            <a:off x="4481" y="1304"/>
            <a:ext cx="79" cy="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2" r:id="rId9" imgW="127000" imgH="139700" progId="Equation.3">
                    <p:embed/>
                  </p:oleObj>
                </mc:Choice>
                <mc:Fallback>
                  <p:oleObj r:id="rId9" imgW="127000" imgH="139700" progId="Equation.3">
                    <p:embed/>
                    <p:pic>
                      <p:nvPicPr>
                        <p:cNvPr id="0" name="图片 3182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481" y="1304"/>
                          <a:ext cx="79" cy="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94" name="Text Box 35"/>
            <p:cNvSpPr txBox="1"/>
            <p:nvPr/>
          </p:nvSpPr>
          <p:spPr>
            <a:xfrm>
              <a:off x="4464" y="1248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1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5095" name="Text Box 36"/>
            <p:cNvSpPr txBox="1"/>
            <p:nvPr/>
          </p:nvSpPr>
          <p:spPr>
            <a:xfrm>
              <a:off x="3787" y="288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2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5096" name="Text Box 37"/>
            <p:cNvSpPr txBox="1"/>
            <p:nvPr/>
          </p:nvSpPr>
          <p:spPr>
            <a:xfrm>
              <a:off x="3312" y="1152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3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5097" name="Text Box 38"/>
            <p:cNvSpPr txBox="1"/>
            <p:nvPr/>
          </p:nvSpPr>
          <p:spPr>
            <a:xfrm>
              <a:off x="4992" y="384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4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5098" name="Text Box 39"/>
            <p:cNvSpPr txBox="1"/>
            <p:nvPr/>
          </p:nvSpPr>
          <p:spPr>
            <a:xfrm>
              <a:off x="3936" y="2016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5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5099" name="Text Box 40"/>
            <p:cNvSpPr txBox="1"/>
            <p:nvPr/>
          </p:nvSpPr>
          <p:spPr>
            <a:xfrm>
              <a:off x="4896" y="2016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6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5100" name="Text Box 43"/>
            <p:cNvSpPr txBox="1"/>
            <p:nvPr/>
          </p:nvSpPr>
          <p:spPr>
            <a:xfrm>
              <a:off x="4032" y="2448"/>
              <a:ext cx="13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加权有向图</a:t>
              </a:r>
              <a:r>
                <a:rPr lang="en-US" altLang="zh-CN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b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5101" name="Text Box 51"/>
            <p:cNvSpPr txBox="1"/>
            <p:nvPr/>
          </p:nvSpPr>
          <p:spPr>
            <a:xfrm>
              <a:off x="4195" y="482"/>
              <a:ext cx="754" cy="135"/>
            </a:xfrm>
            <a:prstGeom prst="rect">
              <a:avLst/>
            </a:prstGeom>
            <a:solidFill>
              <a:srgbClr val="FFFFCC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800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53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10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53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3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8" dur="1000"/>
                                        <p:tgtEl>
                                          <p:spTgt spid="53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9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4" name="Object 2"/>
          <p:cNvGraphicFramePr>
            <a:graphicFrameLocks noChangeAspect="1"/>
          </p:cNvGraphicFramePr>
          <p:nvPr/>
        </p:nvGraphicFramePr>
        <p:xfrm>
          <a:off x="685800" y="2636838"/>
          <a:ext cx="79248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4" r:id="rId3" imgW="3873500" imgH="254000" progId="Equation.3">
                  <p:embed/>
                </p:oleObj>
              </mc:Choice>
              <mc:Fallback>
                <p:oleObj r:id="rId3" imgW="3873500" imgH="254000" progId="Equation.3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800" y="2636838"/>
                        <a:ext cx="7924800" cy="546100"/>
                      </a:xfrm>
                      <a:prstGeom prst="rect">
                        <a:avLst/>
                      </a:prstGeom>
                      <a:solidFill>
                        <a:srgbClr val="99FF33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5" name="Object 3"/>
          <p:cNvGraphicFramePr>
            <a:graphicFrameLocks noChangeAspect="1"/>
          </p:cNvGraphicFramePr>
          <p:nvPr/>
        </p:nvGraphicFramePr>
        <p:xfrm>
          <a:off x="647700" y="3246438"/>
          <a:ext cx="7962900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5" r:id="rId5" imgW="3035300" imgH="431800" progId="Equation.3">
                  <p:embed/>
                </p:oleObj>
              </mc:Choice>
              <mc:Fallback>
                <p:oleObj r:id="rId5" imgW="3035300" imgH="431800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7700" y="3246438"/>
                        <a:ext cx="7962900" cy="1011237"/>
                      </a:xfrm>
                      <a:prstGeom prst="rect">
                        <a:avLst/>
                      </a:prstGeom>
                      <a:solidFill>
                        <a:srgbClr val="99FF33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6" name="Object 4"/>
          <p:cNvGraphicFramePr>
            <a:graphicFrameLocks noChangeAspect="1"/>
          </p:cNvGraphicFramePr>
          <p:nvPr/>
        </p:nvGraphicFramePr>
        <p:xfrm>
          <a:off x="4287838" y="5124450"/>
          <a:ext cx="33099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6" r:id="rId7" imgW="1409065" imgH="203200" progId="Equation.DSMT4">
                  <p:embed/>
                </p:oleObj>
              </mc:Choice>
              <mc:Fallback>
                <p:oleObj r:id="rId7" imgW="1409065" imgH="203200" progId="Equation.DSMT4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87838" y="5124450"/>
                        <a:ext cx="3309937" cy="4572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5" name="Text Box 5"/>
          <p:cNvSpPr txBox="1"/>
          <p:nvPr/>
        </p:nvSpPr>
        <p:spPr>
          <a:xfrm>
            <a:off x="684213" y="549275"/>
            <a:ext cx="4876800" cy="579438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冲量过程</a:t>
            </a:r>
            <a:r>
              <a:rPr lang="zh-CN" altLang="en-US" sz="3200" b="1" dirty="0">
                <a:latin typeface="Times New Roman" panose="02020603050405020304" pitchFamily="18" charset="0"/>
              </a:rPr>
              <a:t>（</a:t>
            </a:r>
            <a:r>
              <a:rPr lang="en-US" altLang="zh-CN" sz="3200" b="1">
                <a:latin typeface="Times New Roman" panose="02020603050405020304" pitchFamily="18" charset="0"/>
              </a:rPr>
              <a:t>Pulse Process)</a:t>
            </a:r>
          </a:p>
        </p:txBody>
      </p:sp>
      <p:sp>
        <p:nvSpPr>
          <p:cNvPr id="54278" name="Text Box 6"/>
          <p:cNvSpPr txBox="1"/>
          <p:nvPr/>
        </p:nvSpPr>
        <p:spPr>
          <a:xfrm>
            <a:off x="838200" y="1341438"/>
            <a:ext cx="7086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研究由某元素</a:t>
            </a:r>
            <a:r>
              <a:rPr lang="en-US" altLang="zh-CN" sz="2800" b="1" i="1">
                <a:latin typeface="Times New Roman" panose="02020603050405020304" pitchFamily="18" charset="0"/>
              </a:rPr>
              <a:t>v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i</a:t>
            </a:r>
            <a:r>
              <a:rPr lang="zh-CN" altLang="en-US" sz="2800" b="1" dirty="0">
                <a:latin typeface="Times New Roman" panose="02020603050405020304" pitchFamily="18" charset="0"/>
              </a:rPr>
              <a:t>变化引起的系统的演变过程  </a:t>
            </a:r>
          </a:p>
        </p:txBody>
      </p:sp>
      <p:sp>
        <p:nvSpPr>
          <p:cNvPr id="54279" name="Text Box 7"/>
          <p:cNvSpPr txBox="1"/>
          <p:nvPr/>
        </p:nvSpPr>
        <p:spPr>
          <a:xfrm>
            <a:off x="228600" y="1951038"/>
            <a:ext cx="8686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err="1">
                <a:solidFill>
                  <a:srgbClr val="FF33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b="1" i="1" baseline="-2500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err="1">
                <a:solidFill>
                  <a:srgbClr val="FF33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err="1">
                <a:solidFill>
                  <a:srgbClr val="FF33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="1">
                <a:latin typeface="Times New Roman" panose="02020603050405020304" pitchFamily="18" charset="0"/>
              </a:rPr>
              <a:t> ~ </a:t>
            </a:r>
            <a:r>
              <a:rPr lang="en-US" altLang="zh-CN" sz="2800" b="1" i="1">
                <a:latin typeface="Times New Roman" panose="02020603050405020304" pitchFamily="18" charset="0"/>
              </a:rPr>
              <a:t>v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i</a:t>
            </a:r>
            <a:r>
              <a:rPr lang="zh-CN" altLang="en-US" sz="2800" b="1" dirty="0">
                <a:latin typeface="Times New Roman" panose="02020603050405020304" pitchFamily="18" charset="0"/>
              </a:rPr>
              <a:t>在时段</a:t>
            </a:r>
            <a:r>
              <a:rPr lang="en-US" altLang="zh-CN" sz="2800" b="1" i="1">
                <a:latin typeface="Times New Roman" panose="02020603050405020304" pitchFamily="18" charset="0"/>
              </a:rPr>
              <a:t>t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值</a:t>
            </a:r>
            <a:r>
              <a:rPr lang="zh-CN" altLang="en-US" sz="2800" b="1" dirty="0">
                <a:latin typeface="Times New Roman" panose="02020603050405020304" pitchFamily="18" charset="0"/>
              </a:rPr>
              <a:t>； </a:t>
            </a:r>
            <a:r>
              <a:rPr lang="en-US" altLang="zh-CN" sz="2800" b="1" i="1" err="1">
                <a:solidFill>
                  <a:srgbClr val="FF33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 b="1" i="1" baseline="-2500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err="1">
                <a:solidFill>
                  <a:srgbClr val="FF33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err="1">
                <a:solidFill>
                  <a:srgbClr val="FF33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="1">
                <a:latin typeface="Times New Roman" panose="02020603050405020304" pitchFamily="18" charset="0"/>
              </a:rPr>
              <a:t> ~ </a:t>
            </a:r>
            <a:r>
              <a:rPr lang="en-US" altLang="zh-CN" sz="2800" b="1" i="1">
                <a:latin typeface="Times New Roman" panose="02020603050405020304" pitchFamily="18" charset="0"/>
              </a:rPr>
              <a:t>v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i</a:t>
            </a:r>
            <a:r>
              <a:rPr lang="zh-CN" altLang="en-US" sz="2800" b="1" dirty="0">
                <a:latin typeface="Times New Roman" panose="02020603050405020304" pitchFamily="18" charset="0"/>
              </a:rPr>
              <a:t>在时段</a:t>
            </a:r>
            <a:r>
              <a:rPr lang="en-US" altLang="zh-CN" sz="2800" b="1" i="1">
                <a:latin typeface="Times New Roman" panose="02020603050405020304" pitchFamily="18" charset="0"/>
              </a:rPr>
              <a:t>t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改变量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冲量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54280" name="Object 8"/>
          <p:cNvGraphicFramePr>
            <a:graphicFrameLocks noChangeAspect="1"/>
          </p:cNvGraphicFramePr>
          <p:nvPr/>
        </p:nvGraphicFramePr>
        <p:xfrm>
          <a:off x="457200" y="4329113"/>
          <a:ext cx="845820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7" r:id="rId9" imgW="3467100" imgH="228600" progId="Equation.DSMT4">
                  <p:embed/>
                </p:oleObj>
              </mc:Choice>
              <mc:Fallback>
                <p:oleObj r:id="rId9" imgW="3467100" imgH="228600" progId="Equation.DSMT4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7200" y="4329113"/>
                        <a:ext cx="8458200" cy="601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1" name="Object 9"/>
          <p:cNvGraphicFramePr>
            <a:graphicFrameLocks noChangeAspect="1"/>
          </p:cNvGraphicFramePr>
          <p:nvPr/>
        </p:nvGraphicFramePr>
        <p:xfrm>
          <a:off x="6629400" y="511175"/>
          <a:ext cx="2057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8" r:id="rId11" imgW="723900" imgH="266700" progId="Equation.3">
                  <p:embed/>
                </p:oleObj>
              </mc:Choice>
              <mc:Fallback>
                <p:oleObj r:id="rId11" imgW="723900" imgH="266700" progId="Equation.3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629400" y="511175"/>
                        <a:ext cx="20574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2" name="Text Box 10"/>
          <p:cNvSpPr txBox="1"/>
          <p:nvPr/>
        </p:nvSpPr>
        <p:spPr>
          <a:xfrm>
            <a:off x="900113" y="5013325"/>
            <a:ext cx="2438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冲量过程模型</a:t>
            </a:r>
          </a:p>
        </p:txBody>
      </p:sp>
      <p:grpSp>
        <p:nvGrpSpPr>
          <p:cNvPr id="54283" name="Group 11"/>
          <p:cNvGrpSpPr/>
          <p:nvPr/>
        </p:nvGrpSpPr>
        <p:grpSpPr>
          <a:xfrm>
            <a:off x="1208088" y="5768975"/>
            <a:ext cx="6792912" cy="533400"/>
            <a:chOff x="761" y="3504"/>
            <a:chExt cx="4279" cy="336"/>
          </a:xfrm>
        </p:grpSpPr>
        <p:graphicFrame>
          <p:nvGraphicFramePr>
            <p:cNvPr id="46092" name="Object 12"/>
            <p:cNvGraphicFramePr>
              <a:graphicFrameLocks noChangeAspect="1"/>
            </p:cNvGraphicFramePr>
            <p:nvPr/>
          </p:nvGraphicFramePr>
          <p:xfrm>
            <a:off x="761" y="3531"/>
            <a:ext cx="1693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99" r:id="rId13" imgW="1040765" imgH="203200" progId="Equation.DSMT4">
                    <p:embed/>
                  </p:oleObj>
                </mc:Choice>
                <mc:Fallback>
                  <p:oleObj r:id="rId13" imgW="1040765" imgH="203200" progId="Equation.DSMT4">
                    <p:embed/>
                    <p:pic>
                      <p:nvPicPr>
                        <p:cNvPr id="0" name="图片 3187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61" y="3531"/>
                          <a:ext cx="1693" cy="295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3" name="Object 13"/>
            <p:cNvGraphicFramePr>
              <a:graphicFrameLocks noChangeAspect="1"/>
            </p:cNvGraphicFramePr>
            <p:nvPr/>
          </p:nvGraphicFramePr>
          <p:xfrm>
            <a:off x="3024" y="3504"/>
            <a:ext cx="201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00" r:id="rId15" imgW="1002665" imgH="203200" progId="Equation.DSMT4">
                    <p:embed/>
                  </p:oleObj>
                </mc:Choice>
                <mc:Fallback>
                  <p:oleObj r:id="rId15" imgW="1002665" imgH="203200" progId="Equation.DSMT4">
                    <p:embed/>
                    <p:pic>
                      <p:nvPicPr>
                        <p:cNvPr id="0" name="图片 3189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024" y="3504"/>
                          <a:ext cx="2016" cy="336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094" name="Text Box 14"/>
            <p:cNvSpPr txBox="1"/>
            <p:nvPr/>
          </p:nvSpPr>
          <p:spPr>
            <a:xfrm>
              <a:off x="2640" y="3504"/>
              <a:ext cx="432" cy="327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或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10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6" dur="10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10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10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10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8" grpId="0"/>
      <p:bldP spid="54279" grpId="0" animBg="1"/>
      <p:bldP spid="5428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37"/>
          <p:cNvSpPr txBox="1"/>
          <p:nvPr/>
        </p:nvSpPr>
        <p:spPr>
          <a:xfrm>
            <a:off x="533400" y="304800"/>
            <a:ext cx="4038600" cy="579438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能源利用系统的预测</a:t>
            </a:r>
          </a:p>
        </p:txBody>
      </p:sp>
      <p:sp>
        <p:nvSpPr>
          <p:cNvPr id="55334" name="Text Box 38"/>
          <p:cNvSpPr txBox="1"/>
          <p:nvPr/>
        </p:nvSpPr>
        <p:spPr>
          <a:xfrm>
            <a:off x="304800" y="914400"/>
            <a:ext cx="5635625" cy="1160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简单冲量过程</a:t>
            </a:r>
            <a:r>
              <a:rPr lang="en-US" altLang="zh-CN" sz="2800" b="1">
                <a:latin typeface="Times New Roman" panose="02020603050405020304" pitchFamily="18" charset="0"/>
              </a:rPr>
              <a:t>——</a:t>
            </a:r>
            <a:r>
              <a:rPr lang="zh-CN" altLang="en-US" sz="2800" b="1" dirty="0">
                <a:latin typeface="Times New Roman" panose="02020603050405020304" pitchFamily="18" charset="0"/>
              </a:rPr>
              <a:t>初始冲量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(0)</a:t>
            </a:r>
            <a:r>
              <a:rPr lang="zh-CN" altLang="en-US" sz="2800" b="1" dirty="0">
                <a:latin typeface="Times New Roman" panose="02020603050405020304" pitchFamily="18" charset="0"/>
              </a:rPr>
              <a:t>中</a:t>
            </a:r>
          </a:p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某个分量为</a:t>
            </a:r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，其余为</a:t>
            </a:r>
            <a:r>
              <a:rPr lang="en-US" altLang="zh-CN" sz="2800" b="1">
                <a:latin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的冲量过程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5335" name="Text Box 39"/>
          <p:cNvSpPr txBox="1"/>
          <p:nvPr/>
        </p:nvSpPr>
        <p:spPr>
          <a:xfrm>
            <a:off x="381000" y="2133600"/>
            <a:ext cx="8305800" cy="519113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若开始时能源利用量有突然增加，预测系统的演变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55336" name="Group 40"/>
          <p:cNvGrpSpPr/>
          <p:nvPr/>
        </p:nvGrpSpPr>
        <p:grpSpPr>
          <a:xfrm>
            <a:off x="5911850" y="371475"/>
            <a:ext cx="2894013" cy="1714500"/>
            <a:chOff x="3719" y="216"/>
            <a:chExt cx="1784" cy="1080"/>
          </a:xfrm>
        </p:grpSpPr>
        <p:graphicFrame>
          <p:nvGraphicFramePr>
            <p:cNvPr id="47205" name="Object 41"/>
            <p:cNvGraphicFramePr>
              <a:graphicFrameLocks noChangeAspect="1"/>
            </p:cNvGraphicFramePr>
            <p:nvPr/>
          </p:nvGraphicFramePr>
          <p:xfrm>
            <a:off x="4377" y="1015"/>
            <a:ext cx="937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09" r:id="rId3" imgW="736600" imgH="203200" progId="Equation.DSMT4">
                    <p:embed/>
                  </p:oleObj>
                </mc:Choice>
                <mc:Fallback>
                  <p:oleObj r:id="rId3" imgW="736600" imgH="203200" progId="Equation.DSMT4">
                    <p:embed/>
                    <p:pic>
                      <p:nvPicPr>
                        <p:cNvPr id="0" name="图片 318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377" y="1015"/>
                          <a:ext cx="937" cy="257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206" name="Object 42"/>
            <p:cNvGraphicFramePr>
              <a:graphicFrameLocks noChangeAspect="1"/>
            </p:cNvGraphicFramePr>
            <p:nvPr/>
          </p:nvGraphicFramePr>
          <p:xfrm>
            <a:off x="3719" y="216"/>
            <a:ext cx="1777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10" r:id="rId5" imgW="1409065" imgH="203200" progId="Equation.DSMT4">
                    <p:embed/>
                  </p:oleObj>
                </mc:Choice>
                <mc:Fallback>
                  <p:oleObj r:id="rId5" imgW="1409065" imgH="203200" progId="Equation.DSMT4">
                    <p:embed/>
                    <p:pic>
                      <p:nvPicPr>
                        <p:cNvPr id="0" name="图片 319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719" y="216"/>
                          <a:ext cx="1777" cy="255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207" name="Object 43"/>
            <p:cNvGraphicFramePr>
              <a:graphicFrameLocks noChangeAspect="1"/>
            </p:cNvGraphicFramePr>
            <p:nvPr/>
          </p:nvGraphicFramePr>
          <p:xfrm>
            <a:off x="4097" y="601"/>
            <a:ext cx="1406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11" r:id="rId7" imgW="1002665" imgH="203200" progId="Equation.DSMT4">
                    <p:embed/>
                  </p:oleObj>
                </mc:Choice>
                <mc:Fallback>
                  <p:oleObj r:id="rId7" imgW="1002665" imgH="203200" progId="Equation.DSMT4">
                    <p:embed/>
                    <p:pic>
                      <p:nvPicPr>
                        <p:cNvPr id="0" name="图片 318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097" y="601"/>
                          <a:ext cx="1406" cy="274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208" name="Text Box 44"/>
            <p:cNvSpPr txBox="1"/>
            <p:nvPr/>
          </p:nvSpPr>
          <p:spPr>
            <a:xfrm>
              <a:off x="3936" y="1008"/>
              <a:ext cx="336" cy="288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设</a:t>
              </a:r>
            </a:p>
          </p:txBody>
        </p:sp>
      </p:grpSp>
      <p:sp>
        <p:nvSpPr>
          <p:cNvPr id="55341" name="Text Box 45"/>
          <p:cNvSpPr txBox="1"/>
          <p:nvPr/>
        </p:nvSpPr>
        <p:spPr>
          <a:xfrm>
            <a:off x="2133600" y="2681288"/>
            <a:ext cx="4191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能源利用系统的 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p</a:t>
            </a:r>
            <a:r>
              <a:rPr lang="en-US" altLang="zh-CN" sz="2800" b="1" err="1">
                <a:latin typeface="Times New Roman" panose="02020603050405020304" pitchFamily="18" charset="0"/>
              </a:rPr>
              <a:t>(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和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v</a:t>
            </a:r>
            <a:r>
              <a:rPr lang="en-US" altLang="zh-CN" sz="2800" b="1" err="1">
                <a:latin typeface="Times New Roman" panose="02020603050405020304" pitchFamily="18" charset="0"/>
              </a:rPr>
              <a:t>(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</a:p>
        </p:txBody>
      </p:sp>
      <p:grpSp>
        <p:nvGrpSpPr>
          <p:cNvPr id="55381" name="Group 85"/>
          <p:cNvGrpSpPr/>
          <p:nvPr/>
        </p:nvGrpSpPr>
        <p:grpSpPr>
          <a:xfrm>
            <a:off x="609600" y="4365625"/>
            <a:ext cx="8153400" cy="533400"/>
            <a:chOff x="384" y="2784"/>
            <a:chExt cx="5136" cy="336"/>
          </a:xfrm>
        </p:grpSpPr>
        <p:sp>
          <p:nvSpPr>
            <p:cNvPr id="47187" name="Text Box 86"/>
            <p:cNvSpPr txBox="1"/>
            <p:nvPr/>
          </p:nvSpPr>
          <p:spPr>
            <a:xfrm>
              <a:off x="3456" y="2784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</a:rPr>
                <a:t>-</a:t>
              </a:r>
              <a:r>
                <a:rPr lang="en-US" altLang="zh-CN" sz="1800" b="1">
                  <a:latin typeface="Times New Roman" panose="02020603050405020304" pitchFamily="18" charset="0"/>
                </a:rPr>
                <a:t>1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grpSp>
          <p:nvGrpSpPr>
            <p:cNvPr id="47188" name="Group 87"/>
            <p:cNvGrpSpPr/>
            <p:nvPr/>
          </p:nvGrpSpPr>
          <p:grpSpPr>
            <a:xfrm>
              <a:off x="384" y="2832"/>
              <a:ext cx="5136" cy="288"/>
              <a:chOff x="384" y="2784"/>
              <a:chExt cx="5136" cy="288"/>
            </a:xfrm>
          </p:grpSpPr>
          <p:sp>
            <p:nvSpPr>
              <p:cNvPr id="47189" name="Line 88"/>
              <p:cNvSpPr/>
              <p:nvPr/>
            </p:nvSpPr>
            <p:spPr>
              <a:xfrm>
                <a:off x="384" y="3072"/>
                <a:ext cx="51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90" name="Text Box 89"/>
              <p:cNvSpPr txBox="1"/>
              <p:nvPr/>
            </p:nvSpPr>
            <p:spPr>
              <a:xfrm>
                <a:off x="384" y="2793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7191" name="Text Box 90"/>
              <p:cNvSpPr txBox="1"/>
              <p:nvPr/>
            </p:nvSpPr>
            <p:spPr>
              <a:xfrm>
                <a:off x="816" y="2784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7192" name="Text Box 91"/>
              <p:cNvSpPr txBox="1"/>
              <p:nvPr/>
            </p:nvSpPr>
            <p:spPr>
              <a:xfrm>
                <a:off x="1104" y="2784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-1</a:t>
                </a:r>
              </a:p>
            </p:txBody>
          </p:sp>
          <p:sp>
            <p:nvSpPr>
              <p:cNvPr id="47193" name="Text Box 92"/>
              <p:cNvSpPr txBox="1"/>
              <p:nvPr/>
            </p:nvSpPr>
            <p:spPr>
              <a:xfrm>
                <a:off x="1440" y="2784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7194" name="Text Box 93"/>
              <p:cNvSpPr txBox="1"/>
              <p:nvPr/>
            </p:nvSpPr>
            <p:spPr>
              <a:xfrm>
                <a:off x="1728" y="2784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-1</a:t>
                </a:r>
              </a:p>
            </p:txBody>
          </p:sp>
          <p:sp>
            <p:nvSpPr>
              <p:cNvPr id="47195" name="Text Box 94"/>
              <p:cNvSpPr txBox="1"/>
              <p:nvPr/>
            </p:nvSpPr>
            <p:spPr>
              <a:xfrm>
                <a:off x="2112" y="2784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7196" name="Text Box 95"/>
              <p:cNvSpPr txBox="1"/>
              <p:nvPr/>
            </p:nvSpPr>
            <p:spPr>
              <a:xfrm>
                <a:off x="2448" y="2784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7197" name="Text Box 96"/>
              <p:cNvSpPr txBox="1"/>
              <p:nvPr/>
            </p:nvSpPr>
            <p:spPr>
              <a:xfrm>
                <a:off x="2784" y="2784"/>
                <a:ext cx="11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7198" name="Text Box 97"/>
              <p:cNvSpPr txBox="1"/>
              <p:nvPr/>
            </p:nvSpPr>
            <p:spPr>
              <a:xfrm>
                <a:off x="3168" y="2784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7199" name="Text Box 98"/>
              <p:cNvSpPr txBox="1"/>
              <p:nvPr/>
            </p:nvSpPr>
            <p:spPr>
              <a:xfrm>
                <a:off x="3840" y="2784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7200" name="Text Box 99"/>
              <p:cNvSpPr txBox="1"/>
              <p:nvPr/>
            </p:nvSpPr>
            <p:spPr>
              <a:xfrm>
                <a:off x="4176" y="2784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-1</a:t>
                </a:r>
              </a:p>
            </p:txBody>
          </p:sp>
          <p:sp>
            <p:nvSpPr>
              <p:cNvPr id="47201" name="Text Box 100"/>
              <p:cNvSpPr txBox="1"/>
              <p:nvPr/>
            </p:nvSpPr>
            <p:spPr>
              <a:xfrm>
                <a:off x="4560" y="2784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7202" name="Text Box 101"/>
              <p:cNvSpPr txBox="1"/>
              <p:nvPr/>
            </p:nvSpPr>
            <p:spPr>
              <a:xfrm>
                <a:off x="4896" y="2784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7203" name="Text Box 102"/>
              <p:cNvSpPr txBox="1"/>
              <p:nvPr/>
            </p:nvSpPr>
            <p:spPr>
              <a:xfrm>
                <a:off x="5232" y="2784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7204" name="Text Box 103"/>
              <p:cNvSpPr txBox="1"/>
              <p:nvPr/>
            </p:nvSpPr>
            <p:spPr>
              <a:xfrm>
                <a:off x="2784" y="2784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</p:grpSp>
      <p:grpSp>
        <p:nvGrpSpPr>
          <p:cNvPr id="55401" name="Group 105"/>
          <p:cNvGrpSpPr/>
          <p:nvPr/>
        </p:nvGrpSpPr>
        <p:grpSpPr>
          <a:xfrm>
            <a:off x="609600" y="3276600"/>
            <a:ext cx="8153400" cy="3048000"/>
            <a:chOff x="384" y="2064"/>
            <a:chExt cx="5136" cy="1920"/>
          </a:xfrm>
        </p:grpSpPr>
        <p:sp>
          <p:nvSpPr>
            <p:cNvPr id="47150" name="Line 47"/>
            <p:cNvSpPr/>
            <p:nvPr/>
          </p:nvSpPr>
          <p:spPr>
            <a:xfrm>
              <a:off x="672" y="2064"/>
              <a:ext cx="0" cy="18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51" name="Line 48"/>
            <p:cNvSpPr/>
            <p:nvPr/>
          </p:nvSpPr>
          <p:spPr>
            <a:xfrm>
              <a:off x="3120" y="2064"/>
              <a:ext cx="0" cy="18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52" name="Line 49"/>
            <p:cNvSpPr/>
            <p:nvPr/>
          </p:nvSpPr>
          <p:spPr>
            <a:xfrm>
              <a:off x="3072" y="2064"/>
              <a:ext cx="0" cy="19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53" name="Line 50"/>
            <p:cNvSpPr/>
            <p:nvPr/>
          </p:nvSpPr>
          <p:spPr>
            <a:xfrm>
              <a:off x="384" y="2064"/>
              <a:ext cx="51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54" name="Line 51"/>
            <p:cNvSpPr/>
            <p:nvPr/>
          </p:nvSpPr>
          <p:spPr>
            <a:xfrm>
              <a:off x="384" y="2400"/>
              <a:ext cx="51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55" name="Line 52"/>
            <p:cNvSpPr/>
            <p:nvPr/>
          </p:nvSpPr>
          <p:spPr>
            <a:xfrm>
              <a:off x="384" y="2736"/>
              <a:ext cx="51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47156" name="Object 53"/>
            <p:cNvGraphicFramePr>
              <a:graphicFrameLocks noChangeAspect="1"/>
            </p:cNvGraphicFramePr>
            <p:nvPr/>
          </p:nvGraphicFramePr>
          <p:xfrm>
            <a:off x="434" y="2160"/>
            <a:ext cx="109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12" r:id="rId9" imgW="101600" imgH="177800" progId="Equation.3">
                    <p:embed/>
                  </p:oleObj>
                </mc:Choice>
                <mc:Fallback>
                  <p:oleObj r:id="rId9" imgW="101600" imgH="177800" progId="Equation.3">
                    <p:embed/>
                    <p:pic>
                      <p:nvPicPr>
                        <p:cNvPr id="0" name="图片 319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34" y="2160"/>
                          <a:ext cx="109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57" name="Object 54"/>
            <p:cNvGraphicFramePr>
              <a:graphicFrameLocks noChangeAspect="1"/>
            </p:cNvGraphicFramePr>
            <p:nvPr/>
          </p:nvGraphicFramePr>
          <p:xfrm>
            <a:off x="1776" y="2112"/>
            <a:ext cx="20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13" r:id="rId11" imgW="215900" imgH="254000" progId="Equation.3">
                    <p:embed/>
                  </p:oleObj>
                </mc:Choice>
                <mc:Fallback>
                  <p:oleObj r:id="rId11" imgW="215900" imgH="254000" progId="Equation.3">
                    <p:embed/>
                    <p:pic>
                      <p:nvPicPr>
                        <p:cNvPr id="0" name="图片 319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776" y="2112"/>
                          <a:ext cx="204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58" name="Object 55"/>
            <p:cNvGraphicFramePr>
              <a:graphicFrameLocks noChangeAspect="1"/>
            </p:cNvGraphicFramePr>
            <p:nvPr/>
          </p:nvGraphicFramePr>
          <p:xfrm>
            <a:off x="1440" y="2112"/>
            <a:ext cx="20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14" r:id="rId13" imgW="215900" imgH="254000" progId="Equation.3">
                    <p:embed/>
                  </p:oleObj>
                </mc:Choice>
                <mc:Fallback>
                  <p:oleObj r:id="rId13" imgW="215900" imgH="254000" progId="Equation.3">
                    <p:embed/>
                    <p:pic>
                      <p:nvPicPr>
                        <p:cNvPr id="0" name="图片 319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440" y="2112"/>
                          <a:ext cx="204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59" name="Object 56"/>
            <p:cNvGraphicFramePr>
              <a:graphicFrameLocks noChangeAspect="1"/>
            </p:cNvGraphicFramePr>
            <p:nvPr/>
          </p:nvGraphicFramePr>
          <p:xfrm>
            <a:off x="2112" y="2112"/>
            <a:ext cx="20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15" r:id="rId15" imgW="215900" imgH="254000" progId="Equation.3">
                    <p:embed/>
                  </p:oleObj>
                </mc:Choice>
                <mc:Fallback>
                  <p:oleObj r:id="rId15" imgW="215900" imgH="254000" progId="Equation.3">
                    <p:embed/>
                    <p:pic>
                      <p:nvPicPr>
                        <p:cNvPr id="0" name="图片 3193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112" y="2112"/>
                          <a:ext cx="204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60" name="Object 57"/>
            <p:cNvGraphicFramePr>
              <a:graphicFrameLocks noChangeAspect="1"/>
            </p:cNvGraphicFramePr>
            <p:nvPr/>
          </p:nvGraphicFramePr>
          <p:xfrm>
            <a:off x="2482" y="2112"/>
            <a:ext cx="20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16" r:id="rId17" imgW="215900" imgH="254000" progId="Equation.3">
                    <p:embed/>
                  </p:oleObj>
                </mc:Choice>
                <mc:Fallback>
                  <p:oleObj r:id="rId17" imgW="215900" imgH="254000" progId="Equation.3">
                    <p:embed/>
                    <p:pic>
                      <p:nvPicPr>
                        <p:cNvPr id="0" name="图片 3200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482" y="2112"/>
                          <a:ext cx="203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61" name="Object 58"/>
            <p:cNvGraphicFramePr>
              <a:graphicFrameLocks noChangeAspect="1"/>
            </p:cNvGraphicFramePr>
            <p:nvPr/>
          </p:nvGraphicFramePr>
          <p:xfrm>
            <a:off x="2825" y="2128"/>
            <a:ext cx="190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17" r:id="rId19" imgW="215900" imgH="254000" progId="Equation.3">
                    <p:embed/>
                  </p:oleObj>
                </mc:Choice>
                <mc:Fallback>
                  <p:oleObj r:id="rId19" imgW="215900" imgH="254000" progId="Equation.3">
                    <p:embed/>
                    <p:pic>
                      <p:nvPicPr>
                        <p:cNvPr id="0" name="图片 3203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825" y="2128"/>
                          <a:ext cx="190" cy="2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62" name="Object 59"/>
            <p:cNvGraphicFramePr>
              <a:graphicFrameLocks noChangeAspect="1"/>
            </p:cNvGraphicFramePr>
            <p:nvPr/>
          </p:nvGraphicFramePr>
          <p:xfrm>
            <a:off x="1104" y="2112"/>
            <a:ext cx="189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18" r:id="rId21" imgW="215900" imgH="254000" progId="Equation.3">
                    <p:embed/>
                  </p:oleObj>
                </mc:Choice>
                <mc:Fallback>
                  <p:oleObj r:id="rId21" imgW="215900" imgH="254000" progId="Equation.3">
                    <p:embed/>
                    <p:pic>
                      <p:nvPicPr>
                        <p:cNvPr id="0" name="图片 3197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104" y="2112"/>
                          <a:ext cx="189" cy="2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63" name="Object 61"/>
            <p:cNvGraphicFramePr>
              <a:graphicFrameLocks noChangeAspect="1"/>
            </p:cNvGraphicFramePr>
            <p:nvPr/>
          </p:nvGraphicFramePr>
          <p:xfrm>
            <a:off x="4272" y="2112"/>
            <a:ext cx="156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19" r:id="rId23" imgW="177800" imgH="253365" progId="Equation.3">
                    <p:embed/>
                  </p:oleObj>
                </mc:Choice>
                <mc:Fallback>
                  <p:oleObj r:id="rId23" imgW="177800" imgH="253365" progId="Equation.3">
                    <p:embed/>
                    <p:pic>
                      <p:nvPicPr>
                        <p:cNvPr id="0" name="图片 3202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272" y="2112"/>
                          <a:ext cx="156" cy="2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64" name="Object 62"/>
            <p:cNvGraphicFramePr>
              <a:graphicFrameLocks noChangeAspect="1"/>
            </p:cNvGraphicFramePr>
            <p:nvPr/>
          </p:nvGraphicFramePr>
          <p:xfrm>
            <a:off x="3840" y="2112"/>
            <a:ext cx="156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20" r:id="rId25" imgW="177800" imgH="253365" progId="Equation.3">
                    <p:embed/>
                  </p:oleObj>
                </mc:Choice>
                <mc:Fallback>
                  <p:oleObj r:id="rId25" imgW="177800" imgH="253365" progId="Equation.3">
                    <p:embed/>
                    <p:pic>
                      <p:nvPicPr>
                        <p:cNvPr id="0" name="图片 3201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840" y="2112"/>
                          <a:ext cx="156" cy="2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65" name="Object 63"/>
            <p:cNvGraphicFramePr>
              <a:graphicFrameLocks noChangeAspect="1"/>
            </p:cNvGraphicFramePr>
            <p:nvPr/>
          </p:nvGraphicFramePr>
          <p:xfrm>
            <a:off x="3529" y="2112"/>
            <a:ext cx="16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21" r:id="rId27" imgW="177800" imgH="253365" progId="Equation.3">
                    <p:embed/>
                  </p:oleObj>
                </mc:Choice>
                <mc:Fallback>
                  <p:oleObj r:id="rId27" imgW="177800" imgH="253365" progId="Equation.3">
                    <p:embed/>
                    <p:pic>
                      <p:nvPicPr>
                        <p:cNvPr id="0" name="图片 3196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529" y="2112"/>
                          <a:ext cx="167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66" name="Object 64"/>
            <p:cNvGraphicFramePr>
              <a:graphicFrameLocks noChangeAspect="1"/>
            </p:cNvGraphicFramePr>
            <p:nvPr/>
          </p:nvGraphicFramePr>
          <p:xfrm>
            <a:off x="3216" y="2129"/>
            <a:ext cx="144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22" r:id="rId29" imgW="165100" imgH="254000" progId="Equation.3">
                    <p:embed/>
                  </p:oleObj>
                </mc:Choice>
                <mc:Fallback>
                  <p:oleObj r:id="rId29" imgW="165100" imgH="254000" progId="Equation.3">
                    <p:embed/>
                    <p:pic>
                      <p:nvPicPr>
                        <p:cNvPr id="0" name="图片 3204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3216" y="2129"/>
                          <a:ext cx="144" cy="2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67" name="Object 65"/>
            <p:cNvGraphicFramePr>
              <a:graphicFrameLocks noChangeAspect="1"/>
            </p:cNvGraphicFramePr>
            <p:nvPr/>
          </p:nvGraphicFramePr>
          <p:xfrm>
            <a:off x="4584" y="2112"/>
            <a:ext cx="16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23" r:id="rId31" imgW="177800" imgH="253365" progId="Equation.3">
                    <p:embed/>
                  </p:oleObj>
                </mc:Choice>
                <mc:Fallback>
                  <p:oleObj r:id="rId31" imgW="177800" imgH="253365" progId="Equation.3">
                    <p:embed/>
                    <p:pic>
                      <p:nvPicPr>
                        <p:cNvPr id="0" name="图片 3194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4584" y="2112"/>
                          <a:ext cx="168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68" name="Object 66"/>
            <p:cNvGraphicFramePr>
              <a:graphicFrameLocks noChangeAspect="1"/>
            </p:cNvGraphicFramePr>
            <p:nvPr/>
          </p:nvGraphicFramePr>
          <p:xfrm>
            <a:off x="4944" y="2112"/>
            <a:ext cx="156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24" r:id="rId33" imgW="177800" imgH="253365" progId="Equation.3">
                    <p:embed/>
                  </p:oleObj>
                </mc:Choice>
                <mc:Fallback>
                  <p:oleObj r:id="rId33" imgW="177800" imgH="253365" progId="Equation.3">
                    <p:embed/>
                    <p:pic>
                      <p:nvPicPr>
                        <p:cNvPr id="0" name="图片 3195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4944" y="2112"/>
                          <a:ext cx="156" cy="2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69" name="Object 67"/>
            <p:cNvGraphicFramePr>
              <a:graphicFrameLocks noChangeAspect="1"/>
            </p:cNvGraphicFramePr>
            <p:nvPr/>
          </p:nvGraphicFramePr>
          <p:xfrm>
            <a:off x="5232" y="2112"/>
            <a:ext cx="156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25" r:id="rId35" imgW="177800" imgH="253365" progId="Equation.3">
                    <p:embed/>
                  </p:oleObj>
                </mc:Choice>
                <mc:Fallback>
                  <p:oleObj r:id="rId35" imgW="177800" imgH="253365" progId="Equation.3">
                    <p:embed/>
                    <p:pic>
                      <p:nvPicPr>
                        <p:cNvPr id="0" name="图片 3198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5232" y="2112"/>
                          <a:ext cx="156" cy="2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70" name="Text Box 68"/>
            <p:cNvSpPr txBox="1"/>
            <p:nvPr/>
          </p:nvSpPr>
          <p:spPr>
            <a:xfrm>
              <a:off x="384" y="2496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7171" name="Text Box 69"/>
            <p:cNvSpPr txBox="1"/>
            <p:nvPr/>
          </p:nvSpPr>
          <p:spPr>
            <a:xfrm>
              <a:off x="816" y="2496"/>
              <a:ext cx="2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7172" name="Text Box 70"/>
            <p:cNvSpPr txBox="1"/>
            <p:nvPr/>
          </p:nvSpPr>
          <p:spPr>
            <a:xfrm>
              <a:off x="1104" y="2496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7173" name="Text Box 71"/>
            <p:cNvSpPr txBox="1"/>
            <p:nvPr/>
          </p:nvSpPr>
          <p:spPr>
            <a:xfrm>
              <a:off x="1440" y="2496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7174" name="Text Box 72"/>
            <p:cNvSpPr txBox="1"/>
            <p:nvPr/>
          </p:nvSpPr>
          <p:spPr>
            <a:xfrm>
              <a:off x="1776" y="2496"/>
              <a:ext cx="2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7175" name="Text Box 73"/>
            <p:cNvSpPr txBox="1"/>
            <p:nvPr/>
          </p:nvSpPr>
          <p:spPr>
            <a:xfrm>
              <a:off x="2112" y="2496"/>
              <a:ext cx="3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7176" name="Text Box 74"/>
            <p:cNvSpPr txBox="1"/>
            <p:nvPr/>
          </p:nvSpPr>
          <p:spPr>
            <a:xfrm>
              <a:off x="2448" y="2496"/>
              <a:ext cx="2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7177" name="Text Box 75"/>
            <p:cNvSpPr txBox="1"/>
            <p:nvPr/>
          </p:nvSpPr>
          <p:spPr>
            <a:xfrm>
              <a:off x="2784" y="2505"/>
              <a:ext cx="11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7178" name="Text Box 76"/>
            <p:cNvSpPr txBox="1"/>
            <p:nvPr/>
          </p:nvSpPr>
          <p:spPr>
            <a:xfrm>
              <a:off x="3168" y="2448"/>
              <a:ext cx="2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7179" name="Text Box 77"/>
            <p:cNvSpPr txBox="1"/>
            <p:nvPr/>
          </p:nvSpPr>
          <p:spPr>
            <a:xfrm>
              <a:off x="3504" y="2448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7180" name="Text Box 78"/>
            <p:cNvSpPr txBox="1"/>
            <p:nvPr/>
          </p:nvSpPr>
          <p:spPr>
            <a:xfrm>
              <a:off x="3840" y="2448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7181" name="Text Box 79"/>
            <p:cNvSpPr txBox="1"/>
            <p:nvPr/>
          </p:nvSpPr>
          <p:spPr>
            <a:xfrm>
              <a:off x="4224" y="2448"/>
              <a:ext cx="2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7182" name="Text Box 80"/>
            <p:cNvSpPr txBox="1"/>
            <p:nvPr/>
          </p:nvSpPr>
          <p:spPr>
            <a:xfrm>
              <a:off x="4560" y="2448"/>
              <a:ext cx="3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7183" name="Text Box 81"/>
            <p:cNvSpPr txBox="1"/>
            <p:nvPr/>
          </p:nvSpPr>
          <p:spPr>
            <a:xfrm>
              <a:off x="4896" y="2448"/>
              <a:ext cx="2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7184" name="Text Box 83"/>
            <p:cNvSpPr txBox="1"/>
            <p:nvPr/>
          </p:nvSpPr>
          <p:spPr>
            <a:xfrm>
              <a:off x="2784" y="2496"/>
              <a:ext cx="2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7185" name="Text Box 84"/>
            <p:cNvSpPr txBox="1"/>
            <p:nvPr/>
          </p:nvSpPr>
          <p:spPr>
            <a:xfrm>
              <a:off x="5232" y="2448"/>
              <a:ext cx="2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0</a:t>
              </a:r>
            </a:p>
          </p:txBody>
        </p:sp>
        <p:graphicFrame>
          <p:nvGraphicFramePr>
            <p:cNvPr id="47186" name="Object 104"/>
            <p:cNvGraphicFramePr>
              <a:graphicFrameLocks noChangeAspect="1"/>
            </p:cNvGraphicFramePr>
            <p:nvPr/>
          </p:nvGraphicFramePr>
          <p:xfrm>
            <a:off x="809" y="2115"/>
            <a:ext cx="186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26" r:id="rId37" imgW="177800" imgH="215900" progId="Equation.3">
                    <p:embed/>
                  </p:oleObj>
                </mc:Choice>
                <mc:Fallback>
                  <p:oleObj r:id="rId37" imgW="177800" imgH="215900" progId="Equation.3">
                    <p:embed/>
                    <p:pic>
                      <p:nvPicPr>
                        <p:cNvPr id="0" name="图片 3205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809" y="2115"/>
                          <a:ext cx="186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403" name="Group 107"/>
          <p:cNvGrpSpPr/>
          <p:nvPr/>
        </p:nvGrpSpPr>
        <p:grpSpPr>
          <a:xfrm>
            <a:off x="609600" y="4941888"/>
            <a:ext cx="8153400" cy="1295400"/>
            <a:chOff x="384" y="3113"/>
            <a:chExt cx="5136" cy="816"/>
          </a:xfrm>
        </p:grpSpPr>
        <p:grpSp>
          <p:nvGrpSpPr>
            <p:cNvPr id="47114" name="Group 2"/>
            <p:cNvGrpSpPr/>
            <p:nvPr/>
          </p:nvGrpSpPr>
          <p:grpSpPr>
            <a:xfrm>
              <a:off x="384" y="3113"/>
              <a:ext cx="5136" cy="816"/>
              <a:chOff x="384" y="3120"/>
              <a:chExt cx="5136" cy="816"/>
            </a:xfrm>
          </p:grpSpPr>
          <p:sp>
            <p:nvSpPr>
              <p:cNvPr id="47116" name="Line 3"/>
              <p:cNvSpPr/>
              <p:nvPr/>
            </p:nvSpPr>
            <p:spPr>
              <a:xfrm>
                <a:off x="384" y="3408"/>
                <a:ext cx="51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17" name="Line 4"/>
              <p:cNvSpPr/>
              <p:nvPr/>
            </p:nvSpPr>
            <p:spPr>
              <a:xfrm>
                <a:off x="384" y="3936"/>
                <a:ext cx="51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18" name="Text Box 5"/>
              <p:cNvSpPr txBox="1"/>
              <p:nvPr/>
            </p:nvSpPr>
            <p:spPr>
              <a:xfrm>
                <a:off x="384" y="3168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7119" name="Text Box 6"/>
              <p:cNvSpPr txBox="1"/>
              <p:nvPr/>
            </p:nvSpPr>
            <p:spPr>
              <a:xfrm>
                <a:off x="384" y="3456"/>
                <a:ext cx="28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7120" name="Text Box 7"/>
              <p:cNvSpPr txBox="1"/>
              <p:nvPr/>
            </p:nvSpPr>
            <p:spPr>
              <a:xfrm>
                <a:off x="816" y="3129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7121" name="Text Box 8"/>
              <p:cNvSpPr txBox="1"/>
              <p:nvPr/>
            </p:nvSpPr>
            <p:spPr>
              <a:xfrm>
                <a:off x="1104" y="3120"/>
                <a:ext cx="28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-1</a:t>
                </a:r>
              </a:p>
            </p:txBody>
          </p:sp>
          <p:sp>
            <p:nvSpPr>
              <p:cNvPr id="47122" name="Text Box 9"/>
              <p:cNvSpPr txBox="1"/>
              <p:nvPr/>
            </p:nvSpPr>
            <p:spPr>
              <a:xfrm>
                <a:off x="1440" y="3120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7123" name="Text Box 10"/>
              <p:cNvSpPr txBox="1"/>
              <p:nvPr/>
            </p:nvSpPr>
            <p:spPr>
              <a:xfrm>
                <a:off x="1776" y="3120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7124" name="Text Box 11"/>
              <p:cNvSpPr txBox="1"/>
              <p:nvPr/>
            </p:nvSpPr>
            <p:spPr>
              <a:xfrm>
                <a:off x="2112" y="3120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7125" name="Text Box 12"/>
              <p:cNvSpPr txBox="1"/>
              <p:nvPr/>
            </p:nvSpPr>
            <p:spPr>
              <a:xfrm>
                <a:off x="2448" y="3120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7126" name="Text Box 13"/>
              <p:cNvSpPr txBox="1"/>
              <p:nvPr/>
            </p:nvSpPr>
            <p:spPr>
              <a:xfrm>
                <a:off x="2736" y="3120"/>
                <a:ext cx="28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-1</a:t>
                </a:r>
              </a:p>
            </p:txBody>
          </p:sp>
          <p:sp>
            <p:nvSpPr>
              <p:cNvPr id="47127" name="Text Box 14"/>
              <p:cNvSpPr txBox="1"/>
              <p:nvPr/>
            </p:nvSpPr>
            <p:spPr>
              <a:xfrm>
                <a:off x="3168" y="3120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7128" name="Text Box 15"/>
              <p:cNvSpPr txBox="1"/>
              <p:nvPr/>
            </p:nvSpPr>
            <p:spPr>
              <a:xfrm>
                <a:off x="3456" y="3120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-2</a:t>
                </a:r>
              </a:p>
            </p:txBody>
          </p:sp>
          <p:sp>
            <p:nvSpPr>
              <p:cNvPr id="47129" name="Text Box 16"/>
              <p:cNvSpPr txBox="1"/>
              <p:nvPr/>
            </p:nvSpPr>
            <p:spPr>
              <a:xfrm>
                <a:off x="3840" y="3120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7130" name="Text Box 17"/>
              <p:cNvSpPr txBox="1"/>
              <p:nvPr/>
            </p:nvSpPr>
            <p:spPr>
              <a:xfrm>
                <a:off x="4176" y="3120"/>
                <a:ext cx="28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-1</a:t>
                </a:r>
              </a:p>
            </p:txBody>
          </p:sp>
          <p:sp>
            <p:nvSpPr>
              <p:cNvPr id="47131" name="Text Box 18"/>
              <p:cNvSpPr txBox="1"/>
              <p:nvPr/>
            </p:nvSpPr>
            <p:spPr>
              <a:xfrm>
                <a:off x="4560" y="3120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7132" name="Text Box 19"/>
              <p:cNvSpPr txBox="1"/>
              <p:nvPr/>
            </p:nvSpPr>
            <p:spPr>
              <a:xfrm>
                <a:off x="4896" y="3120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7133" name="Text Box 20"/>
              <p:cNvSpPr txBox="1"/>
              <p:nvPr/>
            </p:nvSpPr>
            <p:spPr>
              <a:xfrm>
                <a:off x="5184" y="3120"/>
                <a:ext cx="28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-1</a:t>
                </a:r>
              </a:p>
            </p:txBody>
          </p:sp>
          <p:sp>
            <p:nvSpPr>
              <p:cNvPr id="47134" name="Text Box 21"/>
              <p:cNvSpPr txBox="1"/>
              <p:nvPr/>
            </p:nvSpPr>
            <p:spPr>
              <a:xfrm>
                <a:off x="816" y="3456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7135" name="Text Box 22"/>
              <p:cNvSpPr txBox="1"/>
              <p:nvPr/>
            </p:nvSpPr>
            <p:spPr>
              <a:xfrm>
                <a:off x="1104" y="3456"/>
                <a:ext cx="33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-1</a:t>
                </a:r>
              </a:p>
            </p:txBody>
          </p:sp>
          <p:sp>
            <p:nvSpPr>
              <p:cNvPr id="47136" name="Text Box 23"/>
              <p:cNvSpPr txBox="1"/>
              <p:nvPr/>
            </p:nvSpPr>
            <p:spPr>
              <a:xfrm>
                <a:off x="1440" y="3456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7137" name="Text Box 24"/>
              <p:cNvSpPr txBox="1"/>
              <p:nvPr/>
            </p:nvSpPr>
            <p:spPr>
              <a:xfrm>
                <a:off x="1728" y="3456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-1</a:t>
                </a:r>
              </a:p>
            </p:txBody>
          </p:sp>
          <p:sp>
            <p:nvSpPr>
              <p:cNvPr id="47138" name="Text Box 25"/>
              <p:cNvSpPr txBox="1"/>
              <p:nvPr/>
            </p:nvSpPr>
            <p:spPr>
              <a:xfrm>
                <a:off x="2112" y="3456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7139" name="Text Box 26"/>
              <p:cNvSpPr txBox="1"/>
              <p:nvPr/>
            </p:nvSpPr>
            <p:spPr>
              <a:xfrm>
                <a:off x="2448" y="3456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7140" name="Text Box 27"/>
              <p:cNvSpPr txBox="1"/>
              <p:nvPr/>
            </p:nvSpPr>
            <p:spPr>
              <a:xfrm>
                <a:off x="2784" y="3456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7141" name="Text Box 28"/>
              <p:cNvSpPr txBox="1"/>
              <p:nvPr/>
            </p:nvSpPr>
            <p:spPr>
              <a:xfrm>
                <a:off x="3168" y="3456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7142" name="Text Box 29"/>
              <p:cNvSpPr txBox="1"/>
              <p:nvPr/>
            </p:nvSpPr>
            <p:spPr>
              <a:xfrm>
                <a:off x="3456" y="3456"/>
                <a:ext cx="33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-3</a:t>
                </a:r>
              </a:p>
            </p:txBody>
          </p:sp>
          <p:sp>
            <p:nvSpPr>
              <p:cNvPr id="47143" name="Text Box 30"/>
              <p:cNvSpPr txBox="1"/>
              <p:nvPr/>
            </p:nvSpPr>
            <p:spPr>
              <a:xfrm>
                <a:off x="3840" y="3456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7144" name="Text Box 31"/>
              <p:cNvSpPr txBox="1"/>
              <p:nvPr/>
            </p:nvSpPr>
            <p:spPr>
              <a:xfrm>
                <a:off x="4176" y="3456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-2</a:t>
                </a:r>
              </a:p>
            </p:txBody>
          </p:sp>
          <p:sp>
            <p:nvSpPr>
              <p:cNvPr id="47145" name="Text Box 32"/>
              <p:cNvSpPr txBox="1"/>
              <p:nvPr/>
            </p:nvSpPr>
            <p:spPr>
              <a:xfrm>
                <a:off x="4560" y="3456"/>
                <a:ext cx="1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7146" name="Text Box 33"/>
              <p:cNvSpPr txBox="1"/>
              <p:nvPr/>
            </p:nvSpPr>
            <p:spPr>
              <a:xfrm>
                <a:off x="4896" y="3465"/>
                <a:ext cx="28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7147" name="Text Box 34"/>
              <p:cNvSpPr txBox="1"/>
              <p:nvPr/>
            </p:nvSpPr>
            <p:spPr>
              <a:xfrm>
                <a:off x="5184" y="3456"/>
                <a:ext cx="28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-1</a:t>
                </a:r>
              </a:p>
            </p:txBody>
          </p:sp>
          <p:graphicFrame>
            <p:nvGraphicFramePr>
              <p:cNvPr id="47148" name="Object 35"/>
              <p:cNvGraphicFramePr>
                <a:graphicFrameLocks noChangeAspect="1"/>
              </p:cNvGraphicFramePr>
              <p:nvPr/>
            </p:nvGraphicFramePr>
            <p:xfrm>
              <a:off x="864" y="3760"/>
              <a:ext cx="672" cy="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927" r:id="rId39" imgW="393065" imgH="76200" progId="Equation.3">
                      <p:embed/>
                    </p:oleObj>
                  </mc:Choice>
                  <mc:Fallback>
                    <p:oleObj r:id="rId39" imgW="393065" imgH="76200" progId="Equation.3">
                      <p:embed/>
                      <p:pic>
                        <p:nvPicPr>
                          <p:cNvPr id="0" name="图片 3207"/>
                          <p:cNvPicPr/>
                          <p:nvPr/>
                        </p:nvPicPr>
                        <p:blipFill>
                          <a:blip r:embed="rId40"/>
                          <a:stretch>
                            <a:fillRect/>
                          </a:stretch>
                        </p:blipFill>
                        <p:spPr>
                          <a:xfrm>
                            <a:off x="864" y="3760"/>
                            <a:ext cx="672" cy="12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49" name="Object 36"/>
              <p:cNvGraphicFramePr>
                <a:graphicFrameLocks noChangeAspect="1"/>
              </p:cNvGraphicFramePr>
              <p:nvPr/>
            </p:nvGraphicFramePr>
            <p:xfrm>
              <a:off x="3216" y="3744"/>
              <a:ext cx="672" cy="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928" r:id="rId41" imgW="393065" imgH="76200" progId="Equation.3">
                      <p:embed/>
                    </p:oleObj>
                  </mc:Choice>
                  <mc:Fallback>
                    <p:oleObj r:id="rId41" imgW="393065" imgH="76200" progId="Equation.3">
                      <p:embed/>
                      <p:pic>
                        <p:nvPicPr>
                          <p:cNvPr id="0" name="图片 3210"/>
                          <p:cNvPicPr/>
                          <p:nvPr/>
                        </p:nvPicPr>
                        <p:blipFill>
                          <a:blip r:embed="rId40"/>
                          <a:stretch>
                            <a:fillRect/>
                          </a:stretch>
                        </p:blipFill>
                        <p:spPr>
                          <a:xfrm>
                            <a:off x="3216" y="3744"/>
                            <a:ext cx="672" cy="12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7115" name="Line 106"/>
            <p:cNvSpPr/>
            <p:nvPr/>
          </p:nvSpPr>
          <p:spPr>
            <a:xfrm>
              <a:off x="385" y="3702"/>
              <a:ext cx="512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1000"/>
                                        <p:tgtEl>
                                          <p:spTgt spid="55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55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1000"/>
                                        <p:tgtEl>
                                          <p:spTgt spid="5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1000"/>
                                        <p:tgtEl>
                                          <p:spTgt spid="5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5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34" grpId="0"/>
      <p:bldP spid="55335" grpId="0" animBg="1"/>
      <p:bldP spid="5534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/>
          <p:nvPr/>
        </p:nvSpPr>
        <p:spPr>
          <a:xfrm>
            <a:off x="685800" y="609600"/>
            <a:ext cx="4648200" cy="579438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简单冲量过程</a:t>
            </a:r>
            <a:r>
              <a:rPr lang="en-US" altLang="zh-CN" sz="3200" b="1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的稳定性 </a:t>
            </a:r>
          </a:p>
        </p:txBody>
      </p:sp>
      <p:sp>
        <p:nvSpPr>
          <p:cNvPr id="56323" name="Text Box 3"/>
          <p:cNvSpPr txBox="1"/>
          <p:nvPr/>
        </p:nvSpPr>
        <p:spPr>
          <a:xfrm>
            <a:off x="533400" y="1295400"/>
            <a:ext cx="8229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任意时段</a:t>
            </a:r>
            <a:r>
              <a:rPr lang="en-US" altLang="zh-CN" sz="2800" b="1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的各元素的值和冲量是否为有限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</a:rPr>
              <a:t>稳定</a:t>
            </a:r>
            <a:r>
              <a:rPr lang="en-US" altLang="zh-CN" sz="2800" b="1">
                <a:latin typeface="Times New Roman" panose="02020603050405020304" pitchFamily="18" charset="0"/>
              </a:rPr>
              <a:t>)?</a:t>
            </a:r>
          </a:p>
        </p:txBody>
      </p:sp>
      <p:sp>
        <p:nvSpPr>
          <p:cNvPr id="56324" name="Text Box 4"/>
          <p:cNvSpPr txBox="1"/>
          <p:nvPr/>
        </p:nvSpPr>
        <p:spPr>
          <a:xfrm>
            <a:off x="533400" y="1919288"/>
            <a:ext cx="82867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S</a:t>
            </a:r>
            <a:r>
              <a:rPr lang="zh-CN" altLang="en-US" sz="2800" b="1" dirty="0">
                <a:latin typeface="Times New Roman" panose="02020603050405020304" pitchFamily="18" charset="0"/>
              </a:rPr>
              <a:t>不稳定时如何改变可以控制的关系使之变为稳定</a:t>
            </a:r>
            <a:r>
              <a:rPr lang="en-US" altLang="zh-CN" sz="2800" b="1"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56325" name="Text Box 5"/>
          <p:cNvSpPr txBox="1"/>
          <p:nvPr/>
        </p:nvSpPr>
        <p:spPr>
          <a:xfrm>
            <a:off x="457200" y="3290888"/>
            <a:ext cx="5562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 S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冲量稳定</a:t>
            </a:r>
            <a:r>
              <a:rPr lang="en-US" altLang="zh-CN" sz="2800" b="1">
                <a:latin typeface="Times New Roman" panose="02020603050405020304" pitchFamily="18" charset="0"/>
              </a:rPr>
              <a:t>~</a:t>
            </a:r>
            <a:r>
              <a:rPr lang="zh-CN" altLang="en-US" sz="2800" b="1" dirty="0">
                <a:latin typeface="Times New Roman" panose="02020603050405020304" pitchFamily="18" charset="0"/>
              </a:rPr>
              <a:t>对任意 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i,t</a:t>
            </a:r>
            <a:r>
              <a:rPr lang="en-US" altLang="zh-CN" sz="2800" b="1" i="1">
                <a:latin typeface="Times New Roman" panose="02020603050405020304" pitchFamily="18" charset="0"/>
              </a:rPr>
              <a:t>,</a:t>
            </a:r>
            <a:r>
              <a:rPr lang="en-US" altLang="zh-CN" sz="2800" b="1">
                <a:latin typeface="Times New Roman" panose="02020603050405020304" pitchFamily="18" charset="0"/>
              </a:rPr>
              <a:t>  |</a:t>
            </a:r>
            <a:r>
              <a:rPr lang="en-US" altLang="zh-CN" sz="2800" b="1" i="1">
                <a:latin typeface="Times New Roman" panose="02020603050405020304" pitchFamily="18" charset="0"/>
              </a:rPr>
              <a:t> 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p</a:t>
            </a:r>
            <a:r>
              <a:rPr lang="en-US" altLang="zh-CN" sz="2800" b="1" i="1" baseline="-25000" err="1">
                <a:latin typeface="Times New Roman" panose="02020603050405020304" pitchFamily="18" charset="0"/>
              </a:rPr>
              <a:t>i</a:t>
            </a:r>
            <a:r>
              <a:rPr lang="en-US" altLang="zh-CN" sz="2800" b="1" err="1">
                <a:latin typeface="Times New Roman" panose="02020603050405020304" pitchFamily="18" charset="0"/>
              </a:rPr>
              <a:t>(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</a:rPr>
              <a:t>) |</a:t>
            </a:r>
            <a:r>
              <a:rPr lang="zh-CN" altLang="en-US" sz="2800" b="1" dirty="0">
                <a:latin typeface="Times New Roman" panose="02020603050405020304" pitchFamily="18" charset="0"/>
              </a:rPr>
              <a:t>有界</a:t>
            </a:r>
          </a:p>
        </p:txBody>
      </p:sp>
      <p:sp>
        <p:nvSpPr>
          <p:cNvPr id="56326" name="Text Box 6"/>
          <p:cNvSpPr txBox="1"/>
          <p:nvPr/>
        </p:nvSpPr>
        <p:spPr>
          <a:xfrm>
            <a:off x="457200" y="4052888"/>
            <a:ext cx="5562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 S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值稳定</a:t>
            </a:r>
            <a:r>
              <a:rPr lang="en-US" altLang="zh-CN" sz="2800" b="1">
                <a:latin typeface="Times New Roman" panose="02020603050405020304" pitchFamily="18" charset="0"/>
              </a:rPr>
              <a:t>~</a:t>
            </a:r>
            <a:r>
              <a:rPr lang="zh-CN" altLang="en-US" sz="2800" b="1" dirty="0">
                <a:latin typeface="Times New Roman" panose="02020603050405020304" pitchFamily="18" charset="0"/>
              </a:rPr>
              <a:t>对任意 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i,t</a:t>
            </a:r>
            <a:r>
              <a:rPr lang="en-US" altLang="zh-CN" sz="2800" b="1" i="1">
                <a:latin typeface="Times New Roman" panose="02020603050405020304" pitchFamily="18" charset="0"/>
              </a:rPr>
              <a:t>,</a:t>
            </a:r>
            <a:r>
              <a:rPr lang="en-US" altLang="zh-CN" sz="2800" b="1">
                <a:latin typeface="Times New Roman" panose="02020603050405020304" pitchFamily="18" charset="0"/>
              </a:rPr>
              <a:t>  |</a:t>
            </a:r>
            <a:r>
              <a:rPr lang="en-US" altLang="zh-CN" sz="2800" b="1" i="1">
                <a:latin typeface="Times New Roman" panose="02020603050405020304" pitchFamily="18" charset="0"/>
              </a:rPr>
              <a:t> 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v</a:t>
            </a:r>
            <a:r>
              <a:rPr lang="en-US" altLang="zh-CN" sz="2800" b="1" i="1" baseline="-25000" err="1">
                <a:latin typeface="Times New Roman" panose="02020603050405020304" pitchFamily="18" charset="0"/>
              </a:rPr>
              <a:t>i</a:t>
            </a:r>
            <a:r>
              <a:rPr lang="en-US" altLang="zh-CN" sz="2800" b="1" err="1">
                <a:latin typeface="Times New Roman" panose="02020603050405020304" pitchFamily="18" charset="0"/>
              </a:rPr>
              <a:t>(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</a:rPr>
              <a:t>) |</a:t>
            </a:r>
            <a:r>
              <a:rPr lang="zh-CN" altLang="en-US" sz="2800" b="1" dirty="0">
                <a:latin typeface="Times New Roman" panose="02020603050405020304" pitchFamily="18" charset="0"/>
              </a:rPr>
              <a:t>有界</a:t>
            </a:r>
          </a:p>
        </p:txBody>
      </p:sp>
      <p:grpSp>
        <p:nvGrpSpPr>
          <p:cNvPr id="56327" name="Group 7"/>
          <p:cNvGrpSpPr/>
          <p:nvPr/>
        </p:nvGrpSpPr>
        <p:grpSpPr>
          <a:xfrm>
            <a:off x="6477000" y="3241675"/>
            <a:ext cx="1752600" cy="1330325"/>
            <a:chOff x="4128" y="1850"/>
            <a:chExt cx="1104" cy="838"/>
          </a:xfrm>
        </p:grpSpPr>
        <p:sp>
          <p:nvSpPr>
            <p:cNvPr id="48145" name="Text Box 8"/>
            <p:cNvSpPr txBox="1"/>
            <p:nvPr/>
          </p:nvSpPr>
          <p:spPr>
            <a:xfrm>
              <a:off x="4128" y="1850"/>
              <a:ext cx="1104" cy="838"/>
            </a:xfrm>
            <a:prstGeom prst="rect">
              <a:avLst/>
            </a:prstGeom>
            <a:solidFill>
              <a:srgbClr val="FFCCFF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9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值稳定</a:t>
              </a:r>
            </a:p>
            <a:p>
              <a:pPr>
                <a:spcBef>
                  <a:spcPct val="9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冲量稳定</a:t>
              </a:r>
            </a:p>
          </p:txBody>
        </p:sp>
        <p:sp>
          <p:nvSpPr>
            <p:cNvPr id="48146" name="AutoShape 9"/>
            <p:cNvSpPr/>
            <p:nvPr/>
          </p:nvSpPr>
          <p:spPr>
            <a:xfrm>
              <a:off x="4512" y="2208"/>
              <a:ext cx="306" cy="144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F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330" name="Group 10"/>
          <p:cNvGrpSpPr/>
          <p:nvPr/>
        </p:nvGrpSpPr>
        <p:grpSpPr>
          <a:xfrm>
            <a:off x="1174750" y="2628900"/>
            <a:ext cx="6497638" cy="452438"/>
            <a:chOff x="788" y="1512"/>
            <a:chExt cx="4093" cy="285"/>
          </a:xfrm>
        </p:grpSpPr>
        <p:graphicFrame>
          <p:nvGraphicFramePr>
            <p:cNvPr id="48143" name="Object 11"/>
            <p:cNvGraphicFramePr>
              <a:graphicFrameLocks noChangeAspect="1"/>
            </p:cNvGraphicFramePr>
            <p:nvPr/>
          </p:nvGraphicFramePr>
          <p:xfrm>
            <a:off x="3182" y="1514"/>
            <a:ext cx="1699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14" r:id="rId3" imgW="1409065" imgH="203200" progId="Equation.DSMT4">
                    <p:embed/>
                  </p:oleObj>
                </mc:Choice>
                <mc:Fallback>
                  <p:oleObj r:id="rId3" imgW="1409065" imgH="203200" progId="Equation.DSMT4">
                    <p:embed/>
                    <p:pic>
                      <p:nvPicPr>
                        <p:cNvPr id="0" name="图片 320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182" y="1514"/>
                          <a:ext cx="1699" cy="283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44" name="Object 12"/>
            <p:cNvGraphicFramePr>
              <a:graphicFrameLocks noChangeAspect="1"/>
            </p:cNvGraphicFramePr>
            <p:nvPr/>
          </p:nvGraphicFramePr>
          <p:xfrm>
            <a:off x="788" y="1512"/>
            <a:ext cx="1496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15" r:id="rId5" imgW="1040765" imgH="203200" progId="Equation.DSMT4">
                    <p:embed/>
                  </p:oleObj>
                </mc:Choice>
                <mc:Fallback>
                  <p:oleObj r:id="rId5" imgW="1040765" imgH="203200" progId="Equation.DSMT4">
                    <p:embed/>
                    <p:pic>
                      <p:nvPicPr>
                        <p:cNvPr id="0" name="图片 320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88" y="1512"/>
                          <a:ext cx="1496" cy="263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6333" name="Object 13"/>
          <p:cNvGraphicFramePr>
            <a:graphicFrameLocks noChangeAspect="1"/>
          </p:cNvGraphicFramePr>
          <p:nvPr/>
        </p:nvGraphicFramePr>
        <p:xfrm>
          <a:off x="760413" y="4824413"/>
          <a:ext cx="2211387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6" r:id="rId7" imgW="927100" imgH="228600" progId="Equation.DSMT4">
                  <p:embed/>
                </p:oleObj>
              </mc:Choice>
              <mc:Fallback>
                <p:oleObj r:id="rId7" imgW="927100" imgH="228600" progId="Equation.DSMT4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0413" y="4824413"/>
                        <a:ext cx="2211387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334" name="Group 14"/>
          <p:cNvGrpSpPr/>
          <p:nvPr/>
        </p:nvGrpSpPr>
        <p:grpSpPr>
          <a:xfrm>
            <a:off x="3505200" y="4797425"/>
            <a:ext cx="5257800" cy="533400"/>
            <a:chOff x="2256" y="2688"/>
            <a:chExt cx="3312" cy="336"/>
          </a:xfrm>
        </p:grpSpPr>
        <p:sp>
          <p:nvSpPr>
            <p:cNvPr id="48141" name="Text Box 15"/>
            <p:cNvSpPr txBox="1"/>
            <p:nvPr/>
          </p:nvSpPr>
          <p:spPr>
            <a:xfrm>
              <a:off x="2544" y="2688"/>
              <a:ext cx="3024" cy="327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</a:rPr>
                <a:t>S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的稳定性取决于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W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的特征根</a:t>
              </a:r>
            </a:p>
          </p:txBody>
        </p:sp>
        <p:sp>
          <p:nvSpPr>
            <p:cNvPr id="48142" name="AutoShape 16"/>
            <p:cNvSpPr/>
            <p:nvPr/>
          </p:nvSpPr>
          <p:spPr>
            <a:xfrm>
              <a:off x="2256" y="2766"/>
              <a:ext cx="192" cy="258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6337" name="Text Box 17"/>
          <p:cNvSpPr txBox="1"/>
          <p:nvPr/>
        </p:nvSpPr>
        <p:spPr>
          <a:xfrm>
            <a:off x="2362200" y="5576888"/>
            <a:ext cx="3657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记</a:t>
            </a:r>
            <a:r>
              <a:rPr lang="en-US" altLang="zh-CN" sz="2800" b="1" i="1">
                <a:latin typeface="Times New Roman" panose="02020603050405020304" pitchFamily="18" charset="0"/>
              </a:rPr>
              <a:t>W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非零</a:t>
            </a:r>
            <a:r>
              <a:rPr lang="zh-CN" altLang="en-US" sz="2800" b="1" dirty="0">
                <a:latin typeface="Times New Roman" panose="02020603050405020304" pitchFamily="18" charset="0"/>
              </a:rPr>
              <a:t>特征根为</a:t>
            </a:r>
            <a:r>
              <a:rPr lang="zh-CN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endParaRPr lang="zh-CN" altLang="en-US" sz="2800" b="1" i="1" dirty="0">
              <a:latin typeface="Times New Roman" panose="02020603050405020304" pitchFamily="18" charset="0"/>
            </a:endParaRPr>
          </a:p>
        </p:txBody>
      </p:sp>
      <p:pic>
        <p:nvPicPr>
          <p:cNvPr id="48140" name="Picture 18" descr="j014988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9438" y="476250"/>
            <a:ext cx="836612" cy="669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10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10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10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10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1000"/>
                                        <p:tgtEl>
                                          <p:spTgt spid="5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1000"/>
                                        <p:tgtEl>
                                          <p:spTgt spid="5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6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56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/>
      <p:bldP spid="56324" grpId="0"/>
      <p:bldP spid="56325" grpId="0"/>
      <p:bldP spid="56326" grpId="0"/>
      <p:bldP spid="5633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/>
          <p:nvPr/>
        </p:nvSpPr>
        <p:spPr>
          <a:xfrm>
            <a:off x="762000" y="1081088"/>
            <a:ext cx="3886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冲量稳定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>
                <a:latin typeface="Times New Roman" panose="02020603050405020304" pitchFamily="18" charset="0"/>
              </a:rPr>
              <a:t>|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|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 1   </a:t>
            </a:r>
          </a:p>
        </p:txBody>
      </p:sp>
      <p:sp>
        <p:nvSpPr>
          <p:cNvPr id="57347" name="Text Box 3"/>
          <p:cNvSpPr txBox="1"/>
          <p:nvPr/>
        </p:nvSpPr>
        <p:spPr>
          <a:xfrm>
            <a:off x="762000" y="1752600"/>
            <a:ext cx="5334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冲量稳定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800" b="1">
                <a:latin typeface="Times New Roman" panose="02020603050405020304" pitchFamily="18" charset="0"/>
              </a:rPr>
              <a:t>|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|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 1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且均为单根</a:t>
            </a:r>
          </a:p>
        </p:txBody>
      </p:sp>
      <p:sp>
        <p:nvSpPr>
          <p:cNvPr id="57348" name="Text Box 4"/>
          <p:cNvSpPr txBox="1"/>
          <p:nvPr/>
        </p:nvSpPr>
        <p:spPr>
          <a:xfrm>
            <a:off x="762000" y="2376488"/>
            <a:ext cx="5867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值稳定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  </a:t>
            </a:r>
            <a:r>
              <a:rPr lang="en-US" altLang="zh-CN" sz="2800" b="1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冲量稳定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zh-CN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sz="2800" b="1" dirty="0">
                <a:latin typeface="Times New Roman" panose="02020603050405020304" pitchFamily="18" charset="0"/>
                <a:sym typeface="SymbolProp BT" pitchFamily="2" charset="2"/>
              </a:rPr>
              <a:t>不等于</a:t>
            </a:r>
            <a:r>
              <a:rPr lang="en-US" altLang="zh-CN" sz="2800" b="1">
                <a:latin typeface="Times New Roman" panose="02020603050405020304" pitchFamily="18" charset="0"/>
                <a:sym typeface="SymbolProp BT" pitchFamily="2" charset="2"/>
              </a:rPr>
              <a:t>1</a:t>
            </a:r>
            <a:endParaRPr lang="en-US" altLang="zh-CN" sz="2800" b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57349" name="Object 5"/>
          <p:cNvGraphicFramePr>
            <a:graphicFrameLocks noChangeAspect="1"/>
          </p:cNvGraphicFramePr>
          <p:nvPr/>
        </p:nvGraphicFramePr>
        <p:xfrm>
          <a:off x="468313" y="3716338"/>
          <a:ext cx="3489325" cy="268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5" r:id="rId3" imgW="2120900" imgH="1625600" progId="Equation.DSMT4">
                  <p:embed/>
                </p:oleObj>
              </mc:Choice>
              <mc:Fallback>
                <p:oleObj r:id="rId3" imgW="2120900" imgH="1625600" progId="Equation.DSMT4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313" y="3716338"/>
                        <a:ext cx="3489325" cy="2684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0" name="Text Box 6"/>
          <p:cNvSpPr txBox="1"/>
          <p:nvPr/>
        </p:nvSpPr>
        <p:spPr>
          <a:xfrm>
            <a:off x="755650" y="2997200"/>
            <a:ext cx="5181600" cy="519113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对于能源利用系统的邻接矩阵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</a:p>
        </p:txBody>
      </p:sp>
      <p:grpSp>
        <p:nvGrpSpPr>
          <p:cNvPr id="57351" name="Group 7"/>
          <p:cNvGrpSpPr/>
          <p:nvPr/>
        </p:nvGrpSpPr>
        <p:grpSpPr>
          <a:xfrm>
            <a:off x="5080000" y="2997200"/>
            <a:ext cx="3681413" cy="1252538"/>
            <a:chOff x="3324" y="1920"/>
            <a:chExt cx="2256" cy="770"/>
          </a:xfrm>
        </p:grpSpPr>
        <p:graphicFrame>
          <p:nvGraphicFramePr>
            <p:cNvPr id="49167" name="Object 8"/>
            <p:cNvGraphicFramePr>
              <a:graphicFrameLocks noChangeAspect="1"/>
            </p:cNvGraphicFramePr>
            <p:nvPr/>
          </p:nvGraphicFramePr>
          <p:xfrm>
            <a:off x="3324" y="2378"/>
            <a:ext cx="2256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46" r:id="rId5" imgW="1676400" imgH="228600" progId="Equation.DSMT4">
                    <p:embed/>
                  </p:oleObj>
                </mc:Choice>
                <mc:Fallback>
                  <p:oleObj r:id="rId5" imgW="1676400" imgH="228600" progId="Equation.DSMT4">
                    <p:embed/>
                    <p:pic>
                      <p:nvPicPr>
                        <p:cNvPr id="0" name="图片 321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324" y="2378"/>
                          <a:ext cx="2256" cy="3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8" name="Text Box 9"/>
            <p:cNvSpPr txBox="1"/>
            <p:nvPr/>
          </p:nvSpPr>
          <p:spPr>
            <a:xfrm>
              <a:off x="3840" y="1920"/>
              <a:ext cx="1248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特征多项式</a:t>
              </a:r>
            </a:p>
          </p:txBody>
        </p:sp>
      </p:grpSp>
      <p:graphicFrame>
        <p:nvGraphicFramePr>
          <p:cNvPr id="57354" name="Object 10"/>
          <p:cNvGraphicFramePr>
            <a:graphicFrameLocks noChangeAspect="1"/>
          </p:cNvGraphicFramePr>
          <p:nvPr/>
        </p:nvGraphicFramePr>
        <p:xfrm>
          <a:off x="4038600" y="4419600"/>
          <a:ext cx="30480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7" r:id="rId7" imgW="1562100" imgH="241300" progId="Equation.3">
                  <p:embed/>
                </p:oleObj>
              </mc:Choice>
              <mc:Fallback>
                <p:oleObj r:id="rId7" imgW="1562100" imgH="241300" progId="Equation.3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38600" y="4419600"/>
                        <a:ext cx="3048000" cy="498475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7355" name="Group 11"/>
          <p:cNvGrpSpPr/>
          <p:nvPr/>
        </p:nvGrpSpPr>
        <p:grpSpPr>
          <a:xfrm>
            <a:off x="7315200" y="4419600"/>
            <a:ext cx="1828800" cy="533400"/>
            <a:chOff x="4608" y="2880"/>
            <a:chExt cx="1152" cy="336"/>
          </a:xfrm>
        </p:grpSpPr>
        <p:graphicFrame>
          <p:nvGraphicFramePr>
            <p:cNvPr id="49165" name="Object 12"/>
            <p:cNvGraphicFramePr>
              <a:graphicFrameLocks noChangeAspect="1"/>
            </p:cNvGraphicFramePr>
            <p:nvPr/>
          </p:nvGraphicFramePr>
          <p:xfrm>
            <a:off x="4832" y="2880"/>
            <a:ext cx="92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48" r:id="rId9" imgW="774065" imgH="241300" progId="Equation.3">
                    <p:embed/>
                  </p:oleObj>
                </mc:Choice>
                <mc:Fallback>
                  <p:oleObj r:id="rId9" imgW="774065" imgH="241300" progId="Equation.3">
                    <p:embed/>
                    <p:pic>
                      <p:nvPicPr>
                        <p:cNvPr id="0" name="图片 321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832" y="2880"/>
                          <a:ext cx="928" cy="336"/>
                        </a:xfrm>
                        <a:prstGeom prst="rect">
                          <a:avLst/>
                        </a:prstGeom>
                        <a:solidFill>
                          <a:srgbClr val="FFCC00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6" name="AutoShape 13"/>
            <p:cNvSpPr/>
            <p:nvPr/>
          </p:nvSpPr>
          <p:spPr>
            <a:xfrm>
              <a:off x="4608" y="2880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7358" name="Text Box 14"/>
          <p:cNvSpPr txBox="1"/>
          <p:nvPr/>
        </p:nvSpPr>
        <p:spPr>
          <a:xfrm>
            <a:off x="4724400" y="5181600"/>
            <a:ext cx="3886200" cy="11176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能源利用系统存在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冲量不稳定</a:t>
            </a:r>
            <a:r>
              <a:rPr lang="zh-CN" altLang="en-US" sz="2800" b="1" dirty="0">
                <a:latin typeface="Times New Roman" panose="02020603050405020304" pitchFamily="18" charset="0"/>
              </a:rPr>
              <a:t>的简单冲量过程</a:t>
            </a:r>
          </a:p>
        </p:txBody>
      </p:sp>
      <p:sp>
        <p:nvSpPr>
          <p:cNvPr id="49163" name="Text Box 15"/>
          <p:cNvSpPr txBox="1"/>
          <p:nvPr/>
        </p:nvSpPr>
        <p:spPr>
          <a:xfrm>
            <a:off x="762000" y="381000"/>
            <a:ext cx="4648200" cy="579438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简单冲量过程</a:t>
            </a:r>
            <a:r>
              <a:rPr lang="en-US" altLang="zh-CN" sz="3200" b="1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的稳定性 </a:t>
            </a:r>
          </a:p>
        </p:txBody>
      </p:sp>
      <p:pic>
        <p:nvPicPr>
          <p:cNvPr id="49164" name="Picture 16" descr="j014988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9438" y="476250"/>
            <a:ext cx="836612" cy="669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10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10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10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10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10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1000"/>
                                        <p:tgtEl>
                                          <p:spTgt spid="5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57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57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/>
      <p:bldP spid="57347" grpId="0"/>
      <p:bldP spid="57348" grpId="0"/>
      <p:bldP spid="57350" grpId="0" animBg="1"/>
      <p:bldP spid="5735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/>
          <p:nvPr/>
        </p:nvSpPr>
        <p:spPr>
          <a:xfrm>
            <a:off x="762000" y="457200"/>
            <a:ext cx="4419600" cy="5842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</a:rPr>
              <a:t>不稳定冲量过程的调整  </a:t>
            </a:r>
          </a:p>
        </p:txBody>
      </p:sp>
      <p:sp>
        <p:nvSpPr>
          <p:cNvPr id="58371" name="Text Box 3"/>
          <p:cNvSpPr txBox="1"/>
          <p:nvPr/>
        </p:nvSpPr>
        <p:spPr>
          <a:xfrm>
            <a:off x="381000" y="1143000"/>
            <a:ext cx="4876800" cy="1630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改进的玫瑰形图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b="1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~</a:t>
            </a:r>
            <a:r>
              <a:rPr lang="zh-CN" altLang="en-US" sz="2800" b="1" dirty="0">
                <a:latin typeface="Times New Roman" panose="02020603050405020304" pitchFamily="18" charset="0"/>
              </a:rPr>
              <a:t>带符号的有向图双向连通，且存在一个位于所有回路上的中心顶点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8372" name="Text Box 4"/>
          <p:cNvSpPr txBox="1"/>
          <p:nvPr/>
        </p:nvSpPr>
        <p:spPr>
          <a:xfrm>
            <a:off x="381000" y="2895600"/>
            <a:ext cx="4800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回路长度</a:t>
            </a:r>
            <a:r>
              <a:rPr lang="en-US" altLang="zh-CN" sz="2800" b="1">
                <a:latin typeface="Times New Roman" panose="02020603050405020304" pitchFamily="18" charset="0"/>
              </a:rPr>
              <a:t>~ </a:t>
            </a:r>
            <a:r>
              <a:rPr lang="zh-CN" altLang="en-US" sz="2800" b="1" dirty="0">
                <a:latin typeface="Times New Roman" panose="02020603050405020304" pitchFamily="18" charset="0"/>
              </a:rPr>
              <a:t>构成回路的边数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8373" name="Text Box 5"/>
          <p:cNvSpPr txBox="1"/>
          <p:nvPr/>
        </p:nvSpPr>
        <p:spPr>
          <a:xfrm>
            <a:off x="381000" y="3505200"/>
            <a:ext cx="8077200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回路符号</a:t>
            </a:r>
            <a:r>
              <a:rPr lang="en-US" altLang="zh-CN" sz="2800" b="1">
                <a:latin typeface="Times New Roman" panose="02020603050405020304" pitchFamily="18" charset="0"/>
              </a:rPr>
              <a:t>~ </a:t>
            </a:r>
            <a:r>
              <a:rPr lang="zh-CN" altLang="en-US" sz="2800" b="1" dirty="0">
                <a:latin typeface="Times New Roman" panose="02020603050405020304" pitchFamily="18" charset="0"/>
              </a:rPr>
              <a:t>构成回路的各有向边符号</a:t>
            </a:r>
            <a:r>
              <a:rPr lang="en-US" altLang="zh-CN" sz="2800" b="1">
                <a:latin typeface="Times New Roman" panose="02020603050405020304" pitchFamily="18" charset="0"/>
              </a:rPr>
              <a:t>+1</a:t>
            </a:r>
            <a:r>
              <a:rPr lang="zh-CN" altLang="en-US" sz="2800" b="1" dirty="0">
                <a:latin typeface="Times New Roman" panose="02020603050405020304" pitchFamily="18" charset="0"/>
              </a:rPr>
              <a:t>或</a:t>
            </a:r>
            <a:r>
              <a:rPr lang="en-US" altLang="zh-CN" sz="2800" b="1">
                <a:latin typeface="Times New Roman" panose="02020603050405020304" pitchFamily="18" charset="0"/>
              </a:rPr>
              <a:t>-1</a:t>
            </a:r>
            <a:r>
              <a:rPr lang="zh-CN" altLang="en-US" sz="2800" b="1" dirty="0">
                <a:latin typeface="Times New Roman" panose="02020603050405020304" pitchFamily="18" charset="0"/>
              </a:rPr>
              <a:t>之乘积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8374" name="Text Box 6"/>
          <p:cNvSpPr txBox="1"/>
          <p:nvPr/>
        </p:nvSpPr>
        <p:spPr>
          <a:xfrm>
            <a:off x="381000" y="4129088"/>
            <a:ext cx="4267200" cy="51911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err="1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25000" err="1">
                <a:latin typeface="Times New Roman" panose="02020603050405020304" pitchFamily="18" charset="0"/>
              </a:rPr>
              <a:t>k</a:t>
            </a:r>
            <a:r>
              <a:rPr lang="en-US" altLang="zh-CN" sz="2800" b="1">
                <a:latin typeface="Times New Roman" panose="02020603050405020304" pitchFamily="18" charset="0"/>
              </a:rPr>
              <a:t>~</a:t>
            </a:r>
            <a:r>
              <a:rPr lang="zh-CN" altLang="en-US" sz="2800" b="1" dirty="0">
                <a:latin typeface="Times New Roman" panose="02020603050405020304" pitchFamily="18" charset="0"/>
              </a:rPr>
              <a:t>长度为</a:t>
            </a:r>
            <a:r>
              <a:rPr lang="en-US" altLang="zh-CN" sz="2800" b="1" i="1">
                <a:latin typeface="Times New Roman" panose="02020603050405020304" pitchFamily="18" charset="0"/>
              </a:rPr>
              <a:t>k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的回路符号和</a:t>
            </a:r>
          </a:p>
        </p:txBody>
      </p:sp>
      <p:sp>
        <p:nvSpPr>
          <p:cNvPr id="58375" name="Text Box 7"/>
          <p:cNvSpPr txBox="1"/>
          <p:nvPr/>
        </p:nvSpPr>
        <p:spPr>
          <a:xfrm>
            <a:off x="4724400" y="4191000"/>
            <a:ext cx="426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~</a:t>
            </a:r>
            <a:r>
              <a:rPr lang="zh-CN" altLang="en-US" sz="2800" b="1" dirty="0">
                <a:latin typeface="Times New Roman" panose="02020603050405020304" pitchFamily="18" charset="0"/>
              </a:rPr>
              <a:t>使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25000" err="1">
                <a:latin typeface="Times New Roman" panose="02020603050405020304" pitchFamily="18" charset="0"/>
              </a:rPr>
              <a:t>k</a:t>
            </a:r>
            <a:r>
              <a:rPr lang="zh-CN" altLang="en-US" sz="2800" b="1" dirty="0">
                <a:latin typeface="Times New Roman" panose="02020603050405020304" pitchFamily="18" charset="0"/>
                <a:sym typeface="SymbolProp BT" pitchFamily="2" charset="2"/>
              </a:rPr>
              <a:t>不等于</a:t>
            </a:r>
            <a:r>
              <a:rPr lang="en-US" altLang="zh-CN" sz="2800" b="1">
                <a:latin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的最大整数</a:t>
            </a:r>
          </a:p>
        </p:txBody>
      </p:sp>
      <p:grpSp>
        <p:nvGrpSpPr>
          <p:cNvPr id="58424" name="Group 56"/>
          <p:cNvGrpSpPr/>
          <p:nvPr/>
        </p:nvGrpSpPr>
        <p:grpSpPr>
          <a:xfrm>
            <a:off x="304800" y="4868863"/>
            <a:ext cx="8154988" cy="566737"/>
            <a:chOff x="192" y="3067"/>
            <a:chExt cx="5137" cy="357"/>
          </a:xfrm>
        </p:grpSpPr>
        <p:sp>
          <p:nvSpPr>
            <p:cNvPr id="50227" name="Text Box 9"/>
            <p:cNvSpPr txBox="1"/>
            <p:nvPr/>
          </p:nvSpPr>
          <p:spPr>
            <a:xfrm>
              <a:off x="192" y="3072"/>
              <a:ext cx="16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har char="•"/>
              </a:pPr>
              <a:r>
                <a:rPr lang="en-US" altLang="zh-CN" sz="2800" b="1">
                  <a:latin typeface="Times New Roman" panose="02020603050405020304" pitchFamily="18" charset="0"/>
                </a:rPr>
                <a:t> S</a:t>
              </a:r>
              <a:r>
                <a:rPr lang="en-US" altLang="zh-CN" sz="2800" b="1" baseline="30000">
                  <a:latin typeface="Times New Roman" panose="02020603050405020304" pitchFamily="18" charset="0"/>
                </a:rPr>
                <a:t>*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冲量稳定 </a:t>
              </a:r>
              <a:r>
                <a:rPr lang="zh-CN" altLang="en-US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   </a:t>
              </a:r>
            </a:p>
          </p:txBody>
        </p:sp>
        <p:graphicFrame>
          <p:nvGraphicFramePr>
            <p:cNvPr id="50228" name="Object 10"/>
            <p:cNvGraphicFramePr>
              <a:graphicFrameLocks noChangeAspect="1"/>
            </p:cNvGraphicFramePr>
            <p:nvPr/>
          </p:nvGraphicFramePr>
          <p:xfrm>
            <a:off x="2835" y="3067"/>
            <a:ext cx="2494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69" r:id="rId3" imgW="1930400" imgH="228600" progId="Equation.3">
                    <p:embed/>
                  </p:oleObj>
                </mc:Choice>
                <mc:Fallback>
                  <p:oleObj r:id="rId3" imgW="1930400" imgH="228600" progId="Equation.3">
                    <p:embed/>
                    <p:pic>
                      <p:nvPicPr>
                        <p:cNvPr id="0" name="图片 321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35" y="3067"/>
                          <a:ext cx="2494" cy="3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229" name="Object 11"/>
            <p:cNvGraphicFramePr>
              <a:graphicFrameLocks noChangeAspect="1"/>
            </p:cNvGraphicFramePr>
            <p:nvPr/>
          </p:nvGraphicFramePr>
          <p:xfrm>
            <a:off x="1824" y="3113"/>
            <a:ext cx="987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70" r:id="rId5" imgW="622300" imgH="254000" progId="Equation.3">
                    <p:embed/>
                  </p:oleObj>
                </mc:Choice>
                <mc:Fallback>
                  <p:oleObj r:id="rId5" imgW="622300" imgH="254000" progId="Equation.3">
                    <p:embed/>
                    <p:pic>
                      <p:nvPicPr>
                        <p:cNvPr id="0" name="图片 321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824" y="3113"/>
                          <a:ext cx="987" cy="3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380" name="Group 12"/>
          <p:cNvGrpSpPr/>
          <p:nvPr/>
        </p:nvGrpSpPr>
        <p:grpSpPr>
          <a:xfrm>
            <a:off x="304800" y="5575300"/>
            <a:ext cx="6781800" cy="901700"/>
            <a:chOff x="192" y="3416"/>
            <a:chExt cx="4272" cy="568"/>
          </a:xfrm>
        </p:grpSpPr>
        <p:sp>
          <p:nvSpPr>
            <p:cNvPr id="50225" name="Text Box 13"/>
            <p:cNvSpPr txBox="1"/>
            <p:nvPr/>
          </p:nvSpPr>
          <p:spPr>
            <a:xfrm>
              <a:off x="192" y="3513"/>
              <a:ext cx="3216" cy="327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har char="•"/>
              </a:pPr>
              <a:r>
                <a:rPr lang="en-US" altLang="zh-CN" sz="2800" b="1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若</a:t>
              </a:r>
              <a:r>
                <a:rPr lang="en-US" altLang="zh-CN" sz="2800" b="1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baseline="30000">
                  <a:latin typeface="Times New Roman" panose="02020603050405020304" pitchFamily="18" charset="0"/>
                </a:rPr>
                <a:t>*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冲量稳定，则</a:t>
              </a:r>
              <a:r>
                <a:rPr lang="en-US" altLang="zh-CN" sz="2800" b="1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baseline="30000">
                  <a:latin typeface="Times New Roman" panose="02020603050405020304" pitchFamily="18" charset="0"/>
                </a:rPr>
                <a:t>*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值稳定 </a:t>
              </a:r>
              <a:r>
                <a:rPr lang="zh-CN" altLang="en-US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    </a:t>
              </a:r>
            </a:p>
          </p:txBody>
        </p:sp>
        <p:graphicFrame>
          <p:nvGraphicFramePr>
            <p:cNvPr id="50226" name="Object 14"/>
            <p:cNvGraphicFramePr>
              <a:graphicFrameLocks noChangeAspect="1"/>
            </p:cNvGraphicFramePr>
            <p:nvPr/>
          </p:nvGraphicFramePr>
          <p:xfrm>
            <a:off x="3408" y="3416"/>
            <a:ext cx="1056" cy="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71" r:id="rId7" imgW="647700" imgH="431800" progId="Equation.3">
                    <p:embed/>
                  </p:oleObj>
                </mc:Choice>
                <mc:Fallback>
                  <p:oleObj r:id="rId7" imgW="647700" imgH="431800" progId="Equation.3">
                    <p:embed/>
                    <p:pic>
                      <p:nvPicPr>
                        <p:cNvPr id="0" name="图片 315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408" y="3416"/>
                          <a:ext cx="1056" cy="568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423" name="Group 55"/>
          <p:cNvGrpSpPr/>
          <p:nvPr/>
        </p:nvGrpSpPr>
        <p:grpSpPr>
          <a:xfrm>
            <a:off x="5257800" y="568325"/>
            <a:ext cx="3886200" cy="2936875"/>
            <a:chOff x="3312" y="358"/>
            <a:chExt cx="2448" cy="1850"/>
          </a:xfrm>
        </p:grpSpPr>
        <p:sp>
          <p:nvSpPr>
            <p:cNvPr id="50187" name="Text Box 16"/>
            <p:cNvSpPr txBox="1"/>
            <p:nvPr/>
          </p:nvSpPr>
          <p:spPr>
            <a:xfrm>
              <a:off x="3642" y="1644"/>
              <a:ext cx="32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0188" name="Text Box 17"/>
            <p:cNvSpPr txBox="1"/>
            <p:nvPr/>
          </p:nvSpPr>
          <p:spPr>
            <a:xfrm>
              <a:off x="3642" y="716"/>
              <a:ext cx="37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50189" name="Text Box 18"/>
            <p:cNvSpPr txBox="1"/>
            <p:nvPr/>
          </p:nvSpPr>
          <p:spPr>
            <a:xfrm>
              <a:off x="3971" y="1295"/>
              <a:ext cx="37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0190" name="Text Box 19"/>
            <p:cNvSpPr txBox="1"/>
            <p:nvPr/>
          </p:nvSpPr>
          <p:spPr>
            <a:xfrm>
              <a:off x="3924" y="869"/>
              <a:ext cx="33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-</a:t>
              </a:r>
            </a:p>
          </p:txBody>
        </p:sp>
        <p:grpSp>
          <p:nvGrpSpPr>
            <p:cNvPr id="50191" name="Group 20"/>
            <p:cNvGrpSpPr/>
            <p:nvPr/>
          </p:nvGrpSpPr>
          <p:grpSpPr>
            <a:xfrm>
              <a:off x="4302" y="614"/>
              <a:ext cx="1270" cy="1594"/>
              <a:chOff x="4273" y="816"/>
              <a:chExt cx="1295" cy="1796"/>
            </a:xfrm>
          </p:grpSpPr>
          <p:sp>
            <p:nvSpPr>
              <p:cNvPr id="50218" name="Text Box 21"/>
              <p:cNvSpPr txBox="1"/>
              <p:nvPr/>
            </p:nvSpPr>
            <p:spPr>
              <a:xfrm>
                <a:off x="4273" y="1872"/>
                <a:ext cx="431" cy="2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50219" name="Text Box 22"/>
              <p:cNvSpPr txBox="1"/>
              <p:nvPr/>
            </p:nvSpPr>
            <p:spPr>
              <a:xfrm>
                <a:off x="5184" y="1921"/>
                <a:ext cx="384" cy="2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50220" name="Text Box 23"/>
              <p:cNvSpPr txBox="1"/>
              <p:nvPr/>
            </p:nvSpPr>
            <p:spPr>
              <a:xfrm>
                <a:off x="4465" y="2352"/>
                <a:ext cx="383" cy="2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50221" name="Text Box 24"/>
              <p:cNvSpPr txBox="1"/>
              <p:nvPr/>
            </p:nvSpPr>
            <p:spPr>
              <a:xfrm>
                <a:off x="4848" y="1585"/>
                <a:ext cx="336" cy="2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50222" name="Text Box 25"/>
              <p:cNvSpPr txBox="1"/>
              <p:nvPr/>
            </p:nvSpPr>
            <p:spPr>
              <a:xfrm>
                <a:off x="4368" y="816"/>
                <a:ext cx="336" cy="4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>
                    <a:latin typeface="Times New Roman" panose="02020603050405020304" pitchFamily="18" charset="0"/>
                  </a:rPr>
                  <a:t>-</a:t>
                </a:r>
              </a:p>
            </p:txBody>
          </p:sp>
          <p:sp>
            <p:nvSpPr>
              <p:cNvPr id="50223" name="Text Box 26"/>
              <p:cNvSpPr txBox="1"/>
              <p:nvPr/>
            </p:nvSpPr>
            <p:spPr>
              <a:xfrm>
                <a:off x="4560" y="912"/>
                <a:ext cx="240" cy="41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>
                    <a:latin typeface="Times New Roman" panose="02020603050405020304" pitchFamily="18" charset="0"/>
                  </a:rPr>
                  <a:t>-</a:t>
                </a:r>
              </a:p>
            </p:txBody>
          </p:sp>
          <p:sp>
            <p:nvSpPr>
              <p:cNvPr id="50224" name="Text Box 27"/>
              <p:cNvSpPr txBox="1"/>
              <p:nvPr/>
            </p:nvSpPr>
            <p:spPr>
              <a:xfrm>
                <a:off x="5184" y="961"/>
                <a:ext cx="384" cy="2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</p:grpSp>
        <p:sp>
          <p:nvSpPr>
            <p:cNvPr id="50192" name="Text Box 29"/>
            <p:cNvSpPr txBox="1"/>
            <p:nvPr/>
          </p:nvSpPr>
          <p:spPr>
            <a:xfrm>
              <a:off x="3924" y="358"/>
              <a:ext cx="28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2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50193" name="AutoShape 30"/>
            <p:cNvSpPr/>
            <p:nvPr/>
          </p:nvSpPr>
          <p:spPr>
            <a:xfrm>
              <a:off x="3547" y="614"/>
              <a:ext cx="1883" cy="1363"/>
            </a:xfrm>
            <a:prstGeom prst="hexagon">
              <a:avLst>
                <a:gd name="adj" fmla="val 34537"/>
                <a:gd name="vf" fmla="val 11547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0194" name="Rectangle 31"/>
            <p:cNvSpPr/>
            <p:nvPr/>
          </p:nvSpPr>
          <p:spPr>
            <a:xfrm>
              <a:off x="4018" y="528"/>
              <a:ext cx="942" cy="1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0195" name="Line 32"/>
            <p:cNvSpPr/>
            <p:nvPr/>
          </p:nvSpPr>
          <p:spPr>
            <a:xfrm flipH="1">
              <a:off x="4018" y="614"/>
              <a:ext cx="942" cy="13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6" name="Line 33"/>
            <p:cNvSpPr/>
            <p:nvPr/>
          </p:nvSpPr>
          <p:spPr>
            <a:xfrm>
              <a:off x="3547" y="1295"/>
              <a:ext cx="188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7" name="Arc 34"/>
            <p:cNvSpPr/>
            <p:nvPr/>
          </p:nvSpPr>
          <p:spPr>
            <a:xfrm>
              <a:off x="4018" y="614"/>
              <a:ext cx="471" cy="68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0" b="0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8" name="Arc 35"/>
            <p:cNvSpPr/>
            <p:nvPr/>
          </p:nvSpPr>
          <p:spPr>
            <a:xfrm rot="-4049453" flipH="1">
              <a:off x="4040" y="577"/>
              <a:ext cx="426" cy="7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0" b="0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9" name="Line 36"/>
            <p:cNvSpPr/>
            <p:nvPr/>
          </p:nvSpPr>
          <p:spPr>
            <a:xfrm>
              <a:off x="4301" y="784"/>
              <a:ext cx="94" cy="8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200" name="Line 37"/>
            <p:cNvSpPr/>
            <p:nvPr/>
          </p:nvSpPr>
          <p:spPr>
            <a:xfrm flipH="1" flipV="1">
              <a:off x="4065" y="997"/>
              <a:ext cx="141" cy="1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201" name="Line 38"/>
            <p:cNvSpPr/>
            <p:nvPr/>
          </p:nvSpPr>
          <p:spPr>
            <a:xfrm flipV="1">
              <a:off x="3736" y="912"/>
              <a:ext cx="94" cy="1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202" name="Line 39"/>
            <p:cNvSpPr/>
            <p:nvPr/>
          </p:nvSpPr>
          <p:spPr>
            <a:xfrm>
              <a:off x="5054" y="741"/>
              <a:ext cx="141" cy="2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203" name="Line 40"/>
            <p:cNvSpPr/>
            <p:nvPr/>
          </p:nvSpPr>
          <p:spPr>
            <a:xfrm flipV="1">
              <a:off x="4677" y="869"/>
              <a:ext cx="94" cy="17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204" name="Line 41"/>
            <p:cNvSpPr/>
            <p:nvPr/>
          </p:nvSpPr>
          <p:spPr>
            <a:xfrm flipV="1">
              <a:off x="5101" y="1551"/>
              <a:ext cx="141" cy="2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205" name="Line 42"/>
            <p:cNvSpPr/>
            <p:nvPr/>
          </p:nvSpPr>
          <p:spPr>
            <a:xfrm>
              <a:off x="4254" y="1977"/>
              <a:ext cx="32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206" name="Line 43"/>
            <p:cNvSpPr/>
            <p:nvPr/>
          </p:nvSpPr>
          <p:spPr>
            <a:xfrm flipV="1">
              <a:off x="4159" y="1551"/>
              <a:ext cx="142" cy="2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207" name="Line 44"/>
            <p:cNvSpPr/>
            <p:nvPr/>
          </p:nvSpPr>
          <p:spPr>
            <a:xfrm>
              <a:off x="3689" y="1508"/>
              <a:ext cx="141" cy="2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208" name="Line 45"/>
            <p:cNvSpPr/>
            <p:nvPr/>
          </p:nvSpPr>
          <p:spPr>
            <a:xfrm flipH="1">
              <a:off x="4866" y="1295"/>
              <a:ext cx="1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209" name="Line 46"/>
            <p:cNvSpPr/>
            <p:nvPr/>
          </p:nvSpPr>
          <p:spPr>
            <a:xfrm flipH="1">
              <a:off x="4018" y="1295"/>
              <a:ext cx="14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50210" name="Object 47"/>
            <p:cNvGraphicFramePr>
              <a:graphicFrameLocks noChangeAspect="1"/>
            </p:cNvGraphicFramePr>
            <p:nvPr/>
          </p:nvGraphicFramePr>
          <p:xfrm>
            <a:off x="4459" y="1260"/>
            <a:ext cx="77" cy="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72" r:id="rId9" imgW="127000" imgH="139700" progId="Equation.3">
                    <p:embed/>
                  </p:oleObj>
                </mc:Choice>
                <mc:Fallback>
                  <p:oleObj r:id="rId9" imgW="127000" imgH="139700" progId="Equation.3">
                    <p:embed/>
                    <p:pic>
                      <p:nvPicPr>
                        <p:cNvPr id="0" name="图片 315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459" y="1260"/>
                          <a:ext cx="77" cy="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211" name="Text Box 48"/>
            <p:cNvSpPr txBox="1"/>
            <p:nvPr/>
          </p:nvSpPr>
          <p:spPr>
            <a:xfrm>
              <a:off x="4442" y="1210"/>
              <a:ext cx="3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1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50212" name="Text Box 49"/>
            <p:cNvSpPr txBox="1"/>
            <p:nvPr/>
          </p:nvSpPr>
          <p:spPr>
            <a:xfrm>
              <a:off x="3312" y="1125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3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50213" name="Text Box 50"/>
            <p:cNvSpPr txBox="1"/>
            <p:nvPr/>
          </p:nvSpPr>
          <p:spPr>
            <a:xfrm>
              <a:off x="4960" y="443"/>
              <a:ext cx="32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4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50214" name="Text Box 51"/>
            <p:cNvSpPr txBox="1"/>
            <p:nvPr/>
          </p:nvSpPr>
          <p:spPr>
            <a:xfrm>
              <a:off x="4866" y="1892"/>
              <a:ext cx="28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6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50215" name="Text Box 52"/>
            <p:cNvSpPr txBox="1"/>
            <p:nvPr/>
          </p:nvSpPr>
          <p:spPr>
            <a:xfrm>
              <a:off x="5430" y="1167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7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50216" name="Text Box 53"/>
            <p:cNvSpPr txBox="1"/>
            <p:nvPr/>
          </p:nvSpPr>
          <p:spPr>
            <a:xfrm>
              <a:off x="3877" y="1891"/>
              <a:ext cx="28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5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50217" name="Text Box 54"/>
            <p:cNvSpPr txBox="1"/>
            <p:nvPr/>
          </p:nvSpPr>
          <p:spPr>
            <a:xfrm>
              <a:off x="4195" y="528"/>
              <a:ext cx="754" cy="135"/>
            </a:xfrm>
            <a:prstGeom prst="rect">
              <a:avLst/>
            </a:prstGeom>
            <a:solidFill>
              <a:srgbClr val="FFFFCC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800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10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10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8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8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1000"/>
                                        <p:tgtEl>
                                          <p:spTgt spid="5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1000"/>
                                        <p:tgtEl>
                                          <p:spTgt spid="58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animBg="1"/>
      <p:bldP spid="58372" grpId="0" animBg="1"/>
      <p:bldP spid="58373" grpId="0" animBg="1"/>
      <p:bldP spid="58374" grpId="0" animBg="1"/>
      <p:bldP spid="5837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/>
          <p:nvPr/>
        </p:nvSpPr>
        <p:spPr>
          <a:xfrm>
            <a:off x="533400" y="381000"/>
            <a:ext cx="4267200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简单冲量过程</a:t>
            </a:r>
            <a:r>
              <a:rPr lang="en-US" altLang="zh-CN" sz="2800" b="1">
                <a:latin typeface="Times New Roman" panose="02020603050405020304" pitchFamily="18" charset="0"/>
              </a:rPr>
              <a:t>S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*</a:t>
            </a:r>
            <a:r>
              <a:rPr lang="zh-CN" altLang="en-US" sz="2800" b="1" dirty="0">
                <a:latin typeface="Times New Roman" panose="02020603050405020304" pitchFamily="18" charset="0"/>
              </a:rPr>
              <a:t>的稳定性 </a:t>
            </a:r>
          </a:p>
        </p:txBody>
      </p:sp>
      <p:sp>
        <p:nvSpPr>
          <p:cNvPr id="59395" name="Text Box 3"/>
          <p:cNvSpPr txBox="1"/>
          <p:nvPr/>
        </p:nvSpPr>
        <p:spPr>
          <a:xfrm>
            <a:off x="381000" y="914400"/>
            <a:ext cx="4495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=0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= 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(-1)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CN" sz="2800" b="1">
                <a:latin typeface="Times New Roman" panose="02020603050405020304" pitchFamily="18" charset="0"/>
              </a:rPr>
              <a:t>(-1)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=1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59396" name="Text Box 4"/>
          <p:cNvSpPr txBox="1"/>
          <p:nvPr/>
        </p:nvSpPr>
        <p:spPr>
          <a:xfrm>
            <a:off x="457200" y="1524000"/>
            <a:ext cx="4876800" cy="1160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</a:rPr>
              <a:t>=(+1)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3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5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+(-1)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4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7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</a:p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+(+1)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3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=1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=0,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=1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=5</a:t>
            </a:r>
          </a:p>
        </p:txBody>
      </p:sp>
      <p:grpSp>
        <p:nvGrpSpPr>
          <p:cNvPr id="59459" name="Group 67"/>
          <p:cNvGrpSpPr/>
          <p:nvPr/>
        </p:nvGrpSpPr>
        <p:grpSpPr>
          <a:xfrm>
            <a:off x="381000" y="2924175"/>
            <a:ext cx="8305800" cy="546100"/>
            <a:chOff x="240" y="1816"/>
            <a:chExt cx="5232" cy="344"/>
          </a:xfrm>
        </p:grpSpPr>
        <p:sp>
          <p:nvSpPr>
            <p:cNvPr id="51264" name="Text Box 6"/>
            <p:cNvSpPr txBox="1"/>
            <p:nvPr/>
          </p:nvSpPr>
          <p:spPr>
            <a:xfrm>
              <a:off x="240" y="1816"/>
              <a:ext cx="1632" cy="327"/>
            </a:xfrm>
            <a:prstGeom prst="rect">
              <a:avLst/>
            </a:prstGeom>
            <a:solidFill>
              <a:srgbClr val="FF99FF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har char="•"/>
              </a:pPr>
              <a:r>
                <a:rPr lang="en-US" altLang="zh-CN" sz="2800" b="1">
                  <a:latin typeface="Times New Roman" panose="02020603050405020304" pitchFamily="18" charset="0"/>
                </a:rPr>
                <a:t> S</a:t>
              </a:r>
              <a:r>
                <a:rPr lang="en-US" altLang="zh-CN" sz="2800" b="1" baseline="30000">
                  <a:latin typeface="Times New Roman" panose="02020603050405020304" pitchFamily="18" charset="0"/>
                </a:rPr>
                <a:t>*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冲量稳定 </a:t>
              </a:r>
              <a:r>
                <a:rPr lang="zh-CN" altLang="en-US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   </a:t>
              </a:r>
            </a:p>
          </p:txBody>
        </p:sp>
        <p:graphicFrame>
          <p:nvGraphicFramePr>
            <p:cNvPr id="51265" name="Object 7"/>
            <p:cNvGraphicFramePr>
              <a:graphicFrameLocks noChangeAspect="1"/>
            </p:cNvGraphicFramePr>
            <p:nvPr/>
          </p:nvGraphicFramePr>
          <p:xfrm>
            <a:off x="2832" y="1824"/>
            <a:ext cx="2640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07" r:id="rId3" imgW="2286000" imgH="254000" progId="Equation.3">
                    <p:embed/>
                  </p:oleObj>
                </mc:Choice>
                <mc:Fallback>
                  <p:oleObj r:id="rId3" imgW="2286000" imgH="254000" progId="Equation.3">
                    <p:embed/>
                    <p:pic>
                      <p:nvPicPr>
                        <p:cNvPr id="0" name="图片 316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32" y="1824"/>
                          <a:ext cx="2640" cy="328"/>
                        </a:xfrm>
                        <a:prstGeom prst="rect">
                          <a:avLst/>
                        </a:prstGeom>
                        <a:solidFill>
                          <a:srgbClr val="FF99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66" name="Object 8"/>
            <p:cNvGraphicFramePr>
              <a:graphicFrameLocks noChangeAspect="1"/>
            </p:cNvGraphicFramePr>
            <p:nvPr/>
          </p:nvGraphicFramePr>
          <p:xfrm>
            <a:off x="1872" y="1824"/>
            <a:ext cx="98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08" r:id="rId5" imgW="622300" imgH="254000" progId="Equation.3">
                    <p:embed/>
                  </p:oleObj>
                </mc:Choice>
                <mc:Fallback>
                  <p:oleObj r:id="rId5" imgW="622300" imgH="254000" progId="Equation.3">
                    <p:embed/>
                    <p:pic>
                      <p:nvPicPr>
                        <p:cNvPr id="0" name="图片 315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872" y="1824"/>
                          <a:ext cx="987" cy="336"/>
                        </a:xfrm>
                        <a:prstGeom prst="rect">
                          <a:avLst/>
                        </a:prstGeom>
                        <a:solidFill>
                          <a:srgbClr val="FF99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9401" name="Object 9"/>
          <p:cNvGraphicFramePr>
            <a:graphicFrameLocks noChangeAspect="1"/>
          </p:cNvGraphicFramePr>
          <p:nvPr/>
        </p:nvGraphicFramePr>
        <p:xfrm>
          <a:off x="381000" y="3573463"/>
          <a:ext cx="2286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9" r:id="rId7" imgW="914400" imgH="254000" progId="Equation.3">
                  <p:embed/>
                </p:oleObj>
              </mc:Choice>
              <mc:Fallback>
                <p:oleObj r:id="rId7" imgW="914400" imgH="254000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1000" y="3573463"/>
                        <a:ext cx="2286000" cy="5397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2" name="Text Box 10"/>
          <p:cNvSpPr txBox="1"/>
          <p:nvPr/>
        </p:nvSpPr>
        <p:spPr>
          <a:xfrm>
            <a:off x="457200" y="4149725"/>
            <a:ext cx="8229600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="1">
                <a:latin typeface="Times New Roman" panose="02020603050405020304" pitchFamily="18" charset="0"/>
              </a:rPr>
              <a:t> </a:t>
            </a:r>
            <a:r>
              <a:rPr lang="en-US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(-1)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(+1)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由鼓励利用变为限制利用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en-US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-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9403" name="Text Box 11"/>
          <p:cNvSpPr txBox="1"/>
          <p:nvPr/>
        </p:nvSpPr>
        <p:spPr>
          <a:xfrm>
            <a:off x="6202363" y="1125538"/>
            <a:ext cx="457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chemeClr val="accent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+</a:t>
            </a:r>
          </a:p>
        </p:txBody>
      </p:sp>
      <p:grpSp>
        <p:nvGrpSpPr>
          <p:cNvPr id="59404" name="Group 12"/>
          <p:cNvGrpSpPr/>
          <p:nvPr/>
        </p:nvGrpSpPr>
        <p:grpSpPr>
          <a:xfrm>
            <a:off x="2743200" y="3573463"/>
            <a:ext cx="2895600" cy="519112"/>
            <a:chOff x="2208" y="2256"/>
            <a:chExt cx="1680" cy="327"/>
          </a:xfrm>
        </p:grpSpPr>
        <p:sp>
          <p:nvSpPr>
            <p:cNvPr id="51262" name="Text Box 13"/>
            <p:cNvSpPr txBox="1"/>
            <p:nvPr/>
          </p:nvSpPr>
          <p:spPr>
            <a:xfrm>
              <a:off x="2448" y="2256"/>
              <a:ext cx="1440" cy="327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baseline="30000">
                  <a:latin typeface="Times New Roman" panose="02020603050405020304" pitchFamily="18" charset="0"/>
                </a:rPr>
                <a:t>*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冲量不稳定</a:t>
              </a:r>
            </a:p>
          </p:txBody>
        </p:sp>
        <p:sp>
          <p:nvSpPr>
            <p:cNvPr id="51263" name="AutoShape 14"/>
            <p:cNvSpPr/>
            <p:nvPr/>
          </p:nvSpPr>
          <p:spPr>
            <a:xfrm>
              <a:off x="2208" y="2256"/>
              <a:ext cx="144" cy="288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07" name="Group 15"/>
          <p:cNvGrpSpPr/>
          <p:nvPr/>
        </p:nvGrpSpPr>
        <p:grpSpPr>
          <a:xfrm>
            <a:off x="649288" y="4724400"/>
            <a:ext cx="7123112" cy="557213"/>
            <a:chOff x="409" y="3048"/>
            <a:chExt cx="4487" cy="351"/>
          </a:xfrm>
        </p:grpSpPr>
        <p:graphicFrame>
          <p:nvGraphicFramePr>
            <p:cNvPr id="51259" name="Object 16"/>
            <p:cNvGraphicFramePr>
              <a:graphicFrameLocks noChangeAspect="1"/>
            </p:cNvGraphicFramePr>
            <p:nvPr/>
          </p:nvGraphicFramePr>
          <p:xfrm>
            <a:off x="2304" y="3048"/>
            <a:ext cx="2592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10" r:id="rId9" imgW="1625600" imgH="228600" progId="Equation.3">
                    <p:embed/>
                  </p:oleObj>
                </mc:Choice>
                <mc:Fallback>
                  <p:oleObj r:id="rId9" imgW="1625600" imgH="228600" progId="Equation.3">
                    <p:embed/>
                    <p:pic>
                      <p:nvPicPr>
                        <p:cNvPr id="0" name="图片 315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304" y="3048"/>
                          <a:ext cx="2592" cy="3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60" name="Text Box 17"/>
            <p:cNvSpPr txBox="1"/>
            <p:nvPr/>
          </p:nvSpPr>
          <p:spPr>
            <a:xfrm>
              <a:off x="611" y="3052"/>
              <a:ext cx="172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</a:rPr>
                <a:t>A</a:t>
              </a:r>
              <a:r>
                <a:rPr lang="zh-CN" altLang="zh-CN" sz="2800" b="1" dirty="0">
                  <a:latin typeface="Times New Roman" panose="02020603050405020304" pitchFamily="18" charset="0"/>
                </a:rPr>
                <a:t>的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特征多项式</a:t>
              </a:r>
            </a:p>
          </p:txBody>
        </p:sp>
        <p:sp>
          <p:nvSpPr>
            <p:cNvPr id="51261" name="AutoShape 18"/>
            <p:cNvSpPr/>
            <p:nvPr/>
          </p:nvSpPr>
          <p:spPr>
            <a:xfrm>
              <a:off x="409" y="3052"/>
              <a:ext cx="152" cy="288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14" name="Group 22"/>
          <p:cNvGrpSpPr/>
          <p:nvPr/>
        </p:nvGrpSpPr>
        <p:grpSpPr>
          <a:xfrm>
            <a:off x="6516688" y="5862638"/>
            <a:ext cx="2438400" cy="519112"/>
            <a:chOff x="3600" y="3600"/>
            <a:chExt cx="1536" cy="327"/>
          </a:xfrm>
        </p:grpSpPr>
        <p:sp>
          <p:nvSpPr>
            <p:cNvPr id="51257" name="Text Box 23"/>
            <p:cNvSpPr txBox="1"/>
            <p:nvPr/>
          </p:nvSpPr>
          <p:spPr>
            <a:xfrm>
              <a:off x="3840" y="3600"/>
              <a:ext cx="1296" cy="327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baseline="30000">
                  <a:latin typeface="Times New Roman" panose="02020603050405020304" pitchFamily="18" charset="0"/>
                </a:rPr>
                <a:t>*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冲量稳定</a:t>
              </a:r>
            </a:p>
          </p:txBody>
        </p:sp>
        <p:sp>
          <p:nvSpPr>
            <p:cNvPr id="51258" name="AutoShape 24"/>
            <p:cNvSpPr/>
            <p:nvPr/>
          </p:nvSpPr>
          <p:spPr>
            <a:xfrm>
              <a:off x="3600" y="3600"/>
              <a:ext cx="144" cy="288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9417" name="Text Box 25"/>
          <p:cNvSpPr txBox="1"/>
          <p:nvPr/>
        </p:nvSpPr>
        <p:spPr>
          <a:xfrm>
            <a:off x="539750" y="5876925"/>
            <a:ext cx="56165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S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*</a:t>
            </a:r>
            <a:r>
              <a:rPr lang="zh-CN" altLang="en-US" sz="2800" b="1" dirty="0">
                <a:latin typeface="Times New Roman" panose="02020603050405020304" pitchFamily="18" charset="0"/>
              </a:rPr>
              <a:t>冲量稳定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800" b="1">
                <a:latin typeface="Times New Roman" panose="02020603050405020304" pitchFamily="18" charset="0"/>
              </a:rPr>
              <a:t>|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|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 1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且均为单根</a:t>
            </a:r>
          </a:p>
        </p:txBody>
      </p:sp>
      <p:sp>
        <p:nvSpPr>
          <p:cNvPr id="59418" name="Rectangle 26"/>
          <p:cNvSpPr/>
          <p:nvPr/>
        </p:nvSpPr>
        <p:spPr>
          <a:xfrm>
            <a:off x="5715000" y="3573463"/>
            <a:ext cx="3124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b="1" i="1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~</a:t>
            </a:r>
            <a:r>
              <a:rPr lang="zh-CN" altLang="en-US" sz="2800" b="1" dirty="0">
                <a:latin typeface="Times New Roman" panose="02020603050405020304" pitchFamily="18" charset="0"/>
              </a:rPr>
              <a:t>利用量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~</a:t>
            </a:r>
            <a:r>
              <a:rPr lang="zh-CN" altLang="en-US" sz="2800" b="1" dirty="0">
                <a:latin typeface="Times New Roman" panose="02020603050405020304" pitchFamily="18" charset="0"/>
              </a:rPr>
              <a:t>价格</a:t>
            </a:r>
          </a:p>
        </p:txBody>
      </p:sp>
      <p:sp>
        <p:nvSpPr>
          <p:cNvPr id="51214" name="Text Box 64"/>
          <p:cNvSpPr txBox="1"/>
          <p:nvPr/>
        </p:nvSpPr>
        <p:spPr>
          <a:xfrm>
            <a:off x="8620125" y="1544638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</a:rPr>
              <a:t>v</a:t>
            </a:r>
            <a:r>
              <a:rPr lang="en-US" altLang="zh-CN" b="1" baseline="-25000">
                <a:latin typeface="Times New Roman" panose="02020603050405020304" pitchFamily="18" charset="0"/>
              </a:rPr>
              <a:t>7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grpSp>
        <p:nvGrpSpPr>
          <p:cNvPr id="59461" name="Group 69"/>
          <p:cNvGrpSpPr/>
          <p:nvPr/>
        </p:nvGrpSpPr>
        <p:grpSpPr>
          <a:xfrm>
            <a:off x="5292725" y="188913"/>
            <a:ext cx="3587750" cy="2819400"/>
            <a:chOff x="3312" y="194"/>
            <a:chExt cx="2260" cy="1827"/>
          </a:xfrm>
        </p:grpSpPr>
        <p:sp>
          <p:nvSpPr>
            <p:cNvPr id="51220" name="Text Box 28"/>
            <p:cNvSpPr txBox="1"/>
            <p:nvPr/>
          </p:nvSpPr>
          <p:spPr>
            <a:xfrm>
              <a:off x="3642" y="1450"/>
              <a:ext cx="329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1221" name="Text Box 29"/>
            <p:cNvSpPr txBox="1"/>
            <p:nvPr/>
          </p:nvSpPr>
          <p:spPr>
            <a:xfrm>
              <a:off x="3642" y="522"/>
              <a:ext cx="376" cy="37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51222" name="Text Box 30"/>
            <p:cNvSpPr txBox="1"/>
            <p:nvPr/>
          </p:nvSpPr>
          <p:spPr>
            <a:xfrm>
              <a:off x="3971" y="1101"/>
              <a:ext cx="377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1223" name="Text Box 31"/>
            <p:cNvSpPr txBox="1"/>
            <p:nvPr/>
          </p:nvSpPr>
          <p:spPr>
            <a:xfrm>
              <a:off x="3924" y="675"/>
              <a:ext cx="330" cy="37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-</a:t>
              </a:r>
            </a:p>
          </p:txBody>
        </p:sp>
        <p:grpSp>
          <p:nvGrpSpPr>
            <p:cNvPr id="51224" name="Group 32"/>
            <p:cNvGrpSpPr/>
            <p:nvPr/>
          </p:nvGrpSpPr>
          <p:grpSpPr>
            <a:xfrm>
              <a:off x="4302" y="420"/>
              <a:ext cx="1270" cy="1601"/>
              <a:chOff x="4273" y="816"/>
              <a:chExt cx="1295" cy="1804"/>
            </a:xfrm>
          </p:grpSpPr>
          <p:sp>
            <p:nvSpPr>
              <p:cNvPr id="51250" name="Text Box 33"/>
              <p:cNvSpPr txBox="1"/>
              <p:nvPr/>
            </p:nvSpPr>
            <p:spPr>
              <a:xfrm>
                <a:off x="4273" y="1872"/>
                <a:ext cx="431" cy="2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51251" name="Text Box 34"/>
              <p:cNvSpPr txBox="1"/>
              <p:nvPr/>
            </p:nvSpPr>
            <p:spPr>
              <a:xfrm>
                <a:off x="5184" y="1921"/>
                <a:ext cx="384" cy="2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51252" name="Text Box 35"/>
              <p:cNvSpPr txBox="1"/>
              <p:nvPr/>
            </p:nvSpPr>
            <p:spPr>
              <a:xfrm>
                <a:off x="4465" y="2352"/>
                <a:ext cx="383" cy="2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51253" name="Text Box 36"/>
              <p:cNvSpPr txBox="1"/>
              <p:nvPr/>
            </p:nvSpPr>
            <p:spPr>
              <a:xfrm>
                <a:off x="4848" y="1585"/>
                <a:ext cx="336" cy="2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51254" name="Text Box 37"/>
              <p:cNvSpPr txBox="1"/>
              <p:nvPr/>
            </p:nvSpPr>
            <p:spPr>
              <a:xfrm>
                <a:off x="4368" y="816"/>
                <a:ext cx="336" cy="4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>
                    <a:latin typeface="Times New Roman" panose="02020603050405020304" pitchFamily="18" charset="0"/>
                  </a:rPr>
                  <a:t>-</a:t>
                </a:r>
              </a:p>
            </p:txBody>
          </p:sp>
          <p:sp>
            <p:nvSpPr>
              <p:cNvPr id="51255" name="Text Box 38"/>
              <p:cNvSpPr txBox="1"/>
              <p:nvPr/>
            </p:nvSpPr>
            <p:spPr>
              <a:xfrm>
                <a:off x="4560" y="912"/>
                <a:ext cx="240" cy="4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>
                    <a:latin typeface="Times New Roman" panose="02020603050405020304" pitchFamily="18" charset="0"/>
                  </a:rPr>
                  <a:t>-</a:t>
                </a:r>
              </a:p>
            </p:txBody>
          </p:sp>
          <p:sp>
            <p:nvSpPr>
              <p:cNvPr id="51256" name="Text Box 39"/>
              <p:cNvSpPr txBox="1"/>
              <p:nvPr/>
            </p:nvSpPr>
            <p:spPr>
              <a:xfrm>
                <a:off x="5184" y="961"/>
                <a:ext cx="384" cy="2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</p:grpSp>
        <p:sp>
          <p:nvSpPr>
            <p:cNvPr id="51225" name="Text Box 41"/>
            <p:cNvSpPr txBox="1"/>
            <p:nvPr/>
          </p:nvSpPr>
          <p:spPr>
            <a:xfrm>
              <a:off x="3742" y="194"/>
              <a:ext cx="282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2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51226" name="AutoShape 42"/>
            <p:cNvSpPr/>
            <p:nvPr/>
          </p:nvSpPr>
          <p:spPr>
            <a:xfrm>
              <a:off x="3547" y="420"/>
              <a:ext cx="1883" cy="1363"/>
            </a:xfrm>
            <a:prstGeom prst="hexagon">
              <a:avLst>
                <a:gd name="adj" fmla="val 34537"/>
                <a:gd name="vf" fmla="val 11547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1227" name="Rectangle 43"/>
            <p:cNvSpPr/>
            <p:nvPr/>
          </p:nvSpPr>
          <p:spPr>
            <a:xfrm>
              <a:off x="4018" y="334"/>
              <a:ext cx="942" cy="1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1228" name="Line 44"/>
            <p:cNvSpPr/>
            <p:nvPr/>
          </p:nvSpPr>
          <p:spPr>
            <a:xfrm flipH="1">
              <a:off x="4018" y="420"/>
              <a:ext cx="942" cy="13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9" name="Line 45"/>
            <p:cNvSpPr/>
            <p:nvPr/>
          </p:nvSpPr>
          <p:spPr>
            <a:xfrm>
              <a:off x="3547" y="1101"/>
              <a:ext cx="188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30" name="Arc 46"/>
            <p:cNvSpPr/>
            <p:nvPr/>
          </p:nvSpPr>
          <p:spPr>
            <a:xfrm>
              <a:off x="4018" y="420"/>
              <a:ext cx="471" cy="68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0" b="0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31" name="Arc 47"/>
            <p:cNvSpPr/>
            <p:nvPr/>
          </p:nvSpPr>
          <p:spPr>
            <a:xfrm rot="-4049453" flipH="1">
              <a:off x="4040" y="383"/>
              <a:ext cx="426" cy="7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0" b="0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32" name="Line 48"/>
            <p:cNvSpPr/>
            <p:nvPr/>
          </p:nvSpPr>
          <p:spPr>
            <a:xfrm>
              <a:off x="4301" y="590"/>
              <a:ext cx="94" cy="8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33" name="Line 49"/>
            <p:cNvSpPr/>
            <p:nvPr/>
          </p:nvSpPr>
          <p:spPr>
            <a:xfrm flipH="1" flipV="1">
              <a:off x="4065" y="803"/>
              <a:ext cx="141" cy="1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34" name="Line 50"/>
            <p:cNvSpPr/>
            <p:nvPr/>
          </p:nvSpPr>
          <p:spPr>
            <a:xfrm flipV="1">
              <a:off x="3736" y="718"/>
              <a:ext cx="94" cy="1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35" name="Line 51"/>
            <p:cNvSpPr/>
            <p:nvPr/>
          </p:nvSpPr>
          <p:spPr>
            <a:xfrm>
              <a:off x="5054" y="547"/>
              <a:ext cx="141" cy="2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36" name="Line 52"/>
            <p:cNvSpPr/>
            <p:nvPr/>
          </p:nvSpPr>
          <p:spPr>
            <a:xfrm flipV="1">
              <a:off x="4677" y="675"/>
              <a:ext cx="94" cy="17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37" name="Line 53"/>
            <p:cNvSpPr/>
            <p:nvPr/>
          </p:nvSpPr>
          <p:spPr>
            <a:xfrm flipV="1">
              <a:off x="5101" y="1357"/>
              <a:ext cx="141" cy="2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38" name="Line 54"/>
            <p:cNvSpPr/>
            <p:nvPr/>
          </p:nvSpPr>
          <p:spPr>
            <a:xfrm>
              <a:off x="4254" y="1783"/>
              <a:ext cx="32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39" name="Line 55"/>
            <p:cNvSpPr/>
            <p:nvPr/>
          </p:nvSpPr>
          <p:spPr>
            <a:xfrm flipV="1">
              <a:off x="4159" y="1357"/>
              <a:ext cx="142" cy="2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40" name="Line 56"/>
            <p:cNvSpPr/>
            <p:nvPr/>
          </p:nvSpPr>
          <p:spPr>
            <a:xfrm>
              <a:off x="3689" y="1314"/>
              <a:ext cx="141" cy="2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41" name="Line 57"/>
            <p:cNvSpPr/>
            <p:nvPr/>
          </p:nvSpPr>
          <p:spPr>
            <a:xfrm flipH="1">
              <a:off x="4866" y="1101"/>
              <a:ext cx="1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42" name="Line 58"/>
            <p:cNvSpPr/>
            <p:nvPr/>
          </p:nvSpPr>
          <p:spPr>
            <a:xfrm flipH="1">
              <a:off x="4018" y="1101"/>
              <a:ext cx="14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51243" name="Object 59"/>
            <p:cNvGraphicFramePr>
              <a:graphicFrameLocks noChangeAspect="1"/>
            </p:cNvGraphicFramePr>
            <p:nvPr/>
          </p:nvGraphicFramePr>
          <p:xfrm>
            <a:off x="4459" y="1066"/>
            <a:ext cx="77" cy="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11" r:id="rId11" imgW="127000" imgH="139700" progId="Equation.3">
                    <p:embed/>
                  </p:oleObj>
                </mc:Choice>
                <mc:Fallback>
                  <p:oleObj r:id="rId11" imgW="127000" imgH="139700" progId="Equation.3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459" y="1066"/>
                          <a:ext cx="77" cy="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44" name="Text Box 60"/>
            <p:cNvSpPr txBox="1"/>
            <p:nvPr/>
          </p:nvSpPr>
          <p:spPr>
            <a:xfrm>
              <a:off x="4442" y="1016"/>
              <a:ext cx="376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1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51245" name="Text Box 61"/>
            <p:cNvSpPr txBox="1"/>
            <p:nvPr/>
          </p:nvSpPr>
          <p:spPr>
            <a:xfrm>
              <a:off x="3312" y="931"/>
              <a:ext cx="330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3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51246" name="Text Box 62"/>
            <p:cNvSpPr txBox="1"/>
            <p:nvPr/>
          </p:nvSpPr>
          <p:spPr>
            <a:xfrm>
              <a:off x="4960" y="249"/>
              <a:ext cx="329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4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51247" name="Text Box 63"/>
            <p:cNvSpPr txBox="1"/>
            <p:nvPr/>
          </p:nvSpPr>
          <p:spPr>
            <a:xfrm>
              <a:off x="4866" y="1698"/>
              <a:ext cx="282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6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51248" name="Text Box 65"/>
            <p:cNvSpPr txBox="1"/>
            <p:nvPr/>
          </p:nvSpPr>
          <p:spPr>
            <a:xfrm>
              <a:off x="3877" y="1697"/>
              <a:ext cx="281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5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51249" name="Text Box 68"/>
            <p:cNvSpPr txBox="1"/>
            <p:nvPr/>
          </p:nvSpPr>
          <p:spPr>
            <a:xfrm>
              <a:off x="4150" y="346"/>
              <a:ext cx="754" cy="139"/>
            </a:xfrm>
            <a:prstGeom prst="rect">
              <a:avLst/>
            </a:prstGeom>
            <a:solidFill>
              <a:srgbClr val="FFFFCC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1216" name="Group 72"/>
          <p:cNvGrpSpPr/>
          <p:nvPr/>
        </p:nvGrpSpPr>
        <p:grpSpPr>
          <a:xfrm>
            <a:off x="611188" y="5241925"/>
            <a:ext cx="7235825" cy="635000"/>
            <a:chOff x="385" y="3302"/>
            <a:chExt cx="4558" cy="400"/>
          </a:xfrm>
        </p:grpSpPr>
        <p:graphicFrame>
          <p:nvGraphicFramePr>
            <p:cNvPr id="51217" name="Object 20"/>
            <p:cNvGraphicFramePr>
              <a:graphicFrameLocks noChangeAspect="1"/>
            </p:cNvGraphicFramePr>
            <p:nvPr/>
          </p:nvGraphicFramePr>
          <p:xfrm>
            <a:off x="612" y="3302"/>
            <a:ext cx="3490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12" r:id="rId13" imgW="2044065" imgH="266700" progId="Equation.DSMT4">
                    <p:embed/>
                  </p:oleObj>
                </mc:Choice>
                <mc:Fallback>
                  <p:oleObj r:id="rId13" imgW="2044065" imgH="266700" progId="Equation.DSMT4">
                    <p:embed/>
                    <p:pic>
                      <p:nvPicPr>
                        <p:cNvPr id="0" name="图片 3166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12" y="3302"/>
                          <a:ext cx="3490" cy="4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18" name="AutoShape 21"/>
            <p:cNvSpPr/>
            <p:nvPr/>
          </p:nvSpPr>
          <p:spPr>
            <a:xfrm>
              <a:off x="385" y="3339"/>
              <a:ext cx="136" cy="280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1219" name="Text Box 71"/>
            <p:cNvSpPr txBox="1"/>
            <p:nvPr/>
          </p:nvSpPr>
          <p:spPr>
            <a:xfrm>
              <a:off x="4059" y="3339"/>
              <a:ext cx="8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</a:rPr>
                <a:t>且为单根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10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1000"/>
                                        <p:tgtEl>
                                          <p:spTgt spid="5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10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1000"/>
                                        <p:tgtEl>
                                          <p:spTgt spid="5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1000"/>
                                        <p:tgtEl>
                                          <p:spTgt spid="5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2" dur="1000"/>
                                        <p:tgtEl>
                                          <p:spTgt spid="5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9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9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9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9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59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59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59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59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59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animBg="1"/>
      <p:bldP spid="59396" grpId="0" animBg="1"/>
      <p:bldP spid="59402" grpId="0" animBg="1"/>
      <p:bldP spid="59403" grpId="0"/>
      <p:bldP spid="59417" grpId="0" animBg="1"/>
      <p:bldP spid="5941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18" name="Group 2"/>
          <p:cNvGrpSpPr/>
          <p:nvPr/>
        </p:nvGrpSpPr>
        <p:grpSpPr>
          <a:xfrm>
            <a:off x="381000" y="1404938"/>
            <a:ext cx="6781800" cy="901700"/>
            <a:chOff x="192" y="3416"/>
            <a:chExt cx="4272" cy="568"/>
          </a:xfrm>
        </p:grpSpPr>
        <p:sp>
          <p:nvSpPr>
            <p:cNvPr id="52288" name="Text Box 3"/>
            <p:cNvSpPr txBox="1"/>
            <p:nvPr/>
          </p:nvSpPr>
          <p:spPr>
            <a:xfrm>
              <a:off x="192" y="3513"/>
              <a:ext cx="32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har char="•"/>
              </a:pP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若</a:t>
              </a:r>
              <a:r>
                <a:rPr lang="en-US" altLang="zh-CN" sz="2800" b="1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baseline="30000">
                  <a:latin typeface="Times New Roman" panose="02020603050405020304" pitchFamily="18" charset="0"/>
                </a:rPr>
                <a:t>*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冲量稳定，则</a:t>
              </a:r>
              <a:r>
                <a:rPr lang="en-US" altLang="zh-CN" sz="2800" b="1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baseline="30000">
                  <a:latin typeface="Times New Roman" panose="02020603050405020304" pitchFamily="18" charset="0"/>
                </a:rPr>
                <a:t>*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值稳定 </a:t>
              </a:r>
              <a:r>
                <a:rPr lang="zh-CN" altLang="en-US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    </a:t>
              </a:r>
            </a:p>
          </p:txBody>
        </p:sp>
        <p:graphicFrame>
          <p:nvGraphicFramePr>
            <p:cNvPr id="52289" name="Object 4"/>
            <p:cNvGraphicFramePr>
              <a:graphicFrameLocks noChangeAspect="1"/>
            </p:cNvGraphicFramePr>
            <p:nvPr/>
          </p:nvGraphicFramePr>
          <p:xfrm>
            <a:off x="3408" y="3416"/>
            <a:ext cx="1056" cy="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31" r:id="rId3" imgW="647700" imgH="431800" progId="Equation.3">
                    <p:embed/>
                  </p:oleObj>
                </mc:Choice>
                <mc:Fallback>
                  <p:oleObj r:id="rId3" imgW="647700" imgH="431800" progId="Equation.3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408" y="3416"/>
                          <a:ext cx="1056" cy="5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421" name="Object 5"/>
          <p:cNvGraphicFramePr>
            <a:graphicFrameLocks noChangeAspect="1"/>
          </p:cNvGraphicFramePr>
          <p:nvPr/>
        </p:nvGraphicFramePr>
        <p:xfrm>
          <a:off x="395288" y="2205038"/>
          <a:ext cx="491172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2" r:id="rId5" imgW="2260600" imgH="254000" progId="Equation.3">
                  <p:embed/>
                </p:oleObj>
              </mc:Choice>
              <mc:Fallback>
                <p:oleObj r:id="rId5" imgW="2260600" imgH="254000" progId="Equation.3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5288" y="2205038"/>
                        <a:ext cx="4911725" cy="5461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422" name="Group 6"/>
          <p:cNvGrpSpPr/>
          <p:nvPr/>
        </p:nvGrpSpPr>
        <p:grpSpPr>
          <a:xfrm>
            <a:off x="395288" y="938213"/>
            <a:ext cx="8424862" cy="592137"/>
            <a:chOff x="192" y="2955"/>
            <a:chExt cx="5025" cy="373"/>
          </a:xfrm>
        </p:grpSpPr>
        <p:sp>
          <p:nvSpPr>
            <p:cNvPr id="52285" name="Text Box 7"/>
            <p:cNvSpPr txBox="1"/>
            <p:nvPr/>
          </p:nvSpPr>
          <p:spPr>
            <a:xfrm>
              <a:off x="192" y="2976"/>
              <a:ext cx="16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har char="•"/>
              </a:pP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baseline="30000">
                  <a:latin typeface="Times New Roman" panose="02020603050405020304" pitchFamily="18" charset="0"/>
                </a:rPr>
                <a:t>*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冲量稳定 </a:t>
              </a:r>
              <a:r>
                <a:rPr lang="zh-CN" altLang="en-US" sz="2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   </a:t>
              </a:r>
            </a:p>
          </p:txBody>
        </p:sp>
        <p:graphicFrame>
          <p:nvGraphicFramePr>
            <p:cNvPr id="52286" name="Object 8"/>
            <p:cNvGraphicFramePr>
              <a:graphicFrameLocks noChangeAspect="1"/>
            </p:cNvGraphicFramePr>
            <p:nvPr/>
          </p:nvGraphicFramePr>
          <p:xfrm>
            <a:off x="2970" y="2955"/>
            <a:ext cx="2247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33" r:id="rId7" imgW="1930400" imgH="228600" progId="Equation.3">
                    <p:embed/>
                  </p:oleObj>
                </mc:Choice>
                <mc:Fallback>
                  <p:oleObj r:id="rId7" imgW="1930400" imgH="228600" progId="Equation.3">
                    <p:embed/>
                    <p:pic>
                      <p:nvPicPr>
                        <p:cNvPr id="0" name="图片 316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970" y="2955"/>
                          <a:ext cx="2247" cy="3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87" name="Object 9"/>
            <p:cNvGraphicFramePr>
              <a:graphicFrameLocks noChangeAspect="1"/>
            </p:cNvGraphicFramePr>
            <p:nvPr/>
          </p:nvGraphicFramePr>
          <p:xfrm>
            <a:off x="1824" y="2976"/>
            <a:ext cx="987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34" r:id="rId9" imgW="622300" imgH="254000" progId="Equation.3">
                    <p:embed/>
                  </p:oleObj>
                </mc:Choice>
                <mc:Fallback>
                  <p:oleObj r:id="rId9" imgW="622300" imgH="254000" progId="Equation.3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824" y="2976"/>
                          <a:ext cx="987" cy="3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426" name="Rectangle 10"/>
          <p:cNvSpPr/>
          <p:nvPr/>
        </p:nvSpPr>
        <p:spPr>
          <a:xfrm>
            <a:off x="539750" y="5084763"/>
            <a:ext cx="2820988" cy="1073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</a:rPr>
              <a:t>—</a:t>
            </a:r>
            <a:r>
              <a:rPr lang="zh-CN" altLang="en-US" sz="2800" b="1" dirty="0">
                <a:latin typeface="Times New Roman" panose="02020603050405020304" pitchFamily="18" charset="0"/>
              </a:rPr>
              <a:t>能源生产率 </a:t>
            </a:r>
            <a:r>
              <a:rPr lang="en-US" altLang="zh-CN" sz="2800" b="1" i="1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5</a:t>
            </a:r>
            <a:r>
              <a:rPr lang="en-US" altLang="zh-CN" sz="2800" b="1">
                <a:latin typeface="Times New Roman" panose="02020603050405020304" pitchFamily="18" charset="0"/>
              </a:rPr>
              <a:t>—</a:t>
            </a:r>
            <a:r>
              <a:rPr lang="zh-CN" altLang="en-US" sz="2800" b="1" dirty="0">
                <a:latin typeface="Times New Roman" panose="02020603050405020304" pitchFamily="18" charset="0"/>
              </a:rPr>
              <a:t>工业产值</a:t>
            </a:r>
          </a:p>
        </p:txBody>
      </p:sp>
      <p:grpSp>
        <p:nvGrpSpPr>
          <p:cNvPr id="60427" name="Group 11"/>
          <p:cNvGrpSpPr/>
          <p:nvPr/>
        </p:nvGrpSpPr>
        <p:grpSpPr>
          <a:xfrm>
            <a:off x="1371600" y="3671888"/>
            <a:ext cx="4114800" cy="561975"/>
            <a:chOff x="864" y="2256"/>
            <a:chExt cx="2592" cy="354"/>
          </a:xfrm>
        </p:grpSpPr>
        <p:graphicFrame>
          <p:nvGraphicFramePr>
            <p:cNvPr id="52283" name="Object 12"/>
            <p:cNvGraphicFramePr>
              <a:graphicFrameLocks noChangeAspect="1"/>
            </p:cNvGraphicFramePr>
            <p:nvPr/>
          </p:nvGraphicFramePr>
          <p:xfrm>
            <a:off x="1104" y="2256"/>
            <a:ext cx="2352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35" r:id="rId11" imgW="1714500" imgH="254000" progId="Equation.3">
                    <p:embed/>
                  </p:oleObj>
                </mc:Choice>
                <mc:Fallback>
                  <p:oleObj r:id="rId11" imgW="1714500" imgH="254000" progId="Equation.3">
                    <p:embed/>
                    <p:pic>
                      <p:nvPicPr>
                        <p:cNvPr id="0" name="图片 3164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104" y="2256"/>
                          <a:ext cx="2352" cy="345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84" name="AutoShape 13"/>
            <p:cNvSpPr/>
            <p:nvPr/>
          </p:nvSpPr>
          <p:spPr>
            <a:xfrm flipH="1">
              <a:off x="864" y="2304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0430" name="Group 14"/>
          <p:cNvGrpSpPr/>
          <p:nvPr/>
        </p:nvGrpSpPr>
        <p:grpSpPr>
          <a:xfrm>
            <a:off x="3657600" y="5199063"/>
            <a:ext cx="4114800" cy="519112"/>
            <a:chOff x="2928" y="3264"/>
            <a:chExt cx="2592" cy="327"/>
          </a:xfrm>
        </p:grpSpPr>
        <p:sp>
          <p:nvSpPr>
            <p:cNvPr id="52281" name="AutoShape 15"/>
            <p:cNvSpPr/>
            <p:nvPr/>
          </p:nvSpPr>
          <p:spPr>
            <a:xfrm>
              <a:off x="2928" y="3264"/>
              <a:ext cx="192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82" name="Text Box 16"/>
            <p:cNvSpPr txBox="1"/>
            <p:nvPr/>
          </p:nvSpPr>
          <p:spPr>
            <a:xfrm>
              <a:off x="3216" y="3264"/>
              <a:ext cx="2304" cy="327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1">
                  <a:solidFill>
                    <a:srgbClr val="FF33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(-1)</a:t>
              </a:r>
              <a:r>
                <a:rPr lang="en-US" altLang="zh-CN" sz="2800" b="1" i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v</a:t>
              </a:r>
              <a:r>
                <a:rPr lang="en-US" altLang="zh-CN" sz="2800" b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3</a:t>
              </a:r>
              <a:r>
                <a:rPr lang="en-US" altLang="zh-CN" sz="2800" b="1" i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v</a:t>
              </a:r>
              <a:r>
                <a:rPr lang="en-US" altLang="zh-CN" sz="2800" b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5 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违反客观规律</a:t>
              </a:r>
            </a:p>
          </p:txBody>
        </p:sp>
      </p:grpSp>
      <p:grpSp>
        <p:nvGrpSpPr>
          <p:cNvPr id="60433" name="Group 17"/>
          <p:cNvGrpSpPr/>
          <p:nvPr/>
        </p:nvGrpSpPr>
        <p:grpSpPr>
          <a:xfrm>
            <a:off x="611188" y="2924175"/>
            <a:ext cx="2590800" cy="519113"/>
            <a:chOff x="576" y="1680"/>
            <a:chExt cx="1632" cy="327"/>
          </a:xfrm>
        </p:grpSpPr>
        <p:sp>
          <p:nvSpPr>
            <p:cNvPr id="52279" name="Text Box 18"/>
            <p:cNvSpPr txBox="1"/>
            <p:nvPr/>
          </p:nvSpPr>
          <p:spPr>
            <a:xfrm>
              <a:off x="912" y="1680"/>
              <a:ext cx="1296" cy="327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baseline="30000">
                  <a:latin typeface="Times New Roman" panose="02020603050405020304" pitchFamily="18" charset="0"/>
                </a:rPr>
                <a:t>*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值不稳定</a:t>
              </a:r>
            </a:p>
          </p:txBody>
        </p:sp>
        <p:sp>
          <p:nvSpPr>
            <p:cNvPr id="52280" name="AutoShape 19"/>
            <p:cNvSpPr/>
            <p:nvPr/>
          </p:nvSpPr>
          <p:spPr>
            <a:xfrm>
              <a:off x="576" y="1680"/>
              <a:ext cx="192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0436" name="Text Box 20"/>
          <p:cNvSpPr txBox="1"/>
          <p:nvPr/>
        </p:nvSpPr>
        <p:spPr>
          <a:xfrm>
            <a:off x="381000" y="3487738"/>
            <a:ext cx="914400" cy="94615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S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*</a:t>
            </a:r>
            <a:r>
              <a:rPr lang="zh-CN" altLang="en-US" sz="2800" b="1" dirty="0">
                <a:latin typeface="Times New Roman" panose="02020603050405020304" pitchFamily="18" charset="0"/>
              </a:rPr>
              <a:t>值稳定</a:t>
            </a:r>
          </a:p>
        </p:txBody>
      </p:sp>
      <p:grpSp>
        <p:nvGrpSpPr>
          <p:cNvPr id="60437" name="Group 21"/>
          <p:cNvGrpSpPr/>
          <p:nvPr/>
        </p:nvGrpSpPr>
        <p:grpSpPr>
          <a:xfrm>
            <a:off x="1295400" y="4433888"/>
            <a:ext cx="3429000" cy="533400"/>
            <a:chOff x="816" y="2736"/>
            <a:chExt cx="2160" cy="336"/>
          </a:xfrm>
        </p:grpSpPr>
        <p:sp>
          <p:nvSpPr>
            <p:cNvPr id="52277" name="Text Box 22"/>
            <p:cNvSpPr txBox="1"/>
            <p:nvPr/>
          </p:nvSpPr>
          <p:spPr>
            <a:xfrm>
              <a:off x="1104" y="2736"/>
              <a:ext cx="1872" cy="327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Times New Roman" panose="02020603050405020304" pitchFamily="18" charset="0"/>
                </a:rPr>
                <a:t>(+1)</a:t>
              </a:r>
              <a:r>
                <a:rPr lang="en-US" altLang="zh-CN" sz="2800" i="1" baseline="-25000">
                  <a:latin typeface="Times New Roman" panose="02020603050405020304" pitchFamily="18" charset="0"/>
                </a:rPr>
                <a:t>v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3</a:t>
              </a:r>
              <a:r>
                <a:rPr lang="en-US" altLang="zh-CN" sz="2800" i="1" baseline="-25000">
                  <a:latin typeface="Times New Roman" panose="02020603050405020304" pitchFamily="18" charset="0"/>
                </a:rPr>
                <a:t>v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5 </a:t>
              </a:r>
              <a:r>
                <a:rPr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sz="2800">
                  <a:solidFill>
                    <a:srgbClr val="FF33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(-1)</a:t>
              </a:r>
              <a:r>
                <a:rPr lang="en-US" altLang="zh-CN" sz="2800" i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v</a:t>
              </a:r>
              <a:r>
                <a:rPr lang="en-US" altLang="zh-CN" sz="2800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3</a:t>
              </a:r>
              <a:r>
                <a:rPr lang="en-US" altLang="zh-CN" sz="2800" i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v</a:t>
              </a:r>
              <a:r>
                <a:rPr lang="en-US" altLang="zh-CN" sz="2800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5</a:t>
              </a:r>
              <a:endParaRPr lang="en-US" altLang="zh-CN" sz="280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2278" name="AutoShape 23"/>
            <p:cNvSpPr/>
            <p:nvPr/>
          </p:nvSpPr>
          <p:spPr>
            <a:xfrm flipH="1">
              <a:off x="816" y="2766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0440" name="Text Box 24"/>
          <p:cNvSpPr txBox="1"/>
          <p:nvPr/>
        </p:nvSpPr>
        <p:spPr>
          <a:xfrm>
            <a:off x="3581400" y="5870575"/>
            <a:ext cx="50228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能源利用系统的值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不应稳定？</a:t>
            </a:r>
          </a:p>
        </p:txBody>
      </p:sp>
      <p:sp>
        <p:nvSpPr>
          <p:cNvPr id="60481" name="Text Box 65"/>
          <p:cNvSpPr txBox="1"/>
          <p:nvPr/>
        </p:nvSpPr>
        <p:spPr>
          <a:xfrm>
            <a:off x="5983288" y="3573463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  <p:grpSp>
        <p:nvGrpSpPr>
          <p:cNvPr id="52237" name="Group 67"/>
          <p:cNvGrpSpPr/>
          <p:nvPr/>
        </p:nvGrpSpPr>
        <p:grpSpPr>
          <a:xfrm>
            <a:off x="5294313" y="2005013"/>
            <a:ext cx="3886200" cy="2936875"/>
            <a:chOff x="3312" y="1183"/>
            <a:chExt cx="2448" cy="1850"/>
          </a:xfrm>
        </p:grpSpPr>
        <p:sp>
          <p:nvSpPr>
            <p:cNvPr id="52239" name="Text Box 26"/>
            <p:cNvSpPr txBox="1"/>
            <p:nvPr/>
          </p:nvSpPr>
          <p:spPr>
            <a:xfrm>
              <a:off x="3642" y="2469"/>
              <a:ext cx="32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2240" name="Text Box 27"/>
            <p:cNvSpPr txBox="1"/>
            <p:nvPr/>
          </p:nvSpPr>
          <p:spPr>
            <a:xfrm>
              <a:off x="3642" y="1541"/>
              <a:ext cx="37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52241" name="Text Box 28"/>
            <p:cNvSpPr txBox="1"/>
            <p:nvPr/>
          </p:nvSpPr>
          <p:spPr>
            <a:xfrm>
              <a:off x="3971" y="2120"/>
              <a:ext cx="37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+</a:t>
              </a:r>
            </a:p>
          </p:txBody>
        </p:sp>
        <p:grpSp>
          <p:nvGrpSpPr>
            <p:cNvPr id="52242" name="Group 29"/>
            <p:cNvGrpSpPr/>
            <p:nvPr/>
          </p:nvGrpSpPr>
          <p:grpSpPr>
            <a:xfrm>
              <a:off x="4302" y="1439"/>
              <a:ext cx="1270" cy="1594"/>
              <a:chOff x="4273" y="816"/>
              <a:chExt cx="1295" cy="1796"/>
            </a:xfrm>
          </p:grpSpPr>
          <p:sp>
            <p:nvSpPr>
              <p:cNvPr id="52270" name="Text Box 30"/>
              <p:cNvSpPr txBox="1"/>
              <p:nvPr/>
            </p:nvSpPr>
            <p:spPr>
              <a:xfrm>
                <a:off x="4273" y="1872"/>
                <a:ext cx="431" cy="2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52271" name="Text Box 31"/>
              <p:cNvSpPr txBox="1"/>
              <p:nvPr/>
            </p:nvSpPr>
            <p:spPr>
              <a:xfrm>
                <a:off x="5184" y="1921"/>
                <a:ext cx="384" cy="2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52272" name="Text Box 32"/>
              <p:cNvSpPr txBox="1"/>
              <p:nvPr/>
            </p:nvSpPr>
            <p:spPr>
              <a:xfrm>
                <a:off x="4465" y="2352"/>
                <a:ext cx="383" cy="2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52273" name="Text Box 33"/>
              <p:cNvSpPr txBox="1"/>
              <p:nvPr/>
            </p:nvSpPr>
            <p:spPr>
              <a:xfrm>
                <a:off x="4848" y="1585"/>
                <a:ext cx="336" cy="2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52274" name="Text Box 34"/>
              <p:cNvSpPr txBox="1"/>
              <p:nvPr/>
            </p:nvSpPr>
            <p:spPr>
              <a:xfrm>
                <a:off x="4368" y="816"/>
                <a:ext cx="336" cy="4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>
                    <a:latin typeface="Times New Roman" panose="02020603050405020304" pitchFamily="18" charset="0"/>
                  </a:rPr>
                  <a:t>-</a:t>
                </a:r>
              </a:p>
            </p:txBody>
          </p:sp>
          <p:sp>
            <p:nvSpPr>
              <p:cNvPr id="52275" name="Text Box 35"/>
              <p:cNvSpPr txBox="1"/>
              <p:nvPr/>
            </p:nvSpPr>
            <p:spPr>
              <a:xfrm>
                <a:off x="4560" y="912"/>
                <a:ext cx="240" cy="41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>
                    <a:latin typeface="Times New Roman" panose="02020603050405020304" pitchFamily="18" charset="0"/>
                  </a:rPr>
                  <a:t>-</a:t>
                </a:r>
              </a:p>
            </p:txBody>
          </p:sp>
          <p:sp>
            <p:nvSpPr>
              <p:cNvPr id="52276" name="Text Box 36"/>
              <p:cNvSpPr txBox="1"/>
              <p:nvPr/>
            </p:nvSpPr>
            <p:spPr>
              <a:xfrm>
                <a:off x="5184" y="961"/>
                <a:ext cx="384" cy="2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</p:grpSp>
        <p:sp>
          <p:nvSpPr>
            <p:cNvPr id="52243" name="Text Box 38"/>
            <p:cNvSpPr txBox="1"/>
            <p:nvPr/>
          </p:nvSpPr>
          <p:spPr>
            <a:xfrm>
              <a:off x="3924" y="1183"/>
              <a:ext cx="28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2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52244" name="AutoShape 39"/>
            <p:cNvSpPr/>
            <p:nvPr/>
          </p:nvSpPr>
          <p:spPr>
            <a:xfrm>
              <a:off x="3547" y="1439"/>
              <a:ext cx="1883" cy="1363"/>
            </a:xfrm>
            <a:prstGeom prst="hexagon">
              <a:avLst>
                <a:gd name="adj" fmla="val 34537"/>
                <a:gd name="vf" fmla="val 11547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45" name="Rectangle 40"/>
            <p:cNvSpPr/>
            <p:nvPr/>
          </p:nvSpPr>
          <p:spPr>
            <a:xfrm>
              <a:off x="4018" y="1353"/>
              <a:ext cx="942" cy="1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46" name="Line 41"/>
            <p:cNvSpPr/>
            <p:nvPr/>
          </p:nvSpPr>
          <p:spPr>
            <a:xfrm flipH="1">
              <a:off x="4018" y="1439"/>
              <a:ext cx="942" cy="13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47" name="Line 42"/>
            <p:cNvSpPr/>
            <p:nvPr/>
          </p:nvSpPr>
          <p:spPr>
            <a:xfrm>
              <a:off x="3547" y="2120"/>
              <a:ext cx="188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48" name="Arc 43"/>
            <p:cNvSpPr/>
            <p:nvPr/>
          </p:nvSpPr>
          <p:spPr>
            <a:xfrm>
              <a:off x="4018" y="1439"/>
              <a:ext cx="471" cy="68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0" b="0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9" name="Arc 44"/>
            <p:cNvSpPr/>
            <p:nvPr/>
          </p:nvSpPr>
          <p:spPr>
            <a:xfrm rot="-4049453" flipH="1">
              <a:off x="4040" y="1402"/>
              <a:ext cx="426" cy="7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0" b="0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0" name="Line 45"/>
            <p:cNvSpPr/>
            <p:nvPr/>
          </p:nvSpPr>
          <p:spPr>
            <a:xfrm>
              <a:off x="4301" y="1609"/>
              <a:ext cx="94" cy="8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51" name="Line 46"/>
            <p:cNvSpPr/>
            <p:nvPr/>
          </p:nvSpPr>
          <p:spPr>
            <a:xfrm flipH="1" flipV="1">
              <a:off x="4065" y="1822"/>
              <a:ext cx="141" cy="1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52" name="Line 47"/>
            <p:cNvSpPr/>
            <p:nvPr/>
          </p:nvSpPr>
          <p:spPr>
            <a:xfrm flipV="1">
              <a:off x="3736" y="1737"/>
              <a:ext cx="94" cy="1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53" name="Line 48"/>
            <p:cNvSpPr/>
            <p:nvPr/>
          </p:nvSpPr>
          <p:spPr>
            <a:xfrm>
              <a:off x="5054" y="1566"/>
              <a:ext cx="141" cy="2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54" name="Line 49"/>
            <p:cNvSpPr/>
            <p:nvPr/>
          </p:nvSpPr>
          <p:spPr>
            <a:xfrm flipV="1">
              <a:off x="4677" y="1694"/>
              <a:ext cx="94" cy="17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55" name="Line 50"/>
            <p:cNvSpPr/>
            <p:nvPr/>
          </p:nvSpPr>
          <p:spPr>
            <a:xfrm flipV="1">
              <a:off x="5101" y="2376"/>
              <a:ext cx="141" cy="2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56" name="Line 51"/>
            <p:cNvSpPr/>
            <p:nvPr/>
          </p:nvSpPr>
          <p:spPr>
            <a:xfrm>
              <a:off x="4254" y="2802"/>
              <a:ext cx="32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57" name="Line 52"/>
            <p:cNvSpPr/>
            <p:nvPr/>
          </p:nvSpPr>
          <p:spPr>
            <a:xfrm flipV="1">
              <a:off x="4159" y="2376"/>
              <a:ext cx="142" cy="2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58" name="Line 53"/>
            <p:cNvSpPr/>
            <p:nvPr/>
          </p:nvSpPr>
          <p:spPr>
            <a:xfrm>
              <a:off x="3689" y="2333"/>
              <a:ext cx="141" cy="2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59" name="Line 54"/>
            <p:cNvSpPr/>
            <p:nvPr/>
          </p:nvSpPr>
          <p:spPr>
            <a:xfrm flipH="1">
              <a:off x="4866" y="2120"/>
              <a:ext cx="1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60" name="Line 55"/>
            <p:cNvSpPr/>
            <p:nvPr/>
          </p:nvSpPr>
          <p:spPr>
            <a:xfrm flipH="1">
              <a:off x="4018" y="2120"/>
              <a:ext cx="14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52261" name="Object 56"/>
            <p:cNvGraphicFramePr>
              <a:graphicFrameLocks noChangeAspect="1"/>
            </p:cNvGraphicFramePr>
            <p:nvPr/>
          </p:nvGraphicFramePr>
          <p:xfrm>
            <a:off x="4459" y="2085"/>
            <a:ext cx="77" cy="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36" r:id="rId13" imgW="127000" imgH="139700" progId="Equation.3">
                    <p:embed/>
                  </p:oleObj>
                </mc:Choice>
                <mc:Fallback>
                  <p:oleObj r:id="rId13" imgW="127000" imgH="139700" progId="Equation.3">
                    <p:embed/>
                    <p:pic>
                      <p:nvPicPr>
                        <p:cNvPr id="0" name="图片 316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459" y="2085"/>
                          <a:ext cx="77" cy="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62" name="Text Box 57"/>
            <p:cNvSpPr txBox="1"/>
            <p:nvPr/>
          </p:nvSpPr>
          <p:spPr>
            <a:xfrm>
              <a:off x="4442" y="2035"/>
              <a:ext cx="3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1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52263" name="Text Box 58"/>
            <p:cNvSpPr txBox="1"/>
            <p:nvPr/>
          </p:nvSpPr>
          <p:spPr>
            <a:xfrm>
              <a:off x="3312" y="1950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3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52264" name="Text Box 59"/>
            <p:cNvSpPr txBox="1"/>
            <p:nvPr/>
          </p:nvSpPr>
          <p:spPr>
            <a:xfrm>
              <a:off x="4960" y="1268"/>
              <a:ext cx="32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4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52265" name="Text Box 60"/>
            <p:cNvSpPr txBox="1"/>
            <p:nvPr/>
          </p:nvSpPr>
          <p:spPr>
            <a:xfrm>
              <a:off x="4866" y="2717"/>
              <a:ext cx="28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6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52266" name="Text Box 61"/>
            <p:cNvSpPr txBox="1"/>
            <p:nvPr/>
          </p:nvSpPr>
          <p:spPr>
            <a:xfrm>
              <a:off x="5430" y="1992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7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52267" name="Text Box 62"/>
            <p:cNvSpPr txBox="1"/>
            <p:nvPr/>
          </p:nvSpPr>
          <p:spPr>
            <a:xfrm>
              <a:off x="3877" y="2716"/>
              <a:ext cx="28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latin typeface="Times New Roman" panose="02020603050405020304" pitchFamily="18" charset="0"/>
                </a:rPr>
                <a:t>5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52268" name="Text Box 64"/>
            <p:cNvSpPr txBox="1"/>
            <p:nvPr/>
          </p:nvSpPr>
          <p:spPr>
            <a:xfrm>
              <a:off x="3888" y="1737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2269" name="Text Box 66"/>
            <p:cNvSpPr txBox="1"/>
            <p:nvPr/>
          </p:nvSpPr>
          <p:spPr>
            <a:xfrm>
              <a:off x="4195" y="1344"/>
              <a:ext cx="754" cy="135"/>
            </a:xfrm>
            <a:prstGeom prst="rect">
              <a:avLst/>
            </a:prstGeom>
            <a:solidFill>
              <a:srgbClr val="FFFFCC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2238" name="Text Box 68"/>
          <p:cNvSpPr txBox="1"/>
          <p:nvPr/>
        </p:nvSpPr>
        <p:spPr>
          <a:xfrm>
            <a:off x="533400" y="381000"/>
            <a:ext cx="4267200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简单冲量过程</a:t>
            </a:r>
            <a:r>
              <a:rPr lang="en-US" altLang="zh-CN" sz="2800" b="1">
                <a:latin typeface="Times New Roman" panose="02020603050405020304" pitchFamily="18" charset="0"/>
              </a:rPr>
              <a:t>S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*</a:t>
            </a:r>
            <a:r>
              <a:rPr lang="zh-CN" altLang="en-US" sz="2800" b="1" dirty="0">
                <a:latin typeface="Times New Roman" panose="02020603050405020304" pitchFamily="18" charset="0"/>
              </a:rPr>
              <a:t>的稳定性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10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1000"/>
                                        <p:tgtEl>
                                          <p:spTgt spid="60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6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1000"/>
                                        <p:tgtEl>
                                          <p:spTgt spid="6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1000"/>
                                        <p:tgtEl>
                                          <p:spTgt spid="6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0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0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0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0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8" dur="10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1000"/>
                                        <p:tgtEl>
                                          <p:spTgt spid="6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60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60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6" grpId="0"/>
      <p:bldP spid="60436" grpId="0" animBg="1"/>
      <p:bldP spid="60440" grpId="0" animBg="1"/>
      <p:bldP spid="6048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4"/>
          <p:cNvSpPr txBox="1"/>
          <p:nvPr/>
        </p:nvSpPr>
        <p:spPr>
          <a:xfrm>
            <a:off x="1547813" y="620713"/>
            <a:ext cx="5670550" cy="579437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社会经济系统的冲量过程</a:t>
            </a:r>
          </a:p>
        </p:txBody>
      </p:sp>
      <p:sp>
        <p:nvSpPr>
          <p:cNvPr id="97285" name="Text Box 5"/>
          <p:cNvSpPr txBox="1"/>
          <p:nvPr/>
        </p:nvSpPr>
        <p:spPr>
          <a:xfrm>
            <a:off x="323850" y="2205038"/>
            <a:ext cx="8496300" cy="1138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定性与定量相结合的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系统分析</a:t>
            </a:r>
            <a:r>
              <a:rPr lang="zh-CN" altLang="en-US" sz="2800" b="1" dirty="0">
                <a:latin typeface="宋体" panose="02010600030101010101" pitchFamily="2" charset="-122"/>
              </a:rPr>
              <a:t>方法</a:t>
            </a:r>
            <a:r>
              <a:rPr lang="en-US" altLang="zh-CN" sz="2800" b="1">
                <a:latin typeface="宋体" panose="02010600030101010101" pitchFamily="2" charset="-122"/>
              </a:rPr>
              <a:t>, </a:t>
            </a:r>
            <a:r>
              <a:rPr lang="zh-CN" altLang="en-US" sz="2800" b="1" dirty="0">
                <a:latin typeface="宋体" panose="02010600030101010101" pitchFamily="2" charset="-122"/>
              </a:rPr>
              <a:t>适合社会经济</a:t>
            </a: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  领域中复杂大系统的宏观研究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97286" name="Text Box 6"/>
          <p:cNvSpPr txBox="1"/>
          <p:nvPr/>
        </p:nvSpPr>
        <p:spPr>
          <a:xfrm>
            <a:off x="323850" y="3429000"/>
            <a:ext cx="8424863" cy="1138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解决问题的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关键</a:t>
            </a:r>
            <a:r>
              <a:rPr lang="zh-CN" altLang="en-US" sz="2800" b="1" dirty="0">
                <a:latin typeface="宋体" panose="02010600030101010101" pitchFamily="2" charset="-122"/>
              </a:rPr>
              <a:t>是确定研究的对象及其范围</a:t>
            </a:r>
            <a:r>
              <a:rPr lang="en-US" altLang="zh-CN" sz="2800" b="1">
                <a:latin typeface="宋体" panose="02010600030101010101" pitchFamily="2" charset="-122"/>
              </a:rPr>
              <a:t>(</a:t>
            </a:r>
            <a:r>
              <a:rPr lang="zh-CN" altLang="en-US" sz="2800" b="1" dirty="0">
                <a:latin typeface="宋体" panose="02010600030101010101" pitchFamily="2" charset="-122"/>
              </a:rPr>
              <a:t>系统</a:t>
            </a: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  的边界</a:t>
            </a:r>
            <a:r>
              <a:rPr lang="en-US" altLang="zh-CN" sz="2800" b="1">
                <a:latin typeface="宋体" panose="02010600030101010101" pitchFamily="2" charset="-122"/>
              </a:rPr>
              <a:t>), </a:t>
            </a:r>
            <a:r>
              <a:rPr lang="zh-CN" altLang="en-US" sz="2800" b="1" dirty="0">
                <a:latin typeface="宋体" panose="02010600030101010101" pitchFamily="2" charset="-122"/>
              </a:rPr>
              <a:t>以及各因素间的相互关系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97287" name="Text Box 7"/>
          <p:cNvSpPr txBox="1"/>
          <p:nvPr/>
        </p:nvSpPr>
        <p:spPr>
          <a:xfrm>
            <a:off x="395288" y="1484313"/>
            <a:ext cx="84248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以能源系统为例介绍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有向图</a:t>
            </a:r>
            <a:r>
              <a:rPr lang="zh-CN" altLang="en-US" sz="2800" b="1" dirty="0">
                <a:latin typeface="Times New Roman" panose="02020603050405020304" pitchFamily="18" charset="0"/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冲量过程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的建模方法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97288" name="Text Box 8"/>
          <p:cNvSpPr txBox="1"/>
          <p:nvPr/>
        </p:nvSpPr>
        <p:spPr>
          <a:xfrm>
            <a:off x="323850" y="4724400"/>
            <a:ext cx="8424863" cy="1138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冲量过程模型及预测是简单的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但是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稳定性</a:t>
            </a:r>
            <a:r>
              <a:rPr lang="zh-CN" altLang="en-US" sz="2800" b="1" dirty="0">
                <a:latin typeface="Times New Roman" panose="02020603050405020304" pitchFamily="18" charset="0"/>
              </a:rPr>
              <a:t>判断及</a:t>
            </a: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   其改进比较复杂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53255" name="Picture 9" descr="j01498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438" y="476250"/>
            <a:ext cx="836612" cy="669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97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9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9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5" grpId="0" animBg="1"/>
      <p:bldP spid="97286" grpId="0" animBg="1"/>
      <p:bldP spid="97287" grpId="0"/>
      <p:bldP spid="9728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2"/>
          <p:cNvSpPr txBox="1"/>
          <p:nvPr/>
        </p:nvSpPr>
        <p:spPr>
          <a:xfrm>
            <a:off x="468313" y="3213100"/>
            <a:ext cx="6840537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投票评选优秀电影、优秀运动员、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 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82947" name="Text Box 3"/>
          <p:cNvSpPr txBox="1"/>
          <p:nvPr/>
        </p:nvSpPr>
        <p:spPr>
          <a:xfrm>
            <a:off x="468313" y="3933825"/>
            <a:ext cx="72009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根据投票情况决定选举结果</a:t>
            </a:r>
            <a:r>
              <a:rPr lang="en-US" altLang="zh-CN" sz="2800" b="1">
                <a:latin typeface="Times New Roman" panose="02020603050405020304" pitchFamily="18" charset="0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选举规则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82948" name="Text Box 4"/>
          <p:cNvSpPr txBox="1"/>
          <p:nvPr/>
        </p:nvSpPr>
        <p:spPr>
          <a:xfrm>
            <a:off x="466725" y="4581525"/>
            <a:ext cx="83534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怎样的选举规则才是公正的？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公正的标准</a:t>
            </a:r>
            <a:r>
              <a:rPr lang="zh-CN" altLang="en-US" sz="2800" b="1" dirty="0">
                <a:latin typeface="Times New Roman" panose="02020603050405020304" pitchFamily="18" charset="0"/>
              </a:rPr>
              <a:t>是什么？</a:t>
            </a:r>
          </a:p>
        </p:txBody>
      </p:sp>
      <p:sp>
        <p:nvSpPr>
          <p:cNvPr id="54277" name="Text Box 5"/>
          <p:cNvSpPr txBox="1"/>
          <p:nvPr/>
        </p:nvSpPr>
        <p:spPr>
          <a:xfrm>
            <a:off x="1476375" y="476250"/>
            <a:ext cx="5903913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8.5 </a:t>
            </a:r>
            <a:r>
              <a:rPr lang="en-US" altLang="zh-CN" sz="32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存在公正的选举规则吗</a:t>
            </a:r>
          </a:p>
        </p:txBody>
      </p:sp>
      <p:sp>
        <p:nvSpPr>
          <p:cNvPr id="82950" name="Text Box 6"/>
          <p:cNvSpPr txBox="1"/>
          <p:nvPr/>
        </p:nvSpPr>
        <p:spPr>
          <a:xfrm>
            <a:off x="395288" y="1268413"/>
            <a:ext cx="2232025" cy="579437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背景与问题</a:t>
            </a:r>
          </a:p>
        </p:txBody>
      </p:sp>
      <p:sp>
        <p:nvSpPr>
          <p:cNvPr id="82951" name="Text Box 7"/>
          <p:cNvSpPr txBox="1"/>
          <p:nvPr/>
        </p:nvSpPr>
        <p:spPr>
          <a:xfrm>
            <a:off x="468313" y="5286375"/>
            <a:ext cx="741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在普遍赞同的标准下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是否存在</a:t>
            </a:r>
            <a:r>
              <a:rPr lang="zh-CN" altLang="en-US" sz="2800" b="1" dirty="0">
                <a:latin typeface="Times New Roman" panose="02020603050405020304" pitchFamily="18" charset="0"/>
              </a:rPr>
              <a:t>公正的规则？</a:t>
            </a:r>
          </a:p>
        </p:txBody>
      </p:sp>
      <p:sp>
        <p:nvSpPr>
          <p:cNvPr id="82952" name="Text Box 8"/>
          <p:cNvSpPr txBox="1"/>
          <p:nvPr/>
        </p:nvSpPr>
        <p:spPr>
          <a:xfrm>
            <a:off x="468313" y="1951038"/>
            <a:ext cx="7920037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群体决策</a:t>
            </a:r>
            <a:r>
              <a:rPr lang="en-US" altLang="zh-CN" sz="2800" b="1">
                <a:latin typeface="Times New Roman" panose="02020603050405020304" pitchFamily="18" charset="0"/>
              </a:rPr>
              <a:t>——</a:t>
            </a:r>
            <a:r>
              <a:rPr lang="zh-CN" altLang="en-US" sz="2800" b="1" dirty="0">
                <a:latin typeface="Times New Roman" panose="02020603050405020304" pitchFamily="18" charset="0"/>
              </a:rPr>
              <a:t>社会经济领域中用民意调查的办法决定人民大众对某些事件、政策、人物的倾向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10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10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10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10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/>
      <p:bldP spid="82947" grpId="0"/>
      <p:bldP spid="82948" grpId="0"/>
      <p:bldP spid="82950" grpId="0" animBg="1"/>
      <p:bldP spid="82951" grpId="0"/>
      <p:bldP spid="8295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Line 2"/>
          <p:cNvSpPr/>
          <p:nvPr/>
        </p:nvSpPr>
        <p:spPr>
          <a:xfrm>
            <a:off x="1143000" y="2971800"/>
            <a:ext cx="1524000" cy="0"/>
          </a:xfrm>
          <a:prstGeom prst="line">
            <a:avLst/>
          </a:prstGeom>
          <a:ln w="9525">
            <a:noFill/>
          </a:ln>
        </p:spPr>
      </p:sp>
      <p:sp>
        <p:nvSpPr>
          <p:cNvPr id="55299" name="Line 3"/>
          <p:cNvSpPr/>
          <p:nvPr/>
        </p:nvSpPr>
        <p:spPr>
          <a:xfrm>
            <a:off x="1143000" y="3048000"/>
            <a:ext cx="1600200" cy="0"/>
          </a:xfrm>
          <a:prstGeom prst="line">
            <a:avLst/>
          </a:prstGeom>
          <a:ln w="9525">
            <a:noFill/>
          </a:ln>
        </p:spPr>
      </p:sp>
      <p:sp>
        <p:nvSpPr>
          <p:cNvPr id="55300" name="Line 4"/>
          <p:cNvSpPr/>
          <p:nvPr/>
        </p:nvSpPr>
        <p:spPr>
          <a:xfrm>
            <a:off x="1143000" y="2971800"/>
            <a:ext cx="1524000" cy="0"/>
          </a:xfrm>
          <a:prstGeom prst="line">
            <a:avLst/>
          </a:prstGeom>
          <a:ln w="9525">
            <a:noFill/>
          </a:ln>
        </p:spPr>
      </p:sp>
      <p:sp>
        <p:nvSpPr>
          <p:cNvPr id="83973" name="Text Box 5"/>
          <p:cNvSpPr txBox="1"/>
          <p:nvPr/>
        </p:nvSpPr>
        <p:spPr>
          <a:xfrm>
            <a:off x="1979613" y="692150"/>
            <a:ext cx="5545137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</a:rPr>
              <a:t>={1, 2,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,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}~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选民集合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&gt;1)</a:t>
            </a:r>
          </a:p>
        </p:txBody>
      </p:sp>
      <p:sp>
        <p:nvSpPr>
          <p:cNvPr id="83974" name="Text Box 6"/>
          <p:cNvSpPr txBox="1"/>
          <p:nvPr/>
        </p:nvSpPr>
        <p:spPr>
          <a:xfrm>
            <a:off x="1979613" y="1412875"/>
            <a:ext cx="6840537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={</a:t>
            </a:r>
            <a:r>
              <a:rPr lang="en-US" altLang="zh-CN" sz="2800" b="1" i="1">
                <a:latin typeface="Times New Roman" panose="02020603050405020304" pitchFamily="18" charset="0"/>
              </a:rPr>
              <a:t>x, y, z, u, v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 ~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位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候选人集合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&gt;1)</a:t>
            </a:r>
          </a:p>
        </p:txBody>
      </p:sp>
      <p:sp>
        <p:nvSpPr>
          <p:cNvPr id="83975" name="Text Box 7"/>
          <p:cNvSpPr txBox="1"/>
          <p:nvPr/>
        </p:nvSpPr>
        <p:spPr>
          <a:xfrm>
            <a:off x="611188" y="2205038"/>
            <a:ext cx="7775575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选民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(</a:t>
            </a:r>
            <a:r>
              <a:rPr lang="en-US" altLang="zh-CN" sz="2800" b="1" i="1">
                <a:latin typeface="Times New Roman" panose="02020603050405020304" pitchFamily="18" charset="0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  <a:r>
              <a:rPr lang="zh-CN" altLang="en-US" sz="2800" b="1" dirty="0">
                <a:latin typeface="Times New Roman" panose="02020603050405020304" pitchFamily="18" charset="0"/>
              </a:rPr>
              <a:t>对全体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候选人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投票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~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的一个排序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endParaRPr lang="en-US" altLang="zh-CN" sz="2800" b="1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3976" name="Text Box 8"/>
          <p:cNvSpPr txBox="1"/>
          <p:nvPr/>
        </p:nvSpPr>
        <p:spPr>
          <a:xfrm>
            <a:off x="611188" y="2924175"/>
            <a:ext cx="7775575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根据全体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候选人的投票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>
                <a:latin typeface="Times New Roman" panose="02020603050405020304" pitchFamily="18" charset="0"/>
              </a:rPr>
              <a:t>1, 2,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,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确定群体</a:t>
            </a:r>
            <a:r>
              <a:rPr lang="zh-CN" altLang="en-US" sz="2800" b="1" dirty="0">
                <a:latin typeface="Times New Roman" panose="02020603050405020304" pitchFamily="18" charset="0"/>
              </a:rPr>
              <a:t>对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的一个排序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选举结果</a:t>
            </a:r>
            <a:r>
              <a:rPr lang="zh-CN" altLang="en-US" sz="2800" b="1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83977" name="Text Box 9"/>
          <p:cNvSpPr txBox="1"/>
          <p:nvPr/>
        </p:nvSpPr>
        <p:spPr>
          <a:xfrm>
            <a:off x="611188" y="4149725"/>
            <a:ext cx="7272337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选举规则：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>
                <a:latin typeface="Times New Roman" panose="02020603050405020304" pitchFamily="18" charset="0"/>
              </a:rPr>
              <a:t>1, 2,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,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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的对应关系（群体一致函数）</a:t>
            </a:r>
          </a:p>
        </p:txBody>
      </p:sp>
      <p:sp>
        <p:nvSpPr>
          <p:cNvPr id="55306" name="Text Box 10"/>
          <p:cNvSpPr txBox="1"/>
          <p:nvPr/>
        </p:nvSpPr>
        <p:spPr>
          <a:xfrm>
            <a:off x="749300" y="620713"/>
            <a:ext cx="1085850" cy="126047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</a:rPr>
              <a:t>选举规则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8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3" grpId="0"/>
      <p:bldP spid="83974" grpId="0"/>
      <p:bldP spid="83975" grpId="0"/>
      <p:bldP spid="83976" grpId="0"/>
      <p:bldP spid="8397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/>
          <p:nvPr/>
        </p:nvSpPr>
        <p:spPr>
          <a:xfrm>
            <a:off x="533400" y="609600"/>
            <a:ext cx="1951038" cy="67627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</a:rPr>
              <a:t>选举规则</a:t>
            </a:r>
          </a:p>
        </p:txBody>
      </p:sp>
      <p:sp>
        <p:nvSpPr>
          <p:cNvPr id="84995" name="Text Box 3"/>
          <p:cNvSpPr txBox="1"/>
          <p:nvPr/>
        </p:nvSpPr>
        <p:spPr>
          <a:xfrm>
            <a:off x="468313" y="1484313"/>
            <a:ext cx="8064500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排序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>
                <a:latin typeface="Times New Roman" panose="02020603050405020304" pitchFamily="18" charset="0"/>
              </a:rPr>
              <a:t>1, 2,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,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和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应满足的性质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公理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zh-CN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4996" name="Text Box 4"/>
          <p:cNvSpPr txBox="1"/>
          <p:nvPr/>
        </p:nvSpPr>
        <p:spPr>
          <a:xfrm>
            <a:off x="539750" y="2247900"/>
            <a:ext cx="7056438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ct val="50000"/>
              </a:spcBef>
              <a:buAutoNum type="arabicPeriod"/>
            </a:pP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对于任意的 </a:t>
            </a:r>
            <a:r>
              <a:rPr lang="en-US" altLang="zh-CN" sz="2800" b="1" i="1">
                <a:latin typeface="Times New Roman" panose="02020603050405020304" pitchFamily="18" charset="0"/>
              </a:rPr>
              <a:t>x, y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800" b="1" i="1">
                <a:latin typeface="Times New Roman" panose="02020603050405020304" pitchFamily="18" charset="0"/>
              </a:rPr>
              <a:t>A, </a:t>
            </a:r>
            <a:r>
              <a:rPr lang="zh-CN" altLang="en-US" sz="2800" b="1" dirty="0">
                <a:latin typeface="Times New Roman" panose="02020603050405020304" pitchFamily="18" charset="0"/>
              </a:rPr>
              <a:t>或者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优于</a:t>
            </a:r>
            <a:r>
              <a:rPr lang="en-US" altLang="zh-CN" sz="2800" b="1" i="1">
                <a:latin typeface="Times New Roman" panose="02020603050405020304" pitchFamily="18" charset="0"/>
              </a:rPr>
              <a:t>y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x&gt;y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), </a:t>
            </a:r>
            <a:r>
              <a:rPr lang="zh-CN" altLang="en-US" sz="2800" b="1" dirty="0">
                <a:latin typeface="Times New Roman" panose="02020603050405020304" pitchFamily="18" charset="0"/>
              </a:rPr>
              <a:t>或者 </a:t>
            </a:r>
            <a:r>
              <a:rPr lang="en-US" altLang="zh-CN" sz="2800" b="1" i="1"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等同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y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x~y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), </a:t>
            </a:r>
            <a:r>
              <a:rPr lang="zh-CN" altLang="en-US" sz="2800" b="1" dirty="0">
                <a:latin typeface="Times New Roman" panose="02020603050405020304" pitchFamily="18" charset="0"/>
              </a:rPr>
              <a:t>或者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劣于</a:t>
            </a:r>
            <a:r>
              <a:rPr lang="en-US" altLang="zh-CN" sz="2800" b="1" i="1">
                <a:latin typeface="Times New Roman" panose="02020603050405020304" pitchFamily="18" charset="0"/>
              </a:rPr>
              <a:t>y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x&lt;y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).</a:t>
            </a:r>
          </a:p>
        </p:txBody>
      </p:sp>
      <p:sp>
        <p:nvSpPr>
          <p:cNvPr id="84997" name="Text Box 5"/>
          <p:cNvSpPr txBox="1"/>
          <p:nvPr/>
        </p:nvSpPr>
        <p:spPr>
          <a:xfrm>
            <a:off x="468313" y="4321175"/>
            <a:ext cx="7775575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2. 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对于任意的 </a:t>
            </a:r>
            <a:r>
              <a:rPr lang="en-US" altLang="zh-CN" sz="2800" b="1" i="1">
                <a:latin typeface="Times New Roman" panose="02020603050405020304" pitchFamily="18" charset="0"/>
              </a:rPr>
              <a:t>x, y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z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800" b="1" i="1">
                <a:latin typeface="Times New Roman" panose="02020603050405020304" pitchFamily="18" charset="0"/>
              </a:rPr>
              <a:t>A,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</a:t>
            </a:r>
            <a:r>
              <a:rPr lang="en-US" altLang="zh-CN" sz="2800" b="1" i="1">
                <a:latin typeface="Times New Roman" panose="02020603050405020304" pitchFamily="18" charset="0"/>
              </a:rPr>
              <a:t>y, y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z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</a:rPr>
              <a:t>z</a:t>
            </a:r>
            <a:r>
              <a:rPr lang="zh-CN" altLang="en-US" sz="2800" b="1" dirty="0">
                <a:latin typeface="Times New Roman" panose="02020603050405020304" pitchFamily="18" charset="0"/>
              </a:rPr>
              <a:t>； 且仅当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=</a:t>
            </a:r>
            <a:r>
              <a:rPr lang="en-US" altLang="zh-CN" sz="2800" b="1" i="1">
                <a:latin typeface="Times New Roman" panose="02020603050405020304" pitchFamily="18" charset="0"/>
              </a:rPr>
              <a:t>y, y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z</a:t>
            </a:r>
            <a:r>
              <a:rPr lang="zh-CN" altLang="en-US" sz="2800" b="1" dirty="0">
                <a:latin typeface="Times New Roman" panose="02020603050405020304" pitchFamily="18" charset="0"/>
              </a:rPr>
              <a:t>时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才有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</a:rPr>
              <a:t>z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  <a:endParaRPr lang="en-US" altLang="zh-CN" sz="2800" b="1" i="1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998" name="Rectangle 6"/>
          <p:cNvSpPr/>
          <p:nvPr/>
        </p:nvSpPr>
        <p:spPr>
          <a:xfrm>
            <a:off x="5795963" y="4941888"/>
            <a:ext cx="19446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~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可传递性</a:t>
            </a:r>
          </a:p>
        </p:txBody>
      </p:sp>
      <p:pic>
        <p:nvPicPr>
          <p:cNvPr id="56327" name="Picture 7" descr="j02938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013" y="549275"/>
            <a:ext cx="685800" cy="720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5001" name="Rectangle 9"/>
          <p:cNvSpPr/>
          <p:nvPr/>
        </p:nvSpPr>
        <p:spPr>
          <a:xfrm>
            <a:off x="971550" y="3500438"/>
            <a:ext cx="6337300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 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表示</a:t>
            </a:r>
            <a:r>
              <a:rPr lang="zh-CN" altLang="en-US" sz="2800" b="1" dirty="0">
                <a:latin typeface="Times New Roman" panose="02020603050405020304" pitchFamily="18" charset="0"/>
              </a:rPr>
              <a:t>优于或等同，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表示</a:t>
            </a:r>
            <a:r>
              <a:rPr lang="zh-CN" altLang="en-US" sz="2800" b="1" dirty="0">
                <a:latin typeface="Times New Roman" panose="02020603050405020304" pitchFamily="18" charset="0"/>
              </a:rPr>
              <a:t>劣于或等同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8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8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84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8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/>
      <p:bldP spid="84996" grpId="0"/>
      <p:bldP spid="84997" grpId="0" build="allAtOnce"/>
      <p:bldP spid="84998" grpId="0"/>
      <p:bldP spid="8500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/>
          <p:nvPr/>
        </p:nvSpPr>
        <p:spPr>
          <a:xfrm>
            <a:off x="533400" y="609600"/>
            <a:ext cx="4902200" cy="67627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</a:rPr>
              <a:t>选举规则</a:t>
            </a:r>
            <a:r>
              <a:rPr lang="en-US" altLang="zh-CN" sz="3200" b="1">
                <a:latin typeface="Times New Roman" panose="02020603050405020304" pitchFamily="18" charset="0"/>
              </a:rPr>
              <a:t>1 ~ </a:t>
            </a:r>
            <a:r>
              <a:rPr lang="zh-CN" altLang="en-US" sz="3200" b="1" dirty="0">
                <a:latin typeface="Times New Roman" panose="02020603050405020304" pitchFamily="18" charset="0"/>
              </a:rPr>
              <a:t>简单多数规则</a:t>
            </a:r>
          </a:p>
        </p:txBody>
      </p:sp>
      <p:sp>
        <p:nvSpPr>
          <p:cNvPr id="86019" name="Text Box 3"/>
          <p:cNvSpPr txBox="1"/>
          <p:nvPr/>
        </p:nvSpPr>
        <p:spPr>
          <a:xfrm>
            <a:off x="754063" y="1341438"/>
            <a:ext cx="7489825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当且仅当超过半数的选民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zh-CN" altLang="en-US" sz="2800" b="1" dirty="0">
                <a:latin typeface="Times New Roman" panose="02020603050405020304" pitchFamily="18" charset="0"/>
              </a:rPr>
              <a:t>投票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中有</a:t>
            </a:r>
            <a:r>
              <a:rPr lang="en-US" altLang="zh-CN" sz="2800" b="1" i="1">
                <a:latin typeface="Times New Roman" panose="02020603050405020304" pitchFamily="18" charset="0"/>
              </a:rPr>
              <a:t>x&gt;y</a:t>
            </a:r>
            <a:r>
              <a:rPr lang="zh-CN" altLang="en-US" sz="2800" b="1" dirty="0">
                <a:latin typeface="Times New Roman" panose="02020603050405020304" pitchFamily="18" charset="0"/>
              </a:rPr>
              <a:t>时，选举结果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中才有</a:t>
            </a:r>
            <a:r>
              <a:rPr lang="en-US" altLang="zh-CN" sz="2800" b="1" i="1">
                <a:latin typeface="Times New Roman" panose="02020603050405020304" pitchFamily="18" charset="0"/>
              </a:rPr>
              <a:t>x&gt;y </a:t>
            </a: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</a:rPr>
              <a:t>&lt;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</a:t>
            </a:r>
            <a:r>
              <a:rPr lang="en-US" altLang="zh-CN" sz="2800" b="1">
                <a:latin typeface="Times New Roman" panose="02020603050405020304" pitchFamily="18" charset="0"/>
              </a:rPr>
              <a:t>~</a:t>
            </a:r>
            <a:r>
              <a:rPr lang="zh-CN" altLang="en-US" sz="2800" b="1" dirty="0">
                <a:latin typeface="Times New Roman" panose="02020603050405020304" pitchFamily="18" charset="0"/>
              </a:rPr>
              <a:t>有类似关系）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86020" name="Text Box 4"/>
          <p:cNvSpPr txBox="1"/>
          <p:nvPr/>
        </p:nvSpPr>
        <p:spPr>
          <a:xfrm>
            <a:off x="755650" y="2565400"/>
            <a:ext cx="7489825" cy="1052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1.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en-US" altLang="zh-CN" sz="2800" b="1" i="1">
                <a:latin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</a:rPr>
              <a:t>={1, 2, 3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对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={</a:t>
            </a:r>
            <a:r>
              <a:rPr lang="en-US" altLang="zh-CN" sz="2800" b="1" i="1">
                <a:latin typeface="Times New Roman" panose="02020603050405020304" pitchFamily="18" charset="0"/>
              </a:rPr>
              <a:t>x, y, u, v</a:t>
            </a:r>
            <a:r>
              <a:rPr lang="en-US" altLang="zh-CN" sz="2800" b="1">
                <a:latin typeface="Times New Roman" panose="02020603050405020304" pitchFamily="18" charset="0"/>
              </a:rPr>
              <a:t>}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的投票为</a:t>
            </a:r>
          </a:p>
          <a:p>
            <a:pPr>
              <a:spcBef>
                <a:spcPct val="25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x&gt;y&gt;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u~v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y&gt;x&gt;u&gt;v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3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x~u</a:t>
            </a:r>
            <a:r>
              <a:rPr lang="en-US" altLang="zh-CN" sz="2800" b="1" i="1">
                <a:latin typeface="Times New Roman" panose="02020603050405020304" pitchFamily="18" charset="0"/>
              </a:rPr>
              <a:t>&gt;v&gt;y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</a:t>
            </a:r>
          </a:p>
        </p:txBody>
      </p:sp>
      <p:sp>
        <p:nvSpPr>
          <p:cNvPr id="86021" name="Rectangle 5"/>
          <p:cNvSpPr/>
          <p:nvPr/>
        </p:nvSpPr>
        <p:spPr>
          <a:xfrm>
            <a:off x="2339975" y="4005263"/>
            <a:ext cx="36004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</a:rPr>
              <a:t>选举结果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x&gt;y&gt;u&gt;v</a:t>
            </a:r>
          </a:p>
        </p:txBody>
      </p:sp>
      <p:grpSp>
        <p:nvGrpSpPr>
          <p:cNvPr id="86022" name="Group 6"/>
          <p:cNvGrpSpPr/>
          <p:nvPr/>
        </p:nvGrpSpPr>
        <p:grpSpPr>
          <a:xfrm>
            <a:off x="3635375" y="3573463"/>
            <a:ext cx="2881313" cy="530225"/>
            <a:chOff x="2290" y="2341"/>
            <a:chExt cx="1683" cy="334"/>
          </a:xfrm>
        </p:grpSpPr>
        <p:sp>
          <p:nvSpPr>
            <p:cNvPr id="57355" name="AutoShape 7"/>
            <p:cNvSpPr/>
            <p:nvPr/>
          </p:nvSpPr>
          <p:spPr>
            <a:xfrm>
              <a:off x="2290" y="2432"/>
              <a:ext cx="306" cy="181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7356" name="Rectangle 8"/>
            <p:cNvSpPr/>
            <p:nvPr/>
          </p:nvSpPr>
          <p:spPr>
            <a:xfrm>
              <a:off x="2699" y="2341"/>
              <a:ext cx="1274" cy="3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简单多数规则</a:t>
              </a:r>
            </a:p>
          </p:txBody>
        </p:sp>
      </p:grpSp>
      <p:sp>
        <p:nvSpPr>
          <p:cNvPr id="86025" name="Text Box 9"/>
          <p:cNvSpPr txBox="1"/>
          <p:nvPr/>
        </p:nvSpPr>
        <p:spPr>
          <a:xfrm>
            <a:off x="827088" y="5661025"/>
            <a:ext cx="1873250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使用方便</a:t>
            </a:r>
          </a:p>
        </p:txBody>
      </p:sp>
      <p:sp>
        <p:nvSpPr>
          <p:cNvPr id="86026" name="Text Box 10"/>
          <p:cNvSpPr txBox="1"/>
          <p:nvPr/>
        </p:nvSpPr>
        <p:spPr>
          <a:xfrm>
            <a:off x="3643313" y="5691188"/>
            <a:ext cx="4176712" cy="51911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不满足排序的可传递性！</a:t>
            </a:r>
          </a:p>
        </p:txBody>
      </p:sp>
      <p:sp>
        <p:nvSpPr>
          <p:cNvPr id="86027" name="Text Box 11"/>
          <p:cNvSpPr txBox="1"/>
          <p:nvPr/>
        </p:nvSpPr>
        <p:spPr>
          <a:xfrm>
            <a:off x="684213" y="4508500"/>
            <a:ext cx="7920037" cy="1052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2 .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x&gt;y&gt;z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y&gt;z&gt;x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3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z&gt;x&gt;y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</a:p>
          <a:p>
            <a:pPr>
              <a:spcBef>
                <a:spcPct val="25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按规则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应有 </a:t>
            </a:r>
            <a:r>
              <a:rPr lang="en-US" altLang="zh-CN" sz="2800" b="1" i="1">
                <a:latin typeface="Times New Roman" panose="02020603050405020304" pitchFamily="18" charset="0"/>
              </a:rPr>
              <a:t>x&gt;y, y&gt;z, z&gt;x</a:t>
            </a:r>
          </a:p>
        </p:txBody>
      </p:sp>
      <p:sp>
        <p:nvSpPr>
          <p:cNvPr id="86028" name="Rectangle 12"/>
          <p:cNvSpPr/>
          <p:nvPr/>
        </p:nvSpPr>
        <p:spPr>
          <a:xfrm>
            <a:off x="5148263" y="5033963"/>
            <a:ext cx="28082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b="1" i="1">
                <a:latin typeface="Times New Roman" panose="02020603050405020304" pitchFamily="18" charset="0"/>
              </a:rPr>
              <a:t>~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破坏可传递性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8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8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86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86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86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86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1000"/>
                                        <p:tgtEl>
                                          <p:spTgt spid="8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1000"/>
                                        <p:tgtEl>
                                          <p:spTgt spid="8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/>
      <p:bldP spid="86020" grpId="0"/>
      <p:bldP spid="86021" grpId="0"/>
      <p:bldP spid="86025" grpId="0" animBg="1"/>
      <p:bldP spid="86026" grpId="0" animBg="1"/>
      <p:bldP spid="8602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/>
          <p:nvPr/>
        </p:nvSpPr>
        <p:spPr>
          <a:xfrm>
            <a:off x="533400" y="609600"/>
            <a:ext cx="6775450" cy="67627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</a:rPr>
              <a:t>选举规则</a:t>
            </a:r>
            <a:r>
              <a:rPr lang="en-US" altLang="zh-CN" sz="3200" b="1">
                <a:latin typeface="Times New Roman" panose="02020603050405020304" pitchFamily="18" charset="0"/>
              </a:rPr>
              <a:t>2 ~ </a:t>
            </a:r>
            <a:r>
              <a:rPr lang="zh-CN" altLang="en-US" sz="3200" b="1" dirty="0">
                <a:latin typeface="Times New Roman" panose="02020603050405020304" pitchFamily="18" charset="0"/>
              </a:rPr>
              <a:t>记分规则（</a:t>
            </a:r>
            <a:r>
              <a:rPr lang="en-US" altLang="zh-CN" sz="3200" b="1" err="1">
                <a:latin typeface="Times New Roman" panose="02020603050405020304" pitchFamily="18" charset="0"/>
              </a:rPr>
              <a:t>Borda</a:t>
            </a:r>
            <a:r>
              <a:rPr lang="zh-CN" altLang="en-US" sz="3200" b="1" dirty="0">
                <a:latin typeface="Times New Roman" panose="02020603050405020304" pitchFamily="18" charset="0"/>
              </a:rPr>
              <a:t>数）</a:t>
            </a:r>
          </a:p>
        </p:txBody>
      </p:sp>
      <p:sp>
        <p:nvSpPr>
          <p:cNvPr id="87043" name="Text Box 3"/>
          <p:cNvSpPr txBox="1"/>
          <p:nvPr/>
        </p:nvSpPr>
        <p:spPr>
          <a:xfrm>
            <a:off x="754063" y="1341438"/>
            <a:ext cx="7489825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i="1" err="1">
                <a:latin typeface="Times New Roman" panose="02020603050405020304" pitchFamily="18" charset="0"/>
              </a:rPr>
              <a:t>B</a:t>
            </a:r>
            <a:r>
              <a:rPr lang="en-US" altLang="zh-CN" sz="2800" b="1" i="1" baseline="-25000" err="1">
                <a:latin typeface="Times New Roman" panose="02020603050405020304" pitchFamily="18" charset="0"/>
              </a:rPr>
              <a:t>i</a:t>
            </a:r>
            <a:r>
              <a:rPr lang="en-US" altLang="zh-CN" sz="2800" b="1" err="1">
                <a:latin typeface="Times New Roman" panose="02020603050405020304" pitchFamily="18" charset="0"/>
              </a:rPr>
              <a:t>(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)~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中</a:t>
            </a:r>
            <a:r>
              <a:rPr lang="zh-CN" altLang="en-US" sz="2800" b="1" dirty="0">
                <a:latin typeface="Times New Roman" panose="02020603050405020304" pitchFamily="18" charset="0"/>
              </a:rPr>
              <a:t>劣于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的候选人数目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>
                <a:latin typeface="Times New Roman" panose="02020603050405020304" pitchFamily="18" charset="0"/>
              </a:rPr>
              <a:t>1, 2,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,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87044" name="Text Box 4"/>
          <p:cNvSpPr txBox="1"/>
          <p:nvPr/>
        </p:nvSpPr>
        <p:spPr>
          <a:xfrm>
            <a:off x="684213" y="4005263"/>
            <a:ext cx="7489825" cy="10525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1.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en-US" altLang="zh-CN" sz="2800" b="1" i="1">
                <a:latin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</a:rPr>
              <a:t>={1, 2, 3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对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={</a:t>
            </a:r>
            <a:r>
              <a:rPr lang="en-US" altLang="zh-CN" sz="2800" b="1" i="1">
                <a:latin typeface="Times New Roman" panose="02020603050405020304" pitchFamily="18" charset="0"/>
              </a:rPr>
              <a:t>x, y, u, v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的投票为</a:t>
            </a:r>
          </a:p>
          <a:p>
            <a:pPr>
              <a:spcBef>
                <a:spcPct val="25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x&gt;y&gt;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u~v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y&gt;x&gt;u&gt;v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3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x~u</a:t>
            </a:r>
            <a:r>
              <a:rPr lang="en-US" altLang="zh-CN" sz="2800" b="1" i="1">
                <a:latin typeface="Times New Roman" panose="02020603050405020304" pitchFamily="18" charset="0"/>
              </a:rPr>
              <a:t>&gt;v&gt;y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</a:t>
            </a:r>
          </a:p>
        </p:txBody>
      </p:sp>
      <p:sp>
        <p:nvSpPr>
          <p:cNvPr id="87045" name="Rectangle 5"/>
          <p:cNvSpPr/>
          <p:nvPr/>
        </p:nvSpPr>
        <p:spPr>
          <a:xfrm>
            <a:off x="3887788" y="2205038"/>
            <a:ext cx="5364162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~ x </a:t>
            </a:r>
            <a:r>
              <a:rPr lang="zh-CN" altLang="en-US" sz="2800" b="1" dirty="0">
                <a:latin typeface="Times New Roman" panose="02020603050405020304" pitchFamily="18" charset="0"/>
              </a:rPr>
              <a:t>在选举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中的分数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称</a:t>
            </a:r>
            <a:r>
              <a:rPr lang="en-US" altLang="zh-CN" sz="2800" b="1" err="1">
                <a:latin typeface="Times New Roman" panose="02020603050405020304" pitchFamily="18" charset="0"/>
              </a:rPr>
              <a:t>Borda</a:t>
            </a:r>
            <a:r>
              <a:rPr lang="zh-CN" altLang="en-US" sz="2800" b="1" dirty="0">
                <a:latin typeface="Times New Roman" panose="02020603050405020304" pitchFamily="18" charset="0"/>
              </a:rPr>
              <a:t>数</a:t>
            </a:r>
          </a:p>
        </p:txBody>
      </p:sp>
      <p:graphicFrame>
        <p:nvGraphicFramePr>
          <p:cNvPr id="87046" name="Object 6"/>
          <p:cNvGraphicFramePr>
            <a:graphicFrameLocks noChangeAspect="1"/>
          </p:cNvGraphicFramePr>
          <p:nvPr/>
        </p:nvGraphicFramePr>
        <p:xfrm>
          <a:off x="684213" y="1989138"/>
          <a:ext cx="3170237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0" r:id="rId3" imgW="989965" imgH="431800" progId="Equation.3">
                  <p:embed/>
                </p:oleObj>
              </mc:Choice>
              <mc:Fallback>
                <p:oleObj r:id="rId3" imgW="989965" imgH="4318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4213" y="1989138"/>
                        <a:ext cx="3170237" cy="1193800"/>
                      </a:xfrm>
                      <a:prstGeom prst="rect">
                        <a:avLst/>
                      </a:prstGeom>
                      <a:solidFill>
                        <a:srgbClr val="FFCC66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7" name="Text Box 7"/>
          <p:cNvSpPr txBox="1"/>
          <p:nvPr/>
        </p:nvSpPr>
        <p:spPr>
          <a:xfrm>
            <a:off x="755650" y="3213100"/>
            <a:ext cx="7489825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当且仅当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B</a:t>
            </a:r>
            <a:r>
              <a:rPr lang="en-US" altLang="zh-CN" sz="2800" b="1" err="1">
                <a:latin typeface="Times New Roman" panose="02020603050405020304" pitchFamily="18" charset="0"/>
              </a:rPr>
              <a:t>(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)&gt; 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B</a:t>
            </a:r>
            <a:r>
              <a:rPr lang="en-US" altLang="zh-CN" sz="2800" b="1" err="1">
                <a:latin typeface="Times New Roman" panose="02020603050405020304" pitchFamily="18" charset="0"/>
              </a:rPr>
              <a:t>(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时，选举结果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中才有</a:t>
            </a:r>
            <a:r>
              <a:rPr lang="en-US" altLang="zh-CN" sz="2800" b="1" i="1">
                <a:latin typeface="Times New Roman" panose="02020603050405020304" pitchFamily="18" charset="0"/>
              </a:rPr>
              <a:t>x&gt;y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87048" name="Text Box 8"/>
          <p:cNvSpPr txBox="1"/>
          <p:nvPr/>
        </p:nvSpPr>
        <p:spPr>
          <a:xfrm>
            <a:off x="684213" y="5157788"/>
            <a:ext cx="7489825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)=3, 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)=2, 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)=2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B</a:t>
            </a:r>
            <a:r>
              <a:rPr lang="en-US" altLang="zh-CN" sz="2800" b="1" err="1">
                <a:latin typeface="Times New Roman" panose="02020603050405020304" pitchFamily="18" charset="0"/>
              </a:rPr>
              <a:t>(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)=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87049" name="Rectangle 9"/>
          <p:cNvSpPr/>
          <p:nvPr/>
        </p:nvSpPr>
        <p:spPr>
          <a:xfrm>
            <a:off x="755650" y="5805488"/>
            <a:ext cx="3619500" cy="6048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b="1" i="1" err="1">
                <a:latin typeface="Times New Roman" panose="02020603050405020304" pitchFamily="18" charset="0"/>
              </a:rPr>
              <a:t>B</a:t>
            </a:r>
            <a:r>
              <a:rPr lang="en-US" altLang="zh-CN" sz="2800" b="1" err="1">
                <a:latin typeface="Times New Roman" panose="02020603050405020304" pitchFamily="18" charset="0"/>
              </a:rPr>
              <a:t>(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</a:rPr>
              <a:t>)=5, 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B</a:t>
            </a:r>
            <a:r>
              <a:rPr lang="en-US" altLang="zh-CN" sz="2800" b="1" err="1">
                <a:latin typeface="Times New Roman" panose="02020603050405020304" pitchFamily="18" charset="0"/>
              </a:rPr>
              <a:t>(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u</a:t>
            </a:r>
            <a:r>
              <a:rPr lang="en-US" altLang="zh-CN" sz="2800" b="1">
                <a:latin typeface="Times New Roman" panose="02020603050405020304" pitchFamily="18" charset="0"/>
              </a:rPr>
              <a:t>)=3, 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B</a:t>
            </a:r>
            <a:r>
              <a:rPr lang="en-US" altLang="zh-CN" sz="2800" b="1" err="1">
                <a:latin typeface="Times New Roman" panose="02020603050405020304" pitchFamily="18" charset="0"/>
              </a:rPr>
              <a:t>(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v</a:t>
            </a:r>
            <a:r>
              <a:rPr lang="en-US" altLang="zh-CN" sz="2800" b="1">
                <a:latin typeface="Times New Roman" panose="02020603050405020304" pitchFamily="18" charset="0"/>
              </a:rPr>
              <a:t>)=1</a:t>
            </a:r>
            <a:endParaRPr lang="en-US" altLang="zh-CN" sz="2800" b="1" i="1">
              <a:latin typeface="Times New Roman" panose="02020603050405020304" pitchFamily="18" charset="0"/>
            </a:endParaRPr>
          </a:p>
        </p:txBody>
      </p:sp>
      <p:sp>
        <p:nvSpPr>
          <p:cNvPr id="87051" name="Rectangle 11"/>
          <p:cNvSpPr/>
          <p:nvPr/>
        </p:nvSpPr>
        <p:spPr>
          <a:xfrm>
            <a:off x="4787900" y="5876925"/>
            <a:ext cx="1870075" cy="519113"/>
          </a:xfrm>
          <a:prstGeom prst="rect">
            <a:avLst/>
          </a:prstGeom>
          <a:solidFill>
            <a:srgbClr val="CCFF66"/>
          </a:solidFill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x&gt;y&gt;u&gt;v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8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87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87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1000"/>
                                        <p:tgtEl>
                                          <p:spTgt spid="8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/>
      <p:bldP spid="87044" grpId="0"/>
      <p:bldP spid="87045" grpId="0"/>
      <p:bldP spid="87047" grpId="0"/>
      <p:bldP spid="87048" grpId="0"/>
      <p:bldP spid="87049" grpId="0"/>
      <p:bldP spid="8705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/>
          <p:nvPr/>
        </p:nvSpPr>
        <p:spPr>
          <a:xfrm>
            <a:off x="684213" y="1268413"/>
            <a:ext cx="698341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2.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x&gt;y&gt;z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y&gt;z&gt;x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3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z&gt;x&gt;y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</a:p>
        </p:txBody>
      </p:sp>
      <p:sp>
        <p:nvSpPr>
          <p:cNvPr id="59395" name="Text Box 3"/>
          <p:cNvSpPr txBox="1"/>
          <p:nvPr/>
        </p:nvSpPr>
        <p:spPr>
          <a:xfrm>
            <a:off x="533400" y="476250"/>
            <a:ext cx="6775450" cy="67627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</a:rPr>
              <a:t>选举规则</a:t>
            </a:r>
            <a:r>
              <a:rPr lang="en-US" altLang="zh-CN" sz="3200" b="1">
                <a:latin typeface="Times New Roman" panose="02020603050405020304" pitchFamily="18" charset="0"/>
              </a:rPr>
              <a:t>2 ~ </a:t>
            </a:r>
            <a:r>
              <a:rPr lang="zh-CN" altLang="en-US" sz="3200" b="1" dirty="0">
                <a:latin typeface="Times New Roman" panose="02020603050405020304" pitchFamily="18" charset="0"/>
              </a:rPr>
              <a:t>记分规则（</a:t>
            </a:r>
            <a:r>
              <a:rPr lang="en-US" altLang="zh-CN" sz="3200" b="1" i="1" err="1">
                <a:latin typeface="Times New Roman" panose="02020603050405020304" pitchFamily="18" charset="0"/>
              </a:rPr>
              <a:t>Borda</a:t>
            </a:r>
            <a:r>
              <a:rPr lang="zh-CN" altLang="en-US" sz="3200" b="1" dirty="0">
                <a:latin typeface="Times New Roman" panose="02020603050405020304" pitchFamily="18" charset="0"/>
              </a:rPr>
              <a:t>数）</a:t>
            </a:r>
          </a:p>
        </p:txBody>
      </p:sp>
      <p:sp>
        <p:nvSpPr>
          <p:cNvPr id="88068" name="Rectangle 4"/>
          <p:cNvSpPr/>
          <p:nvPr/>
        </p:nvSpPr>
        <p:spPr>
          <a:xfrm>
            <a:off x="1619250" y="1844675"/>
            <a:ext cx="4968875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b="1" i="1" err="1">
                <a:latin typeface="Times New Roman" panose="02020603050405020304" pitchFamily="18" charset="0"/>
              </a:rPr>
              <a:t>B</a:t>
            </a:r>
            <a:r>
              <a:rPr lang="en-US" altLang="zh-CN" sz="2800" b="1" err="1">
                <a:latin typeface="Times New Roman" panose="02020603050405020304" pitchFamily="18" charset="0"/>
              </a:rPr>
              <a:t>(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)=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B</a:t>
            </a:r>
            <a:r>
              <a:rPr lang="en-US" altLang="zh-CN" sz="2800" b="1" err="1">
                <a:latin typeface="Times New Roman" panose="02020603050405020304" pitchFamily="18" charset="0"/>
              </a:rPr>
              <a:t>(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</a:rPr>
              <a:t>)=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B</a:t>
            </a:r>
            <a:r>
              <a:rPr lang="en-US" altLang="zh-CN" sz="2800" b="1" err="1">
                <a:latin typeface="Times New Roman" panose="02020603050405020304" pitchFamily="18" charset="0"/>
              </a:rPr>
              <a:t>(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z</a:t>
            </a:r>
            <a:r>
              <a:rPr lang="en-US" altLang="zh-CN" sz="2800" b="1">
                <a:latin typeface="Times New Roman" panose="02020603050405020304" pitchFamily="18" charset="0"/>
              </a:rPr>
              <a:t>)=3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x~y~z</a:t>
            </a:r>
            <a:endParaRPr lang="en-US" altLang="zh-CN" sz="2800" b="1" i="1">
              <a:latin typeface="Times New Roman" panose="02020603050405020304" pitchFamily="18" charset="0"/>
            </a:endParaRPr>
          </a:p>
        </p:txBody>
      </p:sp>
      <p:sp>
        <p:nvSpPr>
          <p:cNvPr id="88069" name="Rectangle 5"/>
          <p:cNvSpPr/>
          <p:nvPr/>
        </p:nvSpPr>
        <p:spPr>
          <a:xfrm>
            <a:off x="395288" y="2565400"/>
            <a:ext cx="8424862" cy="519113"/>
          </a:xfrm>
          <a:prstGeom prst="rect">
            <a:avLst/>
          </a:prstGeom>
          <a:solidFill>
            <a:srgbClr val="CCFF66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</a:rPr>
              <a:t>问题：投票时只要求顺序，而记分规则考虑优劣程度</a:t>
            </a:r>
          </a:p>
        </p:txBody>
      </p:sp>
      <p:sp>
        <p:nvSpPr>
          <p:cNvPr id="88070" name="Text Box 6"/>
          <p:cNvSpPr txBox="1"/>
          <p:nvPr/>
        </p:nvSpPr>
        <p:spPr>
          <a:xfrm>
            <a:off x="684213" y="3429000"/>
            <a:ext cx="7704137" cy="1052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</a:t>
            </a:r>
            <a:r>
              <a:rPr lang="en-US" altLang="zh-CN" sz="2800" b="1" i="1">
                <a:latin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</a:rPr>
              <a:t>={1, 2, 3, 4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对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={</a:t>
            </a:r>
            <a:r>
              <a:rPr lang="en-US" altLang="zh-CN" sz="2800" b="1" i="1">
                <a:latin typeface="Times New Roman" panose="02020603050405020304" pitchFamily="18" charset="0"/>
              </a:rPr>
              <a:t>x, y, z, u, v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的投票为</a:t>
            </a:r>
          </a:p>
          <a:p>
            <a:pPr>
              <a:spcBef>
                <a:spcPct val="25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3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x&gt;y&gt;z&gt;u&gt;v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4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y&gt;z&gt;u&gt;v&gt;x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</a:p>
        </p:txBody>
      </p:sp>
      <p:sp>
        <p:nvSpPr>
          <p:cNvPr id="88071" name="Text Box 7"/>
          <p:cNvSpPr txBox="1"/>
          <p:nvPr/>
        </p:nvSpPr>
        <p:spPr>
          <a:xfrm>
            <a:off x="827088" y="5219700"/>
            <a:ext cx="7705725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两种规则都有不满意之处，是否有适合所有情况的、公正合理的规则？</a:t>
            </a:r>
          </a:p>
        </p:txBody>
      </p:sp>
      <p:sp>
        <p:nvSpPr>
          <p:cNvPr id="88072" name="Rectangle 8"/>
          <p:cNvSpPr/>
          <p:nvPr/>
        </p:nvSpPr>
        <p:spPr>
          <a:xfrm>
            <a:off x="5148263" y="5815013"/>
            <a:ext cx="2447925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公理化方法！</a:t>
            </a:r>
          </a:p>
        </p:txBody>
      </p:sp>
      <p:sp>
        <p:nvSpPr>
          <p:cNvPr id="88073" name="Rectangle 9"/>
          <p:cNvSpPr/>
          <p:nvPr/>
        </p:nvSpPr>
        <p:spPr>
          <a:xfrm>
            <a:off x="755650" y="4559300"/>
            <a:ext cx="33813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B</a:t>
            </a:r>
            <a:r>
              <a:rPr lang="en-US" altLang="zh-CN" sz="2800" b="1" err="1">
                <a:latin typeface="Times New Roman" panose="02020603050405020304" pitchFamily="18" charset="0"/>
              </a:rPr>
              <a:t>(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)=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12, 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B</a:t>
            </a:r>
            <a:r>
              <a:rPr lang="en-US" altLang="zh-CN" sz="2800" b="1" err="1">
                <a:latin typeface="Times New Roman" panose="02020603050405020304" pitchFamily="18" charset="0"/>
              </a:rPr>
              <a:t>(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</a:rPr>
              <a:t>)=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88074" name="Rectangle 10"/>
          <p:cNvSpPr/>
          <p:nvPr/>
        </p:nvSpPr>
        <p:spPr>
          <a:xfrm>
            <a:off x="5292725" y="4581525"/>
            <a:ext cx="34480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</a:rPr>
              <a:t>~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违反多数人的意愿</a:t>
            </a:r>
          </a:p>
        </p:txBody>
      </p:sp>
      <p:sp>
        <p:nvSpPr>
          <p:cNvPr id="88076" name="Rectangle 12"/>
          <p:cNvSpPr/>
          <p:nvPr/>
        </p:nvSpPr>
        <p:spPr>
          <a:xfrm>
            <a:off x="4140200" y="4565650"/>
            <a:ext cx="11620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i="1">
                <a:latin typeface="Times New Roman" panose="02020603050405020304" pitchFamily="18" charset="0"/>
              </a:rPr>
              <a:t>y&gt;x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8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8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8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1000"/>
                                        <p:tgtEl>
                                          <p:spTgt spid="8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10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88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88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6" grpId="0"/>
      <p:bldP spid="88068" grpId="0"/>
      <p:bldP spid="88069" grpId="0" animBg="1"/>
      <p:bldP spid="88070" grpId="0"/>
      <p:bldP spid="88071" grpId="0"/>
      <p:bldP spid="88072" grpId="0"/>
      <p:bldP spid="88073" grpId="0"/>
      <p:bldP spid="88074" grpId="0"/>
      <p:bldP spid="8807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/>
          <p:cNvSpPr txBox="1"/>
          <p:nvPr/>
        </p:nvSpPr>
        <p:spPr>
          <a:xfrm>
            <a:off x="539750" y="549275"/>
            <a:ext cx="7416800" cy="579438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latin typeface="Times New Roman" panose="02020603050405020304" pitchFamily="18" charset="0"/>
              </a:rPr>
              <a:t>Arrow</a:t>
            </a:r>
            <a:r>
              <a:rPr lang="zh-CN" altLang="en-US" sz="3200" b="1" dirty="0">
                <a:latin typeface="Times New Roman" panose="02020603050405020304" pitchFamily="18" charset="0"/>
              </a:rPr>
              <a:t>公理：选举规则应满足的</a:t>
            </a:r>
            <a:r>
              <a:rPr lang="en-US" altLang="zh-CN" sz="3200" b="1">
                <a:latin typeface="Times New Roman" panose="02020603050405020304" pitchFamily="18" charset="0"/>
              </a:rPr>
              <a:t>5</a:t>
            </a:r>
            <a:r>
              <a:rPr lang="zh-CN" altLang="en-US" sz="3200" b="1" dirty="0">
                <a:latin typeface="Times New Roman" panose="02020603050405020304" pitchFamily="18" charset="0"/>
              </a:rPr>
              <a:t>条公理</a:t>
            </a:r>
          </a:p>
        </p:txBody>
      </p:sp>
      <p:sp>
        <p:nvSpPr>
          <p:cNvPr id="89091" name="Text Box 3"/>
          <p:cNvSpPr txBox="1"/>
          <p:nvPr/>
        </p:nvSpPr>
        <p:spPr>
          <a:xfrm>
            <a:off x="109538" y="1268413"/>
            <a:ext cx="43910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公理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1  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（选举的完全性）</a:t>
            </a:r>
          </a:p>
        </p:txBody>
      </p:sp>
      <p:sp>
        <p:nvSpPr>
          <p:cNvPr id="89092" name="Text Box 4"/>
          <p:cNvSpPr txBox="1"/>
          <p:nvPr/>
        </p:nvSpPr>
        <p:spPr>
          <a:xfrm>
            <a:off x="107950" y="1844675"/>
            <a:ext cx="76327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选民对候选人的任何一种排序都是允许的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89093" name="Text Box 5"/>
          <p:cNvSpPr txBox="1"/>
          <p:nvPr/>
        </p:nvSpPr>
        <p:spPr>
          <a:xfrm>
            <a:off x="107950" y="2622550"/>
            <a:ext cx="70564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公理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2  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（选举结果与选民投票的正相关性）</a:t>
            </a:r>
          </a:p>
        </p:txBody>
      </p:sp>
      <p:sp>
        <p:nvSpPr>
          <p:cNvPr id="89094" name="Text Box 6"/>
          <p:cNvSpPr txBox="1"/>
          <p:nvPr/>
        </p:nvSpPr>
        <p:spPr>
          <a:xfrm>
            <a:off x="71438" y="3068638"/>
            <a:ext cx="8964612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对于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>
                <a:latin typeface="Times New Roman" panose="02020603050405020304" pitchFamily="18" charset="0"/>
              </a:rPr>
              <a:t>1, 2,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,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lang="zh-CN" altLang="en-US" sz="2800" dirty="0">
                <a:latin typeface="Times New Roman" panose="02020603050405020304" pitchFamily="18" charset="0"/>
              </a:rPr>
              <a:t>设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x&gt;y.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´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>
                <a:latin typeface="Times New Roman" panose="02020603050405020304" pitchFamily="18" charset="0"/>
              </a:rPr>
              <a:t>1, 2,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,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中</a:t>
            </a:r>
            <a:r>
              <a:rPr lang="en-US" altLang="zh-CN" sz="2800" b="1" i="1">
                <a:latin typeface="Times New Roman" panose="02020603050405020304" pitchFamily="18" charset="0"/>
              </a:rPr>
              <a:t>x, y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的排序相同或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</a:rPr>
              <a:t>提前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其他候选人排序不变，则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´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x&gt;y.</a:t>
            </a:r>
          </a:p>
        </p:txBody>
      </p:sp>
      <p:sp>
        <p:nvSpPr>
          <p:cNvPr id="89095" name="Text Box 7"/>
          <p:cNvSpPr txBox="1"/>
          <p:nvPr/>
        </p:nvSpPr>
        <p:spPr>
          <a:xfrm>
            <a:off x="107950" y="4508500"/>
            <a:ext cx="52562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公理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3 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（无关候选人的独立性）</a:t>
            </a:r>
          </a:p>
        </p:txBody>
      </p:sp>
      <p:sp>
        <p:nvSpPr>
          <p:cNvPr id="89096" name="Text Box 8"/>
          <p:cNvSpPr txBox="1"/>
          <p:nvPr/>
        </p:nvSpPr>
        <p:spPr>
          <a:xfrm>
            <a:off x="107950" y="5013325"/>
            <a:ext cx="8964613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设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的子集，若在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´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>
                <a:latin typeface="Times New Roman" panose="02020603050405020304" pitchFamily="18" charset="0"/>
              </a:rPr>
              <a:t>1, 2,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,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中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内候选人的</a:t>
            </a:r>
            <a:r>
              <a:rPr lang="zh-CN" altLang="en-US" sz="2800" b="1" dirty="0">
                <a:latin typeface="Times New Roman" panose="02020603050405020304" pitchFamily="18" charset="0"/>
              </a:rPr>
              <a:t>排序相同，则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´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中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内候选人的</a:t>
            </a:r>
            <a:r>
              <a:rPr lang="zh-CN" altLang="en-US" sz="2800" b="1" dirty="0">
                <a:latin typeface="Times New Roman" panose="02020603050405020304" pitchFamily="18" charset="0"/>
              </a:rPr>
              <a:t>排序也相同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60425" name="Picture 9" descr="j02938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013" y="549275"/>
            <a:ext cx="685800" cy="720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8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8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/>
      <p:bldP spid="89092" grpId="0"/>
      <p:bldP spid="89093" grpId="0"/>
      <p:bldP spid="89094" grpId="0"/>
      <p:bldP spid="89095" grpId="0"/>
      <p:bldP spid="8909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/>
          <p:nvPr/>
        </p:nvSpPr>
        <p:spPr>
          <a:xfrm>
            <a:off x="539750" y="549275"/>
            <a:ext cx="7416800" cy="579438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latin typeface="Times New Roman" panose="02020603050405020304" pitchFamily="18" charset="0"/>
              </a:rPr>
              <a:t>Arrow</a:t>
            </a:r>
            <a:r>
              <a:rPr lang="zh-CN" altLang="en-US" sz="3200" b="1" dirty="0">
                <a:latin typeface="Times New Roman" panose="02020603050405020304" pitchFamily="18" charset="0"/>
              </a:rPr>
              <a:t>公理：选举规则应满足的</a:t>
            </a:r>
            <a:r>
              <a:rPr lang="en-US" altLang="zh-CN" sz="3200" b="1">
                <a:latin typeface="Times New Roman" panose="02020603050405020304" pitchFamily="18" charset="0"/>
              </a:rPr>
              <a:t>5</a:t>
            </a:r>
            <a:r>
              <a:rPr lang="zh-CN" altLang="en-US" sz="3200" b="1" dirty="0">
                <a:latin typeface="Times New Roman" panose="02020603050405020304" pitchFamily="18" charset="0"/>
              </a:rPr>
              <a:t>条公理</a:t>
            </a:r>
          </a:p>
        </p:txBody>
      </p:sp>
      <p:sp>
        <p:nvSpPr>
          <p:cNvPr id="90115" name="Text Box 3"/>
          <p:cNvSpPr txBox="1"/>
          <p:nvPr/>
        </p:nvSpPr>
        <p:spPr>
          <a:xfrm>
            <a:off x="469900" y="1196975"/>
            <a:ext cx="43910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公理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4  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（选民的主权性）</a:t>
            </a:r>
          </a:p>
        </p:txBody>
      </p:sp>
      <p:sp>
        <p:nvSpPr>
          <p:cNvPr id="90116" name="Text Box 4"/>
          <p:cNvSpPr txBox="1"/>
          <p:nvPr/>
        </p:nvSpPr>
        <p:spPr>
          <a:xfrm>
            <a:off x="468313" y="1701800"/>
            <a:ext cx="80645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对任意候选人</a:t>
            </a:r>
            <a:r>
              <a:rPr lang="en-US" altLang="zh-CN" sz="2800" b="1" i="1">
                <a:latin typeface="Times New Roman" panose="02020603050405020304" pitchFamily="18" charset="0"/>
              </a:rPr>
              <a:t>x, y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latin typeface="Times New Roman" panose="02020603050405020304" pitchFamily="18" charset="0"/>
              </a:rPr>
              <a:t>存在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>
                <a:latin typeface="Times New Roman" panose="02020603050405020304" pitchFamily="18" charset="0"/>
              </a:rPr>
              <a:t>1, 2,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,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使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x&gt;y.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90117" name="Text Box 5"/>
          <p:cNvSpPr txBox="1"/>
          <p:nvPr/>
        </p:nvSpPr>
        <p:spPr>
          <a:xfrm>
            <a:off x="468313" y="2276475"/>
            <a:ext cx="68405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公理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  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（选民的非独裁性）</a:t>
            </a:r>
          </a:p>
        </p:txBody>
      </p:sp>
      <p:sp>
        <p:nvSpPr>
          <p:cNvPr id="90118" name="Text Box 6"/>
          <p:cNvSpPr txBox="1"/>
          <p:nvPr/>
        </p:nvSpPr>
        <p:spPr>
          <a:xfrm>
            <a:off x="468313" y="2708275"/>
            <a:ext cx="7777162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不存在这样的选民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，使</a:t>
            </a:r>
            <a:r>
              <a:rPr lang="zh-CN" altLang="en-US" sz="2800" b="1" dirty="0">
                <a:latin typeface="Times New Roman" panose="02020603050405020304" pitchFamily="18" charset="0"/>
              </a:rPr>
              <a:t>对任意候选人</a:t>
            </a:r>
            <a:r>
              <a:rPr lang="en-US" altLang="zh-CN" sz="2800" b="1" i="1">
                <a:latin typeface="Times New Roman" panose="02020603050405020304" pitchFamily="18" charset="0"/>
              </a:rPr>
              <a:t>x, y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只要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x&gt;y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选举规则</a:t>
            </a:r>
            <a:r>
              <a:rPr lang="zh-CN" altLang="en-US" sz="2800" b="1" dirty="0">
                <a:latin typeface="Times New Roman" panose="02020603050405020304" pitchFamily="18" charset="0"/>
              </a:rPr>
              <a:t>就确定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x&gt;y.</a:t>
            </a:r>
            <a:endParaRPr lang="en-US" altLang="zh-CN" sz="2800" b="1" i="1">
              <a:latin typeface="Times New Roman" panose="02020603050405020304" pitchFamily="18" charset="0"/>
              <a:ea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90119" name="Text Box 7"/>
          <p:cNvSpPr txBox="1"/>
          <p:nvPr/>
        </p:nvSpPr>
        <p:spPr>
          <a:xfrm>
            <a:off x="539750" y="3933825"/>
            <a:ext cx="7416800" cy="579438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</a:rPr>
              <a:t>讨论满足上述</a:t>
            </a:r>
            <a:r>
              <a:rPr lang="en-US" altLang="zh-CN" sz="3200" b="1">
                <a:latin typeface="Times New Roman" panose="02020603050405020304" pitchFamily="18" charset="0"/>
              </a:rPr>
              <a:t>5</a:t>
            </a:r>
            <a:r>
              <a:rPr lang="zh-CN" altLang="en-US" sz="3200" b="1" dirty="0">
                <a:latin typeface="Times New Roman" panose="02020603050405020304" pitchFamily="18" charset="0"/>
              </a:rPr>
              <a:t>条公理的选举规则</a:t>
            </a:r>
          </a:p>
        </p:txBody>
      </p:sp>
      <p:sp>
        <p:nvSpPr>
          <p:cNvPr id="90120" name="Text Box 8"/>
          <p:cNvSpPr txBox="1"/>
          <p:nvPr/>
        </p:nvSpPr>
        <p:spPr>
          <a:xfrm>
            <a:off x="250825" y="4581525"/>
            <a:ext cx="8353425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当只有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位候选人时</a:t>
            </a:r>
            <a:r>
              <a:rPr lang="zh-CN" altLang="en-US" sz="2800" b="1" dirty="0">
                <a:latin typeface="Times New Roman" panose="02020603050405020304" pitchFamily="18" charset="0"/>
              </a:rPr>
              <a:t>简单多数规则满足</a:t>
            </a:r>
            <a:r>
              <a:rPr lang="en-US" altLang="zh-CN" sz="2800" b="1">
                <a:latin typeface="Times New Roman" panose="02020603050405020304" pitchFamily="18" charset="0"/>
              </a:rPr>
              <a:t>Arrow</a:t>
            </a:r>
            <a:r>
              <a:rPr lang="zh-CN" altLang="en-US" sz="2800" b="1" dirty="0">
                <a:latin typeface="Times New Roman" panose="02020603050405020304" pitchFamily="18" charset="0"/>
              </a:rPr>
              <a:t>公理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90121" name="Text Box 9"/>
          <p:cNvSpPr txBox="1"/>
          <p:nvPr/>
        </p:nvSpPr>
        <p:spPr>
          <a:xfrm>
            <a:off x="252413" y="5272088"/>
            <a:ext cx="8572500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至少有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位候选人时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是否存在</a:t>
            </a:r>
            <a:r>
              <a:rPr lang="zh-CN" altLang="en-US" sz="2800" b="1" dirty="0">
                <a:latin typeface="Times New Roman" panose="02020603050405020304" pitchFamily="18" charset="0"/>
              </a:rPr>
              <a:t>满足</a:t>
            </a:r>
            <a:r>
              <a:rPr lang="en-US" altLang="zh-CN" sz="2800" b="1">
                <a:latin typeface="Times New Roman" panose="02020603050405020304" pitchFamily="18" charset="0"/>
              </a:rPr>
              <a:t>Arrow</a:t>
            </a:r>
            <a:r>
              <a:rPr lang="zh-CN" altLang="en-US" sz="2800" b="1" dirty="0">
                <a:latin typeface="Times New Roman" panose="02020603050405020304" pitchFamily="18" charset="0"/>
              </a:rPr>
              <a:t>公理的规则</a:t>
            </a:r>
            <a:r>
              <a:rPr lang="en-US" altLang="zh-CN" sz="2800" b="1">
                <a:latin typeface="Times New Roman" panose="02020603050405020304" pitchFamily="18" charset="0"/>
              </a:rPr>
              <a:t>?</a:t>
            </a:r>
          </a:p>
        </p:txBody>
      </p:sp>
      <p:pic>
        <p:nvPicPr>
          <p:cNvPr id="61450" name="Picture 10" descr="j02938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013" y="549275"/>
            <a:ext cx="685800" cy="720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10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9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9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/>
      <p:bldP spid="90116" grpId="0"/>
      <p:bldP spid="90117" grpId="0"/>
      <p:bldP spid="90118" grpId="0"/>
      <p:bldP spid="90119" grpId="0" animBg="1"/>
      <p:bldP spid="90120" grpId="0"/>
      <p:bldP spid="901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/>
          <p:cNvSpPr txBox="1"/>
          <p:nvPr/>
        </p:nvSpPr>
        <p:spPr>
          <a:xfrm>
            <a:off x="468313" y="546100"/>
            <a:ext cx="2232025" cy="579438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latin typeface="Times New Roman" panose="02020603050405020304" pitchFamily="18" charset="0"/>
              </a:rPr>
              <a:t>Arrow</a:t>
            </a:r>
            <a:r>
              <a:rPr lang="zh-CN" altLang="en-US" sz="3200" b="1" dirty="0">
                <a:latin typeface="Times New Roman" panose="02020603050405020304" pitchFamily="18" charset="0"/>
              </a:rPr>
              <a:t>定理</a:t>
            </a:r>
          </a:p>
        </p:txBody>
      </p:sp>
      <p:sp>
        <p:nvSpPr>
          <p:cNvPr id="91139" name="Text Box 3"/>
          <p:cNvSpPr txBox="1"/>
          <p:nvPr/>
        </p:nvSpPr>
        <p:spPr>
          <a:xfrm>
            <a:off x="2987675" y="549275"/>
            <a:ext cx="5688013" cy="604838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当至少有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位候选人时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不存在满足</a:t>
            </a:r>
          </a:p>
        </p:txBody>
      </p:sp>
      <p:sp>
        <p:nvSpPr>
          <p:cNvPr id="91140" name="Text Box 4"/>
          <p:cNvSpPr txBox="1"/>
          <p:nvPr/>
        </p:nvSpPr>
        <p:spPr>
          <a:xfrm>
            <a:off x="5148263" y="1196975"/>
            <a:ext cx="3095625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对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公理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提出置疑</a:t>
            </a:r>
          </a:p>
        </p:txBody>
      </p:sp>
      <p:graphicFrame>
        <p:nvGraphicFramePr>
          <p:cNvPr id="91141" name="Object 5"/>
          <p:cNvGraphicFramePr>
            <a:graphicFrameLocks noGrp="1" noChangeAspect="1"/>
          </p:cNvGraphicFramePr>
          <p:nvPr>
            <p:ph sz="half" idx="1"/>
          </p:nvPr>
        </p:nvGraphicFramePr>
        <p:xfrm>
          <a:off x="323850" y="1771650"/>
          <a:ext cx="244792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7" r:id="rId3" imgW="977900" imgH="508000" progId="Equation.3">
                  <p:embed/>
                </p:oleObj>
              </mc:Choice>
              <mc:Fallback>
                <p:oleObj r:id="rId3" imgW="977900" imgH="508000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3850" y="1771650"/>
                        <a:ext cx="2447925" cy="1152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2" name="Object 6"/>
          <p:cNvGraphicFramePr>
            <a:graphicFrameLocks noChangeAspect="1"/>
          </p:cNvGraphicFramePr>
          <p:nvPr/>
        </p:nvGraphicFramePr>
        <p:xfrm>
          <a:off x="323850" y="2949575"/>
          <a:ext cx="24892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8" r:id="rId5" imgW="990600" imgH="508000" progId="Equation.3">
                  <p:embed/>
                </p:oleObj>
              </mc:Choice>
              <mc:Fallback>
                <p:oleObj r:id="rId5" imgW="990600" imgH="50800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3850" y="2949575"/>
                        <a:ext cx="2489200" cy="105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3" name="Object 7"/>
          <p:cNvGraphicFramePr>
            <a:graphicFrameLocks noChangeAspect="1"/>
          </p:cNvGraphicFramePr>
          <p:nvPr/>
        </p:nvGraphicFramePr>
        <p:xfrm>
          <a:off x="347663" y="4071938"/>
          <a:ext cx="239395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9" r:id="rId7" imgW="990600" imgH="508000" progId="Equation.3">
                  <p:embed/>
                </p:oleObj>
              </mc:Choice>
              <mc:Fallback>
                <p:oleObj r:id="rId7" imgW="990600" imgH="508000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7663" y="4071938"/>
                        <a:ext cx="2393950" cy="1012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4" name="Object 8"/>
          <p:cNvGraphicFramePr>
            <a:graphicFrameLocks noChangeAspect="1"/>
          </p:cNvGraphicFramePr>
          <p:nvPr/>
        </p:nvGraphicFramePr>
        <p:xfrm>
          <a:off x="377825" y="5373688"/>
          <a:ext cx="239395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0" r:id="rId9" imgW="990600" imgH="508000" progId="Equation.3">
                  <p:embed/>
                </p:oleObj>
              </mc:Choice>
              <mc:Fallback>
                <p:oleObj r:id="rId9" imgW="990600" imgH="508000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7825" y="5373688"/>
                        <a:ext cx="2393950" cy="1012825"/>
                      </a:xfrm>
                      <a:prstGeom prst="rect">
                        <a:avLst/>
                      </a:prstGeom>
                      <a:solidFill>
                        <a:srgbClr val="FFCC66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5" name="Object 9"/>
          <p:cNvGraphicFramePr>
            <a:graphicFrameLocks noChangeAspect="1"/>
          </p:cNvGraphicFramePr>
          <p:nvPr/>
        </p:nvGraphicFramePr>
        <p:xfrm>
          <a:off x="3009900" y="2060575"/>
          <a:ext cx="217805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1" r:id="rId11" imgW="901065" imgH="228600" progId="Equation.3">
                  <p:embed/>
                </p:oleObj>
              </mc:Choice>
              <mc:Fallback>
                <p:oleObj r:id="rId11" imgW="901065" imgH="228600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09900" y="2060575"/>
                        <a:ext cx="2178050" cy="455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6" name="Object 10"/>
          <p:cNvGraphicFramePr>
            <a:graphicFrameLocks noChangeAspect="1"/>
          </p:cNvGraphicFramePr>
          <p:nvPr/>
        </p:nvGraphicFramePr>
        <p:xfrm>
          <a:off x="2987675" y="3146425"/>
          <a:ext cx="223996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2" r:id="rId13" imgW="927100" imgH="228600" progId="Equation.3">
                  <p:embed/>
                </p:oleObj>
              </mc:Choice>
              <mc:Fallback>
                <p:oleObj r:id="rId13" imgW="927100" imgH="228600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87675" y="3146425"/>
                        <a:ext cx="2239963" cy="455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7" name="Object 11"/>
          <p:cNvGraphicFramePr>
            <a:graphicFrameLocks noChangeAspect="1"/>
          </p:cNvGraphicFramePr>
          <p:nvPr/>
        </p:nvGraphicFramePr>
        <p:xfrm>
          <a:off x="2995613" y="4221163"/>
          <a:ext cx="220821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3" r:id="rId15" imgW="914400" imgH="228600" progId="Equation.3">
                  <p:embed/>
                </p:oleObj>
              </mc:Choice>
              <mc:Fallback>
                <p:oleObj r:id="rId15" imgW="914400" imgH="228600" progId="Equation.3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95613" y="4221163"/>
                        <a:ext cx="2208212" cy="455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8" name="Object 12"/>
          <p:cNvGraphicFramePr>
            <a:graphicFrameLocks noGrp="1" noChangeAspect="1"/>
          </p:cNvGraphicFramePr>
          <p:nvPr>
            <p:ph sz="half" idx="2"/>
          </p:nvPr>
        </p:nvGraphicFramePr>
        <p:xfrm>
          <a:off x="5364163" y="2065338"/>
          <a:ext cx="363537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4" r:id="rId17" imgW="1828800" imgH="228600" progId="Equation.3">
                  <p:embed/>
                </p:oleObj>
              </mc:Choice>
              <mc:Fallback>
                <p:oleObj r:id="rId17" imgW="1828800" imgH="22860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364163" y="2065338"/>
                        <a:ext cx="3635375" cy="455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9" name="Object 13"/>
          <p:cNvGraphicFramePr>
            <a:graphicFrameLocks noChangeAspect="1"/>
          </p:cNvGraphicFramePr>
          <p:nvPr/>
        </p:nvGraphicFramePr>
        <p:xfrm>
          <a:off x="5376863" y="3146425"/>
          <a:ext cx="358457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5" r:id="rId19" imgW="1803400" imgH="228600" progId="Equation.3">
                  <p:embed/>
                </p:oleObj>
              </mc:Choice>
              <mc:Fallback>
                <p:oleObj r:id="rId19" imgW="1803400" imgH="228600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376863" y="3146425"/>
                        <a:ext cx="3584575" cy="455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0" name="Object 14"/>
          <p:cNvGraphicFramePr>
            <a:graphicFrameLocks noChangeAspect="1"/>
          </p:cNvGraphicFramePr>
          <p:nvPr/>
        </p:nvGraphicFramePr>
        <p:xfrm>
          <a:off x="5364163" y="4202113"/>
          <a:ext cx="360997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6" r:id="rId21" imgW="1816100" imgH="228600" progId="Equation.3">
                  <p:embed/>
                </p:oleObj>
              </mc:Choice>
              <mc:Fallback>
                <p:oleObj r:id="rId21" imgW="1816100" imgH="228600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364163" y="4202113"/>
                        <a:ext cx="3609975" cy="455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51" name="Text Box 15"/>
          <p:cNvSpPr txBox="1"/>
          <p:nvPr/>
        </p:nvSpPr>
        <p:spPr>
          <a:xfrm>
            <a:off x="6227763" y="4730750"/>
            <a:ext cx="2736850" cy="519113"/>
          </a:xfrm>
          <a:prstGeom prst="rect">
            <a:avLst/>
          </a:prstGeom>
          <a:solidFill>
            <a:srgbClr val="FFCC66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</a:rPr>
              <a:t>个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(4)</a:t>
            </a:r>
            <a:r>
              <a:rPr lang="zh-CN" altLang="en-US" sz="2800" b="1" dirty="0">
                <a:latin typeface="Times New Roman" panose="02020603050405020304" pitchFamily="18" charset="0"/>
              </a:rPr>
              <a:t>出现矛盾</a:t>
            </a:r>
          </a:p>
        </p:txBody>
      </p:sp>
      <p:sp>
        <p:nvSpPr>
          <p:cNvPr id="91152" name="Text Box 16"/>
          <p:cNvSpPr txBox="1"/>
          <p:nvPr/>
        </p:nvSpPr>
        <p:spPr>
          <a:xfrm>
            <a:off x="2843213" y="5373688"/>
            <a:ext cx="640873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外候选人的插入影响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内排序的优劣</a:t>
            </a:r>
          </a:p>
        </p:txBody>
      </p:sp>
      <p:sp>
        <p:nvSpPr>
          <p:cNvPr id="91153" name="Rectangle 17"/>
          <p:cNvSpPr/>
          <p:nvPr/>
        </p:nvSpPr>
        <p:spPr>
          <a:xfrm>
            <a:off x="468313" y="1196975"/>
            <a:ext cx="3816350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</a:rPr>
              <a:t>Arrow</a:t>
            </a:r>
            <a:r>
              <a:rPr lang="zh-CN" altLang="en-US" sz="2800" b="1" dirty="0">
                <a:latin typeface="Times New Roman" panose="02020603050405020304" pitchFamily="18" charset="0"/>
              </a:rPr>
              <a:t>公理的选举规则</a:t>
            </a:r>
          </a:p>
        </p:txBody>
      </p:sp>
      <p:sp>
        <p:nvSpPr>
          <p:cNvPr id="91154" name="Text Box 18"/>
          <p:cNvSpPr txBox="1"/>
          <p:nvPr/>
        </p:nvSpPr>
        <p:spPr>
          <a:xfrm>
            <a:off x="2843213" y="5949950"/>
            <a:ext cx="3960812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公理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未考虑排序的优劣</a:t>
            </a:r>
          </a:p>
        </p:txBody>
      </p:sp>
      <p:sp>
        <p:nvSpPr>
          <p:cNvPr id="91155" name="Text Box 19"/>
          <p:cNvSpPr txBox="1"/>
          <p:nvPr/>
        </p:nvSpPr>
        <p:spPr>
          <a:xfrm>
            <a:off x="7092950" y="6021388"/>
            <a:ext cx="1439863" cy="519112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怎么办</a:t>
            </a:r>
            <a:r>
              <a:rPr lang="en-US" altLang="zh-CN" sz="2800" b="1">
                <a:latin typeface="Times New Roman" panose="02020603050405020304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9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9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9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1000"/>
                                        <p:tgtEl>
                                          <p:spTgt spid="9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10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1000"/>
                                        <p:tgtEl>
                                          <p:spTgt spid="9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1000"/>
                                        <p:tgtEl>
                                          <p:spTgt spid="9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91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91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6" dur="1000"/>
                                        <p:tgtEl>
                                          <p:spTgt spid="9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1" dur="1000"/>
                                        <p:tgtEl>
                                          <p:spTgt spid="9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1000"/>
                                        <p:tgtEl>
                                          <p:spTgt spid="9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1000"/>
                                        <p:tgtEl>
                                          <p:spTgt spid="9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1000"/>
                                        <p:tgtEl>
                                          <p:spTgt spid="9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1000"/>
                                        <p:tgtEl>
                                          <p:spTgt spid="9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91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91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animBg="1"/>
      <p:bldP spid="91140" grpId="0"/>
      <p:bldP spid="91151" grpId="0" animBg="1"/>
      <p:bldP spid="91152" grpId="0"/>
      <p:bldP spid="91153" grpId="0" animBg="1"/>
      <p:bldP spid="91154" grpId="0"/>
      <p:bldP spid="9115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/>
          <p:cNvSpPr txBox="1"/>
          <p:nvPr/>
        </p:nvSpPr>
        <p:spPr>
          <a:xfrm>
            <a:off x="533400" y="476250"/>
            <a:ext cx="4470400" cy="67627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</a:rPr>
              <a:t>联合尺度下的选举规则</a:t>
            </a:r>
          </a:p>
        </p:txBody>
      </p:sp>
      <p:sp>
        <p:nvSpPr>
          <p:cNvPr id="92163" name="Text Box 3"/>
          <p:cNvSpPr txBox="1"/>
          <p:nvPr/>
        </p:nvSpPr>
        <p:spPr>
          <a:xfrm>
            <a:off x="179388" y="1268413"/>
            <a:ext cx="87852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所有候选人按照同一指标在</a:t>
            </a:r>
            <a:r>
              <a:rPr lang="en-US" altLang="zh-CN" sz="2800" b="1">
                <a:latin typeface="Times New Roman" panose="02020603050405020304" pitchFamily="18" charset="0"/>
              </a:rPr>
              <a:t>[0,1]</a:t>
            </a:r>
            <a:r>
              <a:rPr lang="zh-CN" altLang="en-US" sz="2800" b="1" dirty="0">
                <a:latin typeface="Times New Roman" panose="02020603050405020304" pitchFamily="18" charset="0"/>
              </a:rPr>
              <a:t>尺度上确定各自的位置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92164" name="Text Box 4"/>
          <p:cNvSpPr txBox="1"/>
          <p:nvPr/>
        </p:nvSpPr>
        <p:spPr>
          <a:xfrm>
            <a:off x="179388" y="1916113"/>
            <a:ext cx="87852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所有选民</a:t>
            </a:r>
            <a:r>
              <a:rPr lang="zh-CN" altLang="en-US" sz="2800" b="1" dirty="0">
                <a:latin typeface="Times New Roman" panose="02020603050405020304" pitchFamily="18" charset="0"/>
              </a:rPr>
              <a:t>在</a:t>
            </a:r>
            <a:r>
              <a:rPr lang="en-US" altLang="zh-CN" sz="2800" b="1">
                <a:latin typeface="Times New Roman" panose="02020603050405020304" pitchFamily="18" charset="0"/>
              </a:rPr>
              <a:t>[0,1]</a:t>
            </a:r>
            <a:r>
              <a:rPr lang="zh-CN" altLang="en-US" sz="2800" b="1" dirty="0">
                <a:latin typeface="Times New Roman" panose="02020603050405020304" pitchFamily="18" charset="0"/>
              </a:rPr>
              <a:t>尺度上确定各自理想候选人的位置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92165" name="Group 5"/>
          <p:cNvGrpSpPr/>
          <p:nvPr/>
        </p:nvGrpSpPr>
        <p:grpSpPr>
          <a:xfrm>
            <a:off x="250825" y="2997200"/>
            <a:ext cx="4032250" cy="877888"/>
            <a:chOff x="2835" y="2401"/>
            <a:chExt cx="2540" cy="553"/>
          </a:xfrm>
        </p:grpSpPr>
        <p:sp>
          <p:nvSpPr>
            <p:cNvPr id="63508" name="Line 6"/>
            <p:cNvSpPr/>
            <p:nvPr/>
          </p:nvSpPr>
          <p:spPr>
            <a:xfrm>
              <a:off x="2925" y="2704"/>
              <a:ext cx="226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09" name="Text Box 7"/>
            <p:cNvSpPr txBox="1"/>
            <p:nvPr/>
          </p:nvSpPr>
          <p:spPr>
            <a:xfrm>
              <a:off x="2835" y="2704"/>
              <a:ext cx="27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3510" name="Text Box 8"/>
            <p:cNvSpPr txBox="1"/>
            <p:nvPr/>
          </p:nvSpPr>
          <p:spPr>
            <a:xfrm>
              <a:off x="3107" y="2704"/>
              <a:ext cx="4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0.1</a:t>
              </a:r>
            </a:p>
          </p:txBody>
        </p:sp>
        <p:sp>
          <p:nvSpPr>
            <p:cNvPr id="63511" name="Text Box 9"/>
            <p:cNvSpPr txBox="1"/>
            <p:nvPr/>
          </p:nvSpPr>
          <p:spPr>
            <a:xfrm>
              <a:off x="4377" y="2704"/>
              <a:ext cx="4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0.7</a:t>
              </a:r>
            </a:p>
          </p:txBody>
        </p:sp>
        <p:sp>
          <p:nvSpPr>
            <p:cNvPr id="63512" name="Text Box 10"/>
            <p:cNvSpPr txBox="1"/>
            <p:nvPr/>
          </p:nvSpPr>
          <p:spPr>
            <a:xfrm>
              <a:off x="4785" y="2704"/>
              <a:ext cx="4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0.9</a:t>
              </a:r>
            </a:p>
          </p:txBody>
        </p:sp>
        <p:sp>
          <p:nvSpPr>
            <p:cNvPr id="63513" name="Text Box 11"/>
            <p:cNvSpPr txBox="1"/>
            <p:nvPr/>
          </p:nvSpPr>
          <p:spPr>
            <a:xfrm>
              <a:off x="5103" y="2704"/>
              <a:ext cx="27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3514" name="Text Box 12"/>
            <p:cNvSpPr txBox="1"/>
            <p:nvPr/>
          </p:nvSpPr>
          <p:spPr>
            <a:xfrm>
              <a:off x="2835" y="2416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63515" name="Text Box 13"/>
            <p:cNvSpPr txBox="1"/>
            <p:nvPr/>
          </p:nvSpPr>
          <p:spPr>
            <a:xfrm>
              <a:off x="3107" y="2401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63516" name="Text Box 14"/>
            <p:cNvSpPr txBox="1"/>
            <p:nvPr/>
          </p:nvSpPr>
          <p:spPr>
            <a:xfrm>
              <a:off x="4831" y="2462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63517" name="Text Box 15"/>
            <p:cNvSpPr txBox="1"/>
            <p:nvPr/>
          </p:nvSpPr>
          <p:spPr>
            <a:xfrm>
              <a:off x="4422" y="2462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v</a:t>
              </a:r>
            </a:p>
          </p:txBody>
        </p:sp>
      </p:grpSp>
      <p:grpSp>
        <p:nvGrpSpPr>
          <p:cNvPr id="92176" name="Group 16"/>
          <p:cNvGrpSpPr/>
          <p:nvPr/>
        </p:nvGrpSpPr>
        <p:grpSpPr>
          <a:xfrm>
            <a:off x="1438275" y="2420938"/>
            <a:ext cx="2736850" cy="1476375"/>
            <a:chOff x="3651" y="2024"/>
            <a:chExt cx="1724" cy="930"/>
          </a:xfrm>
        </p:grpSpPr>
        <p:sp>
          <p:nvSpPr>
            <p:cNvPr id="63500" name="Text Box 17"/>
            <p:cNvSpPr txBox="1"/>
            <p:nvPr/>
          </p:nvSpPr>
          <p:spPr>
            <a:xfrm>
              <a:off x="3651" y="2704"/>
              <a:ext cx="4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Times New Roman" panose="02020603050405020304" pitchFamily="18" charset="0"/>
                </a:rPr>
                <a:t>0.4</a:t>
              </a:r>
            </a:p>
          </p:txBody>
        </p:sp>
        <p:sp>
          <p:nvSpPr>
            <p:cNvPr id="63501" name="Text Box 18"/>
            <p:cNvSpPr txBox="1"/>
            <p:nvPr/>
          </p:nvSpPr>
          <p:spPr>
            <a:xfrm>
              <a:off x="4059" y="2704"/>
              <a:ext cx="4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Times New Roman" panose="02020603050405020304" pitchFamily="18" charset="0"/>
                </a:rPr>
                <a:t>0.6</a:t>
              </a:r>
            </a:p>
          </p:txBody>
        </p:sp>
        <p:sp>
          <p:nvSpPr>
            <p:cNvPr id="63502" name="Text Box 19"/>
            <p:cNvSpPr txBox="1"/>
            <p:nvPr/>
          </p:nvSpPr>
          <p:spPr>
            <a:xfrm>
              <a:off x="5103" y="2053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3503" name="Text Box 20"/>
            <p:cNvSpPr txBox="1"/>
            <p:nvPr/>
          </p:nvSpPr>
          <p:spPr>
            <a:xfrm>
              <a:off x="3697" y="2024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3504" name="Text Box 21"/>
            <p:cNvSpPr txBox="1"/>
            <p:nvPr/>
          </p:nvSpPr>
          <p:spPr>
            <a:xfrm>
              <a:off x="4105" y="2024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63505" name="Line 22"/>
            <p:cNvSpPr/>
            <p:nvPr/>
          </p:nvSpPr>
          <p:spPr>
            <a:xfrm>
              <a:off x="3787" y="2296"/>
              <a:ext cx="0" cy="408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3506" name="Line 23"/>
            <p:cNvSpPr/>
            <p:nvPr/>
          </p:nvSpPr>
          <p:spPr>
            <a:xfrm>
              <a:off x="4195" y="2296"/>
              <a:ext cx="0" cy="408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3507" name="Line 24"/>
            <p:cNvSpPr/>
            <p:nvPr/>
          </p:nvSpPr>
          <p:spPr>
            <a:xfrm>
              <a:off x="5193" y="2296"/>
              <a:ext cx="0" cy="408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92185" name="Text Box 25"/>
          <p:cNvSpPr txBox="1"/>
          <p:nvPr/>
        </p:nvSpPr>
        <p:spPr>
          <a:xfrm>
            <a:off x="4283075" y="2492375"/>
            <a:ext cx="4968875" cy="1052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u&gt;v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&gt;y&gt;x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y~v</a:t>
            </a:r>
            <a:r>
              <a:rPr lang="en-US" altLang="zh-CN" sz="2800" b="1" i="1">
                <a:latin typeface="Times New Roman" panose="02020603050405020304" pitchFamily="18" charset="0"/>
              </a:rPr>
              <a:t>&gt;x&gt;u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</a:t>
            </a:r>
          </a:p>
          <a:p>
            <a:pPr>
              <a:spcBef>
                <a:spcPct val="25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3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v&gt;u&gt;y&gt;x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92186" name="Rectangle 26"/>
          <p:cNvSpPr/>
          <p:nvPr/>
        </p:nvSpPr>
        <p:spPr>
          <a:xfrm>
            <a:off x="4356100" y="3667125"/>
            <a:ext cx="44656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</a:rPr>
              <a:t>简单多数规则得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v&gt;u&gt;y&gt;x</a:t>
            </a:r>
          </a:p>
        </p:txBody>
      </p:sp>
      <p:sp>
        <p:nvSpPr>
          <p:cNvPr id="92187" name="Text Box 27"/>
          <p:cNvSpPr txBox="1"/>
          <p:nvPr/>
        </p:nvSpPr>
        <p:spPr>
          <a:xfrm>
            <a:off x="107950" y="4581525"/>
            <a:ext cx="8893175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若有奇数个选民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由</a:t>
            </a:r>
            <a:r>
              <a:rPr lang="zh-CN" altLang="en-US" sz="2800" b="1" dirty="0">
                <a:latin typeface="Times New Roman" panose="02020603050405020304" pitchFamily="18" charset="0"/>
              </a:rPr>
              <a:t>联合尺度得到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j</a:t>
            </a:r>
            <a:r>
              <a:rPr lang="zh-CN" altLang="en-US" sz="2800" b="1" dirty="0">
                <a:latin typeface="Times New Roman" panose="02020603050405020304" pitchFamily="18" charset="0"/>
              </a:rPr>
              <a:t>是居中的那位选民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</a:t>
            </a:r>
            <a:r>
              <a:rPr lang="en-US" altLang="zh-CN" sz="2800" b="1" i="1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 err="1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zh-CN" altLang="en-US" sz="2800" b="1" dirty="0">
                <a:latin typeface="Times New Roman" panose="02020603050405020304" pitchFamily="18" charset="0"/>
              </a:rPr>
              <a:t>简单多数规则得到的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一致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zh-CN" altLang="en-US" sz="2800" b="1" dirty="0">
                <a:latin typeface="Times New Roman" panose="02020603050405020304" pitchFamily="18" charset="0"/>
              </a:rPr>
              <a:t>满足</a:t>
            </a:r>
            <a:r>
              <a:rPr lang="en-US" altLang="zh-CN" sz="2800" b="1">
                <a:latin typeface="Times New Roman" panose="02020603050405020304" pitchFamily="18" charset="0"/>
              </a:rPr>
              <a:t>Arrow</a:t>
            </a:r>
            <a:r>
              <a:rPr lang="zh-CN" altLang="en-US" sz="2800" b="1" dirty="0">
                <a:latin typeface="Times New Roman" panose="02020603050405020304" pitchFamily="18" charset="0"/>
              </a:rPr>
              <a:t>公理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92188" name="Rectangle 28"/>
          <p:cNvSpPr/>
          <p:nvPr/>
        </p:nvSpPr>
        <p:spPr>
          <a:xfrm>
            <a:off x="34925" y="3933825"/>
            <a:ext cx="4176713" cy="519113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</a:rPr>
              <a:t>候选人与选民的联合尺度</a:t>
            </a:r>
          </a:p>
        </p:txBody>
      </p:sp>
      <p:sp>
        <p:nvSpPr>
          <p:cNvPr id="92189" name="Rectangle 29"/>
          <p:cNvSpPr/>
          <p:nvPr/>
        </p:nvSpPr>
        <p:spPr>
          <a:xfrm>
            <a:off x="646113" y="5876925"/>
            <a:ext cx="80295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联合尺度限制了投票情况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才能够满足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Arrow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公理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92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92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92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1000"/>
                                        <p:tgtEl>
                                          <p:spTgt spid="9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1000"/>
                                        <p:tgtEl>
                                          <p:spTgt spid="92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92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92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/>
      <p:bldP spid="92164" grpId="0"/>
      <p:bldP spid="92185" grpId="0"/>
      <p:bldP spid="92186" grpId="0"/>
      <p:bldP spid="92187" grpId="0"/>
      <p:bldP spid="92188" grpId="0" animBg="1"/>
      <p:bldP spid="9218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/>
          <p:cNvSpPr txBox="1"/>
          <p:nvPr/>
        </p:nvSpPr>
        <p:spPr>
          <a:xfrm>
            <a:off x="533400" y="476250"/>
            <a:ext cx="5262563" cy="67627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</a:rPr>
              <a:t>最小距离意义下的选举规则</a:t>
            </a:r>
          </a:p>
        </p:txBody>
      </p:sp>
      <p:sp>
        <p:nvSpPr>
          <p:cNvPr id="93187" name="Text Box 3"/>
          <p:cNvSpPr txBox="1"/>
          <p:nvPr/>
        </p:nvSpPr>
        <p:spPr>
          <a:xfrm>
            <a:off x="107950" y="1341438"/>
            <a:ext cx="9036050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</a:rPr>
              <a:t>={1, 2,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,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 ~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选民集合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={</a:t>
            </a:r>
            <a:r>
              <a:rPr lang="en-US" altLang="zh-CN" sz="2800" b="1" i="1">
                <a:latin typeface="Times New Roman" panose="02020603050405020304" pitchFamily="18" charset="0"/>
              </a:rPr>
              <a:t>x, y, z, u, v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 ~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候选人集合</a:t>
            </a:r>
          </a:p>
        </p:txBody>
      </p:sp>
      <p:sp>
        <p:nvSpPr>
          <p:cNvPr id="93188" name="Text Box 4"/>
          <p:cNvSpPr txBox="1"/>
          <p:nvPr/>
        </p:nvSpPr>
        <p:spPr>
          <a:xfrm>
            <a:off x="179388" y="2205038"/>
            <a:ext cx="4105275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~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的所有排序的集合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</a:p>
        </p:txBody>
      </p:sp>
      <p:sp>
        <p:nvSpPr>
          <p:cNvPr id="93189" name="Text Box 5"/>
          <p:cNvSpPr txBox="1"/>
          <p:nvPr/>
        </p:nvSpPr>
        <p:spPr>
          <a:xfrm>
            <a:off x="3563938" y="3054350"/>
            <a:ext cx="52562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合理地定义两点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和 </a:t>
            </a:r>
            <a:r>
              <a:rPr lang="en-US" altLang="zh-CN" sz="2800" b="1" i="1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 err="1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“距离”</a:t>
            </a:r>
            <a:endParaRPr lang="zh-CN" altLang="en-US" sz="2800" b="1" baseline="-25000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93190" name="Rectangle 6"/>
          <p:cNvSpPr/>
          <p:nvPr/>
        </p:nvSpPr>
        <p:spPr>
          <a:xfrm>
            <a:off x="395288" y="3054350"/>
            <a:ext cx="28162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~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中的一个点</a:t>
            </a:r>
          </a:p>
        </p:txBody>
      </p:sp>
      <p:sp>
        <p:nvSpPr>
          <p:cNvPr id="93191" name="Rectangle 7"/>
          <p:cNvSpPr/>
          <p:nvPr/>
        </p:nvSpPr>
        <p:spPr>
          <a:xfrm>
            <a:off x="4572000" y="2205038"/>
            <a:ext cx="40322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b="1" i="1">
                <a:latin typeface="Times New Roman" panose="02020603050405020304" pitchFamily="18" charset="0"/>
              </a:rPr>
              <a:t>I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的一次投票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,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800" b="1" i="1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 err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altLang="zh-CN" sz="2800" b="1" i="1" baseline="-250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93192" name="Rectangle 8"/>
          <p:cNvSpPr/>
          <p:nvPr/>
        </p:nvSpPr>
        <p:spPr>
          <a:xfrm>
            <a:off x="684213" y="3789363"/>
            <a:ext cx="7848600" cy="1158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从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投票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,,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800" b="1" i="1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 err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确定选举结果归结为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在集合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中找一个点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使它到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个点的总距离最小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93193" name="Text Box 9"/>
          <p:cNvSpPr txBox="1"/>
          <p:nvPr/>
        </p:nvSpPr>
        <p:spPr>
          <a:xfrm>
            <a:off x="1835150" y="5157788"/>
            <a:ext cx="4968875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可以用公理化的方法定义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距离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9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10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93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93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/>
      <p:bldP spid="93188" grpId="0"/>
      <p:bldP spid="93189" grpId="0"/>
      <p:bldP spid="93190" grpId="0"/>
      <p:bldP spid="93191" grpId="0"/>
      <p:bldP spid="93192" grpId="0"/>
      <p:bldP spid="93193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2"/>
          <p:cNvSpPr txBox="1"/>
          <p:nvPr/>
        </p:nvSpPr>
        <p:spPr>
          <a:xfrm>
            <a:off x="533400" y="476250"/>
            <a:ext cx="5262563" cy="67627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</a:rPr>
              <a:t>最小距离意义下的选举规则</a:t>
            </a:r>
          </a:p>
        </p:txBody>
      </p:sp>
      <p:sp>
        <p:nvSpPr>
          <p:cNvPr id="94211" name="Text Box 3"/>
          <p:cNvSpPr txBox="1"/>
          <p:nvPr/>
        </p:nvSpPr>
        <p:spPr>
          <a:xfrm>
            <a:off x="468313" y="1412875"/>
            <a:ext cx="2447925" cy="2054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任意一对候选人</a:t>
            </a:r>
            <a:r>
              <a:rPr lang="en-US" altLang="zh-CN" sz="2800" b="1" i="1">
                <a:latin typeface="Times New Roman" panose="02020603050405020304" pitchFamily="18" charset="0"/>
              </a:rPr>
              <a:t>x, y</a:t>
            </a:r>
            <a:r>
              <a:rPr lang="zh-CN" altLang="en-US" sz="2800" b="1" dirty="0">
                <a:latin typeface="Times New Roman" panose="02020603050405020304" pitchFamily="18" charset="0"/>
              </a:rPr>
              <a:t>在选民投票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 err="1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中的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距离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定义为</a:t>
            </a:r>
            <a:endParaRPr lang="zh-CN" altLang="en-US" sz="2800" b="1" i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94212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3203575" y="1293813"/>
          <a:ext cx="5400675" cy="209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9" r:id="rId3" imgW="2616200" imgH="1016000" progId="Equation.3">
                  <p:embed/>
                </p:oleObj>
              </mc:Choice>
              <mc:Fallback>
                <p:oleObj r:id="rId3" imgW="2616200" imgH="1016000" progId="Equation.3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03575" y="1293813"/>
                        <a:ext cx="5400675" cy="2097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3" name="Rectangle 5"/>
          <p:cNvSpPr/>
          <p:nvPr/>
        </p:nvSpPr>
        <p:spPr>
          <a:xfrm>
            <a:off x="323850" y="3573463"/>
            <a:ext cx="2016125" cy="107315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 err="1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之间的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距离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定义为</a:t>
            </a:r>
          </a:p>
        </p:txBody>
      </p:sp>
      <p:graphicFrame>
        <p:nvGraphicFramePr>
          <p:cNvPr id="94214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2484438" y="3789363"/>
          <a:ext cx="4038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0" r:id="rId5" imgW="1764665" imgH="355600" progId="Equation.3">
                  <p:embed/>
                </p:oleObj>
              </mc:Choice>
              <mc:Fallback>
                <p:oleObj r:id="rId5" imgW="1764665" imgH="355600" progId="Equation.3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84438" y="3789363"/>
                        <a:ext cx="4038600" cy="81280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5" name="Rectangle 7"/>
          <p:cNvSpPr/>
          <p:nvPr/>
        </p:nvSpPr>
        <p:spPr>
          <a:xfrm>
            <a:off x="6588125" y="3644900"/>
            <a:ext cx="2376488" cy="107315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候选人成对地跑遍集合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94216" name="Text Box 8"/>
          <p:cNvSpPr txBox="1"/>
          <p:nvPr/>
        </p:nvSpPr>
        <p:spPr>
          <a:xfrm>
            <a:off x="395288" y="4941888"/>
            <a:ext cx="42481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25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 </a:t>
            </a:r>
            <a:r>
              <a:rPr lang="zh-CN" altLang="en-US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x&gt;y&gt;z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800" b="1" i="1" err="1">
                <a:latin typeface="Times New Roman" panose="02020603050405020304" pitchFamily="18" charset="0"/>
              </a:rPr>
              <a:t>x~z</a:t>
            </a:r>
            <a:r>
              <a:rPr lang="en-US" altLang="zh-CN" sz="2800" b="1" i="1">
                <a:latin typeface="Times New Roman" panose="02020603050405020304" pitchFamily="18" charset="0"/>
              </a:rPr>
              <a:t>&gt;y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94217" name="Object 9"/>
          <p:cNvGraphicFramePr>
            <a:graphicFrameLocks noChangeAspect="1"/>
          </p:cNvGraphicFramePr>
          <p:nvPr/>
        </p:nvGraphicFramePr>
        <p:xfrm>
          <a:off x="579438" y="5661025"/>
          <a:ext cx="640238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1" r:id="rId7" imgW="3289300" imgH="241300" progId="Equation.3">
                  <p:embed/>
                </p:oleObj>
              </mc:Choice>
              <mc:Fallback>
                <p:oleObj r:id="rId7" imgW="3289300" imgH="241300" progId="Equation.3">
                  <p:embed/>
                  <p:pic>
                    <p:nvPicPr>
                      <p:cNvPr id="0" name="图片 322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9438" y="5661025"/>
                        <a:ext cx="6402387" cy="576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8" name="Object 10"/>
          <p:cNvGraphicFramePr>
            <a:graphicFrameLocks noChangeAspect="1"/>
          </p:cNvGraphicFramePr>
          <p:nvPr/>
        </p:nvGraphicFramePr>
        <p:xfrm>
          <a:off x="6948488" y="5734050"/>
          <a:ext cx="1655762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2" r:id="rId9" imgW="850265" imgH="177800" progId="Equation.3">
                  <p:embed/>
                </p:oleObj>
              </mc:Choice>
              <mc:Fallback>
                <p:oleObj r:id="rId9" imgW="850265" imgH="177800" progId="Equation.3">
                  <p:embed/>
                  <p:pic>
                    <p:nvPicPr>
                      <p:cNvPr id="0" name="图片 322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48488" y="5734050"/>
                        <a:ext cx="1655762" cy="423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9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9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9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9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94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94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94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94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/>
      <p:bldP spid="94213" grpId="0" animBg="1"/>
      <p:bldP spid="94215" grpId="0" animBg="1"/>
      <p:bldP spid="94216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/>
          <p:nvPr/>
        </p:nvSpPr>
        <p:spPr>
          <a:xfrm>
            <a:off x="533400" y="476250"/>
            <a:ext cx="5262563" cy="67627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</a:rPr>
              <a:t>最小距离意义下的选举规则</a:t>
            </a:r>
          </a:p>
        </p:txBody>
      </p:sp>
      <p:sp>
        <p:nvSpPr>
          <p:cNvPr id="95235" name="Rectangle 3"/>
          <p:cNvSpPr/>
          <p:nvPr/>
        </p:nvSpPr>
        <p:spPr>
          <a:xfrm>
            <a:off x="971550" y="1412875"/>
            <a:ext cx="6408738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从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投票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,,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800" b="1" i="1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 err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确定选举结果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的准则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graphicFrame>
        <p:nvGraphicFramePr>
          <p:cNvPr id="95236" name="Object 4"/>
          <p:cNvGraphicFramePr>
            <a:graphicFrameLocks noGrp="1" noChangeAspect="1"/>
          </p:cNvGraphicFramePr>
          <p:nvPr>
            <p:ph/>
          </p:nvPr>
        </p:nvGraphicFramePr>
        <p:xfrm>
          <a:off x="900113" y="2133600"/>
          <a:ext cx="2663825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9" r:id="rId3" imgW="1002665" imgH="431800" progId="Equation.DSMT4">
                  <p:embed/>
                </p:oleObj>
              </mc:Choice>
              <mc:Fallback>
                <p:oleObj r:id="rId3" imgW="1002665" imgH="431800" progId="Equation.DSMT4">
                  <p:embed/>
                  <p:pic>
                    <p:nvPicPr>
                      <p:cNvPr id="0" name="图片 322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0113" y="2133600"/>
                        <a:ext cx="2663825" cy="1146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7" name="Object 5"/>
          <p:cNvGraphicFramePr>
            <a:graphicFrameLocks noChangeAspect="1"/>
          </p:cNvGraphicFramePr>
          <p:nvPr/>
        </p:nvGraphicFramePr>
        <p:xfrm>
          <a:off x="842963" y="3213100"/>
          <a:ext cx="2833687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0" r:id="rId5" imgW="1066800" imgH="431800" progId="Equation.DSMT4">
                  <p:embed/>
                </p:oleObj>
              </mc:Choice>
              <mc:Fallback>
                <p:oleObj r:id="rId5" imgW="1066800" imgH="431800" progId="Equation.DSMT4">
                  <p:embed/>
                  <p:pic>
                    <p:nvPicPr>
                      <p:cNvPr id="0" name="图片 322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42963" y="3213100"/>
                        <a:ext cx="2833687" cy="1146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8" name="Text Box 6"/>
          <p:cNvSpPr txBox="1"/>
          <p:nvPr/>
        </p:nvSpPr>
        <p:spPr>
          <a:xfrm>
            <a:off x="4067175" y="2349500"/>
            <a:ext cx="46085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平均地照顾各位选民的意见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95239" name="Text Box 7"/>
          <p:cNvSpPr txBox="1"/>
          <p:nvPr/>
        </p:nvSpPr>
        <p:spPr>
          <a:xfrm>
            <a:off x="4067175" y="3286125"/>
            <a:ext cx="4608513" cy="1073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对与多数选民意见不同的少数选民的意见给予更多考虑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95240" name="Text Box 8"/>
          <p:cNvSpPr txBox="1"/>
          <p:nvPr/>
        </p:nvSpPr>
        <p:spPr>
          <a:xfrm>
            <a:off x="684213" y="4724400"/>
            <a:ext cx="1079500" cy="579438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</a:rPr>
              <a:t>缺点</a:t>
            </a:r>
          </a:p>
        </p:txBody>
      </p:sp>
      <p:sp>
        <p:nvSpPr>
          <p:cNvPr id="95241" name="Text Box 9"/>
          <p:cNvSpPr txBox="1"/>
          <p:nvPr/>
        </p:nvSpPr>
        <p:spPr>
          <a:xfrm>
            <a:off x="1908175" y="4797425"/>
            <a:ext cx="6985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没有确定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的有效方法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</a:rPr>
              <a:t>基本上是枚举法</a:t>
            </a:r>
            <a:r>
              <a:rPr lang="en-US" altLang="zh-CN" sz="2800" b="1">
                <a:latin typeface="Times New Roman" panose="02020603050405020304" pitchFamily="18" charset="0"/>
              </a:rPr>
              <a:t>).</a:t>
            </a:r>
          </a:p>
        </p:txBody>
      </p:sp>
      <p:sp>
        <p:nvSpPr>
          <p:cNvPr id="95242" name="Text Box 10"/>
          <p:cNvSpPr txBox="1"/>
          <p:nvPr/>
        </p:nvSpPr>
        <p:spPr>
          <a:xfrm>
            <a:off x="1979613" y="5516563"/>
            <a:ext cx="64801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800" b="1" i="1">
                <a:latin typeface="Times New Roman" panose="02020603050405020304" pitchFamily="18" charset="0"/>
              </a:rPr>
              <a:t> p</a:t>
            </a:r>
            <a:r>
              <a:rPr lang="zh-CN" altLang="en-US" sz="2800" b="1" dirty="0">
                <a:latin typeface="Times New Roman" panose="02020603050405020304" pitchFamily="18" charset="0"/>
              </a:rPr>
              <a:t>可能不唯一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</a:rPr>
              <a:t>习题</a:t>
            </a:r>
            <a:r>
              <a:rPr lang="en-US" altLang="zh-CN" sz="2800" b="1">
                <a:latin typeface="Times New Roman" panose="02020603050405020304" pitchFamily="18" charset="0"/>
              </a:rPr>
              <a:t>20).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9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9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9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1000"/>
                                        <p:tgtEl>
                                          <p:spTgt spid="9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1000"/>
                                        <p:tgtEl>
                                          <p:spTgt spid="9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/>
      <p:bldP spid="95238" grpId="0"/>
      <p:bldP spid="95239" grpId="0"/>
      <p:bldP spid="95240" grpId="0" animBg="1"/>
      <p:bldP spid="95241" grpId="0"/>
      <p:bldP spid="9524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4"/>
          <p:cNvSpPr txBox="1"/>
          <p:nvPr/>
        </p:nvSpPr>
        <p:spPr>
          <a:xfrm>
            <a:off x="2484438" y="476250"/>
            <a:ext cx="4895850" cy="64135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存在公正的选举规则吗</a:t>
            </a:r>
          </a:p>
        </p:txBody>
      </p:sp>
      <p:sp>
        <p:nvSpPr>
          <p:cNvPr id="96261" name="Text Box 5"/>
          <p:cNvSpPr txBox="1"/>
          <p:nvPr/>
        </p:nvSpPr>
        <p:spPr>
          <a:xfrm>
            <a:off x="396875" y="1268413"/>
            <a:ext cx="7920038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选举规则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~ </a:t>
            </a:r>
            <a:r>
              <a:rPr lang="zh-CN" altLang="en-US" sz="2800" b="1" dirty="0">
                <a:latin typeface="Times New Roman" panose="02020603050405020304" pitchFamily="18" charset="0"/>
              </a:rPr>
              <a:t>通过选民投票确定对候选人的排序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96262" name="Text Box 6"/>
          <p:cNvSpPr txBox="1"/>
          <p:nvPr/>
        </p:nvSpPr>
        <p:spPr>
          <a:xfrm>
            <a:off x="396875" y="2060575"/>
            <a:ext cx="7920038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规定排序的性质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CN" altLang="en-US" sz="2800" b="1" dirty="0">
                <a:latin typeface="Times New Roman" panose="02020603050405020304" pitchFamily="18" charset="0"/>
              </a:rPr>
              <a:t>提出一组公理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寻求</a:t>
            </a:r>
            <a:r>
              <a:rPr lang="zh-CN" altLang="en-US" sz="2800" b="1" dirty="0">
                <a:latin typeface="Times New Roman" panose="02020603050405020304" pitchFamily="18" charset="0"/>
              </a:rPr>
              <a:t>选举规则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96263" name="Text Box 7"/>
          <p:cNvSpPr txBox="1"/>
          <p:nvPr/>
        </p:nvSpPr>
        <p:spPr>
          <a:xfrm>
            <a:off x="323850" y="2781300"/>
            <a:ext cx="8820150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若公理过多、过于严格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可能得不到满足公理的结果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96264" name="Text Box 8"/>
          <p:cNvSpPr txBox="1"/>
          <p:nvPr/>
        </p:nvSpPr>
        <p:spPr>
          <a:xfrm>
            <a:off x="323850" y="3502025"/>
            <a:ext cx="8820150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若公理过少、过于宽松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可能无法得到结果或不惟一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96265" name="Text Box 9"/>
          <p:cNvSpPr txBox="1"/>
          <p:nvPr/>
        </p:nvSpPr>
        <p:spPr>
          <a:xfrm>
            <a:off x="323850" y="4221163"/>
            <a:ext cx="8820150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Arrow</a:t>
            </a:r>
            <a:r>
              <a:rPr lang="zh-CN" altLang="en-US" sz="2800" b="1" dirty="0">
                <a:latin typeface="Times New Roman" panose="02020603050405020304" pitchFamily="18" charset="0"/>
              </a:rPr>
              <a:t>得到了反面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结果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~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不存在满足公理的选举规则</a:t>
            </a:r>
            <a:r>
              <a:rPr lang="en-US" altLang="zh-CN" sz="280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96266" name="Rectangle 10"/>
          <p:cNvSpPr/>
          <p:nvPr/>
        </p:nvSpPr>
        <p:spPr>
          <a:xfrm>
            <a:off x="323850" y="5013325"/>
            <a:ext cx="83518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联合尺度规则</a:t>
            </a:r>
            <a:r>
              <a:rPr lang="zh-CN" altLang="en-US" sz="2800" b="1" dirty="0">
                <a:latin typeface="Times New Roman" panose="02020603050405020304" pitchFamily="18" charset="0"/>
              </a:rPr>
              <a:t>以缩小应用范围为代价换取一定结果</a:t>
            </a:r>
            <a:r>
              <a:rPr lang="en-US" altLang="zh-CN" sz="2800" b="1">
                <a:latin typeface="Times New Roman" panose="02020603050405020304" pitchFamily="18" charset="0"/>
              </a:rPr>
              <a:t>.   </a:t>
            </a:r>
          </a:p>
        </p:txBody>
      </p:sp>
      <p:sp>
        <p:nvSpPr>
          <p:cNvPr id="96267" name="Rectangle 11"/>
          <p:cNvSpPr/>
          <p:nvPr/>
        </p:nvSpPr>
        <p:spPr>
          <a:xfrm>
            <a:off x="323850" y="5662613"/>
            <a:ext cx="640873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最小距离规则</a:t>
            </a:r>
            <a:r>
              <a:rPr lang="zh-CN" altLang="en-US" sz="2800" b="1" dirty="0">
                <a:latin typeface="Times New Roman" panose="02020603050405020304" pitchFamily="18" charset="0"/>
              </a:rPr>
              <a:t>不便于应用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6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6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1000"/>
                                        <p:tgtEl>
                                          <p:spTgt spid="96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96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96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1" grpId="0"/>
      <p:bldP spid="96262" grpId="0"/>
      <p:bldP spid="96263" grpId="0"/>
      <p:bldP spid="96264" grpId="0"/>
      <p:bldP spid="96265" grpId="0"/>
      <p:bldP spid="96266" grpId="0"/>
      <p:bldP spid="96267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/>
          <p:nvPr/>
        </p:nvSpPr>
        <p:spPr>
          <a:xfrm>
            <a:off x="2411413" y="620713"/>
            <a:ext cx="3352800" cy="579437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大作业（三） </a:t>
            </a:r>
          </a:p>
        </p:txBody>
      </p:sp>
      <p:sp>
        <p:nvSpPr>
          <p:cNvPr id="89092" name="Text Box 4"/>
          <p:cNvSpPr txBox="1"/>
          <p:nvPr/>
        </p:nvSpPr>
        <p:spPr>
          <a:xfrm>
            <a:off x="3995738" y="1447800"/>
            <a:ext cx="2667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</a:rPr>
              <a:t>6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68612" name="Object 9"/>
          <p:cNvGraphicFramePr>
            <a:graphicFrameLocks noChangeAspect="1"/>
          </p:cNvGraphicFramePr>
          <p:nvPr/>
        </p:nvGraphicFramePr>
        <p:xfrm>
          <a:off x="8174038" y="723900"/>
          <a:ext cx="75882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6" r:id="rId3" imgW="83820" imgH="99060" progId="MS_ClipArt_Gallery.2">
                  <p:embed/>
                </p:oleObj>
              </mc:Choice>
              <mc:Fallback>
                <p:oleObj r:id="rId3" imgW="83820" imgH="99060" progId="MS_ClipArt_Gallery.2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74038" y="723900"/>
                        <a:ext cx="758825" cy="904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8" name="Text Box 3"/>
          <p:cNvSpPr txBox="1"/>
          <p:nvPr/>
        </p:nvSpPr>
        <p:spPr>
          <a:xfrm>
            <a:off x="1258888" y="3500438"/>
            <a:ext cx="6337300" cy="24431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要求：（三选一）</a:t>
            </a:r>
          </a:p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lang="en-US" altLang="zh-CN" sz="2800" b="1">
                <a:latin typeface="Times New Roman" panose="02020603050405020304" pitchFamily="18" charset="0"/>
              </a:rPr>
              <a:t>teamwork</a:t>
            </a:r>
            <a:r>
              <a:rPr lang="zh-CN" altLang="en-US" sz="2800" b="1" dirty="0">
                <a:latin typeface="Times New Roman" panose="02020603050405020304" pitchFamily="18" charset="0"/>
              </a:rPr>
              <a:t>；集体研讨，分工合作。</a:t>
            </a:r>
          </a:p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、题目可以适当合理延伸拓展。</a:t>
            </a:r>
          </a:p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</a:rPr>
              <a:t>、打印电子文档提交。（第</a:t>
            </a:r>
            <a:r>
              <a:rPr lang="en-US" altLang="zh-CN" sz="2800" b="1">
                <a:latin typeface="Times New Roman" panose="02020603050405020304" pitchFamily="18" charset="0"/>
              </a:rPr>
              <a:t>12</a:t>
            </a:r>
            <a:r>
              <a:rPr lang="zh-CN" altLang="en-US" sz="2800" b="1" dirty="0">
                <a:latin typeface="Times New Roman" panose="02020603050405020304" pitchFamily="18" charset="0"/>
              </a:rPr>
              <a:t>周之前）</a:t>
            </a:r>
          </a:p>
        </p:txBody>
      </p:sp>
      <p:sp>
        <p:nvSpPr>
          <p:cNvPr id="2" name="Text Box 3"/>
          <p:cNvSpPr txBox="1"/>
          <p:nvPr/>
        </p:nvSpPr>
        <p:spPr>
          <a:xfrm>
            <a:off x="1235075" y="1474788"/>
            <a:ext cx="2667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习题</a:t>
            </a:r>
            <a:r>
              <a:rPr lang="en-US" altLang="zh-CN" sz="2800" b="1">
                <a:latin typeface="Times New Roman" panose="02020603050405020304" pitchFamily="18" charset="0"/>
              </a:rPr>
              <a:t>6</a:t>
            </a: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</a:rPr>
              <a:t>P 213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239838" y="1997075"/>
            <a:ext cx="2667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习题</a:t>
            </a:r>
            <a:r>
              <a:rPr lang="en-US" altLang="zh-CN" sz="2800" b="1">
                <a:latin typeface="Times New Roman" panose="02020603050405020304" pitchFamily="18" charset="0"/>
              </a:rPr>
              <a:t>8</a:t>
            </a: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</a:rPr>
              <a:t>P 296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90122" name="Text Box 4"/>
          <p:cNvSpPr txBox="1"/>
          <p:nvPr/>
        </p:nvSpPr>
        <p:spPr>
          <a:xfrm>
            <a:off x="3995738" y="1993900"/>
            <a:ext cx="41052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5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</a:rPr>
              <a:t>6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1" name="Text Box 4"/>
          <p:cNvSpPr txBox="1"/>
          <p:nvPr/>
        </p:nvSpPr>
        <p:spPr>
          <a:xfrm>
            <a:off x="1346200" y="2636838"/>
            <a:ext cx="66103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自学</a:t>
            </a: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8.4 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，研究席位公平分配问题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9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9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0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0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0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0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2" grpId="0" animBg="1"/>
      <p:bldP spid="90118" grpId="0" animBg="1"/>
      <p:bldP spid="2" grpId="0" animBg="1"/>
      <p:bldP spid="4" grpId="0" animBg="1"/>
      <p:bldP spid="90122" grpId="0" animBg="1"/>
      <p:bldP spid="1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OC_GUID" val="{617adc2c-afab-41d3-ab6f-2c5cb6b57ee1}"/>
</p:tagLst>
</file>

<file path=ppt/theme/theme1.xml><?xml version="1.0" encoding="utf-8"?>
<a:theme xmlns:a="http://schemas.openxmlformats.org/drawingml/2006/main" name="shuxuemoxing">
  <a:themeElements>
    <a:clrScheme name="shuxuemoxing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huxuemoxing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huxuemoxin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uxuemoxin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F:\数学模型电子教案\shuxuemoxing.pot</Template>
  <TotalTime>366</TotalTime>
  <Words>6321</Words>
  <Application>Microsoft Office PowerPoint</Application>
  <PresentationFormat>全屏显示(4:3)</PresentationFormat>
  <Paragraphs>1171</Paragraphs>
  <Slides>73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73</vt:i4>
      </vt:variant>
    </vt:vector>
  </HeadingPairs>
  <TitlesOfParts>
    <vt:vector size="84" baseType="lpstr">
      <vt:lpstr>等线</vt:lpstr>
      <vt:lpstr>黑体</vt:lpstr>
      <vt:lpstr>楷体_GB2312</vt:lpstr>
      <vt:lpstr>宋体</vt:lpstr>
      <vt:lpstr>Cambria Math</vt:lpstr>
      <vt:lpstr>Symbol</vt:lpstr>
      <vt:lpstr>Times New Roman</vt:lpstr>
      <vt:lpstr>shuxuemoxing</vt:lpstr>
      <vt:lpstr>MS_ClipArt_Gallery.2</vt:lpstr>
      <vt:lpstr>Equation.DSMT4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NGC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Jiang</dc:creator>
  <cp:lastModifiedBy>李 卫国</cp:lastModifiedBy>
  <cp:revision>141</cp:revision>
  <cp:lastPrinted>2000-05-15T14:27:58Z</cp:lastPrinted>
  <dcterms:created xsi:type="dcterms:W3CDTF">2000-03-28T01:20:00Z</dcterms:created>
  <dcterms:modified xsi:type="dcterms:W3CDTF">2022-05-17T03:25:44Z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2052-11.1.0.8527</vt:lpwstr>
  </property>
</Properties>
</file>