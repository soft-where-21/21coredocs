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6"/>
  </p:notesMasterIdLst>
  <p:sldIdLst>
    <p:sldId id="280" r:id="rId2"/>
    <p:sldId id="387" r:id="rId3"/>
    <p:sldId id="388" r:id="rId4"/>
    <p:sldId id="390" r:id="rId5"/>
    <p:sldId id="395" r:id="rId6"/>
    <p:sldId id="396" r:id="rId7"/>
    <p:sldId id="397" r:id="rId8"/>
    <p:sldId id="394" r:id="rId9"/>
    <p:sldId id="389" r:id="rId10"/>
    <p:sldId id="391" r:id="rId11"/>
    <p:sldId id="392" r:id="rId12"/>
    <p:sldId id="291" r:id="rId13"/>
    <p:sldId id="292" r:id="rId14"/>
    <p:sldId id="293" r:id="rId15"/>
    <p:sldId id="294" r:id="rId16"/>
    <p:sldId id="345" r:id="rId17"/>
    <p:sldId id="262" r:id="rId18"/>
    <p:sldId id="263" r:id="rId19"/>
    <p:sldId id="264" r:id="rId20"/>
    <p:sldId id="265" r:id="rId21"/>
    <p:sldId id="266" r:id="rId22"/>
    <p:sldId id="393" r:id="rId23"/>
    <p:sldId id="398" r:id="rId24"/>
    <p:sldId id="399" r:id="rId25"/>
    <p:sldId id="400" r:id="rId26"/>
    <p:sldId id="401" r:id="rId27"/>
    <p:sldId id="402" r:id="rId28"/>
    <p:sldId id="362" r:id="rId29"/>
    <p:sldId id="363" r:id="rId30"/>
    <p:sldId id="365" r:id="rId31"/>
    <p:sldId id="366" r:id="rId32"/>
    <p:sldId id="367" r:id="rId33"/>
    <p:sldId id="368" r:id="rId34"/>
    <p:sldId id="369" r:id="rId35"/>
    <p:sldId id="371" r:id="rId36"/>
    <p:sldId id="373" r:id="rId37"/>
    <p:sldId id="372" r:id="rId38"/>
    <p:sldId id="374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47" r:id="rId48"/>
    <p:sldId id="272" r:id="rId49"/>
    <p:sldId id="273" r:id="rId50"/>
    <p:sldId id="274" r:id="rId51"/>
    <p:sldId id="275" r:id="rId52"/>
    <p:sldId id="276" r:id="rId53"/>
    <p:sldId id="375" r:id="rId54"/>
    <p:sldId id="376" r:id="rId55"/>
    <p:sldId id="377" r:id="rId56"/>
    <p:sldId id="378" r:id="rId57"/>
    <p:sldId id="379" r:id="rId58"/>
    <p:sldId id="380" r:id="rId59"/>
    <p:sldId id="381" r:id="rId60"/>
    <p:sldId id="382" r:id="rId61"/>
    <p:sldId id="383" r:id="rId62"/>
    <p:sldId id="384" r:id="rId63"/>
    <p:sldId id="385" r:id="rId64"/>
    <p:sldId id="386" r:id="rId6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99FF"/>
    <a:srgbClr val="FFCCFF"/>
    <a:srgbClr val="FFCC66"/>
    <a:srgbClr val="99FFCC"/>
    <a:srgbClr val="FFFF00"/>
    <a:srgbClr val="FF3300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33" autoAdjust="0"/>
    <p:restoredTop sz="94660"/>
  </p:normalViewPr>
  <p:slideViewPr>
    <p:cSldViewPr>
      <p:cViewPr varScale="1">
        <p:scale>
          <a:sx n="57" d="100"/>
          <a:sy n="57" d="100"/>
        </p:scale>
        <p:origin x="146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90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2.wmf"/><Relationship Id="rId4" Type="http://schemas.openxmlformats.org/officeDocument/2006/relationships/image" Target="../media/image6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7.wmf"/><Relationship Id="rId1" Type="http://schemas.openxmlformats.org/officeDocument/2006/relationships/image" Target="../media/image62.wmf"/><Relationship Id="rId5" Type="http://schemas.openxmlformats.org/officeDocument/2006/relationships/image" Target="../media/image68.wmf"/><Relationship Id="rId4" Type="http://schemas.openxmlformats.org/officeDocument/2006/relationships/image" Target="../media/image64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69.wmf"/><Relationship Id="rId6" Type="http://schemas.openxmlformats.org/officeDocument/2006/relationships/image" Target="../media/image62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62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" Type="http://schemas.openxmlformats.org/officeDocument/2006/relationships/image" Target="../media/image6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77.wmf"/><Relationship Id="rId4" Type="http://schemas.openxmlformats.org/officeDocument/2006/relationships/image" Target="../media/image78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5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6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7.wmf"/><Relationship Id="rId1" Type="http://schemas.openxmlformats.org/officeDocument/2006/relationships/image" Target="../media/image8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4" Type="http://schemas.openxmlformats.org/officeDocument/2006/relationships/image" Target="../media/image9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3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8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50DDA07-B383-4A1D-81E8-68EFE46373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8A1E3BA-7AC6-4A30-B0EB-573F24F14EF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CFE83835-A58A-49ED-8DF4-93C09E7BCAEA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511FDB25-BC5B-4924-A47F-E19A0092B04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0551BD86-4827-4279-B856-673F4715072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5B3CCF43-B037-4B46-AA45-FCCAF6786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09FC34-5A88-4E94-864E-B48A34D6CEC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894677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9929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62989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812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3755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9643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K1.jp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04CEC37-3D9A-440B-AF74-E819FF588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2" descr="K2.jp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A60D0540-B480-431D-8791-F137E6F748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13" descr="K3.jpg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31E17097-3DD3-4C73-A9B9-FC668C4033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418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0825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91107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754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732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55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1" descr="K1.jp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24AB8BE-A440-4262-B282-66B3E78942A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6597650"/>
            <a:ext cx="5254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12" descr="K2.jp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A5FCA78-2B01-4EC0-AECB-ED3A55AFB0F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75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图片 13" descr="K3.jpg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36AB37F-53CA-4095-A63F-E1434230AE6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550" y="6597650"/>
            <a:ext cx="525463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9" r:id="rId7"/>
    <p:sldLayoutId id="2147483701" r:id="rId8"/>
    <p:sldLayoutId id="2147483700" r:id="rId9"/>
    <p:sldLayoutId id="2147483699" r:id="rId10"/>
    <p:sldLayoutId id="2147483698" r:id="rId11"/>
    <p:sldLayoutId id="214748370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9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jpeg"/><Relationship Id="rId5" Type="http://schemas.openxmlformats.org/officeDocument/2006/relationships/slide" Target="slide17.xml"/><Relationship Id="rId4" Type="http://schemas.openxmlformats.org/officeDocument/2006/relationships/slide" Target="slide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oleObject" Target="../embeddings/oleObject1.bin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6.wmf"/><Relationship Id="rId9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6.wmf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5.bin"/><Relationship Id="rId15" Type="http://schemas.openxmlformats.org/officeDocument/2006/relationships/image" Target="../media/image30.png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9.bin"/><Relationship Id="rId1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1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5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6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5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6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30.bin"/><Relationship Id="rId10" Type="http://schemas.openxmlformats.org/officeDocument/2006/relationships/image" Target="../media/image66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3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6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64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3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6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6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7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0" Type="http://schemas.openxmlformats.org/officeDocument/2006/relationships/image" Target="../media/image73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6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62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62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78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57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59.bin"/><Relationship Id="rId4" Type="http://schemas.openxmlformats.org/officeDocument/2006/relationships/image" Target="../media/image82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84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85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7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86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7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7.w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88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70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93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93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94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98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7" Type="http://schemas.openxmlformats.org/officeDocument/2006/relationships/image" Target="../media/image9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99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101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261AFFA6-79F5-48E2-A406-2E34624F3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95300"/>
            <a:ext cx="5029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zh-CN" sz="4000" b="1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zh-CN" altLang="en-US" sz="4000" b="1"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zh-CN" altLang="en-US" sz="4000" b="1">
                <a:ea typeface="隶书" panose="02010509060101010101" pitchFamily="49" charset="-122"/>
              </a:rPr>
              <a:t>二</a:t>
            </a:r>
            <a:r>
              <a:rPr lang="zh-CN" altLang="en-US" sz="4000" b="1">
                <a:latin typeface="隶书" panose="02010509060101010101" pitchFamily="49" charset="-122"/>
                <a:ea typeface="隶书" panose="02010509060101010101" pitchFamily="49" charset="-122"/>
              </a:rPr>
              <a:t>章  初等模型</a:t>
            </a:r>
          </a:p>
        </p:txBody>
      </p:sp>
      <p:sp>
        <p:nvSpPr>
          <p:cNvPr id="3075" name="Text Box 16">
            <a:extLst>
              <a:ext uri="{FF2B5EF4-FFF2-40B4-BE49-F238E27FC236}">
                <a16:creationId xmlns:a16="http://schemas.microsoft.com/office/drawing/2014/main" id="{58174491-14BE-4433-84F1-C84EB1B2F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557338"/>
            <a:ext cx="6985000" cy="454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en-US" altLang="zh-CN" sz="3200" b="1" u="sng" dirty="0">
                <a:solidFill>
                  <a:schemeClr val="hlink"/>
                </a:solidFill>
                <a:ea typeface="楷体_GB2312" pitchFamily="49" charset="-122"/>
              </a:rPr>
              <a:t>1</a:t>
            </a:r>
            <a:r>
              <a:rPr lang="zh-CN" altLang="en-US" sz="3200" b="1" u="sng" dirty="0">
                <a:solidFill>
                  <a:schemeClr val="hlink"/>
                </a:solidFill>
                <a:ea typeface="楷体_GB2312" pitchFamily="49" charset="-122"/>
              </a:rPr>
              <a:t>、</a:t>
            </a:r>
            <a:r>
              <a:rPr lang="zh-CN" altLang="en-US" sz="3200" b="1" u="sng" dirty="0">
                <a:solidFill>
                  <a:schemeClr val="hlink"/>
                </a:solidFill>
                <a:ea typeface="楷体_GB2312" pitchFamily="49" charset="-122"/>
                <a:hlinkClick r:id="rId3" action="ppaction://hlinksldjump"/>
              </a:rPr>
              <a:t>  估计出租车数量（案例</a:t>
            </a:r>
            <a:r>
              <a:rPr lang="en-US" altLang="zh-CN" sz="3200" b="1" u="sng" dirty="0">
                <a:solidFill>
                  <a:schemeClr val="hlink"/>
                </a:solidFill>
                <a:ea typeface="楷体_GB2312" pitchFamily="49" charset="-122"/>
                <a:hlinkClick r:id="rId3" action="ppaction://hlinksldjump"/>
              </a:rPr>
              <a:t>2.5</a:t>
            </a:r>
            <a:r>
              <a:rPr lang="zh-CN" altLang="en-US" sz="3200" b="1" u="sng" dirty="0">
                <a:solidFill>
                  <a:schemeClr val="hlink"/>
                </a:solidFill>
                <a:ea typeface="楷体_GB2312" pitchFamily="49" charset="-122"/>
                <a:hlinkClick r:id="rId3" action="ppaction://hlinksldjump"/>
              </a:rPr>
              <a:t>）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sz="3200" b="1" dirty="0">
                <a:solidFill>
                  <a:schemeClr val="hlink"/>
                </a:solidFill>
                <a:ea typeface="楷体_GB2312" pitchFamily="49" charset="-122"/>
              </a:rPr>
              <a:t>           </a:t>
            </a: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（随机模拟）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CN" sz="3200" b="1" u="sng" dirty="0">
                <a:solidFill>
                  <a:srgbClr val="FF3300"/>
                </a:solidFill>
                <a:ea typeface="楷体_GB2312" pitchFamily="49" charset="-122"/>
                <a:hlinkClick r:id="rId4" action="ppaction://hlinksldjump"/>
              </a:rPr>
              <a:t>2</a:t>
            </a:r>
            <a:r>
              <a:rPr lang="zh-CN" altLang="en-US" sz="3200" b="1" u="sng" dirty="0">
                <a:solidFill>
                  <a:srgbClr val="FF3300"/>
                </a:solidFill>
                <a:ea typeface="楷体_GB2312" pitchFamily="49" charset="-122"/>
                <a:hlinkClick r:id="rId4" action="ppaction://hlinksldjump"/>
              </a:rPr>
              <a:t>、  划艇比赛的成绩</a:t>
            </a:r>
            <a:r>
              <a:rPr lang="zh-CN" altLang="en-US" sz="3200" b="1" u="sng" dirty="0">
                <a:solidFill>
                  <a:srgbClr val="3333FF"/>
                </a:solidFill>
                <a:ea typeface="楷体_GB2312" pitchFamily="49" charset="-122"/>
              </a:rPr>
              <a:t>（案例</a:t>
            </a:r>
            <a:r>
              <a:rPr lang="en-US" altLang="zh-CN" sz="3200" b="1" u="sng" dirty="0">
                <a:solidFill>
                  <a:srgbClr val="3333FF"/>
                </a:solidFill>
                <a:ea typeface="楷体_GB2312" pitchFamily="49" charset="-122"/>
              </a:rPr>
              <a:t>2.2</a:t>
            </a:r>
            <a:r>
              <a:rPr lang="zh-CN" altLang="en-US" sz="3200" b="1" u="sng" dirty="0">
                <a:solidFill>
                  <a:srgbClr val="3333FF"/>
                </a:solidFill>
                <a:ea typeface="楷体_GB2312" pitchFamily="49" charset="-122"/>
              </a:rPr>
              <a:t>）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          （比例模型）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CN" sz="3200" b="1" u="sng" dirty="0">
                <a:solidFill>
                  <a:srgbClr val="3333FF"/>
                </a:solidFill>
                <a:ea typeface="楷体_GB2312" pitchFamily="49" charset="-122"/>
              </a:rPr>
              <a:t>3</a:t>
            </a:r>
            <a:r>
              <a:rPr lang="zh-CN" altLang="en-US" sz="3200" b="1" u="sng" dirty="0">
                <a:solidFill>
                  <a:srgbClr val="3333FF"/>
                </a:solidFill>
                <a:ea typeface="楷体_GB2312" pitchFamily="49" charset="-122"/>
              </a:rPr>
              <a:t>、 评选举重总冠军（案例</a:t>
            </a:r>
            <a:r>
              <a:rPr lang="en-US" altLang="zh-CN" sz="3200" b="1" u="sng" dirty="0">
                <a:solidFill>
                  <a:srgbClr val="3333FF"/>
                </a:solidFill>
                <a:ea typeface="楷体_GB2312" pitchFamily="49" charset="-122"/>
              </a:rPr>
              <a:t>2.6</a:t>
            </a:r>
            <a:r>
              <a:rPr lang="zh-CN" altLang="en-US" sz="3200" b="1" u="sng" dirty="0">
                <a:solidFill>
                  <a:srgbClr val="3333FF"/>
                </a:solidFill>
                <a:ea typeface="楷体_GB2312" pitchFamily="49" charset="-122"/>
              </a:rPr>
              <a:t>）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          （数据拟合）</a:t>
            </a:r>
            <a:endParaRPr lang="zh-CN" altLang="en-US" sz="3200" b="1" u="sng" dirty="0">
              <a:solidFill>
                <a:srgbClr val="FF3300"/>
              </a:solidFill>
              <a:ea typeface="楷体_GB2312" pitchFamily="49" charset="-122"/>
            </a:endParaRPr>
          </a:p>
          <a:p>
            <a:pPr eaLnBrk="1" hangingPunct="1">
              <a:spcBef>
                <a:spcPct val="15000"/>
              </a:spcBef>
            </a:pPr>
            <a:r>
              <a:rPr lang="en-US" altLang="zh-CN" sz="3200" b="1" u="sng" dirty="0">
                <a:solidFill>
                  <a:schemeClr val="hlink"/>
                </a:solidFill>
                <a:ea typeface="楷体_GB2312" pitchFamily="49" charset="-122"/>
              </a:rPr>
              <a:t>4</a:t>
            </a:r>
            <a:r>
              <a:rPr lang="zh-CN" altLang="en-US" sz="3200" b="1" u="sng" dirty="0">
                <a:solidFill>
                  <a:schemeClr val="hlink"/>
                </a:solidFill>
                <a:ea typeface="楷体_GB2312" pitchFamily="49" charset="-122"/>
              </a:rPr>
              <a:t>、</a:t>
            </a:r>
            <a:r>
              <a:rPr lang="zh-CN" altLang="en-US" sz="3200" b="1" u="sng" dirty="0">
                <a:solidFill>
                  <a:schemeClr val="hlink"/>
                </a:solidFill>
                <a:ea typeface="楷体_GB2312" pitchFamily="49" charset="-122"/>
                <a:hlinkClick r:id="rId5" action="ppaction://hlinksldjump"/>
              </a:rPr>
              <a:t>  核军备竞赛</a:t>
            </a:r>
            <a:r>
              <a:rPr lang="zh-CN" altLang="en-US" sz="3200" b="1" u="sng" dirty="0">
                <a:solidFill>
                  <a:schemeClr val="hlink"/>
                </a:solidFill>
                <a:ea typeface="楷体_GB2312" pitchFamily="49" charset="-122"/>
              </a:rPr>
              <a:t>（案例</a:t>
            </a:r>
            <a:r>
              <a:rPr lang="en-US" altLang="zh-CN" sz="3200" b="1" u="sng" dirty="0">
                <a:solidFill>
                  <a:schemeClr val="hlink"/>
                </a:solidFill>
                <a:ea typeface="楷体_GB2312" pitchFamily="49" charset="-122"/>
              </a:rPr>
              <a:t>2.8</a:t>
            </a:r>
            <a:r>
              <a:rPr lang="zh-CN" altLang="en-US" sz="3200" b="1" u="sng" dirty="0">
                <a:solidFill>
                  <a:schemeClr val="hlink"/>
                </a:solidFill>
                <a:ea typeface="楷体_GB2312" pitchFamily="49" charset="-122"/>
              </a:rPr>
              <a:t>）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sz="3200" b="1" dirty="0">
                <a:solidFill>
                  <a:schemeClr val="hlink"/>
                </a:solidFill>
                <a:ea typeface="楷体_GB2312" pitchFamily="49" charset="-122"/>
              </a:rPr>
              <a:t>          </a:t>
            </a:r>
            <a:r>
              <a:rPr lang="zh-CN" altLang="en-US" sz="3200" b="1" dirty="0">
                <a:solidFill>
                  <a:srgbClr val="FF3300"/>
                </a:solidFill>
                <a:ea typeface="楷体_GB2312" pitchFamily="49" charset="-122"/>
              </a:rPr>
              <a:t>（图模型）</a:t>
            </a:r>
            <a:endParaRPr lang="zh-CN" altLang="en-US" sz="3200" b="1" dirty="0">
              <a:solidFill>
                <a:srgbClr val="FF0000"/>
              </a:solidFill>
              <a:ea typeface="楷体_GB2312" pitchFamily="49" charset="-122"/>
              <a:hlinkClick r:id="rId5" action="ppaction://hlinksldjump"/>
            </a:endParaRPr>
          </a:p>
        </p:txBody>
      </p:sp>
      <p:pic>
        <p:nvPicPr>
          <p:cNvPr id="3076" name="Picture 4" descr="D:\work\101210数学模型（第四版）电子教案\logo.jpg">
            <a:extLst>
              <a:ext uri="{FF2B5EF4-FFF2-40B4-BE49-F238E27FC236}">
                <a16:creationId xmlns:a16="http://schemas.microsoft.com/office/drawing/2014/main" id="{B7DEBC0D-6F79-44B0-A8DD-AC4AD9310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60"/>
          <a:stretch>
            <a:fillRect/>
          </a:stretch>
        </p:blipFill>
        <p:spPr bwMode="auto">
          <a:xfrm>
            <a:off x="17463" y="20638"/>
            <a:ext cx="3335337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66" name="Text Box 10">
            <a:extLst>
              <a:ext uri="{FF2B5EF4-FFF2-40B4-BE49-F238E27FC236}">
                <a16:creationId xmlns:a16="http://schemas.microsoft.com/office/drawing/2014/main" id="{57F8C35E-ABBE-4E8C-BCCF-CA35BD647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84313"/>
            <a:ext cx="61928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研究对象的机理比较简单</a:t>
            </a:r>
          </a:p>
        </p:txBody>
      </p:sp>
      <p:sp>
        <p:nvSpPr>
          <p:cNvPr id="173067" name="Text Box 11">
            <a:extLst>
              <a:ext uri="{FF2B5EF4-FFF2-40B4-BE49-F238E27FC236}">
                <a16:creationId xmlns:a16="http://schemas.microsoft.com/office/drawing/2014/main" id="{53E167A9-A9AE-41B2-9E92-B036F2ACC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276475"/>
            <a:ext cx="7561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用静态、线性、确定性模型即可达到建模目的</a:t>
            </a:r>
          </a:p>
        </p:txBody>
      </p:sp>
      <p:sp>
        <p:nvSpPr>
          <p:cNvPr id="173068" name="Text Box 12">
            <a:extLst>
              <a:ext uri="{FF2B5EF4-FFF2-40B4-BE49-F238E27FC236}">
                <a16:creationId xmlns:a16="http://schemas.microsoft.com/office/drawing/2014/main" id="{EC7B61A6-830C-4270-BF0E-5DABCC06A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068638"/>
            <a:ext cx="67691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可以利用初等数学方法来构造和求解模型</a:t>
            </a:r>
          </a:p>
        </p:txBody>
      </p:sp>
      <p:sp>
        <p:nvSpPr>
          <p:cNvPr id="173069" name="Rectangle 13">
            <a:extLst>
              <a:ext uri="{FF2B5EF4-FFF2-40B4-BE49-F238E27FC236}">
                <a16:creationId xmlns:a16="http://schemas.microsoft.com/office/drawing/2014/main" id="{472E3AF3-3077-43AA-80D6-BE18C9DD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372100"/>
            <a:ext cx="5543550" cy="6096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ea typeface="楷体_GB2312" pitchFamily="49" charset="-122"/>
              </a:rPr>
              <a:t>尽量采用简单的数学工具来建模 ！</a:t>
            </a:r>
          </a:p>
        </p:txBody>
      </p:sp>
      <p:sp>
        <p:nvSpPr>
          <p:cNvPr id="173070" name="Text Box 14">
            <a:extLst>
              <a:ext uri="{FF2B5EF4-FFF2-40B4-BE49-F238E27FC236}">
                <a16:creationId xmlns:a16="http://schemas.microsoft.com/office/drawing/2014/main" id="{5E3AA897-61AD-49EB-A319-F67B43487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3789363"/>
            <a:ext cx="80645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/>
              <a:t>如果用初等和高等的方法建立的模型，其应用效果差不多，那么初等模型更高明，也更受欢迎</a:t>
            </a:r>
            <a:r>
              <a:rPr lang="en-US" altLang="zh-CN" sz="2800" b="1"/>
              <a:t>.</a:t>
            </a:r>
          </a:p>
        </p:txBody>
      </p:sp>
      <p:sp>
        <p:nvSpPr>
          <p:cNvPr id="4103" name="Text Box 15">
            <a:extLst>
              <a:ext uri="{FF2B5EF4-FFF2-40B4-BE49-F238E27FC236}">
                <a16:creationId xmlns:a16="http://schemas.microsoft.com/office/drawing/2014/main" id="{140B830D-0637-4F8A-9FB2-AF9F0E996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620713"/>
            <a:ext cx="2808287" cy="6508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30000"/>
              </a:spcBef>
            </a:pPr>
            <a:r>
              <a:rPr lang="zh-CN" altLang="en-US" sz="3600" b="1">
                <a:latin typeface="隶书" panose="02010509060101010101" pitchFamily="49" charset="-122"/>
                <a:ea typeface="隶书" panose="02010509060101010101" pitchFamily="49" charset="-122"/>
              </a:rPr>
              <a:t>初 等 模 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1000"/>
                                        <p:tgtEl>
                                          <p:spTgt spid="17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6" grpId="0"/>
      <p:bldP spid="173067" grpId="0"/>
      <p:bldP spid="173068" grpId="0" animBg="1"/>
      <p:bldP spid="173069" grpId="0" animBg="1" autoUpdateAnimBg="0"/>
      <p:bldP spid="1730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0">
            <a:extLst>
              <a:ext uri="{FF2B5EF4-FFF2-40B4-BE49-F238E27FC236}">
                <a16:creationId xmlns:a16="http://schemas.microsoft.com/office/drawing/2014/main" id="{1E06C11C-2AB4-4A98-B0E0-DB2022084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85900"/>
            <a:ext cx="756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问题：</a:t>
            </a:r>
            <a:r>
              <a:rPr lang="zh-CN" altLang="en-US" b="1"/>
              <a:t>   随机记录出租车牌照号，估计出租车总数。</a:t>
            </a:r>
          </a:p>
        </p:txBody>
      </p:sp>
      <p:sp>
        <p:nvSpPr>
          <p:cNvPr id="55303" name="Text Box 15">
            <a:extLst>
              <a:ext uri="{FF2B5EF4-FFF2-40B4-BE49-F238E27FC236}">
                <a16:creationId xmlns:a16="http://schemas.microsoft.com/office/drawing/2014/main" id="{467584AE-39A1-4059-8CC8-5750849D9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692150"/>
            <a:ext cx="51847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30000"/>
              </a:spcBef>
            </a:pPr>
            <a:r>
              <a:rPr lang="en-US" altLang="zh-CN" sz="3600" b="1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</a:t>
            </a:r>
            <a:r>
              <a:rPr lang="zh-CN" altLang="en-US" sz="3600" b="1">
                <a:solidFill>
                  <a:srgbClr val="3333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、估计出租车总数</a:t>
            </a:r>
          </a:p>
        </p:txBody>
      </p:sp>
      <p:sp>
        <p:nvSpPr>
          <p:cNvPr id="55307" name="Text Box 12">
            <a:extLst>
              <a:ext uri="{FF2B5EF4-FFF2-40B4-BE49-F238E27FC236}">
                <a16:creationId xmlns:a16="http://schemas.microsoft.com/office/drawing/2014/main" id="{0E688A53-5754-4755-9CC6-29B71A41C4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141663"/>
            <a:ext cx="65532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楷体_GB2312" pitchFamily="49" charset="-122"/>
              </a:rPr>
              <a:t>    321, 028, 602, 310, 498, 574, 612, 429, 767, 212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55308" name="Text Box 14">
            <a:extLst>
              <a:ext uri="{FF2B5EF4-FFF2-40B4-BE49-F238E27FC236}">
                <a16:creationId xmlns:a16="http://schemas.microsoft.com/office/drawing/2014/main" id="{72434C23-6C64-4DAA-9532-7460D8B19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989138"/>
            <a:ext cx="73802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假设：</a:t>
            </a:r>
            <a:r>
              <a:rPr lang="zh-CN" altLang="en-US" b="1"/>
              <a:t>  号牌从</a:t>
            </a:r>
            <a:r>
              <a:rPr lang="en-US" altLang="zh-CN" b="1"/>
              <a:t>101</a:t>
            </a:r>
            <a:r>
              <a:rPr lang="zh-CN" altLang="en-US" b="1"/>
              <a:t>开始顺序发放；随机选取</a:t>
            </a:r>
            <a:r>
              <a:rPr lang="en-US" altLang="zh-CN" b="1"/>
              <a:t>10</a:t>
            </a:r>
            <a:r>
              <a:rPr lang="zh-CN" altLang="en-US" b="1"/>
              <a:t>个牌照</a:t>
            </a:r>
          </a:p>
        </p:txBody>
      </p:sp>
      <p:sp>
        <p:nvSpPr>
          <p:cNvPr id="55309" name="Text Box 14">
            <a:extLst>
              <a:ext uri="{FF2B5EF4-FFF2-40B4-BE49-F238E27FC236}">
                <a16:creationId xmlns:a16="http://schemas.microsoft.com/office/drawing/2014/main" id="{B44CDF8E-08CA-43F0-8A02-7AA70F93F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565400"/>
            <a:ext cx="73802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简化：</a:t>
            </a:r>
            <a:r>
              <a:rPr lang="zh-CN" altLang="en-US" b="1"/>
              <a:t>  数据</a:t>
            </a:r>
            <a:r>
              <a:rPr lang="en-US" altLang="zh-CN" b="1"/>
              <a:t>-100</a:t>
            </a:r>
            <a:r>
              <a:rPr lang="zh-CN" altLang="en-US" b="1"/>
              <a:t>，视为从</a:t>
            </a:r>
            <a:r>
              <a:rPr lang="en-US" altLang="zh-CN" b="1"/>
              <a:t>1</a:t>
            </a:r>
            <a:r>
              <a:rPr lang="zh-CN" altLang="en-US" b="1"/>
              <a:t>开始顺序发放汽车号牌</a:t>
            </a:r>
          </a:p>
        </p:txBody>
      </p:sp>
      <p:sp>
        <p:nvSpPr>
          <p:cNvPr id="55310" name="Text Box 14">
            <a:extLst>
              <a:ext uri="{FF2B5EF4-FFF2-40B4-BE49-F238E27FC236}">
                <a16:creationId xmlns:a16="http://schemas.microsoft.com/office/drawing/2014/main" id="{30E176A4-67CE-4E7C-9B47-095B04F3D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084763"/>
            <a:ext cx="7380288" cy="1189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思路：</a:t>
            </a:r>
            <a:r>
              <a:rPr lang="zh-CN" altLang="en-US" b="1" dirty="0"/>
              <a:t>视为从</a:t>
            </a:r>
            <a:r>
              <a:rPr lang="en-US" altLang="zh-CN" b="1" dirty="0"/>
              <a:t>1</a:t>
            </a:r>
            <a:r>
              <a:rPr lang="zh-CN" altLang="en-US" b="1" dirty="0"/>
              <a:t>到 </a:t>
            </a:r>
            <a:r>
              <a:rPr lang="en-US" altLang="zh-CN" b="1" i="1" dirty="0"/>
              <a:t>x </a:t>
            </a:r>
            <a:r>
              <a:rPr lang="zh-CN" altLang="en-US" b="1" dirty="0"/>
              <a:t>的等可能分布总体中随机抽样</a:t>
            </a:r>
          </a:p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 dirty="0"/>
              <a:t>           提出对未知参数  </a:t>
            </a:r>
            <a:r>
              <a:rPr lang="en-US" altLang="zh-CN" b="1" dirty="0"/>
              <a:t>x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zh-CN" altLang="en-US" b="1" dirty="0"/>
              <a:t>的估计方法。 </a:t>
            </a:r>
          </a:p>
        </p:txBody>
      </p:sp>
      <p:sp>
        <p:nvSpPr>
          <p:cNvPr id="55311" name="Text Box 12">
            <a:extLst>
              <a:ext uri="{FF2B5EF4-FFF2-40B4-BE49-F238E27FC236}">
                <a16:creationId xmlns:a16="http://schemas.microsoft.com/office/drawing/2014/main" id="{5477A1CA-CFD7-443E-A9A3-7D08D9D83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292600"/>
            <a:ext cx="65532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楷体_GB2312" pitchFamily="49" charset="-122"/>
              </a:rPr>
              <a:t>  028, 212 , 310, 321, 429, 498, 574, 602, 612, 767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55312" name="Text Box 14">
            <a:extLst>
              <a:ext uri="{FF2B5EF4-FFF2-40B4-BE49-F238E27FC236}">
                <a16:creationId xmlns:a16="http://schemas.microsoft.com/office/drawing/2014/main" id="{529BCD09-E0DF-495C-89A9-5BF459291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644900"/>
            <a:ext cx="7380287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b="1"/>
              <a:t>                数据排序：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/>
      <p:bldP spid="55307" grpId="0" animBg="1"/>
      <p:bldP spid="55308" grpId="0"/>
      <p:bldP spid="55309" grpId="0"/>
      <p:bldP spid="55310" grpId="0"/>
      <p:bldP spid="55311" grpId="0" animBg="1"/>
      <p:bldP spid="553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0">
            <a:extLst>
              <a:ext uri="{FF2B5EF4-FFF2-40B4-BE49-F238E27FC236}">
                <a16:creationId xmlns:a16="http://schemas.microsoft.com/office/drawing/2014/main" id="{7267D569-140B-4ED3-85DE-11F895EAF7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692150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1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平均值模型</a:t>
            </a:r>
          </a:p>
        </p:txBody>
      </p:sp>
      <p:graphicFrame>
        <p:nvGraphicFramePr>
          <p:cNvPr id="148499" name="Object 19">
            <a:extLst>
              <a:ext uri="{FF2B5EF4-FFF2-40B4-BE49-F238E27FC236}">
                <a16:creationId xmlns:a16="http://schemas.microsoft.com/office/drawing/2014/main" id="{803B016B-821E-4DAF-A354-114DEBB96F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135004"/>
              </p:ext>
            </p:extLst>
          </p:nvPr>
        </p:nvGraphicFramePr>
        <p:xfrm>
          <a:off x="5219700" y="620713"/>
          <a:ext cx="17970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7" name="公式" r:id="rId3" imgW="672840" imgH="190440" progId="Equation.3">
                  <p:embed/>
                </p:oleObj>
              </mc:Choice>
              <mc:Fallback>
                <p:oleObj name="公式" r:id="rId3" imgW="672840" imgH="1904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620713"/>
                        <a:ext cx="1797050" cy="5048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19">
                <a:extLst>
                  <a:ext uri="{FF2B5EF4-FFF2-40B4-BE49-F238E27FC236}">
                    <a16:creationId xmlns:a16="http://schemas.microsoft.com/office/drawing/2014/main" id="{BC5F0773-AB00-44D1-98A6-0B2A49438F98}"/>
                  </a:ext>
                </a:extLst>
              </p:cNvPr>
              <p:cNvSpPr txBox="1"/>
              <p:nvPr/>
            </p:nvSpPr>
            <p:spPr bwMode="auto">
              <a:xfrm>
                <a:off x="1532757" y="2536477"/>
                <a:ext cx="6408712" cy="720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  <m:r>
                      <a:rPr lang="zh-CN" altLang="en-US" sz="2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++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den>
                    </m:f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den>
                    </m:f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zh-CN" altLang="en-US" sz="2800" b="1" dirty="0"/>
              </a:p>
            </p:txBody>
          </p:sp>
        </mc:Choice>
        <mc:Fallback>
          <p:sp>
            <p:nvSpPr>
              <p:cNvPr id="3" name="Object 19">
                <a:extLst>
                  <a:ext uri="{FF2B5EF4-FFF2-40B4-BE49-F238E27FC236}">
                    <a16:creationId xmlns:a16="http://schemas.microsoft.com/office/drawing/2014/main" id="{BC5F0773-AB00-44D1-98A6-0B2A49438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2757" y="2536477"/>
                <a:ext cx="6408712" cy="7200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552B9D3E-7EE8-4825-BFEE-EF55870875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86792"/>
                  </p:ext>
                </p:extLst>
              </p:nvPr>
            </p:nvGraphicFramePr>
            <p:xfrm>
              <a:off x="1365074" y="1334654"/>
              <a:ext cx="6576395" cy="102277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39485">
                      <a:extLst>
                        <a:ext uri="{9D8B030D-6E8A-4147-A177-3AD203B41FA5}">
                          <a16:colId xmlns:a16="http://schemas.microsoft.com/office/drawing/2014/main" val="1755884532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4096169117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2629205221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3543950914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267047867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1008561411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229217353"/>
                        </a:ext>
                      </a:extLst>
                    </a:gridCol>
                  </a:tblGrid>
                  <a:tr h="5113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N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X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5895759"/>
                      </a:ext>
                    </a:extLst>
                  </a:tr>
                  <a:tr h="5113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P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1/x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1/x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2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1/x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8082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8">
                <a:extLst>
                  <a:ext uri="{FF2B5EF4-FFF2-40B4-BE49-F238E27FC236}">
                    <a16:creationId xmlns:a16="http://schemas.microsoft.com/office/drawing/2014/main" id="{552B9D3E-7EE8-4825-BFEE-EF55870875D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886792"/>
                  </p:ext>
                </p:extLst>
              </p:nvPr>
            </p:nvGraphicFramePr>
            <p:xfrm>
              <a:off x="1365074" y="1334654"/>
              <a:ext cx="6576395" cy="1022778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939485">
                      <a:extLst>
                        <a:ext uri="{9D8B030D-6E8A-4147-A177-3AD203B41FA5}">
                          <a16:colId xmlns:a16="http://schemas.microsoft.com/office/drawing/2014/main" val="1755884532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4096169117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2629205221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3543950914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267047867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1008561411"/>
                        </a:ext>
                      </a:extLst>
                    </a:gridCol>
                    <a:gridCol w="939485">
                      <a:extLst>
                        <a:ext uri="{9D8B030D-6E8A-4147-A177-3AD203B41FA5}">
                          <a16:colId xmlns:a16="http://schemas.microsoft.com/office/drawing/2014/main" val="229217353"/>
                        </a:ext>
                      </a:extLst>
                    </a:gridCol>
                  </a:tblGrid>
                  <a:tr h="5113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N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2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301299" t="-8235" r="-303247" b="-11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1299" t="-8235" r="-203247" b="-1152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X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25895759"/>
                      </a:ext>
                    </a:extLst>
                  </a:tr>
                  <a:tr h="5113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P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1/x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1/x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401299" t="-109524" r="-203247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b="1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1/x</a:t>
                          </a:r>
                          <a:endParaRPr lang="zh-CN" altLang="en-US" sz="2400" b="1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308082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Object 19">
                <a:extLst>
                  <a:ext uri="{FF2B5EF4-FFF2-40B4-BE49-F238E27FC236}">
                    <a16:creationId xmlns:a16="http://schemas.microsoft.com/office/drawing/2014/main" id="{846E5E3A-6698-4189-A70D-6FEA5A1E1F2E}"/>
                  </a:ext>
                </a:extLst>
              </p:cNvPr>
              <p:cNvSpPr txBox="1"/>
              <p:nvPr/>
            </p:nvSpPr>
            <p:spPr bwMode="auto">
              <a:xfrm>
                <a:off x="1532757" y="3291610"/>
                <a:ext cx="6408712" cy="720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:r>
                  <a:rPr lang="zh-CN" altLang="en-US" sz="2800" b="1" dirty="0">
                    <a:solidFill>
                      <a:schemeClr val="tx1"/>
                    </a:solidFill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</m:oMath>
                </a14:m>
                <a:r>
                  <a:rPr lang="zh-CN" altLang="en-US" sz="2800" b="1" dirty="0"/>
                  <a:t> 得：</a:t>
                </a:r>
              </a:p>
            </p:txBody>
          </p:sp>
        </mc:Choice>
        <mc:Fallback>
          <p:sp>
            <p:nvSpPr>
              <p:cNvPr id="15" name="Object 19">
                <a:extLst>
                  <a:ext uri="{FF2B5EF4-FFF2-40B4-BE49-F238E27FC236}">
                    <a16:creationId xmlns:a16="http://schemas.microsoft.com/office/drawing/2014/main" id="{846E5E3A-6698-4189-A70D-6FEA5A1E1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32757" y="3291610"/>
                <a:ext cx="6408712" cy="720030"/>
              </a:xfrm>
              <a:prstGeom prst="rect">
                <a:avLst/>
              </a:prstGeom>
              <a:blipFill>
                <a:blip r:embed="rId7"/>
                <a:stretch>
                  <a:fillRect l="-1901" t="-11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Object 19">
            <a:extLst>
              <a:ext uri="{FF2B5EF4-FFF2-40B4-BE49-F238E27FC236}">
                <a16:creationId xmlns:a16="http://schemas.microsoft.com/office/drawing/2014/main" id="{096BF307-F812-4C9D-AECD-689F614F48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147008"/>
              </p:ext>
            </p:extLst>
          </p:nvPr>
        </p:nvGraphicFramePr>
        <p:xfrm>
          <a:off x="4572000" y="3265632"/>
          <a:ext cx="17970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8" name="公式" r:id="rId3" imgW="672840" imgH="190440" progId="Equation.3">
                  <p:embed/>
                </p:oleObj>
              </mc:Choice>
              <mc:Fallback>
                <p:oleObj name="公式" r:id="rId3" imgW="672840" imgH="190440" progId="Equation.3">
                  <p:embed/>
                  <p:pic>
                    <p:nvPicPr>
                      <p:cNvPr id="148499" name="Object 19">
                        <a:extLst>
                          <a:ext uri="{FF2B5EF4-FFF2-40B4-BE49-F238E27FC236}">
                            <a16:creationId xmlns:a16="http://schemas.microsoft.com/office/drawing/2014/main" id="{803B016B-821E-4DAF-A354-114DEBB96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65632"/>
                        <a:ext cx="17970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0">
            <a:extLst>
              <a:ext uri="{FF2B5EF4-FFF2-40B4-BE49-F238E27FC236}">
                <a16:creationId xmlns:a16="http://schemas.microsoft.com/office/drawing/2014/main" id="{46492E74-7E5B-445D-9E7B-343601EF2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4293096"/>
            <a:ext cx="3167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2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中位数模型</a:t>
            </a:r>
          </a:p>
        </p:txBody>
      </p:sp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EA0B0EA6-7C53-4AD0-9918-37BAFA85BA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690079"/>
              </p:ext>
            </p:extLst>
          </p:nvPr>
        </p:nvGraphicFramePr>
        <p:xfrm>
          <a:off x="4906149" y="5141163"/>
          <a:ext cx="20351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9" name="公式" r:id="rId8" imgW="761760" imgH="228600" progId="Equation.3">
                  <p:embed/>
                </p:oleObj>
              </mc:Choice>
              <mc:Fallback>
                <p:oleObj name="公式" r:id="rId8" imgW="761760" imgH="228600" progId="Equation.3">
                  <p:embed/>
                  <p:pic>
                    <p:nvPicPr>
                      <p:cNvPr id="2" name="Object 19">
                        <a:extLst>
                          <a:ext uri="{FF2B5EF4-FFF2-40B4-BE49-F238E27FC236}">
                            <a16:creationId xmlns:a16="http://schemas.microsoft.com/office/drawing/2014/main" id="{7E8FB39B-C7DA-4F84-B3CD-303A1695DA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149" y="5141163"/>
                        <a:ext cx="2035175" cy="6064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AF11D65C-1DE8-4C94-9F82-85DB0F1A8878}"/>
                  </a:ext>
                </a:extLst>
              </p:cNvPr>
              <p:cNvSpPr txBox="1"/>
              <p:nvPr/>
            </p:nvSpPr>
            <p:spPr bwMode="auto">
              <a:xfrm>
                <a:off x="1365074" y="5066855"/>
                <a:ext cx="3062910" cy="720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:r>
                  <a:rPr lang="zh-CN" altLang="en-US" sz="2800" b="1" dirty="0">
                    <a:solidFill>
                      <a:schemeClr val="tx1"/>
                    </a:solidFill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</m:oMath>
                </a14:m>
                <a:r>
                  <a:rPr lang="zh-CN" altLang="en-US" sz="2800" b="1" dirty="0"/>
                  <a:t> 得：</a:t>
                </a:r>
              </a:p>
            </p:txBody>
          </p:sp>
        </mc:Choice>
        <mc:Fallback>
          <p:sp>
            <p:nvSpPr>
              <p:cNvPr id="19" name="Object 19">
                <a:extLst>
                  <a:ext uri="{FF2B5EF4-FFF2-40B4-BE49-F238E27FC236}">
                    <a16:creationId xmlns:a16="http://schemas.microsoft.com/office/drawing/2014/main" id="{AF11D65C-1DE8-4C94-9F82-85DB0F1A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5074" y="5066855"/>
                <a:ext cx="3062910" cy="720030"/>
              </a:xfrm>
              <a:prstGeom prst="rect">
                <a:avLst/>
              </a:prstGeom>
              <a:blipFill>
                <a:blip r:embed="rId10"/>
                <a:stretch>
                  <a:fillRect l="-4183" t="-11017" r="-33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6" grpId="0"/>
      <p:bldP spid="3" grpId="0"/>
      <p:bldP spid="15" grpId="0"/>
      <p:bldP spid="1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10">
                <a:extLst>
                  <a:ext uri="{FF2B5EF4-FFF2-40B4-BE49-F238E27FC236}">
                    <a16:creationId xmlns:a16="http://schemas.microsoft.com/office/drawing/2014/main" id="{46492E74-7E5B-445D-9E7B-343601EF20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5596" y="3092814"/>
                <a:ext cx="727280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F3300"/>
                    </a:solidFill>
                  </a:rPr>
                  <a:t> 根据  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dirty="0"/>
                  <a:t> 的间隔与到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/>
                  <a:t> 到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/>
                  <a:t> 的间隔相等。可知</a:t>
                </a:r>
              </a:p>
            </p:txBody>
          </p:sp>
        </mc:Choice>
        <mc:Fallback>
          <p:sp>
            <p:nvSpPr>
              <p:cNvPr id="17" name="Text Box 10">
                <a:extLst>
                  <a:ext uri="{FF2B5EF4-FFF2-40B4-BE49-F238E27FC236}">
                    <a16:creationId xmlns:a16="http://schemas.microsoft.com/office/drawing/2014/main" id="{46492E74-7E5B-445D-9E7B-343601EF2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5596" y="3092814"/>
                <a:ext cx="7272808" cy="461665"/>
              </a:xfrm>
              <a:prstGeom prst="rect">
                <a:avLst/>
              </a:prstGeom>
              <a:blipFill>
                <a:blip r:embed="rId2"/>
                <a:stretch>
                  <a:fillRect l="-251" t="-14474" b="-30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C97C726-B783-4750-9B4E-3338C7BB9222}"/>
              </a:ext>
            </a:extLst>
          </p:cNvPr>
          <p:cNvCxnSpPr>
            <a:cxnSpLocks/>
          </p:cNvCxnSpPr>
          <p:nvPr/>
        </p:nvCxnSpPr>
        <p:spPr bwMode="auto">
          <a:xfrm>
            <a:off x="1393924" y="2081328"/>
            <a:ext cx="6634460" cy="47259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4F22C1B-F3F7-422F-8223-76D6B877431A}"/>
              </a:ext>
            </a:extLst>
          </p:cNvPr>
          <p:cNvCxnSpPr>
            <a:cxnSpLocks/>
          </p:cNvCxnSpPr>
          <p:nvPr/>
        </p:nvCxnSpPr>
        <p:spPr bwMode="auto">
          <a:xfrm flipV="1">
            <a:off x="2699792" y="1747530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88AE8AE-13C1-4E04-A3C7-E9F49AB8F069}"/>
              </a:ext>
            </a:extLst>
          </p:cNvPr>
          <p:cNvCxnSpPr>
            <a:cxnSpLocks/>
          </p:cNvCxnSpPr>
          <p:nvPr/>
        </p:nvCxnSpPr>
        <p:spPr bwMode="auto">
          <a:xfrm flipV="1">
            <a:off x="6084168" y="1844824"/>
            <a:ext cx="0" cy="2837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474C84C-3321-4F92-97CA-83D52C38336D}"/>
              </a:ext>
            </a:extLst>
          </p:cNvPr>
          <p:cNvCxnSpPr>
            <a:cxnSpLocks/>
          </p:cNvCxnSpPr>
          <p:nvPr/>
        </p:nvCxnSpPr>
        <p:spPr bwMode="auto">
          <a:xfrm flipV="1">
            <a:off x="7031528" y="1821194"/>
            <a:ext cx="0" cy="28376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AA79366-EE1A-4867-A2D0-400816755F45}"/>
              </a:ext>
            </a:extLst>
          </p:cNvPr>
          <p:cNvCxnSpPr>
            <a:cxnSpLocks/>
          </p:cNvCxnSpPr>
          <p:nvPr/>
        </p:nvCxnSpPr>
        <p:spPr bwMode="auto">
          <a:xfrm flipV="1">
            <a:off x="1763688" y="1747530"/>
            <a:ext cx="0" cy="3337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Box 10">
                <a:extLst>
                  <a:ext uri="{FF2B5EF4-FFF2-40B4-BE49-F238E27FC236}">
                    <a16:creationId xmlns:a16="http://schemas.microsoft.com/office/drawing/2014/main" id="{0428C0CF-F7A1-42C6-9013-02CE7E36A1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3921" y="3627026"/>
                <a:ext cx="298833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2" name="Text Box 10">
                <a:extLst>
                  <a:ext uri="{FF2B5EF4-FFF2-40B4-BE49-F238E27FC236}">
                    <a16:creationId xmlns:a16="http://schemas.microsoft.com/office/drawing/2014/main" id="{0428C0CF-F7A1-42C6-9013-02CE7E36A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3921" y="3627026"/>
                <a:ext cx="2988332" cy="461665"/>
              </a:xfrm>
              <a:prstGeom prst="rect">
                <a:avLst/>
              </a:prstGeom>
              <a:blipFill>
                <a:blip r:embed="rId3"/>
                <a:stretch>
                  <a:fillRect b="-26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19">
                <a:extLst>
                  <a:ext uri="{FF2B5EF4-FFF2-40B4-BE49-F238E27FC236}">
                    <a16:creationId xmlns:a16="http://schemas.microsoft.com/office/drawing/2014/main" id="{6170D635-0BB3-4493-8EF7-324E75606944}"/>
                  </a:ext>
                </a:extLst>
              </p:cNvPr>
              <p:cNvSpPr txBox="1"/>
              <p:nvPr/>
            </p:nvSpPr>
            <p:spPr bwMode="auto">
              <a:xfrm>
                <a:off x="1907704" y="4202272"/>
                <a:ext cx="2988332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33" name="Object 19">
                <a:extLst>
                  <a:ext uri="{FF2B5EF4-FFF2-40B4-BE49-F238E27FC236}">
                    <a16:creationId xmlns:a16="http://schemas.microsoft.com/office/drawing/2014/main" id="{6170D635-0BB3-4493-8EF7-324E75606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7704" y="4202272"/>
                <a:ext cx="2988332" cy="606425"/>
              </a:xfrm>
              <a:prstGeom prst="rect">
                <a:avLst/>
              </a:prstGeom>
              <a:blipFill>
                <a:blip r:embed="rId4"/>
                <a:stretch>
                  <a:fillRect l="-816" t="-3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721FBAB-C0BD-4A84-ADCE-B29EBB72293A}"/>
              </a:ext>
            </a:extLst>
          </p:cNvPr>
          <p:cNvCxnSpPr/>
          <p:nvPr/>
        </p:nvCxnSpPr>
        <p:spPr>
          <a:xfrm>
            <a:off x="1763688" y="1914429"/>
            <a:ext cx="93610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B63C6E0-E936-4988-B8DB-93333CCF5C42}"/>
              </a:ext>
            </a:extLst>
          </p:cNvPr>
          <p:cNvCxnSpPr/>
          <p:nvPr/>
        </p:nvCxnSpPr>
        <p:spPr>
          <a:xfrm>
            <a:off x="6084168" y="1963075"/>
            <a:ext cx="93610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bject 19">
                <a:extLst>
                  <a:ext uri="{FF2B5EF4-FFF2-40B4-BE49-F238E27FC236}">
                    <a16:creationId xmlns:a16="http://schemas.microsoft.com/office/drawing/2014/main" id="{17D974F1-E9A6-4154-85B9-4A71CDCEF7F5}"/>
                  </a:ext>
                </a:extLst>
              </p:cNvPr>
              <p:cNvSpPr txBox="1"/>
              <p:nvPr/>
            </p:nvSpPr>
            <p:spPr bwMode="auto">
              <a:xfrm>
                <a:off x="1524184" y="2202929"/>
                <a:ext cx="6156137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:r>
                  <a:rPr lang="zh-CN" altLang="en-US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1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   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40" name="Object 19">
                <a:extLst>
                  <a:ext uri="{FF2B5EF4-FFF2-40B4-BE49-F238E27FC236}">
                    <a16:creationId xmlns:a16="http://schemas.microsoft.com/office/drawing/2014/main" id="{17D974F1-E9A6-4154-85B9-4A71CDCEF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184" y="2202929"/>
                <a:ext cx="6156137" cy="606425"/>
              </a:xfrm>
              <a:prstGeom prst="rect">
                <a:avLst/>
              </a:prstGeom>
              <a:blipFill>
                <a:blip r:embed="rId5"/>
                <a:stretch>
                  <a:fillRect l="-297" t="-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10">
            <a:extLst>
              <a:ext uri="{FF2B5EF4-FFF2-40B4-BE49-F238E27FC236}">
                <a16:creationId xmlns:a16="http://schemas.microsoft.com/office/drawing/2014/main" id="{D9FD6BF2-5727-49AF-9B01-3879251D9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376" y="741969"/>
            <a:ext cx="4752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3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两端间隔对称模型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Object 19">
                <a:extLst>
                  <a:ext uri="{FF2B5EF4-FFF2-40B4-BE49-F238E27FC236}">
                    <a16:creationId xmlns:a16="http://schemas.microsoft.com/office/drawing/2014/main" id="{0D3EC1CD-8972-487B-96EB-D82D4A2975B4}"/>
                  </a:ext>
                </a:extLst>
              </p:cNvPr>
              <p:cNvSpPr txBox="1"/>
              <p:nvPr/>
            </p:nvSpPr>
            <p:spPr bwMode="auto">
              <a:xfrm>
                <a:off x="5468600" y="741969"/>
                <a:ext cx="2739804" cy="584190"/>
              </a:xfrm>
              <a:prstGeom prst="rect">
                <a:avLst/>
              </a:prstGeom>
              <a:solidFill>
                <a:srgbClr val="FF99FF"/>
              </a:solidFill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48" name="Object 19">
                <a:extLst>
                  <a:ext uri="{FF2B5EF4-FFF2-40B4-BE49-F238E27FC236}">
                    <a16:creationId xmlns:a16="http://schemas.microsoft.com/office/drawing/2014/main" id="{0D3EC1CD-8972-487B-96EB-D82D4A297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8600" y="741969"/>
                <a:ext cx="2739804" cy="584190"/>
              </a:xfrm>
              <a:prstGeom prst="rect">
                <a:avLst/>
              </a:prstGeom>
              <a:blipFill>
                <a:blip r:embed="rId6"/>
                <a:stretch>
                  <a:fillRect l="-442" t="-20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94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2" grpId="0"/>
      <p:bldP spid="33" grpId="0"/>
      <p:bldP spid="42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10">
                <a:extLst>
                  <a:ext uri="{FF2B5EF4-FFF2-40B4-BE49-F238E27FC236}">
                    <a16:creationId xmlns:a16="http://schemas.microsoft.com/office/drawing/2014/main" id="{46492E74-7E5B-445D-9E7B-343601EF20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7108" y="2968837"/>
                <a:ext cx="7272808" cy="15696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F3300"/>
                    </a:solidFill>
                  </a:rPr>
                  <a:t> 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用</a:t>
                </a:r>
                <a:r>
                  <a:rPr lang="zh-CN" altLang="en-US" b="1" dirty="0">
                    <a:solidFill>
                      <a:srgbClr val="3333FF"/>
                    </a:solidFill>
                  </a:rPr>
                  <a:t> </a:t>
                </a:r>
                <a:r>
                  <a:rPr lang="zh-CN" altLang="en-US" b="1" dirty="0">
                    <a:solidFill>
                      <a:srgbClr val="FF3300"/>
                    </a:solidFill>
                  </a:rPr>
                  <a:t> </a:t>
                </a:r>
                <a:r>
                  <a:rPr lang="zh-CN" alt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    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b="1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b="1" dirty="0"/>
                  <a:t> </a:t>
                </a:r>
              </a:p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                      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b="1" dirty="0"/>
                  <a:t> 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/>
                  <a:t>的平均间隔估计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/>
                  <a:t> 到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1" dirty="0"/>
                  <a:t> 的间隔。可知</a:t>
                </a:r>
              </a:p>
            </p:txBody>
          </p:sp>
        </mc:Choice>
        <mc:Fallback>
          <p:sp>
            <p:nvSpPr>
              <p:cNvPr id="17" name="Text Box 10">
                <a:extLst>
                  <a:ext uri="{FF2B5EF4-FFF2-40B4-BE49-F238E27FC236}">
                    <a16:creationId xmlns:a16="http://schemas.microsoft.com/office/drawing/2014/main" id="{46492E74-7E5B-445D-9E7B-343601EF2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7108" y="2968837"/>
                <a:ext cx="7272808" cy="1569660"/>
              </a:xfrm>
              <a:prstGeom prst="rect">
                <a:avLst/>
              </a:prstGeom>
              <a:blipFill>
                <a:blip r:embed="rId2"/>
                <a:stretch>
                  <a:fillRect l="-1341" t="-4264" b="-658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C97C726-B783-4750-9B4E-3338C7BB9222}"/>
              </a:ext>
            </a:extLst>
          </p:cNvPr>
          <p:cNvCxnSpPr>
            <a:cxnSpLocks/>
          </p:cNvCxnSpPr>
          <p:nvPr/>
        </p:nvCxnSpPr>
        <p:spPr bwMode="auto">
          <a:xfrm>
            <a:off x="1393924" y="2081328"/>
            <a:ext cx="6634460" cy="47259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4F22C1B-F3F7-422F-8223-76D6B877431A}"/>
              </a:ext>
            </a:extLst>
          </p:cNvPr>
          <p:cNvCxnSpPr>
            <a:cxnSpLocks/>
          </p:cNvCxnSpPr>
          <p:nvPr/>
        </p:nvCxnSpPr>
        <p:spPr bwMode="auto">
          <a:xfrm flipV="1">
            <a:off x="2496116" y="1747530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88AE8AE-13C1-4E04-A3C7-E9F49AB8F06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41938" y="1807789"/>
            <a:ext cx="0" cy="2837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474C84C-3321-4F92-97CA-83D52C38336D}"/>
              </a:ext>
            </a:extLst>
          </p:cNvPr>
          <p:cNvCxnSpPr>
            <a:cxnSpLocks/>
          </p:cNvCxnSpPr>
          <p:nvPr/>
        </p:nvCxnSpPr>
        <p:spPr bwMode="auto">
          <a:xfrm flipV="1">
            <a:off x="7654324" y="1832807"/>
            <a:ext cx="0" cy="28376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AA79366-EE1A-4867-A2D0-400816755F45}"/>
              </a:ext>
            </a:extLst>
          </p:cNvPr>
          <p:cNvCxnSpPr>
            <a:cxnSpLocks/>
          </p:cNvCxnSpPr>
          <p:nvPr/>
        </p:nvCxnSpPr>
        <p:spPr bwMode="auto">
          <a:xfrm flipV="1">
            <a:off x="1418022" y="1736780"/>
            <a:ext cx="0" cy="3337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Box 10">
                <a:extLst>
                  <a:ext uri="{FF2B5EF4-FFF2-40B4-BE49-F238E27FC236}">
                    <a16:creationId xmlns:a16="http://schemas.microsoft.com/office/drawing/2014/main" id="{0428C0CF-F7A1-42C6-9013-02CE7E36A1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3041" y="4615596"/>
                <a:ext cx="5629046" cy="786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2" name="Text Box 10">
                <a:extLst>
                  <a:ext uri="{FF2B5EF4-FFF2-40B4-BE49-F238E27FC236}">
                    <a16:creationId xmlns:a16="http://schemas.microsoft.com/office/drawing/2014/main" id="{0428C0CF-F7A1-42C6-9013-02CE7E36A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3041" y="4615596"/>
                <a:ext cx="5629046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721FBAB-C0BD-4A84-ADCE-B29EBB72293A}"/>
              </a:ext>
            </a:extLst>
          </p:cNvPr>
          <p:cNvCxnSpPr>
            <a:cxnSpLocks/>
          </p:cNvCxnSpPr>
          <p:nvPr/>
        </p:nvCxnSpPr>
        <p:spPr>
          <a:xfrm>
            <a:off x="1785884" y="1913370"/>
            <a:ext cx="707295" cy="1095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B63C6E0-E936-4988-B8DB-93333CCF5C42}"/>
              </a:ext>
            </a:extLst>
          </p:cNvPr>
          <p:cNvCxnSpPr>
            <a:cxnSpLocks/>
          </p:cNvCxnSpPr>
          <p:nvPr/>
        </p:nvCxnSpPr>
        <p:spPr>
          <a:xfrm>
            <a:off x="6852087" y="1961688"/>
            <a:ext cx="80223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bject 19">
                <a:extLst>
                  <a:ext uri="{FF2B5EF4-FFF2-40B4-BE49-F238E27FC236}">
                    <a16:creationId xmlns:a16="http://schemas.microsoft.com/office/drawing/2014/main" id="{17D974F1-E9A6-4154-85B9-4A71CDCEF7F5}"/>
                  </a:ext>
                </a:extLst>
              </p:cNvPr>
              <p:cNvSpPr txBox="1"/>
              <p:nvPr/>
            </p:nvSpPr>
            <p:spPr bwMode="auto">
              <a:xfrm>
                <a:off x="1187376" y="2210782"/>
                <a:ext cx="7152272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:r>
                  <a:rPr lang="zh-CN" altLang="en-US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0</a:t>
                </a:r>
                <a:r>
                  <a:rPr lang="en-US" altLang="zh-CN" b="1" dirty="0">
                    <a:solidFill>
                      <a:srgbClr val="000000"/>
                    </a:solidFill>
                  </a:rPr>
                  <a:t>   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1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zh-CN" altLang="en-US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sSub>
                      <m:sSubPr>
                        <m:ctrlPr>
                          <a:rPr lang="zh-CN" altLang="en-US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      </m:t>
                    </m:r>
                    <m:sSub>
                      <m:sSubPr>
                        <m:ctrlPr>
                          <a:rPr lang="zh-CN" altLang="en-US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40" name="Object 19">
                <a:extLst>
                  <a:ext uri="{FF2B5EF4-FFF2-40B4-BE49-F238E27FC236}">
                    <a16:creationId xmlns:a16="http://schemas.microsoft.com/office/drawing/2014/main" id="{17D974F1-E9A6-4154-85B9-4A71CDCEF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376" y="2210782"/>
                <a:ext cx="7152272" cy="606425"/>
              </a:xfrm>
              <a:prstGeom prst="rect">
                <a:avLst/>
              </a:prstGeom>
              <a:blipFill>
                <a:blip r:embed="rId4"/>
                <a:stretch>
                  <a:fillRect l="-341" t="-80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10">
            <a:extLst>
              <a:ext uri="{FF2B5EF4-FFF2-40B4-BE49-F238E27FC236}">
                <a16:creationId xmlns:a16="http://schemas.microsoft.com/office/drawing/2014/main" id="{D9FD6BF2-5727-49AF-9B01-3879251D9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376" y="741969"/>
            <a:ext cx="3743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4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平均间隔模型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Object 19">
                <a:extLst>
                  <a:ext uri="{FF2B5EF4-FFF2-40B4-BE49-F238E27FC236}">
                    <a16:creationId xmlns:a16="http://schemas.microsoft.com/office/drawing/2014/main" id="{BE84F042-52D0-4024-BCBD-FB0AC7A8762C}"/>
                  </a:ext>
                </a:extLst>
              </p:cNvPr>
              <p:cNvSpPr txBox="1"/>
              <p:nvPr/>
            </p:nvSpPr>
            <p:spPr bwMode="auto">
              <a:xfrm>
                <a:off x="4895849" y="557850"/>
                <a:ext cx="3019425" cy="988280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43" name="Object 19">
                <a:extLst>
                  <a:ext uri="{FF2B5EF4-FFF2-40B4-BE49-F238E27FC236}">
                    <a16:creationId xmlns:a16="http://schemas.microsoft.com/office/drawing/2014/main" id="{BE84F042-52D0-4024-BCBD-FB0AC7A87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5849" y="557850"/>
                <a:ext cx="3019425" cy="9882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C18310A-7ECA-4689-BE5F-C10CF3B63F44}"/>
              </a:ext>
            </a:extLst>
          </p:cNvPr>
          <p:cNvCxnSpPr>
            <a:cxnSpLocks/>
          </p:cNvCxnSpPr>
          <p:nvPr/>
        </p:nvCxnSpPr>
        <p:spPr bwMode="auto">
          <a:xfrm flipV="1">
            <a:off x="3563888" y="1782772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EA41C21-3DED-450C-BDAD-BDDA0FDC42E0}"/>
              </a:ext>
            </a:extLst>
          </p:cNvPr>
          <p:cNvCxnSpPr>
            <a:cxnSpLocks/>
          </p:cNvCxnSpPr>
          <p:nvPr/>
        </p:nvCxnSpPr>
        <p:spPr bwMode="auto">
          <a:xfrm flipV="1">
            <a:off x="4572000" y="1782772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4C8AA47-3B77-492B-9A7C-CAD63B60E7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868144" y="1782772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F8893BA-4636-4C60-B24F-E82A3AD36E64}"/>
              </a:ext>
            </a:extLst>
          </p:cNvPr>
          <p:cNvCxnSpPr>
            <a:cxnSpLocks/>
          </p:cNvCxnSpPr>
          <p:nvPr/>
        </p:nvCxnSpPr>
        <p:spPr bwMode="auto">
          <a:xfrm flipV="1">
            <a:off x="1785885" y="1774225"/>
            <a:ext cx="0" cy="333798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AF2BF94-DB78-4365-BAC5-1302962E68DA}"/>
                  </a:ext>
                </a:extLst>
              </p:cNvPr>
              <p:cNvSpPr txBox="1"/>
              <p:nvPr/>
            </p:nvSpPr>
            <p:spPr>
              <a:xfrm>
                <a:off x="2643212" y="5515136"/>
                <a:ext cx="3762350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5AF2BF94-DB78-4365-BAC5-1302962E6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212" y="5515136"/>
                <a:ext cx="3762350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51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2" grpId="0"/>
      <p:bldP spid="42" grpId="0"/>
      <p:bldP spid="43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B54D4E3A-FDDC-4262-88D2-DFB99E5CE1AE}"/>
              </a:ext>
            </a:extLst>
          </p:cNvPr>
          <p:cNvSpPr/>
          <p:nvPr/>
        </p:nvSpPr>
        <p:spPr bwMode="auto">
          <a:xfrm>
            <a:off x="6856642" y="1781136"/>
            <a:ext cx="780439" cy="3266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10">
                <a:extLst>
                  <a:ext uri="{FF2B5EF4-FFF2-40B4-BE49-F238E27FC236}">
                    <a16:creationId xmlns:a16="http://schemas.microsoft.com/office/drawing/2014/main" id="{46492E74-7E5B-445D-9E7B-343601EF20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7376" y="2780992"/>
                <a:ext cx="7272808" cy="11798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FF3300"/>
                    </a:solidFill>
                  </a:rPr>
                  <a:t> 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把区间 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[ 1,  </a:t>
                </a:r>
                <a:r>
                  <a:rPr lang="en-US" altLang="zh-CN" b="1" i="1" dirty="0">
                    <a:solidFill>
                      <a:schemeClr val="tx1"/>
                    </a:solidFill>
                  </a:rPr>
                  <a:t>x 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] n 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等分，区间长度为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endParaRPr lang="en-US" altLang="zh-CN" b="1" dirty="0">
                  <a:solidFill>
                    <a:schemeClr val="tx1"/>
                  </a:solidFill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 设 </a:t>
                </a:r>
                <a:r>
                  <a:rPr lang="en-US" altLang="zh-CN" b="1" i="1" dirty="0">
                    <a:solidFill>
                      <a:schemeClr val="tx1"/>
                    </a:solidFill>
                  </a:rPr>
                  <a:t>n</a:t>
                </a:r>
                <a:r>
                  <a:rPr lang="en-US" altLang="zh-CN" b="1" dirty="0">
                    <a:solidFill>
                      <a:schemeClr val="tx1"/>
                    </a:solidFill>
                  </a:rPr>
                  <a:t> </a:t>
                </a:r>
                <a:r>
                  <a:rPr lang="zh-CN" altLang="en-US" b="1" dirty="0">
                    <a:solidFill>
                      <a:schemeClr val="tx1"/>
                    </a:solidFill>
                  </a:rPr>
                  <a:t>个样本位于区间的中点上，则有</a:t>
                </a:r>
                <a:endParaRPr lang="en-US" altLang="zh-CN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 Box 10">
                <a:extLst>
                  <a:ext uri="{FF2B5EF4-FFF2-40B4-BE49-F238E27FC236}">
                    <a16:creationId xmlns:a16="http://schemas.microsoft.com/office/drawing/2014/main" id="{46492E74-7E5B-445D-9E7B-343601EF2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376" y="2780992"/>
                <a:ext cx="7272808" cy="1179810"/>
              </a:xfrm>
              <a:prstGeom prst="rect">
                <a:avLst/>
              </a:prstGeom>
              <a:blipFill>
                <a:blip r:embed="rId2"/>
                <a:stretch>
                  <a:fillRect l="-335" b="-1134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C97C726-B783-4750-9B4E-3338C7BB9222}"/>
              </a:ext>
            </a:extLst>
          </p:cNvPr>
          <p:cNvCxnSpPr>
            <a:cxnSpLocks/>
          </p:cNvCxnSpPr>
          <p:nvPr/>
        </p:nvCxnSpPr>
        <p:spPr bwMode="auto">
          <a:xfrm>
            <a:off x="1393924" y="2081328"/>
            <a:ext cx="6634460" cy="47259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4F22C1B-F3F7-422F-8223-76D6B877431A}"/>
              </a:ext>
            </a:extLst>
          </p:cNvPr>
          <p:cNvCxnSpPr>
            <a:cxnSpLocks/>
          </p:cNvCxnSpPr>
          <p:nvPr/>
        </p:nvCxnSpPr>
        <p:spPr bwMode="auto">
          <a:xfrm flipV="1">
            <a:off x="2699643" y="1747530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88AE8AE-13C1-4E04-A3C7-E9F49AB8F069}"/>
              </a:ext>
            </a:extLst>
          </p:cNvPr>
          <p:cNvCxnSpPr>
            <a:cxnSpLocks/>
          </p:cNvCxnSpPr>
          <p:nvPr/>
        </p:nvCxnSpPr>
        <p:spPr bwMode="auto">
          <a:xfrm flipV="1">
            <a:off x="6856642" y="1807789"/>
            <a:ext cx="0" cy="28376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474C84C-3321-4F92-97CA-83D52C38336D}"/>
              </a:ext>
            </a:extLst>
          </p:cNvPr>
          <p:cNvCxnSpPr>
            <a:cxnSpLocks/>
          </p:cNvCxnSpPr>
          <p:nvPr/>
        </p:nvCxnSpPr>
        <p:spPr bwMode="auto">
          <a:xfrm flipV="1">
            <a:off x="7654324" y="1428923"/>
            <a:ext cx="0" cy="68764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Box 10">
                <a:extLst>
                  <a:ext uri="{FF2B5EF4-FFF2-40B4-BE49-F238E27FC236}">
                    <a16:creationId xmlns:a16="http://schemas.microsoft.com/office/drawing/2014/main" id="{0428C0CF-F7A1-42C6-9013-02CE7E36A1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3924" y="4039514"/>
                <a:ext cx="4051139" cy="9221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32" name="Text Box 10">
                <a:extLst>
                  <a:ext uri="{FF2B5EF4-FFF2-40B4-BE49-F238E27FC236}">
                    <a16:creationId xmlns:a16="http://schemas.microsoft.com/office/drawing/2014/main" id="{0428C0CF-F7A1-42C6-9013-02CE7E36A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3924" y="4039514"/>
                <a:ext cx="4051139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721FBAB-C0BD-4A84-ADCE-B29EBB72293A}"/>
              </a:ext>
            </a:extLst>
          </p:cNvPr>
          <p:cNvCxnSpPr>
            <a:cxnSpLocks/>
          </p:cNvCxnSpPr>
          <p:nvPr/>
        </p:nvCxnSpPr>
        <p:spPr>
          <a:xfrm>
            <a:off x="1781797" y="1617150"/>
            <a:ext cx="5889770" cy="55247"/>
          </a:xfrm>
          <a:prstGeom prst="straightConnector1">
            <a:avLst/>
          </a:prstGeom>
          <a:ln w="19050">
            <a:solidFill>
              <a:srgbClr val="3333FF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Object 19">
                <a:extLst>
                  <a:ext uri="{FF2B5EF4-FFF2-40B4-BE49-F238E27FC236}">
                    <a16:creationId xmlns:a16="http://schemas.microsoft.com/office/drawing/2014/main" id="{17D974F1-E9A6-4154-85B9-4A71CDCEF7F5}"/>
                  </a:ext>
                </a:extLst>
              </p:cNvPr>
              <p:cNvSpPr txBox="1"/>
              <p:nvPr/>
            </p:nvSpPr>
            <p:spPr bwMode="auto">
              <a:xfrm>
                <a:off x="1187376" y="2210782"/>
                <a:ext cx="7152272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:r>
                  <a:rPr lang="zh-CN" altLang="en-US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 </a:t>
                </a:r>
                <a:r>
                  <a:rPr lang="en-US" altLang="zh-CN" b="1" dirty="0">
                    <a:solidFill>
                      <a:srgbClr val="000000"/>
                    </a:solidFill>
                  </a:rPr>
                  <a:t>   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1  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sSub>
                      <m:sSubPr>
                        <m:ctrlPr>
                          <a:rPr lang="zh-CN" altLang="en-US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sSub>
                      <m:sSubPr>
                        <m:ctrlPr>
                          <a:rPr lang="zh-CN" altLang="en-US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                          </m:t>
                    </m:r>
                    <m:sSub>
                      <m:sSubPr>
                        <m:ctrlPr>
                          <a:rPr lang="zh-CN" altLang="en-US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40" name="Object 19">
                <a:extLst>
                  <a:ext uri="{FF2B5EF4-FFF2-40B4-BE49-F238E27FC236}">
                    <a16:creationId xmlns:a16="http://schemas.microsoft.com/office/drawing/2014/main" id="{17D974F1-E9A6-4154-85B9-4A71CDCEF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376" y="2210782"/>
                <a:ext cx="7152272" cy="606425"/>
              </a:xfrm>
              <a:prstGeom prst="rect">
                <a:avLst/>
              </a:prstGeom>
              <a:blipFill>
                <a:blip r:embed="rId4"/>
                <a:stretch>
                  <a:fillRect t="-80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C18310A-7ECA-4689-BE5F-C10CF3B63F44}"/>
              </a:ext>
            </a:extLst>
          </p:cNvPr>
          <p:cNvCxnSpPr>
            <a:cxnSpLocks/>
          </p:cNvCxnSpPr>
          <p:nvPr/>
        </p:nvCxnSpPr>
        <p:spPr bwMode="auto">
          <a:xfrm flipV="1">
            <a:off x="3563888" y="1782772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EA41C21-3DED-450C-BDAD-BDDA0FDC42E0}"/>
              </a:ext>
            </a:extLst>
          </p:cNvPr>
          <p:cNvCxnSpPr>
            <a:cxnSpLocks/>
          </p:cNvCxnSpPr>
          <p:nvPr/>
        </p:nvCxnSpPr>
        <p:spPr bwMode="auto">
          <a:xfrm flipV="1">
            <a:off x="4427984" y="1782772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4C8AA47-3B77-492B-9A7C-CAD63B60E7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868144" y="1782772"/>
            <a:ext cx="0" cy="33379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F8893BA-4636-4C60-B24F-E82A3AD36E64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777709" y="1428923"/>
            <a:ext cx="8176" cy="67910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 Box 10">
            <a:extLst>
              <a:ext uri="{FF2B5EF4-FFF2-40B4-BE49-F238E27FC236}">
                <a16:creationId xmlns:a16="http://schemas.microsoft.com/office/drawing/2014/main" id="{7195E9B7-2094-4F8F-8F18-B5FD65A77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981" y="731998"/>
            <a:ext cx="374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5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区间均分模型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F25E7AD3-DBDC-42C8-ACBC-24829E247889}"/>
                  </a:ext>
                </a:extLst>
              </p:cNvPr>
              <p:cNvSpPr txBox="1"/>
              <p:nvPr/>
            </p:nvSpPr>
            <p:spPr bwMode="auto">
              <a:xfrm>
                <a:off x="4283968" y="492273"/>
                <a:ext cx="4478337" cy="936650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F25E7AD3-DBDC-42C8-ACBC-24829E247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83968" y="492273"/>
                <a:ext cx="4478337" cy="9366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E3A0FF9-C8C4-4190-9EE3-36E4591FE011}"/>
              </a:ext>
            </a:extLst>
          </p:cNvPr>
          <p:cNvCxnSpPr>
            <a:cxnSpLocks/>
          </p:cNvCxnSpPr>
          <p:nvPr/>
        </p:nvCxnSpPr>
        <p:spPr>
          <a:xfrm flipV="1">
            <a:off x="2173775" y="1736613"/>
            <a:ext cx="21842" cy="35480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6E6AD86-D67C-4F55-9EB4-3103D60A9369}"/>
              </a:ext>
            </a:extLst>
          </p:cNvPr>
          <p:cNvCxnSpPr>
            <a:cxnSpLocks/>
          </p:cNvCxnSpPr>
          <p:nvPr/>
        </p:nvCxnSpPr>
        <p:spPr>
          <a:xfrm flipV="1">
            <a:off x="3087436" y="1764206"/>
            <a:ext cx="14477" cy="3389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818BD2B-C8C5-4DB6-871B-CB8DD69097D6}"/>
              </a:ext>
            </a:extLst>
          </p:cNvPr>
          <p:cNvCxnSpPr>
            <a:cxnSpLocks/>
          </p:cNvCxnSpPr>
          <p:nvPr/>
        </p:nvCxnSpPr>
        <p:spPr>
          <a:xfrm flipV="1">
            <a:off x="6386761" y="1764206"/>
            <a:ext cx="0" cy="36832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F4FD5EF6-3565-4DA4-8D30-6380406A5839}"/>
              </a:ext>
            </a:extLst>
          </p:cNvPr>
          <p:cNvCxnSpPr>
            <a:cxnSpLocks/>
          </p:cNvCxnSpPr>
          <p:nvPr/>
        </p:nvCxnSpPr>
        <p:spPr>
          <a:xfrm flipV="1">
            <a:off x="7267876" y="1814580"/>
            <a:ext cx="13587" cy="31459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C9BE928-20AA-422A-9D2F-DC999F024E10}"/>
              </a:ext>
            </a:extLst>
          </p:cNvPr>
          <p:cNvCxnSpPr>
            <a:cxnSpLocks/>
          </p:cNvCxnSpPr>
          <p:nvPr/>
        </p:nvCxnSpPr>
        <p:spPr>
          <a:xfrm flipV="1">
            <a:off x="7233577" y="1881776"/>
            <a:ext cx="0" cy="28969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Object 19">
                <a:extLst>
                  <a:ext uri="{FF2B5EF4-FFF2-40B4-BE49-F238E27FC236}">
                    <a16:creationId xmlns:a16="http://schemas.microsoft.com/office/drawing/2014/main" id="{16278CDE-113E-418B-B2E1-17D1535A6823}"/>
                  </a:ext>
                </a:extLst>
              </p:cNvPr>
              <p:cNvSpPr txBox="1"/>
              <p:nvPr/>
            </p:nvSpPr>
            <p:spPr bwMode="auto">
              <a:xfrm>
                <a:off x="1785885" y="5189352"/>
                <a:ext cx="4478337" cy="936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44" name="Object 19">
                <a:extLst>
                  <a:ext uri="{FF2B5EF4-FFF2-40B4-BE49-F238E27FC236}">
                    <a16:creationId xmlns:a16="http://schemas.microsoft.com/office/drawing/2014/main" id="{16278CDE-113E-418B-B2E1-17D1535A6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5885" y="5189352"/>
                <a:ext cx="4478337" cy="9366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70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2" grpId="0"/>
      <p:bldP spid="21" grpId="0"/>
      <p:bldP spid="23" grpId="0" animBg="1"/>
      <p:bldP spid="4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0">
            <a:extLst>
              <a:ext uri="{FF2B5EF4-FFF2-40B4-BE49-F238E27FC236}">
                <a16:creationId xmlns:a16="http://schemas.microsoft.com/office/drawing/2014/main" id="{E61662E4-2E74-49BD-A633-6075A609CF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692150"/>
            <a:ext cx="3311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1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平均值模型</a:t>
            </a:r>
          </a:p>
        </p:txBody>
      </p:sp>
      <p:graphicFrame>
        <p:nvGraphicFramePr>
          <p:cNvPr id="15" name="Object 19">
            <a:extLst>
              <a:ext uri="{FF2B5EF4-FFF2-40B4-BE49-F238E27FC236}">
                <a16:creationId xmlns:a16="http://schemas.microsoft.com/office/drawing/2014/main" id="{6AE0F6E6-93A0-4296-8296-8824CC27DD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388111"/>
              </p:ext>
            </p:extLst>
          </p:nvPr>
        </p:nvGraphicFramePr>
        <p:xfrm>
          <a:off x="5092112" y="628396"/>
          <a:ext cx="17970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4" name="公式" r:id="rId3" imgW="672840" imgH="190440" progId="Equation.3">
                  <p:embed/>
                </p:oleObj>
              </mc:Choice>
              <mc:Fallback>
                <p:oleObj name="公式" r:id="rId3" imgW="672840" imgH="190440" progId="Equation.3">
                  <p:embed/>
                  <p:pic>
                    <p:nvPicPr>
                      <p:cNvPr id="148499" name="Object 19">
                        <a:extLst>
                          <a:ext uri="{FF2B5EF4-FFF2-40B4-BE49-F238E27FC236}">
                            <a16:creationId xmlns:a16="http://schemas.microsoft.com/office/drawing/2014/main" id="{803B016B-821E-4DAF-A354-114DEBB96F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112" y="628396"/>
                        <a:ext cx="1797050" cy="5048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0">
            <a:extLst>
              <a:ext uri="{FF2B5EF4-FFF2-40B4-BE49-F238E27FC236}">
                <a16:creationId xmlns:a16="http://schemas.microsoft.com/office/drawing/2014/main" id="{FDD4C7F9-13D1-4C1B-B834-53367C168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114" y="1628800"/>
            <a:ext cx="3167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2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中位数模型</a:t>
            </a:r>
          </a:p>
        </p:txBody>
      </p:sp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B21748DF-EF6F-40B4-AE1D-5447A8DEE1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826691"/>
              </p:ext>
            </p:extLst>
          </p:nvPr>
        </p:nvGraphicFramePr>
        <p:xfrm>
          <a:off x="5100637" y="1628800"/>
          <a:ext cx="20351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5" name="公式" r:id="rId5" imgW="761760" imgH="228600" progId="Equation.3">
                  <p:embed/>
                </p:oleObj>
              </mc:Choice>
              <mc:Fallback>
                <p:oleObj name="公式" r:id="rId5" imgW="761760" imgH="228600" progId="Equation.3">
                  <p:embed/>
                  <p:pic>
                    <p:nvPicPr>
                      <p:cNvPr id="18" name="Object 19">
                        <a:extLst>
                          <a:ext uri="{FF2B5EF4-FFF2-40B4-BE49-F238E27FC236}">
                            <a16:creationId xmlns:a16="http://schemas.microsoft.com/office/drawing/2014/main" id="{EA0B0EA6-7C53-4AD0-9918-37BAFA85BA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637" y="1628800"/>
                        <a:ext cx="2035175" cy="6064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0">
            <a:extLst>
              <a:ext uri="{FF2B5EF4-FFF2-40B4-BE49-F238E27FC236}">
                <a16:creationId xmlns:a16="http://schemas.microsoft.com/office/drawing/2014/main" id="{D35B771D-4C80-47AC-8C5C-A7B74D010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519" y="2661203"/>
            <a:ext cx="47527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3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两端间隔对称模型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32D7D76F-98A8-433E-9620-EB26811BEA72}"/>
                  </a:ext>
                </a:extLst>
              </p:cNvPr>
              <p:cNvSpPr txBox="1"/>
              <p:nvPr/>
            </p:nvSpPr>
            <p:spPr bwMode="auto">
              <a:xfrm>
                <a:off x="5182743" y="2661203"/>
                <a:ext cx="2739804" cy="584190"/>
              </a:xfrm>
              <a:prstGeom prst="rect">
                <a:avLst/>
              </a:prstGeom>
              <a:solidFill>
                <a:srgbClr val="FF99FF"/>
              </a:solidFill>
              <a:ln>
                <a:solidFill>
                  <a:schemeClr val="tx1"/>
                </a:solidFill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b="1" i="1" dirty="0"/>
              </a:p>
            </p:txBody>
          </p:sp>
        </mc:Choice>
        <mc:Fallback>
          <p:sp>
            <p:nvSpPr>
              <p:cNvPr id="21" name="Object 19">
                <a:extLst>
                  <a:ext uri="{FF2B5EF4-FFF2-40B4-BE49-F238E27FC236}">
                    <a16:creationId xmlns:a16="http://schemas.microsoft.com/office/drawing/2014/main" id="{32D7D76F-98A8-433E-9620-EB26811BE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2743" y="2661203"/>
                <a:ext cx="2739804" cy="584190"/>
              </a:xfrm>
              <a:prstGeom prst="rect">
                <a:avLst/>
              </a:prstGeom>
              <a:blipFill>
                <a:blip r:embed="rId7"/>
                <a:stretch>
                  <a:fillRect l="-442" t="-20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10">
            <a:extLst>
              <a:ext uri="{FF2B5EF4-FFF2-40B4-BE49-F238E27FC236}">
                <a16:creationId xmlns:a16="http://schemas.microsoft.com/office/drawing/2014/main" id="{5F0465E7-0219-4445-8CCF-255318A77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599" y="5396917"/>
            <a:ext cx="3743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5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区间均分模型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1E3FD2E5-5C40-4542-AAA7-903FE9171A4A}"/>
                  </a:ext>
                </a:extLst>
              </p:cNvPr>
              <p:cNvSpPr txBox="1"/>
              <p:nvPr/>
            </p:nvSpPr>
            <p:spPr bwMode="auto">
              <a:xfrm>
                <a:off x="4409586" y="5157192"/>
                <a:ext cx="4478337" cy="936650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23" name="Object 19">
                <a:extLst>
                  <a:ext uri="{FF2B5EF4-FFF2-40B4-BE49-F238E27FC236}">
                    <a16:creationId xmlns:a16="http://schemas.microsoft.com/office/drawing/2014/main" id="{1E3FD2E5-5C40-4542-AAA7-903FE9171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9586" y="5157192"/>
                <a:ext cx="4478337" cy="9366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0">
            <a:extLst>
              <a:ext uri="{FF2B5EF4-FFF2-40B4-BE49-F238E27FC236}">
                <a16:creationId xmlns:a16="http://schemas.microsoft.com/office/drawing/2014/main" id="{623DDE75-4CD9-4C0B-B104-0D0A192F3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27" y="3870859"/>
            <a:ext cx="3743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模型</a:t>
            </a:r>
            <a:r>
              <a:rPr lang="en-US" altLang="zh-CN" b="1" dirty="0">
                <a:solidFill>
                  <a:srgbClr val="FF3300"/>
                </a:solidFill>
              </a:rPr>
              <a:t>4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平均间隔模型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19">
                <a:extLst>
                  <a:ext uri="{FF2B5EF4-FFF2-40B4-BE49-F238E27FC236}">
                    <a16:creationId xmlns:a16="http://schemas.microsoft.com/office/drawing/2014/main" id="{DC60F716-43D6-4019-BE02-253F1E9BAF3C}"/>
                  </a:ext>
                </a:extLst>
              </p:cNvPr>
              <p:cNvSpPr txBox="1"/>
              <p:nvPr/>
            </p:nvSpPr>
            <p:spPr bwMode="auto">
              <a:xfrm>
                <a:off x="5139041" y="3619625"/>
                <a:ext cx="3019425" cy="988280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zh-CN" altLang="en-US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25" name="Object 19">
                <a:extLst>
                  <a:ext uri="{FF2B5EF4-FFF2-40B4-BE49-F238E27FC236}">
                    <a16:creationId xmlns:a16="http://schemas.microsoft.com/office/drawing/2014/main" id="{DC60F716-43D6-4019-BE02-253F1E9BA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39041" y="3619625"/>
                <a:ext cx="3019425" cy="9882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46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20" grpId="0"/>
      <p:bldP spid="21" grpId="0" animBg="1"/>
      <p:bldP spid="22" grpId="0"/>
      <p:bldP spid="23" grpId="0" animBg="1"/>
      <p:bldP spid="24" grpId="0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0">
            <a:extLst>
              <a:ext uri="{FF2B5EF4-FFF2-40B4-BE49-F238E27FC236}">
                <a16:creationId xmlns:a16="http://schemas.microsoft.com/office/drawing/2014/main" id="{5CCA78D7-569F-4DCC-A6D7-D9F581E77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692150"/>
            <a:ext cx="489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问题：</a:t>
            </a:r>
            <a:r>
              <a:rPr lang="zh-CN" altLang="en-US" b="1"/>
              <a:t>  那个估计方法最好？</a:t>
            </a:r>
          </a:p>
        </p:txBody>
      </p:sp>
      <p:graphicFrame>
        <p:nvGraphicFramePr>
          <p:cNvPr id="56385" name="Group 65">
            <a:extLst>
              <a:ext uri="{FF2B5EF4-FFF2-40B4-BE49-F238E27FC236}">
                <a16:creationId xmlns:a16="http://schemas.microsoft.com/office/drawing/2014/main" id="{F8E60FCE-7363-4CC4-B7DF-5B2D5345C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548762"/>
              </p:ext>
            </p:extLst>
          </p:nvPr>
        </p:nvGraphicFramePr>
        <p:xfrm>
          <a:off x="900113" y="2636838"/>
          <a:ext cx="7848600" cy="1527176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20009668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15437287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387437346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63947822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4162954144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640929201"/>
                    </a:ext>
                  </a:extLst>
                </a:gridCol>
              </a:tblGrid>
              <a:tr h="509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样本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122067"/>
                  </a:ext>
                </a:extLst>
              </a:tr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970886"/>
                  </a:ext>
                </a:extLst>
              </a:tr>
              <a:tr h="509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第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778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135414"/>
                  </a:ext>
                </a:extLst>
              </a:tr>
            </a:tbl>
          </a:graphicData>
        </a:graphic>
      </p:graphicFrame>
      <p:sp>
        <p:nvSpPr>
          <p:cNvPr id="56386" name="Text Box 12">
            <a:extLst>
              <a:ext uri="{FF2B5EF4-FFF2-40B4-BE49-F238E27FC236}">
                <a16:creationId xmlns:a16="http://schemas.microsoft.com/office/drawing/2014/main" id="{7740AB5B-9F58-4565-9CED-232EE6FB8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268413"/>
            <a:ext cx="76327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3333FF"/>
                </a:solidFill>
                <a:ea typeface="楷体_GB2312" pitchFamily="49" charset="-122"/>
              </a:rPr>
              <a:t>样本</a:t>
            </a:r>
            <a:r>
              <a:rPr lang="en-US" altLang="zh-CN" b="1">
                <a:solidFill>
                  <a:srgbClr val="3333FF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3333FF"/>
                </a:solidFill>
                <a:ea typeface="楷体_GB2312" pitchFamily="49" charset="-122"/>
              </a:rPr>
              <a:t>：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 </a:t>
            </a:r>
            <a:r>
              <a:rPr lang="en-US" altLang="zh-CN">
                <a:ea typeface="楷体_GB2312" pitchFamily="49" charset="-122"/>
              </a:rPr>
              <a:t>028, 212 , 310, 321, 429, 498, 574, 602, 612, 767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56387" name="Text Box 12">
            <a:extLst>
              <a:ext uri="{FF2B5EF4-FFF2-40B4-BE49-F238E27FC236}">
                <a16:creationId xmlns:a16="http://schemas.microsoft.com/office/drawing/2014/main" id="{570E2964-EECA-47C5-A036-51DB3B8E7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916113"/>
            <a:ext cx="7632700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3333FF"/>
                </a:solidFill>
                <a:ea typeface="楷体_GB2312" pitchFamily="49" charset="-122"/>
              </a:rPr>
              <a:t>样本</a:t>
            </a:r>
            <a:r>
              <a:rPr lang="en-US" altLang="zh-CN" b="1">
                <a:solidFill>
                  <a:srgbClr val="3333FF"/>
                </a:solidFill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3333FF"/>
                </a:solidFill>
                <a:ea typeface="楷体_GB2312" pitchFamily="49" charset="-122"/>
              </a:rPr>
              <a:t>：</a:t>
            </a:r>
            <a:r>
              <a:rPr lang="zh-CN" altLang="en-US" b="1">
                <a:solidFill>
                  <a:srgbClr val="FF3300"/>
                </a:solidFill>
                <a:ea typeface="楷体_GB2312" pitchFamily="49" charset="-122"/>
              </a:rPr>
              <a:t> </a:t>
            </a:r>
            <a:r>
              <a:rPr lang="zh-CN" altLang="en-US">
                <a:ea typeface="楷体_GB2312" pitchFamily="49" charset="-122"/>
              </a:rPr>
              <a:t> </a:t>
            </a:r>
            <a:r>
              <a:rPr lang="en-US" altLang="zh-CN">
                <a:ea typeface="楷体_GB2312" pitchFamily="49" charset="-122"/>
              </a:rPr>
              <a:t>089, 148, 206,  249, 284, 327, 344, 351, 524, 739</a:t>
            </a:r>
          </a:p>
        </p:txBody>
      </p:sp>
      <p:sp>
        <p:nvSpPr>
          <p:cNvPr id="56388" name="Text Box 10">
            <a:extLst>
              <a:ext uri="{FF2B5EF4-FFF2-40B4-BE49-F238E27FC236}">
                <a16:creationId xmlns:a16="http://schemas.microsoft.com/office/drawing/2014/main" id="{F0063BE5-C9D4-4406-8953-0DD4623FE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581525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方法：</a:t>
            </a:r>
            <a:r>
              <a:rPr lang="zh-CN" altLang="en-US" b="1" dirty="0"/>
              <a:t>  </a:t>
            </a:r>
            <a:r>
              <a:rPr lang="zh-CN" altLang="en-US" b="1" dirty="0">
                <a:solidFill>
                  <a:srgbClr val="FF0000"/>
                </a:solidFill>
              </a:rPr>
              <a:t>生成随机数据进行模拟！</a:t>
            </a:r>
          </a:p>
        </p:txBody>
      </p:sp>
      <p:sp>
        <p:nvSpPr>
          <p:cNvPr id="56389" name="Text Box 10">
            <a:extLst>
              <a:ext uri="{FF2B5EF4-FFF2-40B4-BE49-F238E27FC236}">
                <a16:creationId xmlns:a16="http://schemas.microsoft.com/office/drawing/2014/main" id="{B66CD027-29D4-49F7-BE6A-00BD004810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229225"/>
            <a:ext cx="7777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取 </a:t>
            </a:r>
            <a:r>
              <a:rPr lang="en-US" altLang="zh-CN" b="1"/>
              <a:t>x=1000</a:t>
            </a:r>
            <a:r>
              <a:rPr lang="zh-CN" altLang="en-US" b="1"/>
              <a:t>，抽样数 </a:t>
            </a:r>
            <a:r>
              <a:rPr lang="en-US" altLang="zh-CN" b="1"/>
              <a:t>n=10</a:t>
            </a:r>
            <a:r>
              <a:rPr lang="zh-CN" altLang="en-US" b="1"/>
              <a:t>；用计算机产生随机数模拟！</a:t>
            </a:r>
          </a:p>
        </p:txBody>
      </p:sp>
      <p:sp>
        <p:nvSpPr>
          <p:cNvPr id="56390" name="Text Box 10">
            <a:extLst>
              <a:ext uri="{FF2B5EF4-FFF2-40B4-BE49-F238E27FC236}">
                <a16:creationId xmlns:a16="http://schemas.microsoft.com/office/drawing/2014/main" id="{56920F27-043F-4CF3-8E94-303B347A8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5805488"/>
            <a:ext cx="77771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这样的抽样重复进行</a:t>
            </a:r>
            <a:r>
              <a:rPr lang="en-US" altLang="zh-CN" b="1"/>
              <a:t>200</a:t>
            </a:r>
            <a:r>
              <a:rPr lang="zh-CN" altLang="en-US" b="1"/>
              <a:t>次，作为一次模拟。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/>
      <p:bldP spid="56386" grpId="0" animBg="1"/>
      <p:bldP spid="56387" grpId="0" animBg="1"/>
      <p:bldP spid="56388" grpId="0"/>
      <p:bldP spid="56389" grpId="0"/>
      <p:bldP spid="5639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0">
            <a:extLst>
              <a:ext uri="{FF2B5EF4-FFF2-40B4-BE49-F238E27FC236}">
                <a16:creationId xmlns:a16="http://schemas.microsoft.com/office/drawing/2014/main" id="{CEF9B405-E6F3-47BB-97AD-AB2D407ED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692150"/>
            <a:ext cx="489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3333FF"/>
                </a:solidFill>
              </a:rPr>
              <a:t>表</a:t>
            </a:r>
            <a:r>
              <a:rPr lang="en-US" altLang="zh-CN" b="1">
                <a:solidFill>
                  <a:srgbClr val="3333FF"/>
                </a:solidFill>
              </a:rPr>
              <a:t>2</a:t>
            </a:r>
            <a:r>
              <a:rPr lang="zh-CN" altLang="en-US" b="1">
                <a:solidFill>
                  <a:srgbClr val="3333FF"/>
                </a:solidFill>
              </a:rPr>
              <a:t>：第一次模拟结果</a:t>
            </a:r>
          </a:p>
        </p:txBody>
      </p:sp>
      <p:graphicFrame>
        <p:nvGraphicFramePr>
          <p:cNvPr id="58422" name="Group 54">
            <a:extLst>
              <a:ext uri="{FF2B5EF4-FFF2-40B4-BE49-F238E27FC236}">
                <a16:creationId xmlns:a16="http://schemas.microsoft.com/office/drawing/2014/main" id="{01588447-6C3C-4CAA-951D-7F1D243FD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657320"/>
              </p:ext>
            </p:extLst>
          </p:nvPr>
        </p:nvGraphicFramePr>
        <p:xfrm>
          <a:off x="684213" y="1268413"/>
          <a:ext cx="7848600" cy="2036764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377334225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2984782050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1511894037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38561100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913016211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1665947956"/>
                    </a:ext>
                  </a:extLst>
                </a:gridCol>
              </a:tblGrid>
              <a:tr h="509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596390"/>
                  </a:ext>
                </a:extLst>
              </a:tr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平均值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1037.4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1005.6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962.3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709212"/>
                  </a:ext>
                </a:extLst>
              </a:tr>
              <a:tr h="509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估计误差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37.4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-37.7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559693"/>
                  </a:ext>
                </a:extLst>
              </a:tr>
              <a:tr h="509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标准差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261.0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126.3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1217270"/>
                  </a:ext>
                </a:extLst>
              </a:tr>
            </a:tbl>
          </a:graphicData>
        </a:graphic>
      </p:graphicFrame>
      <p:sp>
        <p:nvSpPr>
          <p:cNvPr id="58423" name="Text Box 10">
            <a:extLst>
              <a:ext uri="{FF2B5EF4-FFF2-40B4-BE49-F238E27FC236}">
                <a16:creationId xmlns:a16="http://schemas.microsoft.com/office/drawing/2014/main" id="{F5D126CD-E5C4-4F3B-BB4B-EB0CD432C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3573463"/>
            <a:ext cx="489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3333FF"/>
                </a:solidFill>
              </a:rPr>
              <a:t>表</a:t>
            </a:r>
            <a:r>
              <a:rPr lang="en-US" altLang="zh-CN" b="1">
                <a:solidFill>
                  <a:srgbClr val="3333FF"/>
                </a:solidFill>
              </a:rPr>
              <a:t>3</a:t>
            </a:r>
            <a:r>
              <a:rPr lang="zh-CN" altLang="en-US" b="1">
                <a:solidFill>
                  <a:srgbClr val="3333FF"/>
                </a:solidFill>
              </a:rPr>
              <a:t>：第二次模拟结果</a:t>
            </a:r>
          </a:p>
        </p:txBody>
      </p:sp>
      <p:graphicFrame>
        <p:nvGraphicFramePr>
          <p:cNvPr id="58424" name="Group 56">
            <a:extLst>
              <a:ext uri="{FF2B5EF4-FFF2-40B4-BE49-F238E27FC236}">
                <a16:creationId xmlns:a16="http://schemas.microsoft.com/office/drawing/2014/main" id="{1C5C7534-86F3-482E-B5D8-F0B4C19B1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73780"/>
              </p:ext>
            </p:extLst>
          </p:nvPr>
        </p:nvGraphicFramePr>
        <p:xfrm>
          <a:off x="755650" y="4149725"/>
          <a:ext cx="7848600" cy="2036764"/>
        </p:xfrm>
        <a:graphic>
          <a:graphicData uri="http://schemas.openxmlformats.org/drawingml/2006/table">
            <a:tbl>
              <a:tblPr/>
              <a:tblGrid>
                <a:gridCol w="1308100">
                  <a:extLst>
                    <a:ext uri="{9D8B030D-6E8A-4147-A177-3AD203B41FA5}">
                      <a16:colId xmlns:a16="http://schemas.microsoft.com/office/drawing/2014/main" val="266916149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505975607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809646758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465784247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595618656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1701524987"/>
                    </a:ext>
                  </a:extLst>
                </a:gridCol>
              </a:tblGrid>
              <a:tr h="509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模型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885530"/>
                  </a:ext>
                </a:extLst>
              </a:tr>
              <a:tr h="50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平均值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986.5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985.4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980.8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992.9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950.1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3072"/>
                  </a:ext>
                </a:extLst>
              </a:tr>
              <a:tr h="509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估计误差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-13.5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-14.6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-19.2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-7.1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-49.9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000816"/>
                  </a:ext>
                </a:extLst>
              </a:tr>
              <a:tr h="5095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标准差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181.4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271.1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107.9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6675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4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10">
            <a:extLst>
              <a:ext uri="{FF2B5EF4-FFF2-40B4-BE49-F238E27FC236}">
                <a16:creationId xmlns:a16="http://schemas.microsoft.com/office/drawing/2014/main" id="{F05F9A2B-7FA0-4203-834C-BDC01FC9A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6877" y="1988840"/>
            <a:ext cx="777557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</a:rPr>
              <a:t>课后任务</a:t>
            </a:r>
            <a:r>
              <a:rPr lang="en-US" altLang="zh-CN" b="1" dirty="0">
                <a:solidFill>
                  <a:srgbClr val="FF3300"/>
                </a:solidFill>
              </a:rPr>
              <a:t>1 </a:t>
            </a:r>
            <a:r>
              <a:rPr lang="zh-CN" altLang="en-US" b="1" dirty="0">
                <a:solidFill>
                  <a:srgbClr val="FF3300"/>
                </a:solidFill>
              </a:rPr>
              <a:t>：</a:t>
            </a:r>
            <a:r>
              <a:rPr lang="zh-CN" altLang="en-US" b="1" dirty="0"/>
              <a:t>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1</a:t>
            </a:r>
            <a:r>
              <a:rPr lang="zh-CN" altLang="en-US" b="1" dirty="0"/>
              <a:t>、有没有其他估计方法？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2</a:t>
            </a:r>
            <a:r>
              <a:rPr lang="zh-CN" altLang="en-US" b="1" dirty="0"/>
              <a:t>、如果起始号码也不知道，如何处理？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3</a:t>
            </a:r>
            <a:r>
              <a:rPr lang="zh-CN" altLang="en-US" b="1" dirty="0"/>
              <a:t>、改变样本容量</a:t>
            </a:r>
            <a:r>
              <a:rPr lang="en-US" altLang="zh-CN" b="1" dirty="0"/>
              <a:t>n</a:t>
            </a:r>
            <a:r>
              <a:rPr lang="zh-CN" altLang="en-US" b="1" dirty="0"/>
              <a:t>，改变重复抽样次数</a:t>
            </a:r>
            <a:r>
              <a:rPr lang="en-US" altLang="zh-CN" b="1" dirty="0"/>
              <a:t>m</a:t>
            </a:r>
            <a:r>
              <a:rPr lang="zh-CN" altLang="en-US" b="1" dirty="0"/>
              <a:t>，编程模拟。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/>
              <a:t>4</a:t>
            </a:r>
            <a:r>
              <a:rPr lang="zh-CN" altLang="en-US" b="1" dirty="0"/>
              <a:t>、对模拟结果进行分析。</a:t>
            </a:r>
          </a:p>
        </p:txBody>
      </p:sp>
      <p:sp>
        <p:nvSpPr>
          <p:cNvPr id="3" name="Text Box 10">
            <a:extLst>
              <a:ext uri="{FF2B5EF4-FFF2-40B4-BE49-F238E27FC236}">
                <a16:creationId xmlns:a16="http://schemas.microsoft.com/office/drawing/2014/main" id="{C723A5C6-C3B0-4C7D-A026-4A6C4586B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476" y="1012014"/>
            <a:ext cx="77755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3333FF"/>
                </a:solidFill>
              </a:rPr>
              <a:t>通过模拟比较，认为模型</a:t>
            </a:r>
            <a:r>
              <a:rPr lang="en-US" altLang="zh-CN" b="1" dirty="0">
                <a:solidFill>
                  <a:srgbClr val="3333FF"/>
                </a:solidFill>
              </a:rPr>
              <a:t>4 </a:t>
            </a:r>
            <a:r>
              <a:rPr lang="zh-CN" altLang="en-US" b="1" dirty="0">
                <a:solidFill>
                  <a:srgbClr val="3333FF"/>
                </a:solidFill>
              </a:rPr>
              <a:t>具有较好的效果！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026">
            <a:extLst>
              <a:ext uri="{FF2B5EF4-FFF2-40B4-BE49-F238E27FC236}">
                <a16:creationId xmlns:a16="http://schemas.microsoft.com/office/drawing/2014/main" id="{0F507C64-9FA9-4E96-ABCA-B57C0FA2C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76250"/>
            <a:ext cx="5616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solidFill>
                  <a:srgbClr val="3333FF"/>
                </a:solidFill>
                <a:ea typeface="楷体_GB2312" pitchFamily="49" charset="-122"/>
              </a:rPr>
              <a:t>2.</a:t>
            </a:r>
            <a:r>
              <a:rPr lang="en-US" altLang="zh-CN" sz="36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b="1">
                <a:solidFill>
                  <a:srgbClr val="3333FF"/>
                </a:solidFill>
                <a:latin typeface="楷体_GB2312" pitchFamily="49" charset="-122"/>
                <a:ea typeface="楷体_GB2312" pitchFamily="49" charset="-122"/>
              </a:rPr>
              <a:t>划艇比赛的成绩分析</a:t>
            </a:r>
          </a:p>
        </p:txBody>
      </p:sp>
      <p:graphicFrame>
        <p:nvGraphicFramePr>
          <p:cNvPr id="5123" name="Object 1027">
            <a:extLst>
              <a:ext uri="{FF2B5EF4-FFF2-40B4-BE49-F238E27FC236}">
                <a16:creationId xmlns:a16="http://schemas.microsoft.com/office/drawing/2014/main" id="{3C7B2EA4-3F0E-4757-B4EB-EED51F01F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457200"/>
          <a:ext cx="11033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Clip" r:id="rId3" imgW="952129" imgH="542857" progId="MS_ClipArt_Gallery.5">
                  <p:embed/>
                </p:oleObj>
              </mc:Choice>
              <mc:Fallback>
                <p:oleObj name="Clip" r:id="rId3" imgW="952129" imgH="542857" progId="MS_ClipArt_Gallery.5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57200"/>
                        <a:ext cx="110331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28">
            <a:extLst>
              <a:ext uri="{FF2B5EF4-FFF2-40B4-BE49-F238E27FC236}">
                <a16:creationId xmlns:a16="http://schemas.microsoft.com/office/drawing/2014/main" id="{D8394C4A-C9B5-4690-B5E0-1AA1D07D0C5F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667000"/>
            <a:ext cx="4495800" cy="2720975"/>
            <a:chOff x="288" y="1104"/>
            <a:chExt cx="2832" cy="1714"/>
          </a:xfrm>
        </p:grpSpPr>
        <p:sp>
          <p:nvSpPr>
            <p:cNvPr id="5151" name="Text Box 1029">
              <a:extLst>
                <a:ext uri="{FF2B5EF4-FFF2-40B4-BE49-F238E27FC236}">
                  <a16:creationId xmlns:a16="http://schemas.microsoft.com/office/drawing/2014/main" id="{05F95087-DA16-42A5-B53F-7A8780B42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104"/>
              <a:ext cx="2784" cy="1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 b="1"/>
                <a:t>赛艇          </a:t>
              </a:r>
              <a:r>
                <a:rPr lang="en-US" altLang="zh-CN" b="1"/>
                <a:t>2000m</a:t>
              </a:r>
              <a:r>
                <a:rPr lang="zh-CN" altLang="en-US" b="1"/>
                <a:t>成绩 </a:t>
              </a:r>
              <a:r>
                <a:rPr lang="en-US" altLang="zh-CN" b="1" i="1"/>
                <a:t>t</a:t>
              </a:r>
              <a:r>
                <a:rPr lang="en-US" altLang="zh-CN" b="1"/>
                <a:t> (</a:t>
              </a:r>
              <a:r>
                <a:rPr lang="zh-CN" altLang="en-US" b="1"/>
                <a:t>m</a:t>
              </a:r>
              <a:r>
                <a:rPr lang="en-US" altLang="zh-CN" b="1"/>
                <a:t>in</a:t>
              </a:r>
              <a:r>
                <a:rPr lang="zh-CN" altLang="zh-CN" b="1"/>
                <a:t>)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zh-CN" b="1"/>
                <a:t>种类     1      2       3       4      平均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zh-CN" b="1"/>
                <a:t>单人  7.16  7.25  7.28  7.17   7.21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zh-CN" b="1"/>
                <a:t>双人  6.87  6.92  6.95  6.77   6.88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zh-CN" b="1"/>
                <a:t>四人  6.33  6.42  6.48  6.13   6.32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zh-CN" altLang="zh-CN" b="1"/>
                <a:t>八人  5.87  5.92  5.82  5.73   5.84</a:t>
              </a:r>
              <a:endParaRPr lang="en-US" altLang="zh-CN" b="1"/>
            </a:p>
          </p:txBody>
        </p:sp>
        <p:sp>
          <p:nvSpPr>
            <p:cNvPr id="5152" name="Line 1030">
              <a:extLst>
                <a:ext uri="{FF2B5EF4-FFF2-40B4-BE49-F238E27FC236}">
                  <a16:creationId xmlns:a16="http://schemas.microsoft.com/office/drawing/2014/main" id="{D2C188EE-5E5D-426B-A978-B9C878BA75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680"/>
              <a:ext cx="27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3" name="Line 1031">
              <a:extLst>
                <a:ext uri="{FF2B5EF4-FFF2-40B4-BE49-F238E27FC236}">
                  <a16:creationId xmlns:a16="http://schemas.microsoft.com/office/drawing/2014/main" id="{79735DE3-1F12-4FE4-BF16-C6A19BF21A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152"/>
              <a:ext cx="27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Line 1032">
              <a:extLst>
                <a:ext uri="{FF2B5EF4-FFF2-40B4-BE49-F238E27FC236}">
                  <a16:creationId xmlns:a16="http://schemas.microsoft.com/office/drawing/2014/main" id="{3004446D-6C0A-4DA0-86EA-E4A748707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784"/>
              <a:ext cx="27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5" name="Line 1033">
              <a:extLst>
                <a:ext uri="{FF2B5EF4-FFF2-40B4-BE49-F238E27FC236}">
                  <a16:creationId xmlns:a16="http://schemas.microsoft.com/office/drawing/2014/main" id="{29E05240-6371-46A9-8F9C-1A87055C98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152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Line 1034">
              <a:extLst>
                <a:ext uri="{FF2B5EF4-FFF2-40B4-BE49-F238E27FC236}">
                  <a16:creationId xmlns:a16="http://schemas.microsoft.com/office/drawing/2014/main" id="{300C3175-268D-40E3-8E9E-072CEB94D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152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Line 1035">
              <a:extLst>
                <a:ext uri="{FF2B5EF4-FFF2-40B4-BE49-F238E27FC236}">
                  <a16:creationId xmlns:a16="http://schemas.microsoft.com/office/drawing/2014/main" id="{BA173985-3819-4106-A4DC-89DF82915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392"/>
              <a:ext cx="2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8" name="Line 1036">
              <a:extLst>
                <a:ext uri="{FF2B5EF4-FFF2-40B4-BE49-F238E27FC236}">
                  <a16:creationId xmlns:a16="http://schemas.microsoft.com/office/drawing/2014/main" id="{8C4FCA08-E008-4F19-A21B-88096E9399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39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9" name="Line 1037">
              <a:extLst>
                <a:ext uri="{FF2B5EF4-FFF2-40B4-BE49-F238E27FC236}">
                  <a16:creationId xmlns:a16="http://schemas.microsoft.com/office/drawing/2014/main" id="{0E0F040F-29E4-48AC-B647-92C9218BA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152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062">
            <a:extLst>
              <a:ext uri="{FF2B5EF4-FFF2-40B4-BE49-F238E27FC236}">
                <a16:creationId xmlns:a16="http://schemas.microsoft.com/office/drawing/2014/main" id="{7A9E513A-75A6-4329-9ADB-51A896DDDFC7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2689225"/>
            <a:ext cx="2057400" cy="2720975"/>
            <a:chOff x="4464" y="1842"/>
            <a:chExt cx="1296" cy="1714"/>
          </a:xfrm>
        </p:grpSpPr>
        <p:sp>
          <p:nvSpPr>
            <p:cNvPr id="5143" name="Line 1048">
              <a:extLst>
                <a:ext uri="{FF2B5EF4-FFF2-40B4-BE49-F238E27FC236}">
                  <a16:creationId xmlns:a16="http://schemas.microsoft.com/office/drawing/2014/main" id="{C8233319-DA38-46D2-BE34-7E9215A39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40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4" name="Line 1049">
              <a:extLst>
                <a:ext uri="{FF2B5EF4-FFF2-40B4-BE49-F238E27FC236}">
                  <a16:creationId xmlns:a16="http://schemas.microsoft.com/office/drawing/2014/main" id="{EFD23E7C-05F4-41CB-84C6-390DC0B9F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872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5" name="Line 1050">
              <a:extLst>
                <a:ext uri="{FF2B5EF4-FFF2-40B4-BE49-F238E27FC236}">
                  <a16:creationId xmlns:a16="http://schemas.microsoft.com/office/drawing/2014/main" id="{3BA587FA-9481-4198-AFAD-07F8BBB56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504"/>
              <a:ext cx="12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6" name="Line 1051">
              <a:extLst>
                <a:ext uri="{FF2B5EF4-FFF2-40B4-BE49-F238E27FC236}">
                  <a16:creationId xmlns:a16="http://schemas.microsoft.com/office/drawing/2014/main" id="{EBD71271-5D68-41C4-9579-FF199650E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4" y="1872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7" name="Line 1052">
              <a:extLst>
                <a:ext uri="{FF2B5EF4-FFF2-40B4-BE49-F238E27FC236}">
                  <a16:creationId xmlns:a16="http://schemas.microsoft.com/office/drawing/2014/main" id="{39F1CBF2-BED2-4B39-93C2-F1762F1A7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12" y="1872"/>
              <a:ext cx="0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148" name="Group 1061">
              <a:extLst>
                <a:ext uri="{FF2B5EF4-FFF2-40B4-BE49-F238E27FC236}">
                  <a16:creationId xmlns:a16="http://schemas.microsoft.com/office/drawing/2014/main" id="{45AB58CD-3598-497A-A67E-3EF0FC8CF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1842"/>
              <a:ext cx="1200" cy="1714"/>
              <a:chOff x="4560" y="1842"/>
              <a:chExt cx="1200" cy="1714"/>
            </a:xfrm>
          </p:grpSpPr>
          <p:sp>
            <p:nvSpPr>
              <p:cNvPr id="5149" name="Text Box 1047">
                <a:extLst>
                  <a:ext uri="{FF2B5EF4-FFF2-40B4-BE49-F238E27FC236}">
                    <a16:creationId xmlns:a16="http://schemas.microsoft.com/office/drawing/2014/main" id="{7609C253-73C9-4673-96CC-BC13CE6DC2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1842"/>
                <a:ext cx="1200" cy="1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b="1">
                    <a:solidFill>
                      <a:srgbClr val="FF3300"/>
                    </a:solidFill>
                  </a:rPr>
                  <a:t>空艇重</a:t>
                </a:r>
                <a:r>
                  <a:rPr lang="en-US" altLang="zh-CN" b="1" i="1">
                    <a:solidFill>
                      <a:srgbClr val="FF3300"/>
                    </a:solidFill>
                  </a:rPr>
                  <a:t>w</a:t>
                </a:r>
                <a:r>
                  <a:rPr lang="en-US" altLang="zh-CN" b="1" baseline="-25000">
                    <a:solidFill>
                      <a:srgbClr val="FF3300"/>
                    </a:solidFill>
                  </a:rPr>
                  <a:t>0</a:t>
                </a:r>
                <a:r>
                  <a:rPr lang="en-US" altLang="zh-CN" b="1">
                    <a:solidFill>
                      <a:srgbClr val="FF3300"/>
                    </a:solidFill>
                  </a:rPr>
                  <a:t>(kg)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FF3300"/>
                    </a:solidFill>
                  </a:rPr>
                  <a:t>   </a:t>
                </a:r>
                <a:r>
                  <a:rPr lang="zh-CN" altLang="en-US" b="1">
                    <a:solidFill>
                      <a:srgbClr val="FF3300"/>
                    </a:solidFill>
                  </a:rPr>
                  <a:t>桨</a:t>
                </a:r>
                <a:r>
                  <a:rPr lang="zh-CN" altLang="zh-CN" b="1">
                    <a:solidFill>
                      <a:srgbClr val="FF3300"/>
                    </a:solidFill>
                  </a:rPr>
                  <a:t>手数</a:t>
                </a:r>
                <a:r>
                  <a:rPr lang="en-US" altLang="zh-CN" b="1" i="1">
                    <a:solidFill>
                      <a:srgbClr val="FF3300"/>
                    </a:solidFill>
                  </a:rPr>
                  <a:t>n</a:t>
                </a:r>
                <a:endParaRPr lang="en-US" altLang="zh-CN" b="1"/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/>
                  <a:t>     </a:t>
                </a:r>
                <a:r>
                  <a:rPr lang="en-US" altLang="zh-CN" b="1">
                    <a:solidFill>
                      <a:srgbClr val="FF3300"/>
                    </a:solidFill>
                  </a:rPr>
                  <a:t>16.3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FF3300"/>
                    </a:solidFill>
                  </a:rPr>
                  <a:t>     13.6 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FF3300"/>
                    </a:solidFill>
                  </a:rPr>
                  <a:t>     18.1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FF3300"/>
                    </a:solidFill>
                  </a:rPr>
                  <a:t>     14.7</a:t>
                </a:r>
              </a:p>
            </p:txBody>
          </p:sp>
          <p:sp>
            <p:nvSpPr>
              <p:cNvPr id="5150" name="Line 1053">
                <a:extLst>
                  <a:ext uri="{FF2B5EF4-FFF2-40B4-BE49-F238E27FC236}">
                    <a16:creationId xmlns:a16="http://schemas.microsoft.com/office/drawing/2014/main" id="{3DAF2EEB-78F3-474F-8820-13144121B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160"/>
                <a:ext cx="10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7918" name="Text Box 1054">
            <a:extLst>
              <a:ext uri="{FF2B5EF4-FFF2-40B4-BE49-F238E27FC236}">
                <a16:creationId xmlns:a16="http://schemas.microsoft.com/office/drawing/2014/main" id="{D0494EEE-7F2E-4C04-B3C3-8CC1C9063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052513"/>
            <a:ext cx="7605713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对四种赛艇 </a:t>
            </a:r>
            <a:r>
              <a:rPr lang="en-US" altLang="zh-CN" sz="2800" b="1" dirty="0"/>
              <a:t>(</a:t>
            </a:r>
            <a:r>
              <a:rPr lang="zh-CN" altLang="zh-CN" sz="2800" b="1" dirty="0"/>
              <a:t>单人、双人、四人、八人</a:t>
            </a:r>
            <a:r>
              <a:rPr lang="en-US" altLang="zh-CN" sz="2800" b="1" dirty="0"/>
              <a:t>) </a:t>
            </a:r>
            <a:r>
              <a:rPr lang="zh-CN" altLang="zh-CN" sz="2800" b="1" dirty="0"/>
              <a:t>4次国际大赛冠军的成绩进行比较，发现与</a:t>
            </a:r>
            <a:r>
              <a:rPr lang="zh-CN" altLang="en-US" sz="2800" b="1" dirty="0"/>
              <a:t>桨</a:t>
            </a:r>
            <a:r>
              <a:rPr lang="zh-CN" altLang="zh-CN" sz="2800" b="1" dirty="0"/>
              <a:t>手数有某种关系</a:t>
            </a:r>
            <a:r>
              <a:rPr lang="en-US" altLang="zh-CN" sz="2800" b="1" dirty="0"/>
              <a:t>.  </a:t>
            </a:r>
            <a:r>
              <a:rPr lang="zh-CN" altLang="zh-CN" sz="2800" b="1" dirty="0"/>
              <a:t>试建立数学模型揭示这种关系</a:t>
            </a:r>
            <a:r>
              <a:rPr lang="en-US" altLang="zh-CN" sz="2800" b="1" dirty="0"/>
              <a:t>.</a:t>
            </a:r>
          </a:p>
        </p:txBody>
      </p:sp>
      <p:sp>
        <p:nvSpPr>
          <p:cNvPr id="37919" name="Text Box 1055">
            <a:extLst>
              <a:ext uri="{FF2B5EF4-FFF2-40B4-BE49-F238E27FC236}">
                <a16:creationId xmlns:a16="http://schemas.microsoft.com/office/drawing/2014/main" id="{D3DF9779-B151-49CE-9683-1EEEF4539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524000"/>
            <a:ext cx="6096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37920" name="Text Box 1056">
            <a:extLst>
              <a:ext uri="{FF2B5EF4-FFF2-40B4-BE49-F238E27FC236}">
                <a16:creationId xmlns:a16="http://schemas.microsoft.com/office/drawing/2014/main" id="{71CF0F8B-6289-47AA-86C4-14A04339C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486400"/>
            <a:ext cx="609600" cy="946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准备</a:t>
            </a:r>
          </a:p>
        </p:txBody>
      </p:sp>
      <p:sp>
        <p:nvSpPr>
          <p:cNvPr id="37921" name="Text Box 1057">
            <a:extLst>
              <a:ext uri="{FF2B5EF4-FFF2-40B4-BE49-F238E27FC236}">
                <a16:creationId xmlns:a16="http://schemas.microsoft.com/office/drawing/2014/main" id="{56B12EE1-12FC-4AC9-B2ED-5AFCD4A7F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638800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调查赛艇的尺寸和质量</a:t>
            </a:r>
          </a:p>
        </p:txBody>
      </p:sp>
      <p:grpSp>
        <p:nvGrpSpPr>
          <p:cNvPr id="7" name="Group 1058">
            <a:extLst>
              <a:ext uri="{FF2B5EF4-FFF2-40B4-BE49-F238E27FC236}">
                <a16:creationId xmlns:a16="http://schemas.microsoft.com/office/drawing/2014/main" id="{6F75FCC2-160E-4493-BE31-79D768AE9F9D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5638800"/>
            <a:ext cx="3810000" cy="519113"/>
            <a:chOff x="3168" y="3705"/>
            <a:chExt cx="2400" cy="327"/>
          </a:xfrm>
        </p:grpSpPr>
        <p:sp>
          <p:nvSpPr>
            <p:cNvPr id="5141" name="Text Box 1059">
              <a:extLst>
                <a:ext uri="{FF2B5EF4-FFF2-40B4-BE49-F238E27FC236}">
                  <a16:creationId xmlns:a16="http://schemas.microsoft.com/office/drawing/2014/main" id="{4171E743-B9A8-4925-B937-8B1ED87F6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705"/>
              <a:ext cx="19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3333FF"/>
                  </a:solidFill>
                </a:rPr>
                <a:t>l </a:t>
              </a:r>
              <a:r>
                <a:rPr lang="en-US" altLang="zh-CN" sz="2800" b="1" dirty="0">
                  <a:solidFill>
                    <a:srgbClr val="3333FF"/>
                  </a:solidFill>
                </a:rPr>
                <a:t>/</a:t>
              </a:r>
              <a:r>
                <a:rPr lang="en-US" altLang="zh-CN" sz="2800" b="1" i="1" dirty="0">
                  <a:solidFill>
                    <a:srgbClr val="3333FF"/>
                  </a:solidFill>
                </a:rPr>
                <a:t>b</a:t>
              </a:r>
              <a:r>
                <a:rPr lang="en-US" altLang="zh-CN" sz="2800" b="1" dirty="0">
                  <a:solidFill>
                    <a:srgbClr val="3333FF"/>
                  </a:solidFill>
                </a:rPr>
                <a:t>,  </a:t>
              </a:r>
              <a:r>
                <a:rPr lang="en-US" altLang="zh-CN" sz="2800" b="1" i="1" dirty="0">
                  <a:solidFill>
                    <a:srgbClr val="3333FF"/>
                  </a:solidFill>
                </a:rPr>
                <a:t>w</a:t>
              </a:r>
              <a:r>
                <a:rPr lang="en-US" altLang="zh-CN" sz="2800" b="1" baseline="-25000" dirty="0">
                  <a:solidFill>
                    <a:srgbClr val="3333FF"/>
                  </a:solidFill>
                </a:rPr>
                <a:t>0</a:t>
              </a:r>
              <a:r>
                <a:rPr lang="en-US" altLang="zh-CN" sz="2800" b="1" dirty="0">
                  <a:solidFill>
                    <a:srgbClr val="3333FF"/>
                  </a:solidFill>
                </a:rPr>
                <a:t>/</a:t>
              </a:r>
              <a:r>
                <a:rPr lang="en-US" altLang="zh-CN" sz="2800" b="1" i="1" dirty="0">
                  <a:solidFill>
                    <a:srgbClr val="3333FF"/>
                  </a:solidFill>
                </a:rPr>
                <a:t>n</a:t>
              </a:r>
              <a:r>
                <a:rPr lang="en-US" altLang="zh-CN" sz="2800" b="1" dirty="0">
                  <a:solidFill>
                    <a:srgbClr val="3333FF"/>
                  </a:solidFill>
                </a:rPr>
                <a:t> </a:t>
              </a:r>
              <a:r>
                <a:rPr lang="zh-CN" altLang="zh-CN" sz="2800" b="1" dirty="0">
                  <a:solidFill>
                    <a:srgbClr val="3333FF"/>
                  </a:solidFill>
                </a:rPr>
                <a:t>基本不变</a:t>
              </a:r>
              <a:endParaRPr lang="zh-CN" altLang="en-US" sz="2800" b="1" dirty="0">
                <a:solidFill>
                  <a:srgbClr val="3333FF"/>
                </a:solidFill>
              </a:endParaRPr>
            </a:p>
          </p:txBody>
        </p:sp>
        <p:sp>
          <p:nvSpPr>
            <p:cNvPr id="5142" name="AutoShape 1060">
              <a:extLst>
                <a:ext uri="{FF2B5EF4-FFF2-40B4-BE49-F238E27FC236}">
                  <a16:creationId xmlns:a16="http://schemas.microsoft.com/office/drawing/2014/main" id="{B9A14261-ABCD-4CFB-9864-515DC3729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744"/>
              <a:ext cx="336" cy="240"/>
            </a:xfrm>
            <a:prstGeom prst="rightArrow">
              <a:avLst>
                <a:gd name="adj1" fmla="val 50000"/>
                <a:gd name="adj2" fmla="val 3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256" name="Group 40">
            <a:extLst>
              <a:ext uri="{FF2B5EF4-FFF2-40B4-BE49-F238E27FC236}">
                <a16:creationId xmlns:a16="http://schemas.microsoft.com/office/drawing/2014/main" id="{F635C7A7-9D3D-4CAD-A1F3-BDA240B28BB4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2652713"/>
            <a:ext cx="2667000" cy="2720975"/>
            <a:chOff x="2880" y="1671"/>
            <a:chExt cx="1680" cy="1714"/>
          </a:xfrm>
        </p:grpSpPr>
        <p:grpSp>
          <p:nvGrpSpPr>
            <p:cNvPr id="5132" name="Group 1038">
              <a:extLst>
                <a:ext uri="{FF2B5EF4-FFF2-40B4-BE49-F238E27FC236}">
                  <a16:creationId xmlns:a16="http://schemas.microsoft.com/office/drawing/2014/main" id="{419C4E82-FFF2-4B57-8D5A-CCD84343FE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671"/>
              <a:ext cx="1680" cy="1714"/>
              <a:chOff x="2928" y="1824"/>
              <a:chExt cx="1680" cy="1714"/>
            </a:xfrm>
          </p:grpSpPr>
          <p:sp>
            <p:nvSpPr>
              <p:cNvPr id="5134" name="Text Box 1039">
                <a:extLst>
                  <a:ext uri="{FF2B5EF4-FFF2-40B4-BE49-F238E27FC236}">
                    <a16:creationId xmlns:a16="http://schemas.microsoft.com/office/drawing/2014/main" id="{C99184A6-2759-4138-A96A-F0D17C1F48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1824"/>
                <a:ext cx="1680" cy="17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b="1">
                    <a:solidFill>
                      <a:srgbClr val="3333FF"/>
                    </a:solidFill>
                  </a:rPr>
                  <a:t>艇长</a:t>
                </a:r>
                <a:r>
                  <a:rPr lang="en-US" altLang="zh-CN" b="1" i="1">
                    <a:solidFill>
                      <a:srgbClr val="3333FF"/>
                    </a:solidFill>
                  </a:rPr>
                  <a:t>l </a:t>
                </a:r>
                <a:r>
                  <a:rPr lang="en-US" altLang="zh-CN" b="1">
                    <a:solidFill>
                      <a:srgbClr val="3333FF"/>
                    </a:solidFill>
                  </a:rPr>
                  <a:t> </a:t>
                </a:r>
                <a:r>
                  <a:rPr lang="zh-CN" altLang="zh-CN" b="1">
                    <a:solidFill>
                      <a:srgbClr val="3333FF"/>
                    </a:solidFill>
                  </a:rPr>
                  <a:t>艇宽</a:t>
                </a:r>
                <a:r>
                  <a:rPr lang="en-US" altLang="zh-CN" b="1" i="1">
                    <a:solidFill>
                      <a:srgbClr val="3333FF"/>
                    </a:solidFill>
                  </a:rPr>
                  <a:t>b    l</a:t>
                </a:r>
                <a:r>
                  <a:rPr lang="en-US" altLang="zh-CN" b="1">
                    <a:solidFill>
                      <a:srgbClr val="3333FF"/>
                    </a:solidFill>
                  </a:rPr>
                  <a:t>/</a:t>
                </a:r>
                <a:r>
                  <a:rPr lang="en-US" altLang="zh-CN" b="1" i="1">
                    <a:solidFill>
                      <a:srgbClr val="3333FF"/>
                    </a:solidFill>
                  </a:rPr>
                  <a:t>b</a:t>
                </a:r>
                <a:r>
                  <a:rPr lang="en-US" altLang="zh-CN"/>
                  <a:t> </a:t>
                </a:r>
                <a:endParaRPr lang="en-US" altLang="zh-CN" b="1">
                  <a:solidFill>
                    <a:srgbClr val="3333FF"/>
                  </a:solidFill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3333FF"/>
                    </a:solidFill>
                  </a:rPr>
                  <a:t> (m</a:t>
                </a:r>
                <a:r>
                  <a:rPr lang="zh-CN" altLang="zh-CN" b="1">
                    <a:solidFill>
                      <a:srgbClr val="3333FF"/>
                    </a:solidFill>
                  </a:rPr>
                  <a:t>)     (</a:t>
                </a:r>
                <a:r>
                  <a:rPr lang="en-US" altLang="zh-CN" b="1">
                    <a:solidFill>
                      <a:srgbClr val="3333FF"/>
                    </a:solidFill>
                  </a:rPr>
                  <a:t>m</a:t>
                </a:r>
                <a:r>
                  <a:rPr lang="zh-CN" altLang="zh-CN" b="1">
                    <a:solidFill>
                      <a:srgbClr val="3333FF"/>
                    </a:solidFill>
                  </a:rPr>
                  <a:t>)</a:t>
                </a:r>
                <a:endParaRPr lang="en-US" altLang="zh-CN" b="1">
                  <a:solidFill>
                    <a:srgbClr val="3333FF"/>
                  </a:solidFill>
                </a:endParaRP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3333FF"/>
                    </a:solidFill>
                  </a:rPr>
                  <a:t> 7.93    0.293   27.0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3333FF"/>
                    </a:solidFill>
                  </a:rPr>
                  <a:t> 9.76    0.356   27.4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3333FF"/>
                    </a:solidFill>
                  </a:rPr>
                  <a:t>11.75   0.574   21.0</a:t>
                </a:r>
              </a:p>
              <a:p>
                <a:pPr eaLnBrk="1" hangingPunct="1">
                  <a:lnSpc>
                    <a:spcPct val="120000"/>
                  </a:lnSpc>
                </a:pPr>
                <a:r>
                  <a:rPr lang="en-US" altLang="zh-CN" b="1">
                    <a:solidFill>
                      <a:srgbClr val="3333FF"/>
                    </a:solidFill>
                  </a:rPr>
                  <a:t>18.28   0.610   30.0</a:t>
                </a:r>
              </a:p>
            </p:txBody>
          </p:sp>
          <p:grpSp>
            <p:nvGrpSpPr>
              <p:cNvPr id="5135" name="Group 1040">
                <a:extLst>
                  <a:ext uri="{FF2B5EF4-FFF2-40B4-BE49-F238E27FC236}">
                    <a16:creationId xmlns:a16="http://schemas.microsoft.com/office/drawing/2014/main" id="{3D22EEC2-D4EF-4566-98EE-F71079A37F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1872"/>
                <a:ext cx="1585" cy="1633"/>
                <a:chOff x="3360" y="1152"/>
                <a:chExt cx="1585" cy="1633"/>
              </a:xfrm>
            </p:grpSpPr>
            <p:sp>
              <p:nvSpPr>
                <p:cNvPr id="5136" name="Line 1041">
                  <a:extLst>
                    <a:ext uri="{FF2B5EF4-FFF2-40B4-BE49-F238E27FC236}">
                      <a16:creationId xmlns:a16="http://schemas.microsoft.com/office/drawing/2014/main" id="{9CE2064D-A928-4E5D-9A79-452818238F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0" y="1152"/>
                  <a:ext cx="1584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7" name="Line 1042">
                  <a:extLst>
                    <a:ext uri="{FF2B5EF4-FFF2-40B4-BE49-F238E27FC236}">
                      <a16:creationId xmlns:a16="http://schemas.microsoft.com/office/drawing/2014/main" id="{3C885E2E-9906-4363-BC0D-9084AEABB0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8" y="1680"/>
                  <a:ext cx="1536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8" name="Line 1043">
                  <a:extLst>
                    <a:ext uri="{FF2B5EF4-FFF2-40B4-BE49-F238E27FC236}">
                      <a16:creationId xmlns:a16="http://schemas.microsoft.com/office/drawing/2014/main" id="{3B5FE40E-30C4-45DC-99A5-1CE5B699C1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0" y="2784"/>
                  <a:ext cx="1584" cy="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39" name="Line 1044">
                  <a:extLst>
                    <a:ext uri="{FF2B5EF4-FFF2-40B4-BE49-F238E27FC236}">
                      <a16:creationId xmlns:a16="http://schemas.microsoft.com/office/drawing/2014/main" id="{DCA23D37-7C05-4637-8CDA-A11E943411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1152"/>
                  <a:ext cx="1" cy="16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40" name="Line 1045">
                  <a:extLst>
                    <a:ext uri="{FF2B5EF4-FFF2-40B4-BE49-F238E27FC236}">
                      <a16:creationId xmlns:a16="http://schemas.microsoft.com/office/drawing/2014/main" id="{33B519C0-D855-4CCF-8122-5F46557252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44" y="1152"/>
                  <a:ext cx="1" cy="163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133" name="Line 39">
              <a:extLst>
                <a:ext uri="{FF2B5EF4-FFF2-40B4-BE49-F238E27FC236}">
                  <a16:creationId xmlns:a16="http://schemas.microsoft.com/office/drawing/2014/main" id="{DA82969F-0F73-46DF-86B5-0D1BA0DC3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743"/>
              <a:ext cx="0" cy="16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3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3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18" grpId="0" autoUpdateAnimBg="0"/>
      <p:bldP spid="37919" grpId="0" animBg="1" autoUpdateAnimBg="0"/>
      <p:bldP spid="37920" grpId="0" animBg="1" autoUpdateAnimBg="0"/>
      <p:bldP spid="37921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027">
            <a:extLst>
              <a:ext uri="{FF2B5EF4-FFF2-40B4-BE49-F238E27FC236}">
                <a16:creationId xmlns:a16="http://schemas.microsoft.com/office/drawing/2014/main" id="{296663C1-A7BE-406E-8D98-0F03107B8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49275"/>
            <a:ext cx="19050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问题分析</a:t>
            </a:r>
          </a:p>
        </p:txBody>
      </p:sp>
      <p:sp>
        <p:nvSpPr>
          <p:cNvPr id="38916" name="Text Box 1028">
            <a:extLst>
              <a:ext uri="{FF2B5EF4-FFF2-40B4-BE49-F238E27FC236}">
                <a16:creationId xmlns:a16="http://schemas.microsoft.com/office/drawing/2014/main" id="{1DAD2D35-4B13-4368-94DA-A5FB055A5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22525"/>
            <a:ext cx="601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前进阻力 </a:t>
            </a:r>
            <a:r>
              <a:rPr lang="en-US" altLang="zh-CN" sz="2800" b="1"/>
              <a:t>~ </a:t>
            </a:r>
            <a:r>
              <a:rPr lang="zh-CN" altLang="en-US" sz="2800" b="1"/>
              <a:t>浸没部分与水的摩擦力</a:t>
            </a:r>
          </a:p>
        </p:txBody>
      </p:sp>
      <p:sp>
        <p:nvSpPr>
          <p:cNvPr id="38917" name="Text Box 1029">
            <a:extLst>
              <a:ext uri="{FF2B5EF4-FFF2-40B4-BE49-F238E27FC236}">
                <a16:creationId xmlns:a16="http://schemas.microsoft.com/office/drawing/2014/main" id="{CC6C5647-2466-4EC4-BA70-1DA81A357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89125"/>
            <a:ext cx="480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前进动力 </a:t>
            </a:r>
            <a:r>
              <a:rPr lang="en-US" altLang="zh-CN" sz="2800" b="1"/>
              <a:t>~ </a:t>
            </a:r>
            <a:r>
              <a:rPr lang="zh-CN" altLang="en-US" sz="2800" b="1"/>
              <a:t>桨手的划桨功率</a:t>
            </a:r>
          </a:p>
        </p:txBody>
      </p:sp>
      <p:sp>
        <p:nvSpPr>
          <p:cNvPr id="38918" name="Text Box 1030">
            <a:extLst>
              <a:ext uri="{FF2B5EF4-FFF2-40B4-BE49-F238E27FC236}">
                <a16:creationId xmlns:a16="http://schemas.microsoft.com/office/drawing/2014/main" id="{9C117734-4710-41B5-B69C-A3409B2F9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620713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</a:rPr>
              <a:t>    赛艇速度与桨手数量之间的关系？</a:t>
            </a:r>
          </a:p>
        </p:txBody>
      </p:sp>
      <p:sp>
        <p:nvSpPr>
          <p:cNvPr id="38919" name="Text Box 1031">
            <a:extLst>
              <a:ext uri="{FF2B5EF4-FFF2-40B4-BE49-F238E27FC236}">
                <a16:creationId xmlns:a16="http://schemas.microsoft.com/office/drawing/2014/main" id="{6B242BB0-EF3D-4B5B-ACBF-5A6210164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341438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3333FF"/>
                </a:solidFill>
              </a:rPr>
              <a:t>赛艇速度由前进动力和前进阻力决定</a:t>
            </a:r>
            <a:r>
              <a:rPr lang="en-US" altLang="zh-CN" sz="2800" b="1">
                <a:solidFill>
                  <a:srgbClr val="3333FF"/>
                </a:solidFill>
              </a:rPr>
              <a:t>:</a:t>
            </a:r>
          </a:p>
        </p:txBody>
      </p:sp>
      <p:grpSp>
        <p:nvGrpSpPr>
          <p:cNvPr id="2" name="Group 1032">
            <a:extLst>
              <a:ext uri="{FF2B5EF4-FFF2-40B4-BE49-F238E27FC236}">
                <a16:creationId xmlns:a16="http://schemas.microsoft.com/office/drawing/2014/main" id="{E171F5D0-A8F7-4266-933E-4946472D0109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087688"/>
            <a:ext cx="1066800" cy="946150"/>
            <a:chOff x="1872" y="2208"/>
            <a:chExt cx="672" cy="596"/>
          </a:xfrm>
        </p:grpSpPr>
        <p:sp>
          <p:nvSpPr>
            <p:cNvPr id="6186" name="Text Box 1033">
              <a:extLst>
                <a:ext uri="{FF2B5EF4-FFF2-40B4-BE49-F238E27FC236}">
                  <a16:creationId xmlns:a16="http://schemas.microsoft.com/office/drawing/2014/main" id="{289FA84D-6A39-4C41-B9EE-851A2EA78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208"/>
              <a:ext cx="672" cy="59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划桨</a:t>
              </a:r>
            </a:p>
            <a:p>
              <a:pPr eaLnBrk="1" hangingPunct="1"/>
              <a:r>
                <a:rPr lang="zh-CN" altLang="en-US" sz="2800" b="1"/>
                <a:t>功率</a:t>
              </a:r>
              <a:r>
                <a:rPr lang="zh-CN" altLang="zh-CN" sz="2800" b="1"/>
                <a:t> </a:t>
              </a:r>
              <a:endParaRPr lang="zh-CN" altLang="en-US" sz="2800" b="1">
                <a:sym typeface="Symbol" panose="05050102010706020507" pitchFamily="18" charset="2"/>
              </a:endParaRPr>
            </a:p>
          </p:txBody>
        </p:sp>
        <p:sp>
          <p:nvSpPr>
            <p:cNvPr id="6187" name="Line 1034">
              <a:extLst>
                <a:ext uri="{FF2B5EF4-FFF2-40B4-BE49-F238E27FC236}">
                  <a16:creationId xmlns:a16="http://schemas.microsoft.com/office/drawing/2014/main" id="{E59E89DB-5F73-459B-AEF9-A71E92C9DF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2304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35">
            <a:extLst>
              <a:ext uri="{FF2B5EF4-FFF2-40B4-BE49-F238E27FC236}">
                <a16:creationId xmlns:a16="http://schemas.microsoft.com/office/drawing/2014/main" id="{D936AAA2-A6A2-4FBC-A3E1-F380AF488C83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3011488"/>
            <a:ext cx="1752600" cy="946150"/>
            <a:chOff x="4368" y="2160"/>
            <a:chExt cx="1104" cy="596"/>
          </a:xfrm>
        </p:grpSpPr>
        <p:grpSp>
          <p:nvGrpSpPr>
            <p:cNvPr id="6182" name="Group 1036">
              <a:extLst>
                <a:ext uri="{FF2B5EF4-FFF2-40B4-BE49-F238E27FC236}">
                  <a16:creationId xmlns:a16="http://schemas.microsoft.com/office/drawing/2014/main" id="{FBEAB39F-CACD-4998-BD08-EEF0670A48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160"/>
              <a:ext cx="816" cy="596"/>
              <a:chOff x="4080" y="2640"/>
              <a:chExt cx="816" cy="596"/>
            </a:xfrm>
          </p:grpSpPr>
          <p:sp>
            <p:nvSpPr>
              <p:cNvPr id="6184" name="Text Box 1037">
                <a:extLst>
                  <a:ext uri="{FF2B5EF4-FFF2-40B4-BE49-F238E27FC236}">
                    <a16:creationId xmlns:a16="http://schemas.microsoft.com/office/drawing/2014/main" id="{78C38C46-F107-4063-BEB6-E97BDC3B77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2640"/>
                <a:ext cx="816" cy="596"/>
              </a:xfrm>
              <a:prstGeom prst="rect">
                <a:avLst/>
              </a:prstGeom>
              <a:solidFill>
                <a:srgbClr val="FF66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赛艇</a:t>
                </a:r>
              </a:p>
              <a:p>
                <a:pPr eaLnBrk="1" hangingPunct="1"/>
                <a:r>
                  <a:rPr lang="zh-CN" altLang="en-US" sz="2800" b="1"/>
                  <a:t>速度</a:t>
                </a:r>
              </a:p>
            </p:txBody>
          </p:sp>
          <p:sp>
            <p:nvSpPr>
              <p:cNvPr id="6185" name="Line 1038">
                <a:extLst>
                  <a:ext uri="{FF2B5EF4-FFF2-40B4-BE49-F238E27FC236}">
                    <a16:creationId xmlns:a16="http://schemas.microsoft.com/office/drawing/2014/main" id="{17325411-75BA-4460-AD19-DCDD935A0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56" y="2736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83" name="AutoShape 1039">
              <a:extLst>
                <a:ext uri="{FF2B5EF4-FFF2-40B4-BE49-F238E27FC236}">
                  <a16:creationId xmlns:a16="http://schemas.microsoft.com/office/drawing/2014/main" id="{4216A56B-1A35-4763-9E4B-51763A2CE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400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66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1040">
            <a:extLst>
              <a:ext uri="{FF2B5EF4-FFF2-40B4-BE49-F238E27FC236}">
                <a16:creationId xmlns:a16="http://schemas.microsoft.com/office/drawing/2014/main" id="{2150F9D2-7377-4BE0-8BD9-07258D9CD9AF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4110038"/>
            <a:ext cx="1600200" cy="946150"/>
            <a:chOff x="4368" y="2880"/>
            <a:chExt cx="1008" cy="596"/>
          </a:xfrm>
        </p:grpSpPr>
        <p:grpSp>
          <p:nvGrpSpPr>
            <p:cNvPr id="6178" name="Group 1041">
              <a:extLst>
                <a:ext uri="{FF2B5EF4-FFF2-40B4-BE49-F238E27FC236}">
                  <a16:creationId xmlns:a16="http://schemas.microsoft.com/office/drawing/2014/main" id="{37A5E9D8-2B92-49A7-8E12-CEADA2DD9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2880"/>
              <a:ext cx="720" cy="596"/>
              <a:chOff x="4176" y="3360"/>
              <a:chExt cx="720" cy="596"/>
            </a:xfrm>
          </p:grpSpPr>
          <p:sp>
            <p:nvSpPr>
              <p:cNvPr id="6180" name="Text Box 1042">
                <a:extLst>
                  <a:ext uri="{FF2B5EF4-FFF2-40B4-BE49-F238E27FC236}">
                    <a16:creationId xmlns:a16="http://schemas.microsoft.com/office/drawing/2014/main" id="{91CC92FD-E4F6-47B3-AF28-26072ED801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3360"/>
                <a:ext cx="720" cy="596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赛艇</a:t>
                </a:r>
              </a:p>
              <a:p>
                <a:pPr eaLnBrk="1" hangingPunct="1"/>
                <a:r>
                  <a:rPr lang="zh-CN" altLang="en-US" sz="2800" b="1"/>
                  <a:t>速度</a:t>
                </a:r>
                <a:endParaRPr lang="zh-CN" altLang="en-US" sz="2800" b="1">
                  <a:sym typeface="Symbol" panose="05050102010706020507" pitchFamily="18" charset="2"/>
                </a:endParaRPr>
              </a:p>
            </p:txBody>
          </p:sp>
          <p:sp>
            <p:nvSpPr>
              <p:cNvPr id="6181" name="Line 1043">
                <a:extLst>
                  <a:ext uri="{FF2B5EF4-FFF2-40B4-BE49-F238E27FC236}">
                    <a16:creationId xmlns:a16="http://schemas.microsoft.com/office/drawing/2014/main" id="{D4965B4B-BB81-42D8-AF20-B0230E79D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2" y="3456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79" name="AutoShape 1044">
              <a:extLst>
                <a:ext uri="{FF2B5EF4-FFF2-40B4-BE49-F238E27FC236}">
                  <a16:creationId xmlns:a16="http://schemas.microsoft.com/office/drawing/2014/main" id="{9B7713C9-656F-4BA7-8BA6-31E331091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072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" name="Group 1045">
            <a:extLst>
              <a:ext uri="{FF2B5EF4-FFF2-40B4-BE49-F238E27FC236}">
                <a16:creationId xmlns:a16="http://schemas.microsoft.com/office/drawing/2014/main" id="{630251D4-F024-438B-BEDB-3AEF39FC4966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3055938"/>
            <a:ext cx="1600200" cy="946150"/>
            <a:chOff x="3168" y="2169"/>
            <a:chExt cx="1008" cy="596"/>
          </a:xfrm>
        </p:grpSpPr>
        <p:grpSp>
          <p:nvGrpSpPr>
            <p:cNvPr id="6174" name="Group 1046">
              <a:extLst>
                <a:ext uri="{FF2B5EF4-FFF2-40B4-BE49-F238E27FC236}">
                  <a16:creationId xmlns:a16="http://schemas.microsoft.com/office/drawing/2014/main" id="{7F46F55A-B54C-4A2B-86CA-9775925289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2169"/>
              <a:ext cx="720" cy="596"/>
              <a:chOff x="3408" y="2169"/>
              <a:chExt cx="720" cy="596"/>
            </a:xfrm>
          </p:grpSpPr>
          <p:sp>
            <p:nvSpPr>
              <p:cNvPr id="6176" name="Text Box 1047">
                <a:extLst>
                  <a:ext uri="{FF2B5EF4-FFF2-40B4-BE49-F238E27FC236}">
                    <a16:creationId xmlns:a16="http://schemas.microsoft.com/office/drawing/2014/main" id="{3E2EB20D-18D2-4B43-900F-6FA41325DE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2169"/>
                <a:ext cx="720" cy="596"/>
              </a:xfrm>
              <a:prstGeom prst="rect">
                <a:avLst/>
              </a:prstGeom>
              <a:solidFill>
                <a:srgbClr val="FF99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前进</a:t>
                </a:r>
              </a:p>
              <a:p>
                <a:pPr eaLnBrk="1" hangingPunct="1"/>
                <a:r>
                  <a:rPr lang="zh-CN" altLang="en-US" sz="2800" b="1"/>
                  <a:t>动力</a:t>
                </a:r>
                <a:endParaRPr lang="zh-CN" altLang="en-US" sz="2800" b="1">
                  <a:sym typeface="Symbol" panose="05050102010706020507" pitchFamily="18" charset="2"/>
                </a:endParaRPr>
              </a:p>
            </p:txBody>
          </p:sp>
          <p:sp>
            <p:nvSpPr>
              <p:cNvPr id="6177" name="Line 1048">
                <a:extLst>
                  <a:ext uri="{FF2B5EF4-FFF2-40B4-BE49-F238E27FC236}">
                    <a16:creationId xmlns:a16="http://schemas.microsoft.com/office/drawing/2014/main" id="{ED55793E-5342-4AEE-9171-62AAF5122B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2256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75" name="AutoShape 1049">
              <a:extLst>
                <a:ext uri="{FF2B5EF4-FFF2-40B4-BE49-F238E27FC236}">
                  <a16:creationId xmlns:a16="http://schemas.microsoft.com/office/drawing/2014/main" id="{8964BEFE-20E4-419D-8A63-06C4A1B21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400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" name="Group 1050">
            <a:extLst>
              <a:ext uri="{FF2B5EF4-FFF2-40B4-BE49-F238E27FC236}">
                <a16:creationId xmlns:a16="http://schemas.microsoft.com/office/drawing/2014/main" id="{1CEC1C8B-DB9E-47F0-94F3-8DC80087C5C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110038"/>
            <a:ext cx="1600200" cy="946150"/>
            <a:chOff x="3360" y="2688"/>
            <a:chExt cx="1008" cy="596"/>
          </a:xfrm>
        </p:grpSpPr>
        <p:sp>
          <p:nvSpPr>
            <p:cNvPr id="6171" name="Text Box 1051">
              <a:extLst>
                <a:ext uri="{FF2B5EF4-FFF2-40B4-BE49-F238E27FC236}">
                  <a16:creationId xmlns:a16="http://schemas.microsoft.com/office/drawing/2014/main" id="{6E79B182-DCFD-4BEC-B7CB-0CA0F8EE7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688"/>
              <a:ext cx="720" cy="596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前进</a:t>
              </a:r>
            </a:p>
            <a:p>
              <a:pPr eaLnBrk="1" hangingPunct="1"/>
              <a:r>
                <a:rPr lang="zh-CN" altLang="en-US" sz="2800" b="1"/>
                <a:t>阻力</a:t>
              </a:r>
              <a:endParaRPr lang="zh-CN" altLang="en-US" sz="2800" b="1">
                <a:sym typeface="Symbol" panose="05050102010706020507" pitchFamily="18" charset="2"/>
              </a:endParaRPr>
            </a:p>
          </p:txBody>
        </p:sp>
        <p:sp>
          <p:nvSpPr>
            <p:cNvPr id="6172" name="Line 1052">
              <a:extLst>
                <a:ext uri="{FF2B5EF4-FFF2-40B4-BE49-F238E27FC236}">
                  <a16:creationId xmlns:a16="http://schemas.microsoft.com/office/drawing/2014/main" id="{FC89E376-F8F3-4995-B432-4FDA3AE62F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784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3" name="AutoShape 1053">
              <a:extLst>
                <a:ext uri="{FF2B5EF4-FFF2-40B4-BE49-F238E27FC236}">
                  <a16:creationId xmlns:a16="http://schemas.microsoft.com/office/drawing/2014/main" id="{C396A467-546F-4C51-AFF9-5E37F518C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928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0" name="Group 1054">
            <a:extLst>
              <a:ext uri="{FF2B5EF4-FFF2-40B4-BE49-F238E27FC236}">
                <a16:creationId xmlns:a16="http://schemas.microsoft.com/office/drawing/2014/main" id="{26E25EB3-C934-4B0F-8B0E-EC4A1198A92E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348038"/>
            <a:ext cx="1600200" cy="1295400"/>
            <a:chOff x="240" y="2400"/>
            <a:chExt cx="1008" cy="816"/>
          </a:xfrm>
        </p:grpSpPr>
        <p:grpSp>
          <p:nvGrpSpPr>
            <p:cNvPr id="6167" name="Group 1055">
              <a:extLst>
                <a:ext uri="{FF2B5EF4-FFF2-40B4-BE49-F238E27FC236}">
                  <a16:creationId xmlns:a16="http://schemas.microsoft.com/office/drawing/2014/main" id="{07819D90-AF88-4D6A-B33F-DAFEBDD44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476"/>
              <a:ext cx="768" cy="596"/>
              <a:chOff x="480" y="2361"/>
              <a:chExt cx="768" cy="596"/>
            </a:xfrm>
          </p:grpSpPr>
          <p:sp>
            <p:nvSpPr>
              <p:cNvPr id="6169" name="Text Box 1056">
                <a:extLst>
                  <a:ext uri="{FF2B5EF4-FFF2-40B4-BE49-F238E27FC236}">
                    <a16:creationId xmlns:a16="http://schemas.microsoft.com/office/drawing/2014/main" id="{566028EE-87E7-4F5D-BFEB-1F59C8F8BE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" y="2361"/>
                <a:ext cx="768" cy="596"/>
              </a:xfrm>
              <a:prstGeom prst="rect">
                <a:avLst/>
              </a:prstGeom>
              <a:solidFill>
                <a:srgbClr val="FF99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桨手数量 </a:t>
                </a:r>
              </a:p>
            </p:txBody>
          </p:sp>
          <p:sp>
            <p:nvSpPr>
              <p:cNvPr id="6170" name="Line 1057">
                <a:extLst>
                  <a:ext uri="{FF2B5EF4-FFF2-40B4-BE49-F238E27FC236}">
                    <a16:creationId xmlns:a16="http://schemas.microsoft.com/office/drawing/2014/main" id="{4B18CFD1-47E1-47B3-88C5-C0B1910864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2448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68" name="AutoShape 1058">
              <a:extLst>
                <a:ext uri="{FF2B5EF4-FFF2-40B4-BE49-F238E27FC236}">
                  <a16:creationId xmlns:a16="http://schemas.microsoft.com/office/drawing/2014/main" id="{983397DC-695F-4DD4-9562-1C0AD387A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400"/>
              <a:ext cx="240" cy="816"/>
            </a:xfrm>
            <a:prstGeom prst="rightArrowCallout">
              <a:avLst>
                <a:gd name="adj1" fmla="val 85000"/>
                <a:gd name="adj2" fmla="val 85000"/>
                <a:gd name="adj3" fmla="val 16667"/>
                <a:gd name="adj4" fmla="val 66667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2" name="Group 1059">
            <a:extLst>
              <a:ext uri="{FF2B5EF4-FFF2-40B4-BE49-F238E27FC236}">
                <a16:creationId xmlns:a16="http://schemas.microsoft.com/office/drawing/2014/main" id="{6F61E047-F830-464A-B5E1-06E5FABD7C97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110038"/>
            <a:ext cx="762000" cy="946150"/>
            <a:chOff x="2592" y="3724"/>
            <a:chExt cx="480" cy="596"/>
          </a:xfrm>
        </p:grpSpPr>
        <p:sp>
          <p:nvSpPr>
            <p:cNvPr id="6165" name="Text Box 1060">
              <a:extLst>
                <a:ext uri="{FF2B5EF4-FFF2-40B4-BE49-F238E27FC236}">
                  <a16:creationId xmlns:a16="http://schemas.microsoft.com/office/drawing/2014/main" id="{4C93C1DC-087C-486C-B067-CC2BF01B1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724"/>
              <a:ext cx="480" cy="5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艇</a:t>
              </a:r>
            </a:p>
            <a:p>
              <a:pPr eaLnBrk="1" hangingPunct="1"/>
              <a:r>
                <a:rPr lang="zh-CN" altLang="en-US" sz="2800" b="1"/>
                <a:t>重</a:t>
              </a:r>
            </a:p>
          </p:txBody>
        </p:sp>
        <p:sp>
          <p:nvSpPr>
            <p:cNvPr id="6166" name="Line 1061">
              <a:extLst>
                <a:ext uri="{FF2B5EF4-FFF2-40B4-BE49-F238E27FC236}">
                  <a16:creationId xmlns:a16="http://schemas.microsoft.com/office/drawing/2014/main" id="{3E608C9D-9D74-42DC-82CB-B51A9EF142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384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1062">
            <a:extLst>
              <a:ext uri="{FF2B5EF4-FFF2-40B4-BE49-F238E27FC236}">
                <a16:creationId xmlns:a16="http://schemas.microsoft.com/office/drawing/2014/main" id="{A07B2232-1951-4A9F-AD4E-8D38956E4AC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110038"/>
            <a:ext cx="1676400" cy="946150"/>
            <a:chOff x="2064" y="2880"/>
            <a:chExt cx="1056" cy="596"/>
          </a:xfrm>
        </p:grpSpPr>
        <p:grpSp>
          <p:nvGrpSpPr>
            <p:cNvPr id="6161" name="Group 1063">
              <a:extLst>
                <a:ext uri="{FF2B5EF4-FFF2-40B4-BE49-F238E27FC236}">
                  <a16:creationId xmlns:a16="http://schemas.microsoft.com/office/drawing/2014/main" id="{7A39BE57-25EC-4BBE-B1C7-BAB6344567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880"/>
              <a:ext cx="768" cy="596"/>
              <a:chOff x="2400" y="3168"/>
              <a:chExt cx="768" cy="596"/>
            </a:xfrm>
          </p:grpSpPr>
          <p:sp>
            <p:nvSpPr>
              <p:cNvPr id="6163" name="Text Box 1064">
                <a:extLst>
                  <a:ext uri="{FF2B5EF4-FFF2-40B4-BE49-F238E27FC236}">
                    <a16:creationId xmlns:a16="http://schemas.microsoft.com/office/drawing/2014/main" id="{DA58D012-5EEE-4032-9409-406765EF21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0" y="3168"/>
                <a:ext cx="768" cy="596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浸没</a:t>
                </a:r>
              </a:p>
              <a:p>
                <a:pPr eaLnBrk="1" hangingPunct="1"/>
                <a:r>
                  <a:rPr lang="zh-CN" altLang="en-US" sz="2800" b="1"/>
                  <a:t>面积</a:t>
                </a:r>
                <a:r>
                  <a:rPr lang="zh-CN" altLang="zh-CN" sz="2800" b="1"/>
                  <a:t> </a:t>
                </a:r>
                <a:endParaRPr lang="zh-CN" altLang="en-US" sz="2800" b="1">
                  <a:sym typeface="Symbol" panose="05050102010706020507" pitchFamily="18" charset="2"/>
                </a:endParaRPr>
              </a:p>
            </p:txBody>
          </p:sp>
          <p:sp>
            <p:nvSpPr>
              <p:cNvPr id="6164" name="Line 1065">
                <a:extLst>
                  <a:ext uri="{FF2B5EF4-FFF2-40B4-BE49-F238E27FC236}">
                    <a16:creationId xmlns:a16="http://schemas.microsoft.com/office/drawing/2014/main" id="{084211ED-BB31-442A-9DB4-F0186355B8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76" y="3264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162" name="AutoShape 1066">
              <a:extLst>
                <a:ext uri="{FF2B5EF4-FFF2-40B4-BE49-F238E27FC236}">
                  <a16:creationId xmlns:a16="http://schemas.microsoft.com/office/drawing/2014/main" id="{E8B174AD-50A5-4B5A-9A2C-997DBCC4B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120"/>
              <a:ext cx="192" cy="19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8955" name="Text Box 1067">
            <a:extLst>
              <a:ext uri="{FF2B5EF4-FFF2-40B4-BE49-F238E27FC236}">
                <a16:creationId xmlns:a16="http://schemas.microsoft.com/office/drawing/2014/main" id="{D8F87913-E5E9-44DC-B214-D679FD3F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253038"/>
            <a:ext cx="853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对桨手体重、功率、阻力与艇速的关系等作出假定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38956" name="Text Box 1068">
            <a:extLst>
              <a:ext uri="{FF2B5EF4-FFF2-40B4-BE49-F238E27FC236}">
                <a16:creationId xmlns:a16="http://schemas.microsoft.com/office/drawing/2014/main" id="{F44E8550-BB0C-40ED-AAA6-12E8AB34F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8626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运用合适的物理定律建立模型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8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38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utoUpdateAnimBg="0"/>
      <p:bldP spid="38917" grpId="0" autoUpdateAnimBg="0"/>
      <p:bldP spid="38918" grpId="0" autoUpdateAnimBg="0"/>
      <p:bldP spid="38919" grpId="0" autoUpdateAnimBg="0"/>
      <p:bldP spid="38955" grpId="0" autoUpdateAnimBg="0"/>
      <p:bldP spid="38956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027">
            <a:extLst>
              <a:ext uri="{FF2B5EF4-FFF2-40B4-BE49-F238E27FC236}">
                <a16:creationId xmlns:a16="http://schemas.microsoft.com/office/drawing/2014/main" id="{52031039-5582-4614-9525-BA30045BC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81000"/>
            <a:ext cx="19050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  <p:sp>
        <p:nvSpPr>
          <p:cNvPr id="39940" name="Text Box 1028">
            <a:extLst>
              <a:ext uri="{FF2B5EF4-FFF2-40B4-BE49-F238E27FC236}">
                <a16:creationId xmlns:a16="http://schemas.microsoft.com/office/drawing/2014/main" id="{7B05D490-BC4F-419E-967C-6A7B984E8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209800"/>
            <a:ext cx="64008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1</a:t>
            </a:r>
            <a:r>
              <a:rPr lang="zh-CN" altLang="en-US" sz="2800" b="1"/>
              <a:t>）艇形状相同</a:t>
            </a:r>
            <a:r>
              <a:rPr lang="en-US" altLang="zh-CN" sz="2800" b="1"/>
              <a:t>(</a:t>
            </a:r>
            <a:r>
              <a:rPr lang="en-US" altLang="zh-CN" sz="2800" b="1" i="1"/>
              <a:t>l/b</a:t>
            </a:r>
            <a:r>
              <a:rPr lang="zh-CN" altLang="zh-CN" sz="2800" b="1"/>
              <a:t>为常数), </a:t>
            </a:r>
            <a:r>
              <a:rPr lang="en-US" altLang="zh-CN" sz="2800" b="1" i="1"/>
              <a:t>w</a:t>
            </a:r>
            <a:r>
              <a:rPr lang="en-US" altLang="zh-CN" sz="2800" b="1" baseline="-25000"/>
              <a:t>0</a:t>
            </a:r>
            <a:r>
              <a:rPr lang="zh-CN" altLang="zh-CN" sz="2800" b="1"/>
              <a:t>与</a:t>
            </a:r>
            <a:r>
              <a:rPr lang="en-US" altLang="zh-CN" sz="2800" b="1" i="1"/>
              <a:t>n</a:t>
            </a:r>
            <a:r>
              <a:rPr lang="zh-CN" altLang="zh-CN" sz="2800" b="1"/>
              <a:t>成正比</a:t>
            </a:r>
            <a:endParaRPr lang="zh-CN" altLang="en-US" sz="2800" b="1"/>
          </a:p>
        </p:txBody>
      </p:sp>
      <p:sp>
        <p:nvSpPr>
          <p:cNvPr id="39941" name="Text Box 1029">
            <a:extLst>
              <a:ext uri="{FF2B5EF4-FFF2-40B4-BE49-F238E27FC236}">
                <a16:creationId xmlns:a16="http://schemas.microsoft.com/office/drawing/2014/main" id="{2762CE07-0712-4CB9-99E7-8B3D98B13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895600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en-US" altLang="zh-CN" sz="2800" b="1" i="1"/>
              <a:t>v</a:t>
            </a:r>
            <a:r>
              <a:rPr lang="zh-CN" altLang="en-US" sz="2800" b="1"/>
              <a:t>是常数，阻力 </a:t>
            </a:r>
            <a:r>
              <a:rPr lang="en-US" altLang="zh-CN" sz="2800" b="1" i="1"/>
              <a:t>f</a:t>
            </a:r>
            <a:r>
              <a:rPr lang="zh-CN" altLang="en-US" sz="2800" b="1"/>
              <a:t>与 </a:t>
            </a:r>
            <a:r>
              <a:rPr lang="en-US" altLang="zh-CN" sz="2800" b="1" i="1"/>
              <a:t>sv</a:t>
            </a:r>
            <a:r>
              <a:rPr lang="en-US" altLang="zh-CN" sz="2800" b="1" baseline="30000"/>
              <a:t>2</a:t>
            </a:r>
            <a:r>
              <a:rPr lang="zh-CN" altLang="en-US" sz="2800" b="1"/>
              <a:t>成正比</a:t>
            </a:r>
          </a:p>
        </p:txBody>
      </p:sp>
      <p:sp>
        <p:nvSpPr>
          <p:cNvPr id="39942" name="Text Box 1030">
            <a:extLst>
              <a:ext uri="{FF2B5EF4-FFF2-40B4-BE49-F238E27FC236}">
                <a16:creationId xmlns:a16="http://schemas.microsoft.com/office/drawing/2014/main" id="{FAFF6430-A42E-47DF-BE71-77B0C38DA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66800"/>
            <a:ext cx="8001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符号：艇速 </a:t>
            </a:r>
            <a:r>
              <a:rPr lang="en-US" altLang="zh-CN" sz="2800" b="1" i="1"/>
              <a:t>v</a:t>
            </a:r>
            <a:r>
              <a:rPr lang="en-US" altLang="zh-CN" sz="2800" b="1"/>
              <a:t>, </a:t>
            </a:r>
            <a:r>
              <a:rPr lang="zh-CN" altLang="en-US" sz="2800" b="1"/>
              <a:t>浸没面积</a:t>
            </a:r>
            <a:r>
              <a:rPr lang="zh-CN" altLang="en-US" sz="2800" b="1" i="1"/>
              <a:t> </a:t>
            </a:r>
            <a:r>
              <a:rPr lang="en-US" altLang="zh-CN" sz="2800" b="1" i="1"/>
              <a:t>s</a:t>
            </a:r>
            <a:r>
              <a:rPr lang="en-US" altLang="zh-CN" sz="2800" b="1"/>
              <a:t>, </a:t>
            </a:r>
            <a:r>
              <a:rPr lang="zh-CN" altLang="en-US" sz="2800" b="1"/>
              <a:t>浸没体积 </a:t>
            </a:r>
            <a:r>
              <a:rPr lang="en-US" altLang="zh-CN" sz="2800" b="1" i="1"/>
              <a:t>A</a:t>
            </a:r>
            <a:r>
              <a:rPr lang="en-US" altLang="zh-CN" sz="2800" b="1"/>
              <a:t>, </a:t>
            </a:r>
            <a:r>
              <a:rPr lang="zh-CN" altLang="en-US" sz="2800" b="1"/>
              <a:t>空艇重 </a:t>
            </a:r>
            <a:r>
              <a:rPr lang="en-US" altLang="zh-CN" sz="2800" b="1" i="1"/>
              <a:t>w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, </a:t>
            </a:r>
            <a:r>
              <a:rPr lang="zh-CN" altLang="en-US" sz="2800" b="1"/>
              <a:t>阻力 </a:t>
            </a:r>
            <a:r>
              <a:rPr lang="en-US" altLang="zh-CN" sz="2800" b="1" i="1"/>
              <a:t>f</a:t>
            </a:r>
            <a:r>
              <a:rPr lang="en-US" altLang="zh-CN" sz="2800" b="1"/>
              <a:t>, </a:t>
            </a:r>
            <a:r>
              <a:rPr lang="zh-CN" altLang="en-US" sz="2800" b="1"/>
              <a:t>桨手数 </a:t>
            </a:r>
            <a:r>
              <a:rPr lang="en-US" altLang="zh-CN" sz="2800" b="1" i="1"/>
              <a:t>n</a:t>
            </a:r>
            <a:r>
              <a:rPr lang="en-US" altLang="zh-CN" sz="2800" b="1"/>
              <a:t>, </a:t>
            </a:r>
            <a:r>
              <a:rPr lang="zh-CN" altLang="en-US" sz="2800" b="1"/>
              <a:t>桨手功率</a:t>
            </a:r>
            <a:r>
              <a:rPr lang="zh-CN" altLang="en-US" sz="2800" b="1" i="1"/>
              <a:t> </a:t>
            </a:r>
            <a:r>
              <a:rPr lang="en-US" altLang="zh-CN" sz="2800" b="1" i="1"/>
              <a:t>p</a:t>
            </a:r>
            <a:r>
              <a:rPr lang="en-US" altLang="zh-CN" sz="2800" b="1"/>
              <a:t>, </a:t>
            </a:r>
            <a:r>
              <a:rPr lang="zh-CN" altLang="en-US" sz="2800" b="1"/>
              <a:t>桨手体重</a:t>
            </a:r>
            <a:r>
              <a:rPr lang="zh-CN" altLang="en-US" sz="2800" b="1" i="1"/>
              <a:t> </a:t>
            </a:r>
            <a:r>
              <a:rPr lang="en-US" altLang="zh-CN" sz="2800" b="1" i="1"/>
              <a:t>w</a:t>
            </a:r>
            <a:r>
              <a:rPr lang="en-US" altLang="zh-CN" sz="2800" b="1"/>
              <a:t>, </a:t>
            </a:r>
            <a:r>
              <a:rPr lang="zh-CN" altLang="en-US" sz="2800" b="1"/>
              <a:t>艇重 </a:t>
            </a:r>
            <a:r>
              <a:rPr lang="en-US" altLang="zh-CN" sz="2800" b="1" i="1"/>
              <a:t>W.</a:t>
            </a:r>
            <a:endParaRPr lang="en-US" altLang="zh-CN" sz="2800" b="1"/>
          </a:p>
        </p:txBody>
      </p:sp>
      <p:sp>
        <p:nvSpPr>
          <p:cNvPr id="39943" name="Text Box 1031">
            <a:extLst>
              <a:ext uri="{FF2B5EF4-FFF2-40B4-BE49-F238E27FC236}">
                <a16:creationId xmlns:a16="http://schemas.microsoft.com/office/drawing/2014/main" id="{9296E9A5-DDC6-497B-B63E-F43DCF72A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209800"/>
            <a:ext cx="23622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/>
              <a:t>艇的静态特性</a:t>
            </a:r>
            <a:endParaRPr lang="zh-CN" altLang="en-US" sz="2800" b="1"/>
          </a:p>
        </p:txBody>
      </p:sp>
      <p:sp>
        <p:nvSpPr>
          <p:cNvPr id="39944" name="Text Box 1032">
            <a:extLst>
              <a:ext uri="{FF2B5EF4-FFF2-40B4-BE49-F238E27FC236}">
                <a16:creationId xmlns:a16="http://schemas.microsoft.com/office/drawing/2014/main" id="{E19E5C83-9B3F-405E-90EF-2E05A68EF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895600"/>
            <a:ext cx="23622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/>
              <a:t>艇的动态特性</a:t>
            </a:r>
            <a:endParaRPr lang="zh-CN" altLang="en-US" sz="2800" b="1"/>
          </a:p>
        </p:txBody>
      </p:sp>
      <p:sp>
        <p:nvSpPr>
          <p:cNvPr id="39945" name="Text Box 1033">
            <a:extLst>
              <a:ext uri="{FF2B5EF4-FFF2-40B4-BE49-F238E27FC236}">
                <a16:creationId xmlns:a16="http://schemas.microsoft.com/office/drawing/2014/main" id="{F1AE1CA8-6FB3-424C-996C-7848ADDC0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519488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3</a:t>
            </a:r>
            <a:r>
              <a:rPr lang="zh-CN" altLang="en-US" sz="2800" b="1"/>
              <a:t>）</a:t>
            </a:r>
            <a:r>
              <a:rPr lang="en-US" altLang="zh-CN" sz="2800" b="1" i="1"/>
              <a:t>w</a:t>
            </a:r>
            <a:r>
              <a:rPr lang="zh-CN" altLang="zh-CN" sz="2800" b="1"/>
              <a:t>相同，</a:t>
            </a:r>
            <a:r>
              <a:rPr lang="en-US" altLang="zh-CN" sz="2800" b="1" i="1"/>
              <a:t>p</a:t>
            </a:r>
            <a:r>
              <a:rPr lang="zh-CN" altLang="zh-CN" sz="2800" b="1"/>
              <a:t>不变，</a:t>
            </a:r>
            <a:r>
              <a:rPr lang="en-US" altLang="zh-CN" sz="2800" b="1" i="1"/>
              <a:t>p</a:t>
            </a:r>
            <a:r>
              <a:rPr lang="zh-CN" altLang="zh-CN" sz="2800" b="1"/>
              <a:t>与</a:t>
            </a:r>
            <a:r>
              <a:rPr lang="en-US" altLang="zh-CN" sz="2800" b="1" i="1"/>
              <a:t>w</a:t>
            </a:r>
            <a:r>
              <a:rPr lang="zh-CN" altLang="zh-CN" sz="2800" b="1"/>
              <a:t>成正比</a:t>
            </a:r>
            <a:endParaRPr lang="zh-CN" altLang="en-US" sz="2800" b="1"/>
          </a:p>
        </p:txBody>
      </p:sp>
      <p:sp>
        <p:nvSpPr>
          <p:cNvPr id="39946" name="Text Box 1034">
            <a:extLst>
              <a:ext uri="{FF2B5EF4-FFF2-40B4-BE49-F238E27FC236}">
                <a16:creationId xmlns:a16="http://schemas.microsoft.com/office/drawing/2014/main" id="{CBFDC17E-7C55-4B28-A333-35B88507C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505200"/>
            <a:ext cx="2057400" cy="51911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桨手的特征</a:t>
            </a:r>
          </a:p>
        </p:txBody>
      </p:sp>
      <p:sp>
        <p:nvSpPr>
          <p:cNvPr id="39947" name="Text Box 1035">
            <a:extLst>
              <a:ext uri="{FF2B5EF4-FFF2-40B4-BE49-F238E27FC236}">
                <a16:creationId xmlns:a16="http://schemas.microsoft.com/office/drawing/2014/main" id="{614F48F6-393A-4A6B-9750-A11D97350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191000"/>
            <a:ext cx="1066800" cy="12604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grpSp>
        <p:nvGrpSpPr>
          <p:cNvPr id="2" name="Group 1075">
            <a:extLst>
              <a:ext uri="{FF2B5EF4-FFF2-40B4-BE49-F238E27FC236}">
                <a16:creationId xmlns:a16="http://schemas.microsoft.com/office/drawing/2014/main" id="{1CF87FFB-AD5D-4224-9938-3CF1C59A0BEC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4203700"/>
            <a:ext cx="1379538" cy="579438"/>
            <a:chOff x="1920" y="2648"/>
            <a:chExt cx="816" cy="365"/>
          </a:xfrm>
        </p:grpSpPr>
        <p:sp>
          <p:nvSpPr>
            <p:cNvPr id="7214" name="Text Box 1037">
              <a:extLst>
                <a:ext uri="{FF2B5EF4-FFF2-40B4-BE49-F238E27FC236}">
                  <a16:creationId xmlns:a16="http://schemas.microsoft.com/office/drawing/2014/main" id="{D6D0B3EB-859F-49F7-AEDB-429F28735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648"/>
              <a:ext cx="8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/>
                <a:t>f </a:t>
              </a:r>
              <a:r>
                <a:rPr lang="en-US" altLang="zh-CN" sz="3200" b="1">
                  <a:sym typeface="Math1" pitchFamily="2" charset="2"/>
                </a:rPr>
                <a:t>   </a:t>
              </a:r>
              <a:r>
                <a:rPr lang="en-US" altLang="zh-CN" sz="3200" b="1" i="1">
                  <a:sym typeface="Math1" pitchFamily="2" charset="2"/>
                </a:rPr>
                <a:t>sv</a:t>
              </a:r>
              <a:r>
                <a:rPr lang="en-US" altLang="zh-CN" sz="3200" b="1" baseline="30000">
                  <a:sym typeface="Math1" pitchFamily="2" charset="2"/>
                </a:rPr>
                <a:t>2</a:t>
              </a:r>
              <a:r>
                <a:rPr lang="en-US" altLang="zh-CN" sz="3200" b="1">
                  <a:sym typeface="Math1" pitchFamily="2" charset="2"/>
                </a:rPr>
                <a:t>,</a:t>
              </a:r>
              <a:endParaRPr lang="en-US" altLang="zh-CN" sz="3200" b="1"/>
            </a:p>
          </p:txBody>
        </p:sp>
        <p:graphicFrame>
          <p:nvGraphicFramePr>
            <p:cNvPr id="7215" name="Object 1054">
              <a:extLst>
                <a:ext uri="{FF2B5EF4-FFF2-40B4-BE49-F238E27FC236}">
                  <a16:creationId xmlns:a16="http://schemas.microsoft.com/office/drawing/2014/main" id="{88649EE3-91CC-4A9A-B49F-BEF14E854D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2776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0" name="公式" r:id="rId3" imgW="152202" imgH="126835" progId="Equation.3">
                    <p:embed/>
                  </p:oleObj>
                </mc:Choice>
                <mc:Fallback>
                  <p:oleObj name="公式" r:id="rId3" imgW="152202" imgH="126835" progId="Equation.3">
                    <p:embed/>
                    <p:pic>
                      <p:nvPicPr>
                        <p:cNvPr id="0" name="Object 10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776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76">
            <a:extLst>
              <a:ext uri="{FF2B5EF4-FFF2-40B4-BE49-F238E27FC236}">
                <a16:creationId xmlns:a16="http://schemas.microsoft.com/office/drawing/2014/main" id="{5C4E9C01-64CF-45E6-9F72-EB589B10ECD9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144963"/>
            <a:ext cx="1219200" cy="579437"/>
            <a:chOff x="2928" y="2611"/>
            <a:chExt cx="768" cy="365"/>
          </a:xfrm>
        </p:grpSpPr>
        <p:sp>
          <p:nvSpPr>
            <p:cNvPr id="7212" name="Text Box 1038">
              <a:extLst>
                <a:ext uri="{FF2B5EF4-FFF2-40B4-BE49-F238E27FC236}">
                  <a16:creationId xmlns:a16="http://schemas.microsoft.com/office/drawing/2014/main" id="{E4E181BB-FAD7-4847-8B11-4BFA4D583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611"/>
              <a:ext cx="7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/>
                <a:t>p</a:t>
              </a:r>
              <a:r>
                <a:rPr lang="en-US" altLang="zh-CN" sz="3200" b="1"/>
                <a:t> </a:t>
              </a:r>
              <a:r>
                <a:rPr lang="en-US" altLang="zh-CN" sz="3200" b="1">
                  <a:sym typeface="Math1" pitchFamily="2" charset="2"/>
                </a:rPr>
                <a:t>   </a:t>
              </a:r>
              <a:r>
                <a:rPr lang="en-US" altLang="zh-CN" sz="3200" b="1" i="1">
                  <a:sym typeface="Math1" pitchFamily="2" charset="2"/>
                </a:rPr>
                <a:t>w</a:t>
              </a:r>
              <a:endParaRPr lang="en-US" altLang="zh-CN" sz="3200" b="1"/>
            </a:p>
          </p:txBody>
        </p:sp>
        <p:graphicFrame>
          <p:nvGraphicFramePr>
            <p:cNvPr id="7213" name="Object 1055">
              <a:extLst>
                <a:ext uri="{FF2B5EF4-FFF2-40B4-BE49-F238E27FC236}">
                  <a16:creationId xmlns:a16="http://schemas.microsoft.com/office/drawing/2014/main" id="{83C3922A-C2E9-4FDE-9014-BF583E4C27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0" y="2736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1" name="公式" r:id="rId5" imgW="152202" imgH="126835" progId="Equation.3">
                    <p:embed/>
                  </p:oleObj>
                </mc:Choice>
                <mc:Fallback>
                  <p:oleObj name="公式" r:id="rId5" imgW="152202" imgH="126835" progId="Equation.3">
                    <p:embed/>
                    <p:pic>
                      <p:nvPicPr>
                        <p:cNvPr id="0" name="Object 10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2736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66">
            <a:extLst>
              <a:ext uri="{FF2B5EF4-FFF2-40B4-BE49-F238E27FC236}">
                <a16:creationId xmlns:a16="http://schemas.microsoft.com/office/drawing/2014/main" id="{0BD8E3C9-2E68-4740-A103-5EE2EA3CAB59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144963"/>
            <a:ext cx="2590800" cy="579437"/>
            <a:chOff x="3936" y="2611"/>
            <a:chExt cx="1632" cy="365"/>
          </a:xfrm>
        </p:grpSpPr>
        <p:grpSp>
          <p:nvGrpSpPr>
            <p:cNvPr id="7208" name="Group 1041">
              <a:extLst>
                <a:ext uri="{FF2B5EF4-FFF2-40B4-BE49-F238E27FC236}">
                  <a16:creationId xmlns:a16="http://schemas.microsoft.com/office/drawing/2014/main" id="{5318838A-1C3B-4117-A67A-63DED18AE8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611"/>
              <a:ext cx="1632" cy="365"/>
              <a:chOff x="3936" y="2592"/>
              <a:chExt cx="1632" cy="365"/>
            </a:xfrm>
          </p:grpSpPr>
          <p:sp>
            <p:nvSpPr>
              <p:cNvPr id="7210" name="Text Box 1042">
                <a:extLst>
                  <a:ext uri="{FF2B5EF4-FFF2-40B4-BE49-F238E27FC236}">
                    <a16:creationId xmlns:a16="http://schemas.microsoft.com/office/drawing/2014/main" id="{71B51472-B483-47F4-A0BB-633163E5E0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2592"/>
                <a:ext cx="129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i="1"/>
                  <a:t>v</a:t>
                </a:r>
                <a:r>
                  <a:rPr lang="en-US" altLang="zh-CN" sz="3200" b="1"/>
                  <a:t> </a:t>
                </a:r>
                <a:r>
                  <a:rPr lang="en-US" altLang="zh-CN" sz="3200" b="1">
                    <a:sym typeface="Math1" pitchFamily="2" charset="2"/>
                  </a:rPr>
                  <a:t>    (</a:t>
                </a:r>
                <a:r>
                  <a:rPr lang="en-US" altLang="zh-CN" sz="3200" b="1" i="1">
                    <a:sym typeface="Math1" pitchFamily="2" charset="2"/>
                  </a:rPr>
                  <a:t>n/s</a:t>
                </a:r>
                <a:r>
                  <a:rPr lang="en-US" altLang="zh-CN" sz="3200" b="1">
                    <a:sym typeface="Math1" pitchFamily="2" charset="2"/>
                  </a:rPr>
                  <a:t>)</a:t>
                </a:r>
                <a:r>
                  <a:rPr lang="en-US" altLang="zh-CN" sz="3200" b="1" baseline="30000">
                    <a:sym typeface="Math1" pitchFamily="2" charset="2"/>
                  </a:rPr>
                  <a:t>1/3</a:t>
                </a:r>
                <a:endParaRPr lang="en-US" altLang="zh-CN" sz="3200" b="1"/>
              </a:p>
            </p:txBody>
          </p:sp>
          <p:sp>
            <p:nvSpPr>
              <p:cNvPr id="7211" name="AutoShape 1043">
                <a:extLst>
                  <a:ext uri="{FF2B5EF4-FFF2-40B4-BE49-F238E27FC236}">
                    <a16:creationId xmlns:a16="http://schemas.microsoft.com/office/drawing/2014/main" id="{897FD3C5-2E02-483B-B7F2-2C15A7A5D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2688"/>
                <a:ext cx="240" cy="24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aphicFrame>
          <p:nvGraphicFramePr>
            <p:cNvPr id="7209" name="Object 1056">
              <a:extLst>
                <a:ext uri="{FF2B5EF4-FFF2-40B4-BE49-F238E27FC236}">
                  <a16:creationId xmlns:a16="http://schemas.microsoft.com/office/drawing/2014/main" id="{2ECCD0FE-77A2-43CD-B532-761478BCED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12" y="2736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2" name="公式" r:id="rId6" imgW="152202" imgH="126835" progId="Equation.3">
                    <p:embed/>
                  </p:oleObj>
                </mc:Choice>
                <mc:Fallback>
                  <p:oleObj name="公式" r:id="rId6" imgW="152202" imgH="126835" progId="Equation.3">
                    <p:embed/>
                    <p:pic>
                      <p:nvPicPr>
                        <p:cNvPr id="0" name="Object 10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736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069">
            <a:extLst>
              <a:ext uri="{FF2B5EF4-FFF2-40B4-BE49-F238E27FC236}">
                <a16:creationId xmlns:a16="http://schemas.microsoft.com/office/drawing/2014/main" id="{B6F967CD-4802-48BF-A4DE-61C156B70E27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4906963"/>
            <a:ext cx="1905000" cy="579437"/>
            <a:chOff x="864" y="3091"/>
            <a:chExt cx="1200" cy="365"/>
          </a:xfrm>
        </p:grpSpPr>
        <p:sp>
          <p:nvSpPr>
            <p:cNvPr id="7206" name="Text Box 1039">
              <a:extLst>
                <a:ext uri="{FF2B5EF4-FFF2-40B4-BE49-F238E27FC236}">
                  <a16:creationId xmlns:a16="http://schemas.microsoft.com/office/drawing/2014/main" id="{065434B3-3580-4D43-B1B2-92F88A8F1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091"/>
              <a:ext cx="12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/>
                <a:t>s</a:t>
              </a:r>
              <a:r>
                <a:rPr lang="en-US" altLang="zh-CN" sz="3200" b="1" baseline="30000"/>
                <a:t>1/2</a:t>
              </a:r>
              <a:r>
                <a:rPr lang="en-US" altLang="zh-CN" sz="3200" b="1"/>
                <a:t> </a:t>
              </a:r>
              <a:r>
                <a:rPr lang="en-US" altLang="zh-CN" sz="3200" b="1">
                  <a:sym typeface="Math1" pitchFamily="2" charset="2"/>
                </a:rPr>
                <a:t>   </a:t>
              </a:r>
              <a:r>
                <a:rPr lang="en-US" altLang="zh-CN" sz="3200" b="1" i="1">
                  <a:sym typeface="Math1" pitchFamily="2" charset="2"/>
                </a:rPr>
                <a:t>A</a:t>
              </a:r>
              <a:r>
                <a:rPr lang="en-US" altLang="zh-CN" sz="3200" b="1" baseline="30000">
                  <a:sym typeface="Math1" pitchFamily="2" charset="2"/>
                </a:rPr>
                <a:t>1/3</a:t>
              </a:r>
              <a:r>
                <a:rPr lang="en-US" altLang="zh-CN" sz="3200" b="1">
                  <a:sym typeface="Math1" pitchFamily="2" charset="2"/>
                </a:rPr>
                <a:t>,</a:t>
              </a:r>
              <a:endParaRPr lang="en-US" altLang="zh-CN" sz="3200" b="1"/>
            </a:p>
          </p:txBody>
        </p:sp>
        <p:graphicFrame>
          <p:nvGraphicFramePr>
            <p:cNvPr id="7207" name="Object 1057">
              <a:extLst>
                <a:ext uri="{FF2B5EF4-FFF2-40B4-BE49-F238E27FC236}">
                  <a16:creationId xmlns:a16="http://schemas.microsoft.com/office/drawing/2014/main" id="{3B3434F4-D0F2-4D73-9175-7C2A9BE917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3160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3" name="公式" r:id="rId7" imgW="152202" imgH="126835" progId="Equation.3">
                    <p:embed/>
                  </p:oleObj>
                </mc:Choice>
                <mc:Fallback>
                  <p:oleObj name="公式" r:id="rId7" imgW="152202" imgH="126835" progId="Equation.3">
                    <p:embed/>
                    <p:pic>
                      <p:nvPicPr>
                        <p:cNvPr id="0" name="Object 10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160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1070">
            <a:extLst>
              <a:ext uri="{FF2B5EF4-FFF2-40B4-BE49-F238E27FC236}">
                <a16:creationId xmlns:a16="http://schemas.microsoft.com/office/drawing/2014/main" id="{4EA1CFC3-51D2-4FC7-A73D-A0B9AB237AD7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4876800"/>
            <a:ext cx="3733800" cy="579438"/>
            <a:chOff x="2064" y="3072"/>
            <a:chExt cx="2352" cy="365"/>
          </a:xfrm>
        </p:grpSpPr>
        <p:sp>
          <p:nvSpPr>
            <p:cNvPr id="7203" name="Text Box 1040">
              <a:extLst>
                <a:ext uri="{FF2B5EF4-FFF2-40B4-BE49-F238E27FC236}">
                  <a16:creationId xmlns:a16="http://schemas.microsoft.com/office/drawing/2014/main" id="{FEAE632A-8C33-44DA-BF52-158508684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072"/>
              <a:ext cx="235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/>
                <a:t>A</a:t>
              </a:r>
              <a:r>
                <a:rPr lang="en-US" altLang="zh-CN" sz="3200" b="1"/>
                <a:t> </a:t>
              </a:r>
              <a:r>
                <a:rPr lang="en-US" altLang="zh-CN" sz="3200" b="1">
                  <a:sym typeface="Math1" pitchFamily="2" charset="2"/>
                </a:rPr>
                <a:t>  </a:t>
              </a:r>
              <a:r>
                <a:rPr lang="en-US" altLang="zh-CN" sz="3200" b="1" i="1">
                  <a:sym typeface="Math1" pitchFamily="2" charset="2"/>
                </a:rPr>
                <a:t>W</a:t>
              </a:r>
              <a:r>
                <a:rPr lang="en-US" altLang="zh-CN" sz="3200" b="1">
                  <a:sym typeface="Math1" pitchFamily="2" charset="2"/>
                </a:rPr>
                <a:t>(=</a:t>
              </a:r>
              <a:r>
                <a:rPr lang="en-US" altLang="zh-CN" sz="3200" b="1" i="1">
                  <a:sym typeface="Math1" pitchFamily="2" charset="2"/>
                </a:rPr>
                <a:t>w</a:t>
              </a:r>
              <a:r>
                <a:rPr lang="en-US" altLang="zh-CN" sz="3200" b="1" baseline="-25000">
                  <a:sym typeface="Math1" pitchFamily="2" charset="2"/>
                </a:rPr>
                <a:t>0</a:t>
              </a:r>
              <a:r>
                <a:rPr lang="en-US" altLang="zh-CN" sz="3200" b="1">
                  <a:sym typeface="Math1" pitchFamily="2" charset="2"/>
                </a:rPr>
                <a:t>+</a:t>
              </a:r>
              <a:r>
                <a:rPr lang="en-US" altLang="zh-CN" sz="3200" b="1" i="1">
                  <a:sym typeface="Math1" pitchFamily="2" charset="2"/>
                </a:rPr>
                <a:t>nw</a:t>
              </a:r>
              <a:r>
                <a:rPr lang="en-US" altLang="zh-CN" sz="3200" b="1">
                  <a:sym typeface="Math1" pitchFamily="2" charset="2"/>
                </a:rPr>
                <a:t>)</a:t>
              </a:r>
              <a:r>
                <a:rPr lang="en-US" altLang="zh-CN" sz="3200" b="1"/>
                <a:t> </a:t>
              </a:r>
              <a:r>
                <a:rPr lang="en-US" altLang="zh-CN" sz="3200" b="1">
                  <a:sym typeface="Math1" pitchFamily="2" charset="2"/>
                </a:rPr>
                <a:t>    </a:t>
              </a:r>
              <a:r>
                <a:rPr lang="en-US" altLang="zh-CN" sz="3200" b="1" i="1">
                  <a:sym typeface="Math1" pitchFamily="2" charset="2"/>
                </a:rPr>
                <a:t>n </a:t>
              </a:r>
              <a:endParaRPr lang="en-US" altLang="zh-CN" sz="3200" b="1">
                <a:sym typeface="Math1" pitchFamily="2" charset="2"/>
              </a:endParaRPr>
            </a:p>
          </p:txBody>
        </p:sp>
        <p:graphicFrame>
          <p:nvGraphicFramePr>
            <p:cNvPr id="7204" name="Object 1058">
              <a:extLst>
                <a:ext uri="{FF2B5EF4-FFF2-40B4-BE49-F238E27FC236}">
                  <a16:creationId xmlns:a16="http://schemas.microsoft.com/office/drawing/2014/main" id="{7164D51A-D439-48DC-9ECE-F205957133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04" y="3208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4" name="公式" r:id="rId8" imgW="152202" imgH="126835" progId="Equation.3">
                    <p:embed/>
                  </p:oleObj>
                </mc:Choice>
                <mc:Fallback>
                  <p:oleObj name="公式" r:id="rId8" imgW="152202" imgH="126835" progId="Equation.3">
                    <p:embed/>
                    <p:pic>
                      <p:nvPicPr>
                        <p:cNvPr id="0" name="Object 10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3208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5" name="Object 1059">
              <a:extLst>
                <a:ext uri="{FF2B5EF4-FFF2-40B4-BE49-F238E27FC236}">
                  <a16:creationId xmlns:a16="http://schemas.microsoft.com/office/drawing/2014/main" id="{3F8379FF-92B7-4F29-AFFB-6397CFBF58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3168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5" name="公式" r:id="rId9" imgW="152202" imgH="126835" progId="Equation.3">
                    <p:embed/>
                  </p:oleObj>
                </mc:Choice>
                <mc:Fallback>
                  <p:oleObj name="公式" r:id="rId9" imgW="152202" imgH="126835" progId="Equation.3">
                    <p:embed/>
                    <p:pic>
                      <p:nvPicPr>
                        <p:cNvPr id="0" name="Object 10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168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1067">
            <a:extLst>
              <a:ext uri="{FF2B5EF4-FFF2-40B4-BE49-F238E27FC236}">
                <a16:creationId xmlns:a16="http://schemas.microsoft.com/office/drawing/2014/main" id="{C39A0D5E-D859-4A09-9475-882DA42D27E1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4876800"/>
            <a:ext cx="1981200" cy="579438"/>
            <a:chOff x="4464" y="3072"/>
            <a:chExt cx="1248" cy="365"/>
          </a:xfrm>
        </p:grpSpPr>
        <p:grpSp>
          <p:nvGrpSpPr>
            <p:cNvPr id="7199" name="Group 1044">
              <a:extLst>
                <a:ext uri="{FF2B5EF4-FFF2-40B4-BE49-F238E27FC236}">
                  <a16:creationId xmlns:a16="http://schemas.microsoft.com/office/drawing/2014/main" id="{E77615A1-2274-40CA-908C-5619C7041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3072"/>
              <a:ext cx="1248" cy="365"/>
              <a:chOff x="4464" y="3072"/>
              <a:chExt cx="1248" cy="365"/>
            </a:xfrm>
          </p:grpSpPr>
          <p:sp>
            <p:nvSpPr>
              <p:cNvPr id="7201" name="Text Box 1045">
                <a:extLst>
                  <a:ext uri="{FF2B5EF4-FFF2-40B4-BE49-F238E27FC236}">
                    <a16:creationId xmlns:a16="http://schemas.microsoft.com/office/drawing/2014/main" id="{B53CFBCC-8037-477E-A594-00BE7CD4D7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3072"/>
                <a:ext cx="86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i="1"/>
                  <a:t>s</a:t>
                </a:r>
                <a:r>
                  <a:rPr lang="en-US" altLang="zh-CN" sz="3200" b="1"/>
                  <a:t> </a:t>
                </a:r>
                <a:r>
                  <a:rPr lang="en-US" altLang="zh-CN" sz="3200" b="1">
                    <a:sym typeface="Math1" pitchFamily="2" charset="2"/>
                  </a:rPr>
                  <a:t>   </a:t>
                </a:r>
                <a:r>
                  <a:rPr lang="en-US" altLang="zh-CN" sz="3200" b="1" i="1">
                    <a:sym typeface="Math1" pitchFamily="2" charset="2"/>
                  </a:rPr>
                  <a:t>n</a:t>
                </a:r>
                <a:r>
                  <a:rPr lang="en-US" altLang="zh-CN" sz="3200" b="1" baseline="30000">
                    <a:sym typeface="Math1" pitchFamily="2" charset="2"/>
                  </a:rPr>
                  <a:t>2/3</a:t>
                </a:r>
                <a:endParaRPr lang="en-US" altLang="zh-CN" sz="3200" b="1"/>
              </a:p>
            </p:txBody>
          </p:sp>
          <p:sp>
            <p:nvSpPr>
              <p:cNvPr id="7202" name="AutoShape 1046">
                <a:extLst>
                  <a:ext uri="{FF2B5EF4-FFF2-40B4-BE49-F238E27FC236}">
                    <a16:creationId xmlns:a16="http://schemas.microsoft.com/office/drawing/2014/main" id="{01C149C8-B04B-449E-A673-9DC7166E3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168"/>
                <a:ext cx="240" cy="240"/>
              </a:xfrm>
              <a:prstGeom prst="rightArrow">
                <a:avLst>
                  <a:gd name="adj1" fmla="val 50000"/>
                  <a:gd name="adj2" fmla="val 25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aphicFrame>
          <p:nvGraphicFramePr>
            <p:cNvPr id="7200" name="Object 1060">
              <a:extLst>
                <a:ext uri="{FF2B5EF4-FFF2-40B4-BE49-F238E27FC236}">
                  <a16:creationId xmlns:a16="http://schemas.microsoft.com/office/drawing/2014/main" id="{5F01EE9F-7AF3-4E5E-BA55-D294971843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2" y="3208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6" name="公式" r:id="rId10" imgW="152202" imgH="126835" progId="Equation.3">
                    <p:embed/>
                  </p:oleObj>
                </mc:Choice>
                <mc:Fallback>
                  <p:oleObj name="公式" r:id="rId10" imgW="152202" imgH="126835" progId="Equation.3">
                    <p:embed/>
                    <p:pic>
                      <p:nvPicPr>
                        <p:cNvPr id="0" name="Object 10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3208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071">
            <a:extLst>
              <a:ext uri="{FF2B5EF4-FFF2-40B4-BE49-F238E27FC236}">
                <a16:creationId xmlns:a16="http://schemas.microsoft.com/office/drawing/2014/main" id="{77CF8F86-EA2A-4D48-8E08-965345E95545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638800"/>
            <a:ext cx="2209800" cy="579438"/>
            <a:chOff x="960" y="3552"/>
            <a:chExt cx="1392" cy="365"/>
          </a:xfrm>
        </p:grpSpPr>
        <p:grpSp>
          <p:nvGrpSpPr>
            <p:cNvPr id="7195" name="Group 1047">
              <a:extLst>
                <a:ext uri="{FF2B5EF4-FFF2-40B4-BE49-F238E27FC236}">
                  <a16:creationId xmlns:a16="http://schemas.microsoft.com/office/drawing/2014/main" id="{6CF3E651-10A6-4EA5-9BAD-6C3A0D58C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3552"/>
              <a:ext cx="1392" cy="365"/>
              <a:chOff x="960" y="3552"/>
              <a:chExt cx="1392" cy="365"/>
            </a:xfrm>
          </p:grpSpPr>
          <p:sp>
            <p:nvSpPr>
              <p:cNvPr id="7197" name="Text Box 1048">
                <a:extLst>
                  <a:ext uri="{FF2B5EF4-FFF2-40B4-BE49-F238E27FC236}">
                    <a16:creationId xmlns:a16="http://schemas.microsoft.com/office/drawing/2014/main" id="{07A2B86E-F2A1-4654-A81C-0F980FE150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3552"/>
                <a:ext cx="96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i="1"/>
                  <a:t>v</a:t>
                </a:r>
                <a:r>
                  <a:rPr lang="en-US" altLang="zh-CN" sz="3200" b="1"/>
                  <a:t> </a:t>
                </a:r>
                <a:r>
                  <a:rPr lang="en-US" altLang="zh-CN" sz="3200" b="1">
                    <a:sym typeface="Math1" pitchFamily="2" charset="2"/>
                  </a:rPr>
                  <a:t>   </a:t>
                </a:r>
                <a:r>
                  <a:rPr lang="en-US" altLang="zh-CN" sz="3200" b="1" i="1">
                    <a:sym typeface="Math1" pitchFamily="2" charset="2"/>
                  </a:rPr>
                  <a:t>n</a:t>
                </a:r>
                <a:r>
                  <a:rPr lang="en-US" altLang="zh-CN" sz="3200" b="1" baseline="30000">
                    <a:sym typeface="Math1" pitchFamily="2" charset="2"/>
                  </a:rPr>
                  <a:t>1/9</a:t>
                </a:r>
                <a:endParaRPr lang="en-US" altLang="zh-CN" sz="3200" b="1"/>
              </a:p>
            </p:txBody>
          </p:sp>
          <p:sp>
            <p:nvSpPr>
              <p:cNvPr id="7198" name="AutoShape 1049">
                <a:extLst>
                  <a:ext uri="{FF2B5EF4-FFF2-40B4-BE49-F238E27FC236}">
                    <a16:creationId xmlns:a16="http://schemas.microsoft.com/office/drawing/2014/main" id="{C44B1ADF-648D-42AC-9190-8D5E99B00B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0" y="3648"/>
                <a:ext cx="288" cy="240"/>
              </a:xfrm>
              <a:prstGeom prst="notchedRightArrow">
                <a:avLst>
                  <a:gd name="adj1" fmla="val 50000"/>
                  <a:gd name="adj2" fmla="val 3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aphicFrame>
          <p:nvGraphicFramePr>
            <p:cNvPr id="7196" name="Object 1061">
              <a:extLst>
                <a:ext uri="{FF2B5EF4-FFF2-40B4-BE49-F238E27FC236}">
                  <a16:creationId xmlns:a16="http://schemas.microsoft.com/office/drawing/2014/main" id="{90FB0BD3-41B0-4939-AF08-4BB6328D69A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3696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7" name="公式" r:id="rId11" imgW="152202" imgH="126835" progId="Equation.3">
                    <p:embed/>
                  </p:oleObj>
                </mc:Choice>
                <mc:Fallback>
                  <p:oleObj name="公式" r:id="rId11" imgW="152202" imgH="126835" progId="Equation.3">
                    <p:embed/>
                    <p:pic>
                      <p:nvPicPr>
                        <p:cNvPr id="0" name="Object 1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3696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068">
            <a:extLst>
              <a:ext uri="{FF2B5EF4-FFF2-40B4-BE49-F238E27FC236}">
                <a16:creationId xmlns:a16="http://schemas.microsoft.com/office/drawing/2014/main" id="{3C852591-462E-4302-87B9-B20D4F989E7B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5715000"/>
            <a:ext cx="4267200" cy="579438"/>
            <a:chOff x="2640" y="3600"/>
            <a:chExt cx="2544" cy="365"/>
          </a:xfrm>
        </p:grpSpPr>
        <p:grpSp>
          <p:nvGrpSpPr>
            <p:cNvPr id="7191" name="Group 1050">
              <a:extLst>
                <a:ext uri="{FF2B5EF4-FFF2-40B4-BE49-F238E27FC236}">
                  <a16:creationId xmlns:a16="http://schemas.microsoft.com/office/drawing/2014/main" id="{484FE067-0347-4FB1-B5D8-057D1DDB21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3600"/>
              <a:ext cx="2544" cy="365"/>
              <a:chOff x="2640" y="3600"/>
              <a:chExt cx="2544" cy="365"/>
            </a:xfrm>
          </p:grpSpPr>
          <p:sp>
            <p:nvSpPr>
              <p:cNvPr id="7193" name="AutoShape 1051">
                <a:extLst>
                  <a:ext uri="{FF2B5EF4-FFF2-40B4-BE49-F238E27FC236}">
                    <a16:creationId xmlns:a16="http://schemas.microsoft.com/office/drawing/2014/main" id="{04668EB1-A561-4A1A-9FF9-8BA2B26EA9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3648"/>
                <a:ext cx="288" cy="240"/>
              </a:xfrm>
              <a:prstGeom prst="notchedRightArrow">
                <a:avLst>
                  <a:gd name="adj1" fmla="val 50000"/>
                  <a:gd name="adj2" fmla="val 3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7194" name="Text Box 1052">
                <a:extLst>
                  <a:ext uri="{FF2B5EF4-FFF2-40B4-BE49-F238E27FC236}">
                    <a16:creationId xmlns:a16="http://schemas.microsoft.com/office/drawing/2014/main" id="{87A40EE0-016B-47F2-B05E-0863F3D65D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3600"/>
                <a:ext cx="2064" cy="365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zh-CN" sz="2800" b="1"/>
                  <a:t>比赛成绩</a:t>
                </a:r>
                <a:r>
                  <a:rPr lang="zh-CN" altLang="zh-CN" sz="2800" b="1" i="1"/>
                  <a:t> </a:t>
                </a:r>
                <a:r>
                  <a:rPr lang="en-US" altLang="zh-CN" sz="3200" b="1" i="1"/>
                  <a:t>t</a:t>
                </a:r>
                <a:r>
                  <a:rPr lang="en-US" altLang="zh-CN" sz="3200" b="1"/>
                  <a:t> </a:t>
                </a:r>
                <a:r>
                  <a:rPr lang="en-US" altLang="zh-CN" sz="3200" b="1">
                    <a:sym typeface="Math1" pitchFamily="2" charset="2"/>
                  </a:rPr>
                  <a:t>   </a:t>
                </a:r>
                <a:r>
                  <a:rPr lang="en-US" altLang="zh-CN" sz="3200" b="1" i="1">
                    <a:sym typeface="Math1" pitchFamily="2" charset="2"/>
                  </a:rPr>
                  <a:t>n</a:t>
                </a:r>
                <a:r>
                  <a:rPr lang="en-US" altLang="zh-CN" sz="3200" b="1">
                    <a:sym typeface="Math1" pitchFamily="2" charset="2"/>
                  </a:rPr>
                  <a:t> </a:t>
                </a:r>
                <a:r>
                  <a:rPr lang="en-US" altLang="zh-CN" sz="3200" b="1" baseline="30000">
                    <a:sym typeface="Math1" pitchFamily="2" charset="2"/>
                  </a:rPr>
                  <a:t>– 1/9</a:t>
                </a:r>
              </a:p>
            </p:txBody>
          </p:sp>
        </p:grpSp>
        <p:graphicFrame>
          <p:nvGraphicFramePr>
            <p:cNvPr id="7192" name="Object 1062">
              <a:extLst>
                <a:ext uri="{FF2B5EF4-FFF2-40B4-BE49-F238E27FC236}">
                  <a16:creationId xmlns:a16="http://schemas.microsoft.com/office/drawing/2014/main" id="{7C80BB03-9DAB-4268-AE9E-38D2DC1BC8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3736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8" name="公式" r:id="rId12" imgW="152202" imgH="126835" progId="Equation.3">
                    <p:embed/>
                  </p:oleObj>
                </mc:Choice>
                <mc:Fallback>
                  <p:oleObj name="公式" r:id="rId12" imgW="152202" imgH="126835" progId="Equation.3">
                    <p:embed/>
                    <p:pic>
                      <p:nvPicPr>
                        <p:cNvPr id="0" name="Object 10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3736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074">
            <a:extLst>
              <a:ext uri="{FF2B5EF4-FFF2-40B4-BE49-F238E27FC236}">
                <a16:creationId xmlns:a16="http://schemas.microsoft.com/office/drawing/2014/main" id="{39147616-4713-489E-A5B8-7698CFB25DAC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4191000"/>
            <a:ext cx="1524000" cy="579438"/>
            <a:chOff x="912" y="2640"/>
            <a:chExt cx="960" cy="365"/>
          </a:xfrm>
        </p:grpSpPr>
        <p:sp>
          <p:nvSpPr>
            <p:cNvPr id="7189" name="Text Box 1036">
              <a:extLst>
                <a:ext uri="{FF2B5EF4-FFF2-40B4-BE49-F238E27FC236}">
                  <a16:creationId xmlns:a16="http://schemas.microsoft.com/office/drawing/2014/main" id="{BC317F84-A91D-4E87-9A05-E335DDE685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640"/>
              <a:ext cx="9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/>
                <a:t>np </a:t>
              </a:r>
              <a:r>
                <a:rPr lang="en-US" altLang="zh-CN" sz="3200" b="1" i="1">
                  <a:sym typeface="Math1" pitchFamily="2" charset="2"/>
                </a:rPr>
                <a:t>   fv,</a:t>
              </a:r>
              <a:endParaRPr lang="en-US" altLang="zh-CN" sz="3200" b="1"/>
            </a:p>
          </p:txBody>
        </p:sp>
        <p:graphicFrame>
          <p:nvGraphicFramePr>
            <p:cNvPr id="7190" name="Object 1072">
              <a:extLst>
                <a:ext uri="{FF2B5EF4-FFF2-40B4-BE49-F238E27FC236}">
                  <a16:creationId xmlns:a16="http://schemas.microsoft.com/office/drawing/2014/main" id="{750BDC8E-4A65-4027-A12A-8FA5C1FD865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48" y="2776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59" name="公式" r:id="rId13" imgW="152202" imgH="126835" progId="Equation.3">
                    <p:embed/>
                  </p:oleObj>
                </mc:Choice>
                <mc:Fallback>
                  <p:oleObj name="公式" r:id="rId13" imgW="152202" imgH="126835" progId="Equation.3">
                    <p:embed/>
                    <p:pic>
                      <p:nvPicPr>
                        <p:cNvPr id="0" name="Object 10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2776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88" name="Object 44">
            <a:extLst>
              <a:ext uri="{FF2B5EF4-FFF2-40B4-BE49-F238E27FC236}">
                <a16:creationId xmlns:a16="http://schemas.microsoft.com/office/drawing/2014/main" id="{115C081A-C1DD-464B-A7BA-14C2CB83A3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76250"/>
          <a:ext cx="11033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Clip" r:id="rId14" imgW="952129" imgH="542857" progId="MS_ClipArt_Gallery.5">
                  <p:embed/>
                </p:oleObj>
              </mc:Choice>
              <mc:Fallback>
                <p:oleObj name="Clip" r:id="rId14" imgW="952129" imgH="542857" progId="MS_ClipArt_Gallery.5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76250"/>
                        <a:ext cx="1103313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utoUpdateAnimBg="0"/>
      <p:bldP spid="39941" grpId="0" autoUpdateAnimBg="0"/>
      <p:bldP spid="39942" grpId="0" autoUpdateAnimBg="0"/>
      <p:bldP spid="39943" grpId="0" animBg="1" autoUpdateAnimBg="0"/>
      <p:bldP spid="39944" grpId="0" animBg="1" autoUpdateAnimBg="0"/>
      <p:bldP spid="39945" grpId="0" autoUpdateAnimBg="0"/>
      <p:bldP spid="39946" grpId="0" animBg="1" autoUpdateAnimBg="0"/>
      <p:bldP spid="3994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">
            <a:extLst>
              <a:ext uri="{FF2B5EF4-FFF2-40B4-BE49-F238E27FC236}">
                <a16:creationId xmlns:a16="http://schemas.microsoft.com/office/drawing/2014/main" id="{C03CA175-3D8A-41E8-9DDA-7FA574C80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1828800" cy="6762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模型检验</a:t>
            </a:r>
            <a:endParaRPr lang="zh-CN" altLang="en-US" sz="3200">
              <a:ea typeface="楷体_GB2312" pitchFamily="49" charset="-122"/>
            </a:endParaRPr>
          </a:p>
        </p:txBody>
      </p:sp>
      <p:sp>
        <p:nvSpPr>
          <p:cNvPr id="8195" name="Line 5">
            <a:extLst>
              <a:ext uri="{FF2B5EF4-FFF2-40B4-BE49-F238E27FC236}">
                <a16:creationId xmlns:a16="http://schemas.microsoft.com/office/drawing/2014/main" id="{4E3B62F0-DD49-42F2-957C-6E890216E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971800"/>
            <a:ext cx="1524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6" name="Line 6">
            <a:extLst>
              <a:ext uri="{FF2B5EF4-FFF2-40B4-BE49-F238E27FC236}">
                <a16:creationId xmlns:a16="http://schemas.microsoft.com/office/drawing/2014/main" id="{4F4950B4-8971-4A4C-A2F6-571651968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048000"/>
            <a:ext cx="1600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197" name="Line 7">
            <a:extLst>
              <a:ext uri="{FF2B5EF4-FFF2-40B4-BE49-F238E27FC236}">
                <a16:creationId xmlns:a16="http://schemas.microsoft.com/office/drawing/2014/main" id="{F114A2F8-3C42-4FED-861E-99B104C9F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2971800"/>
            <a:ext cx="15240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23C13172-E089-4DD0-92C1-58C93AF162C7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524000"/>
            <a:ext cx="1524000" cy="2286000"/>
            <a:chOff x="1536" y="1584"/>
            <a:chExt cx="960" cy="1440"/>
          </a:xfrm>
        </p:grpSpPr>
        <p:sp>
          <p:nvSpPr>
            <p:cNvPr id="8243" name="Text Box 12">
              <a:extLst>
                <a:ext uri="{FF2B5EF4-FFF2-40B4-BE49-F238E27FC236}">
                  <a16:creationId xmlns:a16="http://schemas.microsoft.com/office/drawing/2014/main" id="{F7129EB2-22F9-4914-86E4-403177F4F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584"/>
              <a:ext cx="912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b="1" i="1"/>
                <a:t>n</a:t>
              </a:r>
              <a:r>
                <a:rPr lang="en-US" altLang="zh-CN" b="1"/>
                <a:t>         </a:t>
              </a:r>
              <a:r>
                <a:rPr lang="en-US" altLang="zh-CN" b="1" i="1"/>
                <a:t>t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b="1"/>
                <a:t>1      7.21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b="1"/>
                <a:t>2      6.88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b="1"/>
                <a:t>4      6.32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zh-CN" b="1"/>
                <a:t>8      5.84</a:t>
              </a:r>
            </a:p>
          </p:txBody>
        </p:sp>
        <p:sp>
          <p:nvSpPr>
            <p:cNvPr id="8244" name="Line 13">
              <a:extLst>
                <a:ext uri="{FF2B5EF4-FFF2-40B4-BE49-F238E27FC236}">
                  <a16:creationId xmlns:a16="http://schemas.microsoft.com/office/drawing/2014/main" id="{FB57DAC1-39B7-4D97-BD69-78E2D2FE1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63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5" name="Line 14">
              <a:extLst>
                <a:ext uri="{FF2B5EF4-FFF2-40B4-BE49-F238E27FC236}">
                  <a16:creationId xmlns:a16="http://schemas.microsoft.com/office/drawing/2014/main" id="{41CAE1BA-BD00-4E08-B9B7-3CD783A274E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1992" y="1464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75" name="Arc 15">
            <a:extLst>
              <a:ext uri="{FF2B5EF4-FFF2-40B4-BE49-F238E27FC236}">
                <a16:creationId xmlns:a16="http://schemas.microsoft.com/office/drawing/2014/main" id="{D8B9BF51-D12C-42EE-BC22-DDA7C58B2B0F}"/>
              </a:ext>
            </a:extLst>
          </p:cNvPr>
          <p:cNvSpPr>
            <a:spLocks/>
          </p:cNvSpPr>
          <p:nvPr/>
        </p:nvSpPr>
        <p:spPr bwMode="auto">
          <a:xfrm flipH="1" flipV="1">
            <a:off x="5349875" y="1773238"/>
            <a:ext cx="2574925" cy="1371600"/>
          </a:xfrm>
          <a:custGeom>
            <a:avLst/>
            <a:gdLst>
              <a:gd name="T0" fmla="*/ 2147483647 w 21041"/>
              <a:gd name="T1" fmla="*/ 0 h 21595"/>
              <a:gd name="T2" fmla="*/ 2147483647 w 21041"/>
              <a:gd name="T3" fmla="*/ 2147483647 h 21595"/>
              <a:gd name="T4" fmla="*/ 0 w 21041"/>
              <a:gd name="T5" fmla="*/ 2147483647 h 21595"/>
              <a:gd name="T6" fmla="*/ 0 60000 65536"/>
              <a:gd name="T7" fmla="*/ 0 60000 65536"/>
              <a:gd name="T8" fmla="*/ 0 60000 65536"/>
              <a:gd name="T9" fmla="*/ 0 w 21041"/>
              <a:gd name="T10" fmla="*/ 0 h 21595"/>
              <a:gd name="T11" fmla="*/ 21041 w 21041"/>
              <a:gd name="T12" fmla="*/ 21595 h 215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041" h="21595" fill="none" extrusionOk="0">
                <a:moveTo>
                  <a:pt x="461" y="-1"/>
                </a:moveTo>
                <a:cubicBezTo>
                  <a:pt x="10335" y="210"/>
                  <a:pt x="18808" y="7092"/>
                  <a:pt x="21041" y="16712"/>
                </a:cubicBezTo>
              </a:path>
              <a:path w="21041" h="21595" stroke="0" extrusionOk="0">
                <a:moveTo>
                  <a:pt x="461" y="-1"/>
                </a:moveTo>
                <a:cubicBezTo>
                  <a:pt x="10335" y="210"/>
                  <a:pt x="18808" y="7092"/>
                  <a:pt x="21041" y="16712"/>
                </a:cubicBezTo>
                <a:lnTo>
                  <a:pt x="0" y="21595"/>
                </a:lnTo>
                <a:lnTo>
                  <a:pt x="461" y="-1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zh-CN" altLang="en-US"/>
          </a:p>
        </p:txBody>
      </p:sp>
      <p:graphicFrame>
        <p:nvGraphicFramePr>
          <p:cNvPr id="40999" name="Object 39">
            <a:extLst>
              <a:ext uri="{FF2B5EF4-FFF2-40B4-BE49-F238E27FC236}">
                <a16:creationId xmlns:a16="http://schemas.microsoft.com/office/drawing/2014/main" id="{E1CC2E87-271F-4476-A931-5257C33F0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292600"/>
          <a:ext cx="175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9" name="公式" r:id="rId3" imgW="329914" imgH="177646" progId="Equation.3">
                  <p:embed/>
                </p:oleObj>
              </mc:Choice>
              <mc:Fallback>
                <p:oleObj name="公式" r:id="rId3" imgW="329914" imgH="177646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292600"/>
                        <a:ext cx="1752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0" name="Object 40">
            <a:extLst>
              <a:ext uri="{FF2B5EF4-FFF2-40B4-BE49-F238E27FC236}">
                <a16:creationId xmlns:a16="http://schemas.microsoft.com/office/drawing/2014/main" id="{1EE07FAE-A04A-42A8-9A42-AB905B48A5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5213350"/>
          <a:ext cx="24352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0" name="公式" r:id="rId5" imgW="787058" imgH="203112" progId="Equation.3">
                  <p:embed/>
                </p:oleObj>
              </mc:Choice>
              <mc:Fallback>
                <p:oleObj name="公式" r:id="rId5" imgW="787058" imgH="203112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5213350"/>
                        <a:ext cx="2435225" cy="6334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33">
            <a:extLst>
              <a:ext uri="{FF2B5EF4-FFF2-40B4-BE49-F238E27FC236}">
                <a16:creationId xmlns:a16="http://schemas.microsoft.com/office/drawing/2014/main" id="{9EAEB62E-AE31-4765-AD96-193AF9A1E2DC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4445000"/>
            <a:ext cx="3505200" cy="608013"/>
            <a:chOff x="2064" y="2880"/>
            <a:chExt cx="2208" cy="383"/>
          </a:xfrm>
        </p:grpSpPr>
        <p:graphicFrame>
          <p:nvGraphicFramePr>
            <p:cNvPr id="8241" name="Object 42">
              <a:extLst>
                <a:ext uri="{FF2B5EF4-FFF2-40B4-BE49-F238E27FC236}">
                  <a16:creationId xmlns:a16="http://schemas.microsoft.com/office/drawing/2014/main" id="{E54F99CC-86AC-4437-843E-B9BAAA453E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00" y="2880"/>
            <a:ext cx="187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1" name="公式" r:id="rId7" imgW="748975" imgH="152334" progId="Equation.3">
                    <p:embed/>
                  </p:oleObj>
                </mc:Choice>
                <mc:Fallback>
                  <p:oleObj name="公式" r:id="rId7" imgW="748975" imgH="152334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2880"/>
                          <a:ext cx="1872" cy="3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2" name="AutoShape 43">
              <a:extLst>
                <a:ext uri="{FF2B5EF4-FFF2-40B4-BE49-F238E27FC236}">
                  <a16:creationId xmlns:a16="http://schemas.microsoft.com/office/drawing/2014/main" id="{688F1097-5406-4B29-A8C5-50BE660A19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288" cy="240"/>
            </a:xfrm>
            <a:prstGeom prst="rightArrow">
              <a:avLst>
                <a:gd name="adj1" fmla="val 50000"/>
                <a:gd name="adj2" fmla="val 3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44">
            <a:extLst>
              <a:ext uri="{FF2B5EF4-FFF2-40B4-BE49-F238E27FC236}">
                <a16:creationId xmlns:a16="http://schemas.microsoft.com/office/drawing/2014/main" id="{0E7400BB-D165-4A7A-AE99-DBF69115AC2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5262563"/>
            <a:ext cx="2663825" cy="758825"/>
            <a:chOff x="288" y="3456"/>
            <a:chExt cx="1536" cy="478"/>
          </a:xfrm>
        </p:grpSpPr>
        <p:sp>
          <p:nvSpPr>
            <p:cNvPr id="8238" name="Line 45">
              <a:extLst>
                <a:ext uri="{FF2B5EF4-FFF2-40B4-BE49-F238E27FC236}">
                  <a16:creationId xmlns:a16="http://schemas.microsoft.com/office/drawing/2014/main" id="{FBF559EB-1F59-4CC3-AD59-2E61DD38E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3456"/>
              <a:ext cx="864" cy="4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239" name="Text Box 46">
              <a:extLst>
                <a:ext uri="{FF2B5EF4-FFF2-40B4-BE49-F238E27FC236}">
                  <a16:creationId xmlns:a16="http://schemas.microsoft.com/office/drawing/2014/main" id="{50B09204-34EB-4B92-9418-367A11ABF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600"/>
              <a:ext cx="134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b="1"/>
                <a:t>线性最小二乘法</a:t>
              </a:r>
            </a:p>
          </p:txBody>
        </p:sp>
        <p:sp>
          <p:nvSpPr>
            <p:cNvPr id="8240" name="Line 47">
              <a:extLst>
                <a:ext uri="{FF2B5EF4-FFF2-40B4-BE49-F238E27FC236}">
                  <a16:creationId xmlns:a16="http://schemas.microsoft.com/office/drawing/2014/main" id="{789C62C1-82F5-4028-B247-8D7E57343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3600"/>
              <a:ext cx="1200" cy="0"/>
            </a:xfrm>
            <a:prstGeom prst="line">
              <a:avLst/>
            </a:prstGeom>
            <a:noFill/>
            <a:ln w="76200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49">
            <a:extLst>
              <a:ext uri="{FF2B5EF4-FFF2-40B4-BE49-F238E27FC236}">
                <a16:creationId xmlns:a16="http://schemas.microsoft.com/office/drawing/2014/main" id="{215E601B-DC6D-4DEB-89DE-52E7734977BD}"/>
              </a:ext>
            </a:extLst>
          </p:cNvPr>
          <p:cNvGrpSpPr>
            <a:grpSpLocks/>
          </p:cNvGrpSpPr>
          <p:nvPr/>
        </p:nvGrpSpPr>
        <p:grpSpPr bwMode="auto">
          <a:xfrm>
            <a:off x="3203575" y="549275"/>
            <a:ext cx="4876800" cy="1117600"/>
            <a:chOff x="2496" y="192"/>
            <a:chExt cx="3072" cy="704"/>
          </a:xfrm>
        </p:grpSpPr>
        <p:sp>
          <p:nvSpPr>
            <p:cNvPr id="8236" name="Text Box 4">
              <a:extLst>
                <a:ext uri="{FF2B5EF4-FFF2-40B4-BE49-F238E27FC236}">
                  <a16:creationId xmlns:a16="http://schemas.microsoft.com/office/drawing/2014/main" id="{5B602260-C133-4345-B9D9-D8CD1BD31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92"/>
              <a:ext cx="3072" cy="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/>
                <a:t>利用</a:t>
              </a:r>
              <a:r>
                <a:rPr lang="zh-CN" altLang="zh-CN" sz="2800" b="1"/>
                <a:t>4次国际大赛冠军的平均成绩对模型</a:t>
              </a:r>
              <a:r>
                <a:rPr lang="zh-CN" altLang="zh-CN" sz="2800" b="1" i="1"/>
                <a:t> </a:t>
              </a:r>
              <a:r>
                <a:rPr lang="en-US" altLang="zh-CN" sz="2800" b="1" i="1"/>
                <a:t>t</a:t>
              </a:r>
              <a:r>
                <a:rPr lang="en-US" altLang="zh-CN" sz="2800" b="1"/>
                <a:t> </a:t>
              </a:r>
              <a:r>
                <a:rPr lang="en-US" altLang="zh-CN" sz="2800" b="1">
                  <a:sym typeface="Math1" pitchFamily="2" charset="2"/>
                </a:rPr>
                <a:t>   </a:t>
              </a:r>
              <a:r>
                <a:rPr lang="en-US" altLang="zh-CN" sz="2800" b="1" i="1">
                  <a:sym typeface="Math1" pitchFamily="2" charset="2"/>
                </a:rPr>
                <a:t>n</a:t>
              </a:r>
              <a:r>
                <a:rPr lang="en-US" altLang="zh-CN" sz="2800" b="1">
                  <a:sym typeface="Math1" pitchFamily="2" charset="2"/>
                </a:rPr>
                <a:t> </a:t>
              </a:r>
              <a:r>
                <a:rPr lang="en-US" altLang="zh-CN" sz="2800" b="1" baseline="30000">
                  <a:sym typeface="Math1" pitchFamily="2" charset="2"/>
                </a:rPr>
                <a:t>– 1/ 9 </a:t>
              </a:r>
              <a:r>
                <a:rPr lang="zh-CN" altLang="en-US" sz="2800" b="1">
                  <a:sym typeface="Math1" pitchFamily="2" charset="2"/>
                </a:rPr>
                <a:t>进行检验</a:t>
              </a:r>
              <a:r>
                <a:rPr lang="en-US" altLang="zh-CN" sz="2800" b="1">
                  <a:sym typeface="Math1" pitchFamily="2" charset="2"/>
                </a:rPr>
                <a:t>.</a:t>
              </a:r>
              <a:endParaRPr lang="en-US" altLang="zh-CN" sz="2800" b="1"/>
            </a:p>
          </p:txBody>
        </p:sp>
        <p:graphicFrame>
          <p:nvGraphicFramePr>
            <p:cNvPr id="8237" name="Object 48">
              <a:extLst>
                <a:ext uri="{FF2B5EF4-FFF2-40B4-BE49-F238E27FC236}">
                  <a16:creationId xmlns:a16="http://schemas.microsoft.com/office/drawing/2014/main" id="{709CD2DB-FEBC-45B7-BF5A-54D814606D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2" y="672"/>
            <a:ext cx="24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62" name="公式" r:id="rId9" imgW="152202" imgH="126835" progId="Equation.3">
                    <p:embed/>
                  </p:oleObj>
                </mc:Choice>
                <mc:Fallback>
                  <p:oleObj name="公式" r:id="rId9" imgW="152202" imgH="126835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672"/>
                          <a:ext cx="24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21" name="Text Box 61">
            <a:extLst>
              <a:ext uri="{FF2B5EF4-FFF2-40B4-BE49-F238E27FC236}">
                <a16:creationId xmlns:a16="http://schemas.microsoft.com/office/drawing/2014/main" id="{67D3C77C-5F21-4E96-9298-619C916E6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5286375"/>
            <a:ext cx="23622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与模型吻合！</a:t>
            </a:r>
          </a:p>
        </p:txBody>
      </p:sp>
      <p:grpSp>
        <p:nvGrpSpPr>
          <p:cNvPr id="11318" name="Group 54">
            <a:extLst>
              <a:ext uri="{FF2B5EF4-FFF2-40B4-BE49-F238E27FC236}">
                <a16:creationId xmlns:a16="http://schemas.microsoft.com/office/drawing/2014/main" id="{9587006B-C8EF-4537-8C26-332254D1D82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447800"/>
            <a:ext cx="5257800" cy="2895600"/>
            <a:chOff x="2064" y="912"/>
            <a:chExt cx="3312" cy="1824"/>
          </a:xfrm>
        </p:grpSpPr>
        <p:grpSp>
          <p:nvGrpSpPr>
            <p:cNvPr id="8207" name="Group 60">
              <a:extLst>
                <a:ext uri="{FF2B5EF4-FFF2-40B4-BE49-F238E27FC236}">
                  <a16:creationId xmlns:a16="http://schemas.microsoft.com/office/drawing/2014/main" id="{C3968159-0B35-43FB-8273-DFB8EE018B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912"/>
              <a:ext cx="3312" cy="1824"/>
              <a:chOff x="2064" y="912"/>
              <a:chExt cx="3312" cy="1824"/>
            </a:xfrm>
          </p:grpSpPr>
          <p:grpSp>
            <p:nvGrpSpPr>
              <p:cNvPr id="8209" name="Group 16">
                <a:extLst>
                  <a:ext uri="{FF2B5EF4-FFF2-40B4-BE49-F238E27FC236}">
                    <a16:creationId xmlns:a16="http://schemas.microsoft.com/office/drawing/2014/main" id="{D0F4A199-0C20-49F7-A727-C20C58A08B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64" y="912"/>
                <a:ext cx="3312" cy="1824"/>
                <a:chOff x="2064" y="1488"/>
                <a:chExt cx="3312" cy="1824"/>
              </a:xfrm>
            </p:grpSpPr>
            <p:sp>
              <p:nvSpPr>
                <p:cNvPr id="8214" name="Text Box 17">
                  <a:extLst>
                    <a:ext uri="{FF2B5EF4-FFF2-40B4-BE49-F238E27FC236}">
                      <a16:creationId xmlns:a16="http://schemas.microsoft.com/office/drawing/2014/main" id="{A7C6FDC4-7E29-4653-8F3C-F1A649C744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80" y="1488"/>
                  <a:ext cx="192" cy="3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r>
                    <a:rPr lang="en-US" altLang="zh-CN" i="1"/>
                    <a:t>t</a:t>
                  </a:r>
                  <a:endParaRPr lang="en-US" altLang="zh-CN"/>
                </a:p>
              </p:txBody>
            </p:sp>
            <p:grpSp>
              <p:nvGrpSpPr>
                <p:cNvPr id="8215" name="Group 18">
                  <a:extLst>
                    <a:ext uri="{FF2B5EF4-FFF2-40B4-BE49-F238E27FC236}">
                      <a16:creationId xmlns:a16="http://schemas.microsoft.com/office/drawing/2014/main" id="{6AE27799-FEF2-4A99-81AE-5A0E59920F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88" y="1632"/>
                  <a:ext cx="2688" cy="1680"/>
                  <a:chOff x="2688" y="1632"/>
                  <a:chExt cx="2688" cy="1680"/>
                </a:xfrm>
              </p:grpSpPr>
              <p:sp>
                <p:nvSpPr>
                  <p:cNvPr id="8217" name="Line 19">
                    <a:extLst>
                      <a:ext uri="{FF2B5EF4-FFF2-40B4-BE49-F238E27FC236}">
                        <a16:creationId xmlns:a16="http://schemas.microsoft.com/office/drawing/2014/main" id="{9EAD6F20-590A-47ED-8863-B1C3FF4B45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072" y="1632"/>
                    <a:ext cx="0" cy="13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18" name="Line 20">
                    <a:extLst>
                      <a:ext uri="{FF2B5EF4-FFF2-40B4-BE49-F238E27FC236}">
                        <a16:creationId xmlns:a16="http://schemas.microsoft.com/office/drawing/2014/main" id="{86EC89BE-9591-4425-B4B5-6F31B9F17B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176" y="1920"/>
                    <a:ext cx="0" cy="220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19" name="Line 21">
                    <a:extLst>
                      <a:ext uri="{FF2B5EF4-FFF2-40B4-BE49-F238E27FC236}">
                        <a16:creationId xmlns:a16="http://schemas.microsoft.com/office/drawing/2014/main" id="{C7F02916-F8D4-4559-BF09-3C35A8EB247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4008" y="1608"/>
                    <a:ext cx="0" cy="187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0" name="Line 22">
                    <a:extLst>
                      <a:ext uri="{FF2B5EF4-FFF2-40B4-BE49-F238E27FC236}">
                        <a16:creationId xmlns:a16="http://schemas.microsoft.com/office/drawing/2014/main" id="{245F9EB3-6FB4-472B-A010-328C1FC658C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944" y="2544"/>
                    <a:ext cx="0" cy="48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1" name="Line 23">
                    <a:extLst>
                      <a:ext uri="{FF2B5EF4-FFF2-40B4-BE49-F238E27FC236}">
                        <a16:creationId xmlns:a16="http://schemas.microsoft.com/office/drawing/2014/main" id="{2420D4CC-358F-408F-894C-BE8D8D4251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28" y="2448"/>
                    <a:ext cx="0" cy="57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2" name="Line 24">
                    <a:extLst>
                      <a:ext uri="{FF2B5EF4-FFF2-40B4-BE49-F238E27FC236}">
                        <a16:creationId xmlns:a16="http://schemas.microsoft.com/office/drawing/2014/main" id="{CAF65E40-06CC-455C-9001-9917F82D3F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0" y="2208"/>
                    <a:ext cx="0" cy="81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3" name="Line 25">
                    <a:extLst>
                      <a:ext uri="{FF2B5EF4-FFF2-40B4-BE49-F238E27FC236}">
                        <a16:creationId xmlns:a16="http://schemas.microsoft.com/office/drawing/2014/main" id="{127E5F59-1D24-47A6-A3BB-0D9A832904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60" y="1968"/>
                    <a:ext cx="0" cy="105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4" name="Line 26">
                    <a:extLst>
                      <a:ext uri="{FF2B5EF4-FFF2-40B4-BE49-F238E27FC236}">
                        <a16:creationId xmlns:a16="http://schemas.microsoft.com/office/drawing/2014/main" id="{8F326D0B-6412-4246-ADE8-BBEE349DB9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600" y="1872"/>
                    <a:ext cx="0" cy="105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5" name="Line 27">
                    <a:extLst>
                      <a:ext uri="{FF2B5EF4-FFF2-40B4-BE49-F238E27FC236}">
                        <a16:creationId xmlns:a16="http://schemas.microsoft.com/office/drawing/2014/main" id="{089FB6C9-627B-4788-B589-2DB0AE8E2A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336" y="1896"/>
                    <a:ext cx="0" cy="52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6" name="Line 28">
                    <a:extLst>
                      <a:ext uri="{FF2B5EF4-FFF2-40B4-BE49-F238E27FC236}">
                        <a16:creationId xmlns:a16="http://schemas.microsoft.com/office/drawing/2014/main" id="{AF6B26B3-1851-4A02-A7EA-F5D0B5E8269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3216" y="1776"/>
                    <a:ext cx="0" cy="28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27" name="Text Box 29">
                    <a:extLst>
                      <a:ext uri="{FF2B5EF4-FFF2-40B4-BE49-F238E27FC236}">
                        <a16:creationId xmlns:a16="http://schemas.microsoft.com/office/drawing/2014/main" id="{7F3AD9EA-D85E-4328-A6FE-CD11D297A53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184" y="2928"/>
                    <a:ext cx="192" cy="3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 i="1"/>
                      <a:t>n</a:t>
                    </a:r>
                    <a:endParaRPr lang="en-US" altLang="zh-CN"/>
                  </a:p>
                </p:txBody>
              </p:sp>
              <p:sp>
                <p:nvSpPr>
                  <p:cNvPr id="8228" name="Text Box 30">
                    <a:extLst>
                      <a:ext uri="{FF2B5EF4-FFF2-40B4-BE49-F238E27FC236}">
                        <a16:creationId xmlns:a16="http://schemas.microsoft.com/office/drawing/2014/main" id="{A566103E-0B41-4726-9C08-5512EB84245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16" y="2976"/>
                    <a:ext cx="192" cy="3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/>
                      <a:t>1</a:t>
                    </a:r>
                  </a:p>
                </p:txBody>
              </p:sp>
              <p:sp>
                <p:nvSpPr>
                  <p:cNvPr id="8229" name="Text Box 31">
                    <a:extLst>
                      <a:ext uri="{FF2B5EF4-FFF2-40B4-BE49-F238E27FC236}">
                        <a16:creationId xmlns:a16="http://schemas.microsoft.com/office/drawing/2014/main" id="{22F197DD-9F9B-40C5-A687-30FD9C19AE6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04" y="2978"/>
                    <a:ext cx="192" cy="3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/>
                      <a:t>2</a:t>
                    </a:r>
                  </a:p>
                </p:txBody>
              </p:sp>
              <p:sp>
                <p:nvSpPr>
                  <p:cNvPr id="8230" name="Text Box 32">
                    <a:extLst>
                      <a:ext uri="{FF2B5EF4-FFF2-40B4-BE49-F238E27FC236}">
                        <a16:creationId xmlns:a16="http://schemas.microsoft.com/office/drawing/2014/main" id="{7D94C7F9-8186-4857-B215-7A1C209883F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32" y="2978"/>
                    <a:ext cx="192" cy="3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/>
                      <a:t>4</a:t>
                    </a:r>
                  </a:p>
                </p:txBody>
              </p:sp>
              <p:sp>
                <p:nvSpPr>
                  <p:cNvPr id="8231" name="Text Box 33">
                    <a:extLst>
                      <a:ext uri="{FF2B5EF4-FFF2-40B4-BE49-F238E27FC236}">
                        <a16:creationId xmlns:a16="http://schemas.microsoft.com/office/drawing/2014/main" id="{A59F46E7-25D4-46CA-89B3-24A3B24BB1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48" y="2976"/>
                    <a:ext cx="192" cy="33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/>
                      <a:t>8</a:t>
                    </a:r>
                  </a:p>
                </p:txBody>
              </p:sp>
              <p:sp>
                <p:nvSpPr>
                  <p:cNvPr id="8232" name="Text Box 34">
                    <a:extLst>
                      <a:ext uri="{FF2B5EF4-FFF2-40B4-BE49-F238E27FC236}">
                        <a16:creationId xmlns:a16="http://schemas.microsoft.com/office/drawing/2014/main" id="{EB4861CB-A615-43A5-9CE2-3FAF0ECD2A0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8" y="1728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 sz="2000" b="1"/>
                      <a:t>7.21</a:t>
                    </a:r>
                  </a:p>
                </p:txBody>
              </p:sp>
              <p:sp>
                <p:nvSpPr>
                  <p:cNvPr id="8233" name="Text Box 35">
                    <a:extLst>
                      <a:ext uri="{FF2B5EF4-FFF2-40B4-BE49-F238E27FC236}">
                        <a16:creationId xmlns:a16="http://schemas.microsoft.com/office/drawing/2014/main" id="{DCE7C162-4921-4EC9-9389-A6DAB8DB79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8" y="1968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 sz="2000" b="1"/>
                      <a:t>6.88</a:t>
                    </a:r>
                  </a:p>
                </p:txBody>
              </p:sp>
              <p:sp>
                <p:nvSpPr>
                  <p:cNvPr id="8234" name="Text Box 36">
                    <a:extLst>
                      <a:ext uri="{FF2B5EF4-FFF2-40B4-BE49-F238E27FC236}">
                        <a16:creationId xmlns:a16="http://schemas.microsoft.com/office/drawing/2014/main" id="{4D616F02-B52D-45AD-B05D-F0B3E1D6FE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8" y="2208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 sz="2000" b="1"/>
                      <a:t>6.32</a:t>
                    </a:r>
                  </a:p>
                </p:txBody>
              </p:sp>
              <p:sp>
                <p:nvSpPr>
                  <p:cNvPr id="8235" name="Text Box 37">
                    <a:extLst>
                      <a:ext uri="{FF2B5EF4-FFF2-40B4-BE49-F238E27FC236}">
                        <a16:creationId xmlns:a16="http://schemas.microsoft.com/office/drawing/2014/main" id="{60519071-9CD9-404F-AE91-86557970005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8" y="2400"/>
                    <a:ext cx="43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20000"/>
                      </a:lnSpc>
                      <a:spcBef>
                        <a:spcPct val="50000"/>
                      </a:spcBef>
                    </a:pPr>
                    <a:r>
                      <a:rPr lang="en-US" altLang="zh-CN" sz="2000" b="1"/>
                      <a:t>5.84</a:t>
                    </a:r>
                  </a:p>
                </p:txBody>
              </p:sp>
            </p:grpSp>
            <p:sp>
              <p:nvSpPr>
                <p:cNvPr id="8216" name="AutoShape 38">
                  <a:extLst>
                    <a:ext uri="{FF2B5EF4-FFF2-40B4-BE49-F238E27FC236}">
                      <a16:creationId xmlns:a16="http://schemas.microsoft.com/office/drawing/2014/main" id="{1703029C-BD64-40FB-8A2E-4F0151B86F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208"/>
                  <a:ext cx="336" cy="336"/>
                </a:xfrm>
                <a:prstGeom prst="rightArrow">
                  <a:avLst>
                    <a:gd name="adj1" fmla="val 50000"/>
                    <a:gd name="adj2" fmla="val 25000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8210" name="Text Box 56">
                <a:extLst>
                  <a:ext uri="{FF2B5EF4-FFF2-40B4-BE49-F238E27FC236}">
                    <a16:creationId xmlns:a16="http://schemas.microsoft.com/office/drawing/2014/main" id="{A905B63D-375D-437A-BF1A-0D04DCD2BD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1161"/>
                <a:ext cx="1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/>
                  <a:t>•</a:t>
                </a:r>
              </a:p>
            </p:txBody>
          </p:sp>
          <p:sp>
            <p:nvSpPr>
              <p:cNvPr id="8211" name="Text Box 57">
                <a:extLst>
                  <a:ext uri="{FF2B5EF4-FFF2-40B4-BE49-F238E27FC236}">
                    <a16:creationId xmlns:a16="http://schemas.microsoft.com/office/drawing/2014/main" id="{0B9C7E2D-C6BF-4C57-9E9E-17F5A05072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1440"/>
                <a:ext cx="1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/>
                  <a:t>•</a:t>
                </a:r>
              </a:p>
            </p:txBody>
          </p:sp>
          <p:sp>
            <p:nvSpPr>
              <p:cNvPr id="8212" name="Text Box 58">
                <a:extLst>
                  <a:ext uri="{FF2B5EF4-FFF2-40B4-BE49-F238E27FC236}">
                    <a16:creationId xmlns:a16="http://schemas.microsoft.com/office/drawing/2014/main" id="{064FF0DE-4194-49C8-9A3F-39ECF9B60C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1641"/>
                <a:ext cx="1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/>
                  <a:t>•</a:t>
                </a:r>
              </a:p>
            </p:txBody>
          </p:sp>
          <p:sp>
            <p:nvSpPr>
              <p:cNvPr id="8213" name="Text Box 59">
                <a:extLst>
                  <a:ext uri="{FF2B5EF4-FFF2-40B4-BE49-F238E27FC236}">
                    <a16:creationId xmlns:a16="http://schemas.microsoft.com/office/drawing/2014/main" id="{DE97E1E6-8696-45D7-A932-575BA50BFD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8" y="1785"/>
                <a:ext cx="1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/>
                  <a:t>•</a:t>
                </a:r>
              </a:p>
            </p:txBody>
          </p:sp>
        </p:grpSp>
        <p:sp>
          <p:nvSpPr>
            <p:cNvPr id="8208" name="Text Box 53">
              <a:extLst>
                <a:ext uri="{FF2B5EF4-FFF2-40B4-BE49-F238E27FC236}">
                  <a16:creationId xmlns:a16="http://schemas.microsoft.com/office/drawing/2014/main" id="{EDB2287C-96CB-474A-9582-274B8EECA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2341"/>
              <a:ext cx="3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1000"/>
                                        <p:tgtEl>
                                          <p:spTgt spid="4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4">
            <a:extLst>
              <a:ext uri="{FF2B5EF4-FFF2-40B4-BE49-F238E27FC236}">
                <a16:creationId xmlns:a16="http://schemas.microsoft.com/office/drawing/2014/main" id="{B872B410-2BCB-45F3-8C4C-567A299B8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620713"/>
            <a:ext cx="46482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划艇比赛的成绩</a:t>
            </a:r>
          </a:p>
        </p:txBody>
      </p:sp>
      <p:graphicFrame>
        <p:nvGraphicFramePr>
          <p:cNvPr id="9219" name="Object 5">
            <a:extLst>
              <a:ext uri="{FF2B5EF4-FFF2-40B4-BE49-F238E27FC236}">
                <a16:creationId xmlns:a16="http://schemas.microsoft.com/office/drawing/2014/main" id="{8BEFADD8-33C4-431C-B312-E35D46E05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49275"/>
          <a:ext cx="13192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Clip" r:id="rId3" imgW="952129" imgH="542857" progId="MS_ClipArt_Gallery.5">
                  <p:embed/>
                </p:oleObj>
              </mc:Choice>
              <mc:Fallback>
                <p:oleObj name="Clip" r:id="rId3" imgW="952129" imgH="542857" progId="MS_ClipArt_Gallery.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49275"/>
                        <a:ext cx="131921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2" name="Text Box 6">
            <a:extLst>
              <a:ext uri="{FF2B5EF4-FFF2-40B4-BE49-F238E27FC236}">
                <a16:creationId xmlns:a16="http://schemas.microsoft.com/office/drawing/2014/main" id="{9528DEB6-FF6D-4F3D-9FD7-7F8C5DA95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628775"/>
            <a:ext cx="7272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对实际数据做比较、分析，发现并提出问题</a:t>
            </a:r>
            <a:r>
              <a:rPr lang="en-US" altLang="zh-CN" sz="2800" b="1"/>
              <a:t>.</a:t>
            </a:r>
          </a:p>
        </p:txBody>
      </p:sp>
      <p:sp>
        <p:nvSpPr>
          <p:cNvPr id="126983" name="Text Box 7">
            <a:extLst>
              <a:ext uri="{FF2B5EF4-FFF2-40B4-BE49-F238E27FC236}">
                <a16:creationId xmlns:a16="http://schemas.microsoft.com/office/drawing/2014/main" id="{7AD6F540-6FBE-41E0-83F6-030683FA4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276475"/>
            <a:ext cx="5473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利用物理基本知识分析问题</a:t>
            </a:r>
            <a:r>
              <a:rPr lang="en-US" altLang="zh-CN" sz="2800" b="1"/>
              <a:t>.</a:t>
            </a:r>
          </a:p>
        </p:txBody>
      </p:sp>
      <p:sp>
        <p:nvSpPr>
          <p:cNvPr id="126984" name="Text Box 8">
            <a:extLst>
              <a:ext uri="{FF2B5EF4-FFF2-40B4-BE49-F238E27FC236}">
                <a16:creationId xmlns:a16="http://schemas.microsoft.com/office/drawing/2014/main" id="{83C7D0AE-785B-4AA5-9F56-AE2E26A6C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924175"/>
            <a:ext cx="4103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模型假设比较粗糙</a:t>
            </a:r>
            <a:r>
              <a:rPr lang="en-US" altLang="zh-CN" sz="2800" b="1"/>
              <a:t>.</a:t>
            </a:r>
          </a:p>
        </p:txBody>
      </p:sp>
      <p:sp>
        <p:nvSpPr>
          <p:cNvPr id="126985" name="Text Box 9">
            <a:extLst>
              <a:ext uri="{FF2B5EF4-FFF2-40B4-BE49-F238E27FC236}">
                <a16:creationId xmlns:a16="http://schemas.microsoft.com/office/drawing/2014/main" id="{C1D3778E-E43C-4EE4-B745-AA1088CC3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644900"/>
            <a:ext cx="590391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利用合适的物理定律及</a:t>
            </a:r>
            <a:r>
              <a:rPr lang="zh-CN" altLang="en-US" sz="2800" b="1">
                <a:solidFill>
                  <a:srgbClr val="3333FF"/>
                </a:solidFill>
              </a:rPr>
              <a:t>简单的比例</a:t>
            </a:r>
            <a:r>
              <a:rPr lang="zh-CN" altLang="en-US" sz="2800" b="1"/>
              <a:t>方法建模</a:t>
            </a:r>
            <a:r>
              <a:rPr lang="en-US" altLang="zh-CN" sz="2800" b="1"/>
              <a:t>(</a:t>
            </a:r>
            <a:r>
              <a:rPr lang="zh-CN" altLang="en-US" sz="2800" b="1"/>
              <a:t>只考虑各种艇的相对速度</a:t>
            </a:r>
            <a:r>
              <a:rPr lang="en-US" altLang="zh-CN" sz="2800" b="1"/>
              <a:t>).</a:t>
            </a:r>
          </a:p>
        </p:txBody>
      </p:sp>
      <p:sp>
        <p:nvSpPr>
          <p:cNvPr id="126986" name="Text Box 10">
            <a:extLst>
              <a:ext uri="{FF2B5EF4-FFF2-40B4-BE49-F238E27FC236}">
                <a16:creationId xmlns:a16="http://schemas.microsoft.com/office/drawing/2014/main" id="{379B44E5-B47E-4CE3-BAF6-380DD6D42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013325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模型结果与实际数据十分吻合 </a:t>
            </a:r>
            <a:r>
              <a:rPr lang="en-US" altLang="zh-CN" sz="2800" b="1">
                <a:solidFill>
                  <a:srgbClr val="FF3300"/>
                </a:solidFill>
              </a:rPr>
              <a:t>(</a:t>
            </a:r>
            <a:r>
              <a:rPr lang="zh-CN" altLang="en-US" sz="2800" b="1">
                <a:solidFill>
                  <a:srgbClr val="FF3300"/>
                </a:solidFill>
              </a:rPr>
              <a:t>巧合！</a:t>
            </a:r>
            <a:r>
              <a:rPr lang="en-US" altLang="zh-CN" sz="2800" b="1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2" name="云形标注 1">
            <a:extLst>
              <a:ext uri="{FF2B5EF4-FFF2-40B4-BE49-F238E27FC236}">
                <a16:creationId xmlns:a16="http://schemas.microsoft.com/office/drawing/2014/main" id="{D5CFABC0-EFA3-4B4D-8600-8A9908CA7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636838"/>
            <a:ext cx="2160588" cy="720725"/>
          </a:xfrm>
          <a:prstGeom prst="cloudCallout">
            <a:avLst>
              <a:gd name="adj1" fmla="val -37417"/>
              <a:gd name="adj2" fmla="val 86065"/>
            </a:avLst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1">
                <a:solidFill>
                  <a:srgbClr val="3333FF"/>
                </a:solidFill>
              </a:rPr>
              <a:t>量纲分析法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2" grpId="0"/>
      <p:bldP spid="126983" grpId="0"/>
      <p:bldP spid="126984" grpId="0"/>
      <p:bldP spid="126985" grpId="0"/>
      <p:bldP spid="126986" grpId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3">
            <a:extLst>
              <a:ext uri="{FF2B5EF4-FFF2-40B4-BE49-F238E27FC236}">
                <a16:creationId xmlns:a16="http://schemas.microsoft.com/office/drawing/2014/main" id="{336438C3-CFA1-4256-ABAB-09951DA95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533400" cy="10668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C0EE0776-61A3-425C-9F9D-21E71007A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143000"/>
            <a:ext cx="7848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甲有物品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zh-CN" altLang="en-US" sz="2800" b="1"/>
              <a:t>乙有物品</a:t>
            </a:r>
            <a:r>
              <a:rPr lang="en-US" altLang="zh-CN" sz="2800" b="1" i="1"/>
              <a:t>Y</a:t>
            </a:r>
            <a:r>
              <a:rPr lang="en-US" altLang="zh-CN" sz="2800" b="1"/>
              <a:t>, </a:t>
            </a:r>
            <a:r>
              <a:rPr lang="zh-CN" altLang="en-US" sz="2800" b="1"/>
              <a:t>双方为满足更高的需要，商定相互交换一部分</a:t>
            </a:r>
            <a:r>
              <a:rPr lang="en-US" altLang="zh-CN" sz="2800" b="1"/>
              <a:t>. </a:t>
            </a:r>
            <a:r>
              <a:rPr lang="zh-CN" altLang="en-US" sz="2800" b="1"/>
              <a:t>研究实物交换方案</a:t>
            </a:r>
            <a:r>
              <a:rPr lang="en-US" altLang="zh-CN" sz="2800" b="1"/>
              <a:t>.</a:t>
            </a:r>
          </a:p>
        </p:txBody>
      </p:sp>
      <p:grpSp>
        <p:nvGrpSpPr>
          <p:cNvPr id="2" name="Group 62">
            <a:extLst>
              <a:ext uri="{FF2B5EF4-FFF2-40B4-BE49-F238E27FC236}">
                <a16:creationId xmlns:a16="http://schemas.microsoft.com/office/drawing/2014/main" id="{6A8ED64C-1EAE-4220-B1B9-48A126C4B890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284538"/>
            <a:ext cx="2667000" cy="2016125"/>
            <a:chOff x="3216" y="2069"/>
            <a:chExt cx="1680" cy="1270"/>
          </a:xfrm>
        </p:grpSpPr>
        <p:grpSp>
          <p:nvGrpSpPr>
            <p:cNvPr id="10262" name="Group 61">
              <a:extLst>
                <a:ext uri="{FF2B5EF4-FFF2-40B4-BE49-F238E27FC236}">
                  <a16:creationId xmlns:a16="http://schemas.microsoft.com/office/drawing/2014/main" id="{053D1870-2CC3-4F85-BD6A-C0A59E8D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256"/>
              <a:ext cx="1680" cy="1083"/>
              <a:chOff x="3216" y="2256"/>
              <a:chExt cx="1680" cy="1083"/>
            </a:xfrm>
          </p:grpSpPr>
          <p:sp>
            <p:nvSpPr>
              <p:cNvPr id="10264" name="Line 21">
                <a:extLst>
                  <a:ext uri="{FF2B5EF4-FFF2-40B4-BE49-F238E27FC236}">
                    <a16:creationId xmlns:a16="http://schemas.microsoft.com/office/drawing/2014/main" id="{C40CB4EB-FBF6-4513-BA9D-462CE8741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592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5" name="Line 22">
                <a:extLst>
                  <a:ext uri="{FF2B5EF4-FFF2-40B4-BE49-F238E27FC236}">
                    <a16:creationId xmlns:a16="http://schemas.microsoft.com/office/drawing/2014/main" id="{1C668C14-1C04-44F2-A1B3-EB9C6EB12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49" y="2592"/>
                <a:ext cx="7" cy="5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66" name="Text Box 26">
                <a:extLst>
                  <a:ext uri="{FF2B5EF4-FFF2-40B4-BE49-F238E27FC236}">
                    <a16:creationId xmlns:a16="http://schemas.microsoft.com/office/drawing/2014/main" id="{0AFA565F-A48F-418A-A5F2-5533425BDD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448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y</a:t>
                </a:r>
              </a:p>
            </p:txBody>
          </p:sp>
          <p:sp>
            <p:nvSpPr>
              <p:cNvPr id="10267" name="Text Box 29">
                <a:extLst>
                  <a:ext uri="{FF2B5EF4-FFF2-40B4-BE49-F238E27FC236}">
                    <a16:creationId xmlns:a16="http://schemas.microsoft.com/office/drawing/2014/main" id="{438C052C-CDE2-4BED-B38D-B602827993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301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x</a:t>
                </a:r>
              </a:p>
            </p:txBody>
          </p:sp>
          <p:sp>
            <p:nvSpPr>
              <p:cNvPr id="10268" name="Text Box 36">
                <a:extLst>
                  <a:ext uri="{FF2B5EF4-FFF2-40B4-BE49-F238E27FC236}">
                    <a16:creationId xmlns:a16="http://schemas.microsoft.com/office/drawing/2014/main" id="{16655A4E-6EF9-43FA-869C-FF7B3A1D9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2256"/>
                <a:ext cx="2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p</a:t>
                </a:r>
              </a:p>
            </p:txBody>
          </p:sp>
        </p:grpSp>
        <p:sp>
          <p:nvSpPr>
            <p:cNvPr id="10263" name="Text Box 41">
              <a:extLst>
                <a:ext uri="{FF2B5EF4-FFF2-40B4-BE49-F238E27FC236}">
                  <a16:creationId xmlns:a16="http://schemas.microsoft.com/office/drawing/2014/main" id="{A7BDC498-2EE4-4808-82F1-6D1BCAEB9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069"/>
              <a:ext cx="336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7200" b="1"/>
                <a:t>.</a:t>
              </a:r>
            </a:p>
          </p:txBody>
        </p:sp>
      </p:grpSp>
      <p:sp>
        <p:nvSpPr>
          <p:cNvPr id="8237" name="Text Box 45">
            <a:extLst>
              <a:ext uri="{FF2B5EF4-FFF2-40B4-BE49-F238E27FC236}">
                <a16:creationId xmlns:a16="http://schemas.microsoft.com/office/drawing/2014/main" id="{EEA1342B-B02D-496C-8A4B-9033B4EAB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514600"/>
            <a:ext cx="43434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用</a:t>
            </a:r>
            <a:r>
              <a:rPr lang="en-US" altLang="zh-CN" sz="2800" b="1" i="1"/>
              <a:t>x,y</a:t>
            </a:r>
            <a:r>
              <a:rPr lang="zh-CN" altLang="en-US" sz="2800" b="1"/>
              <a:t>分别表示甲</a:t>
            </a:r>
            <a:r>
              <a:rPr lang="en-US" altLang="zh-CN" sz="2800" b="1"/>
              <a:t>(</a:t>
            </a:r>
            <a:r>
              <a:rPr lang="zh-CN" altLang="en-US" sz="2800" b="1"/>
              <a:t>乙</a:t>
            </a:r>
            <a:r>
              <a:rPr lang="en-US" altLang="zh-CN" sz="2800" b="1"/>
              <a:t>)</a:t>
            </a:r>
            <a:r>
              <a:rPr lang="zh-CN" altLang="en-US" sz="2800" b="1"/>
              <a:t>占有</a:t>
            </a:r>
            <a:r>
              <a:rPr lang="en-US" altLang="zh-CN" sz="2800" b="1" i="1"/>
              <a:t>X,Y</a:t>
            </a:r>
            <a:r>
              <a:rPr lang="zh-CN" altLang="en-US" sz="2800" b="1"/>
              <a:t>的数量</a:t>
            </a:r>
            <a:r>
              <a:rPr lang="en-US" altLang="zh-CN" sz="2800" b="1"/>
              <a:t>. </a:t>
            </a:r>
            <a:r>
              <a:rPr lang="zh-CN" altLang="en-US" sz="2800" b="1"/>
              <a:t>设交换前甲占有</a:t>
            </a:r>
            <a:r>
              <a:rPr lang="en-US" altLang="zh-CN" sz="2800" b="1" i="1"/>
              <a:t>X</a:t>
            </a:r>
            <a:r>
              <a:rPr lang="zh-CN" altLang="en-US" sz="2800" b="1"/>
              <a:t>的数量为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, </a:t>
            </a:r>
            <a:r>
              <a:rPr lang="zh-CN" altLang="en-US" sz="2800" b="1"/>
              <a:t>乙占有</a:t>
            </a:r>
            <a:r>
              <a:rPr lang="en-US" altLang="zh-CN" sz="2800" b="1" i="1"/>
              <a:t>Y</a:t>
            </a:r>
            <a:r>
              <a:rPr lang="zh-CN" altLang="en-US" sz="2800" b="1"/>
              <a:t>的数量为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,  </a:t>
            </a:r>
            <a:r>
              <a:rPr lang="zh-CN" altLang="en-US" sz="2800" b="1"/>
              <a:t>作图：</a:t>
            </a:r>
          </a:p>
        </p:txBody>
      </p:sp>
      <p:sp>
        <p:nvSpPr>
          <p:cNvPr id="8242" name="Text Box 50">
            <a:extLst>
              <a:ext uri="{FF2B5EF4-FFF2-40B4-BE49-F238E27FC236}">
                <a16:creationId xmlns:a16="http://schemas.microsoft.com/office/drawing/2014/main" id="{F0872E8D-24FE-4446-8F05-538C25759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105400"/>
            <a:ext cx="85344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若不考虑双方对</a:t>
            </a:r>
            <a:r>
              <a:rPr lang="en-US" altLang="zh-CN" sz="2800" b="1" i="1"/>
              <a:t>X,Y</a:t>
            </a:r>
            <a:r>
              <a:rPr lang="zh-CN" altLang="en-US" sz="2800" b="1"/>
              <a:t>的偏爱，则矩形内任一点 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x,y</a:t>
            </a:r>
            <a:r>
              <a:rPr lang="en-US" altLang="zh-CN" sz="2800" b="1"/>
              <a:t>)</a:t>
            </a:r>
          </a:p>
        </p:txBody>
      </p:sp>
      <p:sp>
        <p:nvSpPr>
          <p:cNvPr id="8243" name="Text Box 51">
            <a:extLst>
              <a:ext uri="{FF2B5EF4-FFF2-40B4-BE49-F238E27FC236}">
                <a16:creationId xmlns:a16="http://schemas.microsoft.com/office/drawing/2014/main" id="{6B52F745-0201-42E2-9F56-078245C73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734050"/>
            <a:ext cx="853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都是一种交换方案：甲占有</a:t>
            </a:r>
            <a:r>
              <a:rPr lang="en-US" altLang="en-US" sz="2800" b="1"/>
              <a:t>(</a:t>
            </a:r>
            <a:r>
              <a:rPr lang="en-US" altLang="zh-CN" sz="2800" b="1" i="1"/>
              <a:t>x,y</a:t>
            </a:r>
            <a:r>
              <a:rPr lang="en-US" altLang="zh-CN" sz="2800" b="1"/>
              <a:t>) </a:t>
            </a:r>
            <a:r>
              <a:rPr lang="zh-CN" altLang="en-US" sz="2800" b="1"/>
              <a:t>，乙占有</a:t>
            </a:r>
            <a:r>
              <a:rPr lang="en-US" altLang="en-US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0 </a:t>
            </a:r>
            <a:r>
              <a:rPr lang="en-US" altLang="zh-CN" sz="2800" b="1"/>
              <a:t>-</a:t>
            </a:r>
            <a:r>
              <a:rPr lang="en-US" altLang="zh-CN" sz="2800" b="1" i="1"/>
              <a:t>x, y</a:t>
            </a:r>
            <a:r>
              <a:rPr lang="en-US" altLang="zh-CN" sz="2800" b="1" baseline="-25000"/>
              <a:t>0 </a:t>
            </a:r>
            <a:r>
              <a:rPr lang="en-US" altLang="zh-CN" sz="2800" b="1"/>
              <a:t>-</a:t>
            </a:r>
            <a:r>
              <a:rPr lang="en-US" altLang="zh-CN" sz="2800" b="1" i="1"/>
              <a:t>y</a:t>
            </a:r>
            <a:r>
              <a:rPr lang="en-US" altLang="zh-CN" sz="2800" b="1"/>
              <a:t>). </a:t>
            </a:r>
          </a:p>
        </p:txBody>
      </p:sp>
      <p:grpSp>
        <p:nvGrpSpPr>
          <p:cNvPr id="4" name="Group 58">
            <a:extLst>
              <a:ext uri="{FF2B5EF4-FFF2-40B4-BE49-F238E27FC236}">
                <a16:creationId xmlns:a16="http://schemas.microsoft.com/office/drawing/2014/main" id="{7436DC4E-1EB1-48ED-AEE6-93705E1A8B2A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133600"/>
            <a:ext cx="4572000" cy="3262313"/>
            <a:chOff x="3168" y="1200"/>
            <a:chExt cx="2880" cy="2055"/>
          </a:xfrm>
        </p:grpSpPr>
        <p:sp>
          <p:nvSpPr>
            <p:cNvPr id="10251" name="Text Box 42">
              <a:extLst>
                <a:ext uri="{FF2B5EF4-FFF2-40B4-BE49-F238E27FC236}">
                  <a16:creationId xmlns:a16="http://schemas.microsoft.com/office/drawing/2014/main" id="{0657F37B-09D5-4D60-BF61-D9E718D43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4" y="2928"/>
              <a:ext cx="53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x</a:t>
              </a:r>
              <a:endParaRPr lang="en-US" altLang="zh-CN" b="1"/>
            </a:p>
          </p:txBody>
        </p:sp>
        <p:sp>
          <p:nvSpPr>
            <p:cNvPr id="10252" name="Line 8">
              <a:extLst>
                <a:ext uri="{FF2B5EF4-FFF2-40B4-BE49-F238E27FC236}">
                  <a16:creationId xmlns:a16="http://schemas.microsoft.com/office/drawing/2014/main" id="{F2602696-53C9-45C6-AF2B-1555D3984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976"/>
              <a:ext cx="225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3" name="Line 9">
              <a:extLst>
                <a:ext uri="{FF2B5EF4-FFF2-40B4-BE49-F238E27FC236}">
                  <a16:creationId xmlns:a16="http://schemas.microsoft.com/office/drawing/2014/main" id="{F667E891-59E1-422F-9B9B-158302F1D6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1" y="1296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4" name="Line 12">
              <a:extLst>
                <a:ext uri="{FF2B5EF4-FFF2-40B4-BE49-F238E27FC236}">
                  <a16:creationId xmlns:a16="http://schemas.microsoft.com/office/drawing/2014/main" id="{7B7BE001-C34D-483A-97F3-FCFFBFEFC6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1" y="1584"/>
              <a:ext cx="17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5" name="Line 13">
              <a:extLst>
                <a:ext uri="{FF2B5EF4-FFF2-40B4-BE49-F238E27FC236}">
                  <a16:creationId xmlns:a16="http://schemas.microsoft.com/office/drawing/2014/main" id="{45C6433C-4FD3-4F89-A571-67EE10956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6" y="1584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6" name="Text Box 23">
              <a:extLst>
                <a:ext uri="{FF2B5EF4-FFF2-40B4-BE49-F238E27FC236}">
                  <a16:creationId xmlns:a16="http://schemas.microsoft.com/office/drawing/2014/main" id="{04C71591-2017-48EB-B9AE-FA1CF714C0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200"/>
              <a:ext cx="2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y</a:t>
              </a:r>
            </a:p>
          </p:txBody>
        </p:sp>
        <p:sp>
          <p:nvSpPr>
            <p:cNvPr id="10257" name="Text Box 24">
              <a:extLst>
                <a:ext uri="{FF2B5EF4-FFF2-40B4-BE49-F238E27FC236}">
                  <a16:creationId xmlns:a16="http://schemas.microsoft.com/office/drawing/2014/main" id="{182DEAAE-B301-488C-99C2-FDD605056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44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y</a:t>
              </a:r>
              <a:r>
                <a:rPr lang="en-US" altLang="zh-CN" sz="2800" b="1" baseline="-25000"/>
                <a:t>0</a:t>
              </a:r>
              <a:endParaRPr lang="en-US" altLang="zh-CN" sz="2800" b="1"/>
            </a:p>
          </p:txBody>
        </p:sp>
        <p:sp>
          <p:nvSpPr>
            <p:cNvPr id="10258" name="Text Box 27">
              <a:extLst>
                <a:ext uri="{FF2B5EF4-FFF2-40B4-BE49-F238E27FC236}">
                  <a16:creationId xmlns:a16="http://schemas.microsoft.com/office/drawing/2014/main" id="{F5049835-9C4E-4CFA-BFB6-78DACD633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880"/>
              <a:ext cx="3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O</a:t>
              </a:r>
            </a:p>
          </p:txBody>
        </p:sp>
        <p:sp>
          <p:nvSpPr>
            <p:cNvPr id="10259" name="Text Box 30">
              <a:extLst>
                <a:ext uri="{FF2B5EF4-FFF2-40B4-BE49-F238E27FC236}">
                  <a16:creationId xmlns:a16="http://schemas.microsoft.com/office/drawing/2014/main" id="{EC06AB01-752A-40FB-8C44-F5EB0CB13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4" y="2928"/>
              <a:ext cx="4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x</a:t>
              </a:r>
              <a:r>
                <a:rPr lang="en-US" altLang="zh-CN" sz="2800" b="1" baseline="-25000"/>
                <a:t>0</a:t>
              </a:r>
              <a:endParaRPr lang="en-US" altLang="zh-CN" sz="2800" b="1"/>
            </a:p>
          </p:txBody>
        </p:sp>
        <p:sp>
          <p:nvSpPr>
            <p:cNvPr id="10260" name="Text Box 52">
              <a:extLst>
                <a:ext uri="{FF2B5EF4-FFF2-40B4-BE49-F238E27FC236}">
                  <a16:creationId xmlns:a16="http://schemas.microsoft.com/office/drawing/2014/main" id="{7F55E106-AE63-4F45-8D9C-ACC1E0822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83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•</a:t>
              </a:r>
            </a:p>
          </p:txBody>
        </p:sp>
        <p:sp>
          <p:nvSpPr>
            <p:cNvPr id="10261" name="Text Box 53">
              <a:extLst>
                <a:ext uri="{FF2B5EF4-FFF2-40B4-BE49-F238E27FC236}">
                  <a16:creationId xmlns:a16="http://schemas.microsoft.com/office/drawing/2014/main" id="{96260CCE-FA55-41D1-8992-0676C88E5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44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/>
                <a:t>•</a:t>
              </a:r>
            </a:p>
          </p:txBody>
        </p:sp>
      </p:grpSp>
      <p:sp>
        <p:nvSpPr>
          <p:cNvPr id="10249" name="Rectangle 57">
            <a:extLst>
              <a:ext uri="{FF2B5EF4-FFF2-40B4-BE49-F238E27FC236}">
                <a16:creationId xmlns:a16="http://schemas.microsoft.com/office/drawing/2014/main" id="{72062E0E-B709-49A6-99A3-06FB93FC3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33400"/>
            <a:ext cx="361315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ea typeface="楷体_GB2312" pitchFamily="49" charset="-122"/>
              </a:rPr>
              <a:t>3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实物交换模型</a:t>
            </a:r>
          </a:p>
        </p:txBody>
      </p:sp>
      <p:graphicFrame>
        <p:nvGraphicFramePr>
          <p:cNvPr id="10250" name="Object 63">
            <a:extLst>
              <a:ext uri="{FF2B5EF4-FFF2-40B4-BE49-F238E27FC236}">
                <a16:creationId xmlns:a16="http://schemas.microsoft.com/office/drawing/2014/main" id="{65B1C0EE-CEDD-40C1-92D6-30DAF258B2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549275"/>
          <a:ext cx="63023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Clip" r:id="rId3" imgW="3886200" imgH="3944938" progId="MS_ClipArt_Gallery.2">
                  <p:embed/>
                </p:oleObj>
              </mc:Choice>
              <mc:Fallback>
                <p:oleObj name="Clip" r:id="rId3" imgW="3886200" imgH="3944938" progId="MS_ClipArt_Gallery.2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549275"/>
                        <a:ext cx="63023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animBg="1" autoUpdateAnimBg="0"/>
      <p:bldP spid="8196" grpId="0" animBg="1" autoUpdateAnimBg="0"/>
      <p:bldP spid="8237" grpId="0" animBg="1" autoUpdateAnimBg="0"/>
      <p:bldP spid="8242" grpId="0" animBg="1" autoUpdateAnimBg="0"/>
      <p:bldP spid="8243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7">
            <a:extLst>
              <a:ext uri="{FF2B5EF4-FFF2-40B4-BE49-F238E27FC236}">
                <a16:creationId xmlns:a16="http://schemas.microsoft.com/office/drawing/2014/main" id="{61C6CD97-D28B-43C0-89FD-DC008CC483BE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341438"/>
            <a:ext cx="4343400" cy="3205162"/>
            <a:chOff x="3072" y="909"/>
            <a:chExt cx="2736" cy="2019"/>
          </a:xfrm>
        </p:grpSpPr>
        <p:sp>
          <p:nvSpPr>
            <p:cNvPr id="11286" name="Text Box 38">
              <a:extLst>
                <a:ext uri="{FF2B5EF4-FFF2-40B4-BE49-F238E27FC236}">
                  <a16:creationId xmlns:a16="http://schemas.microsoft.com/office/drawing/2014/main" id="{5C0F1C93-2B3E-48D0-B9AA-0B671BBD3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8" y="264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endParaRPr lang="en-US" altLang="zh-CN" b="1"/>
            </a:p>
          </p:txBody>
        </p:sp>
        <p:sp>
          <p:nvSpPr>
            <p:cNvPr id="11287" name="Line 90">
              <a:extLst>
                <a:ext uri="{FF2B5EF4-FFF2-40B4-BE49-F238E27FC236}">
                  <a16:creationId xmlns:a16="http://schemas.microsoft.com/office/drawing/2014/main" id="{0DCF9187-4426-48BB-8424-C4D07884F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688"/>
              <a:ext cx="2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8" name="Line 91">
              <a:extLst>
                <a:ext uri="{FF2B5EF4-FFF2-40B4-BE49-F238E27FC236}">
                  <a16:creationId xmlns:a16="http://schemas.microsoft.com/office/drawing/2014/main" id="{2ACC8697-B18B-4ED0-9541-110DDFB275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008"/>
              <a:ext cx="0" cy="1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9" name="Line 93">
              <a:extLst>
                <a:ext uri="{FF2B5EF4-FFF2-40B4-BE49-F238E27FC236}">
                  <a16:creationId xmlns:a16="http://schemas.microsoft.com/office/drawing/2014/main" id="{A1B2760A-D082-4C3E-972C-67D492D9C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296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0" name="Line 94">
              <a:extLst>
                <a:ext uri="{FF2B5EF4-FFF2-40B4-BE49-F238E27FC236}">
                  <a16:creationId xmlns:a16="http://schemas.microsoft.com/office/drawing/2014/main" id="{81346AE6-45A2-428E-BC5D-6663390C7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296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1" name="Line 98">
              <a:extLst>
                <a:ext uri="{FF2B5EF4-FFF2-40B4-BE49-F238E27FC236}">
                  <a16:creationId xmlns:a16="http://schemas.microsoft.com/office/drawing/2014/main" id="{DD5AC8E5-3781-42BD-B0C5-2FFCB750C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680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2" name="Line 99">
              <a:extLst>
                <a:ext uri="{FF2B5EF4-FFF2-40B4-BE49-F238E27FC236}">
                  <a16:creationId xmlns:a16="http://schemas.microsoft.com/office/drawing/2014/main" id="{041BA23F-A267-4026-8FAA-753970BEA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68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3" name="Line 100">
              <a:extLst>
                <a:ext uri="{FF2B5EF4-FFF2-40B4-BE49-F238E27FC236}">
                  <a16:creationId xmlns:a16="http://schemas.microsoft.com/office/drawing/2014/main" id="{1A2B0A79-69D7-4791-82B8-993EA5A5B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30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4" name="Line 101">
              <a:extLst>
                <a:ext uri="{FF2B5EF4-FFF2-40B4-BE49-F238E27FC236}">
                  <a16:creationId xmlns:a16="http://schemas.microsoft.com/office/drawing/2014/main" id="{58BAAB3D-D006-499B-82F1-BA3D397DA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30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" name="Text Box 102">
              <a:extLst>
                <a:ext uri="{FF2B5EF4-FFF2-40B4-BE49-F238E27FC236}">
                  <a16:creationId xmlns:a16="http://schemas.microsoft.com/office/drawing/2014/main" id="{3D0BDCF9-CD4F-4C1D-9F26-AAA833E98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909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y</a:t>
              </a:r>
            </a:p>
          </p:txBody>
        </p:sp>
        <p:sp>
          <p:nvSpPr>
            <p:cNvPr id="11296" name="Text Box 103">
              <a:extLst>
                <a:ext uri="{FF2B5EF4-FFF2-40B4-BE49-F238E27FC236}">
                  <a16:creationId xmlns:a16="http://schemas.microsoft.com/office/drawing/2014/main" id="{11B69991-4A71-49D2-913D-BB7F4351A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149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y</a:t>
              </a:r>
              <a:r>
                <a:rPr lang="en-US" altLang="zh-CN" b="1" baseline="-25000"/>
                <a:t>0</a:t>
              </a:r>
              <a:endParaRPr lang="en-US" altLang="zh-CN" b="1" i="1"/>
            </a:p>
          </p:txBody>
        </p:sp>
        <p:sp>
          <p:nvSpPr>
            <p:cNvPr id="11297" name="Text Box 104">
              <a:extLst>
                <a:ext uri="{FF2B5EF4-FFF2-40B4-BE49-F238E27FC236}">
                  <a16:creationId xmlns:a16="http://schemas.microsoft.com/office/drawing/2014/main" id="{C4804E8F-F6B6-491E-8E4D-30516D300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523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y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11298" name="Text Box 105">
              <a:extLst>
                <a:ext uri="{FF2B5EF4-FFF2-40B4-BE49-F238E27FC236}">
                  <a16:creationId xmlns:a16="http://schemas.microsoft.com/office/drawing/2014/main" id="{098F4ECD-A64C-448B-AA5E-F8EC42CDE4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157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y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11299" name="Text Box 106">
              <a:extLst>
                <a:ext uri="{FF2B5EF4-FFF2-40B4-BE49-F238E27FC236}">
                  <a16:creationId xmlns:a16="http://schemas.microsoft.com/office/drawing/2014/main" id="{25368894-798B-4442-8B2A-87A2C0B26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579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O</a:t>
              </a:r>
            </a:p>
          </p:txBody>
        </p:sp>
        <p:sp>
          <p:nvSpPr>
            <p:cNvPr id="11300" name="Text Box 107">
              <a:extLst>
                <a:ext uri="{FF2B5EF4-FFF2-40B4-BE49-F238E27FC236}">
                  <a16:creationId xmlns:a16="http://schemas.microsoft.com/office/drawing/2014/main" id="{D0E0C2D3-F6D2-446F-80FE-C495E8C0C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637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11301" name="Text Box 108">
              <a:extLst>
                <a:ext uri="{FF2B5EF4-FFF2-40B4-BE49-F238E27FC236}">
                  <a16:creationId xmlns:a16="http://schemas.microsoft.com/office/drawing/2014/main" id="{55143425-5E90-4ECE-9F73-007574E48E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264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11302" name="Text Box 109">
              <a:extLst>
                <a:ext uri="{FF2B5EF4-FFF2-40B4-BE49-F238E27FC236}">
                  <a16:creationId xmlns:a16="http://schemas.microsoft.com/office/drawing/2014/main" id="{8BD25724-79FB-4C37-9BA2-3611DF3EC3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264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  <p:sp>
          <p:nvSpPr>
            <p:cNvPr id="11303" name="Text Box 114">
              <a:extLst>
                <a:ext uri="{FF2B5EF4-FFF2-40B4-BE49-F238E27FC236}">
                  <a16:creationId xmlns:a16="http://schemas.microsoft.com/office/drawing/2014/main" id="{9D3FED2D-296D-4941-B878-2033FAA0E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523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p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11304" name="Text Box 115">
              <a:extLst>
                <a:ext uri="{FF2B5EF4-FFF2-40B4-BE49-F238E27FC236}">
                  <a16:creationId xmlns:a16="http://schemas.microsoft.com/office/drawing/2014/main" id="{DE289353-94AB-4D6C-949F-7CE50BE5C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01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p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11305" name="Text Box 118">
              <a:extLst>
                <a:ext uri="{FF2B5EF4-FFF2-40B4-BE49-F238E27FC236}">
                  <a16:creationId xmlns:a16="http://schemas.microsoft.com/office/drawing/2014/main" id="{0066F10E-26BE-4622-8AB8-09A7CFC2E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238"/>
              <a:ext cx="576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6000" b="1"/>
                <a:t>.</a:t>
              </a:r>
            </a:p>
          </p:txBody>
        </p:sp>
        <p:sp>
          <p:nvSpPr>
            <p:cNvPr id="11306" name="Text Box 119">
              <a:extLst>
                <a:ext uri="{FF2B5EF4-FFF2-40B4-BE49-F238E27FC236}">
                  <a16:creationId xmlns:a16="http://schemas.microsoft.com/office/drawing/2014/main" id="{26E974AB-B2EA-4FB8-B770-A405B55B0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862"/>
              <a:ext cx="624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6000" b="1"/>
                <a:t>.</a:t>
              </a:r>
            </a:p>
          </p:txBody>
        </p:sp>
      </p:grpSp>
      <p:sp>
        <p:nvSpPr>
          <p:cNvPr id="9337" name="Text Box 121">
            <a:extLst>
              <a:ext uri="{FF2B5EF4-FFF2-40B4-BE49-F238E27FC236}">
                <a16:creationId xmlns:a16="http://schemas.microsoft.com/office/drawing/2014/main" id="{B7D25A32-FE7F-4856-AA9D-56AB83FB9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609600"/>
            <a:ext cx="30480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甲的无差别曲线</a:t>
            </a:r>
          </a:p>
        </p:txBody>
      </p:sp>
      <p:sp>
        <p:nvSpPr>
          <p:cNvPr id="11268" name="Text Box 123">
            <a:extLst>
              <a:ext uri="{FF2B5EF4-FFF2-40B4-BE49-F238E27FC236}">
                <a16:creationId xmlns:a16="http://schemas.microsoft.com/office/drawing/2014/main" id="{D2749387-304E-47DD-A0A2-232691A86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"/>
            <a:ext cx="2362200" cy="5794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分析与建模</a:t>
            </a:r>
          </a:p>
        </p:txBody>
      </p:sp>
      <p:sp>
        <p:nvSpPr>
          <p:cNvPr id="9343" name="Text Box 127">
            <a:extLst>
              <a:ext uri="{FF2B5EF4-FFF2-40B4-BE49-F238E27FC236}">
                <a16:creationId xmlns:a16="http://schemas.microsoft.com/office/drawing/2014/main" id="{9D984223-A323-43BC-9EFD-3BDE69B5C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68413"/>
            <a:ext cx="44196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如果甲占有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)</a:t>
            </a:r>
            <a:r>
              <a:rPr lang="zh-CN" altLang="en-US" sz="2800" b="1"/>
              <a:t>与占有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)</a:t>
            </a:r>
            <a:r>
              <a:rPr lang="zh-CN" altLang="en-US" sz="2800" b="1"/>
              <a:t>具有同样的满意程度</a:t>
            </a:r>
            <a:r>
              <a:rPr lang="en-US" altLang="zh-CN" sz="2800" b="1"/>
              <a:t>,</a:t>
            </a:r>
            <a:r>
              <a:rPr lang="zh-CN" altLang="en-US" sz="2800" b="1"/>
              <a:t>即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对甲是无差别的</a:t>
            </a:r>
            <a:r>
              <a:rPr lang="en-US" altLang="zh-CN" sz="2800" b="1"/>
              <a:t>.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365950E4-EB83-4184-AF47-A0C7A0B64109}"/>
              </a:ext>
            </a:extLst>
          </p:cNvPr>
          <p:cNvGrpSpPr>
            <a:grpSpLocks/>
          </p:cNvGrpSpPr>
          <p:nvPr/>
        </p:nvGrpSpPr>
        <p:grpSpPr bwMode="auto">
          <a:xfrm>
            <a:off x="5815013" y="1916113"/>
            <a:ext cx="2663825" cy="2197100"/>
            <a:chOff x="3663" y="1207"/>
            <a:chExt cx="1678" cy="1384"/>
          </a:xfrm>
        </p:grpSpPr>
        <p:sp>
          <p:nvSpPr>
            <p:cNvPr id="11283" name="Arc 95">
              <a:extLst>
                <a:ext uri="{FF2B5EF4-FFF2-40B4-BE49-F238E27FC236}">
                  <a16:creationId xmlns:a16="http://schemas.microsoft.com/office/drawing/2014/main" id="{0994FFC0-5D44-4C9D-89C8-71AC0E4C300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787" y="1480"/>
              <a:ext cx="1361" cy="947"/>
            </a:xfrm>
            <a:custGeom>
              <a:avLst/>
              <a:gdLst>
                <a:gd name="T0" fmla="*/ 0 w 21600"/>
                <a:gd name="T1" fmla="*/ 0 h 21571"/>
                <a:gd name="T2" fmla="*/ 0 w 21600"/>
                <a:gd name="T3" fmla="*/ 0 h 21571"/>
                <a:gd name="T4" fmla="*/ 0 w 21600"/>
                <a:gd name="T5" fmla="*/ 0 h 2157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71"/>
                <a:gd name="T11" fmla="*/ 21600 w 21600"/>
                <a:gd name="T12" fmla="*/ 21571 h 215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71" fill="none" extrusionOk="0">
                  <a:moveTo>
                    <a:pt x="1110" y="-1"/>
                  </a:moveTo>
                  <a:cubicBezTo>
                    <a:pt x="12592" y="590"/>
                    <a:pt x="21600" y="10073"/>
                    <a:pt x="21600" y="21571"/>
                  </a:cubicBezTo>
                </a:path>
                <a:path w="21600" h="21571" stroke="0" extrusionOk="0">
                  <a:moveTo>
                    <a:pt x="1110" y="-1"/>
                  </a:moveTo>
                  <a:cubicBezTo>
                    <a:pt x="12592" y="590"/>
                    <a:pt x="21600" y="10073"/>
                    <a:pt x="21600" y="21571"/>
                  </a:cubicBezTo>
                  <a:lnTo>
                    <a:pt x="0" y="21571"/>
                  </a:lnTo>
                  <a:lnTo>
                    <a:pt x="1110" y="-1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4" name="Text Box 110">
              <a:extLst>
                <a:ext uri="{FF2B5EF4-FFF2-40B4-BE49-F238E27FC236}">
                  <a16:creationId xmlns:a16="http://schemas.microsoft.com/office/drawing/2014/main" id="{F2D2CB94-9D21-4C6D-A71C-E1F4C38EC7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3" y="1207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FF3300"/>
                  </a:solidFill>
                </a:rPr>
                <a:t>M</a:t>
              </a:r>
            </a:p>
          </p:txBody>
        </p:sp>
        <p:sp>
          <p:nvSpPr>
            <p:cNvPr id="11285" name="Text Box 111">
              <a:extLst>
                <a:ext uri="{FF2B5EF4-FFF2-40B4-BE49-F238E27FC236}">
                  <a16:creationId xmlns:a16="http://schemas.microsoft.com/office/drawing/2014/main" id="{39AB63AD-18C1-4F2F-A4FD-04A74A8FB1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9" y="2341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FF3300"/>
                  </a:solidFill>
                </a:rPr>
                <a:t>N</a:t>
              </a:r>
            </a:p>
          </p:txBody>
        </p:sp>
      </p:grpSp>
      <p:sp>
        <p:nvSpPr>
          <p:cNvPr id="9346" name="Text Box 130">
            <a:extLst>
              <a:ext uri="{FF2B5EF4-FFF2-40B4-BE49-F238E27FC236}">
                <a16:creationId xmlns:a16="http://schemas.microsoft.com/office/drawing/2014/main" id="{4B875639-8A45-4844-A244-6388C79CE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924175"/>
            <a:ext cx="44196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将</a:t>
            </a:r>
            <a:r>
              <a:rPr lang="zh-CN" altLang="zh-CN" sz="2800" b="1"/>
              <a:t>所有与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无差别的点连接起来</a:t>
            </a:r>
            <a:r>
              <a:rPr lang="en-US" altLang="zh-CN" sz="2800" b="1"/>
              <a:t>, </a:t>
            </a:r>
            <a:r>
              <a:rPr lang="zh-CN" altLang="en-US" sz="2800" b="1"/>
              <a:t>得到一条</a:t>
            </a:r>
            <a:r>
              <a:rPr lang="zh-CN" altLang="en-US" sz="2800" b="1">
                <a:solidFill>
                  <a:srgbClr val="FF3300"/>
                </a:solidFill>
              </a:rPr>
              <a:t>无差别曲线</a:t>
            </a:r>
            <a:r>
              <a:rPr lang="en-US" altLang="zh-CN" sz="2800" b="1" i="1">
                <a:solidFill>
                  <a:srgbClr val="FF3300"/>
                </a:solidFill>
              </a:rPr>
              <a:t>MN.</a:t>
            </a:r>
            <a:endParaRPr lang="en-US" altLang="zh-CN" sz="2800" b="1"/>
          </a:p>
        </p:txBody>
      </p:sp>
      <p:sp>
        <p:nvSpPr>
          <p:cNvPr id="9347" name="Text Box 131">
            <a:extLst>
              <a:ext uri="{FF2B5EF4-FFF2-40B4-BE49-F238E27FC236}">
                <a16:creationId xmlns:a16="http://schemas.microsoft.com/office/drawing/2014/main" id="{DA549855-53EF-4021-B14B-69E4DDD4B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572000"/>
            <a:ext cx="88392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线上各点的满意度相同</a:t>
            </a:r>
            <a:r>
              <a:rPr lang="en-US" altLang="zh-CN" sz="2800" b="1"/>
              <a:t>, </a:t>
            </a:r>
            <a:r>
              <a:rPr lang="zh-CN" altLang="en-US" sz="2800" b="1"/>
              <a:t>线的形状反映对</a:t>
            </a:r>
            <a:r>
              <a:rPr lang="en-US" altLang="zh-CN" sz="2800" b="1" i="1"/>
              <a:t>X,Y</a:t>
            </a:r>
            <a:r>
              <a:rPr lang="zh-CN" altLang="en-US" sz="2800" b="1"/>
              <a:t>的偏爱程度</a:t>
            </a:r>
            <a:r>
              <a:rPr lang="en-US" altLang="zh-CN" sz="2800" b="1"/>
              <a:t>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2728445-BE50-4B2E-B52E-26430E52254F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1989138"/>
            <a:ext cx="3257550" cy="1905000"/>
            <a:chOff x="3504" y="255"/>
            <a:chExt cx="2052" cy="1200"/>
          </a:xfrm>
        </p:grpSpPr>
        <p:sp>
          <p:nvSpPr>
            <p:cNvPr id="11276" name="Text Box 113">
              <a:extLst>
                <a:ext uri="{FF2B5EF4-FFF2-40B4-BE49-F238E27FC236}">
                  <a16:creationId xmlns:a16="http://schemas.microsoft.com/office/drawing/2014/main" id="{5CE9E1D5-3E24-4844-AB64-6C937024C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2" y="1041"/>
              <a:ext cx="3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/>
                <a:t>N</a:t>
              </a:r>
              <a:r>
                <a:rPr lang="en-US" altLang="zh-CN" sz="1600" b="1" baseline="-25000"/>
                <a:t>1</a:t>
              </a:r>
              <a:endParaRPr lang="en-US" altLang="zh-CN" sz="1600" b="1"/>
            </a:p>
          </p:txBody>
        </p:sp>
        <p:sp>
          <p:nvSpPr>
            <p:cNvPr id="11277" name="Arc 92">
              <a:extLst>
                <a:ext uri="{FF2B5EF4-FFF2-40B4-BE49-F238E27FC236}">
                  <a16:creationId xmlns:a16="http://schemas.microsoft.com/office/drawing/2014/main" id="{240F7061-DD92-41EB-9998-F0283CFDB19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504" y="591"/>
              <a:ext cx="1009" cy="864"/>
            </a:xfrm>
            <a:custGeom>
              <a:avLst/>
              <a:gdLst>
                <a:gd name="T0" fmla="*/ 0 w 21600"/>
                <a:gd name="T1" fmla="*/ 0 h 24445"/>
                <a:gd name="T2" fmla="*/ 0 w 21600"/>
                <a:gd name="T3" fmla="*/ 0 h 24445"/>
                <a:gd name="T4" fmla="*/ 0 w 21600"/>
                <a:gd name="T5" fmla="*/ 0 h 2444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445"/>
                <a:gd name="T11" fmla="*/ 21600 w 21600"/>
                <a:gd name="T12" fmla="*/ 24445 h 244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445" fill="none" extrusionOk="0">
                  <a:moveTo>
                    <a:pt x="1420" y="-1"/>
                  </a:moveTo>
                  <a:cubicBezTo>
                    <a:pt x="12773" y="747"/>
                    <a:pt x="21600" y="10174"/>
                    <a:pt x="21600" y="21553"/>
                  </a:cubicBezTo>
                  <a:cubicBezTo>
                    <a:pt x="21600" y="22520"/>
                    <a:pt x="21535" y="23486"/>
                    <a:pt x="21405" y="24445"/>
                  </a:cubicBezTo>
                </a:path>
                <a:path w="21600" h="24445" stroke="0" extrusionOk="0">
                  <a:moveTo>
                    <a:pt x="1420" y="-1"/>
                  </a:moveTo>
                  <a:cubicBezTo>
                    <a:pt x="12773" y="747"/>
                    <a:pt x="21600" y="10174"/>
                    <a:pt x="21600" y="21553"/>
                  </a:cubicBezTo>
                  <a:cubicBezTo>
                    <a:pt x="21600" y="22520"/>
                    <a:pt x="21535" y="23486"/>
                    <a:pt x="21405" y="24445"/>
                  </a:cubicBezTo>
                  <a:lnTo>
                    <a:pt x="0" y="21553"/>
                  </a:lnTo>
                  <a:lnTo>
                    <a:pt x="1420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" name="Arc 96">
              <a:extLst>
                <a:ext uri="{FF2B5EF4-FFF2-40B4-BE49-F238E27FC236}">
                  <a16:creationId xmlns:a16="http://schemas.microsoft.com/office/drawing/2014/main" id="{B54A9039-11D8-4B6B-B994-B62EBA088D5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104" y="351"/>
              <a:ext cx="1080" cy="720"/>
            </a:xfrm>
            <a:custGeom>
              <a:avLst/>
              <a:gdLst>
                <a:gd name="T0" fmla="*/ 0 w 24304"/>
                <a:gd name="T1" fmla="*/ 0 h 21600"/>
                <a:gd name="T2" fmla="*/ 0 w 24304"/>
                <a:gd name="T3" fmla="*/ 0 h 21600"/>
                <a:gd name="T4" fmla="*/ 0 w 24304"/>
                <a:gd name="T5" fmla="*/ 0 h 21600"/>
                <a:gd name="T6" fmla="*/ 0 60000 65536"/>
                <a:gd name="T7" fmla="*/ 0 60000 65536"/>
                <a:gd name="T8" fmla="*/ 0 60000 65536"/>
                <a:gd name="T9" fmla="*/ 0 w 24304"/>
                <a:gd name="T10" fmla="*/ 0 h 21600"/>
                <a:gd name="T11" fmla="*/ 24304 w 2430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304" h="21600" fill="none" extrusionOk="0">
                  <a:moveTo>
                    <a:pt x="-1" y="169"/>
                  </a:moveTo>
                  <a:cubicBezTo>
                    <a:pt x="896" y="56"/>
                    <a:pt x="1799" y="-1"/>
                    <a:pt x="2704" y="0"/>
                  </a:cubicBezTo>
                  <a:cubicBezTo>
                    <a:pt x="14633" y="0"/>
                    <a:pt x="24304" y="9670"/>
                    <a:pt x="24304" y="21600"/>
                  </a:cubicBezTo>
                </a:path>
                <a:path w="24304" h="21600" stroke="0" extrusionOk="0">
                  <a:moveTo>
                    <a:pt x="-1" y="169"/>
                  </a:moveTo>
                  <a:cubicBezTo>
                    <a:pt x="896" y="56"/>
                    <a:pt x="1799" y="-1"/>
                    <a:pt x="2704" y="0"/>
                  </a:cubicBezTo>
                  <a:cubicBezTo>
                    <a:pt x="14633" y="0"/>
                    <a:pt x="24304" y="9670"/>
                    <a:pt x="24304" y="21600"/>
                  </a:cubicBezTo>
                  <a:lnTo>
                    <a:pt x="2704" y="21600"/>
                  </a:lnTo>
                  <a:lnTo>
                    <a:pt x="-1" y="16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" name="Arc 97">
              <a:extLst>
                <a:ext uri="{FF2B5EF4-FFF2-40B4-BE49-F238E27FC236}">
                  <a16:creationId xmlns:a16="http://schemas.microsoft.com/office/drawing/2014/main" id="{F1A10112-58E1-4199-A03F-81C16B09DFE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512" y="447"/>
              <a:ext cx="624" cy="43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" name="Text Box 112">
              <a:extLst>
                <a:ext uri="{FF2B5EF4-FFF2-40B4-BE49-F238E27FC236}">
                  <a16:creationId xmlns:a16="http://schemas.microsoft.com/office/drawing/2014/main" id="{AA282513-5E38-4985-ADDB-E12D372C36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55"/>
              <a:ext cx="5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/>
                <a:t>M</a:t>
              </a:r>
              <a:r>
                <a:rPr lang="en-US" altLang="zh-CN" sz="1600" b="1" baseline="-25000"/>
                <a:t>1</a:t>
              </a:r>
              <a:endParaRPr lang="en-US" altLang="zh-CN" sz="1600" b="1"/>
            </a:p>
          </p:txBody>
        </p:sp>
        <p:sp>
          <p:nvSpPr>
            <p:cNvPr id="11281" name="Text Box 116">
              <a:extLst>
                <a:ext uri="{FF2B5EF4-FFF2-40B4-BE49-F238E27FC236}">
                  <a16:creationId xmlns:a16="http://schemas.microsoft.com/office/drawing/2014/main" id="{86E348F5-0CD4-412D-9491-1052EB458F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7" y="799"/>
              <a:ext cx="8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p</a:t>
              </a:r>
              <a:r>
                <a:rPr lang="en-US" altLang="zh-CN" sz="2000" b="1" baseline="-25000"/>
                <a:t>3</a:t>
              </a:r>
              <a:r>
                <a:rPr lang="en-US" altLang="zh-CN" sz="2000" b="1"/>
                <a:t>(</a:t>
              </a:r>
              <a:r>
                <a:rPr lang="en-US" altLang="zh-CN" sz="2000" b="1" i="1"/>
                <a:t>x</a:t>
              </a:r>
              <a:r>
                <a:rPr lang="en-US" altLang="zh-CN" sz="2000" b="1" baseline="-25000"/>
                <a:t>3</a:t>
              </a:r>
              <a:r>
                <a:rPr lang="en-US" altLang="zh-CN" sz="2000" b="1"/>
                <a:t>,</a:t>
              </a:r>
              <a:r>
                <a:rPr lang="en-US" altLang="zh-CN" sz="2000" b="1" i="1"/>
                <a:t>y</a:t>
              </a:r>
              <a:r>
                <a:rPr lang="en-US" altLang="zh-CN" sz="2000" b="1" baseline="-25000"/>
                <a:t>3</a:t>
              </a:r>
              <a:r>
                <a:rPr lang="en-US" altLang="zh-CN" sz="2000" b="1"/>
                <a:t>)</a:t>
              </a:r>
            </a:p>
          </p:txBody>
        </p:sp>
        <p:sp>
          <p:nvSpPr>
            <p:cNvPr id="11282" name="Text Box 117">
              <a:extLst>
                <a:ext uri="{FF2B5EF4-FFF2-40B4-BE49-F238E27FC236}">
                  <a16:creationId xmlns:a16="http://schemas.microsoft.com/office/drawing/2014/main" id="{3A270A84-B215-4EEE-914C-FA66212A6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3" y="572"/>
              <a:ext cx="480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6000" b="1"/>
                <a:t>.</a:t>
              </a:r>
            </a:p>
          </p:txBody>
        </p:sp>
      </p:grpSp>
      <p:sp>
        <p:nvSpPr>
          <p:cNvPr id="9351" name="Text Box 135">
            <a:extLst>
              <a:ext uri="{FF2B5EF4-FFF2-40B4-BE49-F238E27FC236}">
                <a16:creationId xmlns:a16="http://schemas.microsoft.com/office/drawing/2014/main" id="{490DC504-5226-4775-A663-F1D2C251B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63" y="5157788"/>
            <a:ext cx="844708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比</a:t>
            </a:r>
            <a:r>
              <a:rPr lang="en-US" altLang="zh-CN" sz="2800" b="1" i="1"/>
              <a:t>MN</a:t>
            </a:r>
            <a:r>
              <a:rPr lang="zh-CN" altLang="zh-CN" sz="2800" b="1"/>
              <a:t>各点满意度更高的点如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3</a:t>
            </a:r>
            <a:r>
              <a:rPr lang="zh-CN" altLang="en-US" sz="2800" b="1"/>
              <a:t>，在另一条无差别曲线</a:t>
            </a:r>
            <a:r>
              <a:rPr lang="en-US" altLang="zh-CN" sz="2800" b="1" i="1"/>
              <a:t>M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N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上</a:t>
            </a:r>
            <a:r>
              <a:rPr lang="en-US" altLang="zh-CN" sz="2800" b="1"/>
              <a:t>, </a:t>
            </a:r>
            <a:r>
              <a:rPr lang="zh-CN" altLang="en-US" sz="2800" b="1"/>
              <a:t>于是形成一族无差别曲线（无数条）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11275" name="Object 5">
            <a:extLst>
              <a:ext uri="{FF2B5EF4-FFF2-40B4-BE49-F238E27FC236}">
                <a16:creationId xmlns:a16="http://schemas.microsoft.com/office/drawing/2014/main" id="{D714C369-FBAF-459E-AA77-5627B0C44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72450" y="549275"/>
          <a:ext cx="63023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1" name="Clip" r:id="rId3" imgW="3886200" imgH="3944938" progId="MS_ClipArt_Gallery.2">
                  <p:embed/>
                </p:oleObj>
              </mc:Choice>
              <mc:Fallback>
                <p:oleObj name="Clip" r:id="rId3" imgW="3886200" imgH="3944938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50" y="549275"/>
                        <a:ext cx="63023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9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37" grpId="0" animBg="1"/>
      <p:bldP spid="9343" grpId="0" animBg="1" autoUpdateAnimBg="0"/>
      <p:bldP spid="9346" grpId="0"/>
      <p:bldP spid="9347" grpId="0" animBg="1" autoUpdateAnimBg="0"/>
      <p:bldP spid="9351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7">
            <a:extLst>
              <a:ext uri="{FF2B5EF4-FFF2-40B4-BE49-F238E27FC236}">
                <a16:creationId xmlns:a16="http://schemas.microsoft.com/office/drawing/2014/main" id="{BD23DF55-0C82-4638-9F57-F6D26002F93B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219200"/>
            <a:ext cx="1133475" cy="1387475"/>
            <a:chOff x="2352" y="3446"/>
            <a:chExt cx="714" cy="874"/>
          </a:xfrm>
        </p:grpSpPr>
        <p:grpSp>
          <p:nvGrpSpPr>
            <p:cNvPr id="12324" name="Group 68">
              <a:extLst>
                <a:ext uri="{FF2B5EF4-FFF2-40B4-BE49-F238E27FC236}">
                  <a16:creationId xmlns:a16="http://schemas.microsoft.com/office/drawing/2014/main" id="{1A4A5135-E8BA-4528-B60F-BC6C35273C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3638"/>
              <a:ext cx="552" cy="682"/>
              <a:chOff x="3366" y="912"/>
              <a:chExt cx="552" cy="682"/>
            </a:xfrm>
          </p:grpSpPr>
          <p:sp>
            <p:nvSpPr>
              <p:cNvPr id="12327" name="Line 23">
                <a:extLst>
                  <a:ext uri="{FF2B5EF4-FFF2-40B4-BE49-F238E27FC236}">
                    <a16:creationId xmlns:a16="http://schemas.microsoft.com/office/drawing/2014/main" id="{02855635-AB55-4872-A783-F64389833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0" y="912"/>
                <a:ext cx="40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8" name="Line 24">
                <a:extLst>
                  <a:ext uri="{FF2B5EF4-FFF2-40B4-BE49-F238E27FC236}">
                    <a16:creationId xmlns:a16="http://schemas.microsoft.com/office/drawing/2014/main" id="{044046A2-0213-4030-9BC6-5E341ACB4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0" y="912"/>
                <a:ext cx="1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9" name="Line 25">
                <a:extLst>
                  <a:ext uri="{FF2B5EF4-FFF2-40B4-BE49-F238E27FC236}">
                    <a16:creationId xmlns:a16="http://schemas.microsoft.com/office/drawing/2014/main" id="{E4B58455-4FD9-4CD4-B46A-870992CD18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10" y="1440"/>
                <a:ext cx="408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2330" name="Object 37">
                <a:extLst>
                  <a:ext uri="{FF2B5EF4-FFF2-40B4-BE49-F238E27FC236}">
                    <a16:creationId xmlns:a16="http://schemas.microsoft.com/office/drawing/2014/main" id="{30FE1568-E0B9-46A8-AC71-469D9A23D94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66" y="1143"/>
              <a:ext cx="169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45" name="公式" r:id="rId3" imgW="253890" imgH="241195" progId="Equation.3">
                      <p:embed/>
                    </p:oleObj>
                  </mc:Choice>
                  <mc:Fallback>
                    <p:oleObj name="公式" r:id="rId3" imgW="253890" imgH="241195" progId="Equation.3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6" y="1143"/>
                            <a:ext cx="169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31" name="Object 39">
                <a:extLst>
                  <a:ext uri="{FF2B5EF4-FFF2-40B4-BE49-F238E27FC236}">
                    <a16:creationId xmlns:a16="http://schemas.microsoft.com/office/drawing/2014/main" id="{AE2CA948-99F3-4F18-B2D0-30C18161F58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6" y="1430"/>
              <a:ext cx="204" cy="1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46" name="公式" r:id="rId5" imgW="253780" imgH="203024" progId="Equation.3">
                      <p:embed/>
                    </p:oleObj>
                  </mc:Choice>
                  <mc:Fallback>
                    <p:oleObj name="公式" r:id="rId5" imgW="253780" imgH="203024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6" y="1430"/>
                            <a:ext cx="204" cy="1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325" name="Text Box 32">
              <a:extLst>
                <a:ext uri="{FF2B5EF4-FFF2-40B4-BE49-F238E27FC236}">
                  <a16:creationId xmlns:a16="http://schemas.microsoft.com/office/drawing/2014/main" id="{6036CE87-271E-4FF6-8124-004B4C847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743"/>
              <a:ext cx="2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p</a:t>
              </a:r>
              <a:r>
                <a:rPr lang="en-US" altLang="zh-CN" sz="2000" b="1" baseline="-25000"/>
                <a:t>1</a:t>
              </a:r>
              <a:endParaRPr lang="en-US" altLang="zh-CN" sz="2000" b="1"/>
            </a:p>
          </p:txBody>
        </p:sp>
        <p:sp>
          <p:nvSpPr>
            <p:cNvPr id="12326" name="Text Box 34">
              <a:extLst>
                <a:ext uri="{FF2B5EF4-FFF2-40B4-BE49-F238E27FC236}">
                  <a16:creationId xmlns:a16="http://schemas.microsoft.com/office/drawing/2014/main" id="{C13FBE35-3FAC-49F5-A273-7A67A4A10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446"/>
              <a:ext cx="288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6000" b="1"/>
                <a:t>.</a:t>
              </a:r>
            </a:p>
          </p:txBody>
        </p:sp>
      </p:grpSp>
      <p:grpSp>
        <p:nvGrpSpPr>
          <p:cNvPr id="4" name="Group 98">
            <a:extLst>
              <a:ext uri="{FF2B5EF4-FFF2-40B4-BE49-F238E27FC236}">
                <a16:creationId xmlns:a16="http://schemas.microsoft.com/office/drawing/2014/main" id="{E023F5A8-DAAE-4766-9A81-9F0D18DC206F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209800"/>
            <a:ext cx="1357313" cy="1143000"/>
            <a:chOff x="2688" y="1248"/>
            <a:chExt cx="855" cy="720"/>
          </a:xfrm>
        </p:grpSpPr>
        <p:grpSp>
          <p:nvGrpSpPr>
            <p:cNvPr id="12316" name="Group 76">
              <a:extLst>
                <a:ext uri="{FF2B5EF4-FFF2-40B4-BE49-F238E27FC236}">
                  <a16:creationId xmlns:a16="http://schemas.microsoft.com/office/drawing/2014/main" id="{28EA1D82-B46D-4F3E-B369-BE747AADE4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680"/>
              <a:ext cx="855" cy="288"/>
              <a:chOff x="4080" y="1728"/>
              <a:chExt cx="855" cy="288"/>
            </a:xfrm>
          </p:grpSpPr>
          <p:sp>
            <p:nvSpPr>
              <p:cNvPr id="12319" name="Line 26">
                <a:extLst>
                  <a:ext uri="{FF2B5EF4-FFF2-40B4-BE49-F238E27FC236}">
                    <a16:creationId xmlns:a16="http://schemas.microsoft.com/office/drawing/2014/main" id="{1F24469D-BBCF-424E-AE6B-E1F85458E7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66" y="1728"/>
                <a:ext cx="621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0" name="Line 27">
                <a:extLst>
                  <a:ext uri="{FF2B5EF4-FFF2-40B4-BE49-F238E27FC236}">
                    <a16:creationId xmlns:a16="http://schemas.microsoft.com/office/drawing/2014/main" id="{3E9B902F-A49E-419F-A38F-CCC75FF2D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72" y="1745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21" name="Line 28">
                <a:extLst>
                  <a:ext uri="{FF2B5EF4-FFF2-40B4-BE49-F238E27FC236}">
                    <a16:creationId xmlns:a16="http://schemas.microsoft.com/office/drawing/2014/main" id="{75541BCC-EDD2-4A7B-9924-74F648AF1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889"/>
                <a:ext cx="663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2322" name="Object 36">
                <a:extLst>
                  <a:ext uri="{FF2B5EF4-FFF2-40B4-BE49-F238E27FC236}">
                    <a16:creationId xmlns:a16="http://schemas.microsoft.com/office/drawing/2014/main" id="{6FE988A6-E1BE-4F95-8CB9-98ED6DE2522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0" y="1736"/>
              <a:ext cx="169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47" name="公式" r:id="rId7" imgW="253890" imgH="241195" progId="Equation.3">
                      <p:embed/>
                    </p:oleObj>
                  </mc:Choice>
                  <mc:Fallback>
                    <p:oleObj name="公式" r:id="rId7" imgW="253890" imgH="241195" progId="Equation.3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1736"/>
                            <a:ext cx="169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23" name="Object 38">
                <a:extLst>
                  <a:ext uri="{FF2B5EF4-FFF2-40B4-BE49-F238E27FC236}">
                    <a16:creationId xmlns:a16="http://schemas.microsoft.com/office/drawing/2014/main" id="{F00EBF80-0B51-4081-9BCE-0204919CD8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16" y="1881"/>
              <a:ext cx="169" cy="1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348" name="公式" r:id="rId8" imgW="253780" imgH="203024" progId="Equation.3">
                      <p:embed/>
                    </p:oleObj>
                  </mc:Choice>
                  <mc:Fallback>
                    <p:oleObj name="公式" r:id="rId8" imgW="253780" imgH="203024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1881"/>
                            <a:ext cx="169" cy="1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317" name="Text Box 33">
              <a:extLst>
                <a:ext uri="{FF2B5EF4-FFF2-40B4-BE49-F238E27FC236}">
                  <a16:creationId xmlns:a16="http://schemas.microsoft.com/office/drawing/2014/main" id="{48D9C374-5AD3-4BEC-8E42-CFF6548163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488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p</a:t>
              </a:r>
              <a:r>
                <a:rPr lang="en-US" altLang="zh-CN" sz="2000" b="1" baseline="-25000"/>
                <a:t>2</a:t>
              </a:r>
              <a:endParaRPr lang="en-US" altLang="zh-CN" sz="2000" b="1"/>
            </a:p>
          </p:txBody>
        </p:sp>
        <p:sp>
          <p:nvSpPr>
            <p:cNvPr id="12318" name="Text Box 35">
              <a:extLst>
                <a:ext uri="{FF2B5EF4-FFF2-40B4-BE49-F238E27FC236}">
                  <a16:creationId xmlns:a16="http://schemas.microsoft.com/office/drawing/2014/main" id="{F362722F-32CA-4399-A900-0C86145B3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48"/>
              <a:ext cx="384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6000" b="1"/>
                <a:t>.</a:t>
              </a:r>
            </a:p>
          </p:txBody>
        </p:sp>
      </p:grpSp>
      <p:grpSp>
        <p:nvGrpSpPr>
          <p:cNvPr id="6" name="Group 80">
            <a:extLst>
              <a:ext uri="{FF2B5EF4-FFF2-40B4-BE49-F238E27FC236}">
                <a16:creationId xmlns:a16="http://schemas.microsoft.com/office/drawing/2014/main" id="{54030A66-3D5E-4CB1-B357-01BD5C300500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295400"/>
            <a:ext cx="1905000" cy="1219200"/>
            <a:chOff x="4224" y="480"/>
            <a:chExt cx="1200" cy="768"/>
          </a:xfrm>
        </p:grpSpPr>
        <p:sp>
          <p:nvSpPr>
            <p:cNvPr id="12314" name="Line 73">
              <a:extLst>
                <a:ext uri="{FF2B5EF4-FFF2-40B4-BE49-F238E27FC236}">
                  <a16:creationId xmlns:a16="http://schemas.microsoft.com/office/drawing/2014/main" id="{E8D15C71-64F9-4BE9-A7E9-EDD2CD0FF7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576"/>
              <a:ext cx="72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5" name="Text Box 74">
              <a:extLst>
                <a:ext uri="{FF2B5EF4-FFF2-40B4-BE49-F238E27FC236}">
                  <a16:creationId xmlns:a16="http://schemas.microsoft.com/office/drawing/2014/main" id="{8853E0D1-0E40-4445-B706-CD11085F1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480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c</a:t>
              </a:r>
              <a:r>
                <a:rPr lang="en-US" altLang="zh-CN" sz="2800" b="1" baseline="-25000"/>
                <a:t>1</a:t>
              </a:r>
              <a:r>
                <a:rPr lang="en-US" altLang="zh-CN" sz="2800" b="1">
                  <a:sym typeface="Symbol" panose="05050102010706020507" pitchFamily="18" charset="2"/>
                </a:rPr>
                <a:t></a:t>
              </a:r>
              <a:endParaRPr lang="en-US" altLang="zh-CN" sz="2800" b="1"/>
            </a:p>
          </p:txBody>
        </p:sp>
      </p:grpSp>
      <p:grpSp>
        <p:nvGrpSpPr>
          <p:cNvPr id="7" name="Group 79">
            <a:extLst>
              <a:ext uri="{FF2B5EF4-FFF2-40B4-BE49-F238E27FC236}">
                <a16:creationId xmlns:a16="http://schemas.microsoft.com/office/drawing/2014/main" id="{859019D3-52D3-453C-8A0B-61AF5A294B56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57200"/>
            <a:ext cx="4105275" cy="3276600"/>
            <a:chOff x="3078" y="192"/>
            <a:chExt cx="2586" cy="2064"/>
          </a:xfrm>
        </p:grpSpPr>
        <p:sp>
          <p:nvSpPr>
            <p:cNvPr id="12305" name="Line 20">
              <a:extLst>
                <a:ext uri="{FF2B5EF4-FFF2-40B4-BE49-F238E27FC236}">
                  <a16:creationId xmlns:a16="http://schemas.microsoft.com/office/drawing/2014/main" id="{DD466D16-CD73-4D10-98E6-A73FCEDC8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0" y="2016"/>
              <a:ext cx="224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6" name="Line 21">
              <a:extLst>
                <a:ext uri="{FF2B5EF4-FFF2-40B4-BE49-F238E27FC236}">
                  <a16:creationId xmlns:a16="http://schemas.microsoft.com/office/drawing/2014/main" id="{070DB7FB-B773-4B65-962E-14F5CCDA5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4" y="288"/>
              <a:ext cx="6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7" name="Arc 22">
              <a:extLst>
                <a:ext uri="{FF2B5EF4-FFF2-40B4-BE49-F238E27FC236}">
                  <a16:creationId xmlns:a16="http://schemas.microsoft.com/office/drawing/2014/main" id="{1706E49F-3F1E-4E3A-9AFE-B75FDC966F5F}"/>
                </a:ext>
              </a:extLst>
            </p:cNvPr>
            <p:cNvSpPr>
              <a:spLocks/>
            </p:cNvSpPr>
            <p:nvPr/>
          </p:nvSpPr>
          <p:spPr bwMode="auto">
            <a:xfrm rot="-156338" flipH="1" flipV="1">
              <a:off x="3562" y="548"/>
              <a:ext cx="1632" cy="1342"/>
            </a:xfrm>
            <a:custGeom>
              <a:avLst/>
              <a:gdLst>
                <a:gd name="T0" fmla="*/ 0 w 21597"/>
                <a:gd name="T1" fmla="*/ 0 h 21566"/>
                <a:gd name="T2" fmla="*/ 1 w 21597"/>
                <a:gd name="T3" fmla="*/ 0 h 21566"/>
                <a:gd name="T4" fmla="*/ 0 w 21597"/>
                <a:gd name="T5" fmla="*/ 0 h 21566"/>
                <a:gd name="T6" fmla="*/ 0 60000 65536"/>
                <a:gd name="T7" fmla="*/ 0 60000 65536"/>
                <a:gd name="T8" fmla="*/ 0 60000 65536"/>
                <a:gd name="T9" fmla="*/ 0 w 21597"/>
                <a:gd name="T10" fmla="*/ 0 h 21566"/>
                <a:gd name="T11" fmla="*/ 21597 w 21597"/>
                <a:gd name="T12" fmla="*/ 21566 h 215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7" h="21566" fill="none" extrusionOk="0">
                  <a:moveTo>
                    <a:pt x="1207" y="-1"/>
                  </a:moveTo>
                  <a:cubicBezTo>
                    <a:pt x="12515" y="632"/>
                    <a:pt x="21414" y="9893"/>
                    <a:pt x="21597" y="21217"/>
                  </a:cubicBezTo>
                </a:path>
                <a:path w="21597" h="21566" stroke="0" extrusionOk="0">
                  <a:moveTo>
                    <a:pt x="1207" y="-1"/>
                  </a:moveTo>
                  <a:cubicBezTo>
                    <a:pt x="12515" y="632"/>
                    <a:pt x="21414" y="9893"/>
                    <a:pt x="21597" y="21217"/>
                  </a:cubicBezTo>
                  <a:lnTo>
                    <a:pt x="0" y="21566"/>
                  </a:lnTo>
                  <a:lnTo>
                    <a:pt x="120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8" name="Text Box 29">
              <a:extLst>
                <a:ext uri="{FF2B5EF4-FFF2-40B4-BE49-F238E27FC236}">
                  <a16:creationId xmlns:a16="http://schemas.microsoft.com/office/drawing/2014/main" id="{F2F93693-C99F-4280-B520-E6BE18D71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" y="192"/>
              <a:ext cx="6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y</a:t>
              </a:r>
              <a:endParaRPr lang="en-US" altLang="zh-CN" sz="2000" b="1"/>
            </a:p>
          </p:txBody>
        </p:sp>
        <p:sp>
          <p:nvSpPr>
            <p:cNvPr id="12309" name="Text Box 30">
              <a:extLst>
                <a:ext uri="{FF2B5EF4-FFF2-40B4-BE49-F238E27FC236}">
                  <a16:creationId xmlns:a16="http://schemas.microsoft.com/office/drawing/2014/main" id="{382A1ADE-5825-4E4D-B3A6-90BA53D81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6" y="1910"/>
              <a:ext cx="6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O</a:t>
              </a:r>
            </a:p>
          </p:txBody>
        </p:sp>
        <p:sp>
          <p:nvSpPr>
            <p:cNvPr id="12310" name="Text Box 31">
              <a:extLst>
                <a:ext uri="{FF2B5EF4-FFF2-40B4-BE49-F238E27FC236}">
                  <a16:creationId xmlns:a16="http://schemas.microsoft.com/office/drawing/2014/main" id="{2697C54D-B938-4AA5-9B6D-23B04548F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" y="1968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endParaRPr lang="en-US" altLang="zh-CN" b="1"/>
            </a:p>
          </p:txBody>
        </p:sp>
        <p:sp>
          <p:nvSpPr>
            <p:cNvPr id="12311" name="Arc 71">
              <a:extLst>
                <a:ext uri="{FF2B5EF4-FFF2-40B4-BE49-F238E27FC236}">
                  <a16:creationId xmlns:a16="http://schemas.microsoft.com/office/drawing/2014/main" id="{0EB9D393-A22B-495A-AA74-7CBC024F354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984" y="672"/>
              <a:ext cx="1056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2" name="Arc 72">
              <a:extLst>
                <a:ext uri="{FF2B5EF4-FFF2-40B4-BE49-F238E27FC236}">
                  <a16:creationId xmlns:a16="http://schemas.microsoft.com/office/drawing/2014/main" id="{B381DD18-7957-4200-A026-48587BD42A48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320" y="623"/>
              <a:ext cx="720" cy="577"/>
            </a:xfrm>
            <a:custGeom>
              <a:avLst/>
              <a:gdLst>
                <a:gd name="T0" fmla="*/ 0 w 21600"/>
                <a:gd name="T1" fmla="*/ 0 h 21468"/>
                <a:gd name="T2" fmla="*/ 0 w 21600"/>
                <a:gd name="T3" fmla="*/ 0 h 21468"/>
                <a:gd name="T4" fmla="*/ 0 w 21600"/>
                <a:gd name="T5" fmla="*/ 0 h 2146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468"/>
                <a:gd name="T11" fmla="*/ 21600 w 21600"/>
                <a:gd name="T12" fmla="*/ 21468 h 214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468" fill="none" extrusionOk="0">
                  <a:moveTo>
                    <a:pt x="2384" y="-1"/>
                  </a:moveTo>
                  <a:cubicBezTo>
                    <a:pt x="13323" y="1214"/>
                    <a:pt x="21600" y="10461"/>
                    <a:pt x="21600" y="21468"/>
                  </a:cubicBezTo>
                </a:path>
                <a:path w="21600" h="21468" stroke="0" extrusionOk="0">
                  <a:moveTo>
                    <a:pt x="2384" y="-1"/>
                  </a:moveTo>
                  <a:cubicBezTo>
                    <a:pt x="13323" y="1214"/>
                    <a:pt x="21600" y="10461"/>
                    <a:pt x="21600" y="21468"/>
                  </a:cubicBezTo>
                  <a:lnTo>
                    <a:pt x="0" y="21468"/>
                  </a:lnTo>
                  <a:lnTo>
                    <a:pt x="2384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3" name="Text Box 78">
              <a:extLst>
                <a:ext uri="{FF2B5EF4-FFF2-40B4-BE49-F238E27FC236}">
                  <a16:creationId xmlns:a16="http://schemas.microsoft.com/office/drawing/2014/main" id="{82FA7735-30C2-4D40-B010-38EA194A12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36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f</a:t>
              </a:r>
              <a:r>
                <a:rPr lang="en-US" altLang="zh-CN" b="1"/>
                <a:t>(</a:t>
              </a:r>
              <a:r>
                <a:rPr lang="en-US" altLang="zh-CN" b="1" i="1"/>
                <a:t>x,y</a:t>
              </a:r>
              <a:r>
                <a:rPr lang="en-US" altLang="zh-CN" b="1"/>
                <a:t>)=</a:t>
              </a:r>
              <a:r>
                <a:rPr lang="en-US" altLang="zh-CN" b="1" i="1"/>
                <a:t>c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</p:grpSp>
      <p:sp>
        <p:nvSpPr>
          <p:cNvPr id="10326" name="Text Box 86">
            <a:extLst>
              <a:ext uri="{FF2B5EF4-FFF2-40B4-BE49-F238E27FC236}">
                <a16:creationId xmlns:a16="http://schemas.microsoft.com/office/drawing/2014/main" id="{D159EA99-CD95-4BFD-AC71-9F1A337D1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054350"/>
            <a:ext cx="3759200" cy="519113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无差别曲线族的性质：</a:t>
            </a:r>
          </a:p>
        </p:txBody>
      </p:sp>
      <p:sp>
        <p:nvSpPr>
          <p:cNvPr id="10327" name="Text Box 87">
            <a:extLst>
              <a:ext uri="{FF2B5EF4-FFF2-40B4-BE49-F238E27FC236}">
                <a16:creationId xmlns:a16="http://schemas.microsoft.com/office/drawing/2014/main" id="{E14ABB06-6AB9-4215-9594-3D47CCF70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" y="3733800"/>
            <a:ext cx="35814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单调减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zh-CN" altLang="en-US" sz="2800" b="1"/>
              <a:t>增加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zh-CN" altLang="en-US" sz="2800" b="1"/>
              <a:t>减小</a:t>
            </a:r>
            <a:r>
              <a:rPr lang="en-US" altLang="zh-CN" sz="2800" b="1"/>
              <a:t>)</a:t>
            </a:r>
          </a:p>
        </p:txBody>
      </p:sp>
      <p:sp>
        <p:nvSpPr>
          <p:cNvPr id="10328" name="Text Box 88">
            <a:extLst>
              <a:ext uri="{FF2B5EF4-FFF2-40B4-BE49-F238E27FC236}">
                <a16:creationId xmlns:a16="http://schemas.microsoft.com/office/drawing/2014/main" id="{F1434724-31E3-4B59-8FFB-66EBB773E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5088" y="3733800"/>
            <a:ext cx="3001962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下凸</a:t>
            </a:r>
            <a:r>
              <a:rPr lang="en-US" altLang="zh-CN" sz="2800" b="1"/>
              <a:t>(</a:t>
            </a:r>
            <a:r>
              <a:rPr lang="zh-CN" altLang="en-US" sz="2800" b="1"/>
              <a:t>凸向原点</a:t>
            </a:r>
            <a:r>
              <a:rPr lang="en-US" altLang="zh-CN" sz="2800" b="1"/>
              <a:t>)</a:t>
            </a:r>
          </a:p>
        </p:txBody>
      </p:sp>
      <p:sp>
        <p:nvSpPr>
          <p:cNvPr id="10329" name="Text Box 89">
            <a:extLst>
              <a:ext uri="{FF2B5EF4-FFF2-40B4-BE49-F238E27FC236}">
                <a16:creationId xmlns:a16="http://schemas.microsoft.com/office/drawing/2014/main" id="{8579EAE9-B04E-4CF3-9F22-BDD990F75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3733800"/>
            <a:ext cx="205105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互不相交</a:t>
            </a:r>
          </a:p>
        </p:txBody>
      </p:sp>
      <p:sp>
        <p:nvSpPr>
          <p:cNvPr id="10330" name="Text Box 90">
            <a:extLst>
              <a:ext uri="{FF2B5EF4-FFF2-40B4-BE49-F238E27FC236}">
                <a16:creationId xmlns:a16="http://schemas.microsoft.com/office/drawing/2014/main" id="{F1AD438D-01DD-421C-BFA1-2814C7996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7225"/>
            <a:ext cx="3827463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在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点占有</a:t>
            </a:r>
            <a:r>
              <a:rPr lang="en-US" altLang="zh-CN" sz="2800" b="1" i="1"/>
              <a:t>x</a:t>
            </a:r>
            <a:r>
              <a:rPr lang="zh-CN" altLang="en-US" sz="2800" b="1"/>
              <a:t>少、</a:t>
            </a:r>
            <a:r>
              <a:rPr lang="en-US" altLang="zh-CN" sz="2800" b="1" i="1"/>
              <a:t>y</a:t>
            </a:r>
            <a:r>
              <a:rPr lang="zh-CN" altLang="en-US" sz="2800" b="1"/>
              <a:t>多，宁愿以较多的</a:t>
            </a:r>
            <a:r>
              <a:rPr lang="zh-CN" altLang="en-US" sz="2800" b="1">
                <a:sym typeface="Symbol" panose="05050102010706020507" pitchFamily="18" charset="2"/>
              </a:rPr>
              <a:t> </a:t>
            </a:r>
            <a:r>
              <a:rPr lang="en-US" altLang="zh-CN" sz="2800" b="1" i="1">
                <a:sym typeface="Symbol" panose="05050102010706020507" pitchFamily="18" charset="2"/>
              </a:rPr>
              <a:t>y</a:t>
            </a:r>
            <a:r>
              <a:rPr lang="zh-CN" altLang="en-US" sz="2800" b="1">
                <a:sym typeface="Symbol" panose="05050102010706020507" pitchFamily="18" charset="2"/>
              </a:rPr>
              <a:t>换取较少的 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en-US" altLang="zh-CN" sz="2800" b="1">
                <a:sym typeface="Symbol" panose="05050102010706020507" pitchFamily="18" charset="2"/>
              </a:rPr>
              <a:t>;</a:t>
            </a:r>
          </a:p>
        </p:txBody>
      </p:sp>
      <p:sp>
        <p:nvSpPr>
          <p:cNvPr id="10334" name="Text Box 94">
            <a:extLst>
              <a:ext uri="{FF2B5EF4-FFF2-40B4-BE49-F238E27FC236}">
                <a16:creationId xmlns:a16="http://schemas.microsoft.com/office/drawing/2014/main" id="{89FF7B95-FB5B-4BA9-9AD2-6A85A2A25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4437063"/>
            <a:ext cx="374015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在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点占有</a:t>
            </a:r>
            <a:r>
              <a:rPr lang="en-US" altLang="zh-CN" sz="2800" b="1" i="1"/>
              <a:t>y</a:t>
            </a:r>
            <a:r>
              <a:rPr lang="zh-CN" altLang="en-US" sz="2800" b="1"/>
              <a:t>少、</a:t>
            </a:r>
            <a:r>
              <a:rPr lang="en-US" altLang="zh-CN" sz="2800" b="1" i="1"/>
              <a:t>x</a:t>
            </a:r>
            <a:r>
              <a:rPr lang="zh-CN" altLang="en-US" sz="2800" b="1"/>
              <a:t>多，就要以较多的</a:t>
            </a:r>
            <a:r>
              <a:rPr lang="zh-CN" altLang="en-US" sz="2800" b="1">
                <a:sym typeface="Symbol" panose="05050102010706020507" pitchFamily="18" charset="2"/>
              </a:rPr>
              <a:t></a:t>
            </a:r>
            <a:r>
              <a:rPr lang="zh-CN" altLang="en-US" sz="2800" b="1" i="1"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zh-CN" altLang="en-US" sz="2800" b="1">
                <a:sym typeface="Symbol" panose="05050102010706020507" pitchFamily="18" charset="2"/>
              </a:rPr>
              <a:t>换取较少的 </a:t>
            </a:r>
            <a:r>
              <a:rPr lang="en-US" altLang="zh-CN" sz="2800" b="1" i="1">
                <a:sym typeface="Symbol" panose="05050102010706020507" pitchFamily="18" charset="2"/>
              </a:rPr>
              <a:t>y</a:t>
            </a:r>
            <a:r>
              <a:rPr lang="en-US" altLang="zh-CN" sz="2800" b="1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0317" name="Text Box 77">
            <a:extLst>
              <a:ext uri="{FF2B5EF4-FFF2-40B4-BE49-F238E27FC236}">
                <a16:creationId xmlns:a16="http://schemas.microsoft.com/office/drawing/2014/main" id="{7F53F56C-6985-420C-B8B7-002708456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96963"/>
            <a:ext cx="38862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甲的无差别曲线族记作</a:t>
            </a:r>
          </a:p>
        </p:txBody>
      </p:sp>
      <p:sp>
        <p:nvSpPr>
          <p:cNvPr id="10323" name="Text Box 83">
            <a:extLst>
              <a:ext uri="{FF2B5EF4-FFF2-40B4-BE49-F238E27FC236}">
                <a16:creationId xmlns:a16="http://schemas.microsoft.com/office/drawing/2014/main" id="{B1373CDD-8666-4D29-B161-3CF68771E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5895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x,y</a:t>
            </a:r>
            <a:r>
              <a:rPr lang="en-US" altLang="zh-CN" sz="2800" b="1"/>
              <a:t>)=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1</a:t>
            </a:r>
            <a:endParaRPr lang="en-US" altLang="zh-CN" sz="2800" b="1"/>
          </a:p>
        </p:txBody>
      </p:sp>
      <p:sp>
        <p:nvSpPr>
          <p:cNvPr id="10324" name="Text Box 84">
            <a:extLst>
              <a:ext uri="{FF2B5EF4-FFF2-40B4-BE49-F238E27FC236}">
                <a16:creationId xmlns:a16="http://schemas.microsoft.com/office/drawing/2014/main" id="{558A30AE-2AA2-4366-BBA8-8854C7F9D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75895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c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~</a:t>
            </a:r>
            <a:r>
              <a:rPr lang="zh-CN" altLang="zh-CN" sz="2800" b="1"/>
              <a:t>满意度</a:t>
            </a:r>
            <a:endParaRPr lang="zh-CN" altLang="en-US" sz="2800" b="1"/>
          </a:p>
        </p:txBody>
      </p:sp>
      <p:sp>
        <p:nvSpPr>
          <p:cNvPr id="10335" name="Text Box 95">
            <a:extLst>
              <a:ext uri="{FF2B5EF4-FFF2-40B4-BE49-F238E27FC236}">
                <a16:creationId xmlns:a16="http://schemas.microsoft.com/office/drawing/2014/main" id="{4767F4B3-D584-422B-9B67-9A4898FF1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406650"/>
            <a:ext cx="3457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（</a:t>
            </a:r>
            <a:r>
              <a:rPr lang="en-US" altLang="zh-CN" sz="2800" b="1" i="1"/>
              <a:t>f </a:t>
            </a:r>
            <a:r>
              <a:rPr lang="en-US" altLang="zh-CN" sz="2800" b="1"/>
              <a:t>~</a:t>
            </a:r>
            <a:r>
              <a:rPr lang="zh-CN" altLang="en-US" sz="2800" b="1"/>
              <a:t>等满意度曲线）</a:t>
            </a:r>
          </a:p>
        </p:txBody>
      </p:sp>
      <p:sp>
        <p:nvSpPr>
          <p:cNvPr id="12304" name="Text Box 99">
            <a:extLst>
              <a:ext uri="{FF2B5EF4-FFF2-40B4-BE49-F238E27FC236}">
                <a16:creationId xmlns:a16="http://schemas.microsoft.com/office/drawing/2014/main" id="{83D01E43-F55D-42D5-8D53-82B48C7F6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61963"/>
            <a:ext cx="3048000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甲的无差别曲线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000"/>
                                        <p:tgtEl>
                                          <p:spTgt spid="10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1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10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10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0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0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1000"/>
                                        <p:tgtEl>
                                          <p:spTgt spid="10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1" dur="1000"/>
                                        <p:tgtEl>
                                          <p:spTgt spid="10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6" grpId="0" animBg="1" autoUpdateAnimBg="0"/>
      <p:bldP spid="10327" grpId="0" animBg="1" autoUpdateAnimBg="0"/>
      <p:bldP spid="10328" grpId="0" animBg="1" autoUpdateAnimBg="0"/>
      <p:bldP spid="10329" grpId="0" animBg="1" autoUpdateAnimBg="0"/>
      <p:bldP spid="10330" grpId="0" animBg="1" autoUpdateAnimBg="0"/>
      <p:bldP spid="10334" grpId="0" animBg="1" autoUpdateAnimBg="0"/>
      <p:bldP spid="10317" grpId="0" animBg="1" autoUpdateAnimBg="0"/>
      <p:bldP spid="10323" grpId="0" animBg="1" autoUpdateAnimBg="0"/>
      <p:bldP spid="10324" grpId="0" animBg="1" autoUpdateAnimBg="0"/>
      <p:bldP spid="10335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1">
            <a:extLst>
              <a:ext uri="{FF2B5EF4-FFF2-40B4-BE49-F238E27FC236}">
                <a16:creationId xmlns:a16="http://schemas.microsoft.com/office/drawing/2014/main" id="{937534A2-AAE7-4016-A766-58F505B4C766}"/>
              </a:ext>
            </a:extLst>
          </p:cNvPr>
          <p:cNvGrpSpPr>
            <a:grpSpLocks/>
          </p:cNvGrpSpPr>
          <p:nvPr/>
        </p:nvGrpSpPr>
        <p:grpSpPr bwMode="auto">
          <a:xfrm>
            <a:off x="5854700" y="533400"/>
            <a:ext cx="3594100" cy="2311400"/>
            <a:chOff x="3592" y="288"/>
            <a:chExt cx="2264" cy="1456"/>
          </a:xfrm>
        </p:grpSpPr>
        <p:sp>
          <p:nvSpPr>
            <p:cNvPr id="13361" name="Text Box 53">
              <a:extLst>
                <a:ext uri="{FF2B5EF4-FFF2-40B4-BE49-F238E27FC236}">
                  <a16:creationId xmlns:a16="http://schemas.microsoft.com/office/drawing/2014/main" id="{DB00F0FB-5FA3-4FC0-8B88-11F458B8B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1" y="1456"/>
              <a:ext cx="4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endParaRPr lang="en-US" altLang="zh-CN" b="1"/>
            </a:p>
          </p:txBody>
        </p:sp>
        <p:sp>
          <p:nvSpPr>
            <p:cNvPr id="13362" name="Line 54">
              <a:extLst>
                <a:ext uri="{FF2B5EF4-FFF2-40B4-BE49-F238E27FC236}">
                  <a16:creationId xmlns:a16="http://schemas.microsoft.com/office/drawing/2014/main" id="{24DCB65E-4A6A-4D08-82D9-FF40F2028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4" y="1493"/>
              <a:ext cx="17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3" name="Line 55">
              <a:extLst>
                <a:ext uri="{FF2B5EF4-FFF2-40B4-BE49-F238E27FC236}">
                  <a16:creationId xmlns:a16="http://schemas.microsoft.com/office/drawing/2014/main" id="{4A6BF284-8F3D-425B-992E-1910302C2D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54" y="371"/>
              <a:ext cx="0" cy="1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4" name="Arc 58">
              <a:extLst>
                <a:ext uri="{FF2B5EF4-FFF2-40B4-BE49-F238E27FC236}">
                  <a16:creationId xmlns:a16="http://schemas.microsoft.com/office/drawing/2014/main" id="{F58277B1-0F3E-49DC-98C5-EE1C566E397F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875" y="782"/>
              <a:ext cx="445" cy="5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104" y="0"/>
                  </a:moveTo>
                  <a:cubicBezTo>
                    <a:pt x="11993" y="58"/>
                    <a:pt x="21600" y="9711"/>
                    <a:pt x="21600" y="21600"/>
                  </a:cubicBezTo>
                </a:path>
                <a:path w="21600" h="21600" stroke="0" extrusionOk="0">
                  <a:moveTo>
                    <a:pt x="104" y="0"/>
                  </a:moveTo>
                  <a:cubicBezTo>
                    <a:pt x="11993" y="58"/>
                    <a:pt x="21600" y="9711"/>
                    <a:pt x="21600" y="21600"/>
                  </a:cubicBezTo>
                  <a:lnTo>
                    <a:pt x="0" y="21600"/>
                  </a:lnTo>
                  <a:lnTo>
                    <a:pt x="104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5" name="Arc 59">
              <a:extLst>
                <a:ext uri="{FF2B5EF4-FFF2-40B4-BE49-F238E27FC236}">
                  <a16:creationId xmlns:a16="http://schemas.microsoft.com/office/drawing/2014/main" id="{9B6516E6-17D2-4278-96F5-F4AC631AE8E2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441" y="633"/>
              <a:ext cx="485" cy="66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6" name="Arc 60">
              <a:extLst>
                <a:ext uri="{FF2B5EF4-FFF2-40B4-BE49-F238E27FC236}">
                  <a16:creationId xmlns:a16="http://schemas.microsoft.com/office/drawing/2014/main" id="{A1D02B30-E24A-44F5-B732-4D5F0B343693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158" y="707"/>
              <a:ext cx="485" cy="6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7" name="Arc 61">
              <a:extLst>
                <a:ext uri="{FF2B5EF4-FFF2-40B4-BE49-F238E27FC236}">
                  <a16:creationId xmlns:a16="http://schemas.microsoft.com/office/drawing/2014/main" id="{5B7AA50C-FFE7-45BB-9DB6-43F7015A7E5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724" y="595"/>
              <a:ext cx="404" cy="552"/>
            </a:xfrm>
            <a:custGeom>
              <a:avLst/>
              <a:gdLst>
                <a:gd name="T0" fmla="*/ 0 w 21498"/>
                <a:gd name="T1" fmla="*/ 0 h 21228"/>
                <a:gd name="T2" fmla="*/ 0 w 21498"/>
                <a:gd name="T3" fmla="*/ 0 h 21228"/>
                <a:gd name="T4" fmla="*/ 0 w 21498"/>
                <a:gd name="T5" fmla="*/ 0 h 21228"/>
                <a:gd name="T6" fmla="*/ 0 60000 65536"/>
                <a:gd name="T7" fmla="*/ 0 60000 65536"/>
                <a:gd name="T8" fmla="*/ 0 60000 65536"/>
                <a:gd name="T9" fmla="*/ 0 w 21498"/>
                <a:gd name="T10" fmla="*/ 0 h 21228"/>
                <a:gd name="T11" fmla="*/ 21498 w 21498"/>
                <a:gd name="T12" fmla="*/ 21228 h 212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98" h="21228" fill="none" extrusionOk="0">
                  <a:moveTo>
                    <a:pt x="3990" y="-1"/>
                  </a:moveTo>
                  <a:cubicBezTo>
                    <a:pt x="13432" y="1774"/>
                    <a:pt x="20567" y="9572"/>
                    <a:pt x="21498" y="19134"/>
                  </a:cubicBezTo>
                </a:path>
                <a:path w="21498" h="21228" stroke="0" extrusionOk="0">
                  <a:moveTo>
                    <a:pt x="3990" y="-1"/>
                  </a:moveTo>
                  <a:cubicBezTo>
                    <a:pt x="13432" y="1774"/>
                    <a:pt x="20567" y="9572"/>
                    <a:pt x="21498" y="19134"/>
                  </a:cubicBezTo>
                  <a:lnTo>
                    <a:pt x="0" y="21228"/>
                  </a:lnTo>
                  <a:lnTo>
                    <a:pt x="3990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8" name="Text Box 62">
              <a:extLst>
                <a:ext uri="{FF2B5EF4-FFF2-40B4-BE49-F238E27FC236}">
                  <a16:creationId xmlns:a16="http://schemas.microsoft.com/office/drawing/2014/main" id="{1E53986B-EB7F-42CA-986C-71FB4917B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2" y="288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y</a:t>
              </a:r>
              <a:endParaRPr lang="en-US" altLang="zh-CN" sz="2000" b="1"/>
            </a:p>
          </p:txBody>
        </p:sp>
        <p:sp>
          <p:nvSpPr>
            <p:cNvPr id="13369" name="Text Box 64">
              <a:extLst>
                <a:ext uri="{FF2B5EF4-FFF2-40B4-BE49-F238E27FC236}">
                  <a16:creationId xmlns:a16="http://schemas.microsoft.com/office/drawing/2014/main" id="{1B929AB8-1E5F-45D1-ADB0-2A9EEF7FC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2" y="1425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O</a:t>
              </a:r>
            </a:p>
          </p:txBody>
        </p:sp>
        <p:sp>
          <p:nvSpPr>
            <p:cNvPr id="13370" name="Text Box 68">
              <a:extLst>
                <a:ext uri="{FF2B5EF4-FFF2-40B4-BE49-F238E27FC236}">
                  <a16:creationId xmlns:a16="http://schemas.microsoft.com/office/drawing/2014/main" id="{80EB634B-E9D2-4866-B13D-91783A9F1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88"/>
              <a:ext cx="9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g</a:t>
              </a:r>
              <a:r>
                <a:rPr lang="en-US" altLang="zh-CN" b="1"/>
                <a:t>(</a:t>
              </a:r>
              <a:r>
                <a:rPr lang="en-US" altLang="zh-CN" b="1" i="1"/>
                <a:t>x,y</a:t>
              </a:r>
              <a:r>
                <a:rPr lang="en-US" altLang="zh-CN" b="1"/>
                <a:t>)=</a:t>
              </a:r>
              <a:r>
                <a:rPr lang="en-US" altLang="zh-CN" b="1" i="1"/>
                <a:t>c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13371" name="Line 69">
              <a:extLst>
                <a:ext uri="{FF2B5EF4-FFF2-40B4-BE49-F238E27FC236}">
                  <a16:creationId xmlns:a16="http://schemas.microsoft.com/office/drawing/2014/main" id="{1DA40901-E54B-4458-AD7E-D26CD692DF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816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2" name="Text Box 70">
              <a:extLst>
                <a:ext uri="{FF2B5EF4-FFF2-40B4-BE49-F238E27FC236}">
                  <a16:creationId xmlns:a16="http://schemas.microsoft.com/office/drawing/2014/main" id="{C85B1B85-1390-41D9-AC09-E6C4E20878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67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c</a:t>
              </a:r>
              <a:r>
                <a:rPr lang="en-US" altLang="zh-CN" b="1" baseline="-25000"/>
                <a:t>2</a:t>
              </a:r>
              <a:r>
                <a:rPr lang="en-US" altLang="zh-CN" b="1">
                  <a:sym typeface="Symbol" panose="05050102010706020507" pitchFamily="18" charset="2"/>
                </a:rPr>
                <a:t></a:t>
              </a:r>
              <a:endParaRPr lang="en-US" altLang="zh-CN" b="1"/>
            </a:p>
          </p:txBody>
        </p:sp>
      </p:grpSp>
      <p:sp>
        <p:nvSpPr>
          <p:cNvPr id="11341" name="Text Box 77">
            <a:extLst>
              <a:ext uri="{FF2B5EF4-FFF2-40B4-BE49-F238E27FC236}">
                <a16:creationId xmlns:a16="http://schemas.microsoft.com/office/drawing/2014/main" id="{385FBB71-CABD-4795-A0AC-32D41460E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81075"/>
            <a:ext cx="53340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乙的无差别曲线族 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x,y</a:t>
            </a:r>
            <a:r>
              <a:rPr lang="en-US" altLang="zh-CN" sz="2800" b="1"/>
              <a:t>)=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具有相同性质（形状可以不同）</a:t>
            </a:r>
            <a:r>
              <a:rPr lang="en-US" altLang="zh-CN" sz="2800" b="1"/>
              <a:t>.</a:t>
            </a:r>
            <a:endParaRPr lang="en-US" altLang="zh-CN" sz="2800" b="1" baseline="-25000"/>
          </a:p>
        </p:txBody>
      </p:sp>
      <p:sp>
        <p:nvSpPr>
          <p:cNvPr id="11345" name="Text Box 81">
            <a:extLst>
              <a:ext uri="{FF2B5EF4-FFF2-40B4-BE49-F238E27FC236}">
                <a16:creationId xmlns:a16="http://schemas.microsoft.com/office/drawing/2014/main" id="{A36431E6-C815-4FE0-B0A1-3145E74FE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2117725"/>
            <a:ext cx="31242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双方的交换路径</a:t>
            </a:r>
          </a:p>
        </p:txBody>
      </p:sp>
      <p:grpSp>
        <p:nvGrpSpPr>
          <p:cNvPr id="3" name="Group 105">
            <a:extLst>
              <a:ext uri="{FF2B5EF4-FFF2-40B4-BE49-F238E27FC236}">
                <a16:creationId xmlns:a16="http://schemas.microsoft.com/office/drawing/2014/main" id="{D558E99C-5646-4D76-B435-E63523C928F9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048000"/>
            <a:ext cx="4114800" cy="2895600"/>
            <a:chOff x="3168" y="1776"/>
            <a:chExt cx="2592" cy="1824"/>
          </a:xfrm>
        </p:grpSpPr>
        <p:sp>
          <p:nvSpPr>
            <p:cNvPr id="13346" name="Text Box 38">
              <a:extLst>
                <a:ext uri="{FF2B5EF4-FFF2-40B4-BE49-F238E27FC236}">
                  <a16:creationId xmlns:a16="http://schemas.microsoft.com/office/drawing/2014/main" id="{401D9EFD-4632-4D4F-9138-830C1FF95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4" y="33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endParaRPr lang="en-US" altLang="zh-CN" b="1"/>
            </a:p>
          </p:txBody>
        </p:sp>
        <p:grpSp>
          <p:nvGrpSpPr>
            <p:cNvPr id="13347" name="Group 103">
              <a:extLst>
                <a:ext uri="{FF2B5EF4-FFF2-40B4-BE49-F238E27FC236}">
                  <a16:creationId xmlns:a16="http://schemas.microsoft.com/office/drawing/2014/main" id="{D9C8BA6F-2A22-45D7-9781-6C0F4D845F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776"/>
              <a:ext cx="2496" cy="1786"/>
              <a:chOff x="528" y="288"/>
              <a:chExt cx="2496" cy="1786"/>
            </a:xfrm>
          </p:grpSpPr>
          <p:sp>
            <p:nvSpPr>
              <p:cNvPr id="13348" name="Line 20">
                <a:extLst>
                  <a:ext uri="{FF2B5EF4-FFF2-40B4-BE49-F238E27FC236}">
                    <a16:creationId xmlns:a16="http://schemas.microsoft.com/office/drawing/2014/main" id="{7AC4CB16-1A85-4586-BBB7-ECBFADF53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1834"/>
                <a:ext cx="211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9" name="Line 21">
                <a:extLst>
                  <a:ext uri="{FF2B5EF4-FFF2-40B4-BE49-F238E27FC236}">
                    <a16:creationId xmlns:a16="http://schemas.microsoft.com/office/drawing/2014/main" id="{42175AB8-D7A4-4E90-8B46-F69A12896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68" y="394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0" name="Line 22">
                <a:extLst>
                  <a:ext uri="{FF2B5EF4-FFF2-40B4-BE49-F238E27FC236}">
                    <a16:creationId xmlns:a16="http://schemas.microsoft.com/office/drawing/2014/main" id="{7157402A-FDAB-4A8D-A0EA-15FAC5363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653"/>
                <a:ext cx="0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1" name="Line 23">
                <a:extLst>
                  <a:ext uri="{FF2B5EF4-FFF2-40B4-BE49-F238E27FC236}">
                    <a16:creationId xmlns:a16="http://schemas.microsoft.com/office/drawing/2014/main" id="{2C773F0A-90AC-4F39-8517-F9FB27AD4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653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2" name="Arc 24">
                <a:extLst>
                  <a:ext uri="{FF2B5EF4-FFF2-40B4-BE49-F238E27FC236}">
                    <a16:creationId xmlns:a16="http://schemas.microsoft.com/office/drawing/2014/main" id="{8C2C8C97-1EF9-4B62-93F4-91E59AA13B6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864" y="922"/>
                <a:ext cx="672" cy="720"/>
              </a:xfrm>
              <a:custGeom>
                <a:avLst/>
                <a:gdLst>
                  <a:gd name="T0" fmla="*/ 0 w 21600"/>
                  <a:gd name="T1" fmla="*/ 0 h 21592"/>
                  <a:gd name="T2" fmla="*/ 0 w 21600"/>
                  <a:gd name="T3" fmla="*/ 0 h 21592"/>
                  <a:gd name="T4" fmla="*/ 0 w 21600"/>
                  <a:gd name="T5" fmla="*/ 0 h 215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92"/>
                  <a:gd name="T11" fmla="*/ 21600 w 21600"/>
                  <a:gd name="T12" fmla="*/ 21592 h 215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92" fill="none" extrusionOk="0">
                    <a:moveTo>
                      <a:pt x="596" y="0"/>
                    </a:moveTo>
                    <a:cubicBezTo>
                      <a:pt x="12289" y="323"/>
                      <a:pt x="21600" y="9895"/>
                      <a:pt x="21600" y="21592"/>
                    </a:cubicBezTo>
                  </a:path>
                  <a:path w="21600" h="21592" stroke="0" extrusionOk="0">
                    <a:moveTo>
                      <a:pt x="596" y="0"/>
                    </a:moveTo>
                    <a:cubicBezTo>
                      <a:pt x="12289" y="323"/>
                      <a:pt x="21600" y="9895"/>
                      <a:pt x="21600" y="21592"/>
                    </a:cubicBezTo>
                    <a:lnTo>
                      <a:pt x="0" y="21592"/>
                    </a:lnTo>
                    <a:lnTo>
                      <a:pt x="596" y="0"/>
                    </a:lnTo>
                    <a:close/>
                  </a:path>
                </a:pathLst>
              </a:custGeom>
              <a:noFill/>
              <a:ln w="127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3" name="Arc 25">
                <a:extLst>
                  <a:ext uri="{FF2B5EF4-FFF2-40B4-BE49-F238E27FC236}">
                    <a16:creationId xmlns:a16="http://schemas.microsoft.com/office/drawing/2014/main" id="{163B1E1D-9B92-4EA7-B274-67B4B294CBF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392" y="730"/>
                <a:ext cx="672" cy="7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4" name="Arc 26">
                <a:extLst>
                  <a:ext uri="{FF2B5EF4-FFF2-40B4-BE49-F238E27FC236}">
                    <a16:creationId xmlns:a16="http://schemas.microsoft.com/office/drawing/2014/main" id="{BDB529E1-A8AF-4588-B7CE-63F93339EFD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152" y="826"/>
                <a:ext cx="672" cy="720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5" name="Arc 27">
                <a:extLst>
                  <a:ext uri="{FF2B5EF4-FFF2-40B4-BE49-F238E27FC236}">
                    <a16:creationId xmlns:a16="http://schemas.microsoft.com/office/drawing/2014/main" id="{673A367A-2830-4DCB-9A66-C3D4CAD9B59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776" y="682"/>
                <a:ext cx="672" cy="708"/>
              </a:xfrm>
              <a:custGeom>
                <a:avLst/>
                <a:gdLst>
                  <a:gd name="T0" fmla="*/ 0 w 21600"/>
                  <a:gd name="T1" fmla="*/ 0 h 21228"/>
                  <a:gd name="T2" fmla="*/ 0 w 21600"/>
                  <a:gd name="T3" fmla="*/ 0 h 21228"/>
                  <a:gd name="T4" fmla="*/ 0 w 21600"/>
                  <a:gd name="T5" fmla="*/ 0 h 2122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228"/>
                  <a:gd name="T11" fmla="*/ 21600 w 21600"/>
                  <a:gd name="T12" fmla="*/ 21228 h 212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228" fill="none" extrusionOk="0">
                    <a:moveTo>
                      <a:pt x="3990" y="-1"/>
                    </a:moveTo>
                    <a:cubicBezTo>
                      <a:pt x="14201" y="1919"/>
                      <a:pt x="21600" y="10837"/>
                      <a:pt x="21600" y="21228"/>
                    </a:cubicBezTo>
                  </a:path>
                  <a:path w="21600" h="21228" stroke="0" extrusionOk="0">
                    <a:moveTo>
                      <a:pt x="3990" y="-1"/>
                    </a:moveTo>
                    <a:cubicBezTo>
                      <a:pt x="14201" y="1919"/>
                      <a:pt x="21600" y="10837"/>
                      <a:pt x="21600" y="21228"/>
                    </a:cubicBezTo>
                    <a:lnTo>
                      <a:pt x="0" y="21228"/>
                    </a:lnTo>
                    <a:lnTo>
                      <a:pt x="3990" y="-1"/>
                    </a:lnTo>
                    <a:close/>
                  </a:path>
                </a:pathLst>
              </a:custGeom>
              <a:noFill/>
              <a:ln w="127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6" name="Text Box 34">
                <a:extLst>
                  <a:ext uri="{FF2B5EF4-FFF2-40B4-BE49-F238E27FC236}">
                    <a16:creationId xmlns:a16="http://schemas.microsoft.com/office/drawing/2014/main" id="{8D94A12E-B246-4619-87EE-CF966C0875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88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/>
                  <a:t>y</a:t>
                </a:r>
              </a:p>
            </p:txBody>
          </p:sp>
          <p:sp>
            <p:nvSpPr>
              <p:cNvPr id="13357" name="Text Box 35">
                <a:extLst>
                  <a:ext uri="{FF2B5EF4-FFF2-40B4-BE49-F238E27FC236}">
                    <a16:creationId xmlns:a16="http://schemas.microsoft.com/office/drawing/2014/main" id="{C387E436-F385-44E9-9CDF-286ED215C9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576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/>
                  <a:t>y</a:t>
                </a:r>
                <a:r>
                  <a:rPr lang="en-US" altLang="zh-CN" sz="2000" b="1" baseline="-25000"/>
                  <a:t>0</a:t>
                </a:r>
                <a:endParaRPr lang="en-US" altLang="zh-CN" sz="2000" b="1"/>
              </a:p>
            </p:txBody>
          </p:sp>
          <p:sp>
            <p:nvSpPr>
              <p:cNvPr id="13358" name="Text Box 36">
                <a:extLst>
                  <a:ext uri="{FF2B5EF4-FFF2-40B4-BE49-F238E27FC236}">
                    <a16:creationId xmlns:a16="http://schemas.microsoft.com/office/drawing/2014/main" id="{4956537F-C5FC-4CD5-A3FF-F95DD2DD37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1747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/>
                  <a:t>O</a:t>
                </a:r>
              </a:p>
            </p:txBody>
          </p:sp>
          <p:sp>
            <p:nvSpPr>
              <p:cNvPr id="13359" name="Text Box 39">
                <a:extLst>
                  <a:ext uri="{FF2B5EF4-FFF2-40B4-BE49-F238E27FC236}">
                    <a16:creationId xmlns:a16="http://schemas.microsoft.com/office/drawing/2014/main" id="{057ADBF1-1C87-425B-8C10-4835D6C49F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178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/>
                  <a:t>x</a:t>
                </a:r>
                <a:r>
                  <a:rPr lang="en-US" altLang="zh-CN" b="1" baseline="-25000"/>
                  <a:t>0</a:t>
                </a:r>
                <a:endParaRPr lang="en-US" altLang="zh-CN" b="1"/>
              </a:p>
            </p:txBody>
          </p:sp>
          <p:sp>
            <p:nvSpPr>
              <p:cNvPr id="13360" name="Text Box 82">
                <a:extLst>
                  <a:ext uri="{FF2B5EF4-FFF2-40B4-BE49-F238E27FC236}">
                    <a16:creationId xmlns:a16="http://schemas.microsoft.com/office/drawing/2014/main" id="{951DF604-A52B-44D2-9556-2C8A349620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1536"/>
                <a:ext cx="4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>
                    <a:solidFill>
                      <a:srgbClr val="3333FF"/>
                    </a:solidFill>
                  </a:rPr>
                  <a:t>f</a:t>
                </a:r>
                <a:r>
                  <a:rPr lang="en-US" altLang="zh-CN" b="1">
                    <a:solidFill>
                      <a:srgbClr val="3333FF"/>
                    </a:solidFill>
                  </a:rPr>
                  <a:t>=</a:t>
                </a:r>
                <a:r>
                  <a:rPr lang="en-US" altLang="zh-CN" b="1" i="1">
                    <a:solidFill>
                      <a:srgbClr val="3333FF"/>
                    </a:solidFill>
                  </a:rPr>
                  <a:t>c</a:t>
                </a:r>
                <a:r>
                  <a:rPr lang="en-US" altLang="zh-CN" b="1" baseline="-25000">
                    <a:solidFill>
                      <a:srgbClr val="3333FF"/>
                    </a:solidFill>
                  </a:rPr>
                  <a:t>1</a:t>
                </a:r>
                <a:endParaRPr lang="en-US" altLang="zh-CN" b="1">
                  <a:solidFill>
                    <a:srgbClr val="3333FF"/>
                  </a:solidFill>
                </a:endParaRPr>
              </a:p>
            </p:txBody>
          </p:sp>
        </p:grpSp>
      </p:grpSp>
      <p:grpSp>
        <p:nvGrpSpPr>
          <p:cNvPr id="5" name="Group 104">
            <a:extLst>
              <a:ext uri="{FF2B5EF4-FFF2-40B4-BE49-F238E27FC236}">
                <a16:creationId xmlns:a16="http://schemas.microsoft.com/office/drawing/2014/main" id="{DB10BC13-B912-433A-ACB3-1CC66DAC86FF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3141663"/>
            <a:ext cx="3810000" cy="3200400"/>
            <a:chOff x="3024" y="1872"/>
            <a:chExt cx="2400" cy="2016"/>
          </a:xfrm>
        </p:grpSpPr>
        <p:sp>
          <p:nvSpPr>
            <p:cNvPr id="13335" name="Arc 28">
              <a:extLst>
                <a:ext uri="{FF2B5EF4-FFF2-40B4-BE49-F238E27FC236}">
                  <a16:creationId xmlns:a16="http://schemas.microsoft.com/office/drawing/2014/main" id="{EAB299B9-618E-4027-91D0-A61E86722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2208"/>
              <a:ext cx="672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6" name="Arc 29">
              <a:extLst>
                <a:ext uri="{FF2B5EF4-FFF2-40B4-BE49-F238E27FC236}">
                  <a16:creationId xmlns:a16="http://schemas.microsoft.com/office/drawing/2014/main" id="{4A7ED135-42A3-4166-9456-4B216F9AB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208"/>
              <a:ext cx="672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7" name="Arc 30">
              <a:extLst>
                <a:ext uri="{FF2B5EF4-FFF2-40B4-BE49-F238E27FC236}">
                  <a16:creationId xmlns:a16="http://schemas.microsoft.com/office/drawing/2014/main" id="{E4222038-0FF6-4B09-B9DD-690C91EA2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304"/>
              <a:ext cx="672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8" name="Arc 31">
              <a:extLst>
                <a:ext uri="{FF2B5EF4-FFF2-40B4-BE49-F238E27FC236}">
                  <a16:creationId xmlns:a16="http://schemas.microsoft.com/office/drawing/2014/main" id="{894EF9B2-5619-4222-96B9-769A47B2E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496"/>
              <a:ext cx="672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9" name="Arc 32">
              <a:extLst>
                <a:ext uri="{FF2B5EF4-FFF2-40B4-BE49-F238E27FC236}">
                  <a16:creationId xmlns:a16="http://schemas.microsoft.com/office/drawing/2014/main" id="{4A23C326-9272-4885-8317-65367997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2736"/>
              <a:ext cx="336" cy="52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0" name="Text Box 37">
              <a:extLst>
                <a:ext uri="{FF2B5EF4-FFF2-40B4-BE49-F238E27FC236}">
                  <a16:creationId xmlns:a16="http://schemas.microsoft.com/office/drawing/2014/main" id="{4F82316B-C11B-48E0-9F54-372AC28E41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9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O</a:t>
              </a:r>
              <a:r>
                <a:rPr lang="en-US" altLang="zh-CN" b="1" i="1"/>
                <a:t>'</a:t>
              </a:r>
            </a:p>
          </p:txBody>
        </p:sp>
        <p:sp>
          <p:nvSpPr>
            <p:cNvPr id="13341" name="Line 50">
              <a:extLst>
                <a:ext uri="{FF2B5EF4-FFF2-40B4-BE49-F238E27FC236}">
                  <a16:creationId xmlns:a16="http://schemas.microsoft.com/office/drawing/2014/main" id="{25CD0C3A-6133-4D33-A171-FF623AE1B9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21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2" name="Line 51">
              <a:extLst>
                <a:ext uri="{FF2B5EF4-FFF2-40B4-BE49-F238E27FC236}">
                  <a16:creationId xmlns:a16="http://schemas.microsoft.com/office/drawing/2014/main" id="{345EFE90-E82E-4973-9916-360EAFFCD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326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43" name="Text Box 84">
              <a:extLst>
                <a:ext uri="{FF2B5EF4-FFF2-40B4-BE49-F238E27FC236}">
                  <a16:creationId xmlns:a16="http://schemas.microsoft.com/office/drawing/2014/main" id="{4D9868D4-B374-429B-906F-37C5F58C3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87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x'</a:t>
              </a:r>
            </a:p>
          </p:txBody>
        </p:sp>
        <p:sp>
          <p:nvSpPr>
            <p:cNvPr id="13344" name="Text Box 85">
              <a:extLst>
                <a:ext uri="{FF2B5EF4-FFF2-40B4-BE49-F238E27FC236}">
                  <a16:creationId xmlns:a16="http://schemas.microsoft.com/office/drawing/2014/main" id="{65324B5C-FB03-44CF-B70D-2D8C642A5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60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y'</a:t>
              </a:r>
            </a:p>
          </p:txBody>
        </p:sp>
        <p:sp>
          <p:nvSpPr>
            <p:cNvPr id="13345" name="Text Box 86">
              <a:extLst>
                <a:ext uri="{FF2B5EF4-FFF2-40B4-BE49-F238E27FC236}">
                  <a16:creationId xmlns:a16="http://schemas.microsoft.com/office/drawing/2014/main" id="{4DA4D723-C5E7-483D-9B4B-C8BC2D5BA2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21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g</a:t>
              </a:r>
              <a:r>
                <a:rPr lang="en-US" altLang="zh-CN" b="1">
                  <a:solidFill>
                    <a:srgbClr val="FF3300"/>
                  </a:solidFill>
                </a:rPr>
                <a:t>=</a:t>
              </a:r>
              <a:r>
                <a:rPr lang="en-US" altLang="zh-CN" b="1" i="1">
                  <a:solidFill>
                    <a:srgbClr val="FF3300"/>
                  </a:solidFill>
                </a:rPr>
                <a:t>c</a:t>
              </a:r>
              <a:r>
                <a:rPr lang="en-US" altLang="zh-CN" b="1" baseline="-25000">
                  <a:solidFill>
                    <a:srgbClr val="FF3300"/>
                  </a:solidFill>
                </a:rPr>
                <a:t>2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</p:grpSp>
      <p:sp>
        <p:nvSpPr>
          <p:cNvPr id="11353" name="Text Box 89">
            <a:extLst>
              <a:ext uri="{FF2B5EF4-FFF2-40B4-BE49-F238E27FC236}">
                <a16:creationId xmlns:a16="http://schemas.microsoft.com/office/drawing/2014/main" id="{F2197629-BA2E-40C4-808B-E3F3B9E778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248025"/>
            <a:ext cx="4038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乙的无差别曲线族 </a:t>
            </a:r>
            <a:r>
              <a:rPr lang="en-US" altLang="zh-CN" sz="2800" b="1" i="1">
                <a:solidFill>
                  <a:srgbClr val="FF3300"/>
                </a:solidFill>
              </a:rPr>
              <a:t>g</a:t>
            </a:r>
            <a:r>
              <a:rPr lang="en-US" altLang="zh-CN" sz="2800" b="1">
                <a:solidFill>
                  <a:srgbClr val="FF3300"/>
                </a:solidFill>
              </a:rPr>
              <a:t>=</a:t>
            </a:r>
            <a:r>
              <a:rPr lang="en-US" altLang="zh-CN" sz="2800" b="1" i="1">
                <a:solidFill>
                  <a:srgbClr val="FF3300"/>
                </a:solidFill>
              </a:rPr>
              <a:t>c</a:t>
            </a:r>
            <a:r>
              <a:rPr lang="en-US" altLang="zh-CN" sz="2800" b="1" baseline="-25000">
                <a:solidFill>
                  <a:srgbClr val="FF3300"/>
                </a:solidFill>
              </a:rPr>
              <a:t>2</a:t>
            </a:r>
            <a:r>
              <a:rPr lang="en-US" altLang="zh-CN" sz="2800" b="1" baseline="-25000">
                <a:solidFill>
                  <a:srgbClr val="FF66CC"/>
                </a:solidFill>
              </a:rPr>
              <a:t> </a:t>
            </a:r>
            <a:r>
              <a:rPr lang="en-US" altLang="zh-CN" sz="2800" b="1"/>
              <a:t>(</a:t>
            </a:r>
            <a:r>
              <a:rPr lang="zh-CN" altLang="zh-CN" sz="2800" b="1"/>
              <a:t>坐标系</a:t>
            </a:r>
            <a:r>
              <a:rPr lang="en-US" altLang="zh-CN" sz="2800" b="1" i="1"/>
              <a:t>x</a:t>
            </a:r>
            <a:r>
              <a:rPr lang="en-US" altLang="zh-CN" b="1" i="1"/>
              <a:t>'</a:t>
            </a:r>
            <a:r>
              <a:rPr lang="en-US" altLang="zh-CN" sz="2800" b="1" i="1"/>
              <a:t>O</a:t>
            </a:r>
            <a:r>
              <a:rPr lang="en-US" altLang="zh-CN" b="1" i="1"/>
              <a:t>'</a:t>
            </a:r>
            <a:r>
              <a:rPr lang="en-US" altLang="zh-CN" sz="2800" b="1" i="1"/>
              <a:t>y</a:t>
            </a:r>
            <a:r>
              <a:rPr lang="en-US" altLang="zh-CN" b="1" i="1"/>
              <a:t>'</a:t>
            </a:r>
            <a:r>
              <a:rPr lang="en-US" altLang="zh-CN" sz="2800" b="1"/>
              <a:t>, </a:t>
            </a:r>
            <a:r>
              <a:rPr lang="zh-CN" altLang="zh-CN" sz="2800" b="1"/>
              <a:t>且反向）</a:t>
            </a:r>
            <a:endParaRPr lang="zh-CN" altLang="en-US" sz="2800" b="1"/>
          </a:p>
        </p:txBody>
      </p:sp>
      <p:sp>
        <p:nvSpPr>
          <p:cNvPr id="11354" name="Text Box 90">
            <a:extLst>
              <a:ext uri="{FF2B5EF4-FFF2-40B4-BE49-F238E27FC236}">
                <a16:creationId xmlns:a16="http://schemas.microsoft.com/office/drawing/2014/main" id="{050E58C4-AF97-48A6-8945-A81DBF0D1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689225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甲的无差别曲线族 </a:t>
            </a:r>
            <a:r>
              <a:rPr lang="en-US" altLang="zh-CN" sz="2800" b="1" i="1">
                <a:solidFill>
                  <a:srgbClr val="3333FF"/>
                </a:solidFill>
              </a:rPr>
              <a:t>f</a:t>
            </a:r>
            <a:r>
              <a:rPr lang="en-US" altLang="zh-CN" sz="2800" b="1">
                <a:solidFill>
                  <a:srgbClr val="3333FF"/>
                </a:solidFill>
              </a:rPr>
              <a:t>=</a:t>
            </a:r>
            <a:r>
              <a:rPr lang="en-US" altLang="zh-CN" sz="2800" b="1" i="1">
                <a:solidFill>
                  <a:srgbClr val="3333FF"/>
                </a:solidFill>
              </a:rPr>
              <a:t>c</a:t>
            </a:r>
            <a:r>
              <a:rPr lang="en-US" altLang="zh-CN" sz="2800" b="1" baseline="-25000">
                <a:solidFill>
                  <a:srgbClr val="3333FF"/>
                </a:solidFill>
              </a:rPr>
              <a:t>1</a:t>
            </a:r>
            <a:endParaRPr lang="en-US" altLang="zh-CN" sz="2800" b="1">
              <a:solidFill>
                <a:srgbClr val="3333FF"/>
              </a:solidFill>
            </a:endParaRPr>
          </a:p>
        </p:txBody>
      </p:sp>
      <p:grpSp>
        <p:nvGrpSpPr>
          <p:cNvPr id="6" name="Group 98">
            <a:extLst>
              <a:ext uri="{FF2B5EF4-FFF2-40B4-BE49-F238E27FC236}">
                <a16:creationId xmlns:a16="http://schemas.microsoft.com/office/drawing/2014/main" id="{86C219F6-FC7D-4695-993F-17E738957180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038600"/>
            <a:ext cx="2895600" cy="1235075"/>
            <a:chOff x="3408" y="2448"/>
            <a:chExt cx="1824" cy="778"/>
          </a:xfrm>
        </p:grpSpPr>
        <p:sp>
          <p:nvSpPr>
            <p:cNvPr id="13330" name="Text Box 40">
              <a:extLst>
                <a:ext uri="{FF2B5EF4-FFF2-40B4-BE49-F238E27FC236}">
                  <a16:creationId xmlns:a16="http://schemas.microsoft.com/office/drawing/2014/main" id="{B8DCA883-5F9D-4E5B-AD95-1CE4A86F8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97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A</a:t>
              </a:r>
            </a:p>
          </p:txBody>
        </p:sp>
        <p:sp>
          <p:nvSpPr>
            <p:cNvPr id="13331" name="Text Box 41">
              <a:extLst>
                <a:ext uri="{FF2B5EF4-FFF2-40B4-BE49-F238E27FC236}">
                  <a16:creationId xmlns:a16="http://schemas.microsoft.com/office/drawing/2014/main" id="{6BA8F170-8CE2-428F-AE2B-FA45AB6E6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448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B</a:t>
              </a:r>
            </a:p>
          </p:txBody>
        </p:sp>
        <p:sp>
          <p:nvSpPr>
            <p:cNvPr id="13332" name="Arc 33">
              <a:extLst>
                <a:ext uri="{FF2B5EF4-FFF2-40B4-BE49-F238E27FC236}">
                  <a16:creationId xmlns:a16="http://schemas.microsoft.com/office/drawing/2014/main" id="{761C0287-041E-4F8B-9ED0-166589567F3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600" y="2496"/>
              <a:ext cx="1392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Text Box 42">
              <a:extLst>
                <a:ext uri="{FF2B5EF4-FFF2-40B4-BE49-F238E27FC236}">
                  <a16:creationId xmlns:a16="http://schemas.microsoft.com/office/drawing/2014/main" id="{8592EB3B-16A3-4C96-9CE4-DE5E20853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55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/>
                <a:t>p</a:t>
              </a:r>
              <a:endParaRPr lang="en-US" altLang="zh-CN" sz="1800" b="1"/>
            </a:p>
          </p:txBody>
        </p:sp>
        <p:sp>
          <p:nvSpPr>
            <p:cNvPr id="13334" name="Text Box 95">
              <a:extLst>
                <a:ext uri="{FF2B5EF4-FFF2-40B4-BE49-F238E27FC236}">
                  <a16:creationId xmlns:a16="http://schemas.microsoft.com/office/drawing/2014/main" id="{2CFC3B42-2E0C-4365-8FF5-FF7E18E7C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49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zh-CN" sz="2800" b="1"/>
                <a:t> </a:t>
              </a:r>
            </a:p>
          </p:txBody>
        </p:sp>
      </p:grpSp>
      <p:grpSp>
        <p:nvGrpSpPr>
          <p:cNvPr id="7" name="Group 100">
            <a:extLst>
              <a:ext uri="{FF2B5EF4-FFF2-40B4-BE49-F238E27FC236}">
                <a16:creationId xmlns:a16="http://schemas.microsoft.com/office/drawing/2014/main" id="{F270F291-6DDE-40A7-9D78-E135A00D6B9B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860800"/>
            <a:ext cx="1143000" cy="1462088"/>
            <a:chOff x="2544" y="2304"/>
            <a:chExt cx="720" cy="921"/>
          </a:xfrm>
        </p:grpSpPr>
        <p:sp>
          <p:nvSpPr>
            <p:cNvPr id="13327" name="Text Box 43">
              <a:extLst>
                <a:ext uri="{FF2B5EF4-FFF2-40B4-BE49-F238E27FC236}">
                  <a16:creationId xmlns:a16="http://schemas.microsoft.com/office/drawing/2014/main" id="{6480E68C-0683-4617-9694-F2D70E0A4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93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 i="1"/>
                <a:t>P</a:t>
              </a:r>
              <a:r>
                <a:rPr lang="en-US" altLang="zh-CN" b="1" i="1"/>
                <a:t>'</a:t>
              </a:r>
            </a:p>
          </p:txBody>
        </p:sp>
        <p:sp>
          <p:nvSpPr>
            <p:cNvPr id="13328" name="Text Box 96">
              <a:extLst>
                <a:ext uri="{FF2B5EF4-FFF2-40B4-BE49-F238E27FC236}">
                  <a16:creationId xmlns:a16="http://schemas.microsoft.com/office/drawing/2014/main" id="{4694FA63-325E-4810-9814-07F33EF94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273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zh-CN" sz="2800" b="1"/>
                <a:t> </a:t>
              </a:r>
            </a:p>
          </p:txBody>
        </p:sp>
        <p:sp>
          <p:nvSpPr>
            <p:cNvPr id="13329" name="Arc 97">
              <a:extLst>
                <a:ext uri="{FF2B5EF4-FFF2-40B4-BE49-F238E27FC236}">
                  <a16:creationId xmlns:a16="http://schemas.microsoft.com/office/drawing/2014/main" id="{3B072BE3-F818-4A61-A340-A14285FFA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304"/>
              <a:ext cx="528" cy="768"/>
            </a:xfrm>
            <a:custGeom>
              <a:avLst/>
              <a:gdLst>
                <a:gd name="T0" fmla="*/ 0 w 21600"/>
                <a:gd name="T1" fmla="*/ 0 h 21597"/>
                <a:gd name="T2" fmla="*/ 0 w 21600"/>
                <a:gd name="T3" fmla="*/ 0 h 21597"/>
                <a:gd name="T4" fmla="*/ 0 w 21600"/>
                <a:gd name="T5" fmla="*/ 0 h 215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97"/>
                <a:gd name="T11" fmla="*/ 21600 w 21600"/>
                <a:gd name="T12" fmla="*/ 21597 h 21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97" fill="none" extrusionOk="0">
                  <a:moveTo>
                    <a:pt x="345" y="-1"/>
                  </a:moveTo>
                  <a:cubicBezTo>
                    <a:pt x="12138" y="188"/>
                    <a:pt x="21600" y="9802"/>
                    <a:pt x="21600" y="21597"/>
                  </a:cubicBezTo>
                </a:path>
                <a:path w="21600" h="21597" stroke="0" extrusionOk="0">
                  <a:moveTo>
                    <a:pt x="345" y="-1"/>
                  </a:moveTo>
                  <a:cubicBezTo>
                    <a:pt x="12138" y="188"/>
                    <a:pt x="21600" y="9802"/>
                    <a:pt x="21600" y="21597"/>
                  </a:cubicBezTo>
                  <a:lnTo>
                    <a:pt x="0" y="21597"/>
                  </a:lnTo>
                  <a:lnTo>
                    <a:pt x="345" y="-1"/>
                  </a:lnTo>
                  <a:close/>
                </a:path>
              </a:pathLst>
            </a:custGeom>
            <a:noFill/>
            <a:ln w="9525">
              <a:solidFill>
                <a:srgbClr val="FF66CC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363" name="Text Box 99">
            <a:extLst>
              <a:ext uri="{FF2B5EF4-FFF2-40B4-BE49-F238E27FC236}">
                <a16:creationId xmlns:a16="http://schemas.microsoft.com/office/drawing/2014/main" id="{135CD888-F269-4942-9A55-078F37A3B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427538"/>
            <a:ext cx="3810000" cy="946150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双方满意的交换方案必在</a:t>
            </a:r>
            <a:r>
              <a:rPr lang="en-US" altLang="zh-CN" sz="2800" b="1" i="1">
                <a:ea typeface="楷体_GB2312" pitchFamily="49" charset="-122"/>
              </a:rPr>
              <a:t>AB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（交换路径）上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!</a:t>
            </a:r>
          </a:p>
        </p:txBody>
      </p:sp>
      <p:sp>
        <p:nvSpPr>
          <p:cNvPr id="11365" name="Text Box 101">
            <a:extLst>
              <a:ext uri="{FF2B5EF4-FFF2-40B4-BE49-F238E27FC236}">
                <a16:creationId xmlns:a16="http://schemas.microsoft.com/office/drawing/2014/main" id="{13C78307-C5D6-4882-AB9D-1F17259A0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410200"/>
            <a:ext cx="4800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因为在</a:t>
            </a:r>
            <a:r>
              <a:rPr lang="en-US" altLang="zh-CN" sz="2800" b="1" i="1"/>
              <a:t>AB</a:t>
            </a:r>
            <a:r>
              <a:rPr lang="zh-CN" altLang="en-US" sz="2800" b="1"/>
              <a:t>外的任一点</a:t>
            </a:r>
            <a:r>
              <a:rPr lang="en-US" altLang="zh-CN" sz="2800" b="1" i="1"/>
              <a:t>p</a:t>
            </a:r>
            <a:r>
              <a:rPr lang="en-US" altLang="zh-CN" sz="2800" b="1" i="1">
                <a:cs typeface="Times New Roman" panose="02020603050405020304" pitchFamily="18" charset="0"/>
              </a:rPr>
              <a:t>'</a:t>
            </a:r>
            <a:r>
              <a:rPr lang="en-US" altLang="zh-CN" sz="2800" b="1"/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(</a:t>
            </a:r>
            <a:r>
              <a:rPr lang="zh-CN" altLang="zh-CN" sz="2800" b="1"/>
              <a:t>双方</a:t>
            </a:r>
            <a:r>
              <a:rPr lang="en-US" altLang="zh-CN" sz="2800" b="1"/>
              <a:t>)</a:t>
            </a:r>
            <a:r>
              <a:rPr lang="zh-CN" altLang="en-US" sz="2800" b="1"/>
              <a:t>满意度低于</a:t>
            </a:r>
            <a:r>
              <a:rPr lang="en-US" altLang="zh-CN" sz="2800" b="1" i="1"/>
              <a:t>AB</a:t>
            </a:r>
            <a:r>
              <a:rPr lang="zh-CN" altLang="en-US" sz="2800" b="1"/>
              <a:t>上的点</a:t>
            </a:r>
            <a:r>
              <a:rPr lang="en-US" altLang="zh-CN" sz="2800" b="1" i="1"/>
              <a:t>p.</a:t>
            </a:r>
            <a:endParaRPr lang="en-US" altLang="zh-CN" sz="2800" b="1"/>
          </a:p>
        </p:txBody>
      </p:sp>
      <p:sp>
        <p:nvSpPr>
          <p:cNvPr id="11366" name="Text Box 102">
            <a:extLst>
              <a:ext uri="{FF2B5EF4-FFF2-40B4-BE49-F238E27FC236}">
                <a16:creationId xmlns:a16="http://schemas.microsoft.com/office/drawing/2014/main" id="{7286179E-F0AB-4EBD-9E62-AF7D26E739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743200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两族曲线切点连线记作</a:t>
            </a:r>
            <a:r>
              <a:rPr lang="en-US" altLang="zh-CN" sz="2800" b="1" i="1">
                <a:ea typeface="楷体_GB2312" pitchFamily="49" charset="-122"/>
              </a:rPr>
              <a:t>AB</a:t>
            </a:r>
            <a:endParaRPr lang="en-US" altLang="zh-CN" sz="2800" b="1" i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326" name="Text Box 2">
            <a:extLst>
              <a:ext uri="{FF2B5EF4-FFF2-40B4-BE49-F238E27FC236}">
                <a16:creationId xmlns:a16="http://schemas.microsoft.com/office/drawing/2014/main" id="{47C87E7C-966F-4DF1-BCA2-3BA152DDD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04813"/>
            <a:ext cx="2362200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分析与建模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1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1000"/>
                                        <p:tgtEl>
                                          <p:spTgt spid="1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1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1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1000"/>
                                        <p:tgtEl>
                                          <p:spTgt spid="1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1" grpId="0" animBg="1" autoUpdateAnimBg="0"/>
      <p:bldP spid="11345" grpId="0" animBg="1"/>
      <p:bldP spid="11353" grpId="0" animBg="1" autoUpdateAnimBg="0"/>
      <p:bldP spid="11354" grpId="0" animBg="1" autoUpdateAnimBg="0"/>
      <p:bldP spid="11363" grpId="0" animBg="1"/>
      <p:bldP spid="11365" grpId="0" animBg="1" autoUpdateAnimBg="0"/>
      <p:bldP spid="11366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4">
            <a:extLst>
              <a:ext uri="{FF2B5EF4-FFF2-40B4-BE49-F238E27FC236}">
                <a16:creationId xmlns:a16="http://schemas.microsoft.com/office/drawing/2014/main" id="{35629834-F5FE-4876-B2D4-AB8437A9E7E8}"/>
              </a:ext>
            </a:extLst>
          </p:cNvPr>
          <p:cNvGrpSpPr>
            <a:grpSpLocks/>
          </p:cNvGrpSpPr>
          <p:nvPr/>
        </p:nvGrpSpPr>
        <p:grpSpPr bwMode="auto">
          <a:xfrm>
            <a:off x="5754688" y="3994150"/>
            <a:ext cx="2438400" cy="1676400"/>
            <a:chOff x="624" y="0"/>
            <a:chExt cx="1536" cy="1056"/>
          </a:xfrm>
        </p:grpSpPr>
        <p:sp>
          <p:nvSpPr>
            <p:cNvPr id="14374" name="Arc 6">
              <a:extLst>
                <a:ext uri="{FF2B5EF4-FFF2-40B4-BE49-F238E27FC236}">
                  <a16:creationId xmlns:a16="http://schemas.microsoft.com/office/drawing/2014/main" id="{98EC9D50-3E97-4A51-A412-E1D52CB4187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0" y="164"/>
              <a:ext cx="1200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Text Box 11">
              <a:extLst>
                <a:ext uri="{FF2B5EF4-FFF2-40B4-BE49-F238E27FC236}">
                  <a16:creationId xmlns:a16="http://schemas.microsoft.com/office/drawing/2014/main" id="{BBC8E490-FC1F-4491-8689-78CF57D70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7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A</a:t>
              </a:r>
            </a:p>
          </p:txBody>
        </p:sp>
        <p:sp>
          <p:nvSpPr>
            <p:cNvPr id="14376" name="Text Box 12">
              <a:extLst>
                <a:ext uri="{FF2B5EF4-FFF2-40B4-BE49-F238E27FC236}">
                  <a16:creationId xmlns:a16="http://schemas.microsoft.com/office/drawing/2014/main" id="{3C1E0D2F-E876-46DE-9DA0-963594C41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B</a:t>
              </a:r>
            </a:p>
          </p:txBody>
        </p:sp>
      </p:grpSp>
      <p:sp>
        <p:nvSpPr>
          <p:cNvPr id="14339" name="Text Box 20">
            <a:extLst>
              <a:ext uri="{FF2B5EF4-FFF2-40B4-BE49-F238E27FC236}">
                <a16:creationId xmlns:a16="http://schemas.microsoft.com/office/drawing/2014/main" id="{ABABB518-9EE0-4414-842A-109B5020F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7200"/>
            <a:ext cx="4560888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交换方案的进一步确定</a:t>
            </a:r>
          </a:p>
        </p:txBody>
      </p:sp>
      <p:sp>
        <p:nvSpPr>
          <p:cNvPr id="12309" name="Text Box 21">
            <a:extLst>
              <a:ext uri="{FF2B5EF4-FFF2-40B4-BE49-F238E27FC236}">
                <a16:creationId xmlns:a16="http://schemas.microsoft.com/office/drawing/2014/main" id="{28BD1868-C81D-46EA-BF19-68663AE38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81100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交换方案 </a:t>
            </a:r>
            <a:r>
              <a:rPr lang="en-US" altLang="zh-CN" sz="2800" b="1" dirty="0"/>
              <a:t>~ </a:t>
            </a:r>
            <a:r>
              <a:rPr lang="zh-CN" altLang="en-US" sz="2800" b="1" dirty="0"/>
              <a:t>交换后甲的占有量 </a:t>
            </a:r>
            <a:r>
              <a:rPr lang="en-US" altLang="zh-CN" sz="2800" b="1" dirty="0"/>
              <a:t>(</a:t>
            </a:r>
            <a:r>
              <a:rPr lang="en-US" altLang="zh-CN" sz="2800" b="1" i="1" dirty="0" err="1"/>
              <a:t>x,y</a:t>
            </a:r>
            <a:r>
              <a:rPr lang="en-US" altLang="zh-CN" sz="2800" b="1" dirty="0"/>
              <a:t>)</a:t>
            </a:r>
          </a:p>
        </p:txBody>
      </p:sp>
      <p:sp>
        <p:nvSpPr>
          <p:cNvPr id="12310" name="Text Box 22">
            <a:extLst>
              <a:ext uri="{FF2B5EF4-FFF2-40B4-BE49-F238E27FC236}">
                <a16:creationId xmlns:a16="http://schemas.microsoft.com/office/drawing/2014/main" id="{671396E0-15FF-4EF9-9F3C-1D5E0CC75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3" y="1628775"/>
            <a:ext cx="25146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0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x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en-US" altLang="zh-CN" sz="2800" b="1">
                <a:sym typeface="Symbol" panose="05050102010706020507" pitchFamily="18" charset="2"/>
              </a:rPr>
              <a:t>, </a:t>
            </a:r>
            <a:r>
              <a:rPr lang="en-US" altLang="zh-CN" sz="2800" b="1"/>
              <a:t>0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y</a:t>
            </a:r>
            <a:r>
              <a:rPr lang="en-US" altLang="zh-CN" sz="2800" b="1">
                <a:sym typeface="Symbol" panose="05050102010706020507" pitchFamily="18" charset="2"/>
              </a:rPr>
              <a:t></a:t>
            </a:r>
            <a:r>
              <a:rPr lang="en-US" altLang="zh-CN" sz="2800" b="1" i="1">
                <a:sym typeface="Symbol" panose="05050102010706020507" pitchFamily="18" charset="2"/>
              </a:rPr>
              <a:t>y</a:t>
            </a:r>
            <a:r>
              <a:rPr lang="en-US" altLang="zh-CN" sz="2800" b="1" baseline="-25000">
                <a:sym typeface="Symbol" panose="05050102010706020507" pitchFamily="18" charset="2"/>
              </a:rPr>
              <a:t>0</a:t>
            </a:r>
            <a:r>
              <a:rPr lang="zh-CN" altLang="zh-CN" sz="2800" b="1">
                <a:sym typeface="Symbol" panose="05050102010706020507" pitchFamily="18" charset="2"/>
              </a:rPr>
              <a:t>矩形内任一点</a:t>
            </a:r>
            <a:endParaRPr lang="zh-CN" altLang="en-US" sz="2800" b="1" baseline="-25000">
              <a:sym typeface="Symbol" panose="05050102010706020507" pitchFamily="18" charset="2"/>
            </a:endParaRPr>
          </a:p>
        </p:txBody>
      </p:sp>
      <p:sp>
        <p:nvSpPr>
          <p:cNvPr id="12311" name="Text Box 23">
            <a:extLst>
              <a:ext uri="{FF2B5EF4-FFF2-40B4-BE49-F238E27FC236}">
                <a16:creationId xmlns:a16="http://schemas.microsoft.com/office/drawing/2014/main" id="{8BF81A76-6520-4917-9550-9EE0D8C86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698625"/>
            <a:ext cx="1295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交换路径</a:t>
            </a:r>
            <a:r>
              <a:rPr lang="en-US" altLang="zh-CN" sz="2800" b="1" i="1"/>
              <a:t>AB</a:t>
            </a:r>
          </a:p>
        </p:txBody>
      </p:sp>
      <p:grpSp>
        <p:nvGrpSpPr>
          <p:cNvPr id="3" name="Group 36">
            <a:extLst>
              <a:ext uri="{FF2B5EF4-FFF2-40B4-BE49-F238E27FC236}">
                <a16:creationId xmlns:a16="http://schemas.microsoft.com/office/drawing/2014/main" id="{9E84B4FF-0CE5-4324-B6B0-F3E8059518E0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1916113"/>
            <a:ext cx="3505200" cy="1447800"/>
            <a:chOff x="1056" y="1200"/>
            <a:chExt cx="2208" cy="912"/>
          </a:xfrm>
        </p:grpSpPr>
        <p:sp>
          <p:nvSpPr>
            <p:cNvPr id="14372" name="Text Box 24">
              <a:extLst>
                <a:ext uri="{FF2B5EF4-FFF2-40B4-BE49-F238E27FC236}">
                  <a16:creationId xmlns:a16="http://schemas.microsoft.com/office/drawing/2014/main" id="{09A8F2C9-7FCA-4E68-B433-99947375B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85"/>
              <a:ext cx="2208" cy="327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双方的无差别曲线族</a:t>
              </a:r>
            </a:p>
          </p:txBody>
        </p:sp>
        <p:sp>
          <p:nvSpPr>
            <p:cNvPr id="14373" name="AutoShape 25">
              <a:extLst>
                <a:ext uri="{FF2B5EF4-FFF2-40B4-BE49-F238E27FC236}">
                  <a16:creationId xmlns:a16="http://schemas.microsoft.com/office/drawing/2014/main" id="{7B29AE7B-07BF-4952-A60D-E892AF81C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200"/>
              <a:ext cx="384" cy="288"/>
            </a:xfrm>
            <a:prstGeom prst="notchedRightArrow">
              <a:avLst>
                <a:gd name="adj1" fmla="val 50000"/>
                <a:gd name="adj2" fmla="val 33333"/>
              </a:avLst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2317" name="Text Box 29">
            <a:extLst>
              <a:ext uri="{FF2B5EF4-FFF2-40B4-BE49-F238E27FC236}">
                <a16:creationId xmlns:a16="http://schemas.microsoft.com/office/drawing/2014/main" id="{EA3E6ABD-AAAF-4B29-9A78-025DD0777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57563"/>
            <a:ext cx="44958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/>
              <a:t>X,Y</a:t>
            </a:r>
            <a:r>
              <a:rPr lang="zh-CN" altLang="en-US" sz="2800" b="1"/>
              <a:t>用货币衡量其价值，设交换前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价值相同，则等价交换原则下交换路径为</a:t>
            </a:r>
          </a:p>
        </p:txBody>
      </p:sp>
      <p:grpSp>
        <p:nvGrpSpPr>
          <p:cNvPr id="4" name="Group 49">
            <a:extLst>
              <a:ext uri="{FF2B5EF4-FFF2-40B4-BE49-F238E27FC236}">
                <a16:creationId xmlns:a16="http://schemas.microsoft.com/office/drawing/2014/main" id="{AA819C1E-C294-4AB1-823E-DCE089342D50}"/>
              </a:ext>
            </a:extLst>
          </p:cNvPr>
          <p:cNvGrpSpPr>
            <a:grpSpLocks/>
          </p:cNvGrpSpPr>
          <p:nvPr/>
        </p:nvGrpSpPr>
        <p:grpSpPr bwMode="auto">
          <a:xfrm>
            <a:off x="5559425" y="3727450"/>
            <a:ext cx="3352800" cy="1920875"/>
            <a:chOff x="3600" y="2400"/>
            <a:chExt cx="2112" cy="1210"/>
          </a:xfrm>
        </p:grpSpPr>
        <p:sp>
          <p:nvSpPr>
            <p:cNvPr id="14369" name="Line 5">
              <a:extLst>
                <a:ext uri="{FF2B5EF4-FFF2-40B4-BE49-F238E27FC236}">
                  <a16:creationId xmlns:a16="http://schemas.microsoft.com/office/drawing/2014/main" id="{3F9E080E-5A0A-4496-9E66-D0EFBEC43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592"/>
              <a:ext cx="1584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0" name="Text Box 14">
              <a:extLst>
                <a:ext uri="{FF2B5EF4-FFF2-40B4-BE49-F238E27FC236}">
                  <a16:creationId xmlns:a16="http://schemas.microsoft.com/office/drawing/2014/main" id="{3FBB4696-7511-4B27-A359-95A3B3D952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3360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</a:p>
          </p:txBody>
        </p:sp>
        <p:sp>
          <p:nvSpPr>
            <p:cNvPr id="14371" name="Text Box 16">
              <a:extLst>
                <a:ext uri="{FF2B5EF4-FFF2-40B4-BE49-F238E27FC236}">
                  <a16:creationId xmlns:a16="http://schemas.microsoft.com/office/drawing/2014/main" id="{F71076BE-8B68-4A8A-AD87-AF490D1B1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40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D</a:t>
              </a:r>
            </a:p>
          </p:txBody>
        </p:sp>
      </p:grpSp>
      <p:sp>
        <p:nvSpPr>
          <p:cNvPr id="12319" name="Text Box 31">
            <a:extLst>
              <a:ext uri="{FF2B5EF4-FFF2-40B4-BE49-F238E27FC236}">
                <a16:creationId xmlns:a16="http://schemas.microsoft.com/office/drawing/2014/main" id="{58476D21-2051-446E-8A71-4D5DB38EA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084763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,0), (0,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) </a:t>
            </a:r>
            <a:r>
              <a:rPr lang="zh-CN" altLang="zh-CN" sz="2800" b="1"/>
              <a:t>两点的连线</a:t>
            </a:r>
            <a:r>
              <a:rPr lang="en-US" altLang="zh-CN" sz="2800" b="1" i="1"/>
              <a:t>CD</a:t>
            </a:r>
            <a:r>
              <a:rPr lang="en-US" altLang="zh-CN" sz="2800" b="1"/>
              <a:t>.</a:t>
            </a:r>
          </a:p>
        </p:txBody>
      </p:sp>
      <p:sp>
        <p:nvSpPr>
          <p:cNvPr id="12320" name="Text Box 32">
            <a:extLst>
              <a:ext uri="{FF2B5EF4-FFF2-40B4-BE49-F238E27FC236}">
                <a16:creationId xmlns:a16="http://schemas.microsoft.com/office/drawing/2014/main" id="{46840F8A-76DF-4DA9-B659-F9B031B21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546225"/>
            <a:ext cx="1676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AB</a:t>
            </a:r>
            <a:r>
              <a:rPr lang="zh-CN" altLang="zh-CN" sz="2800" b="1"/>
              <a:t>与</a:t>
            </a:r>
            <a:r>
              <a:rPr lang="en-US" altLang="zh-CN" sz="2800" b="1" i="1"/>
              <a:t>CD</a:t>
            </a:r>
            <a:r>
              <a:rPr lang="zh-CN" altLang="en-US" sz="2800" b="1"/>
              <a:t>的交点</a:t>
            </a:r>
            <a:r>
              <a:rPr lang="en-US" altLang="zh-CN" sz="2800" b="1" i="1"/>
              <a:t>p</a:t>
            </a:r>
            <a:endParaRPr lang="en-US" altLang="zh-CN" sz="2800" b="1"/>
          </a:p>
        </p:txBody>
      </p:sp>
      <p:sp>
        <p:nvSpPr>
          <p:cNvPr id="12327" name="Text Box 39">
            <a:extLst>
              <a:ext uri="{FF2B5EF4-FFF2-40B4-BE49-F238E27FC236}">
                <a16:creationId xmlns:a16="http://schemas.microsoft.com/office/drawing/2014/main" id="{35DD889C-8009-4AE2-A07B-0408AB839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805488"/>
            <a:ext cx="845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</a:t>
            </a:r>
            <a:r>
              <a:rPr lang="en-US" altLang="zh-CN" sz="2800" b="1" i="1"/>
              <a:t>X</a:t>
            </a:r>
            <a:r>
              <a:rPr lang="zh-CN" altLang="zh-CN" sz="2800" b="1"/>
              <a:t>单价</a:t>
            </a:r>
            <a:r>
              <a:rPr lang="en-US" altLang="zh-CN" sz="2800" b="1" i="1"/>
              <a:t>a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zh-CN" altLang="zh-CN" sz="2800" b="1"/>
              <a:t>单价</a:t>
            </a:r>
            <a:r>
              <a:rPr lang="en-US" altLang="zh-CN" sz="2800" b="1" i="1"/>
              <a:t>b</a:t>
            </a:r>
            <a:r>
              <a:rPr lang="en-US" altLang="zh-CN" sz="2800" b="1"/>
              <a:t>, </a:t>
            </a:r>
            <a:r>
              <a:rPr lang="zh-CN" altLang="zh-CN" sz="2800" b="1"/>
              <a:t>则等价交换下</a:t>
            </a:r>
            <a:r>
              <a:rPr lang="en-US" altLang="zh-CN" sz="2800" b="1" i="1"/>
              <a:t>ax</a:t>
            </a:r>
            <a:r>
              <a:rPr lang="en-US" altLang="zh-CN" sz="2800" b="1"/>
              <a:t>+</a:t>
            </a:r>
            <a:r>
              <a:rPr lang="en-US" altLang="zh-CN" sz="2800" b="1" i="1"/>
              <a:t>by</a:t>
            </a:r>
            <a:r>
              <a:rPr lang="en-US" altLang="zh-CN" sz="2800" b="1"/>
              <a:t>=</a:t>
            </a:r>
            <a:r>
              <a:rPr lang="en-US" altLang="zh-CN" sz="2800" b="1" i="1"/>
              <a:t>s </a:t>
            </a:r>
            <a:r>
              <a:rPr lang="en-US" altLang="zh-CN" sz="2800" b="1"/>
              <a:t>(</a:t>
            </a:r>
            <a:r>
              <a:rPr lang="en-US" altLang="zh-CN" sz="2800" b="1" i="1"/>
              <a:t>s=ax</a:t>
            </a:r>
            <a:r>
              <a:rPr lang="en-US" altLang="zh-CN" sz="2800" b="1" baseline="-25000"/>
              <a:t>0</a:t>
            </a:r>
            <a:r>
              <a:rPr lang="en-US" altLang="zh-CN" sz="2800" b="1" i="1"/>
              <a:t>=by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)</a:t>
            </a:r>
          </a:p>
        </p:txBody>
      </p:sp>
      <p:grpSp>
        <p:nvGrpSpPr>
          <p:cNvPr id="16428" name="Group 44">
            <a:extLst>
              <a:ext uri="{FF2B5EF4-FFF2-40B4-BE49-F238E27FC236}">
                <a16:creationId xmlns:a16="http://schemas.microsoft.com/office/drawing/2014/main" id="{B7864D7B-7951-4157-BDA2-D0E76B51E4B7}"/>
              </a:ext>
            </a:extLst>
          </p:cNvPr>
          <p:cNvGrpSpPr>
            <a:grpSpLocks/>
          </p:cNvGrpSpPr>
          <p:nvPr/>
        </p:nvGrpSpPr>
        <p:grpSpPr bwMode="auto">
          <a:xfrm>
            <a:off x="5648325" y="1833563"/>
            <a:ext cx="1371600" cy="1739900"/>
            <a:chOff x="3558" y="73"/>
            <a:chExt cx="864" cy="1096"/>
          </a:xfrm>
        </p:grpSpPr>
        <p:sp>
          <p:nvSpPr>
            <p:cNvPr id="14367" name="Text Box 27">
              <a:extLst>
                <a:ext uri="{FF2B5EF4-FFF2-40B4-BE49-F238E27FC236}">
                  <a16:creationId xmlns:a16="http://schemas.microsoft.com/office/drawing/2014/main" id="{5108FC24-5C4D-4D40-8CFC-D1B9EEA76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8" y="573"/>
              <a:ext cx="864" cy="5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等价交换原则</a:t>
              </a:r>
            </a:p>
          </p:txBody>
        </p:sp>
        <p:sp>
          <p:nvSpPr>
            <p:cNvPr id="14368" name="AutoShape 30">
              <a:extLst>
                <a:ext uri="{FF2B5EF4-FFF2-40B4-BE49-F238E27FC236}">
                  <a16:creationId xmlns:a16="http://schemas.microsoft.com/office/drawing/2014/main" id="{0C292079-EBD0-4FD2-838C-EEAA30E3D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73"/>
              <a:ext cx="384" cy="288"/>
            </a:xfrm>
            <a:prstGeom prst="notchedRightArrow">
              <a:avLst>
                <a:gd name="adj1" fmla="val 50000"/>
                <a:gd name="adj2" fmla="val 33333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6426" name="Group 42">
            <a:extLst>
              <a:ext uri="{FF2B5EF4-FFF2-40B4-BE49-F238E27FC236}">
                <a16:creationId xmlns:a16="http://schemas.microsoft.com/office/drawing/2014/main" id="{B24506A5-4767-4FE9-B61B-98C749C18853}"/>
              </a:ext>
            </a:extLst>
          </p:cNvPr>
          <p:cNvGrpSpPr>
            <a:grpSpLocks/>
          </p:cNvGrpSpPr>
          <p:nvPr/>
        </p:nvGrpSpPr>
        <p:grpSpPr bwMode="auto">
          <a:xfrm>
            <a:off x="5210175" y="3286125"/>
            <a:ext cx="3886200" cy="2663825"/>
            <a:chOff x="3282" y="-17"/>
            <a:chExt cx="2448" cy="1678"/>
          </a:xfrm>
        </p:grpSpPr>
        <p:sp>
          <p:nvSpPr>
            <p:cNvPr id="14355" name="Text Box 10">
              <a:extLst>
                <a:ext uri="{FF2B5EF4-FFF2-40B4-BE49-F238E27FC236}">
                  <a16:creationId xmlns:a16="http://schemas.microsoft.com/office/drawing/2014/main" id="{D8791B5A-79F0-4EDA-A205-FEECE241F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8" y="1373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  <p:grpSp>
          <p:nvGrpSpPr>
            <p:cNvPr id="14356" name="Group 41">
              <a:extLst>
                <a:ext uri="{FF2B5EF4-FFF2-40B4-BE49-F238E27FC236}">
                  <a16:creationId xmlns:a16="http://schemas.microsoft.com/office/drawing/2014/main" id="{FF925574-7239-4223-AF41-0BC9E65665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2" y="-17"/>
              <a:ext cx="2320" cy="1642"/>
              <a:chOff x="3282" y="-17"/>
              <a:chExt cx="2320" cy="1642"/>
            </a:xfrm>
          </p:grpSpPr>
          <p:sp>
            <p:nvSpPr>
              <p:cNvPr id="14357" name="Line 3">
                <a:extLst>
                  <a:ext uri="{FF2B5EF4-FFF2-40B4-BE49-F238E27FC236}">
                    <a16:creationId xmlns:a16="http://schemas.microsoft.com/office/drawing/2014/main" id="{D4733E4A-33F7-4B77-885E-6DFDDD266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2" y="1414"/>
                <a:ext cx="19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8" name="Line 4">
                <a:extLst>
                  <a:ext uri="{FF2B5EF4-FFF2-40B4-BE49-F238E27FC236}">
                    <a16:creationId xmlns:a16="http://schemas.microsoft.com/office/drawing/2014/main" id="{26FD5A9E-9FDE-44ED-9A80-3794BD05A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2" y="118"/>
                <a:ext cx="0" cy="12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9" name="Text Box 7">
                <a:extLst>
                  <a:ext uri="{FF2B5EF4-FFF2-40B4-BE49-F238E27FC236}">
                    <a16:creationId xmlns:a16="http://schemas.microsoft.com/office/drawing/2014/main" id="{317E26D4-B3F1-4D6E-A17D-C7F883C113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0" y="22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/>
                  <a:t>y</a:t>
                </a:r>
                <a:endParaRPr lang="en-US" altLang="zh-CN" sz="2000" b="1"/>
              </a:p>
            </p:txBody>
          </p:sp>
          <p:sp>
            <p:nvSpPr>
              <p:cNvPr id="14360" name="Text Box 8">
                <a:extLst>
                  <a:ext uri="{FF2B5EF4-FFF2-40B4-BE49-F238E27FC236}">
                    <a16:creationId xmlns:a16="http://schemas.microsoft.com/office/drawing/2014/main" id="{4671DC38-A2A1-44B3-BA37-CC046D1CBF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2" y="310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/>
                  <a:t>y</a:t>
                </a:r>
                <a:r>
                  <a:rPr lang="en-US" altLang="zh-CN" sz="2000" b="1" baseline="-25000"/>
                  <a:t>0</a:t>
                </a:r>
                <a:endParaRPr lang="en-US" altLang="zh-CN" sz="2000" b="1"/>
              </a:p>
            </p:txBody>
          </p:sp>
          <p:sp>
            <p:nvSpPr>
              <p:cNvPr id="14361" name="Text Box 9">
                <a:extLst>
                  <a:ext uri="{FF2B5EF4-FFF2-40B4-BE49-F238E27FC236}">
                    <a16:creationId xmlns:a16="http://schemas.microsoft.com/office/drawing/2014/main" id="{B2342913-70BD-4053-B137-A3661F4175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78" y="1366"/>
                <a:ext cx="52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/>
                  <a:t>O</a:t>
                </a:r>
              </a:p>
            </p:txBody>
          </p:sp>
          <p:sp>
            <p:nvSpPr>
              <p:cNvPr id="14362" name="Text Box 17">
                <a:extLst>
                  <a:ext uri="{FF2B5EF4-FFF2-40B4-BE49-F238E27FC236}">
                    <a16:creationId xmlns:a16="http://schemas.microsoft.com/office/drawing/2014/main" id="{52B58847-CD34-4D51-B0DF-02F13D29F9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6" y="-17"/>
                <a:ext cx="480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6000" b="1"/>
                  <a:t>.</a:t>
                </a:r>
              </a:p>
            </p:txBody>
          </p:sp>
          <p:sp>
            <p:nvSpPr>
              <p:cNvPr id="14363" name="Text Box 18">
                <a:extLst>
                  <a:ext uri="{FF2B5EF4-FFF2-40B4-BE49-F238E27FC236}">
                    <a16:creationId xmlns:a16="http://schemas.microsoft.com/office/drawing/2014/main" id="{F29657BD-E6C1-4A22-9554-47077D8EE5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0" y="976"/>
                <a:ext cx="287" cy="6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6000" b="1"/>
                  <a:t>.</a:t>
                </a:r>
              </a:p>
            </p:txBody>
          </p:sp>
          <p:sp>
            <p:nvSpPr>
              <p:cNvPr id="14364" name="Text Box 42">
                <a:extLst>
                  <a:ext uri="{FF2B5EF4-FFF2-40B4-BE49-F238E27FC236}">
                    <a16:creationId xmlns:a16="http://schemas.microsoft.com/office/drawing/2014/main" id="{BB3AD878-BB3A-4F17-8F51-7AF2B59465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6" y="1375"/>
                <a:ext cx="25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/>
                  <a:t>x</a:t>
                </a:r>
                <a:endParaRPr lang="en-US" altLang="zh-CN" sz="2000" b="1"/>
              </a:p>
            </p:txBody>
          </p:sp>
          <p:sp>
            <p:nvSpPr>
              <p:cNvPr id="14365" name="Line 45">
                <a:extLst>
                  <a:ext uri="{FF2B5EF4-FFF2-40B4-BE49-F238E27FC236}">
                    <a16:creationId xmlns:a16="http://schemas.microsoft.com/office/drawing/2014/main" id="{6103B078-4A90-41DA-9688-6D350E0D84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2" y="454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66" name="Line 46">
                <a:extLst>
                  <a:ext uri="{FF2B5EF4-FFF2-40B4-BE49-F238E27FC236}">
                    <a16:creationId xmlns:a16="http://schemas.microsoft.com/office/drawing/2014/main" id="{4B329E5F-6170-41BB-B144-1BC1D20C07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06" y="454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4">
            <a:extLst>
              <a:ext uri="{FF2B5EF4-FFF2-40B4-BE49-F238E27FC236}">
                <a16:creationId xmlns:a16="http://schemas.microsoft.com/office/drawing/2014/main" id="{D0947A1B-0A36-4A81-9C01-80CD321A43BA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384550"/>
            <a:ext cx="601663" cy="1571625"/>
            <a:chOff x="3878" y="2223"/>
            <a:chExt cx="379" cy="990"/>
          </a:xfrm>
        </p:grpSpPr>
        <p:sp>
          <p:nvSpPr>
            <p:cNvPr id="14353" name="Text Box 13">
              <a:extLst>
                <a:ext uri="{FF2B5EF4-FFF2-40B4-BE49-F238E27FC236}">
                  <a16:creationId xmlns:a16="http://schemas.microsoft.com/office/drawing/2014/main" id="{AEF61445-D17E-429B-AB27-F538B4B97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9" y="288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p</a:t>
              </a:r>
              <a:endParaRPr lang="en-US" altLang="zh-CN" sz="2800" b="1"/>
            </a:p>
          </p:txBody>
        </p:sp>
        <p:sp>
          <p:nvSpPr>
            <p:cNvPr id="14354" name="Text Box 3">
              <a:extLst>
                <a:ext uri="{FF2B5EF4-FFF2-40B4-BE49-F238E27FC236}">
                  <a16:creationId xmlns:a16="http://schemas.microsoft.com/office/drawing/2014/main" id="{BEFD2924-3754-4304-90A4-F6A837A3CB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2223"/>
              <a:ext cx="272" cy="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9600"/>
                <a:t>.</a:t>
              </a:r>
            </a:p>
          </p:txBody>
        </p:sp>
      </p:grpSp>
      <p:graphicFrame>
        <p:nvGraphicFramePr>
          <p:cNvPr id="14352" name="Object 5">
            <a:extLst>
              <a:ext uri="{FF2B5EF4-FFF2-40B4-BE49-F238E27FC236}">
                <a16:creationId xmlns:a16="http://schemas.microsoft.com/office/drawing/2014/main" id="{BD370505-A696-4539-8BA4-54BFA73954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476250"/>
          <a:ext cx="630238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1" name="Clip" r:id="rId3" imgW="3886200" imgH="3944938" progId="MS_ClipArt_Gallery.2">
                  <p:embed/>
                </p:oleObj>
              </mc:Choice>
              <mc:Fallback>
                <p:oleObj name="Clip" r:id="rId3" imgW="3886200" imgH="3944938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6250"/>
                        <a:ext cx="630238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10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9" grpId="0" autoUpdateAnimBg="0"/>
      <p:bldP spid="12310" grpId="0"/>
      <p:bldP spid="12311" grpId="0" autoUpdateAnimBg="0"/>
      <p:bldP spid="12317" grpId="0" autoUpdateAnimBg="0"/>
      <p:bldP spid="12319" grpId="0" autoUpdateAnimBg="0"/>
      <p:bldP spid="12320" grpId="0" autoUpdateAnimBg="0"/>
      <p:bldP spid="1232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3">
            <a:extLst>
              <a:ext uri="{FF2B5EF4-FFF2-40B4-BE49-F238E27FC236}">
                <a16:creationId xmlns:a16="http://schemas.microsoft.com/office/drawing/2014/main" id="{26E1CA8D-9BD2-4B7D-AFE6-1B76ABA05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84313"/>
            <a:ext cx="1243012" cy="57943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问题</a:t>
            </a:r>
            <a:r>
              <a:rPr lang="en-US" altLang="zh-CN" sz="3200" b="1" dirty="0">
                <a:ea typeface="楷体_GB2312" pitchFamily="49" charset="-122"/>
              </a:rPr>
              <a:t>:</a:t>
            </a:r>
          </a:p>
        </p:txBody>
      </p:sp>
      <p:sp>
        <p:nvSpPr>
          <p:cNvPr id="62491" name="Rectangle 57">
            <a:extLst>
              <a:ext uri="{FF2B5EF4-FFF2-40B4-BE49-F238E27FC236}">
                <a16:creationId xmlns:a16="http://schemas.microsoft.com/office/drawing/2014/main" id="{421AD6E2-A66F-4549-8181-10262E3FD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33400"/>
            <a:ext cx="407035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ea typeface="楷体_GB2312" pitchFamily="49" charset="-122"/>
              </a:rPr>
              <a:t>4</a:t>
            </a:r>
            <a:r>
              <a:rPr lang="zh-CN" altLang="en-US" sz="3600" b="1">
                <a:ea typeface="楷体_GB2312" pitchFamily="49" charset="-122"/>
              </a:rPr>
              <a:t>、评选举重总冠军</a:t>
            </a:r>
            <a:endParaRPr lang="zh-CN" altLang="en-US" sz="36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15146266-6EC3-4D76-8086-3B21D83B2D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416562"/>
              </p:ext>
            </p:extLst>
          </p:nvPr>
        </p:nvGraphicFramePr>
        <p:xfrm>
          <a:off x="539552" y="2204864"/>
          <a:ext cx="8424940" cy="1402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32114395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28785227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4219189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6183379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61907114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919043727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53750454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1105695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48923280"/>
                    </a:ext>
                  </a:extLst>
                </a:gridCol>
                <a:gridCol w="216028">
                  <a:extLst>
                    <a:ext uri="{9D8B030D-6E8A-4147-A177-3AD203B41FA5}">
                      <a16:colId xmlns:a16="http://schemas.microsoft.com/office/drawing/2014/main" val="3417379038"/>
                    </a:ext>
                  </a:extLst>
                </a:gridCol>
              </a:tblGrid>
              <a:tr h="22682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56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62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69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77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85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94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105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&gt;105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258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抓举</a:t>
                      </a:r>
                      <a:endParaRPr lang="en-US" altLang="zh-CN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挺举</a:t>
                      </a:r>
                      <a:endParaRPr lang="en-US" altLang="zh-CN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  <a:p>
                      <a:pPr algn="ctr"/>
                      <a:r>
                        <a:rPr lang="zh-CN" altLang="en-US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总成绩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138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168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305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153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182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327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165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198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358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176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210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380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187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218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394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188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233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418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200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237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436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214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263</a:t>
                      </a:r>
                    </a:p>
                    <a:p>
                      <a:pPr algn="ctr"/>
                      <a:r>
                        <a:rPr lang="en-US" altLang="zh-CN" sz="2000" b="1" dirty="0">
                          <a:solidFill>
                            <a:srgbClr val="3333FF"/>
                          </a:solidFill>
                          <a:latin typeface="+mn-lt"/>
                        </a:rPr>
                        <a:t>472</a:t>
                      </a:r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  <a:p>
                      <a:pPr algn="ctr"/>
                      <a:endParaRPr lang="en-US" altLang="zh-CN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  <a:p>
                      <a:pPr algn="ctr"/>
                      <a:endParaRPr lang="zh-CN" altLang="en-US" sz="2000" b="1" dirty="0">
                        <a:solidFill>
                          <a:srgbClr val="3333FF"/>
                        </a:solidFill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279987"/>
                  </a:ext>
                </a:extLst>
              </a:tr>
            </a:tbl>
          </a:graphicData>
        </a:graphic>
      </p:graphicFrame>
      <p:sp>
        <p:nvSpPr>
          <p:cNvPr id="5" name="Text Box 21">
            <a:extLst>
              <a:ext uri="{FF2B5EF4-FFF2-40B4-BE49-F238E27FC236}">
                <a16:creationId xmlns:a16="http://schemas.microsoft.com/office/drawing/2014/main" id="{8E2BCA03-E067-4889-8B6E-A732ED097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1465883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运动员体重 </a:t>
            </a:r>
            <a:r>
              <a:rPr lang="en-US" altLang="zh-CN" sz="2800" b="1" dirty="0"/>
              <a:t>w </a:t>
            </a:r>
            <a:r>
              <a:rPr lang="zh-CN" altLang="en-US" sz="2800" b="1" dirty="0"/>
              <a:t>与总成绩 </a:t>
            </a:r>
            <a:r>
              <a:rPr lang="en-US" altLang="zh-CN" sz="2800" b="1" dirty="0"/>
              <a:t>y </a:t>
            </a:r>
            <a:r>
              <a:rPr lang="zh-CN" altLang="en-US" sz="2800" b="1" dirty="0"/>
              <a:t>的关系？</a:t>
            </a:r>
            <a:endParaRPr lang="en-US" altLang="zh-CN" sz="2800" b="1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04F113C9-A46C-4C29-9142-D2539561A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95502"/>
            <a:ext cx="1243012" cy="5847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分析</a:t>
            </a:r>
            <a:r>
              <a:rPr lang="en-US" altLang="zh-CN" sz="3200" b="1" dirty="0">
                <a:ea typeface="楷体_GB2312" pitchFamily="49" charset="-122"/>
              </a:rPr>
              <a:t>:</a:t>
            </a:r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606CE8E4-5B20-4FD6-BEB4-E94622020D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4077072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、运动员体重 </a:t>
            </a:r>
            <a:r>
              <a:rPr lang="en-US" altLang="zh-CN" sz="2800" b="1" dirty="0"/>
              <a:t>w </a:t>
            </a:r>
            <a:r>
              <a:rPr lang="zh-CN" altLang="en-US" sz="2800" b="1" dirty="0"/>
              <a:t>选择级别上限</a:t>
            </a:r>
            <a:endParaRPr lang="en-US" altLang="zh-CN" sz="2800" b="1" dirty="0"/>
          </a:p>
        </p:txBody>
      </p:sp>
      <p:sp>
        <p:nvSpPr>
          <p:cNvPr id="8" name="Text Box 21">
            <a:extLst>
              <a:ext uri="{FF2B5EF4-FFF2-40B4-BE49-F238E27FC236}">
                <a16:creationId xmlns:a16="http://schemas.microsoft.com/office/drawing/2014/main" id="{B4AB0C8C-2FC0-4E25-AADA-3DAAFF68C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4709456"/>
            <a:ext cx="67687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(w, y) </a:t>
            </a:r>
            <a:r>
              <a:rPr lang="zh-CN" altLang="en-US" sz="2800" b="1" dirty="0"/>
              <a:t>共有</a:t>
            </a:r>
            <a:r>
              <a:rPr lang="en-US" altLang="zh-CN" sz="2800" b="1" dirty="0"/>
              <a:t>7</a:t>
            </a:r>
            <a:r>
              <a:rPr lang="zh-CN" altLang="en-US" sz="2800" b="1" dirty="0"/>
              <a:t>个型值点，散点图如图</a:t>
            </a:r>
            <a:r>
              <a:rPr lang="en-US" altLang="zh-CN" sz="2800" b="1" dirty="0"/>
              <a:t>1a</a:t>
            </a:r>
          </a:p>
        </p:txBody>
      </p:sp>
      <p:sp>
        <p:nvSpPr>
          <p:cNvPr id="9" name="Text Box 21">
            <a:extLst>
              <a:ext uri="{FF2B5EF4-FFF2-40B4-BE49-F238E27FC236}">
                <a16:creationId xmlns:a16="http://schemas.microsoft.com/office/drawing/2014/main" id="{7BE1E858-E6CE-4003-AA9D-B99AA4E79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5811968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、线性函数 ？其它函数？</a:t>
            </a:r>
            <a:r>
              <a:rPr lang="en-US" altLang="zh-CN" sz="2800" b="1" dirty="0"/>
              <a:t> </a:t>
            </a:r>
          </a:p>
        </p:txBody>
      </p:sp>
      <p:sp>
        <p:nvSpPr>
          <p:cNvPr id="10" name="Text Box 21">
            <a:extLst>
              <a:ext uri="{FF2B5EF4-FFF2-40B4-BE49-F238E27FC236}">
                <a16:creationId xmlns:a16="http://schemas.microsoft.com/office/drawing/2014/main" id="{02622E17-9CC5-476B-93B6-E45ABC52F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4709456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(w, y) </a:t>
            </a:r>
            <a:r>
              <a:rPr lang="zh-CN" altLang="en-US" sz="2800" b="1" dirty="0"/>
              <a:t>共有</a:t>
            </a:r>
            <a:r>
              <a:rPr lang="en-US" altLang="zh-CN" sz="2800" b="1" dirty="0"/>
              <a:t>7</a:t>
            </a:r>
            <a:r>
              <a:rPr lang="zh-CN" altLang="en-US" sz="2800" b="1" dirty="0"/>
              <a:t>个型值点</a:t>
            </a:r>
            <a:endParaRPr lang="en-US" altLang="zh-CN" sz="28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21">
                <a:extLst>
                  <a:ext uri="{FF2B5EF4-FFF2-40B4-BE49-F238E27FC236}">
                    <a16:creationId xmlns:a16="http://schemas.microsoft.com/office/drawing/2014/main" id="{CCF0474B-2115-42EE-BD01-5BC3DFB626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4514" y="5239238"/>
                <a:ext cx="5791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𝒍𝒏𝒘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𝒍𝒏𝒚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散点图呈直线， 如图</a:t>
                </a:r>
                <a:r>
                  <a:rPr lang="en-US" altLang="zh-CN" sz="2800" b="1" dirty="0"/>
                  <a:t>1b</a:t>
                </a:r>
              </a:p>
            </p:txBody>
          </p:sp>
        </mc:Choice>
        <mc:Fallback>
          <p:sp>
            <p:nvSpPr>
              <p:cNvPr id="11" name="Text Box 21">
                <a:extLst>
                  <a:ext uri="{FF2B5EF4-FFF2-40B4-BE49-F238E27FC236}">
                    <a16:creationId xmlns:a16="http://schemas.microsoft.com/office/drawing/2014/main" id="{CCF0474B-2115-42EE-BD01-5BC3DFB62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4514" y="5239238"/>
                <a:ext cx="5791200" cy="523220"/>
              </a:xfrm>
              <a:prstGeom prst="rect">
                <a:avLst/>
              </a:prstGeom>
              <a:blipFill>
                <a:blip r:embed="rId2"/>
                <a:stretch>
                  <a:fillRect t="-15116" r="-421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nimBg="1" autoUpdateAnimBg="0"/>
      <p:bldP spid="5" grpId="0" autoUpdateAnimBg="0"/>
      <p:bldP spid="6" grpId="0" animBg="1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04F113C9-A46C-4C29-9142-D2539561A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764704"/>
            <a:ext cx="1243012" cy="5847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分析</a:t>
            </a:r>
            <a:r>
              <a:rPr lang="en-US" altLang="zh-CN" sz="3200" b="1" dirty="0">
                <a:ea typeface="楷体_GB2312" pitchFamily="49" charset="-122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21">
                <a:extLst>
                  <a:ext uri="{FF2B5EF4-FFF2-40B4-BE49-F238E27FC236}">
                    <a16:creationId xmlns:a16="http://schemas.microsoft.com/office/drawing/2014/main" id="{7BE1E858-E6CE-4003-AA9D-B99AA4E79D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95736" y="816177"/>
                <a:ext cx="5791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rgbClr val="3333FF"/>
                    </a:solidFill>
                  </a:rPr>
                  <a:t>1</a:t>
                </a:r>
                <a:r>
                  <a:rPr lang="zh-CN" altLang="en-US" sz="2800" b="1" dirty="0">
                    <a:solidFill>
                      <a:srgbClr val="3333FF"/>
                    </a:solidFill>
                  </a:rPr>
                  <a:t>、线性函数 ？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dirty="0">
                  <a:solidFill>
                    <a:srgbClr val="3333FF"/>
                  </a:solidFill>
                </a:endParaRPr>
              </a:p>
            </p:txBody>
          </p:sp>
        </mc:Choice>
        <mc:Fallback>
          <p:sp>
            <p:nvSpPr>
              <p:cNvPr id="9" name="Text Box 21">
                <a:extLst>
                  <a:ext uri="{FF2B5EF4-FFF2-40B4-BE49-F238E27FC236}">
                    <a16:creationId xmlns:a16="http://schemas.microsoft.com/office/drawing/2014/main" id="{7BE1E858-E6CE-4003-AA9D-B99AA4E79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5736" y="816177"/>
                <a:ext cx="5791200" cy="523220"/>
              </a:xfrm>
              <a:prstGeom prst="rect">
                <a:avLst/>
              </a:prstGeom>
              <a:blipFill>
                <a:blip r:embed="rId2"/>
                <a:stretch>
                  <a:fillRect l="-2105" t="-16279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21">
                <a:extLst>
                  <a:ext uri="{FF2B5EF4-FFF2-40B4-BE49-F238E27FC236}">
                    <a16:creationId xmlns:a16="http://schemas.microsoft.com/office/drawing/2014/main" id="{8607E3B4-E7D9-46F4-BCC4-E96D914251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83768" y="1579171"/>
                <a:ext cx="5791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简单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估算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𝟔𝟗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1" name="Text Box 21">
                <a:extLst>
                  <a:ext uri="{FF2B5EF4-FFF2-40B4-BE49-F238E27FC236}">
                    <a16:creationId xmlns:a16="http://schemas.microsoft.com/office/drawing/2014/main" id="{8607E3B4-E7D9-46F4-BCC4-E96D91425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1579171"/>
                <a:ext cx="5791200" cy="523220"/>
              </a:xfrm>
              <a:prstGeom prst="rect">
                <a:avLst/>
              </a:prstGeom>
              <a:blipFill>
                <a:blip r:embed="rId3"/>
                <a:stretch>
                  <a:fillRect l="-2105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21">
                <a:extLst>
                  <a:ext uri="{FF2B5EF4-FFF2-40B4-BE49-F238E27FC236}">
                    <a16:creationId xmlns:a16="http://schemas.microsoft.com/office/drawing/2014/main" id="{F833E527-B960-4C57-9636-BE179D179E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3325" y="2148544"/>
                <a:ext cx="5791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最小二乘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𝟕𝟎𝟑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2" name="Text Box 21">
                <a:extLst>
                  <a:ext uri="{FF2B5EF4-FFF2-40B4-BE49-F238E27FC236}">
                    <a16:creationId xmlns:a16="http://schemas.microsoft.com/office/drawing/2014/main" id="{F833E527-B960-4C57-9636-BE179D179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3325" y="2148544"/>
                <a:ext cx="5791200" cy="523220"/>
              </a:xfrm>
              <a:prstGeom prst="rect">
                <a:avLst/>
              </a:prstGeom>
              <a:blipFill>
                <a:blip r:embed="rId4"/>
                <a:stretch>
                  <a:fillRect l="-2211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21">
            <a:extLst>
              <a:ext uri="{FF2B5EF4-FFF2-40B4-BE49-F238E27FC236}">
                <a16:creationId xmlns:a16="http://schemas.microsoft.com/office/drawing/2014/main" id="{8B4928DA-6EF5-41C7-AB9E-414AF76E5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2874059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</a:rPr>
              <a:t>2</a:t>
            </a:r>
            <a:r>
              <a:rPr lang="zh-CN" altLang="en-US" sz="2800" b="1" dirty="0">
                <a:solidFill>
                  <a:srgbClr val="3333FF"/>
                </a:solidFill>
              </a:rPr>
              <a:t>、其它函数 ？</a:t>
            </a:r>
            <a:endParaRPr lang="en-US" altLang="zh-CN" sz="2800" b="1" dirty="0">
              <a:solidFill>
                <a:srgbClr val="3333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21">
                <a:extLst>
                  <a:ext uri="{FF2B5EF4-FFF2-40B4-BE49-F238E27FC236}">
                    <a16:creationId xmlns:a16="http://schemas.microsoft.com/office/drawing/2014/main" id="{DD3320D2-0C1F-4ABD-AD11-9017365E68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608" y="4312147"/>
                <a:ext cx="7488832" cy="5329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分析比例：</a:t>
                </a:r>
                <a:r>
                  <a:rPr lang="en-US" altLang="zh-CN" sz="2800" b="1" dirty="0"/>
                  <a:t>y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zh-CN" altLang="en-US" sz="2800" b="1" dirty="0"/>
                  <a:t> </a:t>
                </a:r>
                <a:r>
                  <a:rPr lang="en-US" altLang="zh-CN" sz="2800" b="1" dirty="0"/>
                  <a:t>;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dirty="0"/>
                  <a:t>;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5" name="Text Box 21">
                <a:extLst>
                  <a:ext uri="{FF2B5EF4-FFF2-40B4-BE49-F238E27FC236}">
                    <a16:creationId xmlns:a16="http://schemas.microsoft.com/office/drawing/2014/main" id="{DD3320D2-0C1F-4ABD-AD11-9017365E6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4312147"/>
                <a:ext cx="7488832" cy="532966"/>
              </a:xfrm>
              <a:prstGeom prst="rect">
                <a:avLst/>
              </a:prstGeom>
              <a:blipFill>
                <a:blip r:embed="rId5"/>
                <a:stretch>
                  <a:fillRect l="-1627" t="-13636" b="-306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E264F156-4E73-452C-BC69-B2E38CB78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16708" y="5009171"/>
                <a:ext cx="5791200" cy="539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𝒌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E264F156-4E73-452C-BC69-B2E38CB78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16708" y="5009171"/>
                <a:ext cx="5791200" cy="5393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21">
                <a:extLst>
                  <a:ext uri="{FF2B5EF4-FFF2-40B4-BE49-F238E27FC236}">
                    <a16:creationId xmlns:a16="http://schemas.microsoft.com/office/drawing/2014/main" id="{1EFDBBAD-E24F-41DE-855E-858D7B11AE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7664" y="3586632"/>
                <a:ext cx="741682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𝒍𝒏𝒘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𝒍𝒏𝒚</m:t>
                    </m:r>
                    <m:r>
                      <a:rPr lang="en-US" altLang="zh-CN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800" b="1" dirty="0">
                    <a:solidFill>
                      <a:srgbClr val="FF0000"/>
                    </a:solidFill>
                  </a:rPr>
                  <a:t>散点图呈直线， 幂函数关系！</a:t>
                </a:r>
                <a:endParaRPr lang="en-US" altLang="zh-CN" sz="2800" b="1" dirty="0"/>
              </a:p>
            </p:txBody>
          </p:sp>
        </mc:Choice>
        <mc:Fallback>
          <p:sp>
            <p:nvSpPr>
              <p:cNvPr id="17" name="Text Box 21">
                <a:extLst>
                  <a:ext uri="{FF2B5EF4-FFF2-40B4-BE49-F238E27FC236}">
                    <a16:creationId xmlns:a16="http://schemas.microsoft.com/office/drawing/2014/main" id="{1EFDBBAD-E24F-41DE-855E-858D7B11A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3586632"/>
                <a:ext cx="7416824" cy="523220"/>
              </a:xfrm>
              <a:prstGeom prst="rect">
                <a:avLst/>
              </a:prstGeom>
              <a:blipFill>
                <a:blip r:embed="rId7"/>
                <a:stretch>
                  <a:fillRect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703561C5-5781-43A8-BE47-81B0D7BF71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608" y="5553981"/>
                <a:ext cx="5791200" cy="539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非线性回归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𝟒𝟕𝟏𝟏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703561C5-5781-43A8-BE47-81B0D7BF7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5553981"/>
                <a:ext cx="5791200" cy="539315"/>
              </a:xfrm>
              <a:prstGeom prst="rect">
                <a:avLst/>
              </a:prstGeom>
              <a:blipFill>
                <a:blip r:embed="rId8"/>
                <a:stretch>
                  <a:fillRect l="-2105" t="-12360" b="-258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433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9" grpId="0" autoUpdateAnimBg="0"/>
      <p:bldP spid="11" grpId="0" autoUpdateAnimBg="0"/>
      <p:bldP spid="12" grpId="0" autoUpdateAnimBg="0"/>
      <p:bldP spid="13" grpId="0" autoUpdateAnimBg="0"/>
      <p:bldP spid="15" grpId="0" autoUpdateAnimBg="0"/>
      <p:bldP spid="16" grpId="0" autoUpdateAnimBg="0"/>
      <p:bldP spid="17" grpId="0" autoUpdateAnimBg="0"/>
      <p:bldP spid="18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1">
            <a:extLst>
              <a:ext uri="{FF2B5EF4-FFF2-40B4-BE49-F238E27FC236}">
                <a16:creationId xmlns:a16="http://schemas.microsoft.com/office/drawing/2014/main" id="{8B4928DA-6EF5-41C7-AB9E-414AF76E5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03094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</a:rPr>
              <a:t>3</a:t>
            </a:r>
            <a:r>
              <a:rPr lang="zh-CN" altLang="en-US" sz="2800" b="1" dirty="0">
                <a:solidFill>
                  <a:srgbClr val="3333FF"/>
                </a:solidFill>
              </a:rPr>
              <a:t>、改进</a:t>
            </a:r>
            <a:r>
              <a:rPr lang="en-US" altLang="zh-CN" sz="2800" b="1" dirty="0">
                <a:solidFill>
                  <a:srgbClr val="3333FF"/>
                </a:solidFill>
              </a:rPr>
              <a:t>:  Carroll , 1967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21">
                <a:extLst>
                  <a:ext uri="{FF2B5EF4-FFF2-40B4-BE49-F238E27FC236}">
                    <a16:creationId xmlns:a16="http://schemas.microsoft.com/office/drawing/2014/main" id="{DD3320D2-0C1F-4ABD-AD11-9017365E68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274" y="1235140"/>
                <a:ext cx="7272808" cy="539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比例：</a:t>
                </a:r>
                <a:r>
                  <a:rPr lang="en-US" altLang="zh-CN" sz="2800" b="1" dirty="0"/>
                  <a:t>y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e>
                      <m:sup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sup>
                    </m:sSup>
                  </m:oMath>
                </a14:m>
                <a:r>
                  <a:rPr lang="zh-CN" altLang="en-US" sz="2800" b="1" dirty="0"/>
                  <a:t> </a:t>
                </a:r>
                <a:r>
                  <a:rPr lang="en-US" altLang="zh-CN" sz="2800" b="1" dirty="0"/>
                  <a:t>;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p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sup>
                    </m:sSup>
                  </m:oMath>
                </a14:m>
                <a:r>
                  <a:rPr lang="en-US" altLang="zh-CN" sz="2800" b="1" dirty="0"/>
                  <a:t>;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5" name="Text Box 21">
                <a:extLst>
                  <a:ext uri="{FF2B5EF4-FFF2-40B4-BE49-F238E27FC236}">
                    <a16:creationId xmlns:a16="http://schemas.microsoft.com/office/drawing/2014/main" id="{DD3320D2-0C1F-4ABD-AD11-9017365E6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3274" y="1235140"/>
                <a:ext cx="7272808" cy="539315"/>
              </a:xfrm>
              <a:prstGeom prst="rect">
                <a:avLst/>
              </a:prstGeom>
              <a:blipFill>
                <a:blip r:embed="rId2"/>
                <a:stretch>
                  <a:fillRect l="-1760" t="-13636" b="-3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E264F156-4E73-452C-BC69-B2E38CB78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9552" y="1854532"/>
                <a:ext cx="5791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𝒌</m:t>
                      </m:r>
                      <m:sSup>
                        <m:sSupPr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  <m:t>𝜸</m:t>
                          </m:r>
                        </m:sup>
                      </m:sSup>
                    </m:oMath>
                  </m:oMathPara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E264F156-4E73-452C-BC69-B2E38CB78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552" y="1854532"/>
                <a:ext cx="57912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703561C5-5781-43A8-BE47-81B0D7BF71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3274" y="2377752"/>
                <a:ext cx="7272808" cy="539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最小二乘：</a:t>
                </a:r>
                <a14:m>
                  <m:oMath xmlns:m="http://schemas.openxmlformats.org/officeDocument/2006/math">
                    <m:r>
                      <a:rPr lang="zh-CN" altLang="en-US" sz="2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𝟏𝟎𝟖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𝟏𝟏𝟎𝟔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703561C5-5781-43A8-BE47-81B0D7BF7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3274" y="2377752"/>
                <a:ext cx="7272808" cy="539315"/>
              </a:xfrm>
              <a:prstGeom prst="rect">
                <a:avLst/>
              </a:prstGeom>
              <a:blipFill>
                <a:blip r:embed="rId4"/>
                <a:stretch>
                  <a:fillRect l="-1760" t="-12360" b="-2584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Box 21">
                <a:extLst>
                  <a:ext uri="{FF2B5EF4-FFF2-40B4-BE49-F238E27FC236}">
                    <a16:creationId xmlns:a16="http://schemas.microsoft.com/office/drawing/2014/main" id="{AEFE002C-445A-4624-BE67-BCCFE060B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4632" y="3167390"/>
                <a:ext cx="5791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FF0000"/>
                    </a:solidFill>
                  </a:rPr>
                  <a:t>最后选择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:  </a:t>
                </a:r>
                <a:r>
                  <a:rPr lang="zh-CN" altLang="en-US" sz="2800" b="1" dirty="0">
                    <a:solidFill>
                      <a:schemeClr val="tx1"/>
                    </a:solidFill>
                  </a:rPr>
                  <a:t>（</a:t>
                </a:r>
                <a:r>
                  <a:rPr lang="en-US" altLang="zh-CN" sz="2800" b="1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sz="2800" b="1" dirty="0">
                    <a:solidFill>
                      <a:schemeClr val="tx1"/>
                    </a:solidFill>
                  </a:rPr>
                  <a:t>）</a:t>
                </a:r>
                <a:r>
                  <a:rPr lang="en-US" altLang="zh-CN" sz="2800" b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dirty="0">
                  <a:solidFill>
                    <a:srgbClr val="3333FF"/>
                  </a:solidFill>
                </a:endParaRPr>
              </a:p>
            </p:txBody>
          </p:sp>
        </mc:Choice>
        <mc:Fallback>
          <p:sp>
            <p:nvSpPr>
              <p:cNvPr id="14" name="Text Box 21">
                <a:extLst>
                  <a:ext uri="{FF2B5EF4-FFF2-40B4-BE49-F238E27FC236}">
                    <a16:creationId xmlns:a16="http://schemas.microsoft.com/office/drawing/2014/main" id="{AEFE002C-445A-4624-BE67-BCCFE060B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4632" y="3167390"/>
                <a:ext cx="5791200" cy="523220"/>
              </a:xfrm>
              <a:prstGeom prst="rect">
                <a:avLst/>
              </a:prstGeom>
              <a:blipFill>
                <a:blip r:embed="rId5"/>
                <a:stretch>
                  <a:fillRect l="-2211" t="-16471" b="-341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Box 21">
                <a:extLst>
                  <a:ext uri="{FF2B5EF4-FFF2-40B4-BE49-F238E27FC236}">
                    <a16:creationId xmlns:a16="http://schemas.microsoft.com/office/drawing/2014/main" id="{A19FF15B-0610-42E3-A6DD-20B8AF8048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1800" y="3789040"/>
                <a:ext cx="5791200" cy="539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/>
                  <a:t>(2)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𝒌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9" name="Text Box 21">
                <a:extLst>
                  <a:ext uri="{FF2B5EF4-FFF2-40B4-BE49-F238E27FC236}">
                    <a16:creationId xmlns:a16="http://schemas.microsoft.com/office/drawing/2014/main" id="{A19FF15B-0610-42E3-A6DD-20B8AF804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3789040"/>
                <a:ext cx="5791200" cy="539315"/>
              </a:xfrm>
              <a:prstGeom prst="rect">
                <a:avLst/>
              </a:prstGeom>
              <a:blipFill>
                <a:blip r:embed="rId6"/>
                <a:stretch>
                  <a:fillRect l="-2211" t="-9091" b="-3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Box 21">
                <a:extLst>
                  <a:ext uri="{FF2B5EF4-FFF2-40B4-BE49-F238E27FC236}">
                    <a16:creationId xmlns:a16="http://schemas.microsoft.com/office/drawing/2014/main" id="{66390A0B-B2CF-422B-B8B0-BAE1E5BD68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1800" y="4426785"/>
                <a:ext cx="4392488" cy="539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/>
                  <a:t>(3)  </a:t>
                </a:r>
                <a14:m>
                  <m:oMath xmlns:m="http://schemas.openxmlformats.org/officeDocument/2006/math">
                    <m:r>
                      <a:rPr lang="zh-CN" altLang="en-US" sz="2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20" name="Text Box 21">
                <a:extLst>
                  <a:ext uri="{FF2B5EF4-FFF2-40B4-BE49-F238E27FC236}">
                    <a16:creationId xmlns:a16="http://schemas.microsoft.com/office/drawing/2014/main" id="{66390A0B-B2CF-422B-B8B0-BAE1E5BD6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800" y="4426785"/>
                <a:ext cx="4392488" cy="539315"/>
              </a:xfrm>
              <a:prstGeom prst="rect">
                <a:avLst/>
              </a:prstGeom>
              <a:blipFill>
                <a:blip r:embed="rId7"/>
                <a:stretch>
                  <a:fillRect l="-2917" t="-7865" b="-303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21">
            <a:extLst>
              <a:ext uri="{FF2B5EF4-FFF2-40B4-BE49-F238E27FC236}">
                <a16:creationId xmlns:a16="http://schemas.microsoft.com/office/drawing/2014/main" id="{C1993F56-8A62-4259-9068-2F5DA30F7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981" y="5361250"/>
            <a:ext cx="41860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怎样评出举重的总冠军？</a:t>
            </a:r>
            <a:endParaRPr lang="en-US" altLang="zh-CN" sz="2800" b="1" dirty="0">
              <a:solidFill>
                <a:srgbClr val="3333FF"/>
              </a:solidFill>
            </a:endParaRPr>
          </a:p>
        </p:txBody>
      </p:sp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76FF6C03-76EC-483E-8627-EC77531C3F9B}"/>
              </a:ext>
            </a:extLst>
          </p:cNvPr>
          <p:cNvSpPr/>
          <p:nvPr/>
        </p:nvSpPr>
        <p:spPr bwMode="auto">
          <a:xfrm>
            <a:off x="6023618" y="5044249"/>
            <a:ext cx="2537938" cy="1157221"/>
          </a:xfrm>
          <a:prstGeom prst="cloudCallout">
            <a:avLst>
              <a:gd name="adj1" fmla="val -90004"/>
              <a:gd name="adj2" fmla="val 37238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宋体" pitchFamily="2" charset="-122"/>
              </a:rPr>
              <a:t>合理比较</a:t>
            </a:r>
            <a:r>
              <a:rPr kumimoji="1" lang="en-US" altLang="zh-CN" sz="20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宋体" pitchFamily="2" charset="-122"/>
              </a:rPr>
              <a:t>7</a:t>
            </a:r>
            <a:r>
              <a:rPr kumimoji="1" lang="zh-CN" altLang="en-US" sz="2000" b="1" i="0" u="none" strike="noStrike" cap="none" normalizeH="0" baseline="0" dirty="0">
                <a:ln>
                  <a:noFill/>
                </a:ln>
                <a:solidFill>
                  <a:srgbClr val="3333FF"/>
                </a:solidFill>
                <a:effectLst/>
                <a:latin typeface="Times New Roman" pitchFamily="18" charset="0"/>
                <a:ea typeface="宋体" pitchFamily="2" charset="-122"/>
              </a:rPr>
              <a:t>各级别的成绩！</a:t>
            </a:r>
          </a:p>
        </p:txBody>
      </p:sp>
    </p:spTree>
    <p:extLst>
      <p:ext uri="{BB962C8B-B14F-4D97-AF65-F5344CB8AC3E}">
        <p14:creationId xmlns:p14="http://schemas.microsoft.com/office/powerpoint/2010/main" val="263368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5" grpId="0" autoUpdateAnimBg="0"/>
      <p:bldP spid="16" grpId="0" autoUpdateAnimBg="0"/>
      <p:bldP spid="18" grpId="0" autoUpdateAnimBg="0"/>
      <p:bldP spid="14" grpId="0" autoUpdateAnimBg="0"/>
      <p:bldP spid="19" grpId="0" autoUpdateAnimBg="0"/>
      <p:bldP spid="20" grpId="0" autoUpdateAnimBg="0"/>
      <p:bldP spid="21" grpId="0" autoUpdateAnimBg="0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1">
            <a:extLst>
              <a:ext uri="{FF2B5EF4-FFF2-40B4-BE49-F238E27FC236}">
                <a16:creationId xmlns:a16="http://schemas.microsoft.com/office/drawing/2014/main" id="{8B4928DA-6EF5-41C7-AB9E-414AF76E5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03094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</a:rPr>
              <a:t>4</a:t>
            </a:r>
            <a:r>
              <a:rPr lang="zh-CN" altLang="en-US" sz="2800" b="1" dirty="0">
                <a:solidFill>
                  <a:srgbClr val="3333FF"/>
                </a:solidFill>
              </a:rPr>
              <a:t>、怎样评选总冠军？</a:t>
            </a:r>
            <a:endParaRPr lang="en-US" altLang="zh-CN" sz="2800" b="1" dirty="0">
              <a:solidFill>
                <a:srgbClr val="3333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21">
                <a:extLst>
                  <a:ext uri="{FF2B5EF4-FFF2-40B4-BE49-F238E27FC236}">
                    <a16:creationId xmlns:a16="http://schemas.microsoft.com/office/drawing/2014/main" id="{DD3320D2-0C1F-4ABD-AD11-9017365E68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608" y="1235140"/>
                <a:ext cx="727280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用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表示第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级别的理论成绩</a:t>
                </a:r>
                <a:endParaRPr lang="en-US" altLang="zh-CN" sz="2800" b="1" dirty="0"/>
              </a:p>
            </p:txBody>
          </p:sp>
        </mc:Choice>
        <mc:Fallback>
          <p:sp>
            <p:nvSpPr>
              <p:cNvPr id="15" name="Text Box 21">
                <a:extLst>
                  <a:ext uri="{FF2B5EF4-FFF2-40B4-BE49-F238E27FC236}">
                    <a16:creationId xmlns:a16="http://schemas.microsoft.com/office/drawing/2014/main" id="{DD3320D2-0C1F-4ABD-AD11-9017365E6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1235140"/>
                <a:ext cx="7272808" cy="523220"/>
              </a:xfrm>
              <a:prstGeom prst="rect">
                <a:avLst/>
              </a:prstGeom>
              <a:blipFill>
                <a:blip r:embed="rId2"/>
                <a:stretch>
                  <a:fillRect l="-1676" t="-16471" r="-134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E264F156-4E73-452C-BC69-B2E38CB78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2676" y="1830533"/>
                <a:ext cx="57912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800" b="1" dirty="0"/>
                  <a:t> 表示第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级别的实际成绩</a:t>
                </a:r>
                <a:endParaRPr lang="en-US" altLang="zh-CN" sz="2800" b="1" dirty="0"/>
              </a:p>
            </p:txBody>
          </p:sp>
        </mc:Choice>
        <mc:Fallback>
          <p:sp>
            <p:nvSpPr>
              <p:cNvPr id="16" name="Text Box 21">
                <a:extLst>
                  <a:ext uri="{FF2B5EF4-FFF2-40B4-BE49-F238E27FC236}">
                    <a16:creationId xmlns:a16="http://schemas.microsoft.com/office/drawing/2014/main" id="{E264F156-4E73-452C-BC69-B2E38CB78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2676" y="1830533"/>
                <a:ext cx="5791200" cy="523220"/>
              </a:xfrm>
              <a:prstGeom prst="rect">
                <a:avLst/>
              </a:prstGeom>
              <a:blipFill>
                <a:blip r:embed="rId3"/>
                <a:stretch>
                  <a:fillRect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703561C5-5781-43A8-BE47-81B0D7BF71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47664" y="2443399"/>
                <a:ext cx="6912768" cy="720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800" b="1" dirty="0"/>
                  <a:t>  </a:t>
                </a:r>
                <a:r>
                  <a:rPr lang="zh-CN" altLang="en-US" sz="2800" b="1" dirty="0"/>
                  <a:t>可以作为第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级别的运动员实力表现</a:t>
                </a:r>
                <a:endParaRPr lang="en-US" altLang="zh-CN" sz="2800" b="1" dirty="0"/>
              </a:p>
            </p:txBody>
          </p:sp>
        </mc:Choice>
        <mc:Fallback>
          <p:sp>
            <p:nvSpPr>
              <p:cNvPr id="18" name="Text Box 21">
                <a:extLst>
                  <a:ext uri="{FF2B5EF4-FFF2-40B4-BE49-F238E27FC236}">
                    <a16:creationId xmlns:a16="http://schemas.microsoft.com/office/drawing/2014/main" id="{703561C5-5781-43A8-BE47-81B0D7BF7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64" y="2443399"/>
                <a:ext cx="6912768" cy="720775"/>
              </a:xfrm>
              <a:prstGeom prst="rect">
                <a:avLst/>
              </a:prstGeom>
              <a:blipFill>
                <a:blip r:embed="rId4"/>
                <a:stretch>
                  <a:fillRect t="-59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21">
                <a:extLst>
                  <a:ext uri="{FF2B5EF4-FFF2-40B4-BE49-F238E27FC236}">
                    <a16:creationId xmlns:a16="http://schemas.microsoft.com/office/drawing/2014/main" id="{FEC7F4F2-ED99-4A02-B900-BA463E45C2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3608" y="3156366"/>
                <a:ext cx="7920880" cy="77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其折合成绩为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𝝀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𝝀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1" name="Text Box 21">
                <a:extLst>
                  <a:ext uri="{FF2B5EF4-FFF2-40B4-BE49-F238E27FC236}">
                    <a16:creationId xmlns:a16="http://schemas.microsoft.com/office/drawing/2014/main" id="{FEC7F4F2-ED99-4A02-B900-BA463E45C2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3156366"/>
                <a:ext cx="7920880" cy="777777"/>
              </a:xfrm>
              <a:prstGeom prst="rect">
                <a:avLst/>
              </a:prstGeom>
              <a:blipFill>
                <a:blip r:embed="rId5"/>
                <a:stretch>
                  <a:fillRect l="-15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21">
                <a:extLst>
                  <a:ext uri="{FF2B5EF4-FFF2-40B4-BE49-F238E27FC236}">
                    <a16:creationId xmlns:a16="http://schemas.microsoft.com/office/drawing/2014/main" id="{977C0EE4-67DD-4B39-B1E1-EB4FC4481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2676" y="4034666"/>
                <a:ext cx="7920880" cy="1551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为了确定系数，可以规定</a:t>
                </a:r>
                <a:r>
                  <a:rPr lang="en-US" altLang="zh-CN" sz="2800" b="1" dirty="0"/>
                  <a:t>77</a:t>
                </a:r>
                <a:r>
                  <a:rPr lang="zh-CN" altLang="en-US" sz="2800" b="1" dirty="0"/>
                  <a:t>公斤级别的折合成绩</a:t>
                </a:r>
                <a:endParaRPr lang="en-US" altLang="zh-CN" sz="2800" b="1" dirty="0"/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就是实际成绩，即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𝟕𝟕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，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800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den>
                    </m:f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𝟏𝟑𝟕</m:t>
                    </m:r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2" name="Text Box 21">
                <a:extLst>
                  <a:ext uri="{FF2B5EF4-FFF2-40B4-BE49-F238E27FC236}">
                    <a16:creationId xmlns:a16="http://schemas.microsoft.com/office/drawing/2014/main" id="{977C0EE4-67DD-4B39-B1E1-EB4FC4481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2676" y="4034666"/>
                <a:ext cx="7920880" cy="1551387"/>
              </a:xfrm>
              <a:prstGeom prst="rect">
                <a:avLst/>
              </a:prstGeom>
              <a:blipFill>
                <a:blip r:embed="rId6"/>
                <a:stretch>
                  <a:fillRect l="-1617" t="-55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56710E1-4540-4A55-A734-808865FA939F}"/>
                  </a:ext>
                </a:extLst>
              </p:cNvPr>
              <p:cNvSpPr txBox="1"/>
              <p:nvPr/>
            </p:nvSpPr>
            <p:spPr>
              <a:xfrm>
                <a:off x="1132676" y="5805264"/>
                <a:ext cx="7399764" cy="770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zh-CN" altLang="en-US" sz="2800" b="1" dirty="0"/>
                  <a:t>不同级别的 折合公式：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𝟏𝟑𝟕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𝟔𝟎</m:t>
                        </m:r>
                        <m:r>
                          <a:rPr lang="en-US" altLang="zh-CN" sz="28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800" b="1" dirty="0">
                    <a:solidFill>
                      <a:srgbClr val="3333F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56710E1-4540-4A55-A734-808865FA9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676" y="5805264"/>
                <a:ext cx="7399764" cy="770532"/>
              </a:xfrm>
              <a:prstGeom prst="rect">
                <a:avLst/>
              </a:prstGeom>
              <a:blipFill>
                <a:blip r:embed="rId7"/>
                <a:stretch>
                  <a:fillRect l="-1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223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5" grpId="0" autoUpdateAnimBg="0"/>
      <p:bldP spid="16" grpId="0" autoUpdateAnimBg="0"/>
      <p:bldP spid="18" grpId="0" autoUpdateAnimBg="0"/>
      <p:bldP spid="11" grpId="0" autoUpdateAnimBg="0"/>
      <p:bldP spid="12" grpId="0" autoUpdateAnimBg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1">
            <a:extLst>
              <a:ext uri="{FF2B5EF4-FFF2-40B4-BE49-F238E27FC236}">
                <a16:creationId xmlns:a16="http://schemas.microsoft.com/office/drawing/2014/main" id="{8B4928DA-6EF5-41C7-AB9E-414AF76E5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03094"/>
            <a:ext cx="5791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</a:rPr>
              <a:t>4</a:t>
            </a:r>
            <a:r>
              <a:rPr lang="zh-CN" altLang="en-US" sz="2800" b="1" dirty="0">
                <a:solidFill>
                  <a:srgbClr val="3333FF"/>
                </a:solidFill>
              </a:rPr>
              <a:t>、怎样评选总冠军？</a:t>
            </a:r>
            <a:endParaRPr lang="en-US" altLang="zh-CN" sz="2800" b="1" dirty="0">
              <a:solidFill>
                <a:srgbClr val="3333FF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56710E1-4540-4A55-A734-808865FA939F}"/>
              </a:ext>
            </a:extLst>
          </p:cNvPr>
          <p:cNvSpPr txBox="1"/>
          <p:nvPr/>
        </p:nvSpPr>
        <p:spPr>
          <a:xfrm>
            <a:off x="1296682" y="2442064"/>
            <a:ext cx="7399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zh-CN" altLang="en-US" b="1" dirty="0"/>
              <a:t>类似可得不同级别的 折合公式：</a:t>
            </a:r>
            <a:endParaRPr lang="en-US" altLang="zh-C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21">
                <a:extLst>
                  <a:ext uri="{FF2B5EF4-FFF2-40B4-BE49-F238E27FC236}">
                    <a16:creationId xmlns:a16="http://schemas.microsoft.com/office/drawing/2014/main" id="{532DE6A6-A9AE-4EA6-9267-F6BDD12826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1080" y="1071397"/>
                <a:ext cx="5791200" cy="539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/>
                  <a:t>对公式   </a:t>
                </a:r>
                <a:r>
                  <a:rPr lang="en-US" altLang="zh-CN" sz="2800" b="1" dirty="0"/>
                  <a:t>(2)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𝒌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2800" b="1" dirty="0"/>
                  <a:t> </a:t>
                </a:r>
                <a:r>
                  <a:rPr lang="zh-CN" altLang="en-US" sz="2800" b="1" dirty="0"/>
                  <a:t>和</a:t>
                </a:r>
                <a:endParaRPr lang="en-US" altLang="zh-CN" sz="2800" b="1" dirty="0"/>
              </a:p>
            </p:txBody>
          </p:sp>
        </mc:Choice>
        <mc:Fallback>
          <p:sp>
            <p:nvSpPr>
              <p:cNvPr id="9" name="Text Box 21">
                <a:extLst>
                  <a:ext uri="{FF2B5EF4-FFF2-40B4-BE49-F238E27FC236}">
                    <a16:creationId xmlns:a16="http://schemas.microsoft.com/office/drawing/2014/main" id="{532DE6A6-A9AE-4EA6-9267-F6BDD1282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1080" y="1071397"/>
                <a:ext cx="5791200" cy="539315"/>
              </a:xfrm>
              <a:prstGeom prst="rect">
                <a:avLst/>
              </a:prstGeom>
              <a:blipFill>
                <a:blip r:embed="rId2"/>
                <a:stretch>
                  <a:fillRect l="-2105" t="-13636" b="-3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21">
                <a:extLst>
                  <a:ext uri="{FF2B5EF4-FFF2-40B4-BE49-F238E27FC236}">
                    <a16:creationId xmlns:a16="http://schemas.microsoft.com/office/drawing/2014/main" id="{04290362-7624-4D5B-AE54-C41127DBA2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9254" y="1638429"/>
                <a:ext cx="4392488" cy="539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/>
                  <a:t>(3)  </a:t>
                </a:r>
                <a14:m>
                  <m:oMath xmlns:m="http://schemas.openxmlformats.org/officeDocument/2006/math">
                    <m:r>
                      <a:rPr lang="zh-CN" altLang="en-US" sz="28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𝟑𝟓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zh-CN" sz="2800" b="1" dirty="0"/>
              </a:p>
            </p:txBody>
          </p:sp>
        </mc:Choice>
        <mc:Fallback>
          <p:sp>
            <p:nvSpPr>
              <p:cNvPr id="10" name="Text Box 21">
                <a:extLst>
                  <a:ext uri="{FF2B5EF4-FFF2-40B4-BE49-F238E27FC236}">
                    <a16:creationId xmlns:a16="http://schemas.microsoft.com/office/drawing/2014/main" id="{04290362-7624-4D5B-AE54-C41127DBA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9254" y="1638429"/>
                <a:ext cx="4392488" cy="539315"/>
              </a:xfrm>
              <a:prstGeom prst="rect">
                <a:avLst/>
              </a:prstGeom>
              <a:blipFill>
                <a:blip r:embed="rId3"/>
                <a:stretch>
                  <a:fillRect l="-2917" t="-9091" b="-318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19D434B-93C4-4360-B6AB-393A48334226}"/>
                  </a:ext>
                </a:extLst>
              </p:cNvPr>
              <p:cNvSpPr txBox="1"/>
              <p:nvPr/>
            </p:nvSpPr>
            <p:spPr>
              <a:xfrm>
                <a:off x="2483768" y="3059928"/>
                <a:ext cx="4320480" cy="833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zh-CN" altLang="en-US" sz="2400" b="1" dirty="0">
                    <a:solidFill>
                      <a:srgbClr val="3333FF"/>
                    </a:solidFill>
                  </a:rPr>
                  <a:t>（</a:t>
                </a:r>
                <a:r>
                  <a:rPr lang="en-US" altLang="zh-CN" sz="2400" b="1" dirty="0">
                    <a:solidFill>
                      <a:srgbClr val="3333FF"/>
                    </a:solidFill>
                  </a:rPr>
                  <a:t>2</a:t>
                </a:r>
                <a:r>
                  <a:rPr lang="zh-CN" altLang="en-US" sz="2400" b="1" dirty="0">
                    <a:solidFill>
                      <a:srgbClr val="3333FF"/>
                    </a:solidFill>
                  </a:rPr>
                  <a:t>）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1" i="1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𝟕𝟕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b="1" dirty="0">
                    <a:solidFill>
                      <a:srgbClr val="3333F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19D434B-93C4-4360-B6AB-393A48334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3768" y="3059928"/>
                <a:ext cx="4320480" cy="833305"/>
              </a:xfrm>
              <a:prstGeom prst="rect">
                <a:avLst/>
              </a:prstGeom>
              <a:blipFill>
                <a:blip r:embed="rId4"/>
                <a:stretch>
                  <a:fillRect l="-2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A35823-E4E3-4DA4-9209-A7ECE63E9F4F}"/>
                  </a:ext>
                </a:extLst>
              </p:cNvPr>
              <p:cNvSpPr txBox="1"/>
              <p:nvPr/>
            </p:nvSpPr>
            <p:spPr>
              <a:xfrm>
                <a:off x="2508673" y="4034428"/>
                <a:ext cx="4320480" cy="8333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zh-CN" altLang="en-US" sz="2400" b="1" dirty="0">
                    <a:solidFill>
                      <a:srgbClr val="3333FF"/>
                    </a:solidFill>
                  </a:rPr>
                  <a:t>（</a:t>
                </a:r>
                <a:r>
                  <a:rPr lang="en-US" altLang="zh-CN" b="1" dirty="0">
                    <a:solidFill>
                      <a:srgbClr val="3333FF"/>
                    </a:solidFill>
                  </a:rPr>
                  <a:t>3</a:t>
                </a:r>
                <a:r>
                  <a:rPr lang="zh-CN" altLang="en-US" sz="2400" b="1" dirty="0">
                    <a:solidFill>
                      <a:srgbClr val="3333FF"/>
                    </a:solidFill>
                  </a:rPr>
                  <a:t>）</a:t>
                </a:r>
                <a:r>
                  <a:rPr lang="en-US" altLang="zh-CN" sz="2400" b="1" dirty="0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b="1" i="1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1" i="1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𝟒𝟐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CN" sz="2400" b="1" i="1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b>
                                    <m:r>
                                      <a:rPr lang="en-US" altLang="zh-CN" sz="2400" b="1" i="1" smtClean="0">
                                        <a:solidFill>
                                          <a:srgbClr val="3333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zh-CN" sz="2400" b="1" i="1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b="1" i="1" smtClean="0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𝟑𝟓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2400" b="1" i="1" smtClean="0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b="1" dirty="0">
                    <a:solidFill>
                      <a:srgbClr val="3333FF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8A35823-E4E3-4DA4-9209-A7ECE63E9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673" y="4034428"/>
                <a:ext cx="4320480" cy="833305"/>
              </a:xfrm>
              <a:prstGeom prst="rect">
                <a:avLst/>
              </a:prstGeom>
              <a:blipFill>
                <a:blip r:embed="rId5"/>
                <a:stretch>
                  <a:fillRect l="-2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7" grpId="0"/>
      <p:bldP spid="9" grpId="0" autoUpdateAnimBg="0"/>
      <p:bldP spid="10" grpId="0" autoUpdateAnimBg="0"/>
      <p:bldP spid="14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1">
            <a:extLst>
              <a:ext uri="{FF2B5EF4-FFF2-40B4-BE49-F238E27FC236}">
                <a16:creationId xmlns:a16="http://schemas.microsoft.com/office/drawing/2014/main" id="{8B4928DA-6EF5-41C7-AB9E-414AF76E5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548676"/>
            <a:ext cx="777686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</a:rPr>
              <a:t>             2008</a:t>
            </a:r>
            <a:r>
              <a:rPr lang="zh-CN" altLang="en-US" sz="2800" b="1" dirty="0">
                <a:solidFill>
                  <a:srgbClr val="3333FF"/>
                </a:solidFill>
              </a:rPr>
              <a:t>年 奥运会举重比赛在北航举行</a:t>
            </a:r>
            <a:endParaRPr lang="en-US" altLang="zh-CN" sz="2800" b="1" dirty="0">
              <a:solidFill>
                <a:srgbClr val="3333FF"/>
              </a:solidFill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4FC180A1-8806-4CA1-BF9B-6CFC81387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252091"/>
              </p:ext>
            </p:extLst>
          </p:nvPr>
        </p:nvGraphicFramePr>
        <p:xfrm>
          <a:off x="611560" y="1242336"/>
          <a:ext cx="8208914" cy="4373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641425326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664990485"/>
                    </a:ext>
                  </a:extLst>
                </a:gridCol>
                <a:gridCol w="1069834">
                  <a:extLst>
                    <a:ext uri="{9D8B030D-6E8A-4147-A177-3AD203B41FA5}">
                      <a16:colId xmlns:a16="http://schemas.microsoft.com/office/drawing/2014/main" val="4102114323"/>
                    </a:ext>
                  </a:extLst>
                </a:gridCol>
                <a:gridCol w="1234422">
                  <a:extLst>
                    <a:ext uri="{9D8B030D-6E8A-4147-A177-3AD203B41FA5}">
                      <a16:colId xmlns:a16="http://schemas.microsoft.com/office/drawing/2014/main" val="1215836813"/>
                    </a:ext>
                  </a:extLst>
                </a:gridCol>
                <a:gridCol w="1110982">
                  <a:extLst>
                    <a:ext uri="{9D8B030D-6E8A-4147-A177-3AD203B41FA5}">
                      <a16:colId xmlns:a16="http://schemas.microsoft.com/office/drawing/2014/main" val="1010424831"/>
                    </a:ext>
                  </a:extLst>
                </a:gridCol>
                <a:gridCol w="1172702">
                  <a:extLst>
                    <a:ext uri="{9D8B030D-6E8A-4147-A177-3AD203B41FA5}">
                      <a16:colId xmlns:a16="http://schemas.microsoft.com/office/drawing/2014/main" val="1662518844"/>
                    </a:ext>
                  </a:extLst>
                </a:gridCol>
                <a:gridCol w="1172702">
                  <a:extLst>
                    <a:ext uri="{9D8B030D-6E8A-4147-A177-3AD203B41FA5}">
                      <a16:colId xmlns:a16="http://schemas.microsoft.com/office/drawing/2014/main" val="1870810948"/>
                    </a:ext>
                  </a:extLst>
                </a:gridCol>
              </a:tblGrid>
              <a:tr h="546666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级别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冠军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总成绩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折合</a:t>
                      </a:r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名次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601570"/>
                  </a:ext>
                </a:extLst>
              </a:tr>
              <a:tr h="5466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56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龙清泉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292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344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7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752108"/>
                  </a:ext>
                </a:extLst>
              </a:tr>
              <a:tr h="5466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62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张湘祥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319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358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6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354162"/>
                  </a:ext>
                </a:extLst>
              </a:tr>
              <a:tr h="5466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69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廖   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348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369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2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113354"/>
                  </a:ext>
                </a:extLst>
              </a:tr>
              <a:tr h="5466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77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史才秀（韩）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366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韩国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366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35281"/>
                  </a:ext>
                </a:extLst>
              </a:tr>
              <a:tr h="5466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85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陆  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394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中国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372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1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803663"/>
                  </a:ext>
                </a:extLst>
              </a:tr>
              <a:tr h="5466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94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伊利亚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406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哈萨克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361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5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281718"/>
                  </a:ext>
                </a:extLst>
              </a:tr>
              <a:tr h="546666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105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阿拉姆诺夫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436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rgbClr val="3333FF"/>
                          </a:solidFill>
                        </a:rPr>
                        <a:t>白俄罗斯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362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3333FF"/>
                          </a:solidFill>
                        </a:rPr>
                        <a:t>4</a:t>
                      </a:r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631160"/>
                  </a:ext>
                </a:extLst>
              </a:tr>
            </a:tbl>
          </a:graphicData>
        </a:graphic>
      </p:graphicFrame>
      <p:sp>
        <p:nvSpPr>
          <p:cNvPr id="11" name="Text Box 21">
            <a:extLst>
              <a:ext uri="{FF2B5EF4-FFF2-40B4-BE49-F238E27FC236}">
                <a16:creationId xmlns:a16="http://schemas.microsoft.com/office/drawing/2014/main" id="{B79CD9EF-96ED-4676-AB28-92B711153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022" y="5786104"/>
            <a:ext cx="40263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3333FF"/>
                </a:solidFill>
              </a:rPr>
              <a:t>             P38</a:t>
            </a:r>
            <a:r>
              <a:rPr lang="zh-CN" altLang="en-US" sz="2800" b="1" dirty="0">
                <a:solidFill>
                  <a:srgbClr val="3333FF"/>
                </a:solidFill>
              </a:rPr>
              <a:t>，表</a:t>
            </a:r>
            <a:r>
              <a:rPr lang="en-US" altLang="zh-CN" sz="2800" b="1" dirty="0">
                <a:solidFill>
                  <a:srgbClr val="3333F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631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>
            <a:extLst>
              <a:ext uri="{FF2B5EF4-FFF2-40B4-BE49-F238E27FC236}">
                <a16:creationId xmlns:a16="http://schemas.microsoft.com/office/drawing/2014/main" id="{0FDDDC7F-B3CB-427B-B42F-166CEDCEB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599" y="535829"/>
            <a:ext cx="7885113" cy="646331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ea typeface="楷体_GB2312" pitchFamily="49" charset="-122"/>
              </a:rPr>
              <a:t>2.6    </a:t>
            </a:r>
            <a:r>
              <a:rPr lang="zh-CN" altLang="en-US" sz="3600" b="1" dirty="0">
                <a:solidFill>
                  <a:srgbClr val="000000"/>
                </a:solidFill>
                <a:ea typeface="楷体_GB2312" pitchFamily="49" charset="-122"/>
              </a:rPr>
              <a:t>交通流与道路通行能力</a:t>
            </a:r>
            <a:r>
              <a:rPr lang="zh-CN" altLang="en-US" sz="3600" b="1" dirty="0">
                <a:solidFill>
                  <a:srgbClr val="FF0000"/>
                </a:solidFill>
                <a:ea typeface="楷体_GB2312" pitchFamily="49" charset="-122"/>
              </a:rPr>
              <a:t>（略）</a:t>
            </a:r>
          </a:p>
        </p:txBody>
      </p:sp>
      <p:sp>
        <p:nvSpPr>
          <p:cNvPr id="147462" name="Rectangle 6">
            <a:extLst>
              <a:ext uri="{FF2B5EF4-FFF2-40B4-BE49-F238E27FC236}">
                <a16:creationId xmlns:a16="http://schemas.microsoft.com/office/drawing/2014/main" id="{7687764E-2BD0-4DA4-915A-6B958C730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916113"/>
            <a:ext cx="7632700" cy="163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5000"/>
              </a:spcBef>
            </a:pPr>
            <a:r>
              <a:rPr lang="zh-CN" altLang="en-US" sz="2800" b="1"/>
              <a:t>现代城市生活中交通拥堵是普遍存在的现象，在许多平面交叉路口，红灯后面总是排着长长的汽车队伍等待放行</a:t>
            </a:r>
            <a:r>
              <a:rPr lang="en-US" altLang="zh-CN" sz="2800" b="1"/>
              <a:t>. </a:t>
            </a:r>
          </a:p>
        </p:txBody>
      </p:sp>
      <p:sp>
        <p:nvSpPr>
          <p:cNvPr id="147463" name="Text Box 7">
            <a:extLst>
              <a:ext uri="{FF2B5EF4-FFF2-40B4-BE49-F238E27FC236}">
                <a16:creationId xmlns:a16="http://schemas.microsoft.com/office/drawing/2014/main" id="{55BCEF1C-3A35-4510-9D3C-90CF2371F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1438"/>
            <a:ext cx="223202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背景和问题</a:t>
            </a:r>
          </a:p>
        </p:txBody>
      </p:sp>
      <p:sp>
        <p:nvSpPr>
          <p:cNvPr id="147464" name="Rectangle 8">
            <a:extLst>
              <a:ext uri="{FF2B5EF4-FFF2-40B4-BE49-F238E27FC236}">
                <a16:creationId xmlns:a16="http://schemas.microsoft.com/office/drawing/2014/main" id="{4E90F0B5-2D56-431A-848A-D77E1ADDB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3573463"/>
            <a:ext cx="7920037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5000"/>
              </a:spcBef>
            </a:pPr>
            <a:r>
              <a:rPr lang="zh-CN" altLang="en-US" sz="2800" b="1"/>
              <a:t>通过信号灯控制等管理手段提高道路通行能力，已经成为城市交通工程面临的重要课题之一</a:t>
            </a:r>
            <a:r>
              <a:rPr lang="en-US" altLang="zh-CN" sz="2800" b="1"/>
              <a:t>. </a:t>
            </a:r>
          </a:p>
        </p:txBody>
      </p:sp>
      <p:sp>
        <p:nvSpPr>
          <p:cNvPr id="147465" name="Rectangle 9">
            <a:extLst>
              <a:ext uri="{FF2B5EF4-FFF2-40B4-BE49-F238E27FC236}">
                <a16:creationId xmlns:a16="http://schemas.microsoft.com/office/drawing/2014/main" id="{FC04B9D7-BD0B-4999-BC83-8CC58C790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868863"/>
            <a:ext cx="835342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5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rgbClr val="FF3300"/>
                </a:solidFill>
              </a:rPr>
              <a:t>介绍交通流的基本参数及它们之间的关系</a:t>
            </a:r>
            <a:r>
              <a:rPr lang="en-US" altLang="zh-CN" sz="2800" b="1">
                <a:solidFill>
                  <a:srgbClr val="FF3300"/>
                </a:solidFill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ct val="35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rgbClr val="FF3300"/>
                </a:solidFill>
              </a:rPr>
              <a:t>讨论一般道路及信号灯控制的十字路口的通行能力</a:t>
            </a:r>
            <a:r>
              <a:rPr lang="en-US" altLang="zh-CN" sz="2800" b="1">
                <a:solidFill>
                  <a:srgbClr val="FF3300"/>
                </a:solidFill>
              </a:rPr>
              <a:t>.</a:t>
            </a:r>
            <a:r>
              <a:rPr lang="en-US" altLang="zh-CN" sz="28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47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474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2" grpId="0"/>
      <p:bldP spid="147463" grpId="0" animBg="1" autoUpdateAnimBg="0"/>
      <p:bldP spid="14746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F08FBA1-185A-433C-A1E4-8EA52CB27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49275"/>
            <a:ext cx="4860925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交通流的基本参数及其特性</a:t>
            </a:r>
          </a:p>
        </p:txBody>
      </p:sp>
      <p:sp>
        <p:nvSpPr>
          <p:cNvPr id="148490" name="Text Box 10">
            <a:extLst>
              <a:ext uri="{FF2B5EF4-FFF2-40B4-BE49-F238E27FC236}">
                <a16:creationId xmlns:a16="http://schemas.microsoft.com/office/drawing/2014/main" id="{89F7A93D-8CD8-40C7-A059-C5700F0E5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3573463"/>
            <a:ext cx="9109075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流量</a:t>
            </a:r>
            <a:r>
              <a:rPr lang="en-US" altLang="zh-CN" sz="2800" b="1" i="1">
                <a:solidFill>
                  <a:srgbClr val="FF3300"/>
                </a:solidFill>
              </a:rPr>
              <a:t>q</a:t>
            </a:r>
            <a:r>
              <a:rPr lang="en-US" altLang="zh-CN" sz="2800" b="1"/>
              <a:t>~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某时刻单位时间内通过道路某断面的车辆数</a:t>
            </a:r>
            <a:r>
              <a:rPr lang="en-US" altLang="zh-CN" sz="2800" b="1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辆</a:t>
            </a:r>
            <a:r>
              <a:rPr lang="en-US" altLang="zh-CN" sz="2800" b="1">
                <a:solidFill>
                  <a:srgbClr val="000000"/>
                </a:solidFill>
                <a:cs typeface="Times New Roman" panose="02020603050405020304" pitchFamily="18" charset="0"/>
              </a:rPr>
              <a:t>/h</a:t>
            </a:r>
            <a:r>
              <a:rPr lang="en-US" altLang="zh-CN" sz="2800" b="1"/>
              <a:t> ) </a:t>
            </a:r>
          </a:p>
        </p:txBody>
      </p:sp>
      <p:sp>
        <p:nvSpPr>
          <p:cNvPr id="148491" name="Text Box 11">
            <a:extLst>
              <a:ext uri="{FF2B5EF4-FFF2-40B4-BE49-F238E27FC236}">
                <a16:creationId xmlns:a16="http://schemas.microsoft.com/office/drawing/2014/main" id="{6E046887-8230-4391-8A24-ACB0374C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24400"/>
            <a:ext cx="91440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密度</a:t>
            </a:r>
            <a:r>
              <a:rPr lang="en-US" altLang="zh-CN" sz="2800" b="1" i="1">
                <a:solidFill>
                  <a:srgbClr val="FF3300"/>
                </a:solidFill>
                <a:sym typeface="Symbol" panose="05050102010706020507" pitchFamily="18" charset="2"/>
              </a:rPr>
              <a:t>k</a:t>
            </a:r>
            <a:r>
              <a:rPr lang="en-US" altLang="zh-CN" sz="2800" b="1"/>
              <a:t>~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某时刻通过道路某断面单位长度内的车辆数</a:t>
            </a:r>
            <a:r>
              <a:rPr lang="en-US" altLang="zh-CN" sz="2800" b="1">
                <a:solidFill>
                  <a:srgbClr val="000000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/>
              <a:t>辆</a:t>
            </a:r>
            <a:r>
              <a:rPr lang="en-US" altLang="zh-CN" b="1"/>
              <a:t>/km</a:t>
            </a:r>
            <a:r>
              <a:rPr lang="en-US" altLang="zh-CN"/>
              <a:t> )</a:t>
            </a:r>
            <a:r>
              <a:rPr lang="en-US" altLang="zh-CN" sz="2800" b="1"/>
              <a:t> </a:t>
            </a:r>
          </a:p>
        </p:txBody>
      </p:sp>
      <p:sp>
        <p:nvSpPr>
          <p:cNvPr id="148492" name="Text Box 12">
            <a:extLst>
              <a:ext uri="{FF2B5EF4-FFF2-40B4-BE49-F238E27FC236}">
                <a16:creationId xmlns:a16="http://schemas.microsoft.com/office/drawing/2014/main" id="{457315B3-9CE6-474E-BCD5-0489E847E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149725"/>
            <a:ext cx="8280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速度</a:t>
            </a:r>
            <a:r>
              <a:rPr lang="en-US" altLang="zh-CN" sz="2800" b="1" i="1">
                <a:solidFill>
                  <a:srgbClr val="FF3300"/>
                </a:solidFill>
              </a:rPr>
              <a:t>v </a:t>
            </a:r>
            <a:r>
              <a:rPr lang="en-US" altLang="zh-CN" sz="2800" b="1"/>
              <a:t>~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某时刻通过道路某断面的车辆速度</a:t>
            </a:r>
            <a:r>
              <a:rPr lang="en-US" altLang="zh-CN" sz="2800" b="1">
                <a:solidFill>
                  <a:srgbClr val="000000"/>
                </a:solidFill>
                <a:cs typeface="Times New Roman" panose="02020603050405020304" pitchFamily="18" charset="0"/>
              </a:rPr>
              <a:t>(km/h)</a:t>
            </a:r>
            <a:r>
              <a:rPr lang="en-US" altLang="zh-CN" sz="2800" b="1"/>
              <a:t> </a:t>
            </a:r>
          </a:p>
        </p:txBody>
      </p:sp>
      <p:sp>
        <p:nvSpPr>
          <p:cNvPr id="148496" name="Rectangle 16">
            <a:extLst>
              <a:ext uri="{FF2B5EF4-FFF2-40B4-BE49-F238E27FC236}">
                <a16:creationId xmlns:a16="http://schemas.microsoft.com/office/drawing/2014/main" id="{BCA6F7F2-CE13-4701-AEA8-214952D37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35183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rgbClr val="FF3300"/>
                </a:solidFill>
              </a:rPr>
              <a:t>交通流</a:t>
            </a:r>
            <a:r>
              <a:rPr lang="en-US" altLang="zh-CN" sz="2800" b="1"/>
              <a:t>~ </a:t>
            </a:r>
            <a:r>
              <a:rPr lang="zh-CN" altLang="en-US" sz="2800" b="1"/>
              <a:t>标准长度的小型汽车在单方向道路上行驶形成的车流，没有外界因素如岔路、信号灯等的影响</a:t>
            </a:r>
            <a:r>
              <a:rPr lang="en-US" altLang="zh-CN" sz="2800" b="1"/>
              <a:t>. </a:t>
            </a:r>
          </a:p>
        </p:txBody>
      </p:sp>
      <p:graphicFrame>
        <p:nvGraphicFramePr>
          <p:cNvPr id="16391" name="Object 17">
            <a:extLst>
              <a:ext uri="{FF2B5EF4-FFF2-40B4-BE49-F238E27FC236}">
                <a16:creationId xmlns:a16="http://schemas.microsoft.com/office/drawing/2014/main" id="{8DA0E84B-81D4-4D26-86CD-9E52F084D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6188" y="692150"/>
          <a:ext cx="9429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name="Clip" r:id="rId3" imgW="6545263" imgH="1706563" progId="MS_ClipArt_Gallery.2">
                  <p:embed/>
                </p:oleObj>
              </mc:Choice>
              <mc:Fallback>
                <p:oleObj name="Clip" r:id="rId3" imgW="6545263" imgH="1706563" progId="MS_ClipArt_Gallery.2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692150"/>
                        <a:ext cx="9429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8" name="Rectangle 18">
            <a:extLst>
              <a:ext uri="{FF2B5EF4-FFF2-40B4-BE49-F238E27FC236}">
                <a16:creationId xmlns:a16="http://schemas.microsoft.com/office/drawing/2014/main" id="{6D5FDA0A-29BB-46E2-BBF9-5B87FBFB5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349500"/>
            <a:ext cx="867568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借用物理学概念</a:t>
            </a:r>
            <a:r>
              <a:rPr lang="en-US" altLang="zh-CN" sz="2800" b="1"/>
              <a:t>, </a:t>
            </a:r>
            <a:r>
              <a:rPr lang="zh-CN" altLang="en-US" sz="2800" b="1"/>
              <a:t>将交通流看作一辆辆汽车组成的连续流体</a:t>
            </a:r>
            <a:r>
              <a:rPr lang="en-US" altLang="zh-CN" sz="2800" b="1"/>
              <a:t>, </a:t>
            </a:r>
            <a:r>
              <a:rPr lang="zh-CN" altLang="en-US" sz="2800" b="1"/>
              <a:t>用</a:t>
            </a:r>
            <a:r>
              <a:rPr lang="zh-CN" altLang="en-US" sz="2800" b="1">
                <a:solidFill>
                  <a:srgbClr val="FF3300"/>
                </a:solidFill>
              </a:rPr>
              <a:t>流量、速度、密度</a:t>
            </a:r>
            <a:r>
              <a:rPr lang="en-US" altLang="zh-CN" sz="2800" b="1"/>
              <a:t>3</a:t>
            </a:r>
            <a:r>
              <a:rPr lang="zh-CN" altLang="en-US" sz="2800" b="1"/>
              <a:t>个参数描述其基本特性</a:t>
            </a:r>
            <a:r>
              <a:rPr lang="en-US" altLang="zh-CN" sz="2800" b="1"/>
              <a:t>. </a:t>
            </a:r>
          </a:p>
        </p:txBody>
      </p:sp>
      <p:graphicFrame>
        <p:nvGraphicFramePr>
          <p:cNvPr id="148499" name="Object 19">
            <a:extLst>
              <a:ext uri="{FF2B5EF4-FFF2-40B4-BE49-F238E27FC236}">
                <a16:creationId xmlns:a16="http://schemas.microsoft.com/office/drawing/2014/main" id="{48F22674-D2E5-42F4-8838-AAA721BCFA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5589588"/>
          <a:ext cx="11525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" name="公式" r:id="rId5" imgW="431613" imgH="203112" progId="Equation.3">
                  <p:embed/>
                </p:oleObj>
              </mc:Choice>
              <mc:Fallback>
                <p:oleObj name="公式" r:id="rId5" imgW="431613" imgH="20311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589588"/>
                        <a:ext cx="1152525" cy="53657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00" name="Rectangle 20">
            <a:extLst>
              <a:ext uri="{FF2B5EF4-FFF2-40B4-BE49-F238E27FC236}">
                <a16:creationId xmlns:a16="http://schemas.microsoft.com/office/drawing/2014/main" id="{077412DA-D043-4BFF-AC75-FB0A160FD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559425"/>
            <a:ext cx="402272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3</a:t>
            </a:r>
            <a:r>
              <a:rPr lang="zh-CN" altLang="en-US" sz="2800" b="1"/>
              <a:t>个参数之间的基本关系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4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14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0" grpId="0"/>
      <p:bldP spid="148491" grpId="0"/>
      <p:bldP spid="148492" grpId="0"/>
      <p:bldP spid="148496" grpId="0"/>
      <p:bldP spid="148498" grpId="0"/>
      <p:bldP spid="14850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6E9084D6-505A-425A-80B6-81A9997AA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49275"/>
            <a:ext cx="4860925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交通流的基本参数及其特性</a:t>
            </a:r>
          </a:p>
        </p:txBody>
      </p:sp>
      <p:graphicFrame>
        <p:nvGraphicFramePr>
          <p:cNvPr id="17411" name="Object 7">
            <a:extLst>
              <a:ext uri="{FF2B5EF4-FFF2-40B4-BE49-F238E27FC236}">
                <a16:creationId xmlns:a16="http://schemas.microsoft.com/office/drawing/2014/main" id="{09F4C309-DAF1-48A9-A2E5-94C38F04AC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6188" y="692150"/>
          <a:ext cx="9429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2" name="Clip" r:id="rId3" imgW="6545263" imgH="1706563" progId="MS_ClipArt_Gallery.2">
                  <p:embed/>
                </p:oleObj>
              </mc:Choice>
              <mc:Fallback>
                <p:oleObj name="Clip" r:id="rId3" imgW="6545263" imgH="1706563" progId="MS_ClipArt_Gallery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692150"/>
                        <a:ext cx="9429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6" name="Text Box 8">
            <a:extLst>
              <a:ext uri="{FF2B5EF4-FFF2-40B4-BE49-F238E27FC236}">
                <a16:creationId xmlns:a16="http://schemas.microsoft.com/office/drawing/2014/main" id="{FA7BA059-DEEB-421C-B434-2140AF7B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268413"/>
            <a:ext cx="3816350" cy="5826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速度</a:t>
            </a:r>
            <a:r>
              <a:rPr lang="en-US" altLang="zh-CN" sz="2800" b="1" i="1"/>
              <a:t>v </a:t>
            </a:r>
            <a:r>
              <a:rPr lang="zh-CN" altLang="en-US" sz="2800" b="1">
                <a:cs typeface="Times New Roman" panose="02020603050405020304" pitchFamily="18" charset="0"/>
              </a:rPr>
              <a:t>与</a:t>
            </a:r>
            <a:r>
              <a:rPr lang="zh-CN" altLang="en-US" sz="2800" b="1"/>
              <a:t>密度</a:t>
            </a:r>
            <a:r>
              <a:rPr lang="en-US" altLang="zh-CN" sz="2800" b="1" i="1">
                <a:sym typeface="Symbol" panose="05050102010706020507" pitchFamily="18" charset="2"/>
              </a:rPr>
              <a:t>k </a:t>
            </a:r>
            <a:r>
              <a:rPr lang="zh-CN" altLang="en-US" sz="2800" b="1">
                <a:cs typeface="Times New Roman" panose="02020603050405020304" pitchFamily="18" charset="0"/>
              </a:rPr>
              <a:t>的关系</a:t>
            </a:r>
            <a:r>
              <a:rPr lang="zh-CN" altLang="en-US" sz="2800" b="1"/>
              <a:t> </a:t>
            </a:r>
          </a:p>
        </p:txBody>
      </p:sp>
      <p:sp>
        <p:nvSpPr>
          <p:cNvPr id="17413" name="Rectangle 13">
            <a:extLst>
              <a:ext uri="{FF2B5EF4-FFF2-40B4-BE49-F238E27FC236}">
                <a16:creationId xmlns:a16="http://schemas.microsoft.com/office/drawing/2014/main" id="{632E07FD-48E3-410D-803A-437B8388F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0540" name="Object 12">
            <a:extLst>
              <a:ext uri="{FF2B5EF4-FFF2-40B4-BE49-F238E27FC236}">
                <a16:creationId xmlns:a16="http://schemas.microsoft.com/office/drawing/2014/main" id="{F1D65DEE-9745-47E4-8C21-B125935DC6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133600"/>
          <a:ext cx="23050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3" name="公式" r:id="rId5" imgW="1054100" imgH="241300" progId="Equation.3">
                  <p:embed/>
                </p:oleObj>
              </mc:Choice>
              <mc:Fallback>
                <p:oleObj name="公式" r:id="rId5" imgW="10541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133600"/>
                        <a:ext cx="2305050" cy="5191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42" name="Rectangle 14">
            <a:extLst>
              <a:ext uri="{FF2B5EF4-FFF2-40B4-BE49-F238E27FC236}">
                <a16:creationId xmlns:a16="http://schemas.microsoft.com/office/drawing/2014/main" id="{D8AB3BE6-72F1-4D4F-A5C9-C28AFC4E1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103438"/>
            <a:ext cx="17018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线性模型 </a:t>
            </a:r>
          </a:p>
        </p:txBody>
      </p:sp>
      <p:sp>
        <p:nvSpPr>
          <p:cNvPr id="150543" name="Rectangle 15">
            <a:extLst>
              <a:ext uri="{FF2B5EF4-FFF2-40B4-BE49-F238E27FC236}">
                <a16:creationId xmlns:a16="http://schemas.microsoft.com/office/drawing/2014/main" id="{A828AF7E-6D48-43DD-B9F7-E266568939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852738"/>
            <a:ext cx="3268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v</a:t>
            </a:r>
            <a:r>
              <a:rPr lang="en-US" altLang="zh-CN" sz="2800" b="1" i="1" baseline="-25000"/>
              <a:t>f </a:t>
            </a:r>
            <a:r>
              <a:rPr lang="en-US" altLang="zh-CN" sz="2800" b="1" i="1"/>
              <a:t>~</a:t>
            </a:r>
            <a:r>
              <a:rPr lang="zh-CN" altLang="en-US" sz="2800" b="1"/>
              <a:t>畅行车速</a:t>
            </a:r>
            <a:r>
              <a:rPr lang="en-US" altLang="zh-CN" sz="2800" b="1"/>
              <a:t>(</a:t>
            </a:r>
            <a:r>
              <a:rPr lang="en-US" altLang="zh-CN" sz="2800" b="1" i="1"/>
              <a:t>k</a:t>
            </a:r>
            <a:r>
              <a:rPr lang="en-US" altLang="zh-CN" sz="2800" b="1"/>
              <a:t>=0</a:t>
            </a:r>
            <a:r>
              <a:rPr lang="zh-CN" altLang="en-US" sz="2800" b="1"/>
              <a:t>时</a:t>
            </a:r>
            <a:r>
              <a:rPr lang="en-US" altLang="zh-CN" sz="2800" b="1"/>
              <a:t>)</a:t>
            </a:r>
          </a:p>
        </p:txBody>
      </p:sp>
      <p:sp>
        <p:nvSpPr>
          <p:cNvPr id="150545" name="Rectangle 17">
            <a:extLst>
              <a:ext uri="{FF2B5EF4-FFF2-40B4-BE49-F238E27FC236}">
                <a16:creationId xmlns:a16="http://schemas.microsoft.com/office/drawing/2014/main" id="{BBA1B844-2670-4335-9CD6-EA8E9DEF5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2852738"/>
            <a:ext cx="317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k</a:t>
            </a:r>
            <a:r>
              <a:rPr lang="en-US" altLang="zh-CN" sz="2800" b="1" i="1" baseline="-30000"/>
              <a:t>j</a:t>
            </a:r>
            <a:r>
              <a:rPr lang="en-US" altLang="zh-CN" sz="2800" b="1">
                <a:cs typeface="Times New Roman" panose="02020603050405020304" pitchFamily="18" charset="0"/>
              </a:rPr>
              <a:t>~</a:t>
            </a:r>
            <a:r>
              <a:rPr lang="zh-CN" altLang="en-US" sz="2800" b="1">
                <a:cs typeface="Times New Roman" panose="02020603050405020304" pitchFamily="18" charset="0"/>
              </a:rPr>
              <a:t>阻塞密度</a:t>
            </a:r>
            <a:r>
              <a:rPr lang="en-US" altLang="zh-CN" sz="2800" b="1">
                <a:cs typeface="Times New Roman" panose="02020603050405020304" pitchFamily="18" charset="0"/>
              </a:rPr>
              <a:t>(</a:t>
            </a:r>
            <a:r>
              <a:rPr lang="en-US" altLang="zh-CN" sz="2800" b="1" i="1"/>
              <a:t>v</a:t>
            </a:r>
            <a:r>
              <a:rPr lang="en-US" altLang="zh-CN" sz="2800" b="1"/>
              <a:t>=0</a:t>
            </a:r>
            <a:r>
              <a:rPr lang="zh-CN" altLang="en-US" sz="2800" b="1">
                <a:cs typeface="Times New Roman" panose="02020603050405020304" pitchFamily="18" charset="0"/>
              </a:rPr>
              <a:t>时</a:t>
            </a:r>
            <a:r>
              <a:rPr lang="en-US" altLang="zh-CN" sz="2800" b="1"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0546" name="Rectangle 18">
            <a:extLst>
              <a:ext uri="{FF2B5EF4-FFF2-40B4-BE49-F238E27FC236}">
                <a16:creationId xmlns:a16="http://schemas.microsoft.com/office/drawing/2014/main" id="{108DA66C-30DD-4D28-8890-2AEE4AF07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2133600"/>
            <a:ext cx="4202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适合车流</a:t>
            </a:r>
            <a:r>
              <a:rPr lang="zh-CN" altLang="en-US" sz="2800" b="1">
                <a:solidFill>
                  <a:srgbClr val="FF3300"/>
                </a:solidFill>
              </a:rPr>
              <a:t>密度适中</a:t>
            </a:r>
            <a:r>
              <a:rPr lang="zh-CN" altLang="en-US" sz="2800" b="1"/>
              <a:t>的情况 </a:t>
            </a:r>
          </a:p>
        </p:txBody>
      </p:sp>
      <p:sp>
        <p:nvSpPr>
          <p:cNvPr id="150547" name="Rectangle 19">
            <a:extLst>
              <a:ext uri="{FF2B5EF4-FFF2-40B4-BE49-F238E27FC236}">
                <a16:creationId xmlns:a16="http://schemas.microsoft.com/office/drawing/2014/main" id="{16C3D279-A9D9-4409-A0D1-A89DCF764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644900"/>
            <a:ext cx="17018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对数模型 </a:t>
            </a:r>
          </a:p>
        </p:txBody>
      </p:sp>
      <p:sp>
        <p:nvSpPr>
          <p:cNvPr id="150548" name="Rectangle 20">
            <a:extLst>
              <a:ext uri="{FF2B5EF4-FFF2-40B4-BE49-F238E27FC236}">
                <a16:creationId xmlns:a16="http://schemas.microsoft.com/office/drawing/2014/main" id="{C24E011A-0373-4E70-B0D7-C63477D78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644900"/>
            <a:ext cx="3529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车流</a:t>
            </a:r>
            <a:r>
              <a:rPr lang="zh-CN" altLang="en-US" sz="2800" b="1">
                <a:solidFill>
                  <a:srgbClr val="FF3300"/>
                </a:solidFill>
              </a:rPr>
              <a:t>密度较大</a:t>
            </a:r>
            <a:r>
              <a:rPr lang="zh-CN" altLang="en-US" sz="2800" b="1"/>
              <a:t>时适用 </a:t>
            </a:r>
          </a:p>
        </p:txBody>
      </p:sp>
      <p:graphicFrame>
        <p:nvGraphicFramePr>
          <p:cNvPr id="150549" name="Object 21">
            <a:extLst>
              <a:ext uri="{FF2B5EF4-FFF2-40B4-BE49-F238E27FC236}">
                <a16:creationId xmlns:a16="http://schemas.microsoft.com/office/drawing/2014/main" id="{B2799684-149F-42CA-822D-BB126C6D99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3662363"/>
          <a:ext cx="22320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4" name="公式" r:id="rId7" imgW="952087" imgH="241195" progId="Equation.3">
                  <p:embed/>
                </p:oleObj>
              </mc:Choice>
              <mc:Fallback>
                <p:oleObj name="公式" r:id="rId7" imgW="952087" imgH="24119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662363"/>
                        <a:ext cx="2232025" cy="5588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51" name="Rectangle 23">
            <a:extLst>
              <a:ext uri="{FF2B5EF4-FFF2-40B4-BE49-F238E27FC236}">
                <a16:creationId xmlns:a16="http://schemas.microsoft.com/office/drawing/2014/main" id="{B5A4E8D0-5871-43EE-931A-873EFEE02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141913"/>
            <a:ext cx="17018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指数模型 </a:t>
            </a:r>
          </a:p>
        </p:txBody>
      </p:sp>
      <p:graphicFrame>
        <p:nvGraphicFramePr>
          <p:cNvPr id="150552" name="Object 24">
            <a:extLst>
              <a:ext uri="{FF2B5EF4-FFF2-40B4-BE49-F238E27FC236}">
                <a16:creationId xmlns:a16="http://schemas.microsoft.com/office/drawing/2014/main" id="{D67717EB-6693-4B42-84DB-F0B39C102C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137150"/>
          <a:ext cx="25193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公式" r:id="rId9" imgW="1180588" imgH="241195" progId="Equation.3">
                  <p:embed/>
                </p:oleObj>
              </mc:Choice>
              <mc:Fallback>
                <p:oleObj name="公式" r:id="rId9" imgW="1180588" imgH="24119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137150"/>
                        <a:ext cx="2519362" cy="5238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54" name="Rectangle 26">
            <a:extLst>
              <a:ext uri="{FF2B5EF4-FFF2-40B4-BE49-F238E27FC236}">
                <a16:creationId xmlns:a16="http://schemas.microsoft.com/office/drawing/2014/main" id="{32CBE96C-8DCF-4784-B1A8-B05DB39F9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157788"/>
            <a:ext cx="3487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车流</a:t>
            </a:r>
            <a:r>
              <a:rPr lang="zh-CN" altLang="en-US" sz="2800" b="1">
                <a:solidFill>
                  <a:srgbClr val="FF3300"/>
                </a:solidFill>
              </a:rPr>
              <a:t>密度较小</a:t>
            </a:r>
            <a:r>
              <a:rPr lang="zh-CN" altLang="en-US" sz="2800" b="1"/>
              <a:t>时适用 </a:t>
            </a:r>
          </a:p>
        </p:txBody>
      </p:sp>
      <p:sp>
        <p:nvSpPr>
          <p:cNvPr id="150555" name="Rectangle 27">
            <a:extLst>
              <a:ext uri="{FF2B5EF4-FFF2-40B4-BE49-F238E27FC236}">
                <a16:creationId xmlns:a16="http://schemas.microsoft.com/office/drawing/2014/main" id="{ADAA95DA-A17F-42B9-850F-2990913E3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365625"/>
            <a:ext cx="720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v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~ </a:t>
            </a:r>
            <a:r>
              <a:rPr lang="en-US" altLang="zh-CN" sz="2800" b="1" i="1"/>
              <a:t>k</a:t>
            </a:r>
            <a:r>
              <a:rPr lang="en-US" altLang="zh-CN" sz="2800" b="1"/>
              <a:t>=</a:t>
            </a:r>
            <a:r>
              <a:rPr lang="en-US" altLang="zh-CN" sz="2800" b="1" i="1"/>
              <a:t>k</a:t>
            </a:r>
            <a:r>
              <a:rPr lang="en-US" altLang="zh-CN" sz="2800" b="1" i="1" baseline="-25000"/>
              <a:t>j</a:t>
            </a:r>
            <a:r>
              <a:rPr lang="en-US" altLang="zh-CN" sz="2800" b="1"/>
              <a:t>/</a:t>
            </a:r>
            <a:r>
              <a:rPr lang="en-US" altLang="zh-CN" sz="2800" b="1" i="1"/>
              <a:t>e</a:t>
            </a:r>
            <a:r>
              <a:rPr lang="zh-CN" altLang="en-US" sz="2800" b="1"/>
              <a:t>时的车速</a:t>
            </a:r>
            <a:r>
              <a:rPr lang="en-US" altLang="zh-CN" sz="2800" b="1"/>
              <a:t>(</a:t>
            </a:r>
            <a:r>
              <a:rPr lang="zh-CN" altLang="en-US" sz="2800" b="1"/>
              <a:t>理论上</a:t>
            </a:r>
            <a:r>
              <a:rPr lang="en-US" altLang="zh-CN" sz="2800" b="1"/>
              <a:t>), 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由观测数据确定</a:t>
            </a:r>
            <a:r>
              <a:rPr lang="en-US" altLang="zh-CN" sz="2800" b="1">
                <a:solidFill>
                  <a:srgbClr val="000000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sz="2800" b="1"/>
              <a:t> </a:t>
            </a: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35C87432-FD48-4BF7-86E6-9FE628B88CFC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1341438"/>
            <a:ext cx="5003800" cy="519112"/>
            <a:chOff x="2562" y="845"/>
            <a:chExt cx="3152" cy="327"/>
          </a:xfrm>
        </p:grpSpPr>
        <p:sp>
          <p:nvSpPr>
            <p:cNvPr id="17427" name="Rectangle 11">
              <a:extLst>
                <a:ext uri="{FF2B5EF4-FFF2-40B4-BE49-F238E27FC236}">
                  <a16:creationId xmlns:a16="http://schemas.microsoft.com/office/drawing/2014/main" id="{4FE8EBD7-967F-45FA-872B-94ABA99D3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845"/>
              <a:ext cx="315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车流密度加大     司机被迫减速 </a:t>
              </a:r>
            </a:p>
          </p:txBody>
        </p:sp>
        <p:sp>
          <p:nvSpPr>
            <p:cNvPr id="17428" name="AutoShape 30">
              <a:extLst>
                <a:ext uri="{FF2B5EF4-FFF2-40B4-BE49-F238E27FC236}">
                  <a16:creationId xmlns:a16="http://schemas.microsoft.com/office/drawing/2014/main" id="{416049C1-9A7D-4E99-828E-792979736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5" y="845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5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50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0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50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5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5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0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50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0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0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6" grpId="0" animBg="1"/>
      <p:bldP spid="150542" grpId="0" animBg="1"/>
      <p:bldP spid="150543" grpId="0"/>
      <p:bldP spid="150545" grpId="0"/>
      <p:bldP spid="150546" grpId="0"/>
      <p:bldP spid="150547" grpId="0" animBg="1"/>
      <p:bldP spid="150548" grpId="0"/>
      <p:bldP spid="150551" grpId="0" animBg="1"/>
      <p:bldP spid="150554" grpId="0"/>
      <p:bldP spid="1505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7643196A-BE7F-4D93-B733-A81651747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49275"/>
            <a:ext cx="4860925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交通流的基本参数及其特性</a:t>
            </a:r>
          </a:p>
        </p:txBody>
      </p:sp>
      <p:graphicFrame>
        <p:nvGraphicFramePr>
          <p:cNvPr id="18435" name="Object 5">
            <a:extLst>
              <a:ext uri="{FF2B5EF4-FFF2-40B4-BE49-F238E27FC236}">
                <a16:creationId xmlns:a16="http://schemas.microsoft.com/office/drawing/2014/main" id="{587E0503-A602-406C-81FA-27A8FBFCE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5113" y="476250"/>
          <a:ext cx="9429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8" name="Clip" r:id="rId3" imgW="6545263" imgH="1706563" progId="MS_ClipArt_Gallery.2">
                  <p:embed/>
                </p:oleObj>
              </mc:Choice>
              <mc:Fallback>
                <p:oleObj name="Clip" r:id="rId3" imgW="6545263" imgH="1706563" progId="MS_ClipArt_Gallery.2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476250"/>
                        <a:ext cx="9429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58" name="Object 6">
            <a:extLst>
              <a:ext uri="{FF2B5EF4-FFF2-40B4-BE49-F238E27FC236}">
                <a16:creationId xmlns:a16="http://schemas.microsoft.com/office/drawing/2014/main" id="{214638C6-9AFA-4FD8-A935-52C6DE15D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196975"/>
          <a:ext cx="24479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9" name="公式" r:id="rId5" imgW="1129810" imgH="241195" progId="Equation.3">
                  <p:embed/>
                </p:oleObj>
              </mc:Choice>
              <mc:Fallback>
                <p:oleObj name="公式" r:id="rId5" imgW="1129810" imgH="24119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196975"/>
                        <a:ext cx="2447925" cy="514350"/>
                      </a:xfrm>
                      <a:prstGeom prst="rect">
                        <a:avLst/>
                      </a:prstGeom>
                      <a:solidFill>
                        <a:srgbClr val="FFCC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0" name="Object 8">
            <a:extLst>
              <a:ext uri="{FF2B5EF4-FFF2-40B4-BE49-F238E27FC236}">
                <a16:creationId xmlns:a16="http://schemas.microsoft.com/office/drawing/2014/main" id="{1DDE94C3-8EED-439D-B82D-028D6B7ACD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49275"/>
          <a:ext cx="11525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0" name="公式" r:id="rId7" imgW="431613" imgH="203112" progId="Equation.3">
                  <p:embed/>
                </p:oleObj>
              </mc:Choice>
              <mc:Fallback>
                <p:oleObj name="公式" r:id="rId7" imgW="431613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49275"/>
                        <a:ext cx="1152525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1" name="Object 9">
            <a:extLst>
              <a:ext uri="{FF2B5EF4-FFF2-40B4-BE49-F238E27FC236}">
                <a16:creationId xmlns:a16="http://schemas.microsoft.com/office/drawing/2014/main" id="{E73418B8-AF40-4F6E-B8D9-BAADB4F874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196975"/>
          <a:ext cx="230505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1" name="公式" r:id="rId9" imgW="1054100" imgH="241300" progId="Equation.3">
                  <p:embed/>
                </p:oleObj>
              </mc:Choice>
              <mc:Fallback>
                <p:oleObj name="公式" r:id="rId9" imgW="1054100" imgH="2413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96975"/>
                        <a:ext cx="2305050" cy="519113"/>
                      </a:xfrm>
                      <a:prstGeom prst="rect">
                        <a:avLst/>
                      </a:prstGeom>
                      <a:solidFill>
                        <a:srgbClr val="FF99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2" name="Object 10">
            <a:extLst>
              <a:ext uri="{FF2B5EF4-FFF2-40B4-BE49-F238E27FC236}">
                <a16:creationId xmlns:a16="http://schemas.microsoft.com/office/drawing/2014/main" id="{C4169B9F-504E-4793-85FA-D4845DABF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1196975"/>
          <a:ext cx="23050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公式" r:id="rId11" imgW="1104900" imgH="241300" progId="Equation.3">
                  <p:embed/>
                </p:oleObj>
              </mc:Choice>
              <mc:Fallback>
                <p:oleObj name="公式" r:id="rId11" imgW="11049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1196975"/>
                        <a:ext cx="2305050" cy="4953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7">
            <a:extLst>
              <a:ext uri="{FF2B5EF4-FFF2-40B4-BE49-F238E27FC236}">
                <a16:creationId xmlns:a16="http://schemas.microsoft.com/office/drawing/2014/main" id="{494CB169-EB76-4446-8CC8-C084FE18D8DE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1773238"/>
            <a:ext cx="4787900" cy="4205287"/>
            <a:chOff x="45" y="1117"/>
            <a:chExt cx="3016" cy="2649"/>
          </a:xfrm>
        </p:grpSpPr>
        <p:sp>
          <p:nvSpPr>
            <p:cNvPr id="18446" name="Text Box 13">
              <a:extLst>
                <a:ext uri="{FF2B5EF4-FFF2-40B4-BE49-F238E27FC236}">
                  <a16:creationId xmlns:a16="http://schemas.microsoft.com/office/drawing/2014/main" id="{973502B5-7947-41D4-9192-994E6D457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" y="2205"/>
              <a:ext cx="74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FF3300"/>
                  </a:solidFill>
                </a:rPr>
                <a:t>速度</a:t>
              </a:r>
              <a:r>
                <a:rPr lang="en-US" altLang="zh-CN" b="1" i="1">
                  <a:solidFill>
                    <a:srgbClr val="FF3300"/>
                  </a:solidFill>
                </a:rPr>
                <a:t>v</a:t>
              </a:r>
              <a:endParaRPr lang="en-US" altLang="zh-CN" b="1">
                <a:solidFill>
                  <a:srgbClr val="FF3300"/>
                </a:solidFill>
              </a:endParaRPr>
            </a:p>
          </p:txBody>
        </p:sp>
        <p:grpSp>
          <p:nvGrpSpPr>
            <p:cNvPr id="18447" name="Group 56">
              <a:extLst>
                <a:ext uri="{FF2B5EF4-FFF2-40B4-BE49-F238E27FC236}">
                  <a16:creationId xmlns:a16="http://schemas.microsoft.com/office/drawing/2014/main" id="{EE73E161-C9DC-470B-9348-4C7FFB3226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" y="1117"/>
              <a:ext cx="2948" cy="2649"/>
              <a:chOff x="113" y="1117"/>
              <a:chExt cx="2948" cy="2649"/>
            </a:xfrm>
          </p:grpSpPr>
          <p:sp>
            <p:nvSpPr>
              <p:cNvPr id="18448" name="Text Box 14">
                <a:extLst>
                  <a:ext uri="{FF2B5EF4-FFF2-40B4-BE49-F238E27FC236}">
                    <a16:creationId xmlns:a16="http://schemas.microsoft.com/office/drawing/2014/main" id="{487EA632-A546-4140-8F2A-FB7B400961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" y="1117"/>
                <a:ext cx="680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="1">
                    <a:solidFill>
                      <a:srgbClr val="FF3300"/>
                    </a:solidFill>
                  </a:rPr>
                  <a:t>流量</a:t>
                </a:r>
                <a:r>
                  <a:rPr lang="en-US" altLang="zh-CN" b="1" i="1">
                    <a:solidFill>
                      <a:srgbClr val="FF3300"/>
                    </a:solidFill>
                  </a:rPr>
                  <a:t>q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18449" name="Text Box 15">
                <a:extLst>
                  <a:ext uri="{FF2B5EF4-FFF2-40B4-BE49-F238E27FC236}">
                    <a16:creationId xmlns:a16="http://schemas.microsoft.com/office/drawing/2014/main" id="{68FDCCAC-F850-4570-8DB3-101808AAA0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2" y="2682"/>
                <a:ext cx="398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v</a:t>
                </a:r>
                <a:r>
                  <a:rPr lang="en-US" altLang="zh-CN" b="1" i="1" baseline="-25000"/>
                  <a:t>m</a:t>
                </a:r>
                <a:endParaRPr lang="en-US" altLang="zh-CN" b="1"/>
              </a:p>
            </p:txBody>
          </p:sp>
          <p:sp>
            <p:nvSpPr>
              <p:cNvPr id="18450" name="Text Box 16">
                <a:extLst>
                  <a:ext uri="{FF2B5EF4-FFF2-40B4-BE49-F238E27FC236}">
                    <a16:creationId xmlns:a16="http://schemas.microsoft.com/office/drawing/2014/main" id="{1D631868-B7A9-4461-9734-0A977A19AB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" y="2750"/>
                <a:ext cx="409" cy="2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v</a:t>
                </a:r>
                <a:r>
                  <a:rPr lang="en-US" altLang="zh-CN" b="1" i="1" baseline="-25000"/>
                  <a:t>m</a:t>
                </a:r>
                <a:endParaRPr lang="en-US" altLang="zh-CN" b="1"/>
              </a:p>
            </p:txBody>
          </p:sp>
          <p:sp>
            <p:nvSpPr>
              <p:cNvPr id="18451" name="Text Box 17">
                <a:extLst>
                  <a:ext uri="{FF2B5EF4-FFF2-40B4-BE49-F238E27FC236}">
                    <a16:creationId xmlns:a16="http://schemas.microsoft.com/office/drawing/2014/main" id="{63678DFA-6795-4A87-80CD-EB4C5C8581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3" y="2045"/>
                <a:ext cx="321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k</a:t>
                </a:r>
                <a:r>
                  <a:rPr lang="en-US" altLang="zh-CN" b="1" i="1" baseline="-25000"/>
                  <a:t>m</a:t>
                </a:r>
                <a:endParaRPr lang="en-US" altLang="zh-CN" b="1"/>
              </a:p>
            </p:txBody>
          </p:sp>
          <p:sp>
            <p:nvSpPr>
              <p:cNvPr id="18452" name="Text Box 18">
                <a:extLst>
                  <a:ext uri="{FF2B5EF4-FFF2-40B4-BE49-F238E27FC236}">
                    <a16:creationId xmlns:a16="http://schemas.microsoft.com/office/drawing/2014/main" id="{631E6E77-EDC3-4319-9EF5-D7C44AEFDF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1" y="3243"/>
                <a:ext cx="431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k</a:t>
                </a:r>
                <a:r>
                  <a:rPr lang="en-US" altLang="zh-CN" b="1" i="1" baseline="-25000"/>
                  <a:t>m</a:t>
                </a:r>
                <a:endParaRPr lang="en-US" altLang="zh-CN" b="1"/>
              </a:p>
            </p:txBody>
          </p:sp>
          <p:sp>
            <p:nvSpPr>
              <p:cNvPr id="18453" name="Text Box 19">
                <a:extLst>
                  <a:ext uri="{FF2B5EF4-FFF2-40B4-BE49-F238E27FC236}">
                    <a16:creationId xmlns:a16="http://schemas.microsoft.com/office/drawing/2014/main" id="{BAB78CF7-DE27-43A2-B561-791CD2EEF0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1" y="3231"/>
                <a:ext cx="430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q</a:t>
                </a:r>
                <a:r>
                  <a:rPr lang="en-US" altLang="zh-CN" b="1" i="1" baseline="-25000"/>
                  <a:t>m</a:t>
                </a:r>
                <a:endParaRPr lang="en-US" altLang="zh-CN" b="1"/>
              </a:p>
            </p:txBody>
          </p:sp>
          <p:sp>
            <p:nvSpPr>
              <p:cNvPr id="18454" name="Text Box 20">
                <a:extLst>
                  <a:ext uri="{FF2B5EF4-FFF2-40B4-BE49-F238E27FC236}">
                    <a16:creationId xmlns:a16="http://schemas.microsoft.com/office/drawing/2014/main" id="{B092E636-322C-425C-8B68-1CA9D910E3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1409"/>
                <a:ext cx="414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q</a:t>
                </a:r>
                <a:r>
                  <a:rPr lang="en-US" altLang="zh-CN" b="1" i="1" baseline="-25000"/>
                  <a:t>m</a:t>
                </a:r>
                <a:endParaRPr lang="en-US" altLang="zh-CN" b="1"/>
              </a:p>
            </p:txBody>
          </p:sp>
          <p:sp>
            <p:nvSpPr>
              <p:cNvPr id="18455" name="Text Box 21">
                <a:extLst>
                  <a:ext uri="{FF2B5EF4-FFF2-40B4-BE49-F238E27FC236}">
                    <a16:creationId xmlns:a16="http://schemas.microsoft.com/office/drawing/2014/main" id="{8321480B-88AA-455D-9CA5-2B5D109348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7" y="2311"/>
                <a:ext cx="398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v</a:t>
                </a:r>
                <a:r>
                  <a:rPr lang="en-US" altLang="zh-CN" b="1" i="1" baseline="-25000"/>
                  <a:t>f</a:t>
                </a:r>
                <a:endParaRPr lang="en-US" altLang="zh-CN" b="1"/>
              </a:p>
            </p:txBody>
          </p:sp>
          <p:sp>
            <p:nvSpPr>
              <p:cNvPr id="18456" name="Text Box 22">
                <a:extLst>
                  <a:ext uri="{FF2B5EF4-FFF2-40B4-BE49-F238E27FC236}">
                    <a16:creationId xmlns:a16="http://schemas.microsoft.com/office/drawing/2014/main" id="{D414FAA0-97D0-4DF2-9681-FFBFF5E72A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" y="2369"/>
                <a:ext cx="408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v</a:t>
                </a:r>
                <a:r>
                  <a:rPr lang="en-US" altLang="zh-CN" b="1" i="1" baseline="-25000"/>
                  <a:t>f</a:t>
                </a:r>
                <a:endParaRPr lang="en-US" altLang="zh-CN" b="1"/>
              </a:p>
            </p:txBody>
          </p:sp>
          <p:sp>
            <p:nvSpPr>
              <p:cNvPr id="18457" name="Text Box 23">
                <a:extLst>
                  <a:ext uri="{FF2B5EF4-FFF2-40B4-BE49-F238E27FC236}">
                    <a16:creationId xmlns:a16="http://schemas.microsoft.com/office/drawing/2014/main" id="{79DCE681-98D8-42C0-829E-FDAC677D7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2" y="3243"/>
                <a:ext cx="431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k</a:t>
                </a:r>
                <a:r>
                  <a:rPr lang="en-US" altLang="zh-CN" b="1" i="1" baseline="-25000"/>
                  <a:t>j</a:t>
                </a:r>
                <a:endParaRPr lang="en-US" altLang="zh-CN" b="1"/>
              </a:p>
            </p:txBody>
          </p:sp>
          <p:sp>
            <p:nvSpPr>
              <p:cNvPr id="18458" name="Text Box 24">
                <a:extLst>
                  <a:ext uri="{FF2B5EF4-FFF2-40B4-BE49-F238E27FC236}">
                    <a16:creationId xmlns:a16="http://schemas.microsoft.com/office/drawing/2014/main" id="{4D10015B-03AD-4FD0-BE04-006EBD81A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3" y="2031"/>
                <a:ext cx="320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b="1" i="1"/>
                  <a:t>k</a:t>
                </a:r>
                <a:r>
                  <a:rPr lang="en-US" altLang="zh-CN" b="1" i="1" baseline="-25000"/>
                  <a:t>j</a:t>
                </a:r>
                <a:endParaRPr lang="en-US" altLang="zh-CN" b="1"/>
              </a:p>
            </p:txBody>
          </p:sp>
          <p:sp>
            <p:nvSpPr>
              <p:cNvPr id="18459" name="Text Box 25">
                <a:extLst>
                  <a:ext uri="{FF2B5EF4-FFF2-40B4-BE49-F238E27FC236}">
                    <a16:creationId xmlns:a16="http://schemas.microsoft.com/office/drawing/2014/main" id="{9C00D991-A470-4205-B02F-B3AE861B3C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8" y="3244"/>
                <a:ext cx="241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0</a:t>
                </a:r>
              </a:p>
            </p:txBody>
          </p:sp>
          <p:sp>
            <p:nvSpPr>
              <p:cNvPr id="18460" name="Text Box 26">
                <a:extLst>
                  <a:ext uri="{FF2B5EF4-FFF2-40B4-BE49-F238E27FC236}">
                    <a16:creationId xmlns:a16="http://schemas.microsoft.com/office/drawing/2014/main" id="{DBC55549-87B2-4D73-88E5-D396B684BD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" y="3219"/>
                <a:ext cx="241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0</a:t>
                </a:r>
              </a:p>
            </p:txBody>
          </p:sp>
          <p:sp>
            <p:nvSpPr>
              <p:cNvPr id="18461" name="Text Box 27">
                <a:extLst>
                  <a:ext uri="{FF2B5EF4-FFF2-40B4-BE49-F238E27FC236}">
                    <a16:creationId xmlns:a16="http://schemas.microsoft.com/office/drawing/2014/main" id="{E80DAAD8-C2F5-4071-A0E0-8953755CAE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" y="2024"/>
                <a:ext cx="242" cy="2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0</a:t>
                </a:r>
              </a:p>
            </p:txBody>
          </p:sp>
          <p:sp>
            <p:nvSpPr>
              <p:cNvPr id="18462" name="Line 28">
                <a:extLst>
                  <a:ext uri="{FF2B5EF4-FFF2-40B4-BE49-F238E27FC236}">
                    <a16:creationId xmlns:a16="http://schemas.microsoft.com/office/drawing/2014/main" id="{B10CA1E9-5789-463D-A541-1B58BC8D2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" y="3310"/>
                <a:ext cx="236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3" name="Line 29">
                <a:extLst>
                  <a:ext uri="{FF2B5EF4-FFF2-40B4-BE49-F238E27FC236}">
                    <a16:creationId xmlns:a16="http://schemas.microsoft.com/office/drawing/2014/main" id="{AC66EF6A-899D-4F0C-AC07-C8AFAE0CE6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87" y="1253"/>
                <a:ext cx="8" cy="20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4" name="Line 30">
                <a:extLst>
                  <a:ext uri="{FF2B5EF4-FFF2-40B4-BE49-F238E27FC236}">
                    <a16:creationId xmlns:a16="http://schemas.microsoft.com/office/drawing/2014/main" id="{F675C3F6-F96A-4B8E-9079-8D7C3ADB2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" y="2527"/>
                <a:ext cx="1001" cy="78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5" name="Line 31">
                <a:extLst>
                  <a:ext uri="{FF2B5EF4-FFF2-40B4-BE49-F238E27FC236}">
                    <a16:creationId xmlns:a16="http://schemas.microsoft.com/office/drawing/2014/main" id="{C9203E0E-1D64-4A9A-B138-056C59908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6" y="1569"/>
                <a:ext cx="0" cy="17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6" name="Line 32">
                <a:extLst>
                  <a:ext uri="{FF2B5EF4-FFF2-40B4-BE49-F238E27FC236}">
                    <a16:creationId xmlns:a16="http://schemas.microsoft.com/office/drawing/2014/main" id="{24F84164-CF17-43ED-BFFF-11F3AE0918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6" y="2510"/>
                <a:ext cx="1" cy="7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7" name="Line 33">
                <a:extLst>
                  <a:ext uri="{FF2B5EF4-FFF2-40B4-BE49-F238E27FC236}">
                    <a16:creationId xmlns:a16="http://schemas.microsoft.com/office/drawing/2014/main" id="{4E04625A-913B-44FC-B96F-620C37009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189" y="1569"/>
                <a:ext cx="0" cy="17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8" name="Line 34">
                <a:extLst>
                  <a:ext uri="{FF2B5EF4-FFF2-40B4-BE49-F238E27FC236}">
                    <a16:creationId xmlns:a16="http://schemas.microsoft.com/office/drawing/2014/main" id="{3763F4B6-720B-49D1-9147-3338D4FC2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5" y="1553"/>
                <a:ext cx="2047" cy="1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9" name="Line 35">
                <a:extLst>
                  <a:ext uri="{FF2B5EF4-FFF2-40B4-BE49-F238E27FC236}">
                    <a16:creationId xmlns:a16="http://schemas.microsoft.com/office/drawing/2014/main" id="{33544D79-71E1-4792-8153-9B3A31EF2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95" y="2091"/>
                <a:ext cx="1001" cy="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0" name="Arc 36">
                <a:extLst>
                  <a:ext uri="{FF2B5EF4-FFF2-40B4-BE49-F238E27FC236}">
                    <a16:creationId xmlns:a16="http://schemas.microsoft.com/office/drawing/2014/main" id="{E65B79FF-325E-4BF0-A2F2-6E028A97B1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97" y="1564"/>
                <a:ext cx="485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1" name="Arc 37">
                <a:extLst>
                  <a:ext uri="{FF2B5EF4-FFF2-40B4-BE49-F238E27FC236}">
                    <a16:creationId xmlns:a16="http://schemas.microsoft.com/office/drawing/2014/main" id="{87E843CB-E306-4DA5-803E-42CC79B2B4F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705" y="1564"/>
                <a:ext cx="485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2" name="Line 38">
                <a:extLst>
                  <a:ext uri="{FF2B5EF4-FFF2-40B4-BE49-F238E27FC236}">
                    <a16:creationId xmlns:a16="http://schemas.microsoft.com/office/drawing/2014/main" id="{CD528D56-61FE-4B28-BC41-995FFEB687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" y="2501"/>
                <a:ext cx="1463" cy="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3" name="Line 39">
                <a:extLst>
                  <a:ext uri="{FF2B5EF4-FFF2-40B4-BE49-F238E27FC236}">
                    <a16:creationId xmlns:a16="http://schemas.microsoft.com/office/drawing/2014/main" id="{6BB4CA30-6F89-4A16-B78F-40D667217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9" y="2902"/>
                <a:ext cx="201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4" name="Line 40">
                <a:extLst>
                  <a:ext uri="{FF2B5EF4-FFF2-40B4-BE49-F238E27FC236}">
                    <a16:creationId xmlns:a16="http://schemas.microsoft.com/office/drawing/2014/main" id="{E4E10D3A-86B1-440B-B5D2-B5DC1A5BA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7" y="1573"/>
                <a:ext cx="0" cy="17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5" name="Line 41">
                <a:extLst>
                  <a:ext uri="{FF2B5EF4-FFF2-40B4-BE49-F238E27FC236}">
                    <a16:creationId xmlns:a16="http://schemas.microsoft.com/office/drawing/2014/main" id="{385DEAF5-1F27-469E-ACA7-07950CA6E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92" y="1548"/>
                <a:ext cx="1069" cy="9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6" name="Arc 42">
                <a:extLst>
                  <a:ext uri="{FF2B5EF4-FFF2-40B4-BE49-F238E27FC236}">
                    <a16:creationId xmlns:a16="http://schemas.microsoft.com/office/drawing/2014/main" id="{74586208-F15B-4AD3-A0EC-63217A2595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3" y="2510"/>
                <a:ext cx="545" cy="39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7" name="Arc 43">
                <a:extLst>
                  <a:ext uri="{FF2B5EF4-FFF2-40B4-BE49-F238E27FC236}">
                    <a16:creationId xmlns:a16="http://schemas.microsoft.com/office/drawing/2014/main" id="{5FDCEAE3-F506-4D00-AB25-6084FC4E178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183" y="2901"/>
                <a:ext cx="545" cy="393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8" name="Line 44">
                <a:extLst>
                  <a:ext uri="{FF2B5EF4-FFF2-40B4-BE49-F238E27FC236}">
                    <a16:creationId xmlns:a16="http://schemas.microsoft.com/office/drawing/2014/main" id="{61ACD4A5-5D5D-41D9-B3CF-5B3E89DA8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90" y="2091"/>
                <a:ext cx="4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9" name="Line 45">
                <a:extLst>
                  <a:ext uri="{FF2B5EF4-FFF2-40B4-BE49-F238E27FC236}">
                    <a16:creationId xmlns:a16="http://schemas.microsoft.com/office/drawing/2014/main" id="{6F373206-A6AF-455B-A406-82DA9DEBE1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091"/>
                <a:ext cx="1" cy="4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80" name="Text Box 46">
                <a:extLst>
                  <a:ext uri="{FF2B5EF4-FFF2-40B4-BE49-F238E27FC236}">
                    <a16:creationId xmlns:a16="http://schemas.microsoft.com/office/drawing/2014/main" id="{8C13D811-AF56-4345-936D-3ADA2D904A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7" y="3475"/>
                <a:ext cx="636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="1">
                    <a:solidFill>
                      <a:srgbClr val="FF3300"/>
                    </a:solidFill>
                  </a:rPr>
                  <a:t>密度</a:t>
                </a:r>
                <a:r>
                  <a:rPr lang="en-US" altLang="zh-CN" b="1" i="1">
                    <a:solidFill>
                      <a:srgbClr val="FF3300"/>
                    </a:solidFill>
                  </a:rPr>
                  <a:t>k 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  <p:sp>
            <p:nvSpPr>
              <p:cNvPr id="18481" name="Text Box 47">
                <a:extLst>
                  <a:ext uri="{FF2B5EF4-FFF2-40B4-BE49-F238E27FC236}">
                    <a16:creationId xmlns:a16="http://schemas.microsoft.com/office/drawing/2014/main" id="{1A91E86A-61DB-4935-A2B9-FB578825A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6" y="3475"/>
                <a:ext cx="721" cy="2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zh-CN" altLang="en-US" b="1">
                    <a:solidFill>
                      <a:srgbClr val="FF3300"/>
                    </a:solidFill>
                  </a:rPr>
                  <a:t>流量</a:t>
                </a:r>
                <a:r>
                  <a:rPr lang="en-US" altLang="zh-CN" b="1" i="1">
                    <a:solidFill>
                      <a:srgbClr val="FF3300"/>
                    </a:solidFill>
                  </a:rPr>
                  <a:t>q</a:t>
                </a:r>
                <a:endParaRPr lang="en-US" altLang="zh-CN" b="1">
                  <a:solidFill>
                    <a:srgbClr val="FF3300"/>
                  </a:solidFill>
                </a:endParaRPr>
              </a:p>
            </p:txBody>
          </p:sp>
        </p:grpSp>
      </p:grpSp>
      <p:sp>
        <p:nvSpPr>
          <p:cNvPr id="151601" name="Rectangle 49">
            <a:extLst>
              <a:ext uri="{FF2B5EF4-FFF2-40B4-BE49-F238E27FC236}">
                <a16:creationId xmlns:a16="http://schemas.microsoft.com/office/drawing/2014/main" id="{E71BFB1F-63B7-4AC3-B4BE-3E6741EDF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975100"/>
            <a:ext cx="4422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k</a:t>
            </a:r>
            <a:r>
              <a:rPr lang="en-US" altLang="zh-CN" sz="2800" b="1" i="1" baseline="-25000"/>
              <a:t>m</a:t>
            </a:r>
            <a:r>
              <a:rPr lang="en-US" altLang="zh-CN" sz="2800" b="1"/>
              <a:t>=</a:t>
            </a:r>
            <a:r>
              <a:rPr lang="en-US" altLang="zh-CN" sz="2800" b="1" i="1"/>
              <a:t>k</a:t>
            </a:r>
            <a:r>
              <a:rPr lang="en-US" altLang="zh-CN" sz="2800" b="1" i="1" baseline="-25000"/>
              <a:t>j</a:t>
            </a:r>
            <a:r>
              <a:rPr lang="en-US" altLang="zh-CN" sz="2800" b="1"/>
              <a:t>/2</a:t>
            </a:r>
            <a:r>
              <a:rPr lang="en-US" altLang="zh-CN" sz="2800" b="1" i="1"/>
              <a:t> ~</a:t>
            </a:r>
            <a:r>
              <a:rPr lang="zh-CN" altLang="en-US" sz="2800" b="1"/>
              <a:t>最大流量时的密度</a:t>
            </a:r>
          </a:p>
        </p:txBody>
      </p:sp>
      <p:sp>
        <p:nvSpPr>
          <p:cNvPr id="151603" name="Rectangle 51">
            <a:extLst>
              <a:ext uri="{FF2B5EF4-FFF2-40B4-BE49-F238E27FC236}">
                <a16:creationId xmlns:a16="http://schemas.microsoft.com/office/drawing/2014/main" id="{19C0660E-FDF6-4E20-9AE0-CCA28F814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4694238"/>
            <a:ext cx="4484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v</a:t>
            </a:r>
            <a:r>
              <a:rPr lang="en-US" altLang="zh-CN" sz="2800" b="1" i="1" baseline="-25000"/>
              <a:t>m</a:t>
            </a:r>
            <a:r>
              <a:rPr lang="en-US" altLang="zh-CN" sz="2800" b="1"/>
              <a:t>=</a:t>
            </a:r>
            <a:r>
              <a:rPr lang="en-US" altLang="zh-CN" sz="2800" b="1" i="1"/>
              <a:t>v</a:t>
            </a:r>
            <a:r>
              <a:rPr lang="en-US" altLang="zh-CN" sz="2800" b="1" i="1" baseline="-25000"/>
              <a:t>f</a:t>
            </a:r>
            <a:r>
              <a:rPr lang="en-US" altLang="zh-CN" sz="2800" b="1"/>
              <a:t>/2</a:t>
            </a:r>
            <a:r>
              <a:rPr lang="en-US" altLang="zh-CN" sz="2800" b="1" i="1"/>
              <a:t> ~</a:t>
            </a:r>
            <a:r>
              <a:rPr lang="zh-CN" altLang="en-US" sz="2800" b="1"/>
              <a:t>最大流量时的速度 </a:t>
            </a:r>
          </a:p>
        </p:txBody>
      </p:sp>
      <p:sp>
        <p:nvSpPr>
          <p:cNvPr id="151605" name="Line 53">
            <a:extLst>
              <a:ext uri="{FF2B5EF4-FFF2-40B4-BE49-F238E27FC236}">
                <a16:creationId xmlns:a16="http://schemas.microsoft.com/office/drawing/2014/main" id="{942EEFD1-025B-4076-9C44-38F949179B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3350" y="1700213"/>
            <a:ext cx="0" cy="25209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606" name="Line 54">
            <a:extLst>
              <a:ext uri="{FF2B5EF4-FFF2-40B4-BE49-F238E27FC236}">
                <a16:creationId xmlns:a16="http://schemas.microsoft.com/office/drawing/2014/main" id="{DC6B7726-16DE-4517-98ED-A22D92A231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5875" y="1700213"/>
            <a:ext cx="1439863" cy="11525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1607" name="Line 55">
            <a:extLst>
              <a:ext uri="{FF2B5EF4-FFF2-40B4-BE49-F238E27FC236}">
                <a16:creationId xmlns:a16="http://schemas.microsoft.com/office/drawing/2014/main" id="{C08E8CE4-3581-420D-AB9A-F068F1FD06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1275" y="1700213"/>
            <a:ext cx="2736850" cy="230505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601" grpId="0"/>
      <p:bldP spid="15160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>
            <a:extLst>
              <a:ext uri="{FF2B5EF4-FFF2-40B4-BE49-F238E27FC236}">
                <a16:creationId xmlns:a16="http://schemas.microsoft.com/office/drawing/2014/main" id="{A330B5E3-D255-4DDF-B2AC-ED1D73365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49275"/>
            <a:ext cx="3598862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城市干道的通行能力</a:t>
            </a:r>
          </a:p>
        </p:txBody>
      </p:sp>
      <p:sp>
        <p:nvSpPr>
          <p:cNvPr id="152582" name="Rectangle 6">
            <a:extLst>
              <a:ext uri="{FF2B5EF4-FFF2-40B4-BE49-F238E27FC236}">
                <a16:creationId xmlns:a16="http://schemas.microsoft.com/office/drawing/2014/main" id="{6C2C2FB2-5B0F-45D3-889F-E0996E0EB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96975"/>
            <a:ext cx="8404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道路通行能力</a:t>
            </a:r>
            <a:r>
              <a:rPr lang="en-US" altLang="zh-CN" sz="2800" b="1"/>
              <a:t>~</a:t>
            </a:r>
            <a:r>
              <a:rPr lang="zh-CN" altLang="en-US" sz="2800" b="1"/>
              <a:t>单位时间内通过某断面的最大车辆数</a:t>
            </a:r>
            <a:r>
              <a:rPr lang="en-US" altLang="zh-CN" sz="2800" b="1"/>
              <a:t>. </a:t>
            </a:r>
          </a:p>
        </p:txBody>
      </p:sp>
      <p:sp>
        <p:nvSpPr>
          <p:cNvPr id="152584" name="Rectangle 8">
            <a:extLst>
              <a:ext uri="{FF2B5EF4-FFF2-40B4-BE49-F238E27FC236}">
                <a16:creationId xmlns:a16="http://schemas.microsoft.com/office/drawing/2014/main" id="{4513A426-F0BA-4ADD-9B96-54D093606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844675"/>
            <a:ext cx="8701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交通流量远小于通行能力时，车速高，呈自由流状态 </a:t>
            </a:r>
          </a:p>
        </p:txBody>
      </p:sp>
      <p:sp>
        <p:nvSpPr>
          <p:cNvPr id="152585" name="Rectangle 9">
            <a:extLst>
              <a:ext uri="{FF2B5EF4-FFF2-40B4-BE49-F238E27FC236}">
                <a16:creationId xmlns:a16="http://schemas.microsoft.com/office/drawing/2014/main" id="{245D9648-D399-4E6A-8EC6-9E638A4C9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349500"/>
            <a:ext cx="8640763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交通流量接近通行能力时，车速低，呈强制流状态，出现交通拥堵</a:t>
            </a:r>
            <a:r>
              <a:rPr lang="en-US" altLang="zh-CN" sz="2800" b="1"/>
              <a:t>.</a:t>
            </a:r>
          </a:p>
        </p:txBody>
      </p:sp>
      <p:sp>
        <p:nvSpPr>
          <p:cNvPr id="152586" name="Rectangle 10">
            <a:extLst>
              <a:ext uri="{FF2B5EF4-FFF2-40B4-BE49-F238E27FC236}">
                <a16:creationId xmlns:a16="http://schemas.microsoft.com/office/drawing/2014/main" id="{7FD31D04-1D9D-4A1A-9680-5DE87C4FC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429000"/>
            <a:ext cx="8493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饱和度</a:t>
            </a:r>
            <a:r>
              <a:rPr lang="en-US" altLang="zh-CN" sz="2800" b="1"/>
              <a:t>~</a:t>
            </a:r>
            <a:r>
              <a:rPr lang="zh-CN" altLang="en-US" sz="2800" b="1"/>
              <a:t>流量与通行能力的比值</a:t>
            </a:r>
            <a:r>
              <a:rPr lang="en-US" altLang="zh-CN" sz="2800" b="1"/>
              <a:t>, </a:t>
            </a:r>
            <a:r>
              <a:rPr lang="zh-CN" altLang="en-US" sz="2800" b="1"/>
              <a:t>表示道路的负荷程度</a:t>
            </a:r>
            <a:r>
              <a:rPr lang="en-US" altLang="zh-CN" sz="2800" b="1"/>
              <a:t>.</a:t>
            </a:r>
          </a:p>
        </p:txBody>
      </p:sp>
      <p:sp>
        <p:nvSpPr>
          <p:cNvPr id="152587" name="Rectangle 11">
            <a:extLst>
              <a:ext uri="{FF2B5EF4-FFF2-40B4-BE49-F238E27FC236}">
                <a16:creationId xmlns:a16="http://schemas.microsoft.com/office/drawing/2014/main" id="{6C223372-96EA-41A5-BC25-147F70886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148138"/>
            <a:ext cx="8497888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>
                <a:solidFill>
                  <a:srgbClr val="FF3300"/>
                </a:solidFill>
              </a:rPr>
              <a:t>城市干道的通行能力</a:t>
            </a:r>
            <a:r>
              <a:rPr lang="en-US" altLang="zh-CN" sz="2800" b="1"/>
              <a:t>~</a:t>
            </a:r>
            <a:r>
              <a:rPr lang="zh-CN" altLang="en-US" sz="2800" b="1"/>
              <a:t>在理想的道路和交通条件下，当具有标准长度和技术指标的车辆，以</a:t>
            </a:r>
            <a:r>
              <a:rPr lang="zh-CN" altLang="en-US" sz="2800" b="1">
                <a:solidFill>
                  <a:srgbClr val="FF3300"/>
                </a:solidFill>
              </a:rPr>
              <a:t>前后两车最小车头间隔连续行驶</a:t>
            </a:r>
            <a:r>
              <a:rPr lang="zh-CN" altLang="en-US" sz="2800" b="1"/>
              <a:t>时，单位时间内通过道路某断面的</a:t>
            </a:r>
            <a:r>
              <a:rPr lang="zh-CN" altLang="en-US" sz="2800" b="1">
                <a:solidFill>
                  <a:srgbClr val="FF3300"/>
                </a:solidFill>
              </a:rPr>
              <a:t>最大车辆数</a:t>
            </a:r>
            <a:r>
              <a:rPr lang="en-US" altLang="zh-CN" sz="2800" b="1" i="1">
                <a:solidFill>
                  <a:srgbClr val="FF3300"/>
                </a:solidFill>
              </a:rPr>
              <a:t>N</a:t>
            </a:r>
            <a:r>
              <a:rPr lang="en-US" altLang="zh-CN" sz="2800" b="1"/>
              <a:t> (</a:t>
            </a:r>
            <a:r>
              <a:rPr lang="zh-CN" altLang="en-US" sz="2800" b="1"/>
              <a:t>辆</a:t>
            </a:r>
            <a:r>
              <a:rPr lang="en-US" altLang="zh-CN" sz="2800" b="1"/>
              <a:t>/h). </a:t>
            </a:r>
          </a:p>
        </p:txBody>
      </p:sp>
      <p:graphicFrame>
        <p:nvGraphicFramePr>
          <p:cNvPr id="19464" name="Object 12">
            <a:extLst>
              <a:ext uri="{FF2B5EF4-FFF2-40B4-BE49-F238E27FC236}">
                <a16:creationId xmlns:a16="http://schemas.microsoft.com/office/drawing/2014/main" id="{D4FCFCFC-74C3-48A1-B175-5D4FAD60D9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4750" y="549275"/>
          <a:ext cx="9429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Clip" r:id="rId3" imgW="6545263" imgH="1706563" progId="MS_ClipArt_Gallery.2">
                  <p:embed/>
                </p:oleObj>
              </mc:Choice>
              <mc:Fallback>
                <p:oleObj name="Clip" r:id="rId3" imgW="6545263" imgH="1706563" progId="MS_ClipArt_Gallery.2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750" y="549275"/>
                        <a:ext cx="9429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2" grpId="0"/>
      <p:bldP spid="152584" grpId="0"/>
      <p:bldP spid="152585" grpId="0"/>
      <p:bldP spid="152586" grpId="0"/>
      <p:bldP spid="15258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7DDB74C2-E7C0-48B1-8EAF-D9D7D60E3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49275"/>
            <a:ext cx="3455988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城市干道的通行能力</a:t>
            </a:r>
          </a:p>
        </p:txBody>
      </p:sp>
      <p:sp>
        <p:nvSpPr>
          <p:cNvPr id="20483" name="Rectangle 8">
            <a:extLst>
              <a:ext uri="{FF2B5EF4-FFF2-40B4-BE49-F238E27FC236}">
                <a16:creationId xmlns:a16="http://schemas.microsoft.com/office/drawing/2014/main" id="{E64A0C72-FEA6-49B7-A360-61B4F96D4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607" name="Object 7">
            <a:extLst>
              <a:ext uri="{FF2B5EF4-FFF2-40B4-BE49-F238E27FC236}">
                <a16:creationId xmlns:a16="http://schemas.microsoft.com/office/drawing/2014/main" id="{5E3933C0-4A29-4566-873E-35CFB41EA4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1268413"/>
          <a:ext cx="20161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公式" r:id="rId3" imgW="875920" imgH="177723" progId="Equation.3">
                  <p:embed/>
                </p:oleObj>
              </mc:Choice>
              <mc:Fallback>
                <p:oleObj name="公式" r:id="rId3" imgW="875920" imgH="17772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1268413"/>
                        <a:ext cx="2016125" cy="423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9" name="Rectangle 9">
            <a:extLst>
              <a:ext uri="{FF2B5EF4-FFF2-40B4-BE49-F238E27FC236}">
                <a16:creationId xmlns:a16="http://schemas.microsoft.com/office/drawing/2014/main" id="{6508410B-28AD-45CC-A69C-3F9EA36A4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38250"/>
            <a:ext cx="5953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v~</a:t>
            </a:r>
            <a:r>
              <a:rPr lang="zh-CN" altLang="en-US" sz="2800" b="1"/>
              <a:t>车速</a:t>
            </a:r>
            <a:r>
              <a:rPr lang="zh-CN" altLang="en-US" sz="2800" b="1" i="1"/>
              <a:t> </a:t>
            </a:r>
            <a:r>
              <a:rPr lang="en-US" altLang="zh-CN" sz="2800" b="1"/>
              <a:t>(km/h)</a:t>
            </a:r>
            <a:r>
              <a:rPr lang="zh-CN" altLang="en-US" sz="2800" b="1"/>
              <a:t>， </a:t>
            </a:r>
            <a:r>
              <a:rPr lang="en-US" altLang="zh-CN" sz="2800" b="1" i="1"/>
              <a:t>d</a:t>
            </a:r>
            <a:r>
              <a:rPr lang="en-US" altLang="zh-CN" sz="2800" b="1"/>
              <a:t>~</a:t>
            </a:r>
            <a:r>
              <a:rPr lang="zh-CN" altLang="en-US" sz="2800" b="1"/>
              <a:t>最小车头间隔</a:t>
            </a:r>
            <a:r>
              <a:rPr lang="en-US" altLang="zh-CN" sz="2800" b="1"/>
              <a:t>(m) </a:t>
            </a:r>
          </a:p>
        </p:txBody>
      </p:sp>
      <p:sp>
        <p:nvSpPr>
          <p:cNvPr id="153610" name="Rectangle 10">
            <a:extLst>
              <a:ext uri="{FF2B5EF4-FFF2-40B4-BE49-F238E27FC236}">
                <a16:creationId xmlns:a16="http://schemas.microsoft.com/office/drawing/2014/main" id="{BA52A11D-9743-4182-9D16-525B156A5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8975"/>
            <a:ext cx="8353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 i="1"/>
              <a:t> d </a:t>
            </a:r>
            <a:r>
              <a:rPr lang="zh-CN" altLang="en-US" sz="2800" b="1"/>
              <a:t>主要由刹车距离决定，刹车距离与车速密切相关</a:t>
            </a:r>
            <a:r>
              <a:rPr lang="en-US" altLang="zh-CN" sz="2800" b="1"/>
              <a:t>. </a:t>
            </a:r>
          </a:p>
        </p:txBody>
      </p:sp>
      <p:sp>
        <p:nvSpPr>
          <p:cNvPr id="20487" name="Rectangle 12">
            <a:extLst>
              <a:ext uri="{FF2B5EF4-FFF2-40B4-BE49-F238E27FC236}">
                <a16:creationId xmlns:a16="http://schemas.microsoft.com/office/drawing/2014/main" id="{8E0B42DB-7C58-4A79-85C3-80586D065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611" name="Object 11">
            <a:extLst>
              <a:ext uri="{FF2B5EF4-FFF2-40B4-BE49-F238E27FC236}">
                <a16:creationId xmlns:a16="http://schemas.microsoft.com/office/drawing/2014/main" id="{D1226FBF-BE17-4537-B17B-39A54E8A62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2636838"/>
          <a:ext cx="67675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公式" r:id="rId5" imgW="2616200" imgH="241300" progId="Equation.3">
                  <p:embed/>
                </p:oleObj>
              </mc:Choice>
              <mc:Fallback>
                <p:oleObj name="公式" r:id="rId5" imgW="26162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36838"/>
                        <a:ext cx="6767512" cy="6159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4" name="Rectangle 14">
            <a:extLst>
              <a:ext uri="{FF2B5EF4-FFF2-40B4-BE49-F238E27FC236}">
                <a16:creationId xmlns:a16="http://schemas.microsoft.com/office/drawing/2014/main" id="{672625A1-1D2B-4561-95B9-E7D35F904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57563"/>
            <a:ext cx="7581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d</a:t>
            </a:r>
            <a:r>
              <a:rPr lang="en-US" altLang="zh-CN" sz="2800" b="1" baseline="-30000"/>
              <a:t>1</a:t>
            </a:r>
            <a:r>
              <a:rPr lang="en-US" altLang="zh-CN" sz="2800" b="1">
                <a:cs typeface="Times New Roman" panose="02020603050405020304" pitchFamily="18" charset="0"/>
              </a:rPr>
              <a:t>~</a:t>
            </a:r>
            <a:r>
              <a:rPr lang="zh-CN" altLang="en-US" sz="2800" b="1">
                <a:cs typeface="Times New Roman" panose="02020603050405020304" pitchFamily="18" charset="0"/>
              </a:rPr>
              <a:t>刹车时司机在反应时间</a:t>
            </a:r>
            <a:r>
              <a:rPr lang="en-US" altLang="zh-CN" sz="2800" b="1" i="1"/>
              <a:t>t</a:t>
            </a:r>
            <a:r>
              <a:rPr lang="en-US" altLang="zh-CN" sz="2800" b="1" baseline="-30000"/>
              <a:t>0</a:t>
            </a:r>
            <a:r>
              <a:rPr lang="en-US" altLang="zh-CN" sz="2800" b="1"/>
              <a:t> </a:t>
            </a:r>
            <a:r>
              <a:rPr lang="zh-CN" altLang="en-US" sz="2800" b="1">
                <a:cs typeface="Times New Roman" panose="02020603050405020304" pitchFamily="18" charset="0"/>
              </a:rPr>
              <a:t>内汽车行驶的距离</a:t>
            </a:r>
            <a:r>
              <a:rPr lang="en-US" altLang="zh-CN" sz="2800" b="1">
                <a:cs typeface="Times New Roman" panose="02020603050405020304" pitchFamily="18" charset="0"/>
              </a:rPr>
              <a:t>.</a:t>
            </a:r>
            <a:r>
              <a:rPr lang="en-US" altLang="zh-CN" sz="2800" b="1"/>
              <a:t> </a:t>
            </a:r>
          </a:p>
        </p:txBody>
      </p:sp>
      <p:sp>
        <p:nvSpPr>
          <p:cNvPr id="153615" name="Rectangle 15">
            <a:extLst>
              <a:ext uri="{FF2B5EF4-FFF2-40B4-BE49-F238E27FC236}">
                <a16:creationId xmlns:a16="http://schemas.microsoft.com/office/drawing/2014/main" id="{09F12730-D6A1-40D1-82E5-0AAEBA10F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13213"/>
            <a:ext cx="8353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d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~</a:t>
            </a:r>
            <a:r>
              <a:rPr lang="zh-CN" altLang="en-US" sz="2800" b="1"/>
              <a:t>刹车时从制动器起作用到汽车停止行驶的距离</a:t>
            </a:r>
            <a:r>
              <a:rPr lang="en-US" altLang="zh-CN" sz="2800" b="1"/>
              <a:t>.</a:t>
            </a:r>
          </a:p>
        </p:txBody>
      </p:sp>
      <p:sp>
        <p:nvSpPr>
          <p:cNvPr id="153616" name="Rectangle 16">
            <a:extLst>
              <a:ext uri="{FF2B5EF4-FFF2-40B4-BE49-F238E27FC236}">
                <a16:creationId xmlns:a16="http://schemas.microsoft.com/office/drawing/2014/main" id="{080D8715-5616-4387-B42A-66FB84899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868863"/>
            <a:ext cx="7847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c</a:t>
            </a:r>
            <a:r>
              <a:rPr lang="en-US" altLang="zh-CN" sz="2800" b="1"/>
              <a:t>~</a:t>
            </a:r>
            <a:r>
              <a:rPr lang="zh-CN" altLang="en-US" sz="2800" b="1"/>
              <a:t>与路面阻力、车重、湿度、坡度等有关的系数</a:t>
            </a:r>
            <a:r>
              <a:rPr lang="en-US" altLang="zh-CN" sz="2800" b="1"/>
              <a:t>. </a:t>
            </a:r>
          </a:p>
        </p:txBody>
      </p:sp>
      <p:sp>
        <p:nvSpPr>
          <p:cNvPr id="153618" name="Rectangle 18">
            <a:extLst>
              <a:ext uri="{FF2B5EF4-FFF2-40B4-BE49-F238E27FC236}">
                <a16:creationId xmlns:a16="http://schemas.microsoft.com/office/drawing/2014/main" id="{166B240D-E964-4287-8480-765F0DFCE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661025"/>
            <a:ext cx="7399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d</a:t>
            </a:r>
            <a:r>
              <a:rPr lang="en-US" altLang="zh-CN" sz="2800" b="1" baseline="-30000"/>
              <a:t>3</a:t>
            </a:r>
            <a:r>
              <a:rPr lang="en-US" altLang="zh-CN" sz="2800" b="1">
                <a:cs typeface="Times New Roman" panose="02020603050405020304" pitchFamily="18" charset="0"/>
              </a:rPr>
              <a:t>~</a:t>
            </a:r>
            <a:r>
              <a:rPr lang="zh-CN" altLang="en-US" sz="2800" b="1">
                <a:cs typeface="Times New Roman" panose="02020603050405020304" pitchFamily="18" charset="0"/>
              </a:rPr>
              <a:t>两车之间的安全距离，</a:t>
            </a:r>
            <a:r>
              <a:rPr lang="en-US" altLang="zh-CN" sz="2800" b="1" i="1"/>
              <a:t>d</a:t>
            </a:r>
            <a:r>
              <a:rPr lang="en-US" altLang="zh-CN" sz="2800" b="1" baseline="-30000"/>
              <a:t>4</a:t>
            </a:r>
            <a:r>
              <a:rPr lang="en-US" altLang="zh-CN" sz="2800" b="1"/>
              <a:t>~</a:t>
            </a:r>
            <a:r>
              <a:rPr lang="zh-CN" altLang="en-US" sz="2800" b="1">
                <a:cs typeface="Times New Roman" panose="02020603050405020304" pitchFamily="18" charset="0"/>
              </a:rPr>
              <a:t>车辆的标准长度</a:t>
            </a:r>
            <a:r>
              <a:rPr lang="en-US" altLang="zh-CN" sz="2800" b="1">
                <a:cs typeface="Times New Roman" panose="02020603050405020304" pitchFamily="18" charset="0"/>
              </a:rPr>
              <a:t>.</a:t>
            </a:r>
            <a:r>
              <a:rPr lang="en-US" altLang="zh-CN" sz="2800" b="1"/>
              <a:t> </a:t>
            </a:r>
          </a:p>
        </p:txBody>
      </p:sp>
      <p:sp>
        <p:nvSpPr>
          <p:cNvPr id="20493" name="Rectangle 19">
            <a:extLst>
              <a:ext uri="{FF2B5EF4-FFF2-40B4-BE49-F238E27FC236}">
                <a16:creationId xmlns:a16="http://schemas.microsoft.com/office/drawing/2014/main" id="{5F4A441E-22CE-47AC-BB65-CF9635941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549275"/>
            <a:ext cx="5292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单位时间内通过的最大车辆数</a:t>
            </a:r>
            <a:r>
              <a:rPr lang="en-US" altLang="zh-CN" sz="2800" b="1" i="1"/>
              <a:t>N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36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9" grpId="0"/>
      <p:bldP spid="153610" grpId="0"/>
      <p:bldP spid="153614" grpId="0"/>
      <p:bldP spid="153615" grpId="0"/>
      <p:bldP spid="15361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27451F5F-2C32-4E7E-971A-8AC9BE6C0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49275"/>
            <a:ext cx="3455988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城市干道的通行能力</a:t>
            </a:r>
          </a:p>
        </p:txBody>
      </p:sp>
      <p:graphicFrame>
        <p:nvGraphicFramePr>
          <p:cNvPr id="21507" name="Object 7">
            <a:extLst>
              <a:ext uri="{FF2B5EF4-FFF2-40B4-BE49-F238E27FC236}">
                <a16:creationId xmlns:a16="http://schemas.microsoft.com/office/drawing/2014/main" id="{AC3A708C-9740-416D-ABA2-7EC827BC08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204913"/>
          <a:ext cx="20161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7" name="公式" r:id="rId3" imgW="875920" imgH="177723" progId="Equation.3">
                  <p:embed/>
                </p:oleObj>
              </mc:Choice>
              <mc:Fallback>
                <p:oleObj name="公式" r:id="rId3" imgW="875920" imgH="17772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204913"/>
                        <a:ext cx="201612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8">
            <a:extLst>
              <a:ext uri="{FF2B5EF4-FFF2-40B4-BE49-F238E27FC236}">
                <a16:creationId xmlns:a16="http://schemas.microsoft.com/office/drawing/2014/main" id="{1D8476AE-6AAA-4C4A-8FEB-626341C91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700213"/>
          <a:ext cx="3481387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8" name="公式" r:id="rId5" imgW="1346200" imgH="241300" progId="Equation.3">
                  <p:embed/>
                </p:oleObj>
              </mc:Choice>
              <mc:Fallback>
                <p:oleObj name="公式" r:id="rId5" imgW="13462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00213"/>
                        <a:ext cx="3481387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790" name="Group 166">
            <a:extLst>
              <a:ext uri="{FF2B5EF4-FFF2-40B4-BE49-F238E27FC236}">
                <a16:creationId xmlns:a16="http://schemas.microsoft.com/office/drawing/2014/main" id="{AECF60B6-8993-4543-A9C6-50E97813B0CF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4797425"/>
          <a:ext cx="8281987" cy="793750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965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v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958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1208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1233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1173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1090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1006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928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858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797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742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57" marB="45757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4776" name="Rectangle 152">
            <a:extLst>
              <a:ext uri="{FF2B5EF4-FFF2-40B4-BE49-F238E27FC236}">
                <a16:creationId xmlns:a16="http://schemas.microsoft.com/office/drawing/2014/main" id="{0F64AEA7-D299-4D21-9A15-C3929CF06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716338"/>
            <a:ext cx="87487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交通工程的专业教材</a:t>
            </a:r>
            <a:r>
              <a:rPr lang="en-US" altLang="zh-CN" sz="2800" b="1"/>
              <a:t>: </a:t>
            </a:r>
            <a:r>
              <a:rPr lang="zh-CN" altLang="en-US" sz="2800" b="1"/>
              <a:t>司机刹车的反应时间</a:t>
            </a:r>
            <a:r>
              <a:rPr lang="en-US" altLang="zh-CN" sz="2800" b="1" i="1"/>
              <a:t>t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 =1s</a:t>
            </a:r>
            <a:r>
              <a:rPr lang="zh-CN" altLang="en-US" sz="2800" b="1"/>
              <a:t>，系数</a:t>
            </a:r>
            <a:r>
              <a:rPr lang="en-US" altLang="zh-CN" sz="2800" b="1" i="1"/>
              <a:t>c</a:t>
            </a:r>
            <a:r>
              <a:rPr lang="en-US" altLang="zh-CN" sz="2800" b="1"/>
              <a:t>=0.01,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安全距离</a:t>
            </a:r>
            <a:r>
              <a:rPr lang="zh-CN" altLang="en-US" sz="2800" b="1" i="1">
                <a:solidFill>
                  <a:srgbClr val="000000"/>
                </a:solidFill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</a:rPr>
              <a:t>d</a:t>
            </a:r>
            <a:r>
              <a:rPr lang="en-US" altLang="zh-CN" sz="2800" b="1" baseline="-30000">
                <a:solidFill>
                  <a:srgbClr val="000000"/>
                </a:solidFill>
              </a:rPr>
              <a:t>3</a:t>
            </a:r>
            <a:r>
              <a:rPr lang="en-US" altLang="zh-CN" sz="2800" b="1">
                <a:solidFill>
                  <a:srgbClr val="000000"/>
                </a:solidFill>
              </a:rPr>
              <a:t>=2m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，小型车辆的标准长度</a:t>
            </a:r>
            <a:r>
              <a:rPr lang="en-US" altLang="zh-CN" sz="2800" b="1" i="1">
                <a:solidFill>
                  <a:srgbClr val="000000"/>
                </a:solidFill>
              </a:rPr>
              <a:t>d</a:t>
            </a:r>
            <a:r>
              <a:rPr lang="en-US" altLang="zh-CN" sz="2800" b="1" baseline="-30000">
                <a:solidFill>
                  <a:srgbClr val="000000"/>
                </a:solidFill>
              </a:rPr>
              <a:t>4</a:t>
            </a:r>
            <a:r>
              <a:rPr lang="en-US" altLang="zh-CN" sz="2800" b="1">
                <a:solidFill>
                  <a:srgbClr val="000000"/>
                </a:solidFill>
              </a:rPr>
              <a:t>=5m.</a:t>
            </a:r>
            <a:r>
              <a:rPr lang="en-US" altLang="zh-CN" sz="2800" b="1"/>
              <a:t>  </a:t>
            </a:r>
          </a:p>
        </p:txBody>
      </p:sp>
      <p:sp>
        <p:nvSpPr>
          <p:cNvPr id="154783" name="Rectangle 159">
            <a:extLst>
              <a:ext uri="{FF2B5EF4-FFF2-40B4-BE49-F238E27FC236}">
                <a16:creationId xmlns:a16="http://schemas.microsoft.com/office/drawing/2014/main" id="{04F9078E-EF5C-4BF5-AEBF-1B882F622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734050"/>
            <a:ext cx="7446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cs typeface="Times New Roman" panose="02020603050405020304" pitchFamily="18" charset="0"/>
              </a:rPr>
              <a:t>当</a:t>
            </a:r>
            <a:r>
              <a:rPr lang="en-US" altLang="zh-CN" sz="2800" b="1" i="1"/>
              <a:t>t</a:t>
            </a:r>
            <a:r>
              <a:rPr lang="en-US" altLang="zh-CN" sz="2800" b="1" baseline="-30000"/>
              <a:t>0</a:t>
            </a:r>
            <a:r>
              <a:rPr lang="zh-CN" altLang="en-US" sz="2800" b="1">
                <a:cs typeface="Times New Roman" panose="02020603050405020304" pitchFamily="18" charset="0"/>
              </a:rPr>
              <a:t>，</a:t>
            </a:r>
            <a:r>
              <a:rPr lang="en-US" altLang="zh-CN" sz="2800" b="1" i="1"/>
              <a:t>c</a:t>
            </a:r>
            <a:r>
              <a:rPr lang="zh-CN" altLang="en-US" sz="2800" b="1">
                <a:cs typeface="Times New Roman" panose="02020603050405020304" pitchFamily="18" charset="0"/>
              </a:rPr>
              <a:t>，</a:t>
            </a:r>
            <a:r>
              <a:rPr lang="en-US" altLang="zh-CN" sz="2800" b="1" i="1"/>
              <a:t>d</a:t>
            </a:r>
            <a:r>
              <a:rPr lang="en-US" altLang="zh-CN" sz="2800" b="1" baseline="-30000"/>
              <a:t>3</a:t>
            </a:r>
            <a:r>
              <a:rPr lang="zh-CN" altLang="en-US" sz="2800" b="1">
                <a:cs typeface="Times New Roman" panose="02020603050405020304" pitchFamily="18" charset="0"/>
              </a:rPr>
              <a:t>，</a:t>
            </a:r>
            <a:r>
              <a:rPr lang="en-US" altLang="zh-CN" sz="2800" b="1" i="1"/>
              <a:t>d</a:t>
            </a:r>
            <a:r>
              <a:rPr lang="en-US" altLang="zh-CN" sz="2800" b="1" baseline="-30000"/>
              <a:t>4</a:t>
            </a:r>
            <a:r>
              <a:rPr lang="zh-CN" altLang="en-US" sz="2800" b="1">
                <a:cs typeface="Times New Roman" panose="02020603050405020304" pitchFamily="18" charset="0"/>
              </a:rPr>
              <a:t>变大时最大通行能力</a:t>
            </a:r>
            <a:r>
              <a:rPr lang="en-US" altLang="zh-CN" sz="2800" b="1" i="1"/>
              <a:t>N</a:t>
            </a:r>
            <a:r>
              <a:rPr lang="en-US" altLang="zh-CN" sz="2800" b="1" i="1" baseline="-30000"/>
              <a:t>m</a:t>
            </a:r>
            <a:r>
              <a:rPr lang="zh-CN" altLang="en-US" sz="2800" b="1">
                <a:cs typeface="Times New Roman" panose="02020603050405020304" pitchFamily="18" charset="0"/>
              </a:rPr>
              <a:t>减小</a:t>
            </a:r>
            <a:r>
              <a:rPr lang="en-US" altLang="zh-CN" sz="2800" b="1">
                <a:cs typeface="Times New Roman" panose="02020603050405020304" pitchFamily="18" charset="0"/>
              </a:rPr>
              <a:t>.</a:t>
            </a:r>
            <a:r>
              <a:rPr lang="en-US" altLang="zh-CN" sz="2800" b="1"/>
              <a:t> </a:t>
            </a:r>
          </a:p>
        </p:txBody>
      </p:sp>
      <p:graphicFrame>
        <p:nvGraphicFramePr>
          <p:cNvPr id="154779" name="Object 155">
            <a:extLst>
              <a:ext uri="{FF2B5EF4-FFF2-40B4-BE49-F238E27FC236}">
                <a16:creationId xmlns:a16="http://schemas.microsoft.com/office/drawing/2014/main" id="{A1D83E23-8CF0-47B7-B8F4-6170519595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420938"/>
          <a:ext cx="3240088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9" name="公式" r:id="rId7" imgW="1625600" imgH="596900" progId="Equation.3">
                  <p:embed/>
                </p:oleObj>
              </mc:Choice>
              <mc:Fallback>
                <p:oleObj name="公式" r:id="rId7" imgW="1625600" imgH="596900" progId="Equation.3">
                  <p:embed/>
                  <p:pic>
                    <p:nvPicPr>
                      <p:cNvPr id="0" name="Object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420938"/>
                        <a:ext cx="3240088" cy="11334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785" name="Rectangle 161">
            <a:extLst>
              <a:ext uri="{FF2B5EF4-FFF2-40B4-BE49-F238E27FC236}">
                <a16:creationId xmlns:a16="http://schemas.microsoft.com/office/drawing/2014/main" id="{9D91C350-ACC3-4593-BE9A-49AEB41E6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492375"/>
            <a:ext cx="1450975" cy="946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cs typeface="Times New Roman" panose="02020603050405020304" pitchFamily="18" charset="0"/>
              </a:rPr>
              <a:t>最大通行能力</a:t>
            </a:r>
          </a:p>
        </p:txBody>
      </p:sp>
      <p:grpSp>
        <p:nvGrpSpPr>
          <p:cNvPr id="2" name="Group 163">
            <a:extLst>
              <a:ext uri="{FF2B5EF4-FFF2-40B4-BE49-F238E27FC236}">
                <a16:creationId xmlns:a16="http://schemas.microsoft.com/office/drawing/2014/main" id="{754C2EE3-2AB6-4567-982B-E5575C5AC18A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1052513"/>
            <a:ext cx="3600450" cy="1287462"/>
            <a:chOff x="2608" y="663"/>
            <a:chExt cx="2268" cy="811"/>
          </a:xfrm>
        </p:grpSpPr>
        <p:graphicFrame>
          <p:nvGraphicFramePr>
            <p:cNvPr id="21556" name="Object 4">
              <a:extLst>
                <a:ext uri="{FF2B5EF4-FFF2-40B4-BE49-F238E27FC236}">
                  <a16:creationId xmlns:a16="http://schemas.microsoft.com/office/drawing/2014/main" id="{6A1301D1-C656-4A25-BB63-5B61E761CA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663"/>
            <a:ext cx="1996" cy="8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0" name="公式" r:id="rId9" imgW="1473200" imgH="596900" progId="Equation.3">
                    <p:embed/>
                  </p:oleObj>
                </mc:Choice>
                <mc:Fallback>
                  <p:oleObj name="公式" r:id="rId9" imgW="1473200" imgH="5969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663"/>
                          <a:ext cx="1996" cy="811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7" name="AutoShape 162">
              <a:extLst>
                <a:ext uri="{FF2B5EF4-FFF2-40B4-BE49-F238E27FC236}">
                  <a16:creationId xmlns:a16="http://schemas.microsoft.com/office/drawing/2014/main" id="{9F2B4003-366C-4AD9-ACE7-A750AE77A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845"/>
              <a:ext cx="91" cy="45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67">
            <a:extLst>
              <a:ext uri="{FF2B5EF4-FFF2-40B4-BE49-F238E27FC236}">
                <a16:creationId xmlns:a16="http://schemas.microsoft.com/office/drawing/2014/main" id="{5640B5C9-B3FB-432B-897C-F13241BAF37C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492375"/>
            <a:ext cx="2087563" cy="919163"/>
            <a:chOff x="476" y="1570"/>
            <a:chExt cx="1315" cy="579"/>
          </a:xfrm>
        </p:grpSpPr>
        <p:graphicFrame>
          <p:nvGraphicFramePr>
            <p:cNvPr id="21554" name="Object 153">
              <a:extLst>
                <a:ext uri="{FF2B5EF4-FFF2-40B4-BE49-F238E27FC236}">
                  <a16:creationId xmlns:a16="http://schemas.microsoft.com/office/drawing/2014/main" id="{BBA70E4F-9E3A-44BA-9C53-0888463B4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6" y="1570"/>
            <a:ext cx="1134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1" name="公式" r:id="rId11" imgW="875920" imgH="444307" progId="Equation.3">
                    <p:embed/>
                  </p:oleObj>
                </mc:Choice>
                <mc:Fallback>
                  <p:oleObj name="公式" r:id="rId11" imgW="875920" imgH="444307" progId="Equation.3">
                    <p:embed/>
                    <p:pic>
                      <p:nvPicPr>
                        <p:cNvPr id="0" name="Object 1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1570"/>
                          <a:ext cx="1134" cy="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5" name="AutoShape 165">
              <a:extLst>
                <a:ext uri="{FF2B5EF4-FFF2-40B4-BE49-F238E27FC236}">
                  <a16:creationId xmlns:a16="http://schemas.microsoft.com/office/drawing/2014/main" id="{BFB771F2-1BC3-4683-900D-1541F3C9A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1706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1553" name="Object 168">
            <a:extLst>
              <a:ext uri="{FF2B5EF4-FFF2-40B4-BE49-F238E27FC236}">
                <a16:creationId xmlns:a16="http://schemas.microsoft.com/office/drawing/2014/main" id="{F4352B51-FC1B-469C-BF0D-649611B108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549275"/>
          <a:ext cx="1303337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2" name="Clip" r:id="rId13" imgW="6545263" imgH="1706563" progId="MS_ClipArt_Gallery.2">
                  <p:embed/>
                </p:oleObj>
              </mc:Choice>
              <mc:Fallback>
                <p:oleObj name="Clip" r:id="rId13" imgW="6545263" imgH="1706563" progId="MS_ClipArt_Gallery.2">
                  <p:embed/>
                  <p:pic>
                    <p:nvPicPr>
                      <p:cNvPr id="0" name="Object 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49275"/>
                        <a:ext cx="1303337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4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4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4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5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54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776" grpId="0"/>
      <p:bldP spid="154783" grpId="0"/>
      <p:bldP spid="15478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84" name="Text Box 12">
            <a:extLst>
              <a:ext uri="{FF2B5EF4-FFF2-40B4-BE49-F238E27FC236}">
                <a16:creationId xmlns:a16="http://schemas.microsoft.com/office/drawing/2014/main" id="{FF28AF69-4112-4D58-B91C-63E55BD67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565400"/>
            <a:ext cx="8569325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最大制动力与车的质量成正比，使汽车作匀减速运动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22531" name="Object 14">
            <a:extLst>
              <a:ext uri="{FF2B5EF4-FFF2-40B4-BE49-F238E27FC236}">
                <a16:creationId xmlns:a16="http://schemas.microsoft.com/office/drawing/2014/main" id="{2DAD94BB-EEF4-485B-940E-3236C37A82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620713"/>
          <a:ext cx="16002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Clip" r:id="rId3" imgW="6545263" imgH="1706563" progId="MS_ClipArt_Gallery.2">
                  <p:embed/>
                </p:oleObj>
              </mc:Choice>
              <mc:Fallback>
                <p:oleObj name="Clip" r:id="rId3" imgW="6545263" imgH="1706563" progId="MS_ClipArt_Gallery.2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620713"/>
                        <a:ext cx="16002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>
            <a:extLst>
              <a:ext uri="{FF2B5EF4-FFF2-40B4-BE49-F238E27FC236}">
                <a16:creationId xmlns:a16="http://schemas.microsoft.com/office/drawing/2014/main" id="{A9C875B4-C161-4779-A65F-5C6C0A0AAFBF}"/>
              </a:ext>
            </a:extLst>
          </p:cNvPr>
          <p:cNvGrpSpPr>
            <a:grpSpLocks/>
          </p:cNvGrpSpPr>
          <p:nvPr/>
        </p:nvGrpSpPr>
        <p:grpSpPr bwMode="auto">
          <a:xfrm>
            <a:off x="7235825" y="1744663"/>
            <a:ext cx="914400" cy="747712"/>
            <a:chOff x="4608" y="3216"/>
            <a:chExt cx="576" cy="471"/>
          </a:xfrm>
        </p:grpSpPr>
        <p:sp>
          <p:nvSpPr>
            <p:cNvPr id="22543" name="Text Box 16">
              <a:extLst>
                <a:ext uri="{FF2B5EF4-FFF2-40B4-BE49-F238E27FC236}">
                  <a16:creationId xmlns:a16="http://schemas.microsoft.com/office/drawing/2014/main" id="{CB79DF62-1A52-43C8-8DBD-3FBFEDA6B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3360"/>
              <a:ext cx="576" cy="327"/>
            </a:xfrm>
            <a:prstGeom prst="rect">
              <a:avLst/>
            </a:prstGeom>
            <a:solidFill>
              <a:srgbClr val="FF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常数</a:t>
              </a:r>
            </a:p>
          </p:txBody>
        </p:sp>
        <p:sp>
          <p:nvSpPr>
            <p:cNvPr id="22544" name="Line 17">
              <a:extLst>
                <a:ext uri="{FF2B5EF4-FFF2-40B4-BE49-F238E27FC236}">
                  <a16:creationId xmlns:a16="http://schemas.microsoft.com/office/drawing/2014/main" id="{11A96686-F153-4DEA-8149-F6906A4228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08" y="3216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5" name="Line 18">
              <a:extLst>
                <a:ext uri="{FF2B5EF4-FFF2-40B4-BE49-F238E27FC236}">
                  <a16:creationId xmlns:a16="http://schemas.microsoft.com/office/drawing/2014/main" id="{D725AD0B-6097-4F6F-9F3B-38E783E86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2" y="321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33" name="Rectangle 29">
            <a:extLst>
              <a:ext uri="{FF2B5EF4-FFF2-40B4-BE49-F238E27FC236}">
                <a16:creationId xmlns:a16="http://schemas.microsoft.com/office/drawing/2014/main" id="{FF5F1BC7-2A9D-4A7F-9852-3EDFC0A15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49275"/>
            <a:ext cx="4032250" cy="519113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  <a:ea typeface="楷体_GB2312" pitchFamily="49" charset="-122"/>
              </a:rPr>
              <a:t>制动距离与车速的模型</a:t>
            </a:r>
          </a:p>
        </p:txBody>
      </p:sp>
      <p:graphicFrame>
        <p:nvGraphicFramePr>
          <p:cNvPr id="22534" name="Object 31">
            <a:extLst>
              <a:ext uri="{FF2B5EF4-FFF2-40B4-BE49-F238E27FC236}">
                <a16:creationId xmlns:a16="http://schemas.microsoft.com/office/drawing/2014/main" id="{36CB1A83-E1B3-4585-9E57-A782B74D27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547688"/>
          <a:ext cx="12954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7" name="公式" r:id="rId5" imgW="558800" imgH="228600" progId="Equation.3">
                  <p:embed/>
                </p:oleObj>
              </mc:Choice>
              <mc:Fallback>
                <p:oleObj name="公式" r:id="rId5" imgW="558800" imgH="2286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547688"/>
                        <a:ext cx="12954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704" name="Rectangle 32">
            <a:extLst>
              <a:ext uri="{FF2B5EF4-FFF2-40B4-BE49-F238E27FC236}">
                <a16:creationId xmlns:a16="http://schemas.microsoft.com/office/drawing/2014/main" id="{95BA03F2-F80B-4B05-845E-C34FE65BD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254125"/>
            <a:ext cx="8785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0000"/>
                </a:solidFill>
              </a:rPr>
              <a:t>制动距离：</a:t>
            </a:r>
            <a:r>
              <a:rPr lang="zh-CN" altLang="en-US" sz="2800" b="1"/>
              <a:t>制动器作用力、车重、车速、道路、气候</a:t>
            </a:r>
            <a:r>
              <a:rPr lang="en-US" altLang="zh-CN" sz="2800" b="1"/>
              <a:t>…</a:t>
            </a:r>
          </a:p>
        </p:txBody>
      </p:sp>
      <p:sp>
        <p:nvSpPr>
          <p:cNvPr id="156706" name="Rectangle 34">
            <a:extLst>
              <a:ext uri="{FF2B5EF4-FFF2-40B4-BE49-F238E27FC236}">
                <a16:creationId xmlns:a16="http://schemas.microsoft.com/office/drawing/2014/main" id="{78A99407-20F6-4982-B2CB-997E25418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16113"/>
            <a:ext cx="4249738" cy="519112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设计制动器的合理原则：</a:t>
            </a:r>
          </a:p>
        </p:txBody>
      </p:sp>
      <p:sp>
        <p:nvSpPr>
          <p:cNvPr id="156707" name="Rectangle 35">
            <a:extLst>
              <a:ext uri="{FF2B5EF4-FFF2-40B4-BE49-F238E27FC236}">
                <a16:creationId xmlns:a16="http://schemas.microsoft.com/office/drawing/2014/main" id="{01C4C1C4-8BB0-4BD5-B3E7-B7A7DC912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967163"/>
            <a:ext cx="828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刹车时使用最大制动力</a:t>
            </a:r>
            <a:r>
              <a:rPr lang="en-US" altLang="zh-CN" sz="2800" b="1" i="1"/>
              <a:t>F</a:t>
            </a:r>
            <a:r>
              <a:rPr lang="zh-CN" altLang="en-US" sz="2800" b="1"/>
              <a:t>，</a:t>
            </a:r>
            <a:r>
              <a:rPr lang="en-US" altLang="zh-CN" sz="2800" b="1" i="1"/>
              <a:t>F</a:t>
            </a:r>
            <a:r>
              <a:rPr lang="zh-CN" altLang="en-US" sz="2800" b="1"/>
              <a:t>作的功等于汽车动能的改变，且</a:t>
            </a:r>
            <a:r>
              <a:rPr lang="en-US" altLang="zh-CN" sz="2800" b="1" i="1"/>
              <a:t>F</a:t>
            </a:r>
            <a:r>
              <a:rPr lang="zh-CN" altLang="en-US" sz="2800" b="1"/>
              <a:t>与车的质量</a:t>
            </a:r>
            <a:r>
              <a:rPr lang="en-US" altLang="zh-CN" sz="2800" b="1" i="1"/>
              <a:t>m</a:t>
            </a:r>
            <a:r>
              <a:rPr lang="zh-CN" altLang="en-US" sz="2800" b="1"/>
              <a:t>成正比</a:t>
            </a:r>
            <a:r>
              <a:rPr lang="en-US" altLang="zh-CN" sz="2800" b="1"/>
              <a:t>. </a:t>
            </a:r>
          </a:p>
        </p:txBody>
      </p:sp>
      <p:sp>
        <p:nvSpPr>
          <p:cNvPr id="156708" name="Text Box 36">
            <a:extLst>
              <a:ext uri="{FF2B5EF4-FFF2-40B4-BE49-F238E27FC236}">
                <a16:creationId xmlns:a16="http://schemas.microsoft.com/office/drawing/2014/main" id="{2316900E-52F9-471D-B394-2F66AE985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300663"/>
            <a:ext cx="2133600" cy="5191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 d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</a:t>
            </a:r>
            <a:r>
              <a:rPr lang="en-US" altLang="zh-CN" sz="2800" b="1" i="1"/>
              <a:t> m v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/2</a:t>
            </a:r>
          </a:p>
        </p:txBody>
      </p:sp>
      <p:sp>
        <p:nvSpPr>
          <p:cNvPr id="156709" name="Text Box 37">
            <a:extLst>
              <a:ext uri="{FF2B5EF4-FFF2-40B4-BE49-F238E27FC236}">
                <a16:creationId xmlns:a16="http://schemas.microsoft.com/office/drawing/2014/main" id="{0FCD4C66-4423-4B5D-8DA9-73F21F8515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300663"/>
            <a:ext cx="1219200" cy="51911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 </a:t>
            </a:r>
            <a:r>
              <a:rPr lang="en-US" altLang="zh-CN" sz="2800" b="1">
                <a:sym typeface="Symbol" panose="05050102010706020507" pitchFamily="18" charset="2"/>
              </a:rPr>
              <a:t></a:t>
            </a:r>
            <a:r>
              <a:rPr lang="en-US" altLang="zh-CN" sz="2800" b="1"/>
              <a:t> </a:t>
            </a:r>
            <a:r>
              <a:rPr lang="en-US" altLang="zh-CN" sz="2800" b="1" i="1"/>
              <a:t>m</a:t>
            </a:r>
          </a:p>
        </p:txBody>
      </p:sp>
      <p:graphicFrame>
        <p:nvGraphicFramePr>
          <p:cNvPr id="156711" name="Object 39">
            <a:extLst>
              <a:ext uri="{FF2B5EF4-FFF2-40B4-BE49-F238E27FC236}">
                <a16:creationId xmlns:a16="http://schemas.microsoft.com/office/drawing/2014/main" id="{4B9C9538-3DE3-4314-AB0D-C55F8F4D9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5300663"/>
          <a:ext cx="1905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公式" r:id="rId7" imgW="533169" imgH="228501" progId="Equation.3">
                  <p:embed/>
                </p:oleObj>
              </mc:Choice>
              <mc:Fallback>
                <p:oleObj name="公式" r:id="rId7" imgW="533169" imgH="228501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5300663"/>
                        <a:ext cx="1905000" cy="6350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713" name="Rectangle 41">
            <a:extLst>
              <a:ext uri="{FF2B5EF4-FFF2-40B4-BE49-F238E27FC236}">
                <a16:creationId xmlns:a16="http://schemas.microsoft.com/office/drawing/2014/main" id="{9ED217D3-003F-4850-95CE-1971A26CC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357563"/>
            <a:ext cx="16129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模型假设</a:t>
            </a:r>
          </a:p>
        </p:txBody>
      </p:sp>
      <p:sp>
        <p:nvSpPr>
          <p:cNvPr id="156714" name="AutoShape 42">
            <a:extLst>
              <a:ext uri="{FF2B5EF4-FFF2-40B4-BE49-F238E27FC236}">
                <a16:creationId xmlns:a16="http://schemas.microsoft.com/office/drawing/2014/main" id="{A9766E00-B206-4AAC-9026-393955600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373688"/>
            <a:ext cx="2159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6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6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6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56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6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1000"/>
                                        <p:tgtEl>
                                          <p:spTgt spid="15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42" dur="1000"/>
                                        <p:tgtEl>
                                          <p:spTgt spid="156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6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84" grpId="0"/>
      <p:bldP spid="156704" grpId="0"/>
      <p:bldP spid="156706" grpId="0" animBg="1"/>
      <p:bldP spid="156707" grpId="0"/>
      <p:bldP spid="156708" grpId="0" animBg="1" autoUpdateAnimBg="0"/>
      <p:bldP spid="156709" grpId="0" animBg="1" autoUpdateAnimBg="0"/>
      <p:bldP spid="156713" grpId="0" animBg="1"/>
      <p:bldP spid="1567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>
            <a:extLst>
              <a:ext uri="{FF2B5EF4-FFF2-40B4-BE49-F238E27FC236}">
                <a16:creationId xmlns:a16="http://schemas.microsoft.com/office/drawing/2014/main" id="{7709F31F-1880-4908-AA69-FBDB5A0BD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4663"/>
            <a:ext cx="6510337" cy="5222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信号灯控制的十字路口的通行能力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（略）</a:t>
            </a:r>
          </a:p>
        </p:txBody>
      </p:sp>
      <p:grpSp>
        <p:nvGrpSpPr>
          <p:cNvPr id="2" name="Group 54">
            <a:extLst>
              <a:ext uri="{FF2B5EF4-FFF2-40B4-BE49-F238E27FC236}">
                <a16:creationId xmlns:a16="http://schemas.microsoft.com/office/drawing/2014/main" id="{40092E75-7BB3-42E4-84DF-7D422E88B9F7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125538"/>
            <a:ext cx="3900488" cy="2998787"/>
            <a:chOff x="1421" y="1314"/>
            <a:chExt cx="2457" cy="1889"/>
          </a:xfrm>
        </p:grpSpPr>
        <p:grpSp>
          <p:nvGrpSpPr>
            <p:cNvPr id="23693" name="Group 8">
              <a:extLst>
                <a:ext uri="{FF2B5EF4-FFF2-40B4-BE49-F238E27FC236}">
                  <a16:creationId xmlns:a16="http://schemas.microsoft.com/office/drawing/2014/main" id="{F0948247-806A-4388-9FE0-7C7297730E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0" y="2558"/>
              <a:ext cx="807" cy="626"/>
              <a:chOff x="3426" y="10481"/>
              <a:chExt cx="1282" cy="1101"/>
            </a:xfrm>
          </p:grpSpPr>
          <p:sp>
            <p:nvSpPr>
              <p:cNvPr id="23734" name="Line 9">
                <a:extLst>
                  <a:ext uri="{FF2B5EF4-FFF2-40B4-BE49-F238E27FC236}">
                    <a16:creationId xmlns:a16="http://schemas.microsoft.com/office/drawing/2014/main" id="{8D0E9AAE-D7A2-4AE2-9CB8-8A371B5E5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10729"/>
                <a:ext cx="1" cy="8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35" name="Line 10">
                <a:extLst>
                  <a:ext uri="{FF2B5EF4-FFF2-40B4-BE49-F238E27FC236}">
                    <a16:creationId xmlns:a16="http://schemas.microsoft.com/office/drawing/2014/main" id="{846EACD5-E47B-48FF-8AAA-1D9128FFD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6" y="10481"/>
                <a:ext cx="107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36" name="Arc 11">
                <a:extLst>
                  <a:ext uri="{FF2B5EF4-FFF2-40B4-BE49-F238E27FC236}">
                    <a16:creationId xmlns:a16="http://schemas.microsoft.com/office/drawing/2014/main" id="{58626A9A-96DB-4A34-AE9F-6CA5F991B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0481"/>
                <a:ext cx="210" cy="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694" name="Group 12">
              <a:extLst>
                <a:ext uri="{FF2B5EF4-FFF2-40B4-BE49-F238E27FC236}">
                  <a16:creationId xmlns:a16="http://schemas.microsoft.com/office/drawing/2014/main" id="{C10E22EB-5F73-495E-8F27-5859A5EACB9F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926" y="2575"/>
              <a:ext cx="807" cy="628"/>
              <a:chOff x="3426" y="10481"/>
              <a:chExt cx="1282" cy="1101"/>
            </a:xfrm>
          </p:grpSpPr>
          <p:sp>
            <p:nvSpPr>
              <p:cNvPr id="23731" name="Line 13">
                <a:extLst>
                  <a:ext uri="{FF2B5EF4-FFF2-40B4-BE49-F238E27FC236}">
                    <a16:creationId xmlns:a16="http://schemas.microsoft.com/office/drawing/2014/main" id="{0747D8AC-4F70-48C8-A970-CAAF6F30E1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10729"/>
                <a:ext cx="1" cy="8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32" name="Line 14">
                <a:extLst>
                  <a:ext uri="{FF2B5EF4-FFF2-40B4-BE49-F238E27FC236}">
                    <a16:creationId xmlns:a16="http://schemas.microsoft.com/office/drawing/2014/main" id="{655C6F84-5AB8-4FE3-8556-9429F754C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6" y="10481"/>
                <a:ext cx="107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33" name="Arc 15">
                <a:extLst>
                  <a:ext uri="{FF2B5EF4-FFF2-40B4-BE49-F238E27FC236}">
                    <a16:creationId xmlns:a16="http://schemas.microsoft.com/office/drawing/2014/main" id="{F9B145EA-6C6B-4DEF-9818-7F48BEC93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0481"/>
                <a:ext cx="210" cy="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695" name="Group 16">
              <a:extLst>
                <a:ext uri="{FF2B5EF4-FFF2-40B4-BE49-F238E27FC236}">
                  <a16:creationId xmlns:a16="http://schemas.microsoft.com/office/drawing/2014/main" id="{E47B0087-D6D5-400A-8318-137FAE58DFE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500" y="1314"/>
              <a:ext cx="807" cy="626"/>
              <a:chOff x="3426" y="10481"/>
              <a:chExt cx="1282" cy="1101"/>
            </a:xfrm>
          </p:grpSpPr>
          <p:sp>
            <p:nvSpPr>
              <p:cNvPr id="23728" name="Line 17">
                <a:extLst>
                  <a:ext uri="{FF2B5EF4-FFF2-40B4-BE49-F238E27FC236}">
                    <a16:creationId xmlns:a16="http://schemas.microsoft.com/office/drawing/2014/main" id="{69BA5918-4CCA-4CF5-BAA8-6F3E5CFA7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10729"/>
                <a:ext cx="1" cy="8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29" name="Line 18">
                <a:extLst>
                  <a:ext uri="{FF2B5EF4-FFF2-40B4-BE49-F238E27FC236}">
                    <a16:creationId xmlns:a16="http://schemas.microsoft.com/office/drawing/2014/main" id="{AACF02F5-9250-419E-8DF7-B022AE0D3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6" y="10481"/>
                <a:ext cx="107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30" name="Arc 19">
                <a:extLst>
                  <a:ext uri="{FF2B5EF4-FFF2-40B4-BE49-F238E27FC236}">
                    <a16:creationId xmlns:a16="http://schemas.microsoft.com/office/drawing/2014/main" id="{40E07C7E-C726-47F9-81A6-8F3115726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0481"/>
                <a:ext cx="210" cy="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696" name="Group 20">
              <a:extLst>
                <a:ext uri="{FF2B5EF4-FFF2-40B4-BE49-F238E27FC236}">
                  <a16:creationId xmlns:a16="http://schemas.microsoft.com/office/drawing/2014/main" id="{817370EC-B0D6-4594-838B-8184752F0548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2926" y="1331"/>
              <a:ext cx="807" cy="628"/>
              <a:chOff x="3426" y="10481"/>
              <a:chExt cx="1282" cy="1101"/>
            </a:xfrm>
          </p:grpSpPr>
          <p:sp>
            <p:nvSpPr>
              <p:cNvPr id="23725" name="Line 21">
                <a:extLst>
                  <a:ext uri="{FF2B5EF4-FFF2-40B4-BE49-F238E27FC236}">
                    <a16:creationId xmlns:a16="http://schemas.microsoft.com/office/drawing/2014/main" id="{D60F235E-05E5-47DE-8170-2AFD13FEA9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7" y="10729"/>
                <a:ext cx="1" cy="85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26" name="Line 22">
                <a:extLst>
                  <a:ext uri="{FF2B5EF4-FFF2-40B4-BE49-F238E27FC236}">
                    <a16:creationId xmlns:a16="http://schemas.microsoft.com/office/drawing/2014/main" id="{2C01551A-97EB-4E1E-B0D3-A8BAF9076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6" y="10481"/>
                <a:ext cx="107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27" name="Arc 23">
                <a:extLst>
                  <a:ext uri="{FF2B5EF4-FFF2-40B4-BE49-F238E27FC236}">
                    <a16:creationId xmlns:a16="http://schemas.microsoft.com/office/drawing/2014/main" id="{E230374D-7FCD-4622-8861-5A27DDD3E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7" y="10481"/>
                <a:ext cx="210" cy="24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97" name="Line 24">
              <a:extLst>
                <a:ext uri="{FF2B5EF4-FFF2-40B4-BE49-F238E27FC236}">
                  <a16:creationId xmlns:a16="http://schemas.microsoft.com/office/drawing/2014/main" id="{15661AD4-686D-4B60-91CB-E123CCDD5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249"/>
              <a:ext cx="245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98" name="Line 25">
              <a:extLst>
                <a:ext uri="{FF2B5EF4-FFF2-40B4-BE49-F238E27FC236}">
                  <a16:creationId xmlns:a16="http://schemas.microsoft.com/office/drawing/2014/main" id="{12537BF3-34AE-4D5B-A185-3BB87B6DD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0" y="1350"/>
              <a:ext cx="2" cy="18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99" name="Line 26">
              <a:extLst>
                <a:ext uri="{FF2B5EF4-FFF2-40B4-BE49-F238E27FC236}">
                  <a16:creationId xmlns:a16="http://schemas.microsoft.com/office/drawing/2014/main" id="{617D6E9C-DA90-4ACE-9893-59CA34814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7" y="2249"/>
              <a:ext cx="2" cy="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0" name="Line 27">
              <a:extLst>
                <a:ext uri="{FF2B5EF4-FFF2-40B4-BE49-F238E27FC236}">
                  <a16:creationId xmlns:a16="http://schemas.microsoft.com/office/drawing/2014/main" id="{F23C03E8-78ED-4880-B453-D67C779427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3" y="1967"/>
              <a:ext cx="2" cy="2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1" name="Line 28">
              <a:extLst>
                <a:ext uri="{FF2B5EF4-FFF2-40B4-BE49-F238E27FC236}">
                  <a16:creationId xmlns:a16="http://schemas.microsoft.com/office/drawing/2014/main" id="{AE9ECC27-E2EC-4646-9D04-CB7F6A546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2" y="1808"/>
              <a:ext cx="30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2" name="Line 29">
              <a:extLst>
                <a:ext uri="{FF2B5EF4-FFF2-40B4-BE49-F238E27FC236}">
                  <a16:creationId xmlns:a16="http://schemas.microsoft.com/office/drawing/2014/main" id="{2DDE3542-08A7-4305-B945-19EDDE7818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0" y="2691"/>
              <a:ext cx="30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3" name="Line 30">
              <a:extLst>
                <a:ext uri="{FF2B5EF4-FFF2-40B4-BE49-F238E27FC236}">
                  <a16:creationId xmlns:a16="http://schemas.microsoft.com/office/drawing/2014/main" id="{DB8CC04C-73A4-4AA5-B427-0F69CDCCC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3" y="2073"/>
              <a:ext cx="35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" name="Line 31">
              <a:extLst>
                <a:ext uri="{FF2B5EF4-FFF2-40B4-BE49-F238E27FC236}">
                  <a16:creationId xmlns:a16="http://schemas.microsoft.com/office/drawing/2014/main" id="{31BF7A82-7E7B-43D3-A655-DE7FC011F5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3" y="2114"/>
              <a:ext cx="35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5" name="Line 32">
              <a:extLst>
                <a:ext uri="{FF2B5EF4-FFF2-40B4-BE49-F238E27FC236}">
                  <a16:creationId xmlns:a16="http://schemas.microsoft.com/office/drawing/2014/main" id="{261945ED-4C93-4B5E-BCF9-E4A527B8A0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8" y="1932"/>
              <a:ext cx="2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" name="Line 33">
              <a:extLst>
                <a:ext uri="{FF2B5EF4-FFF2-40B4-BE49-F238E27FC236}">
                  <a16:creationId xmlns:a16="http://schemas.microsoft.com/office/drawing/2014/main" id="{43DABDD4-E905-40F0-B0AB-38F24D96BC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2144"/>
              <a:ext cx="2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" name="Line 34">
              <a:extLst>
                <a:ext uri="{FF2B5EF4-FFF2-40B4-BE49-F238E27FC236}">
                  <a16:creationId xmlns:a16="http://schemas.microsoft.com/office/drawing/2014/main" id="{DAAF0B76-BE0A-4F78-9825-B4A083BE47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1" y="2161"/>
              <a:ext cx="18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8" name="Line 35">
              <a:extLst>
                <a:ext uri="{FF2B5EF4-FFF2-40B4-BE49-F238E27FC236}">
                  <a16:creationId xmlns:a16="http://schemas.microsoft.com/office/drawing/2014/main" id="{2C176C00-B328-4885-9C0F-D8E5AC115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7" y="2444"/>
              <a:ext cx="357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9" name="Line 36">
              <a:extLst>
                <a:ext uri="{FF2B5EF4-FFF2-40B4-BE49-F238E27FC236}">
                  <a16:creationId xmlns:a16="http://schemas.microsoft.com/office/drawing/2014/main" id="{38082070-DCED-4953-9B63-8A455EF31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7" y="2409"/>
              <a:ext cx="35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" name="Line 37">
              <a:extLst>
                <a:ext uri="{FF2B5EF4-FFF2-40B4-BE49-F238E27FC236}">
                  <a16:creationId xmlns:a16="http://schemas.microsoft.com/office/drawing/2014/main" id="{39D03328-075A-4BEE-AF1F-EF071605E1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6" y="2249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1" name="Line 38">
              <a:extLst>
                <a:ext uri="{FF2B5EF4-FFF2-40B4-BE49-F238E27FC236}">
                  <a16:creationId xmlns:a16="http://schemas.microsoft.com/office/drawing/2014/main" id="{2ACE9380-0419-4B1B-8DF7-7C3AEB51B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01" y="2444"/>
              <a:ext cx="2" cy="1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" name="Line 39">
              <a:extLst>
                <a:ext uri="{FF2B5EF4-FFF2-40B4-BE49-F238E27FC236}">
                  <a16:creationId xmlns:a16="http://schemas.microsoft.com/office/drawing/2014/main" id="{AD51FDA2-7D69-46A8-9499-4A9F75981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05" y="2373"/>
              <a:ext cx="184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3" name="Line 40">
              <a:extLst>
                <a:ext uri="{FF2B5EF4-FFF2-40B4-BE49-F238E27FC236}">
                  <a16:creationId xmlns:a16="http://schemas.microsoft.com/office/drawing/2014/main" id="{EE5FF2FA-2FB7-4A64-9999-A905128A47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5" y="1508"/>
              <a:ext cx="1" cy="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4" name="Line 41">
              <a:extLst>
                <a:ext uri="{FF2B5EF4-FFF2-40B4-BE49-F238E27FC236}">
                  <a16:creationId xmlns:a16="http://schemas.microsoft.com/office/drawing/2014/main" id="{777A8836-C791-4EAE-A5B3-C56409F2E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92" y="1684"/>
              <a:ext cx="106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5" name="Line 42">
              <a:extLst>
                <a:ext uri="{FF2B5EF4-FFF2-40B4-BE49-F238E27FC236}">
                  <a16:creationId xmlns:a16="http://schemas.microsoft.com/office/drawing/2014/main" id="{3E46F349-EE5D-4BC7-8C8E-999CB7783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1" y="1684"/>
              <a:ext cx="10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6" name="Line 43">
              <a:extLst>
                <a:ext uri="{FF2B5EF4-FFF2-40B4-BE49-F238E27FC236}">
                  <a16:creationId xmlns:a16="http://schemas.microsoft.com/office/drawing/2014/main" id="{875ADDBE-EB54-4947-B422-C688BADBD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8" y="1508"/>
              <a:ext cx="2" cy="1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7" name="Line 44">
              <a:extLst>
                <a:ext uri="{FF2B5EF4-FFF2-40B4-BE49-F238E27FC236}">
                  <a16:creationId xmlns:a16="http://schemas.microsoft.com/office/drawing/2014/main" id="{38A9D762-EBC0-498A-96C9-F7DC94FA5F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2" y="2691"/>
              <a:ext cx="1" cy="3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8" name="Line 45">
              <a:extLst>
                <a:ext uri="{FF2B5EF4-FFF2-40B4-BE49-F238E27FC236}">
                  <a16:creationId xmlns:a16="http://schemas.microsoft.com/office/drawing/2014/main" id="{4B559C5C-F858-44B2-AB45-9782D4D40B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10" y="2850"/>
              <a:ext cx="10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9" name="Line 46">
              <a:extLst>
                <a:ext uri="{FF2B5EF4-FFF2-40B4-BE49-F238E27FC236}">
                  <a16:creationId xmlns:a16="http://schemas.microsoft.com/office/drawing/2014/main" id="{9F6EBA8E-B444-4FCC-88E4-E64C4B4079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1" y="2831"/>
              <a:ext cx="105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0" name="Line 47">
              <a:extLst>
                <a:ext uri="{FF2B5EF4-FFF2-40B4-BE49-F238E27FC236}">
                  <a16:creationId xmlns:a16="http://schemas.microsoft.com/office/drawing/2014/main" id="{F3B98334-5A3E-48E5-8903-3A39899787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28" y="2867"/>
              <a:ext cx="2" cy="1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21" name="Text Box 48">
              <a:extLst>
                <a:ext uri="{FF2B5EF4-FFF2-40B4-BE49-F238E27FC236}">
                  <a16:creationId xmlns:a16="http://schemas.microsoft.com/office/drawing/2014/main" id="{ED2993AE-E06D-4523-96F2-31D8AC41CB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6" y="1650"/>
              <a:ext cx="330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西</a:t>
              </a:r>
            </a:p>
          </p:txBody>
        </p:sp>
        <p:sp>
          <p:nvSpPr>
            <p:cNvPr id="23722" name="Text Box 49">
              <a:extLst>
                <a:ext uri="{FF2B5EF4-FFF2-40B4-BE49-F238E27FC236}">
                  <a16:creationId xmlns:a16="http://schemas.microsoft.com/office/drawing/2014/main" id="{D08D3828-968A-4504-BC3F-5D3F6D54B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9" y="2621"/>
              <a:ext cx="330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东</a:t>
              </a:r>
            </a:p>
          </p:txBody>
        </p:sp>
        <p:sp>
          <p:nvSpPr>
            <p:cNvPr id="23723" name="Text Box 50">
              <a:extLst>
                <a:ext uri="{FF2B5EF4-FFF2-40B4-BE49-F238E27FC236}">
                  <a16:creationId xmlns:a16="http://schemas.microsoft.com/office/drawing/2014/main" id="{FAF2DB22-5275-498A-AD56-9E2FB85B2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7" y="2955"/>
              <a:ext cx="32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南</a:t>
              </a:r>
            </a:p>
          </p:txBody>
        </p:sp>
        <p:sp>
          <p:nvSpPr>
            <p:cNvPr id="23724" name="Text Box 51">
              <a:extLst>
                <a:ext uri="{FF2B5EF4-FFF2-40B4-BE49-F238E27FC236}">
                  <a16:creationId xmlns:a16="http://schemas.microsoft.com/office/drawing/2014/main" id="{09B7E7D2-934C-4E95-B4D2-252A03E958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0" y="1350"/>
              <a:ext cx="330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北</a:t>
              </a:r>
            </a:p>
          </p:txBody>
        </p:sp>
      </p:grpSp>
      <p:grpSp>
        <p:nvGrpSpPr>
          <p:cNvPr id="7" name="Group 73">
            <a:extLst>
              <a:ext uri="{FF2B5EF4-FFF2-40B4-BE49-F238E27FC236}">
                <a16:creationId xmlns:a16="http://schemas.microsoft.com/office/drawing/2014/main" id="{7D288D81-117B-459F-A249-DD938A15491C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4778375"/>
            <a:ext cx="1368425" cy="1098550"/>
            <a:chOff x="2244" y="553"/>
            <a:chExt cx="1830" cy="1674"/>
          </a:xfrm>
        </p:grpSpPr>
        <p:grpSp>
          <p:nvGrpSpPr>
            <p:cNvPr id="23677" name="Group 74">
              <a:extLst>
                <a:ext uri="{FF2B5EF4-FFF2-40B4-BE49-F238E27FC236}">
                  <a16:creationId xmlns:a16="http://schemas.microsoft.com/office/drawing/2014/main" id="{432CC10E-B3BF-47EE-AD68-4AEAE7430B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5" y="553"/>
              <a:ext cx="632" cy="589"/>
              <a:chOff x="2663" y="553"/>
              <a:chExt cx="632" cy="589"/>
            </a:xfrm>
          </p:grpSpPr>
          <p:sp>
            <p:nvSpPr>
              <p:cNvPr id="23690" name="Line 75">
                <a:extLst>
                  <a:ext uri="{FF2B5EF4-FFF2-40B4-BE49-F238E27FC236}">
                    <a16:creationId xmlns:a16="http://schemas.microsoft.com/office/drawing/2014/main" id="{F7067901-91A6-41B1-84EE-8C13E00B70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4" y="553"/>
                <a:ext cx="1" cy="4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91" name="Line 76">
                <a:extLst>
                  <a:ext uri="{FF2B5EF4-FFF2-40B4-BE49-F238E27FC236}">
                    <a16:creationId xmlns:a16="http://schemas.microsoft.com/office/drawing/2014/main" id="{08AF741A-CB80-4746-A604-41E402FEC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3" y="1142"/>
                <a:ext cx="4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92" name="Arc 77">
                <a:extLst>
                  <a:ext uri="{FF2B5EF4-FFF2-40B4-BE49-F238E27FC236}">
                    <a16:creationId xmlns:a16="http://schemas.microsoft.com/office/drawing/2014/main" id="{9118364C-FAB7-43F2-985F-39FB897A145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147" y="957"/>
                <a:ext cx="147" cy="18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678" name="Group 78">
              <a:extLst>
                <a:ext uri="{FF2B5EF4-FFF2-40B4-BE49-F238E27FC236}">
                  <a16:creationId xmlns:a16="http://schemas.microsoft.com/office/drawing/2014/main" id="{351DE0A3-C355-4380-848A-46B2CBFCD6B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442" y="553"/>
              <a:ext cx="632" cy="589"/>
              <a:chOff x="2663" y="553"/>
              <a:chExt cx="632" cy="589"/>
            </a:xfrm>
          </p:grpSpPr>
          <p:sp>
            <p:nvSpPr>
              <p:cNvPr id="23687" name="Line 79">
                <a:extLst>
                  <a:ext uri="{FF2B5EF4-FFF2-40B4-BE49-F238E27FC236}">
                    <a16:creationId xmlns:a16="http://schemas.microsoft.com/office/drawing/2014/main" id="{F0C552A6-F608-4690-8886-9EF1A562BD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4" y="553"/>
                <a:ext cx="1" cy="4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8" name="Line 80">
                <a:extLst>
                  <a:ext uri="{FF2B5EF4-FFF2-40B4-BE49-F238E27FC236}">
                    <a16:creationId xmlns:a16="http://schemas.microsoft.com/office/drawing/2014/main" id="{CF5EF8CC-5FA8-4F14-92B2-20D596086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3" y="1142"/>
                <a:ext cx="4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9" name="Arc 81">
                <a:extLst>
                  <a:ext uri="{FF2B5EF4-FFF2-40B4-BE49-F238E27FC236}">
                    <a16:creationId xmlns:a16="http://schemas.microsoft.com/office/drawing/2014/main" id="{5C6F98C6-5C33-46A1-966B-9DD818DF434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147" y="957"/>
                <a:ext cx="147" cy="18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679" name="Group 82">
              <a:extLst>
                <a:ext uri="{FF2B5EF4-FFF2-40B4-BE49-F238E27FC236}">
                  <a16:creationId xmlns:a16="http://schemas.microsoft.com/office/drawing/2014/main" id="{D2F34ABE-073E-4F7A-8150-3E85B49B707C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244" y="1638"/>
              <a:ext cx="632" cy="589"/>
              <a:chOff x="2663" y="553"/>
              <a:chExt cx="632" cy="589"/>
            </a:xfrm>
          </p:grpSpPr>
          <p:sp>
            <p:nvSpPr>
              <p:cNvPr id="23684" name="Line 83">
                <a:extLst>
                  <a:ext uri="{FF2B5EF4-FFF2-40B4-BE49-F238E27FC236}">
                    <a16:creationId xmlns:a16="http://schemas.microsoft.com/office/drawing/2014/main" id="{1CD4469A-7616-48D3-A5F9-6F7EF8CF17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4" y="553"/>
                <a:ext cx="1" cy="4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5" name="Line 84">
                <a:extLst>
                  <a:ext uri="{FF2B5EF4-FFF2-40B4-BE49-F238E27FC236}">
                    <a16:creationId xmlns:a16="http://schemas.microsoft.com/office/drawing/2014/main" id="{A6B497C6-F20E-48F1-A9B0-2161F836E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3" y="1142"/>
                <a:ext cx="4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6" name="Arc 85">
                <a:extLst>
                  <a:ext uri="{FF2B5EF4-FFF2-40B4-BE49-F238E27FC236}">
                    <a16:creationId xmlns:a16="http://schemas.microsoft.com/office/drawing/2014/main" id="{D44DA5B2-6357-49E8-83F1-4BB2FD3051E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147" y="957"/>
                <a:ext cx="147" cy="18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680" name="Group 86">
              <a:extLst>
                <a:ext uri="{FF2B5EF4-FFF2-40B4-BE49-F238E27FC236}">
                  <a16:creationId xmlns:a16="http://schemas.microsoft.com/office/drawing/2014/main" id="{38C33009-89F0-4AB6-857A-D2C01EFCE9A4}"/>
                </a:ext>
              </a:extLst>
            </p:cNvPr>
            <p:cNvGrpSpPr>
              <a:grpSpLocks/>
            </p:cNvGrpSpPr>
            <p:nvPr/>
          </p:nvGrpSpPr>
          <p:grpSpPr bwMode="auto">
            <a:xfrm flipH="1" flipV="1">
              <a:off x="3421" y="1638"/>
              <a:ext cx="632" cy="589"/>
              <a:chOff x="2663" y="553"/>
              <a:chExt cx="632" cy="589"/>
            </a:xfrm>
          </p:grpSpPr>
          <p:sp>
            <p:nvSpPr>
              <p:cNvPr id="23681" name="Line 87">
                <a:extLst>
                  <a:ext uri="{FF2B5EF4-FFF2-40B4-BE49-F238E27FC236}">
                    <a16:creationId xmlns:a16="http://schemas.microsoft.com/office/drawing/2014/main" id="{1C206450-B6D5-405A-8C8A-4EA82DBEE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4" y="553"/>
                <a:ext cx="1" cy="40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2" name="Line 88">
                <a:extLst>
                  <a:ext uri="{FF2B5EF4-FFF2-40B4-BE49-F238E27FC236}">
                    <a16:creationId xmlns:a16="http://schemas.microsoft.com/office/drawing/2014/main" id="{60A3AA25-9F93-4841-A062-08A53FDC5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3" y="1142"/>
                <a:ext cx="48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3" name="Arc 89">
                <a:extLst>
                  <a:ext uri="{FF2B5EF4-FFF2-40B4-BE49-F238E27FC236}">
                    <a16:creationId xmlns:a16="http://schemas.microsoft.com/office/drawing/2014/main" id="{3E89688A-67A4-4EC0-9CF3-3B9D989E8CB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147" y="957"/>
                <a:ext cx="147" cy="18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2" name="Group 188">
            <a:extLst>
              <a:ext uri="{FF2B5EF4-FFF2-40B4-BE49-F238E27FC236}">
                <a16:creationId xmlns:a16="http://schemas.microsoft.com/office/drawing/2014/main" id="{72842055-3723-4B85-8F9F-B5D8A35586FE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778375"/>
            <a:ext cx="1377950" cy="1079500"/>
            <a:chOff x="898" y="2932"/>
            <a:chExt cx="732" cy="670"/>
          </a:xfrm>
        </p:grpSpPr>
        <p:grpSp>
          <p:nvGrpSpPr>
            <p:cNvPr id="23648" name="Group 56">
              <a:extLst>
                <a:ext uri="{FF2B5EF4-FFF2-40B4-BE49-F238E27FC236}">
                  <a16:creationId xmlns:a16="http://schemas.microsoft.com/office/drawing/2014/main" id="{1C745D34-0F5F-4E27-A219-B36B744B9B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8" y="2932"/>
              <a:ext cx="732" cy="670"/>
              <a:chOff x="2244" y="553"/>
              <a:chExt cx="1830" cy="1674"/>
            </a:xfrm>
          </p:grpSpPr>
          <p:grpSp>
            <p:nvGrpSpPr>
              <p:cNvPr id="23661" name="Group 57">
                <a:extLst>
                  <a:ext uri="{FF2B5EF4-FFF2-40B4-BE49-F238E27FC236}">
                    <a16:creationId xmlns:a16="http://schemas.microsoft.com/office/drawing/2014/main" id="{BC7FCC6E-FC34-4169-8096-AAFAFD6CE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65" y="553"/>
                <a:ext cx="632" cy="589"/>
                <a:chOff x="2663" y="553"/>
                <a:chExt cx="632" cy="589"/>
              </a:xfrm>
            </p:grpSpPr>
            <p:sp>
              <p:nvSpPr>
                <p:cNvPr id="23674" name="Line 58">
                  <a:extLst>
                    <a:ext uri="{FF2B5EF4-FFF2-40B4-BE49-F238E27FC236}">
                      <a16:creationId xmlns:a16="http://schemas.microsoft.com/office/drawing/2014/main" id="{D2CEC673-FC0D-481D-9EB3-B12F0FBE1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75" name="Line 59">
                  <a:extLst>
                    <a:ext uri="{FF2B5EF4-FFF2-40B4-BE49-F238E27FC236}">
                      <a16:creationId xmlns:a16="http://schemas.microsoft.com/office/drawing/2014/main" id="{541E2F04-6BB0-43AA-B5B6-35BDE2024D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76" name="Arc 60">
                  <a:extLst>
                    <a:ext uri="{FF2B5EF4-FFF2-40B4-BE49-F238E27FC236}">
                      <a16:creationId xmlns:a16="http://schemas.microsoft.com/office/drawing/2014/main" id="{2C4E72B8-107C-454C-A7DF-E37E979BD1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2" name="Group 61">
                <a:extLst>
                  <a:ext uri="{FF2B5EF4-FFF2-40B4-BE49-F238E27FC236}">
                    <a16:creationId xmlns:a16="http://schemas.microsoft.com/office/drawing/2014/main" id="{3B07DC9E-8A10-48AA-AC26-C5289424E6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442" y="553"/>
                <a:ext cx="632" cy="589"/>
                <a:chOff x="2663" y="553"/>
                <a:chExt cx="632" cy="589"/>
              </a:xfrm>
            </p:grpSpPr>
            <p:sp>
              <p:nvSpPr>
                <p:cNvPr id="23671" name="Line 62">
                  <a:extLst>
                    <a:ext uri="{FF2B5EF4-FFF2-40B4-BE49-F238E27FC236}">
                      <a16:creationId xmlns:a16="http://schemas.microsoft.com/office/drawing/2014/main" id="{5147D80D-F4E3-442D-80CE-CB7710B54F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72" name="Line 63">
                  <a:extLst>
                    <a:ext uri="{FF2B5EF4-FFF2-40B4-BE49-F238E27FC236}">
                      <a16:creationId xmlns:a16="http://schemas.microsoft.com/office/drawing/2014/main" id="{FF7D04A0-91CC-4124-B476-091D10FA5D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73" name="Arc 64">
                  <a:extLst>
                    <a:ext uri="{FF2B5EF4-FFF2-40B4-BE49-F238E27FC236}">
                      <a16:creationId xmlns:a16="http://schemas.microsoft.com/office/drawing/2014/main" id="{6A04F206-CACF-416D-9575-ADD5DC2E83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3" name="Group 65">
                <a:extLst>
                  <a:ext uri="{FF2B5EF4-FFF2-40B4-BE49-F238E27FC236}">
                    <a16:creationId xmlns:a16="http://schemas.microsoft.com/office/drawing/2014/main" id="{046F5B36-4A2B-43D2-B723-858DB181A3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44" y="1638"/>
                <a:ext cx="632" cy="589"/>
                <a:chOff x="2663" y="553"/>
                <a:chExt cx="632" cy="589"/>
              </a:xfrm>
            </p:grpSpPr>
            <p:sp>
              <p:nvSpPr>
                <p:cNvPr id="23668" name="Line 66">
                  <a:extLst>
                    <a:ext uri="{FF2B5EF4-FFF2-40B4-BE49-F238E27FC236}">
                      <a16:creationId xmlns:a16="http://schemas.microsoft.com/office/drawing/2014/main" id="{03A37A2F-1ACA-47C5-A3B3-CDFDDF6878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69" name="Line 67">
                  <a:extLst>
                    <a:ext uri="{FF2B5EF4-FFF2-40B4-BE49-F238E27FC236}">
                      <a16:creationId xmlns:a16="http://schemas.microsoft.com/office/drawing/2014/main" id="{F6EF77ED-A61B-4C20-AB46-CD333302EA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70" name="Arc 68">
                  <a:extLst>
                    <a:ext uri="{FF2B5EF4-FFF2-40B4-BE49-F238E27FC236}">
                      <a16:creationId xmlns:a16="http://schemas.microsoft.com/office/drawing/2014/main" id="{FEC454A5-56DC-46E6-8E25-128EAB6D1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64" name="Group 69">
                <a:extLst>
                  <a:ext uri="{FF2B5EF4-FFF2-40B4-BE49-F238E27FC236}">
                    <a16:creationId xmlns:a16="http://schemas.microsoft.com/office/drawing/2014/main" id="{621B7328-6975-46D6-B824-B1B3DCCAB8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 flipV="1">
                <a:off x="3421" y="1638"/>
                <a:ext cx="632" cy="589"/>
                <a:chOff x="2663" y="553"/>
                <a:chExt cx="632" cy="589"/>
              </a:xfrm>
            </p:grpSpPr>
            <p:sp>
              <p:nvSpPr>
                <p:cNvPr id="23665" name="Line 70">
                  <a:extLst>
                    <a:ext uri="{FF2B5EF4-FFF2-40B4-BE49-F238E27FC236}">
                      <a16:creationId xmlns:a16="http://schemas.microsoft.com/office/drawing/2014/main" id="{FF1435A7-636C-4D57-A6BB-45FFDB4FD4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66" name="Line 71">
                  <a:extLst>
                    <a:ext uri="{FF2B5EF4-FFF2-40B4-BE49-F238E27FC236}">
                      <a16:creationId xmlns:a16="http://schemas.microsoft.com/office/drawing/2014/main" id="{D3EA54A3-02C8-4B23-A577-EBB739D7DB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67" name="Arc 72">
                  <a:extLst>
                    <a:ext uri="{FF2B5EF4-FFF2-40B4-BE49-F238E27FC236}">
                      <a16:creationId xmlns:a16="http://schemas.microsoft.com/office/drawing/2014/main" id="{284C7376-F2C4-4759-9AE2-3EC3F472FD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3649" name="Line 124">
              <a:extLst>
                <a:ext uri="{FF2B5EF4-FFF2-40B4-BE49-F238E27FC236}">
                  <a16:creationId xmlns:a16="http://schemas.microsoft.com/office/drawing/2014/main" id="{C4430D93-840C-49F2-892B-2036F3817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82" y="3205"/>
              <a:ext cx="5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0" name="Line 125">
              <a:extLst>
                <a:ext uri="{FF2B5EF4-FFF2-40B4-BE49-F238E27FC236}">
                  <a16:creationId xmlns:a16="http://schemas.microsoft.com/office/drawing/2014/main" id="{7D0BF92A-425D-4342-9D57-160031905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4" y="3328"/>
              <a:ext cx="56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1" name="Line 126">
              <a:extLst>
                <a:ext uri="{FF2B5EF4-FFF2-40B4-BE49-F238E27FC236}">
                  <a16:creationId xmlns:a16="http://schemas.microsoft.com/office/drawing/2014/main" id="{57667100-1F1A-43B3-B423-4E02230CA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9" y="2994"/>
              <a:ext cx="0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2" name="Line 127">
              <a:extLst>
                <a:ext uri="{FF2B5EF4-FFF2-40B4-BE49-F238E27FC236}">
                  <a16:creationId xmlns:a16="http://schemas.microsoft.com/office/drawing/2014/main" id="{13528773-9DBB-47C4-AE5A-D1EAF72AE8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9" y="3453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3" name="Line 128">
              <a:extLst>
                <a:ext uri="{FF2B5EF4-FFF2-40B4-BE49-F238E27FC236}">
                  <a16:creationId xmlns:a16="http://schemas.microsoft.com/office/drawing/2014/main" id="{65FBEF6E-2A9B-4153-A6DA-11B5EB2BA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5" y="3106"/>
              <a:ext cx="7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4" name="Line 129">
              <a:extLst>
                <a:ext uri="{FF2B5EF4-FFF2-40B4-BE49-F238E27FC236}">
                  <a16:creationId xmlns:a16="http://schemas.microsoft.com/office/drawing/2014/main" id="{8E2267E8-0D17-40FA-A7CA-F4EF8FC27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9" y="3465"/>
              <a:ext cx="9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5" name="Line 130">
              <a:extLst>
                <a:ext uri="{FF2B5EF4-FFF2-40B4-BE49-F238E27FC236}">
                  <a16:creationId xmlns:a16="http://schemas.microsoft.com/office/drawing/2014/main" id="{7683FA9B-248C-4E26-B722-AED6C6189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9" y="3081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6" name="Line 131">
              <a:extLst>
                <a:ext uri="{FF2B5EF4-FFF2-40B4-BE49-F238E27FC236}">
                  <a16:creationId xmlns:a16="http://schemas.microsoft.com/office/drawing/2014/main" id="{DA9F6181-DDA4-4136-BC45-2267F7C94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7" y="3329"/>
              <a:ext cx="1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" name="Line 132">
              <a:extLst>
                <a:ext uri="{FF2B5EF4-FFF2-40B4-BE49-F238E27FC236}">
                  <a16:creationId xmlns:a16="http://schemas.microsoft.com/office/drawing/2014/main" id="{5B9739F7-57BF-4D38-9869-AB0892069F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8" y="3267"/>
              <a:ext cx="101" cy="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8" name="Line 133">
              <a:extLst>
                <a:ext uri="{FF2B5EF4-FFF2-40B4-BE49-F238E27FC236}">
                  <a16:creationId xmlns:a16="http://schemas.microsoft.com/office/drawing/2014/main" id="{50908D9C-8DAB-454D-95F8-9DFD42F29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5" y="3242"/>
              <a:ext cx="59" cy="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9" name="Line 134">
              <a:extLst>
                <a:ext uri="{FF2B5EF4-FFF2-40B4-BE49-F238E27FC236}">
                  <a16:creationId xmlns:a16="http://schemas.microsoft.com/office/drawing/2014/main" id="{49FD8995-B9DF-448C-9359-8D3770071B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68" y="3205"/>
              <a:ext cx="92" cy="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60" name="Line 135">
              <a:extLst>
                <a:ext uri="{FF2B5EF4-FFF2-40B4-BE49-F238E27FC236}">
                  <a16:creationId xmlns:a16="http://schemas.microsoft.com/office/drawing/2014/main" id="{7A96721F-119D-4617-8E44-AEBC3CF78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" y="3217"/>
              <a:ext cx="84" cy="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36">
            <a:extLst>
              <a:ext uri="{FF2B5EF4-FFF2-40B4-BE49-F238E27FC236}">
                <a16:creationId xmlns:a16="http://schemas.microsoft.com/office/drawing/2014/main" id="{6EBAAE1D-7638-473B-9EAD-76C987446BA3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4837113"/>
            <a:ext cx="120650" cy="196850"/>
            <a:chOff x="4932" y="646"/>
            <a:chExt cx="189" cy="310"/>
          </a:xfrm>
        </p:grpSpPr>
        <p:sp>
          <p:nvSpPr>
            <p:cNvPr id="23646" name="Line 137">
              <a:extLst>
                <a:ext uri="{FF2B5EF4-FFF2-40B4-BE49-F238E27FC236}">
                  <a16:creationId xmlns:a16="http://schemas.microsoft.com/office/drawing/2014/main" id="{FD1030AA-A2A1-4CAB-B7FC-37DD9C27C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6" y="646"/>
              <a:ext cx="1" cy="3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7" name="Line 138">
              <a:extLst>
                <a:ext uri="{FF2B5EF4-FFF2-40B4-BE49-F238E27FC236}">
                  <a16:creationId xmlns:a16="http://schemas.microsoft.com/office/drawing/2014/main" id="{18DC4F7B-2501-4080-9B68-3CB4739C7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2" y="925"/>
              <a:ext cx="18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39">
            <a:extLst>
              <a:ext uri="{FF2B5EF4-FFF2-40B4-BE49-F238E27FC236}">
                <a16:creationId xmlns:a16="http://schemas.microsoft.com/office/drawing/2014/main" id="{6A173E93-9ED5-4F12-86CD-A25D44B42906}"/>
              </a:ext>
            </a:extLst>
          </p:cNvPr>
          <p:cNvGrpSpPr>
            <a:grpSpLocks/>
          </p:cNvGrpSpPr>
          <p:nvPr/>
        </p:nvGrpSpPr>
        <p:grpSpPr bwMode="auto">
          <a:xfrm>
            <a:off x="3305175" y="5584825"/>
            <a:ext cx="146050" cy="196850"/>
            <a:chOff x="5205" y="1824"/>
            <a:chExt cx="231" cy="310"/>
          </a:xfrm>
        </p:grpSpPr>
        <p:sp>
          <p:nvSpPr>
            <p:cNvPr id="23644" name="Line 140">
              <a:extLst>
                <a:ext uri="{FF2B5EF4-FFF2-40B4-BE49-F238E27FC236}">
                  <a16:creationId xmlns:a16="http://schemas.microsoft.com/office/drawing/2014/main" id="{84CE4ADD-525F-4811-83AF-917B536542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1" y="1824"/>
              <a:ext cx="1" cy="3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5" name="Line 141">
              <a:extLst>
                <a:ext uri="{FF2B5EF4-FFF2-40B4-BE49-F238E27FC236}">
                  <a16:creationId xmlns:a16="http://schemas.microsoft.com/office/drawing/2014/main" id="{863E033F-8A4D-42D4-A0AF-CD9833684B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5" y="1855"/>
              <a:ext cx="23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142">
            <a:extLst>
              <a:ext uri="{FF2B5EF4-FFF2-40B4-BE49-F238E27FC236}">
                <a16:creationId xmlns:a16="http://schemas.microsoft.com/office/drawing/2014/main" id="{5AEB0BE8-DB38-4755-90E2-03DADB5C8CEF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3587750" y="5146675"/>
            <a:ext cx="146050" cy="196850"/>
            <a:chOff x="5205" y="1824"/>
            <a:chExt cx="231" cy="310"/>
          </a:xfrm>
        </p:grpSpPr>
        <p:sp>
          <p:nvSpPr>
            <p:cNvPr id="23642" name="Line 143">
              <a:extLst>
                <a:ext uri="{FF2B5EF4-FFF2-40B4-BE49-F238E27FC236}">
                  <a16:creationId xmlns:a16="http://schemas.microsoft.com/office/drawing/2014/main" id="{1CEC207D-7B22-443A-AE74-ED6BCD085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1" y="1824"/>
              <a:ext cx="1" cy="3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3" name="Line 144">
              <a:extLst>
                <a:ext uri="{FF2B5EF4-FFF2-40B4-BE49-F238E27FC236}">
                  <a16:creationId xmlns:a16="http://schemas.microsoft.com/office/drawing/2014/main" id="{C6E4FD6E-0C61-46F4-B47F-65BD9738E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5" y="1855"/>
              <a:ext cx="23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145">
            <a:extLst>
              <a:ext uri="{FF2B5EF4-FFF2-40B4-BE49-F238E27FC236}">
                <a16:creationId xmlns:a16="http://schemas.microsoft.com/office/drawing/2014/main" id="{A02D9042-CF57-4BCA-9ED4-F6713FEE1438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2836863" y="5284788"/>
            <a:ext cx="146050" cy="196850"/>
            <a:chOff x="5205" y="1824"/>
            <a:chExt cx="231" cy="310"/>
          </a:xfrm>
        </p:grpSpPr>
        <p:sp>
          <p:nvSpPr>
            <p:cNvPr id="23640" name="Line 146">
              <a:extLst>
                <a:ext uri="{FF2B5EF4-FFF2-40B4-BE49-F238E27FC236}">
                  <a16:creationId xmlns:a16="http://schemas.microsoft.com/office/drawing/2014/main" id="{4362B723-9BC1-453A-9113-4D2B5357E3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1" y="1824"/>
              <a:ext cx="1" cy="3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1" name="Line 147">
              <a:extLst>
                <a:ext uri="{FF2B5EF4-FFF2-40B4-BE49-F238E27FC236}">
                  <a16:creationId xmlns:a16="http://schemas.microsoft.com/office/drawing/2014/main" id="{C9C1DF89-1C9F-409E-BFC4-8D08B56EE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5" y="1855"/>
              <a:ext cx="23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148">
            <a:extLst>
              <a:ext uri="{FF2B5EF4-FFF2-40B4-BE49-F238E27FC236}">
                <a16:creationId xmlns:a16="http://schemas.microsoft.com/office/drawing/2014/main" id="{06E0B483-B3AD-41F5-9C4F-74A419CB4065}"/>
              </a:ext>
            </a:extLst>
          </p:cNvPr>
          <p:cNvGrpSpPr>
            <a:grpSpLocks/>
          </p:cNvGrpSpPr>
          <p:nvPr/>
        </p:nvGrpSpPr>
        <p:grpSpPr bwMode="auto">
          <a:xfrm>
            <a:off x="2865438" y="5132388"/>
            <a:ext cx="773112" cy="354012"/>
            <a:chOff x="4512" y="1111"/>
            <a:chExt cx="1218" cy="558"/>
          </a:xfrm>
        </p:grpSpPr>
        <p:sp>
          <p:nvSpPr>
            <p:cNvPr id="23638" name="Line 149">
              <a:extLst>
                <a:ext uri="{FF2B5EF4-FFF2-40B4-BE49-F238E27FC236}">
                  <a16:creationId xmlns:a16="http://schemas.microsoft.com/office/drawing/2014/main" id="{C4F4221A-16A9-451A-9B51-93B9412E4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1111"/>
              <a:ext cx="819" cy="3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9" name="Line 150">
              <a:extLst>
                <a:ext uri="{FF2B5EF4-FFF2-40B4-BE49-F238E27FC236}">
                  <a16:creationId xmlns:a16="http://schemas.microsoft.com/office/drawing/2014/main" id="{D74D3F7A-ED19-46B4-891F-730182D973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1" y="1359"/>
              <a:ext cx="819" cy="3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187">
            <a:extLst>
              <a:ext uri="{FF2B5EF4-FFF2-40B4-BE49-F238E27FC236}">
                <a16:creationId xmlns:a16="http://schemas.microsoft.com/office/drawing/2014/main" id="{D385D2E0-D528-493C-83F6-F8A4C3655D57}"/>
              </a:ext>
            </a:extLst>
          </p:cNvPr>
          <p:cNvGrpSpPr>
            <a:grpSpLocks/>
          </p:cNvGrpSpPr>
          <p:nvPr/>
        </p:nvGrpSpPr>
        <p:grpSpPr bwMode="auto">
          <a:xfrm>
            <a:off x="4330700" y="4778375"/>
            <a:ext cx="1393825" cy="1079500"/>
            <a:chOff x="2502" y="2932"/>
            <a:chExt cx="732" cy="670"/>
          </a:xfrm>
        </p:grpSpPr>
        <p:grpSp>
          <p:nvGrpSpPr>
            <p:cNvPr id="23606" name="Group 90">
              <a:extLst>
                <a:ext uri="{FF2B5EF4-FFF2-40B4-BE49-F238E27FC236}">
                  <a16:creationId xmlns:a16="http://schemas.microsoft.com/office/drawing/2014/main" id="{B01CDD3D-4AB0-4E2B-8241-A95C34E6EB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2" y="2932"/>
              <a:ext cx="732" cy="670"/>
              <a:chOff x="2244" y="553"/>
              <a:chExt cx="1830" cy="1674"/>
            </a:xfrm>
          </p:grpSpPr>
          <p:grpSp>
            <p:nvGrpSpPr>
              <p:cNvPr id="23622" name="Group 91">
                <a:extLst>
                  <a:ext uri="{FF2B5EF4-FFF2-40B4-BE49-F238E27FC236}">
                    <a16:creationId xmlns:a16="http://schemas.microsoft.com/office/drawing/2014/main" id="{B76C34EF-A1D3-4905-A493-5D9BBB3A08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65" y="553"/>
                <a:ext cx="632" cy="589"/>
                <a:chOff x="2663" y="553"/>
                <a:chExt cx="632" cy="589"/>
              </a:xfrm>
            </p:grpSpPr>
            <p:sp>
              <p:nvSpPr>
                <p:cNvPr id="23635" name="Line 92">
                  <a:extLst>
                    <a:ext uri="{FF2B5EF4-FFF2-40B4-BE49-F238E27FC236}">
                      <a16:creationId xmlns:a16="http://schemas.microsoft.com/office/drawing/2014/main" id="{CC592AFD-B652-488D-AD9E-E0F2417FCB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36" name="Line 93">
                  <a:extLst>
                    <a:ext uri="{FF2B5EF4-FFF2-40B4-BE49-F238E27FC236}">
                      <a16:creationId xmlns:a16="http://schemas.microsoft.com/office/drawing/2014/main" id="{9A042DD3-EC08-40DA-B102-91945420EF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37" name="Arc 94">
                  <a:extLst>
                    <a:ext uri="{FF2B5EF4-FFF2-40B4-BE49-F238E27FC236}">
                      <a16:creationId xmlns:a16="http://schemas.microsoft.com/office/drawing/2014/main" id="{BFEB536C-D8AC-4C3F-BACC-5D2967FA98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23" name="Group 95">
                <a:extLst>
                  <a:ext uri="{FF2B5EF4-FFF2-40B4-BE49-F238E27FC236}">
                    <a16:creationId xmlns:a16="http://schemas.microsoft.com/office/drawing/2014/main" id="{970F113B-0976-4E09-8299-30D15F5B21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442" y="553"/>
                <a:ext cx="632" cy="589"/>
                <a:chOff x="2663" y="553"/>
                <a:chExt cx="632" cy="589"/>
              </a:xfrm>
            </p:grpSpPr>
            <p:sp>
              <p:nvSpPr>
                <p:cNvPr id="23632" name="Line 96">
                  <a:extLst>
                    <a:ext uri="{FF2B5EF4-FFF2-40B4-BE49-F238E27FC236}">
                      <a16:creationId xmlns:a16="http://schemas.microsoft.com/office/drawing/2014/main" id="{1139CB85-775C-41E8-A3B3-9B804A9485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33" name="Line 97">
                  <a:extLst>
                    <a:ext uri="{FF2B5EF4-FFF2-40B4-BE49-F238E27FC236}">
                      <a16:creationId xmlns:a16="http://schemas.microsoft.com/office/drawing/2014/main" id="{01EE1885-6AF9-4EA8-A7B4-957AE91B5E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34" name="Arc 98">
                  <a:extLst>
                    <a:ext uri="{FF2B5EF4-FFF2-40B4-BE49-F238E27FC236}">
                      <a16:creationId xmlns:a16="http://schemas.microsoft.com/office/drawing/2014/main" id="{93AD5EF4-A785-4A9B-B1D7-A5F915050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24" name="Group 99">
                <a:extLst>
                  <a:ext uri="{FF2B5EF4-FFF2-40B4-BE49-F238E27FC236}">
                    <a16:creationId xmlns:a16="http://schemas.microsoft.com/office/drawing/2014/main" id="{90C30935-685A-4016-83BD-1532FC615E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44" y="1638"/>
                <a:ext cx="632" cy="589"/>
                <a:chOff x="2663" y="553"/>
                <a:chExt cx="632" cy="589"/>
              </a:xfrm>
            </p:grpSpPr>
            <p:sp>
              <p:nvSpPr>
                <p:cNvPr id="23629" name="Line 100">
                  <a:extLst>
                    <a:ext uri="{FF2B5EF4-FFF2-40B4-BE49-F238E27FC236}">
                      <a16:creationId xmlns:a16="http://schemas.microsoft.com/office/drawing/2014/main" id="{7CB6D280-7F33-42DF-B3ED-F542D68A5A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30" name="Line 101">
                  <a:extLst>
                    <a:ext uri="{FF2B5EF4-FFF2-40B4-BE49-F238E27FC236}">
                      <a16:creationId xmlns:a16="http://schemas.microsoft.com/office/drawing/2014/main" id="{BA74DBFB-7C6C-42A5-8AB9-71D745EA00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31" name="Arc 102">
                  <a:extLst>
                    <a:ext uri="{FF2B5EF4-FFF2-40B4-BE49-F238E27FC236}">
                      <a16:creationId xmlns:a16="http://schemas.microsoft.com/office/drawing/2014/main" id="{9B9C08D4-C420-446D-BDF8-862BF2DF7E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625" name="Group 103">
                <a:extLst>
                  <a:ext uri="{FF2B5EF4-FFF2-40B4-BE49-F238E27FC236}">
                    <a16:creationId xmlns:a16="http://schemas.microsoft.com/office/drawing/2014/main" id="{D69796E4-F248-4E2A-B249-732982C0C4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 flipV="1">
                <a:off x="3421" y="1638"/>
                <a:ext cx="632" cy="589"/>
                <a:chOff x="2663" y="553"/>
                <a:chExt cx="632" cy="589"/>
              </a:xfrm>
            </p:grpSpPr>
            <p:sp>
              <p:nvSpPr>
                <p:cNvPr id="23626" name="Line 104">
                  <a:extLst>
                    <a:ext uri="{FF2B5EF4-FFF2-40B4-BE49-F238E27FC236}">
                      <a16:creationId xmlns:a16="http://schemas.microsoft.com/office/drawing/2014/main" id="{5E6CBF9E-E456-40E9-B9BA-C381A0E365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7" name="Line 105">
                  <a:extLst>
                    <a:ext uri="{FF2B5EF4-FFF2-40B4-BE49-F238E27FC236}">
                      <a16:creationId xmlns:a16="http://schemas.microsoft.com/office/drawing/2014/main" id="{DAF423A6-570F-47FD-9BA7-6E20AFCC1C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8" name="Arc 106">
                  <a:extLst>
                    <a:ext uri="{FF2B5EF4-FFF2-40B4-BE49-F238E27FC236}">
                      <a16:creationId xmlns:a16="http://schemas.microsoft.com/office/drawing/2014/main" id="{129E6230-93C9-484B-9A21-55294A6390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3607" name="Group 151">
              <a:extLst>
                <a:ext uri="{FF2B5EF4-FFF2-40B4-BE49-F238E27FC236}">
                  <a16:creationId xmlns:a16="http://schemas.microsoft.com/office/drawing/2014/main" id="{4CF38314-BB6E-41FD-8637-4B65A9BC1E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5" y="2994"/>
              <a:ext cx="109" cy="521"/>
              <a:chOff x="6759" y="708"/>
              <a:chExt cx="273" cy="1302"/>
            </a:xfrm>
          </p:grpSpPr>
          <p:sp>
            <p:nvSpPr>
              <p:cNvPr id="23620" name="Line 152">
                <a:extLst>
                  <a:ext uri="{FF2B5EF4-FFF2-40B4-BE49-F238E27FC236}">
                    <a16:creationId xmlns:a16="http://schemas.microsoft.com/office/drawing/2014/main" id="{FF046308-1665-4610-9DC3-6DBD44878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32" y="708"/>
                <a:ext cx="0" cy="130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21" name="Line 153">
                <a:extLst>
                  <a:ext uri="{FF2B5EF4-FFF2-40B4-BE49-F238E27FC236}">
                    <a16:creationId xmlns:a16="http://schemas.microsoft.com/office/drawing/2014/main" id="{30509B4F-2627-4469-965B-90A9C41CE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759" y="1204"/>
                <a:ext cx="25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08" name="Line 154">
              <a:extLst>
                <a:ext uri="{FF2B5EF4-FFF2-40B4-BE49-F238E27FC236}">
                  <a16:creationId xmlns:a16="http://schemas.microsoft.com/office/drawing/2014/main" id="{A6564588-0486-4E69-AA46-8BAD1FB6D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8" y="2982"/>
              <a:ext cx="1" cy="5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9" name="Line 155">
              <a:extLst>
                <a:ext uri="{FF2B5EF4-FFF2-40B4-BE49-F238E27FC236}">
                  <a16:creationId xmlns:a16="http://schemas.microsoft.com/office/drawing/2014/main" id="{5C2983BA-9EDB-4BFA-93F3-CA5082272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9" y="3341"/>
              <a:ext cx="1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610" name="Group 156">
              <a:extLst>
                <a:ext uri="{FF2B5EF4-FFF2-40B4-BE49-F238E27FC236}">
                  <a16:creationId xmlns:a16="http://schemas.microsoft.com/office/drawing/2014/main" id="{81EB7AE7-A11D-4CAB-86A7-F8016C0948A7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3047" y="3152"/>
              <a:ext cx="92" cy="124"/>
              <a:chOff x="5205" y="1824"/>
              <a:chExt cx="231" cy="310"/>
            </a:xfrm>
          </p:grpSpPr>
          <p:sp>
            <p:nvSpPr>
              <p:cNvPr id="23618" name="Line 157">
                <a:extLst>
                  <a:ext uri="{FF2B5EF4-FFF2-40B4-BE49-F238E27FC236}">
                    <a16:creationId xmlns:a16="http://schemas.microsoft.com/office/drawing/2014/main" id="{FF009A40-5D47-432D-BEA8-ACC055AE9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31" y="1824"/>
                <a:ext cx="1" cy="3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9" name="Line 158">
                <a:extLst>
                  <a:ext uri="{FF2B5EF4-FFF2-40B4-BE49-F238E27FC236}">
                    <a16:creationId xmlns:a16="http://schemas.microsoft.com/office/drawing/2014/main" id="{FBADFFEF-F77F-4CFA-BBF0-D5E2EADA58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5" y="1855"/>
                <a:ext cx="2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611" name="Group 159">
              <a:extLst>
                <a:ext uri="{FF2B5EF4-FFF2-40B4-BE49-F238E27FC236}">
                  <a16:creationId xmlns:a16="http://schemas.microsoft.com/office/drawing/2014/main" id="{A5BEE63A-9DE9-46A3-A458-3A7741AC408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610" y="3251"/>
              <a:ext cx="92" cy="124"/>
              <a:chOff x="5205" y="1824"/>
              <a:chExt cx="231" cy="310"/>
            </a:xfrm>
          </p:grpSpPr>
          <p:sp>
            <p:nvSpPr>
              <p:cNvPr id="23616" name="Line 160">
                <a:extLst>
                  <a:ext uri="{FF2B5EF4-FFF2-40B4-BE49-F238E27FC236}">
                    <a16:creationId xmlns:a16="http://schemas.microsoft.com/office/drawing/2014/main" id="{FA89CB01-9BA8-4ACB-8B23-D6BD5687C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31" y="1824"/>
                <a:ext cx="1" cy="3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7" name="Line 161">
                <a:extLst>
                  <a:ext uri="{FF2B5EF4-FFF2-40B4-BE49-F238E27FC236}">
                    <a16:creationId xmlns:a16="http://schemas.microsoft.com/office/drawing/2014/main" id="{A27AB5D5-AFA7-4E0A-9A0D-C4AC22273C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5" y="1855"/>
                <a:ext cx="2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12" name="Line 162">
              <a:extLst>
                <a:ext uri="{FF2B5EF4-FFF2-40B4-BE49-F238E27FC236}">
                  <a16:creationId xmlns:a16="http://schemas.microsoft.com/office/drawing/2014/main" id="{97283AE7-60AA-4A79-A369-4A1D95B50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3279"/>
              <a:ext cx="67" cy="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3" name="Line 163">
              <a:extLst>
                <a:ext uri="{FF2B5EF4-FFF2-40B4-BE49-F238E27FC236}">
                  <a16:creationId xmlns:a16="http://schemas.microsoft.com/office/drawing/2014/main" id="{C410573C-83BB-4606-918E-993A14731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8" y="3279"/>
              <a:ext cx="67" cy="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4" name="Line 164">
              <a:extLst>
                <a:ext uri="{FF2B5EF4-FFF2-40B4-BE49-F238E27FC236}">
                  <a16:creationId xmlns:a16="http://schemas.microsoft.com/office/drawing/2014/main" id="{72D8C5A0-B980-40F9-8A80-FF507A1A02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55" y="3205"/>
              <a:ext cx="84" cy="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5" name="Line 165">
              <a:extLst>
                <a:ext uri="{FF2B5EF4-FFF2-40B4-BE49-F238E27FC236}">
                  <a16:creationId xmlns:a16="http://schemas.microsoft.com/office/drawing/2014/main" id="{13E75306-2601-47C0-9BAA-2962C9AE73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0" y="3168"/>
              <a:ext cx="67" cy="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710" name="Group 186">
            <a:extLst>
              <a:ext uri="{FF2B5EF4-FFF2-40B4-BE49-F238E27FC236}">
                <a16:creationId xmlns:a16="http://schemas.microsoft.com/office/drawing/2014/main" id="{760EBF6A-2426-43A3-9457-6334156FC6E8}"/>
              </a:ext>
            </a:extLst>
          </p:cNvPr>
          <p:cNvGrpSpPr>
            <a:grpSpLocks/>
          </p:cNvGrpSpPr>
          <p:nvPr/>
        </p:nvGrpSpPr>
        <p:grpSpPr bwMode="auto">
          <a:xfrm>
            <a:off x="6218238" y="4778375"/>
            <a:ext cx="1377950" cy="1079500"/>
            <a:chOff x="3690" y="2932"/>
            <a:chExt cx="732" cy="670"/>
          </a:xfrm>
        </p:grpSpPr>
        <p:grpSp>
          <p:nvGrpSpPr>
            <p:cNvPr id="23574" name="Group 107">
              <a:extLst>
                <a:ext uri="{FF2B5EF4-FFF2-40B4-BE49-F238E27FC236}">
                  <a16:creationId xmlns:a16="http://schemas.microsoft.com/office/drawing/2014/main" id="{FEF33501-5885-4E39-A744-C276B0B44E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0" y="2932"/>
              <a:ext cx="732" cy="670"/>
              <a:chOff x="2244" y="553"/>
              <a:chExt cx="1830" cy="1674"/>
            </a:xfrm>
          </p:grpSpPr>
          <p:grpSp>
            <p:nvGrpSpPr>
              <p:cNvPr id="23590" name="Group 108">
                <a:extLst>
                  <a:ext uri="{FF2B5EF4-FFF2-40B4-BE49-F238E27FC236}">
                    <a16:creationId xmlns:a16="http://schemas.microsoft.com/office/drawing/2014/main" id="{A7F9B424-7EF4-4CA7-9C55-4BB3AA76A8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65" y="553"/>
                <a:ext cx="632" cy="589"/>
                <a:chOff x="2663" y="553"/>
                <a:chExt cx="632" cy="589"/>
              </a:xfrm>
            </p:grpSpPr>
            <p:sp>
              <p:nvSpPr>
                <p:cNvPr id="23603" name="Line 109">
                  <a:extLst>
                    <a:ext uri="{FF2B5EF4-FFF2-40B4-BE49-F238E27FC236}">
                      <a16:creationId xmlns:a16="http://schemas.microsoft.com/office/drawing/2014/main" id="{20BD6EB9-50CB-44A8-91B0-3EE36CDEAE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4" name="Line 110">
                  <a:extLst>
                    <a:ext uri="{FF2B5EF4-FFF2-40B4-BE49-F238E27FC236}">
                      <a16:creationId xmlns:a16="http://schemas.microsoft.com/office/drawing/2014/main" id="{57475006-93B4-4579-9741-3ACB6CA810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5" name="Arc 111">
                  <a:extLst>
                    <a:ext uri="{FF2B5EF4-FFF2-40B4-BE49-F238E27FC236}">
                      <a16:creationId xmlns:a16="http://schemas.microsoft.com/office/drawing/2014/main" id="{241C1FDF-3E2D-4428-A4FF-8D039F34CD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91" name="Group 112">
                <a:extLst>
                  <a:ext uri="{FF2B5EF4-FFF2-40B4-BE49-F238E27FC236}">
                    <a16:creationId xmlns:a16="http://schemas.microsoft.com/office/drawing/2014/main" id="{4898F71B-FF9C-4B34-AD3F-1FC637543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442" y="553"/>
                <a:ext cx="632" cy="589"/>
                <a:chOff x="2663" y="553"/>
                <a:chExt cx="632" cy="589"/>
              </a:xfrm>
            </p:grpSpPr>
            <p:sp>
              <p:nvSpPr>
                <p:cNvPr id="23600" name="Line 113">
                  <a:extLst>
                    <a:ext uri="{FF2B5EF4-FFF2-40B4-BE49-F238E27FC236}">
                      <a16:creationId xmlns:a16="http://schemas.microsoft.com/office/drawing/2014/main" id="{9DCCA869-5E2A-483C-B301-932AA04C55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1" name="Line 114">
                  <a:extLst>
                    <a:ext uri="{FF2B5EF4-FFF2-40B4-BE49-F238E27FC236}">
                      <a16:creationId xmlns:a16="http://schemas.microsoft.com/office/drawing/2014/main" id="{B14A306C-759F-462B-88FC-3B56994973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02" name="Arc 115">
                  <a:extLst>
                    <a:ext uri="{FF2B5EF4-FFF2-40B4-BE49-F238E27FC236}">
                      <a16:creationId xmlns:a16="http://schemas.microsoft.com/office/drawing/2014/main" id="{643E74AA-F2FD-44EE-A747-AA48CE2A5D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92" name="Group 116">
                <a:extLst>
                  <a:ext uri="{FF2B5EF4-FFF2-40B4-BE49-F238E27FC236}">
                    <a16:creationId xmlns:a16="http://schemas.microsoft.com/office/drawing/2014/main" id="{CEEFDFEB-1DE7-4ECE-B19C-69AD71C3D1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2244" y="1638"/>
                <a:ext cx="632" cy="589"/>
                <a:chOff x="2663" y="553"/>
                <a:chExt cx="632" cy="589"/>
              </a:xfrm>
            </p:grpSpPr>
            <p:sp>
              <p:nvSpPr>
                <p:cNvPr id="23597" name="Line 117">
                  <a:extLst>
                    <a:ext uri="{FF2B5EF4-FFF2-40B4-BE49-F238E27FC236}">
                      <a16:creationId xmlns:a16="http://schemas.microsoft.com/office/drawing/2014/main" id="{BD425D2C-E159-4D0B-A3DF-10F3FA2860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8" name="Line 118">
                  <a:extLst>
                    <a:ext uri="{FF2B5EF4-FFF2-40B4-BE49-F238E27FC236}">
                      <a16:creationId xmlns:a16="http://schemas.microsoft.com/office/drawing/2014/main" id="{5085F053-F950-485B-BACE-3A2C5F003A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9" name="Arc 119">
                  <a:extLst>
                    <a:ext uri="{FF2B5EF4-FFF2-40B4-BE49-F238E27FC236}">
                      <a16:creationId xmlns:a16="http://schemas.microsoft.com/office/drawing/2014/main" id="{31B9EE7E-8B7C-4FDE-9463-B7205B1138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593" name="Group 120">
                <a:extLst>
                  <a:ext uri="{FF2B5EF4-FFF2-40B4-BE49-F238E27FC236}">
                    <a16:creationId xmlns:a16="http://schemas.microsoft.com/office/drawing/2014/main" id="{3D33BD72-82F5-4991-8364-95646FFD37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 flipV="1">
                <a:off x="3421" y="1638"/>
                <a:ext cx="632" cy="589"/>
                <a:chOff x="2663" y="553"/>
                <a:chExt cx="632" cy="589"/>
              </a:xfrm>
            </p:grpSpPr>
            <p:sp>
              <p:nvSpPr>
                <p:cNvPr id="23594" name="Line 121">
                  <a:extLst>
                    <a:ext uri="{FF2B5EF4-FFF2-40B4-BE49-F238E27FC236}">
                      <a16:creationId xmlns:a16="http://schemas.microsoft.com/office/drawing/2014/main" id="{0EB06AC7-3494-4D44-AF7E-030C85D6B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94" y="553"/>
                  <a:ext cx="1" cy="40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5" name="Line 122">
                  <a:extLst>
                    <a:ext uri="{FF2B5EF4-FFF2-40B4-BE49-F238E27FC236}">
                      <a16:creationId xmlns:a16="http://schemas.microsoft.com/office/drawing/2014/main" id="{417D605E-8AC5-4950-8FDD-F289DA4D15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3" y="1142"/>
                  <a:ext cx="484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6" name="Arc 123">
                  <a:extLst>
                    <a:ext uri="{FF2B5EF4-FFF2-40B4-BE49-F238E27FC236}">
                      <a16:creationId xmlns:a16="http://schemas.microsoft.com/office/drawing/2014/main" id="{15279B83-8363-4283-94C4-24CF8E7613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3147" y="957"/>
                  <a:ext cx="147" cy="18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3575" name="Group 166">
              <a:extLst>
                <a:ext uri="{FF2B5EF4-FFF2-40B4-BE49-F238E27FC236}">
                  <a16:creationId xmlns:a16="http://schemas.microsoft.com/office/drawing/2014/main" id="{572C084F-E6BE-45B5-B164-11DFC15BF9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9" y="2969"/>
              <a:ext cx="75" cy="124"/>
              <a:chOff x="4932" y="646"/>
              <a:chExt cx="189" cy="310"/>
            </a:xfrm>
          </p:grpSpPr>
          <p:sp>
            <p:nvSpPr>
              <p:cNvPr id="23588" name="Line 167">
                <a:extLst>
                  <a:ext uri="{FF2B5EF4-FFF2-40B4-BE49-F238E27FC236}">
                    <a16:creationId xmlns:a16="http://schemas.microsoft.com/office/drawing/2014/main" id="{AC811683-57F0-4595-B0E0-A2FEEAC2D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16" y="646"/>
                <a:ext cx="1" cy="3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9" name="Line 168">
                <a:extLst>
                  <a:ext uri="{FF2B5EF4-FFF2-40B4-BE49-F238E27FC236}">
                    <a16:creationId xmlns:a16="http://schemas.microsoft.com/office/drawing/2014/main" id="{524D2377-8771-4AAE-9E83-D774E92A92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2" y="925"/>
                <a:ext cx="189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76" name="Group 169">
              <a:extLst>
                <a:ext uri="{FF2B5EF4-FFF2-40B4-BE49-F238E27FC236}">
                  <a16:creationId xmlns:a16="http://schemas.microsoft.com/office/drawing/2014/main" id="{69B8C23C-CBEA-44E4-B0C6-DAAB9DC825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8" y="3440"/>
              <a:ext cx="92" cy="124"/>
              <a:chOff x="5205" y="1824"/>
              <a:chExt cx="231" cy="310"/>
            </a:xfrm>
          </p:grpSpPr>
          <p:sp>
            <p:nvSpPr>
              <p:cNvPr id="23586" name="Line 170">
                <a:extLst>
                  <a:ext uri="{FF2B5EF4-FFF2-40B4-BE49-F238E27FC236}">
                    <a16:creationId xmlns:a16="http://schemas.microsoft.com/office/drawing/2014/main" id="{63C6004F-0970-4EC1-8486-569AF8A9F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31" y="1824"/>
                <a:ext cx="1" cy="3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7" name="Line 171">
                <a:extLst>
                  <a:ext uri="{FF2B5EF4-FFF2-40B4-BE49-F238E27FC236}">
                    <a16:creationId xmlns:a16="http://schemas.microsoft.com/office/drawing/2014/main" id="{DFEA5667-6CBE-4E25-9561-BBE450C867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5" y="1855"/>
                <a:ext cx="2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77" name="Group 172">
              <a:extLst>
                <a:ext uri="{FF2B5EF4-FFF2-40B4-BE49-F238E27FC236}">
                  <a16:creationId xmlns:a16="http://schemas.microsoft.com/office/drawing/2014/main" id="{99A9F34D-AD2A-4B45-A811-706F22507C40}"/>
                </a:ext>
              </a:extLst>
            </p:cNvPr>
            <p:cNvGrpSpPr>
              <a:grpSpLocks/>
            </p:cNvGrpSpPr>
            <p:nvPr/>
          </p:nvGrpSpPr>
          <p:grpSpPr bwMode="auto">
            <a:xfrm rot="-5400000">
              <a:off x="4255" y="3164"/>
              <a:ext cx="92" cy="124"/>
              <a:chOff x="5205" y="1824"/>
              <a:chExt cx="231" cy="310"/>
            </a:xfrm>
          </p:grpSpPr>
          <p:sp>
            <p:nvSpPr>
              <p:cNvPr id="23584" name="Line 173">
                <a:extLst>
                  <a:ext uri="{FF2B5EF4-FFF2-40B4-BE49-F238E27FC236}">
                    <a16:creationId xmlns:a16="http://schemas.microsoft.com/office/drawing/2014/main" id="{49E6EDB4-EE1D-421C-BEE1-965D481682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31" y="1824"/>
                <a:ext cx="1" cy="3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5" name="Line 174">
                <a:extLst>
                  <a:ext uri="{FF2B5EF4-FFF2-40B4-BE49-F238E27FC236}">
                    <a16:creationId xmlns:a16="http://schemas.microsoft.com/office/drawing/2014/main" id="{A2162AA0-5625-43B4-8263-889B26403D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5" y="1855"/>
                <a:ext cx="2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78" name="Group 175">
              <a:extLst>
                <a:ext uri="{FF2B5EF4-FFF2-40B4-BE49-F238E27FC236}">
                  <a16:creationId xmlns:a16="http://schemas.microsoft.com/office/drawing/2014/main" id="{CE64BDB1-E61F-4283-AF91-9B48EBF6B2E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783" y="3251"/>
              <a:ext cx="92" cy="124"/>
              <a:chOff x="5205" y="1824"/>
              <a:chExt cx="231" cy="310"/>
            </a:xfrm>
          </p:grpSpPr>
          <p:sp>
            <p:nvSpPr>
              <p:cNvPr id="23582" name="Line 176">
                <a:extLst>
                  <a:ext uri="{FF2B5EF4-FFF2-40B4-BE49-F238E27FC236}">
                    <a16:creationId xmlns:a16="http://schemas.microsoft.com/office/drawing/2014/main" id="{671B2938-BBF5-4216-B130-ECF6E89BC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31" y="1824"/>
                <a:ext cx="1" cy="3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3" name="Line 177">
                <a:extLst>
                  <a:ext uri="{FF2B5EF4-FFF2-40B4-BE49-F238E27FC236}">
                    <a16:creationId xmlns:a16="http://schemas.microsoft.com/office/drawing/2014/main" id="{524738AB-8961-46DB-992B-2B184FA7C2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05" y="1855"/>
                <a:ext cx="231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79" name="Group 178">
              <a:extLst>
                <a:ext uri="{FF2B5EF4-FFF2-40B4-BE49-F238E27FC236}">
                  <a16:creationId xmlns:a16="http://schemas.microsoft.com/office/drawing/2014/main" id="{BA3B6CD6-AB21-4EFB-862F-2E3F58BD4B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8" y="3031"/>
              <a:ext cx="369" cy="459"/>
              <a:chOff x="8670" y="801"/>
              <a:chExt cx="924" cy="1147"/>
            </a:xfrm>
          </p:grpSpPr>
          <p:sp>
            <p:nvSpPr>
              <p:cNvPr id="23580" name="Line 179">
                <a:extLst>
                  <a:ext uri="{FF2B5EF4-FFF2-40B4-BE49-F238E27FC236}">
                    <a16:creationId xmlns:a16="http://schemas.microsoft.com/office/drawing/2014/main" id="{6D0F8603-0F31-4240-8B57-C3F11AB9B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670" y="1266"/>
                <a:ext cx="525" cy="68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1" name="Line 180">
                <a:extLst>
                  <a:ext uri="{FF2B5EF4-FFF2-40B4-BE49-F238E27FC236}">
                    <a16:creationId xmlns:a16="http://schemas.microsoft.com/office/drawing/2014/main" id="{6382824C-A839-42A7-BE24-BDC9B4911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090" y="801"/>
                <a:ext cx="504" cy="7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58901" name="Text Box 181">
            <a:extLst>
              <a:ext uri="{FF2B5EF4-FFF2-40B4-BE49-F238E27FC236}">
                <a16:creationId xmlns:a16="http://schemas.microsoft.com/office/drawing/2014/main" id="{94963C08-48B5-435F-B56B-21C3D168F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959475"/>
            <a:ext cx="9112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b="1"/>
              <a:t>相位</a:t>
            </a:r>
            <a:r>
              <a:rPr lang="en-US" altLang="zh-CN" sz="2000" b="1"/>
              <a:t>A</a:t>
            </a:r>
          </a:p>
        </p:txBody>
      </p:sp>
      <p:sp>
        <p:nvSpPr>
          <p:cNvPr id="158902" name="Text Box 182">
            <a:extLst>
              <a:ext uri="{FF2B5EF4-FFF2-40B4-BE49-F238E27FC236}">
                <a16:creationId xmlns:a16="http://schemas.microsoft.com/office/drawing/2014/main" id="{CCBE677C-71EB-4572-881F-8F8D5AA85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5959475"/>
            <a:ext cx="9112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b="1"/>
              <a:t>相位</a:t>
            </a:r>
            <a:r>
              <a:rPr lang="en-US" altLang="zh-CN" sz="2000" b="1"/>
              <a:t>B</a:t>
            </a:r>
          </a:p>
        </p:txBody>
      </p:sp>
      <p:sp>
        <p:nvSpPr>
          <p:cNvPr id="158903" name="Text Box 183">
            <a:extLst>
              <a:ext uri="{FF2B5EF4-FFF2-40B4-BE49-F238E27FC236}">
                <a16:creationId xmlns:a16="http://schemas.microsoft.com/office/drawing/2014/main" id="{ED4FADEF-5C33-42B5-8EF5-179189A4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7400" y="5959475"/>
            <a:ext cx="9112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b="1"/>
              <a:t>相位</a:t>
            </a:r>
            <a:r>
              <a:rPr lang="en-US" altLang="zh-CN" sz="2000" b="1"/>
              <a:t>C</a:t>
            </a:r>
          </a:p>
        </p:txBody>
      </p:sp>
      <p:sp>
        <p:nvSpPr>
          <p:cNvPr id="158904" name="Text Box 184">
            <a:extLst>
              <a:ext uri="{FF2B5EF4-FFF2-40B4-BE49-F238E27FC236}">
                <a16:creationId xmlns:a16="http://schemas.microsoft.com/office/drawing/2014/main" id="{5EA5FD2B-39F5-4393-AB49-0D397AD71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25" y="5940425"/>
            <a:ext cx="91122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000" b="1"/>
              <a:t>相位</a:t>
            </a:r>
            <a:r>
              <a:rPr lang="en-US" altLang="zh-CN" sz="2000" b="1"/>
              <a:t>D</a:t>
            </a:r>
          </a:p>
        </p:txBody>
      </p:sp>
      <p:sp>
        <p:nvSpPr>
          <p:cNvPr id="158909" name="Rectangle 189">
            <a:extLst>
              <a:ext uri="{FF2B5EF4-FFF2-40B4-BE49-F238E27FC236}">
                <a16:creationId xmlns:a16="http://schemas.microsoft.com/office/drawing/2014/main" id="{60DB21DE-32A2-445C-9E55-A124583D5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005263"/>
            <a:ext cx="4379913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信号灯控制采用</a:t>
            </a:r>
            <a:r>
              <a:rPr lang="en-US" altLang="zh-CN" sz="2800" b="1"/>
              <a:t>4</a:t>
            </a:r>
            <a:r>
              <a:rPr lang="zh-CN" altLang="en-US" sz="2800" b="1"/>
              <a:t>相位方案 </a:t>
            </a:r>
          </a:p>
        </p:txBody>
      </p:sp>
      <p:sp>
        <p:nvSpPr>
          <p:cNvPr id="158910" name="Rectangle 190">
            <a:extLst>
              <a:ext uri="{FF2B5EF4-FFF2-40B4-BE49-F238E27FC236}">
                <a16:creationId xmlns:a16="http://schemas.microsoft.com/office/drawing/2014/main" id="{30D93188-203B-4869-A4C9-9A59F5AD3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2773362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典型的十字路口 </a:t>
            </a:r>
          </a:p>
        </p:txBody>
      </p:sp>
      <p:sp>
        <p:nvSpPr>
          <p:cNvPr id="158911" name="Rectangle 191">
            <a:extLst>
              <a:ext uri="{FF2B5EF4-FFF2-40B4-BE49-F238E27FC236}">
                <a16:creationId xmlns:a16="http://schemas.microsoft.com/office/drawing/2014/main" id="{515FEAA4-2FFB-4273-99C3-8871B0F1F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700213"/>
            <a:ext cx="38163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东西方向有</a:t>
            </a:r>
            <a:r>
              <a:rPr lang="en-US" altLang="zh-CN" sz="2800" b="1"/>
              <a:t>3</a:t>
            </a:r>
            <a:r>
              <a:rPr lang="zh-CN" altLang="en-US" sz="2800" b="1"/>
              <a:t>条车道：左转、直行、直右混行 </a:t>
            </a:r>
          </a:p>
        </p:txBody>
      </p:sp>
      <p:sp>
        <p:nvSpPr>
          <p:cNvPr id="158912" name="Rectangle 192">
            <a:extLst>
              <a:ext uri="{FF2B5EF4-FFF2-40B4-BE49-F238E27FC236}">
                <a16:creationId xmlns:a16="http://schemas.microsoft.com/office/drawing/2014/main" id="{F301E61E-0F59-4471-A8B2-18BFB91EC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781300"/>
            <a:ext cx="35274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南北方向有</a:t>
            </a:r>
            <a:r>
              <a:rPr lang="en-US" altLang="zh-CN" sz="2800" b="1"/>
              <a:t>2</a:t>
            </a:r>
            <a:r>
              <a:rPr lang="zh-CN" altLang="en-US" sz="2800" b="1"/>
              <a:t>条车道：左转、直右混行 </a:t>
            </a:r>
          </a:p>
        </p:txBody>
      </p:sp>
      <p:graphicFrame>
        <p:nvGraphicFramePr>
          <p:cNvPr id="23573" name="Object 193">
            <a:extLst>
              <a:ext uri="{FF2B5EF4-FFF2-40B4-BE49-F238E27FC236}">
                <a16:creationId xmlns:a16="http://schemas.microsoft.com/office/drawing/2014/main" id="{0730371F-40D0-4EEF-835C-53B5BE6991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549275"/>
          <a:ext cx="16002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1" name="Clip" r:id="rId3" imgW="6545263" imgH="1706563" progId="MS_ClipArt_Gallery.2">
                  <p:embed/>
                </p:oleObj>
              </mc:Choice>
              <mc:Fallback>
                <p:oleObj name="Clip" r:id="rId3" imgW="6545263" imgH="1706563" progId="MS_ClipArt_Gallery.2">
                  <p:embed/>
                  <p:pic>
                    <p:nvPicPr>
                      <p:cNvPr id="0" name="Object 1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549275"/>
                        <a:ext cx="16002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8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8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8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58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901" grpId="0"/>
      <p:bldP spid="158902" grpId="0"/>
      <p:bldP spid="158903" grpId="0"/>
      <p:bldP spid="158904" grpId="0"/>
      <p:bldP spid="158909" grpId="0" animBg="1"/>
      <p:bldP spid="158910" grpId="0" animBg="1"/>
      <p:bldP spid="158911" grpId="0"/>
      <p:bldP spid="1589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10">
            <a:extLst>
              <a:ext uri="{FF2B5EF4-FFF2-40B4-BE49-F238E27FC236}">
                <a16:creationId xmlns:a16="http://schemas.microsoft.com/office/drawing/2014/main" id="{004CBC2F-7F78-4916-A588-A70E9A7A27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92950" y="549275"/>
          <a:ext cx="16002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7" name="Clip" r:id="rId3" imgW="6545263" imgH="1706563" progId="MS_ClipArt_Gallery.2">
                  <p:embed/>
                </p:oleObj>
              </mc:Choice>
              <mc:Fallback>
                <p:oleObj name="Clip" r:id="rId3" imgW="6545263" imgH="1706563" progId="MS_ClipArt_Gallery.2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549275"/>
                        <a:ext cx="16002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13" name="Rectangle 17">
            <a:extLst>
              <a:ext uri="{FF2B5EF4-FFF2-40B4-BE49-F238E27FC236}">
                <a16:creationId xmlns:a16="http://schemas.microsoft.com/office/drawing/2014/main" id="{297A78B9-1CF7-43A8-B4F8-350182FB1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997200"/>
            <a:ext cx="4967287" cy="1073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某一相位下每小时通过停止线的最大车辆数</a:t>
            </a:r>
            <a:r>
              <a:rPr lang="en-US" altLang="zh-CN" sz="2800" b="1"/>
              <a:t>(</a:t>
            </a:r>
            <a:r>
              <a:rPr lang="zh-CN" altLang="en-US" sz="2800" b="1"/>
              <a:t>单行道</a:t>
            </a:r>
            <a:r>
              <a:rPr lang="en-US" altLang="zh-CN" sz="2800" b="1"/>
              <a:t>) </a:t>
            </a:r>
            <a:r>
              <a:rPr lang="en-US" altLang="zh-CN" sz="2800" b="1" i="1"/>
              <a:t>S</a:t>
            </a:r>
            <a:r>
              <a:rPr lang="en-US" altLang="zh-CN" sz="2800" b="1"/>
              <a:t> (</a:t>
            </a:r>
            <a:r>
              <a:rPr lang="zh-CN" altLang="en-US" sz="2800" b="1"/>
              <a:t>辆</a:t>
            </a:r>
            <a:r>
              <a:rPr lang="en-US" altLang="zh-CN" sz="2800" b="1"/>
              <a:t>/h) </a:t>
            </a:r>
          </a:p>
        </p:txBody>
      </p:sp>
      <p:sp>
        <p:nvSpPr>
          <p:cNvPr id="24580" name="Rectangle 18">
            <a:extLst>
              <a:ext uri="{FF2B5EF4-FFF2-40B4-BE49-F238E27FC236}">
                <a16:creationId xmlns:a16="http://schemas.microsoft.com/office/drawing/2014/main" id="{9609D00B-DA50-40A0-8CD9-A3089D535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61214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信号灯控制的十字路口的通行能力</a:t>
            </a:r>
          </a:p>
        </p:txBody>
      </p:sp>
      <p:sp>
        <p:nvSpPr>
          <p:cNvPr id="157715" name="Rectangle 19">
            <a:extLst>
              <a:ext uri="{FF2B5EF4-FFF2-40B4-BE49-F238E27FC236}">
                <a16:creationId xmlns:a16="http://schemas.microsoft.com/office/drawing/2014/main" id="{397896DE-D0CD-4987-80D4-B34BB9A90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317625"/>
            <a:ext cx="8280400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假设红灯时车辆在停止线后排成一列等待，绿灯后第</a:t>
            </a:r>
            <a:r>
              <a:rPr lang="en-US" altLang="zh-CN" sz="2800" b="1"/>
              <a:t>1</a:t>
            </a:r>
            <a:r>
              <a:rPr lang="zh-CN" altLang="en-US" sz="2800" b="1"/>
              <a:t>辆车立即启动通过停止线，其余车辆按照固定时间间隔通过停止线</a:t>
            </a:r>
            <a:r>
              <a:rPr lang="en-US" altLang="zh-CN" sz="2800" b="1"/>
              <a:t>. </a:t>
            </a:r>
          </a:p>
        </p:txBody>
      </p:sp>
      <p:sp>
        <p:nvSpPr>
          <p:cNvPr id="157716" name="Rectangle 20">
            <a:extLst>
              <a:ext uri="{FF2B5EF4-FFF2-40B4-BE49-F238E27FC236}">
                <a16:creationId xmlns:a16="http://schemas.microsoft.com/office/drawing/2014/main" id="{C39230B1-C53D-448A-AC5D-1F2C01A16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149725"/>
            <a:ext cx="835342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 i="1"/>
              <a:t>T</a:t>
            </a:r>
            <a:r>
              <a:rPr lang="en-US" altLang="zh-CN" sz="2800" b="1"/>
              <a:t>(s)~</a:t>
            </a:r>
            <a:r>
              <a:rPr lang="zh-CN" altLang="en-US" sz="2800" b="1"/>
              <a:t>信号灯周期， </a:t>
            </a:r>
            <a:r>
              <a:rPr lang="en-US" altLang="zh-CN" sz="2800" b="1" i="1"/>
              <a:t>t</a:t>
            </a:r>
            <a:r>
              <a:rPr lang="en-US" altLang="zh-CN" sz="2800" b="1" i="1" baseline="-25000"/>
              <a:t>g</a:t>
            </a:r>
            <a:r>
              <a:rPr lang="en-US" altLang="zh-CN" sz="2800" b="1"/>
              <a:t>(s)~</a:t>
            </a:r>
            <a:r>
              <a:rPr lang="zh-CN" altLang="en-US" sz="2800" b="1"/>
              <a:t>某相位的绿灯时间</a:t>
            </a:r>
            <a:r>
              <a:rPr lang="en-US" altLang="zh-CN" sz="2800" b="1"/>
              <a:t>.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i="1"/>
              <a:t>t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(s)~</a:t>
            </a:r>
            <a:r>
              <a:rPr lang="zh-CN" altLang="en-US" sz="2800" b="1"/>
              <a:t>绿灯后第</a:t>
            </a:r>
            <a:r>
              <a:rPr lang="en-US" altLang="zh-CN" sz="2800" b="1"/>
              <a:t>1</a:t>
            </a:r>
            <a:r>
              <a:rPr lang="zh-CN" altLang="en-US" sz="2800" b="1"/>
              <a:t>辆车通过停止线的时间</a:t>
            </a:r>
            <a:r>
              <a:rPr lang="en-US" altLang="zh-CN" sz="2800" b="1"/>
              <a:t>.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800" b="1" i="1"/>
              <a:t>t</a:t>
            </a:r>
            <a:r>
              <a:rPr lang="en-US" altLang="zh-CN" sz="2800" b="1" i="1" baseline="-25000"/>
              <a:t>s</a:t>
            </a:r>
            <a:r>
              <a:rPr lang="en-US" altLang="zh-CN" sz="2800" b="1"/>
              <a:t>(s)~</a:t>
            </a:r>
            <a:r>
              <a:rPr lang="zh-CN" altLang="en-US" sz="2800" b="1"/>
              <a:t>直行或右转车辆通过停止线的时间</a:t>
            </a:r>
            <a:r>
              <a:rPr lang="en-US" altLang="zh-CN" sz="2800" b="1"/>
              <a:t>.</a:t>
            </a:r>
          </a:p>
        </p:txBody>
      </p:sp>
      <p:sp>
        <p:nvSpPr>
          <p:cNvPr id="24583" name="Rectangle 22">
            <a:extLst>
              <a:ext uri="{FF2B5EF4-FFF2-40B4-BE49-F238E27FC236}">
                <a16:creationId xmlns:a16="http://schemas.microsoft.com/office/drawing/2014/main" id="{411CDF4D-325C-4E2C-8074-CB3E9616A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7717" name="Object 21">
            <a:extLst>
              <a:ext uri="{FF2B5EF4-FFF2-40B4-BE49-F238E27FC236}">
                <a16:creationId xmlns:a16="http://schemas.microsoft.com/office/drawing/2014/main" id="{BD6F3D03-E19D-4A3D-AAAD-635CD3BDFB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3068638"/>
          <a:ext cx="31686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公式" r:id="rId5" imgW="1460500" imgH="457200" progId="Equation.3">
                  <p:embed/>
                </p:oleObj>
              </mc:Choice>
              <mc:Fallback>
                <p:oleObj name="公式" r:id="rId5" imgW="1460500" imgH="457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068638"/>
                        <a:ext cx="3168650" cy="99377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>
            <a:extLst>
              <a:ext uri="{FF2B5EF4-FFF2-40B4-BE49-F238E27FC236}">
                <a16:creationId xmlns:a16="http://schemas.microsoft.com/office/drawing/2014/main" id="{A14E05B0-B771-4121-A348-B276333BB5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7213" y="5805488"/>
          <a:ext cx="3429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公式" r:id="rId7" imgW="139579" imgH="164957" progId="Equation.3">
                  <p:embed/>
                </p:oleObj>
              </mc:Choice>
              <mc:Fallback>
                <p:oleObj name="公式" r:id="rId7" imgW="139579" imgH="16495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213" y="5805488"/>
                        <a:ext cx="3429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8" name="Rectangle 12">
            <a:extLst>
              <a:ext uri="{FF2B5EF4-FFF2-40B4-BE49-F238E27FC236}">
                <a16:creationId xmlns:a16="http://schemas.microsoft.com/office/drawing/2014/main" id="{A32A351B-67ED-4A35-9DEE-004116A0A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588" y="5661025"/>
            <a:ext cx="6815137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 i="1"/>
              <a:t>   ~</a:t>
            </a:r>
            <a:r>
              <a:rPr lang="zh-CN" altLang="en-US" sz="2800" b="1"/>
              <a:t>反映车辆通过路口不均匀性的折减系数</a:t>
            </a:r>
            <a:r>
              <a:rPr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7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77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577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3" grpId="0" animBg="1"/>
      <p:bldP spid="157715" grpId="0"/>
      <p:bldP spid="2970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7B2AE93F-3E81-40E2-9CFD-23F2327F4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61214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信号灯控制的十字路口的通行能力</a:t>
            </a:r>
          </a:p>
        </p:txBody>
      </p:sp>
      <p:graphicFrame>
        <p:nvGraphicFramePr>
          <p:cNvPr id="25603" name="Object 6">
            <a:extLst>
              <a:ext uri="{FF2B5EF4-FFF2-40B4-BE49-F238E27FC236}">
                <a16:creationId xmlns:a16="http://schemas.microsoft.com/office/drawing/2014/main" id="{FB6BE276-C06E-47FB-9E92-E14B9E7AB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196975"/>
          <a:ext cx="3168650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8" name="公式" r:id="rId3" imgW="1460500" imgH="457200" progId="Equation.3">
                  <p:embed/>
                </p:oleObj>
              </mc:Choice>
              <mc:Fallback>
                <p:oleObj name="公式" r:id="rId3" imgW="14605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196975"/>
                        <a:ext cx="3168650" cy="99377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2" name="Rectangle 8">
            <a:extLst>
              <a:ext uri="{FF2B5EF4-FFF2-40B4-BE49-F238E27FC236}">
                <a16:creationId xmlns:a16="http://schemas.microsoft.com/office/drawing/2014/main" id="{28B4EE22-59C2-4506-A7F0-0B4E5F223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00438"/>
            <a:ext cx="7067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G</a:t>
            </a:r>
            <a:r>
              <a:rPr lang="en-US" altLang="zh-CN" sz="2800" b="1"/>
              <a:t>=</a:t>
            </a:r>
            <a:r>
              <a:rPr lang="en-US" altLang="zh-CN" sz="2800" b="1" i="1"/>
              <a:t>t</a:t>
            </a:r>
            <a:r>
              <a:rPr lang="en-US" altLang="zh-CN" sz="2800" b="1" i="1" baseline="-30000"/>
              <a:t>g</a:t>
            </a:r>
            <a:r>
              <a:rPr lang="en-US" altLang="zh-CN" sz="2800" b="1"/>
              <a:t>/</a:t>
            </a:r>
            <a:r>
              <a:rPr lang="en-US" altLang="zh-CN" sz="2800" b="1" i="1"/>
              <a:t>T~</a:t>
            </a:r>
            <a:r>
              <a:rPr lang="zh-CN" altLang="en-US" sz="2800" b="1">
                <a:cs typeface="Times New Roman" panose="02020603050405020304" pitchFamily="18" charset="0"/>
              </a:rPr>
              <a:t>绿灯时间与信号灯周期之比</a:t>
            </a:r>
            <a:r>
              <a:rPr lang="en-US" altLang="zh-CN" sz="2800" b="1">
                <a:cs typeface="Times New Roman" panose="02020603050405020304" pitchFamily="18" charset="0"/>
              </a:rPr>
              <a:t>(</a:t>
            </a:r>
            <a:r>
              <a:rPr lang="zh-CN" altLang="en-US" sz="2800" b="1">
                <a:cs typeface="Times New Roman" panose="02020603050405020304" pitchFamily="18" charset="0"/>
              </a:rPr>
              <a:t>绿信比</a:t>
            </a:r>
            <a:r>
              <a:rPr lang="en-US" altLang="zh-CN" sz="2800" b="1">
                <a:cs typeface="Times New Roman" panose="02020603050405020304" pitchFamily="18" charset="0"/>
              </a:rPr>
              <a:t>)</a:t>
            </a:r>
            <a:r>
              <a:rPr lang="en-US" altLang="zh-CN" sz="2800" b="1"/>
              <a:t> </a:t>
            </a:r>
          </a:p>
        </p:txBody>
      </p:sp>
      <p:sp>
        <p:nvSpPr>
          <p:cNvPr id="159753" name="Rectangle 9">
            <a:extLst>
              <a:ext uri="{FF2B5EF4-FFF2-40B4-BE49-F238E27FC236}">
                <a16:creationId xmlns:a16="http://schemas.microsoft.com/office/drawing/2014/main" id="{B597406D-42C1-4EE2-84E6-039D87454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76700"/>
            <a:ext cx="7477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  <a:cs typeface="Times New Roman" panose="02020603050405020304" pitchFamily="18" charset="0"/>
              </a:rPr>
              <a:t>Q</a:t>
            </a:r>
            <a:r>
              <a:rPr lang="en-US" altLang="zh-CN" sz="2800" b="1">
                <a:solidFill>
                  <a:srgbClr val="00000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800" b="1"/>
              <a:t>3600/</a:t>
            </a:r>
            <a:r>
              <a:rPr lang="en-US" altLang="zh-CN" sz="2800" b="1" i="1"/>
              <a:t>t</a:t>
            </a:r>
            <a:r>
              <a:rPr lang="en-US" altLang="zh-CN" sz="2800" b="1" i="1" baseline="-25000"/>
              <a:t>s</a:t>
            </a:r>
            <a:r>
              <a:rPr lang="en-US" altLang="zh-CN" sz="2800" b="1" i="1"/>
              <a:t>~</a:t>
            </a:r>
            <a:r>
              <a:rPr lang="zh-CN" altLang="en-US" sz="2800" b="1"/>
              <a:t>小时流量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按每</a:t>
            </a:r>
            <a:r>
              <a:rPr lang="en-US" altLang="zh-CN" sz="2800" b="1" i="1">
                <a:solidFill>
                  <a:srgbClr val="000000"/>
                </a:solidFill>
              </a:rPr>
              <a:t>t</a:t>
            </a:r>
            <a:r>
              <a:rPr lang="en-US" altLang="zh-CN" sz="2800" b="1" i="1" baseline="-30000">
                <a:solidFill>
                  <a:srgbClr val="000000"/>
                </a:solidFill>
              </a:rPr>
              <a:t>s</a:t>
            </a:r>
            <a:r>
              <a:rPr lang="en-US" altLang="zh-CN" sz="2800" b="1">
                <a:solidFill>
                  <a:srgbClr val="000000"/>
                </a:solidFill>
              </a:rPr>
              <a:t>(s) 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通过一辆车计算</a:t>
            </a:r>
            <a:r>
              <a:rPr lang="en-US" altLang="zh-CN" sz="2800" b="1"/>
              <a:t>)</a:t>
            </a:r>
          </a:p>
        </p:txBody>
      </p:sp>
      <p:graphicFrame>
        <p:nvGraphicFramePr>
          <p:cNvPr id="159754" name="Object 10">
            <a:extLst>
              <a:ext uri="{FF2B5EF4-FFF2-40B4-BE49-F238E27FC236}">
                <a16:creationId xmlns:a16="http://schemas.microsoft.com/office/drawing/2014/main" id="{585E263C-8FF7-4C5E-B7D8-4BFE90AD71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1412875"/>
          <a:ext cx="14366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9" name="公式" r:id="rId5" imgW="469696" imgH="203112" progId="Equation.3">
                  <p:embed/>
                </p:oleObj>
              </mc:Choice>
              <mc:Fallback>
                <p:oleObj name="公式" r:id="rId5" imgW="469696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1412875"/>
                        <a:ext cx="1436688" cy="503238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11">
            <a:extLst>
              <a:ext uri="{FF2B5EF4-FFF2-40B4-BE49-F238E27FC236}">
                <a16:creationId xmlns:a16="http://schemas.microsoft.com/office/drawing/2014/main" id="{C0FE290F-864F-4030-AA71-DD576361C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5538"/>
            <a:ext cx="3132138" cy="1073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每小时通过停止线的最大车辆数</a:t>
            </a:r>
          </a:p>
        </p:txBody>
      </p:sp>
      <p:sp>
        <p:nvSpPr>
          <p:cNvPr id="159757" name="Rectangle 13">
            <a:extLst>
              <a:ext uri="{FF2B5EF4-FFF2-40B4-BE49-F238E27FC236}">
                <a16:creationId xmlns:a16="http://schemas.microsoft.com/office/drawing/2014/main" id="{151BDF30-0E8C-4968-B688-71694DA0D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694238"/>
            <a:ext cx="8897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实地调查高峰时段 </a:t>
            </a:r>
            <a:r>
              <a:rPr lang="en-US" altLang="zh-CN" sz="2800" b="1"/>
              <a:t>4</a:t>
            </a:r>
            <a:r>
              <a:rPr lang="zh-CN" altLang="en-US" sz="2800" b="1">
                <a:cs typeface="Times New Roman" panose="02020603050405020304" pitchFamily="18" charset="0"/>
              </a:rPr>
              <a:t>个相位通行的实际流量</a:t>
            </a:r>
            <a:r>
              <a:rPr lang="en-US" altLang="zh-CN" sz="2800" b="1" i="1"/>
              <a:t>q</a:t>
            </a:r>
            <a:r>
              <a:rPr lang="en-US" altLang="zh-CN" sz="2800" b="1" baseline="-30000"/>
              <a:t>A</a:t>
            </a:r>
            <a:r>
              <a:rPr lang="en-US" altLang="zh-CN" sz="2800" b="1"/>
              <a:t>, </a:t>
            </a:r>
            <a:r>
              <a:rPr lang="en-US" altLang="zh-CN" sz="2800" b="1" i="1"/>
              <a:t>q</a:t>
            </a:r>
            <a:r>
              <a:rPr lang="en-US" altLang="zh-CN" sz="2800" b="1" baseline="-30000"/>
              <a:t>B</a:t>
            </a:r>
            <a:r>
              <a:rPr lang="en-US" altLang="zh-CN" sz="2800" b="1"/>
              <a:t>,</a:t>
            </a:r>
            <a:r>
              <a:rPr lang="en-US" altLang="zh-CN" sz="2800" b="1" i="1"/>
              <a:t> q</a:t>
            </a:r>
            <a:r>
              <a:rPr lang="en-US" altLang="zh-CN" sz="2800" b="1" baseline="-30000"/>
              <a:t>C</a:t>
            </a:r>
            <a:r>
              <a:rPr lang="en-US" altLang="zh-CN" sz="2800" b="1"/>
              <a:t>,</a:t>
            </a:r>
            <a:r>
              <a:rPr lang="en-US" altLang="zh-CN" sz="2800" b="1" i="1"/>
              <a:t> q</a:t>
            </a:r>
            <a:r>
              <a:rPr lang="en-US" altLang="zh-CN" sz="2800" b="1" baseline="-30000"/>
              <a:t>D</a:t>
            </a:r>
            <a:r>
              <a:rPr lang="en-US" altLang="zh-CN" sz="2800" b="1"/>
              <a:t> </a:t>
            </a:r>
          </a:p>
        </p:txBody>
      </p:sp>
      <p:grpSp>
        <p:nvGrpSpPr>
          <p:cNvPr id="2" name="Group 17">
            <a:extLst>
              <a:ext uri="{FF2B5EF4-FFF2-40B4-BE49-F238E27FC236}">
                <a16:creationId xmlns:a16="http://schemas.microsoft.com/office/drawing/2014/main" id="{055C445D-245F-4A01-A1F0-B3D31B7E1A59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5373688"/>
            <a:ext cx="8713787" cy="519112"/>
            <a:chOff x="113" y="3385"/>
            <a:chExt cx="5489" cy="327"/>
          </a:xfrm>
        </p:grpSpPr>
        <p:sp>
          <p:nvSpPr>
            <p:cNvPr id="25613" name="Rectangle 15">
              <a:extLst>
                <a:ext uri="{FF2B5EF4-FFF2-40B4-BE49-F238E27FC236}">
                  <a16:creationId xmlns:a16="http://schemas.microsoft.com/office/drawing/2014/main" id="{FB9CA482-7F0C-41D8-8903-D5E149C69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3385"/>
              <a:ext cx="5489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cs typeface="Times New Roman" panose="02020603050405020304" pitchFamily="18" charset="0"/>
                </a:rPr>
                <a:t>调整</a:t>
              </a:r>
              <a:r>
                <a:rPr lang="en-US" altLang="zh-CN" sz="2800" b="1"/>
                <a:t>4</a:t>
              </a:r>
              <a:r>
                <a:rPr lang="zh-CN" altLang="en-US" sz="2800" b="1">
                  <a:cs typeface="Times New Roman" panose="02020603050405020304" pitchFamily="18" charset="0"/>
                </a:rPr>
                <a:t>个相位的绿信比</a:t>
              </a:r>
              <a:r>
                <a:rPr lang="en-US" altLang="zh-CN" sz="2800" b="1">
                  <a:cs typeface="Times New Roman" panose="02020603050405020304" pitchFamily="18" charset="0"/>
                </a:rPr>
                <a:t>, </a:t>
              </a:r>
              <a:r>
                <a:rPr lang="zh-CN" altLang="en-US" sz="2800" b="1">
                  <a:cs typeface="Times New Roman" panose="02020603050405020304" pitchFamily="18" charset="0"/>
                </a:rPr>
                <a:t>使</a:t>
              </a:r>
              <a:r>
                <a:rPr lang="en-US" altLang="zh-CN" sz="2800" b="1" i="1"/>
                <a:t>G</a:t>
              </a:r>
              <a:r>
                <a:rPr lang="en-US" altLang="zh-CN" sz="2800" b="1" baseline="-30000"/>
                <a:t>A</a:t>
              </a:r>
              <a:r>
                <a:rPr lang="en-US" altLang="zh-CN" sz="2800" b="1"/>
                <a:t>:</a:t>
              </a:r>
              <a:r>
                <a:rPr lang="en-US" altLang="zh-CN" sz="2800" b="1" i="1"/>
                <a:t>G</a:t>
              </a:r>
              <a:r>
                <a:rPr lang="en-US" altLang="zh-CN" sz="2800" b="1" baseline="-30000"/>
                <a:t>B</a:t>
              </a:r>
              <a:r>
                <a:rPr lang="en-US" altLang="zh-CN" sz="2800" b="1"/>
                <a:t>:</a:t>
              </a:r>
              <a:r>
                <a:rPr lang="en-US" altLang="zh-CN" sz="2800" b="1" i="1"/>
                <a:t>G</a:t>
              </a:r>
              <a:r>
                <a:rPr lang="en-US" altLang="zh-CN" sz="2800" b="1" baseline="-30000"/>
                <a:t>C</a:t>
              </a:r>
              <a:r>
                <a:rPr lang="en-US" altLang="zh-CN" sz="2800" b="1"/>
                <a:t>:</a:t>
              </a:r>
              <a:r>
                <a:rPr lang="en-US" altLang="zh-CN" sz="2800" b="1" i="1"/>
                <a:t>G</a:t>
              </a:r>
              <a:r>
                <a:rPr lang="en-US" altLang="zh-CN" sz="2800" b="1" baseline="-30000"/>
                <a:t>D     </a:t>
              </a:r>
              <a:r>
                <a:rPr lang="en-US" altLang="zh-CN" sz="2800" b="1" i="1"/>
                <a:t>q</a:t>
              </a:r>
              <a:r>
                <a:rPr lang="en-US" altLang="zh-CN" sz="2800" b="1" baseline="-30000"/>
                <a:t>A</a:t>
              </a:r>
              <a:r>
                <a:rPr lang="en-US" altLang="zh-CN" sz="2800" b="1"/>
                <a:t>:</a:t>
              </a:r>
              <a:r>
                <a:rPr lang="en-US" altLang="zh-CN" sz="2800" b="1" i="1"/>
                <a:t>q</a:t>
              </a:r>
              <a:r>
                <a:rPr lang="en-US" altLang="zh-CN" sz="2800" b="1" baseline="-30000"/>
                <a:t>B</a:t>
              </a:r>
              <a:r>
                <a:rPr lang="en-US" altLang="zh-CN" sz="2800" b="1"/>
                <a:t>:</a:t>
              </a:r>
              <a:r>
                <a:rPr lang="en-US" altLang="zh-CN" sz="2800" b="1" i="1"/>
                <a:t>q</a:t>
              </a:r>
              <a:r>
                <a:rPr lang="en-US" altLang="zh-CN" sz="2800" b="1" baseline="-30000"/>
                <a:t>C</a:t>
              </a:r>
              <a:r>
                <a:rPr lang="en-US" altLang="zh-CN" sz="2800" b="1"/>
                <a:t>:</a:t>
              </a:r>
              <a:r>
                <a:rPr lang="en-US" altLang="zh-CN" sz="2800" b="1" i="1"/>
                <a:t>q</a:t>
              </a:r>
              <a:r>
                <a:rPr lang="en-US" altLang="zh-CN" sz="2800" b="1" baseline="-30000"/>
                <a:t>D</a:t>
              </a:r>
              <a:r>
                <a:rPr lang="en-US" altLang="zh-CN" sz="2800" b="1"/>
                <a:t> </a:t>
              </a:r>
            </a:p>
          </p:txBody>
        </p:sp>
        <p:graphicFrame>
          <p:nvGraphicFramePr>
            <p:cNvPr id="25614" name="Object 16">
              <a:extLst>
                <a:ext uri="{FF2B5EF4-FFF2-40B4-BE49-F238E27FC236}">
                  <a16:creationId xmlns:a16="http://schemas.microsoft.com/office/drawing/2014/main" id="{E96CC396-F69B-4862-A4AC-A77729FC6A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3" y="3475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0" name="公式" r:id="rId7" imgW="126725" imgH="126725" progId="Equation.3">
                    <p:embed/>
                  </p:oleObj>
                </mc:Choice>
                <mc:Fallback>
                  <p:oleObj name="公式" r:id="rId7" imgW="126725" imgH="12672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3475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35" name="Group 15">
            <a:extLst>
              <a:ext uri="{FF2B5EF4-FFF2-40B4-BE49-F238E27FC236}">
                <a16:creationId xmlns:a16="http://schemas.microsoft.com/office/drawing/2014/main" id="{42FBED65-66C7-4C69-9C99-3C2869A0C23A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349500"/>
            <a:ext cx="6983412" cy="1136650"/>
            <a:chOff x="431" y="1480"/>
            <a:chExt cx="4399" cy="716"/>
          </a:xfrm>
        </p:grpSpPr>
        <p:sp>
          <p:nvSpPr>
            <p:cNvPr id="25611" name="Rectangle 5">
              <a:extLst>
                <a:ext uri="{FF2B5EF4-FFF2-40B4-BE49-F238E27FC236}">
                  <a16:creationId xmlns:a16="http://schemas.microsoft.com/office/drawing/2014/main" id="{787FAB77-CBBB-459E-AFCB-496A40822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480"/>
              <a:ext cx="4399" cy="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15000"/>
                </a:lnSpc>
                <a:spcBef>
                  <a:spcPct val="15000"/>
                </a:spcBef>
              </a:pPr>
              <a:r>
                <a:rPr lang="en-US" altLang="zh-CN" sz="2800" b="1" i="1"/>
                <a:t>t</a:t>
              </a:r>
              <a:r>
                <a:rPr lang="en-US" altLang="zh-CN" sz="2800" b="1" baseline="-25000"/>
                <a:t>0</a:t>
              </a:r>
              <a:r>
                <a:rPr lang="en-US" altLang="zh-CN" sz="2800" b="1"/>
                <a:t>=2.3s</a:t>
              </a:r>
              <a:r>
                <a:rPr lang="zh-CN" altLang="en-US" sz="2800" b="1"/>
                <a:t>，</a:t>
              </a:r>
              <a:r>
                <a:rPr lang="en-US" altLang="zh-CN" sz="2800" b="1" i="1"/>
                <a:t>t</a:t>
              </a:r>
              <a:r>
                <a:rPr lang="en-US" altLang="zh-CN" sz="2800" b="1" i="1" baseline="-25000"/>
                <a:t>s</a:t>
              </a:r>
              <a:r>
                <a:rPr lang="en-US" altLang="zh-CN" sz="2800" b="1"/>
                <a:t>=2.5s(</a:t>
              </a:r>
              <a:r>
                <a:rPr lang="zh-CN" altLang="en-US" sz="2800" b="1"/>
                <a:t>小型车辆</a:t>
              </a:r>
              <a:r>
                <a:rPr lang="en-US" altLang="zh-CN" sz="2800" b="1"/>
                <a:t>)~3.5s(</a:t>
              </a:r>
              <a:r>
                <a:rPr lang="zh-CN" altLang="en-US" sz="2800" b="1"/>
                <a:t>大型车辆</a:t>
              </a:r>
              <a:r>
                <a:rPr lang="en-US" altLang="zh-CN" sz="2800" b="1"/>
                <a:t>)</a:t>
              </a:r>
              <a:r>
                <a:rPr lang="zh-CN" altLang="en-US" sz="2800" b="1"/>
                <a:t>，</a:t>
              </a:r>
            </a:p>
            <a:p>
              <a:pPr eaLnBrk="1" hangingPunct="1">
                <a:lnSpc>
                  <a:spcPct val="115000"/>
                </a:lnSpc>
                <a:spcBef>
                  <a:spcPct val="15000"/>
                </a:spcBef>
              </a:pPr>
              <a:r>
                <a:rPr lang="zh-CN" altLang="en-US" sz="2800" b="1"/>
                <a:t>对直行或右转</a:t>
              </a:r>
              <a:r>
                <a:rPr lang="zh-CN" altLang="en-US" sz="2800" b="1" i="1"/>
                <a:t>    </a:t>
              </a:r>
              <a:r>
                <a:rPr lang="en-US" altLang="zh-CN" sz="2800" b="1"/>
                <a:t>=0.9(</a:t>
              </a:r>
              <a:r>
                <a:rPr lang="zh-CN" altLang="en-US" sz="2800" b="1"/>
                <a:t>左转更小</a:t>
              </a:r>
              <a:r>
                <a:rPr lang="en-US" altLang="zh-CN" sz="2800" b="1"/>
                <a:t>) </a:t>
              </a:r>
            </a:p>
          </p:txBody>
        </p:sp>
        <p:graphicFrame>
          <p:nvGraphicFramePr>
            <p:cNvPr id="25612" name="Object 14">
              <a:extLst>
                <a:ext uri="{FF2B5EF4-FFF2-40B4-BE49-F238E27FC236}">
                  <a16:creationId xmlns:a16="http://schemas.microsoft.com/office/drawing/2014/main" id="{B2CAF8A0-35DD-4BBB-B375-DBE00C808D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7" y="1933"/>
            <a:ext cx="21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1" name="公式" r:id="rId9" imgW="139579" imgH="164957" progId="Equation.3">
                    <p:embed/>
                  </p:oleObj>
                </mc:Choice>
                <mc:Fallback>
                  <p:oleObj name="公式" r:id="rId9" imgW="139579" imgH="164957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1933"/>
                          <a:ext cx="216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52" grpId="0"/>
      <p:bldP spid="159753" grpId="0"/>
      <p:bldP spid="15975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73AEDC54-5861-43A8-AD61-996648CEA7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6250"/>
            <a:ext cx="39624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600" b="1">
                <a:ea typeface="楷体_GB2312" pitchFamily="49" charset="-122"/>
              </a:rPr>
              <a:t>2.7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核军备竞赛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7E886A82-7AAC-435E-9D3C-546890E09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96975"/>
            <a:ext cx="7696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冷战时期美苏声称为了保卫自己的安全</a:t>
            </a:r>
            <a:r>
              <a:rPr lang="en-US" altLang="zh-CN" sz="2800" b="1"/>
              <a:t>, </a:t>
            </a:r>
            <a:r>
              <a:rPr lang="zh-CN" altLang="en-US" sz="2800" b="1"/>
              <a:t>实行“核威慑战略”</a:t>
            </a:r>
            <a:r>
              <a:rPr lang="en-US" altLang="zh-CN" sz="2800" b="1"/>
              <a:t>, </a:t>
            </a:r>
            <a:r>
              <a:rPr lang="zh-CN" altLang="en-US" sz="2800" b="1"/>
              <a:t>核军备竞赛不断升级</a:t>
            </a:r>
            <a:r>
              <a:rPr lang="en-US" altLang="zh-CN" sz="2800" b="1"/>
              <a:t>.</a:t>
            </a:r>
          </a:p>
        </p:txBody>
      </p:sp>
      <p:sp>
        <p:nvSpPr>
          <p:cNvPr id="57348" name="Text Box 4">
            <a:extLst>
              <a:ext uri="{FF2B5EF4-FFF2-40B4-BE49-F238E27FC236}">
                <a16:creationId xmlns:a16="http://schemas.microsoft.com/office/drawing/2014/main" id="{B07E4E68-2700-4109-BA39-A074F46D7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205038"/>
            <a:ext cx="74612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随着前苏联的解体和冷战的结束</a:t>
            </a:r>
            <a:r>
              <a:rPr lang="en-US" altLang="zh-CN" sz="2800" b="1"/>
              <a:t>, </a:t>
            </a:r>
            <a:r>
              <a:rPr lang="zh-CN" altLang="en-US" sz="2800" b="1"/>
              <a:t>双方通过了一系列核裁军协议</a:t>
            </a:r>
            <a:r>
              <a:rPr lang="en-US" altLang="zh-CN" sz="2800" b="1"/>
              <a:t>.</a:t>
            </a:r>
          </a:p>
        </p:txBody>
      </p:sp>
      <p:sp>
        <p:nvSpPr>
          <p:cNvPr id="57349" name="Text Box 5">
            <a:extLst>
              <a:ext uri="{FF2B5EF4-FFF2-40B4-BE49-F238E27FC236}">
                <a16:creationId xmlns:a16="http://schemas.microsoft.com/office/drawing/2014/main" id="{394BF5BF-7CDD-48C5-ADA4-FB5397253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213100"/>
            <a:ext cx="77501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在什么情况下双方的核军备竞赛不会无限扩张</a:t>
            </a:r>
            <a:r>
              <a:rPr lang="en-US" altLang="zh-CN" sz="2800" b="1"/>
              <a:t>, </a:t>
            </a:r>
            <a:r>
              <a:rPr lang="zh-CN" altLang="en-US" sz="2800" b="1"/>
              <a:t>而存在暂时的平衡状态</a:t>
            </a:r>
            <a:r>
              <a:rPr lang="en-US" altLang="zh-CN" sz="2800" b="1"/>
              <a:t>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2B4DD0A0-5CAE-48B9-A7C8-956C4AACD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5380038"/>
            <a:ext cx="7696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当一方采取加强防御、提高武器精度、发展多弹头导弹等措施时</a:t>
            </a:r>
            <a:r>
              <a:rPr lang="en-US" altLang="zh-CN" sz="2800" b="1"/>
              <a:t>, </a:t>
            </a:r>
            <a:r>
              <a:rPr lang="zh-CN" altLang="en-US" sz="2800" b="1"/>
              <a:t>平衡状态会发生什么变化</a:t>
            </a:r>
            <a:r>
              <a:rPr lang="en-US" altLang="zh-CN" sz="2800" b="1"/>
              <a:t>.</a:t>
            </a:r>
          </a:p>
        </p:txBody>
      </p:sp>
      <p:sp>
        <p:nvSpPr>
          <p:cNvPr id="57351" name="Text Box 7">
            <a:extLst>
              <a:ext uri="{FF2B5EF4-FFF2-40B4-BE49-F238E27FC236}">
                <a16:creationId xmlns:a16="http://schemas.microsoft.com/office/drawing/2014/main" id="{CEDF9131-0F30-44CB-930B-4C0807337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332288"/>
            <a:ext cx="76962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估计平衡状态下双方拥有的最少的核武器数量</a:t>
            </a:r>
            <a:r>
              <a:rPr lang="en-US" altLang="zh-CN" sz="2800" b="1"/>
              <a:t>,</a:t>
            </a:r>
            <a:r>
              <a:rPr lang="zh-CN" altLang="en-US" sz="2800" b="1"/>
              <a:t>这个数量受哪些因素影响</a:t>
            </a:r>
            <a:r>
              <a:rPr lang="en-US" altLang="zh-CN" sz="2800" b="1"/>
              <a:t>.</a:t>
            </a:r>
          </a:p>
        </p:txBody>
      </p:sp>
      <p:sp>
        <p:nvSpPr>
          <p:cNvPr id="57352" name="Text Box 8">
            <a:extLst>
              <a:ext uri="{FF2B5EF4-FFF2-40B4-BE49-F238E27FC236}">
                <a16:creationId xmlns:a16="http://schemas.microsoft.com/office/drawing/2014/main" id="{88AA81C5-58AF-46CF-9EA8-1C76C330E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268413"/>
            <a:ext cx="609600" cy="25288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背景与问题</a:t>
            </a:r>
          </a:p>
        </p:txBody>
      </p:sp>
      <p:pic>
        <p:nvPicPr>
          <p:cNvPr id="26633" name="Picture 2" descr="j0215086">
            <a:extLst>
              <a:ext uri="{FF2B5EF4-FFF2-40B4-BE49-F238E27FC236}">
                <a16:creationId xmlns:a16="http://schemas.microsoft.com/office/drawing/2014/main" id="{CE7E50E4-BA5A-4CA5-BAEB-4459839DC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476250"/>
            <a:ext cx="5064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10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1000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animBg="1" autoUpdateAnimBg="0"/>
      <p:bldP spid="57348" grpId="0" animBg="1" autoUpdateAnimBg="0"/>
      <p:bldP spid="57349" grpId="0" animBg="1" autoUpdateAnimBg="0"/>
      <p:bldP spid="57350" grpId="0" animBg="1" autoUpdateAnimBg="0"/>
      <p:bldP spid="57351" grpId="0" animBg="1" autoUpdateAnimBg="0"/>
      <p:bldP spid="57352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>
            <a:extLst>
              <a:ext uri="{FF2B5EF4-FFF2-40B4-BE49-F238E27FC236}">
                <a16:creationId xmlns:a16="http://schemas.microsoft.com/office/drawing/2014/main" id="{B6714997-62F4-4BAB-8433-A45AEFBE3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54038"/>
            <a:ext cx="71628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以双方</a:t>
            </a:r>
            <a:r>
              <a:rPr lang="en-US" altLang="zh-CN" sz="2800" b="1"/>
              <a:t>(</a:t>
            </a:r>
            <a:r>
              <a:rPr lang="zh-CN" altLang="en-US" sz="2800" b="1"/>
              <a:t>战略</a:t>
            </a:r>
            <a:r>
              <a:rPr lang="en-US" altLang="zh-CN" sz="2800" b="1"/>
              <a:t>)</a:t>
            </a:r>
            <a:r>
              <a:rPr lang="zh-CN" altLang="en-US" sz="2800" b="1"/>
              <a:t>核导弹数量描述核军备的大小</a:t>
            </a:r>
            <a:r>
              <a:rPr lang="en-US" altLang="zh-CN" sz="2800" b="1"/>
              <a:t>.</a:t>
            </a:r>
          </a:p>
        </p:txBody>
      </p:sp>
      <p:sp>
        <p:nvSpPr>
          <p:cNvPr id="58371" name="Text Box 3">
            <a:extLst>
              <a:ext uri="{FF2B5EF4-FFF2-40B4-BE49-F238E27FC236}">
                <a16:creationId xmlns:a16="http://schemas.microsoft.com/office/drawing/2014/main" id="{C8A17756-756B-4269-8411-8A24679D6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1219200"/>
            <a:ext cx="7162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假定双方采取如下同样的</a:t>
            </a:r>
            <a:r>
              <a:rPr lang="zh-CN" altLang="en-US" sz="2800" b="1">
                <a:solidFill>
                  <a:srgbClr val="FF3300"/>
                </a:solidFill>
              </a:rPr>
              <a:t>核威慑战略：</a:t>
            </a:r>
          </a:p>
        </p:txBody>
      </p:sp>
      <p:sp>
        <p:nvSpPr>
          <p:cNvPr id="58372" name="Text Box 4">
            <a:extLst>
              <a:ext uri="{FF2B5EF4-FFF2-40B4-BE49-F238E27FC236}">
                <a16:creationId xmlns:a16="http://schemas.microsoft.com/office/drawing/2014/main" id="{6892C158-A865-45C9-B666-F05EEF9B2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828800"/>
            <a:ext cx="72390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 dirty="0"/>
              <a:t> 1</a:t>
            </a:r>
            <a:r>
              <a:rPr lang="zh-CN" altLang="en-US" sz="2800" b="1" dirty="0"/>
              <a:t>、认为对方可能发起所谓第一次核打击，即倾其全部核导弹攻击己方的核导弹基地；</a:t>
            </a:r>
          </a:p>
        </p:txBody>
      </p:sp>
      <p:sp>
        <p:nvSpPr>
          <p:cNvPr id="58373" name="Text Box 5">
            <a:extLst>
              <a:ext uri="{FF2B5EF4-FFF2-40B4-BE49-F238E27FC236}">
                <a16:creationId xmlns:a16="http://schemas.microsoft.com/office/drawing/2014/main" id="{C6D883A5-A71D-4FB1-83A0-8C38F3AE0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95600"/>
            <a:ext cx="72390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 dirty="0"/>
              <a:t> 2</a:t>
            </a:r>
            <a:r>
              <a:rPr lang="zh-CN" altLang="en-US" sz="2800" b="1" dirty="0"/>
              <a:t>、己方在经受第一次核打击后，应保存足够的核导弹，给对方重要目标以毁灭性的打击</a:t>
            </a:r>
            <a:r>
              <a:rPr lang="en-US" altLang="zh-CN" sz="2800" b="1" dirty="0"/>
              <a:t>.</a:t>
            </a:r>
          </a:p>
        </p:txBody>
      </p:sp>
      <p:sp>
        <p:nvSpPr>
          <p:cNvPr id="58374" name="Text Box 6">
            <a:extLst>
              <a:ext uri="{FF2B5EF4-FFF2-40B4-BE49-F238E27FC236}">
                <a16:creationId xmlns:a16="http://schemas.microsoft.com/office/drawing/2014/main" id="{E402200A-C1D0-4EFF-81B2-9FBBBA71F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149080"/>
            <a:ext cx="799288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</a:rPr>
              <a:t>在任一方实施第一次核打击时，假定一枚核导弹只能攻击对方的一个核导弹基地</a:t>
            </a:r>
            <a:r>
              <a:rPr lang="en-US" altLang="zh-CN" sz="2800" b="1" dirty="0">
                <a:solidFill>
                  <a:srgbClr val="3333FF"/>
                </a:solidFill>
              </a:rPr>
              <a:t>.</a:t>
            </a:r>
          </a:p>
        </p:txBody>
      </p:sp>
      <p:sp>
        <p:nvSpPr>
          <p:cNvPr id="58375" name="Text Box 7">
            <a:extLst>
              <a:ext uri="{FF2B5EF4-FFF2-40B4-BE49-F238E27FC236}">
                <a16:creationId xmlns:a16="http://schemas.microsoft.com/office/drawing/2014/main" id="{B3B18159-F6F0-4563-957A-E98FBE41E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5242867"/>
            <a:ext cx="7823274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3333FF"/>
                </a:solidFill>
              </a:rPr>
              <a:t>摧毁这个基地的可能性是常数，它由一方的攻击精度和另一方的防御能力决定</a:t>
            </a:r>
            <a:r>
              <a:rPr lang="en-US" altLang="zh-CN" sz="2800" b="1" dirty="0">
                <a:solidFill>
                  <a:srgbClr val="3333FF"/>
                </a:solidFill>
              </a:rPr>
              <a:t>.</a:t>
            </a:r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9FC25A95-A40D-4BD5-87CC-707AE092D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57200"/>
            <a:ext cx="685800" cy="20415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nimBg="1" autoUpdateAnimBg="0"/>
      <p:bldP spid="58371" grpId="0" animBg="1" autoUpdateAnimBg="0"/>
      <p:bldP spid="58372" grpId="0" animBg="1" autoUpdateAnimBg="0"/>
      <p:bldP spid="58373" grpId="0" animBg="1" autoUpdateAnimBg="0"/>
      <p:bldP spid="58374" grpId="0" animBg="1" autoUpdateAnimBg="0"/>
      <p:bldP spid="5837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9DBE5D0A-6CC6-401D-AAB4-AAA083579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49276"/>
            <a:ext cx="587375" cy="206210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图的模型</a:t>
            </a: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37D3DFFE-529B-4EFB-BB41-C780A10A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49275"/>
            <a:ext cx="817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)~</a:t>
            </a:r>
            <a:r>
              <a:rPr lang="zh-CN" altLang="en-US" sz="2800" b="1"/>
              <a:t>甲有</a:t>
            </a:r>
            <a:r>
              <a:rPr lang="en-US" altLang="zh-CN" sz="2800" b="1" i="1"/>
              <a:t>x</a:t>
            </a:r>
            <a:r>
              <a:rPr lang="zh-CN" altLang="en-US" sz="2800" b="1"/>
              <a:t>枚导弹</a:t>
            </a:r>
            <a:r>
              <a:rPr lang="en-US" altLang="zh-CN" sz="2800" b="1"/>
              <a:t>,</a:t>
            </a:r>
            <a:r>
              <a:rPr lang="zh-CN" altLang="en-US" sz="2800" b="1"/>
              <a:t>乙所需的最少导弹数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FF3300"/>
                </a:solidFill>
              </a:rPr>
              <a:t>乙安全线</a:t>
            </a:r>
            <a:r>
              <a:rPr lang="en-US" altLang="zh-CN" sz="2800" b="1"/>
              <a:t>)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BA4C363B-C7FE-4BB1-9E8F-697B6BB3B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052513"/>
            <a:ext cx="8243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)~</a:t>
            </a:r>
            <a:r>
              <a:rPr lang="zh-CN" altLang="en-US" sz="2800" b="1"/>
              <a:t>乙有</a:t>
            </a:r>
            <a:r>
              <a:rPr lang="en-US" altLang="zh-CN" sz="2800" b="1" i="1"/>
              <a:t>y</a:t>
            </a:r>
            <a:r>
              <a:rPr lang="zh-CN" altLang="en-US" sz="2800" b="1"/>
              <a:t>枚导弹</a:t>
            </a:r>
            <a:r>
              <a:rPr lang="en-US" altLang="zh-CN" sz="2800" b="1"/>
              <a:t>,</a:t>
            </a:r>
            <a:r>
              <a:rPr lang="zh-CN" altLang="en-US" sz="2800" b="1"/>
              <a:t>甲所需的最少导弹数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FF3300"/>
                </a:solidFill>
              </a:rPr>
              <a:t>甲安全线</a:t>
            </a:r>
            <a:r>
              <a:rPr lang="en-US" altLang="zh-CN" sz="2800" b="1"/>
              <a:t>)</a:t>
            </a:r>
          </a:p>
        </p:txBody>
      </p:sp>
      <p:sp>
        <p:nvSpPr>
          <p:cNvPr id="59397" name="Text Box 5">
            <a:extLst>
              <a:ext uri="{FF2B5EF4-FFF2-40B4-BE49-F238E27FC236}">
                <a16:creationId xmlns:a16="http://schemas.microsoft.com/office/drawing/2014/main" id="{77A35A7A-3AF8-4DA5-B4A2-F65274A80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5573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当 </a:t>
            </a:r>
            <a:r>
              <a:rPr lang="en-US" altLang="zh-CN" sz="2800" b="1" i="1"/>
              <a:t>x</a:t>
            </a:r>
            <a:r>
              <a:rPr lang="en-US" altLang="zh-CN" sz="2800" b="1"/>
              <a:t>=0</a:t>
            </a:r>
            <a:r>
              <a:rPr lang="zh-CN" altLang="en-US" sz="2800" b="1"/>
              <a:t>时 </a:t>
            </a: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，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~</a:t>
            </a:r>
            <a:r>
              <a:rPr lang="zh-CN" altLang="en-US" sz="2800" b="1"/>
              <a:t>乙方的</a:t>
            </a:r>
            <a:r>
              <a:rPr lang="zh-CN" altLang="en-US" sz="2800" b="1">
                <a:solidFill>
                  <a:srgbClr val="FF3300"/>
                </a:solidFill>
              </a:rPr>
              <a:t>威慑值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F6CBD382-85DD-4B23-9BEE-74E75BDB771D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352800"/>
            <a:ext cx="2438400" cy="1722438"/>
            <a:chOff x="1392" y="2083"/>
            <a:chExt cx="1536" cy="1085"/>
          </a:xfrm>
        </p:grpSpPr>
        <p:sp>
          <p:nvSpPr>
            <p:cNvPr id="28719" name="Line 7">
              <a:extLst>
                <a:ext uri="{FF2B5EF4-FFF2-40B4-BE49-F238E27FC236}">
                  <a16:creationId xmlns:a16="http://schemas.microsoft.com/office/drawing/2014/main" id="{72DA2262-4489-4F41-A184-976451BA0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168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20" name="Line 8">
              <a:extLst>
                <a:ext uri="{FF2B5EF4-FFF2-40B4-BE49-F238E27FC236}">
                  <a16:creationId xmlns:a16="http://schemas.microsoft.com/office/drawing/2014/main" id="{5F675784-7484-48BC-B426-59B655B7E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2208"/>
              <a:ext cx="96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8721" name="Object 9">
              <a:extLst>
                <a:ext uri="{FF2B5EF4-FFF2-40B4-BE49-F238E27FC236}">
                  <a16:creationId xmlns:a16="http://schemas.microsoft.com/office/drawing/2014/main" id="{C6374202-D644-43DE-9B16-3362DF7E206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2083"/>
            <a:ext cx="720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29" name="公式" r:id="rId3" imgW="647700" imgH="228600" progId="Equation.3">
                    <p:embed/>
                  </p:oleObj>
                </mc:Choice>
                <mc:Fallback>
                  <p:oleObj name="公式" r:id="rId3" imgW="647700" imgH="2286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083"/>
                          <a:ext cx="720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>
            <a:extLst>
              <a:ext uri="{FF2B5EF4-FFF2-40B4-BE49-F238E27FC236}">
                <a16:creationId xmlns:a16="http://schemas.microsoft.com/office/drawing/2014/main" id="{F366AB83-00A7-4CDC-BA4C-702728F5EC86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124200"/>
            <a:ext cx="3886200" cy="2819400"/>
            <a:chOff x="480" y="1968"/>
            <a:chExt cx="2448" cy="1776"/>
          </a:xfrm>
        </p:grpSpPr>
        <p:sp>
          <p:nvSpPr>
            <p:cNvPr id="28713" name="Line 11">
              <a:extLst>
                <a:ext uri="{FF2B5EF4-FFF2-40B4-BE49-F238E27FC236}">
                  <a16:creationId xmlns:a16="http://schemas.microsoft.com/office/drawing/2014/main" id="{29006D21-6749-4E2C-9433-AD9ADF17B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3504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4" name="Line 12">
              <a:extLst>
                <a:ext uri="{FF2B5EF4-FFF2-40B4-BE49-F238E27FC236}">
                  <a16:creationId xmlns:a16="http://schemas.microsoft.com/office/drawing/2014/main" id="{6E1AF965-CBDE-43FF-97C6-3463E520F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211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5" name="Text Box 13">
              <a:extLst>
                <a:ext uri="{FF2B5EF4-FFF2-40B4-BE49-F238E27FC236}">
                  <a16:creationId xmlns:a16="http://schemas.microsoft.com/office/drawing/2014/main" id="{5F90C3A7-DF36-4136-9D73-BACF3B085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45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</a:p>
          </p:txBody>
        </p:sp>
        <p:sp>
          <p:nvSpPr>
            <p:cNvPr id="28716" name="Text Box 14">
              <a:extLst>
                <a:ext uri="{FF2B5EF4-FFF2-40B4-BE49-F238E27FC236}">
                  <a16:creationId xmlns:a16="http://schemas.microsoft.com/office/drawing/2014/main" id="{2ED4EFD1-CA34-48BA-A629-E5C2BEFB8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96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</a:p>
          </p:txBody>
        </p:sp>
        <p:sp>
          <p:nvSpPr>
            <p:cNvPr id="28717" name="Text Box 15">
              <a:extLst>
                <a:ext uri="{FF2B5EF4-FFF2-40B4-BE49-F238E27FC236}">
                  <a16:creationId xmlns:a16="http://schemas.microsoft.com/office/drawing/2014/main" id="{88275888-19AB-42A0-8FD2-E7896FE637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02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28718" name="Text Box 16">
              <a:extLst>
                <a:ext uri="{FF2B5EF4-FFF2-40B4-BE49-F238E27FC236}">
                  <a16:creationId xmlns:a16="http://schemas.microsoft.com/office/drawing/2014/main" id="{232D4A22-7281-490F-900F-B8F8D0D01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36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O</a:t>
              </a:r>
            </a:p>
          </p:txBody>
        </p:sp>
      </p:grpSp>
      <p:graphicFrame>
        <p:nvGraphicFramePr>
          <p:cNvPr id="59409" name="Object 17">
            <a:extLst>
              <a:ext uri="{FF2B5EF4-FFF2-40B4-BE49-F238E27FC236}">
                <a16:creationId xmlns:a16="http://schemas.microsoft.com/office/drawing/2014/main" id="{2C6230DB-3C68-467F-97E4-3380798A9B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5791200"/>
          <a:ext cx="24384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0" name="公式" r:id="rId5" imgW="1384300" imgH="228600" progId="Equation.3">
                  <p:embed/>
                </p:oleObj>
              </mc:Choice>
              <mc:Fallback>
                <p:oleObj name="公式" r:id="rId5" imgW="13843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791200"/>
                        <a:ext cx="24384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0" name="Text Box 18">
            <a:extLst>
              <a:ext uri="{FF2B5EF4-FFF2-40B4-BE49-F238E27FC236}">
                <a16:creationId xmlns:a16="http://schemas.microsoft.com/office/drawing/2014/main" id="{01A38000-6560-456C-B27A-79737654A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2090738"/>
            <a:ext cx="76200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800" b="1" i="1" dirty="0"/>
              <a:t>y</a:t>
            </a:r>
            <a:r>
              <a:rPr lang="en-US" altLang="zh-CN" sz="2800" b="1" baseline="-25000" dirty="0"/>
              <a:t>0</a:t>
            </a:r>
            <a:r>
              <a:rPr lang="en-US" altLang="zh-CN" sz="2800" b="1" dirty="0"/>
              <a:t>~</a:t>
            </a:r>
            <a:r>
              <a:rPr lang="zh-CN" altLang="en-US" sz="2800" b="1" dirty="0"/>
              <a:t>甲方实行第一次打击后已经没有导弹，乙方为毁灭甲方工业、交通中心等目标所需导弹数</a:t>
            </a:r>
            <a:r>
              <a:rPr lang="en-US" altLang="zh-CN" sz="2800" b="1" dirty="0"/>
              <a:t>.</a:t>
            </a:r>
          </a:p>
        </p:txBody>
      </p:sp>
      <p:grpSp>
        <p:nvGrpSpPr>
          <p:cNvPr id="4" name="Group 19">
            <a:extLst>
              <a:ext uri="{FF2B5EF4-FFF2-40B4-BE49-F238E27FC236}">
                <a16:creationId xmlns:a16="http://schemas.microsoft.com/office/drawing/2014/main" id="{C039D7BD-5D99-41E9-BEE9-C95210A1D716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4495800"/>
            <a:ext cx="1295400" cy="1447800"/>
            <a:chOff x="3696" y="1440"/>
            <a:chExt cx="816" cy="912"/>
          </a:xfrm>
        </p:grpSpPr>
        <p:sp>
          <p:nvSpPr>
            <p:cNvPr id="28710" name="Line 20">
              <a:extLst>
                <a:ext uri="{FF2B5EF4-FFF2-40B4-BE49-F238E27FC236}">
                  <a16:creationId xmlns:a16="http://schemas.microsoft.com/office/drawing/2014/main" id="{EC84FC3D-A60F-4D3E-AD25-9E4482F82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488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1" name="Line 21">
              <a:extLst>
                <a:ext uri="{FF2B5EF4-FFF2-40B4-BE49-F238E27FC236}">
                  <a16:creationId xmlns:a16="http://schemas.microsoft.com/office/drawing/2014/main" id="{770A911E-3342-4C06-A7F9-855C664FD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440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2" name="Text Box 22">
              <a:extLst>
                <a:ext uri="{FF2B5EF4-FFF2-40B4-BE49-F238E27FC236}">
                  <a16:creationId xmlns:a16="http://schemas.microsoft.com/office/drawing/2014/main" id="{F0A6389D-E7A9-450B-9614-3EA12FE21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6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</p:grpSp>
      <p:grpSp>
        <p:nvGrpSpPr>
          <p:cNvPr id="5" name="Group 23">
            <a:extLst>
              <a:ext uri="{FF2B5EF4-FFF2-40B4-BE49-F238E27FC236}">
                <a16:creationId xmlns:a16="http://schemas.microsoft.com/office/drawing/2014/main" id="{CCD7F9FC-A6AF-470F-9A42-1407E3A1C959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4267200"/>
            <a:ext cx="1752600" cy="1676400"/>
            <a:chOff x="2880" y="2688"/>
            <a:chExt cx="1104" cy="1056"/>
          </a:xfrm>
        </p:grpSpPr>
        <p:sp>
          <p:nvSpPr>
            <p:cNvPr id="28706" name="Line 24">
              <a:extLst>
                <a:ext uri="{FF2B5EF4-FFF2-40B4-BE49-F238E27FC236}">
                  <a16:creationId xmlns:a16="http://schemas.microsoft.com/office/drawing/2014/main" id="{17B2D137-88EB-4CD9-B218-AFAADCF243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0" y="283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7" name="Line 25">
              <a:extLst>
                <a:ext uri="{FF2B5EF4-FFF2-40B4-BE49-F238E27FC236}">
                  <a16:creationId xmlns:a16="http://schemas.microsoft.com/office/drawing/2014/main" id="{00579D42-973E-464C-8A7F-AEFC09B96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2832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8" name="Text Box 26">
              <a:extLst>
                <a:ext uri="{FF2B5EF4-FFF2-40B4-BE49-F238E27FC236}">
                  <a16:creationId xmlns:a16="http://schemas.microsoft.com/office/drawing/2014/main" id="{5FDC8A16-8DBC-4343-89AD-C520D48D6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45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28709" name="Text Box 27">
              <a:extLst>
                <a:ext uri="{FF2B5EF4-FFF2-40B4-BE49-F238E27FC236}">
                  <a16:creationId xmlns:a16="http://schemas.microsoft.com/office/drawing/2014/main" id="{01751ECE-5AFA-4BC0-BD1F-4C5236362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68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 baseline="-25000"/>
                <a:t>1</a:t>
              </a:r>
              <a:endParaRPr lang="en-US" altLang="zh-CN" i="1"/>
            </a:p>
          </p:txBody>
        </p:sp>
      </p:grpSp>
      <p:sp>
        <p:nvSpPr>
          <p:cNvPr id="59420" name="Line 28">
            <a:extLst>
              <a:ext uri="{FF2B5EF4-FFF2-40B4-BE49-F238E27FC236}">
                <a16:creationId xmlns:a16="http://schemas.microsoft.com/office/drawing/2014/main" id="{A0FF2BB4-B168-44F2-AA75-895253EDED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4114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21" name="Text Box 29">
            <a:extLst>
              <a:ext uri="{FF2B5EF4-FFF2-40B4-BE49-F238E27FC236}">
                <a16:creationId xmlns:a16="http://schemas.microsoft.com/office/drawing/2014/main" id="{C5BF0460-998B-4B29-9F41-09C819728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163" y="4038600"/>
            <a:ext cx="1254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>
                <a:solidFill>
                  <a:srgbClr val="FF3300"/>
                </a:solidFill>
              </a:rPr>
              <a:t>P</a:t>
            </a:r>
            <a:r>
              <a:rPr lang="en-US" altLang="zh-CN" b="1">
                <a:solidFill>
                  <a:srgbClr val="FF3300"/>
                </a:solidFill>
              </a:rPr>
              <a:t>(</a:t>
            </a:r>
            <a:r>
              <a:rPr lang="en-US" altLang="zh-CN" b="1" i="1">
                <a:solidFill>
                  <a:srgbClr val="FF3300"/>
                </a:solidFill>
              </a:rPr>
              <a:t>x</a:t>
            </a:r>
            <a:r>
              <a:rPr lang="en-US" altLang="zh-CN" b="1" i="1" baseline="-25000">
                <a:solidFill>
                  <a:srgbClr val="FF3300"/>
                </a:solidFill>
              </a:rPr>
              <a:t>m</a:t>
            </a:r>
            <a:r>
              <a:rPr lang="en-US" altLang="zh-CN" b="1">
                <a:solidFill>
                  <a:srgbClr val="FF3300"/>
                </a:solidFill>
              </a:rPr>
              <a:t>,</a:t>
            </a:r>
            <a:r>
              <a:rPr lang="en-US" altLang="zh-CN" b="1" i="1">
                <a:solidFill>
                  <a:srgbClr val="FF3300"/>
                </a:solidFill>
              </a:rPr>
              <a:t>y</a:t>
            </a:r>
            <a:r>
              <a:rPr lang="en-US" altLang="zh-CN" b="1" i="1" baseline="-25000">
                <a:solidFill>
                  <a:srgbClr val="FF3300"/>
                </a:solidFill>
              </a:rPr>
              <a:t>m</a:t>
            </a:r>
            <a:r>
              <a:rPr lang="en-US" altLang="zh-CN" b="1">
                <a:solidFill>
                  <a:srgbClr val="FF3300"/>
                </a:solidFill>
              </a:rPr>
              <a:t>)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F32436F8-F7AF-46C9-9502-E7C51F06160A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581400"/>
            <a:ext cx="1590675" cy="2057400"/>
            <a:chOff x="-288" y="1824"/>
            <a:chExt cx="1002" cy="1296"/>
          </a:xfrm>
        </p:grpSpPr>
        <p:sp>
          <p:nvSpPr>
            <p:cNvPr id="28704" name="Freeform 31">
              <a:extLst>
                <a:ext uri="{FF2B5EF4-FFF2-40B4-BE49-F238E27FC236}">
                  <a16:creationId xmlns:a16="http://schemas.microsoft.com/office/drawing/2014/main" id="{19607849-33FE-4975-90DA-E9542C3A2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-288" y="1824"/>
              <a:ext cx="720" cy="1296"/>
            </a:xfrm>
            <a:custGeom>
              <a:avLst/>
              <a:gdLst>
                <a:gd name="T0" fmla="*/ 0 w 684"/>
                <a:gd name="T1" fmla="*/ 1371 h 1260"/>
                <a:gd name="T2" fmla="*/ 322 w 684"/>
                <a:gd name="T3" fmla="*/ 1032 h 1260"/>
                <a:gd name="T4" fmla="*/ 532 w 684"/>
                <a:gd name="T5" fmla="*/ 745 h 1260"/>
                <a:gd name="T6" fmla="*/ 629 w 684"/>
                <a:gd name="T7" fmla="*/ 548 h 1260"/>
                <a:gd name="T8" fmla="*/ 741 w 684"/>
                <a:gd name="T9" fmla="*/ 288 h 1260"/>
                <a:gd name="T10" fmla="*/ 798 w 684"/>
                <a:gd name="T11" fmla="*/ 0 h 12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4"/>
                <a:gd name="T19" fmla="*/ 0 h 1260"/>
                <a:gd name="T20" fmla="*/ 684 w 684"/>
                <a:gd name="T21" fmla="*/ 1260 h 12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4" h="1260">
                  <a:moveTo>
                    <a:pt x="0" y="1260"/>
                  </a:moveTo>
                  <a:cubicBezTo>
                    <a:pt x="46" y="1208"/>
                    <a:pt x="200" y="1044"/>
                    <a:pt x="276" y="948"/>
                  </a:cubicBezTo>
                  <a:cubicBezTo>
                    <a:pt x="352" y="852"/>
                    <a:pt x="412" y="758"/>
                    <a:pt x="456" y="684"/>
                  </a:cubicBezTo>
                  <a:cubicBezTo>
                    <a:pt x="500" y="610"/>
                    <a:pt x="510" y="574"/>
                    <a:pt x="540" y="504"/>
                  </a:cubicBezTo>
                  <a:cubicBezTo>
                    <a:pt x="570" y="434"/>
                    <a:pt x="612" y="348"/>
                    <a:pt x="636" y="264"/>
                  </a:cubicBezTo>
                  <a:cubicBezTo>
                    <a:pt x="660" y="180"/>
                    <a:pt x="674" y="55"/>
                    <a:pt x="684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5" name="Text Box 32">
              <a:extLst>
                <a:ext uri="{FF2B5EF4-FFF2-40B4-BE49-F238E27FC236}">
                  <a16:creationId xmlns:a16="http://schemas.microsoft.com/office/drawing/2014/main" id="{6846A11E-C8CD-4C85-B653-E979E9F9C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2544"/>
              <a:ext cx="6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/>
                <a:t>=</a:t>
              </a:r>
              <a:r>
                <a:rPr lang="en-US" altLang="zh-CN" i="1"/>
                <a:t>g</a:t>
              </a:r>
              <a:r>
                <a:rPr lang="en-US" altLang="zh-CN"/>
                <a:t>(</a:t>
              </a:r>
              <a:r>
                <a:rPr lang="en-US" altLang="zh-CN" i="1"/>
                <a:t>y</a:t>
              </a:r>
              <a:r>
                <a:rPr lang="en-US" altLang="zh-CN"/>
                <a:t>)</a:t>
              </a:r>
            </a:p>
          </p:txBody>
        </p:sp>
      </p:grpSp>
      <p:grpSp>
        <p:nvGrpSpPr>
          <p:cNvPr id="7" name="Group 33">
            <a:extLst>
              <a:ext uri="{FF2B5EF4-FFF2-40B4-BE49-F238E27FC236}">
                <a16:creationId xmlns:a16="http://schemas.microsoft.com/office/drawing/2014/main" id="{0089A868-598F-443F-BDFA-619BFA7B8A3B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200400"/>
            <a:ext cx="4114800" cy="2743200"/>
            <a:chOff x="2880" y="2016"/>
            <a:chExt cx="2592" cy="1728"/>
          </a:xfrm>
        </p:grpSpPr>
        <p:sp>
          <p:nvSpPr>
            <p:cNvPr id="28696" name="Line 34">
              <a:extLst>
                <a:ext uri="{FF2B5EF4-FFF2-40B4-BE49-F238E27FC236}">
                  <a16:creationId xmlns:a16="http://schemas.microsoft.com/office/drawing/2014/main" id="{F1FC1A35-5E78-432F-8756-66D2944438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3552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35">
              <a:extLst>
                <a:ext uri="{FF2B5EF4-FFF2-40B4-BE49-F238E27FC236}">
                  <a16:creationId xmlns:a16="http://schemas.microsoft.com/office/drawing/2014/main" id="{835B5629-6FDC-4023-B4DE-BE07791E4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2160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8" name="Freeform 36">
              <a:extLst>
                <a:ext uri="{FF2B5EF4-FFF2-40B4-BE49-F238E27FC236}">
                  <a16:creationId xmlns:a16="http://schemas.microsoft.com/office/drawing/2014/main" id="{8E3D39D5-3174-4617-B952-9BD517112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496"/>
              <a:ext cx="1536" cy="828"/>
            </a:xfrm>
            <a:custGeom>
              <a:avLst/>
              <a:gdLst>
                <a:gd name="T0" fmla="*/ 0 w 1380"/>
                <a:gd name="T1" fmla="*/ 933 h 780"/>
                <a:gd name="T2" fmla="*/ 297 w 1380"/>
                <a:gd name="T3" fmla="*/ 689 h 780"/>
                <a:gd name="T4" fmla="*/ 547 w 1380"/>
                <a:gd name="T5" fmla="*/ 517 h 780"/>
                <a:gd name="T6" fmla="*/ 778 w 1380"/>
                <a:gd name="T7" fmla="*/ 387 h 780"/>
                <a:gd name="T8" fmla="*/ 1093 w 1380"/>
                <a:gd name="T9" fmla="*/ 230 h 780"/>
                <a:gd name="T10" fmla="*/ 1406 w 1380"/>
                <a:gd name="T11" fmla="*/ 100 h 780"/>
                <a:gd name="T12" fmla="*/ 1687 w 1380"/>
                <a:gd name="T13" fmla="*/ 29 h 780"/>
                <a:gd name="T14" fmla="*/ 1903 w 1380"/>
                <a:gd name="T15" fmla="*/ 0 h 7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80"/>
                <a:gd name="T25" fmla="*/ 0 h 780"/>
                <a:gd name="T26" fmla="*/ 1380 w 1380"/>
                <a:gd name="T27" fmla="*/ 780 h 7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9" name="Text Box 37">
              <a:extLst>
                <a:ext uri="{FF2B5EF4-FFF2-40B4-BE49-F238E27FC236}">
                  <a16:creationId xmlns:a16="http://schemas.microsoft.com/office/drawing/2014/main" id="{D48CBDA0-4940-43B7-B915-A152D8194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45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</a:p>
          </p:txBody>
        </p:sp>
        <p:sp>
          <p:nvSpPr>
            <p:cNvPr id="28700" name="Text Box 38">
              <a:extLst>
                <a:ext uri="{FF2B5EF4-FFF2-40B4-BE49-F238E27FC236}">
                  <a16:creationId xmlns:a16="http://schemas.microsoft.com/office/drawing/2014/main" id="{32F55193-2A08-4020-BB2E-F7BF4AB8A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01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</a:p>
          </p:txBody>
        </p:sp>
        <p:sp>
          <p:nvSpPr>
            <p:cNvPr id="28701" name="Text Box 39">
              <a:extLst>
                <a:ext uri="{FF2B5EF4-FFF2-40B4-BE49-F238E27FC236}">
                  <a16:creationId xmlns:a16="http://schemas.microsoft.com/office/drawing/2014/main" id="{C30DB7B1-019A-4DE4-B79A-8AC30AB55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40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O</a:t>
              </a:r>
            </a:p>
          </p:txBody>
        </p:sp>
        <p:sp>
          <p:nvSpPr>
            <p:cNvPr id="28702" name="Text Box 40">
              <a:extLst>
                <a:ext uri="{FF2B5EF4-FFF2-40B4-BE49-F238E27FC236}">
                  <a16:creationId xmlns:a16="http://schemas.microsoft.com/office/drawing/2014/main" id="{4F00779D-6E65-4061-BCE6-CC936AFCC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1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28703" name="Text Box 41">
              <a:extLst>
                <a:ext uri="{FF2B5EF4-FFF2-40B4-BE49-F238E27FC236}">
                  <a16:creationId xmlns:a16="http://schemas.microsoft.com/office/drawing/2014/main" id="{A78E3249-16CB-4C65-86C9-037D9A872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496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/>
                <a:t>=</a:t>
              </a:r>
              <a:r>
                <a:rPr lang="en-US" altLang="zh-CN" i="1"/>
                <a:t>f</a:t>
              </a:r>
              <a:r>
                <a:rPr lang="en-US" altLang="zh-CN"/>
                <a:t>(</a:t>
              </a:r>
              <a:r>
                <a:rPr lang="en-US" altLang="zh-CN" i="1"/>
                <a:t>x</a:t>
              </a:r>
              <a:r>
                <a:rPr lang="en-US" altLang="zh-CN"/>
                <a:t>)</a:t>
              </a:r>
            </a:p>
          </p:txBody>
        </p:sp>
      </p:grpSp>
      <p:grpSp>
        <p:nvGrpSpPr>
          <p:cNvPr id="8" name="Group 42">
            <a:extLst>
              <a:ext uri="{FF2B5EF4-FFF2-40B4-BE49-F238E27FC236}">
                <a16:creationId xmlns:a16="http://schemas.microsoft.com/office/drawing/2014/main" id="{421BB307-2273-418B-BB87-8F9A63849F22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810000"/>
            <a:ext cx="2320925" cy="1238250"/>
            <a:chOff x="720" y="2400"/>
            <a:chExt cx="1462" cy="780"/>
          </a:xfrm>
        </p:grpSpPr>
        <p:sp>
          <p:nvSpPr>
            <p:cNvPr id="28694" name="Freeform 43">
              <a:extLst>
                <a:ext uri="{FF2B5EF4-FFF2-40B4-BE49-F238E27FC236}">
                  <a16:creationId xmlns:a16="http://schemas.microsoft.com/office/drawing/2014/main" id="{615830CC-DE04-42E1-8D99-1CFECB1B8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2400"/>
              <a:ext cx="1380" cy="780"/>
            </a:xfrm>
            <a:custGeom>
              <a:avLst/>
              <a:gdLst>
                <a:gd name="T0" fmla="*/ 0 w 1380"/>
                <a:gd name="T1" fmla="*/ 780 h 780"/>
                <a:gd name="T2" fmla="*/ 216 w 1380"/>
                <a:gd name="T3" fmla="*/ 576 h 780"/>
                <a:gd name="T4" fmla="*/ 396 w 1380"/>
                <a:gd name="T5" fmla="*/ 432 h 780"/>
                <a:gd name="T6" fmla="*/ 564 w 1380"/>
                <a:gd name="T7" fmla="*/ 324 h 780"/>
                <a:gd name="T8" fmla="*/ 792 w 1380"/>
                <a:gd name="T9" fmla="*/ 192 h 780"/>
                <a:gd name="T10" fmla="*/ 1020 w 1380"/>
                <a:gd name="T11" fmla="*/ 84 h 780"/>
                <a:gd name="T12" fmla="*/ 1224 w 1380"/>
                <a:gd name="T13" fmla="*/ 24 h 780"/>
                <a:gd name="T14" fmla="*/ 1380 w 1380"/>
                <a:gd name="T15" fmla="*/ 0 h 7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80"/>
                <a:gd name="T25" fmla="*/ 0 h 780"/>
                <a:gd name="T26" fmla="*/ 1380 w 1380"/>
                <a:gd name="T27" fmla="*/ 780 h 7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5" name="Text Box 44">
              <a:extLst>
                <a:ext uri="{FF2B5EF4-FFF2-40B4-BE49-F238E27FC236}">
                  <a16:creationId xmlns:a16="http://schemas.microsoft.com/office/drawing/2014/main" id="{48044F9A-9006-454B-BC0E-E19681754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496"/>
              <a:ext cx="5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y</a:t>
              </a:r>
              <a:r>
                <a:rPr lang="en-US" altLang="zh-CN" b="1">
                  <a:solidFill>
                    <a:srgbClr val="FF3300"/>
                  </a:solidFill>
                </a:rPr>
                <a:t>=</a:t>
              </a:r>
              <a:r>
                <a:rPr lang="en-US" altLang="zh-CN" b="1" i="1">
                  <a:solidFill>
                    <a:srgbClr val="FF3300"/>
                  </a:solidFill>
                </a:rPr>
                <a:t>f</a:t>
              </a:r>
              <a:r>
                <a:rPr lang="en-US" altLang="zh-CN" b="1">
                  <a:solidFill>
                    <a:srgbClr val="FF3300"/>
                  </a:solidFill>
                </a:rPr>
                <a:t>(</a:t>
              </a:r>
              <a:r>
                <a:rPr lang="en-US" altLang="zh-CN" b="1" i="1">
                  <a:solidFill>
                    <a:srgbClr val="FF3300"/>
                  </a:solidFill>
                </a:rPr>
                <a:t>x</a:t>
              </a:r>
              <a:r>
                <a:rPr lang="en-US" altLang="zh-CN" b="1">
                  <a:solidFill>
                    <a:srgbClr val="FF3300"/>
                  </a:solidFill>
                </a:rPr>
                <a:t>)</a:t>
              </a:r>
            </a:p>
          </p:txBody>
        </p:sp>
      </p:grpSp>
      <p:sp>
        <p:nvSpPr>
          <p:cNvPr id="59437" name="Text Box 45">
            <a:extLst>
              <a:ext uri="{FF2B5EF4-FFF2-40B4-BE49-F238E27FC236}">
                <a16:creationId xmlns:a16="http://schemas.microsoft.com/office/drawing/2014/main" id="{BCDA3B89-6DF9-4D7C-B409-86F4BD0B1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2075" y="3505200"/>
            <a:ext cx="141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/>
              <a:t>乙安全区</a:t>
            </a:r>
          </a:p>
        </p:txBody>
      </p:sp>
      <p:sp>
        <p:nvSpPr>
          <p:cNvPr id="59438" name="Text Box 46">
            <a:extLst>
              <a:ext uri="{FF2B5EF4-FFF2-40B4-BE49-F238E27FC236}">
                <a16:creationId xmlns:a16="http://schemas.microsoft.com/office/drawing/2014/main" id="{EBC3DE65-B190-4203-A563-12D424520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9213" y="4038600"/>
            <a:ext cx="788987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/>
              <a:t>甲安全区</a:t>
            </a:r>
          </a:p>
        </p:txBody>
      </p:sp>
      <p:sp>
        <p:nvSpPr>
          <p:cNvPr id="59439" name="Text Box 47">
            <a:extLst>
              <a:ext uri="{FF2B5EF4-FFF2-40B4-BE49-F238E27FC236}">
                <a16:creationId xmlns:a16="http://schemas.microsoft.com/office/drawing/2014/main" id="{940C24DA-6250-4376-AD4E-4D078950D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3111500"/>
            <a:ext cx="12620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3300"/>
                </a:solidFill>
              </a:rPr>
              <a:t>双方</a:t>
            </a:r>
          </a:p>
          <a:p>
            <a:pPr algn="ctr" eaLnBrk="1" hangingPunct="1"/>
            <a:r>
              <a:rPr lang="zh-CN" altLang="en-US" b="1">
                <a:solidFill>
                  <a:srgbClr val="FF3300"/>
                </a:solidFill>
              </a:rPr>
              <a:t>安全区</a:t>
            </a:r>
          </a:p>
        </p:txBody>
      </p:sp>
      <p:sp>
        <p:nvSpPr>
          <p:cNvPr id="59440" name="Text Box 48">
            <a:extLst>
              <a:ext uri="{FF2B5EF4-FFF2-40B4-BE49-F238E27FC236}">
                <a16:creationId xmlns:a16="http://schemas.microsoft.com/office/drawing/2014/main" id="{5CA2B65D-33FC-4ADE-BB92-0C3D49AAA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5913438"/>
            <a:ext cx="4495800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P~</a:t>
            </a:r>
            <a:r>
              <a:rPr lang="zh-CN" altLang="en-US" sz="2800" b="1"/>
              <a:t>平衡点</a:t>
            </a:r>
            <a:r>
              <a:rPr lang="en-US" altLang="zh-CN" sz="2800" b="1"/>
              <a:t>(</a:t>
            </a:r>
            <a:r>
              <a:rPr lang="zh-CN" altLang="en-US" sz="2800" b="1"/>
              <a:t>双方最少导弹数</a:t>
            </a:r>
            <a:r>
              <a:rPr lang="en-US" altLang="zh-CN" sz="2800" b="1"/>
              <a:t>)</a:t>
            </a:r>
          </a:p>
        </p:txBody>
      </p:sp>
      <p:sp>
        <p:nvSpPr>
          <p:cNvPr id="59441" name="Text Box 49">
            <a:extLst>
              <a:ext uri="{FF2B5EF4-FFF2-40B4-BE49-F238E27FC236}">
                <a16:creationId xmlns:a16="http://schemas.microsoft.com/office/drawing/2014/main" id="{D6688274-2AAD-4CAE-82BD-B5BF17FC1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419600"/>
            <a:ext cx="141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</a:rPr>
              <a:t>乙安全线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1000"/>
                                        <p:tgtEl>
                                          <p:spTgt spid="5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1000"/>
                                        <p:tgtEl>
                                          <p:spTgt spid="59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5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10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2000"/>
                                        <p:tgtEl>
                                          <p:spTgt spid="59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20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1000"/>
                                        <p:tgtEl>
                                          <p:spTgt spid="59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animBg="1" autoUpdateAnimBg="0"/>
      <p:bldP spid="59396" grpId="0" animBg="1" autoUpdateAnimBg="0"/>
      <p:bldP spid="59397" grpId="0" animBg="1" autoUpdateAnimBg="0"/>
      <p:bldP spid="59410" grpId="0" animBg="1" autoUpdateAnimBg="0"/>
      <p:bldP spid="59421" grpId="0" autoUpdateAnimBg="0"/>
      <p:bldP spid="59437" grpId="0" autoUpdateAnimBg="0"/>
      <p:bldP spid="59438" grpId="0" autoUpdateAnimBg="0"/>
      <p:bldP spid="59439" grpId="0" autoUpdateAnimBg="0"/>
      <p:bldP spid="59440" grpId="0" animBg="1" autoUpdateAnimBg="0"/>
      <p:bldP spid="59441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75BD9B88-62D6-44CD-82FF-12E73F3A8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76250"/>
            <a:ext cx="1219200" cy="10668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分析模型</a:t>
            </a:r>
          </a:p>
        </p:txBody>
      </p:sp>
      <p:sp>
        <p:nvSpPr>
          <p:cNvPr id="60419" name="Text Box 3">
            <a:extLst>
              <a:ext uri="{FF2B5EF4-FFF2-40B4-BE49-F238E27FC236}">
                <a16:creationId xmlns:a16="http://schemas.microsoft.com/office/drawing/2014/main" id="{2438C255-BC3B-4F93-B6C3-15D28D184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76250"/>
            <a:ext cx="684688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乙方</a:t>
            </a:r>
            <a:r>
              <a:rPr lang="zh-CN" altLang="en-US" sz="2800" b="1">
                <a:solidFill>
                  <a:srgbClr val="FF3300"/>
                </a:solidFill>
              </a:rPr>
              <a:t>残存率</a:t>
            </a:r>
            <a:r>
              <a:rPr lang="zh-CN" altLang="en-US" sz="2800" b="1"/>
              <a:t> </a:t>
            </a:r>
            <a:r>
              <a:rPr lang="en-US" altLang="zh-CN" sz="2800" b="1" i="1">
                <a:solidFill>
                  <a:srgbClr val="FF3300"/>
                </a:solidFill>
              </a:rPr>
              <a:t>s</a:t>
            </a:r>
            <a:r>
              <a:rPr lang="en-US" altLang="zh-CN" sz="2800" b="1" i="1"/>
              <a:t> ~</a:t>
            </a:r>
            <a:r>
              <a:rPr lang="zh-CN" altLang="en-US" sz="2800" b="1"/>
              <a:t>甲方一枚导弹攻击乙方一个基地，基地未被摧毁的概率</a:t>
            </a:r>
            <a:r>
              <a:rPr lang="en-US" altLang="zh-CN" sz="2800" b="1"/>
              <a:t>.</a:t>
            </a:r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FCB806D0-5436-4964-8698-1BB805F0E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0238" y="2117725"/>
            <a:ext cx="6559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sx</a:t>
            </a:r>
            <a:r>
              <a:rPr lang="zh-CN" altLang="en-US" sz="2800" b="1"/>
              <a:t>个基地未被摧毁，</a:t>
            </a:r>
            <a:r>
              <a:rPr lang="en-US" altLang="zh-CN" sz="2800" b="1" i="1"/>
              <a:t>y</a:t>
            </a:r>
            <a:r>
              <a:rPr lang="en-US" altLang="zh-CN" sz="2800" b="1"/>
              <a:t>–</a:t>
            </a:r>
            <a:r>
              <a:rPr lang="en-US" altLang="zh-CN" sz="2800" b="1" i="1"/>
              <a:t>x</a:t>
            </a:r>
            <a:r>
              <a:rPr lang="zh-CN" altLang="en-US" sz="2800" b="1"/>
              <a:t>个基地未被攻击</a:t>
            </a:r>
            <a:r>
              <a:rPr lang="en-US" altLang="zh-CN" sz="2800" b="1"/>
              <a:t>.</a:t>
            </a:r>
          </a:p>
        </p:txBody>
      </p:sp>
      <p:sp>
        <p:nvSpPr>
          <p:cNvPr id="60421" name="Text Box 5">
            <a:extLst>
              <a:ext uri="{FF2B5EF4-FFF2-40B4-BE49-F238E27FC236}">
                <a16:creationId xmlns:a16="http://schemas.microsoft.com/office/drawing/2014/main" id="{5A782CCF-1E7D-410D-964B-E8DD6880E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00213"/>
            <a:ext cx="722313" cy="51911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x&lt;y</a:t>
            </a:r>
          </a:p>
        </p:txBody>
      </p:sp>
      <p:sp>
        <p:nvSpPr>
          <p:cNvPr id="60422" name="Text Box 6">
            <a:extLst>
              <a:ext uri="{FF2B5EF4-FFF2-40B4-BE49-F238E27FC236}">
                <a16:creationId xmlns:a16="http://schemas.microsoft.com/office/drawing/2014/main" id="{FA658D83-8113-4F2E-B237-AF107D0C7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1614488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甲方以 </a:t>
            </a:r>
            <a:r>
              <a:rPr lang="en-US" altLang="zh-CN" sz="2800" b="1" i="1"/>
              <a:t>x</a:t>
            </a:r>
            <a:r>
              <a:rPr lang="zh-CN" altLang="en-US" sz="2800" b="1"/>
              <a:t>枚导弹攻击乙方 </a:t>
            </a:r>
            <a:r>
              <a:rPr lang="en-US" altLang="zh-CN" sz="2800" b="1" i="1"/>
              <a:t>y</a:t>
            </a:r>
            <a:r>
              <a:rPr lang="zh-CN" altLang="en-US" sz="2800" b="1"/>
              <a:t>个基地中的 </a:t>
            </a:r>
            <a:r>
              <a:rPr lang="en-US" altLang="zh-CN" sz="2800" b="1" i="1"/>
              <a:t>x</a:t>
            </a:r>
            <a:r>
              <a:rPr lang="zh-CN" altLang="en-US" sz="2800" b="1"/>
              <a:t>个</a:t>
            </a:r>
            <a:r>
              <a:rPr lang="en-US" altLang="zh-CN" sz="2800" b="1"/>
              <a:t>,</a:t>
            </a:r>
          </a:p>
        </p:txBody>
      </p:sp>
      <p:sp>
        <p:nvSpPr>
          <p:cNvPr id="60423" name="Text Box 7">
            <a:extLst>
              <a:ext uri="{FF2B5EF4-FFF2-40B4-BE49-F238E27FC236}">
                <a16:creationId xmlns:a16="http://schemas.microsoft.com/office/drawing/2014/main" id="{C03D4466-4100-4EE6-B550-EF6931A7B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636838"/>
            <a:ext cx="1820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=</a:t>
            </a:r>
            <a:r>
              <a:rPr lang="en-US" altLang="zh-CN" sz="2800" b="1" i="1"/>
              <a:t>sx</a:t>
            </a:r>
            <a:r>
              <a:rPr lang="en-US" altLang="zh-CN" sz="2800" b="1"/>
              <a:t>+</a:t>
            </a:r>
            <a:r>
              <a:rPr lang="en-US" altLang="zh-CN" sz="2800" b="1" i="1"/>
              <a:t>y</a:t>
            </a:r>
            <a:r>
              <a:rPr lang="en-US" altLang="zh-CN" sz="2800" b="1"/>
              <a:t>–</a:t>
            </a:r>
            <a:r>
              <a:rPr lang="en-US" altLang="zh-CN" sz="2800" b="1" i="1"/>
              <a:t>x</a:t>
            </a:r>
          </a:p>
        </p:txBody>
      </p:sp>
      <p:sp>
        <p:nvSpPr>
          <p:cNvPr id="60425" name="Text Box 9">
            <a:extLst>
              <a:ext uri="{FF2B5EF4-FFF2-40B4-BE49-F238E27FC236}">
                <a16:creationId xmlns:a16="http://schemas.microsoft.com/office/drawing/2014/main" id="{590ED792-C993-439E-B2D1-9F7C6947C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3197225"/>
            <a:ext cx="722312" cy="51911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x=y</a:t>
            </a:r>
          </a:p>
        </p:txBody>
      </p:sp>
      <p:sp>
        <p:nvSpPr>
          <p:cNvPr id="60426" name="Text Box 10">
            <a:extLst>
              <a:ext uri="{FF2B5EF4-FFF2-40B4-BE49-F238E27FC236}">
                <a16:creationId xmlns:a16="http://schemas.microsoft.com/office/drawing/2014/main" id="{37D1C2D1-64D5-4A3C-B0A5-966250DAA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3141663"/>
            <a:ext cx="126047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=</a:t>
            </a:r>
            <a:r>
              <a:rPr lang="en-US" altLang="zh-CN" sz="2800" b="1" i="1"/>
              <a:t>sy</a:t>
            </a:r>
          </a:p>
        </p:txBody>
      </p:sp>
      <p:sp>
        <p:nvSpPr>
          <p:cNvPr id="60428" name="Text Box 12">
            <a:extLst>
              <a:ext uri="{FF2B5EF4-FFF2-40B4-BE49-F238E27FC236}">
                <a16:creationId xmlns:a16="http://schemas.microsoft.com/office/drawing/2014/main" id="{91B1BE34-9736-48FF-AEFB-083963858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3860800"/>
            <a:ext cx="75247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800" b="1"/>
              <a:t>乙的</a:t>
            </a:r>
            <a:r>
              <a:rPr lang="en-US" altLang="zh-CN" sz="2800" b="1" i="1"/>
              <a:t>x</a:t>
            </a:r>
            <a:r>
              <a:rPr lang="en-US" altLang="zh-CN" sz="2800" b="1"/>
              <a:t>–</a:t>
            </a:r>
            <a:r>
              <a:rPr lang="en-US" altLang="zh-CN" sz="2800" b="1" i="1"/>
              <a:t>y</a:t>
            </a:r>
            <a:r>
              <a:rPr lang="zh-CN" altLang="en-US" sz="2800" b="1"/>
              <a:t>个基地被攻击</a:t>
            </a:r>
            <a:r>
              <a:rPr lang="en-US" altLang="zh-CN" sz="2800" b="1"/>
              <a:t>2</a:t>
            </a:r>
            <a:r>
              <a:rPr lang="zh-CN" altLang="en-US" sz="2800" b="1"/>
              <a:t>次</a:t>
            </a:r>
            <a:r>
              <a:rPr lang="en-US" altLang="zh-CN" sz="2800" b="1"/>
              <a:t>, </a:t>
            </a:r>
            <a:r>
              <a:rPr lang="en-US" altLang="zh-CN" sz="2800" b="1" i="1"/>
              <a:t>s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–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个未被摧毁</a:t>
            </a:r>
            <a:r>
              <a:rPr lang="en-US" altLang="zh-CN" sz="2800" b="1"/>
              <a:t>;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800" b="1" i="1"/>
              <a:t>y </a:t>
            </a:r>
            <a:r>
              <a:rPr lang="en-US" altLang="zh-CN" sz="2800" b="1"/>
              <a:t>–(</a:t>
            </a:r>
            <a:r>
              <a:rPr lang="en-US" altLang="zh-CN" sz="2800" b="1" i="1"/>
              <a:t>x</a:t>
            </a:r>
            <a:r>
              <a:rPr lang="en-US" altLang="zh-CN" sz="2800" b="1"/>
              <a:t>–</a:t>
            </a:r>
            <a:r>
              <a:rPr lang="en-US" altLang="zh-CN" sz="2800" b="1" i="1"/>
              <a:t>y</a:t>
            </a:r>
            <a:r>
              <a:rPr lang="en-US" altLang="zh-CN" sz="2800" b="1"/>
              <a:t>)=2</a:t>
            </a:r>
            <a:r>
              <a:rPr lang="en-US" altLang="zh-CN" sz="2800" b="1" i="1"/>
              <a:t>y</a:t>
            </a:r>
            <a:r>
              <a:rPr lang="en-US" altLang="zh-CN" sz="2800" b="1"/>
              <a:t>–</a:t>
            </a:r>
            <a:r>
              <a:rPr lang="en-US" altLang="zh-CN" sz="2800" b="1" i="1"/>
              <a:t> x</a:t>
            </a:r>
            <a:r>
              <a:rPr lang="zh-CN" altLang="en-US" sz="2800" b="1"/>
              <a:t>个被攻击</a:t>
            </a:r>
            <a:r>
              <a:rPr lang="en-US" altLang="zh-CN" sz="2800" b="1"/>
              <a:t>1</a:t>
            </a:r>
            <a:r>
              <a:rPr lang="zh-CN" altLang="en-US" sz="2800" b="1"/>
              <a:t>次</a:t>
            </a:r>
            <a:r>
              <a:rPr lang="en-US" altLang="zh-CN" sz="2800" b="1"/>
              <a:t>, </a:t>
            </a:r>
            <a:r>
              <a:rPr lang="en-US" altLang="zh-CN" sz="2800" b="1" i="1"/>
              <a:t>s</a:t>
            </a:r>
            <a:r>
              <a:rPr lang="en-US" altLang="zh-CN" sz="2800" b="1"/>
              <a:t>(2</a:t>
            </a:r>
            <a:r>
              <a:rPr lang="en-US" altLang="zh-CN" sz="2800" b="1" i="1"/>
              <a:t>y</a:t>
            </a:r>
            <a:r>
              <a:rPr lang="en-US" altLang="zh-CN" sz="2800" b="1"/>
              <a:t>–</a:t>
            </a:r>
            <a:r>
              <a:rPr lang="en-US" altLang="zh-CN" sz="2800" b="1" i="1"/>
              <a:t> x </a:t>
            </a:r>
            <a:r>
              <a:rPr lang="en-US" altLang="zh-CN" sz="2800" b="1"/>
              <a:t>)</a:t>
            </a:r>
            <a:r>
              <a:rPr lang="zh-CN" altLang="en-US" sz="2800" b="1"/>
              <a:t>个未被摧毁</a:t>
            </a:r>
            <a:r>
              <a:rPr lang="en-US" altLang="zh-CN" sz="2800" b="1"/>
              <a:t>.</a:t>
            </a:r>
          </a:p>
        </p:txBody>
      </p:sp>
      <p:sp>
        <p:nvSpPr>
          <p:cNvPr id="60429" name="Text Box 13">
            <a:extLst>
              <a:ext uri="{FF2B5EF4-FFF2-40B4-BE49-F238E27FC236}">
                <a16:creationId xmlns:a16="http://schemas.microsoft.com/office/drawing/2014/main" id="{D264244D-20A8-4454-A05C-7F7DCE948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941888"/>
            <a:ext cx="3300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=</a:t>
            </a:r>
            <a:r>
              <a:rPr lang="en-US" altLang="zh-CN" sz="2800" b="1" i="1"/>
              <a:t> s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–</a:t>
            </a:r>
            <a:r>
              <a:rPr lang="en-US" altLang="zh-CN" sz="2800" b="1" i="1"/>
              <a:t>y</a:t>
            </a:r>
            <a:r>
              <a:rPr lang="en-US" altLang="zh-CN" sz="2800" b="1"/>
              <a:t>)+</a:t>
            </a:r>
            <a:r>
              <a:rPr lang="en-US" altLang="zh-CN" sz="2800" b="1" i="1"/>
              <a:t> s</a:t>
            </a:r>
            <a:r>
              <a:rPr lang="en-US" altLang="zh-CN" sz="2800" b="1"/>
              <a:t>(2</a:t>
            </a:r>
            <a:r>
              <a:rPr lang="en-US" altLang="zh-CN" sz="2800" b="1" i="1"/>
              <a:t>y</a:t>
            </a:r>
            <a:r>
              <a:rPr lang="en-US" altLang="zh-CN" sz="2800" b="1"/>
              <a:t>–</a:t>
            </a:r>
            <a:r>
              <a:rPr lang="en-US" altLang="zh-CN" sz="2800" b="1" i="1"/>
              <a:t> x </a:t>
            </a:r>
            <a:r>
              <a:rPr lang="en-US" altLang="zh-CN" sz="2800" b="1"/>
              <a:t>)</a:t>
            </a:r>
          </a:p>
        </p:txBody>
      </p:sp>
      <p:sp>
        <p:nvSpPr>
          <p:cNvPr id="60431" name="Text Box 15">
            <a:extLst>
              <a:ext uri="{FF2B5EF4-FFF2-40B4-BE49-F238E27FC236}">
                <a16:creationId xmlns:a16="http://schemas.microsoft.com/office/drawing/2014/main" id="{C24AEECB-F3FB-40C1-BDC4-51475E929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5791200"/>
            <a:ext cx="914400" cy="519113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=2</a:t>
            </a:r>
            <a:r>
              <a:rPr lang="en-US" altLang="zh-CN" sz="2800" b="1" i="1"/>
              <a:t>y</a:t>
            </a:r>
          </a:p>
        </p:txBody>
      </p:sp>
      <p:sp>
        <p:nvSpPr>
          <p:cNvPr id="60432" name="Text Box 16">
            <a:extLst>
              <a:ext uri="{FF2B5EF4-FFF2-40B4-BE49-F238E27FC236}">
                <a16:creationId xmlns:a16="http://schemas.microsoft.com/office/drawing/2014/main" id="{AB178D20-7265-44FD-9D57-76855AAC3A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734050"/>
            <a:ext cx="12192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=</a:t>
            </a:r>
            <a:r>
              <a:rPr lang="en-US" altLang="zh-CN" sz="2800" b="1" i="1"/>
              <a:t>s</a:t>
            </a:r>
            <a:r>
              <a:rPr lang="en-US" altLang="zh-CN" sz="2800" b="1" baseline="30000"/>
              <a:t>2</a:t>
            </a:r>
            <a:r>
              <a:rPr lang="en-US" altLang="zh-CN" sz="2800" b="1" i="1"/>
              <a:t>y</a:t>
            </a:r>
          </a:p>
        </p:txBody>
      </p:sp>
      <p:sp>
        <p:nvSpPr>
          <p:cNvPr id="60434" name="Text Box 18">
            <a:extLst>
              <a:ext uri="{FF2B5EF4-FFF2-40B4-BE49-F238E27FC236}">
                <a16:creationId xmlns:a16="http://schemas.microsoft.com/office/drawing/2014/main" id="{862F2A37-10BA-436B-BE54-6DC3EB365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900488"/>
            <a:ext cx="1260475" cy="519112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y&lt;x&lt;</a:t>
            </a:r>
            <a:r>
              <a:rPr lang="en-US" altLang="zh-CN" sz="2800" b="1"/>
              <a:t>2</a:t>
            </a:r>
            <a:r>
              <a:rPr lang="en-US" altLang="zh-CN" sz="2800" b="1" i="1"/>
              <a:t>y</a:t>
            </a:r>
          </a:p>
        </p:txBody>
      </p:sp>
      <p:grpSp>
        <p:nvGrpSpPr>
          <p:cNvPr id="2" name="Group 27">
            <a:extLst>
              <a:ext uri="{FF2B5EF4-FFF2-40B4-BE49-F238E27FC236}">
                <a16:creationId xmlns:a16="http://schemas.microsoft.com/office/drawing/2014/main" id="{3AB1C10B-87D3-4AAC-830A-CFE75F9ACFEA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4876800"/>
            <a:ext cx="3529013" cy="857250"/>
            <a:chOff x="3197" y="3120"/>
            <a:chExt cx="2132" cy="628"/>
          </a:xfrm>
        </p:grpSpPr>
        <p:graphicFrame>
          <p:nvGraphicFramePr>
            <p:cNvPr id="29721" name="Object 19">
              <a:extLst>
                <a:ext uri="{FF2B5EF4-FFF2-40B4-BE49-F238E27FC236}">
                  <a16:creationId xmlns:a16="http://schemas.microsoft.com/office/drawing/2014/main" id="{A74A32FC-E046-45FC-8457-6B8F277A43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33" y="3120"/>
            <a:ext cx="1996" cy="6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27" name="公式" r:id="rId3" imgW="1333500" imgH="419100" progId="Equation.3">
                    <p:embed/>
                  </p:oleObj>
                </mc:Choice>
                <mc:Fallback>
                  <p:oleObj name="公式" r:id="rId3" imgW="1333500" imgH="4191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3" y="3120"/>
                          <a:ext cx="1996" cy="6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2" name="AutoShape 20">
              <a:extLst>
                <a:ext uri="{FF2B5EF4-FFF2-40B4-BE49-F238E27FC236}">
                  <a16:creationId xmlns:a16="http://schemas.microsoft.com/office/drawing/2014/main" id="{AC890C5F-9A6D-4349-8C10-4275AD354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294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25">
            <a:extLst>
              <a:ext uri="{FF2B5EF4-FFF2-40B4-BE49-F238E27FC236}">
                <a16:creationId xmlns:a16="http://schemas.microsoft.com/office/drawing/2014/main" id="{3A2118DF-237C-4984-B4B7-D5F0C3C930B2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2636838"/>
            <a:ext cx="2366962" cy="519112"/>
            <a:chOff x="2925" y="1519"/>
            <a:chExt cx="1491" cy="477"/>
          </a:xfrm>
        </p:grpSpPr>
        <p:sp>
          <p:nvSpPr>
            <p:cNvPr id="29719" name="Text Box 8">
              <a:extLst>
                <a:ext uri="{FF2B5EF4-FFF2-40B4-BE49-F238E27FC236}">
                  <a16:creationId xmlns:a16="http://schemas.microsoft.com/office/drawing/2014/main" id="{93C0E262-4535-47CB-B890-5ABF32083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519"/>
              <a:ext cx="1344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y</a:t>
              </a:r>
              <a:r>
                <a:rPr lang="en-US" altLang="zh-CN" sz="2800" b="1"/>
                <a:t>= </a:t>
              </a:r>
              <a:r>
                <a:rPr lang="en-US" altLang="zh-CN" sz="2800" b="1" i="1"/>
                <a:t>y</a:t>
              </a:r>
              <a:r>
                <a:rPr lang="en-US" altLang="zh-CN" sz="2800" b="1" baseline="-25000"/>
                <a:t>0</a:t>
              </a:r>
              <a:r>
                <a:rPr lang="en-US" altLang="zh-CN" sz="2800" b="1"/>
                <a:t>+(1–</a:t>
              </a:r>
              <a:r>
                <a:rPr lang="en-US" altLang="zh-CN" sz="2800" b="1" i="1"/>
                <a:t>s</a:t>
              </a:r>
              <a:r>
                <a:rPr lang="en-US" altLang="zh-CN" sz="2800" b="1"/>
                <a:t>)</a:t>
              </a:r>
              <a:r>
                <a:rPr lang="en-US" altLang="zh-CN" sz="2800" b="1" i="1"/>
                <a:t>x</a:t>
              </a:r>
            </a:p>
          </p:txBody>
        </p:sp>
        <p:sp>
          <p:nvSpPr>
            <p:cNvPr id="29720" name="AutoShape 22">
              <a:extLst>
                <a:ext uri="{FF2B5EF4-FFF2-40B4-BE49-F238E27FC236}">
                  <a16:creationId xmlns:a16="http://schemas.microsoft.com/office/drawing/2014/main" id="{1AE130C0-33C8-4962-9DCA-3A0A7302B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616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D55F9AF6-E8F2-4CA9-970C-2DA31AFA3B53}"/>
              </a:ext>
            </a:extLst>
          </p:cNvPr>
          <p:cNvGrpSpPr>
            <a:grpSpLocks/>
          </p:cNvGrpSpPr>
          <p:nvPr/>
        </p:nvGrpSpPr>
        <p:grpSpPr bwMode="auto">
          <a:xfrm>
            <a:off x="4203700" y="3246438"/>
            <a:ext cx="1447800" cy="519112"/>
            <a:chOff x="2925" y="1906"/>
            <a:chExt cx="912" cy="453"/>
          </a:xfrm>
        </p:grpSpPr>
        <p:sp>
          <p:nvSpPr>
            <p:cNvPr id="29717" name="Text Box 11">
              <a:extLst>
                <a:ext uri="{FF2B5EF4-FFF2-40B4-BE49-F238E27FC236}">
                  <a16:creationId xmlns:a16="http://schemas.microsoft.com/office/drawing/2014/main" id="{01EB8701-131B-464B-85AF-983ABE0D97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906"/>
              <a:ext cx="765" cy="45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y</a:t>
              </a:r>
              <a:r>
                <a:rPr lang="en-US" altLang="zh-CN" sz="2800" b="1"/>
                <a:t>=</a:t>
              </a:r>
              <a:r>
                <a:rPr lang="en-US" altLang="zh-CN" sz="2800" b="1" i="1"/>
                <a:t>y</a:t>
              </a:r>
              <a:r>
                <a:rPr lang="en-US" altLang="zh-CN" sz="2800" b="1" baseline="-25000"/>
                <a:t>0</a:t>
              </a:r>
              <a:r>
                <a:rPr lang="en-US" altLang="zh-CN" sz="2800" b="1"/>
                <a:t>/</a:t>
              </a:r>
              <a:r>
                <a:rPr lang="en-US" altLang="zh-CN" sz="2800" b="1" i="1"/>
                <a:t>s</a:t>
              </a:r>
              <a:endParaRPr lang="en-US" altLang="zh-CN" sz="2800" b="1"/>
            </a:p>
          </p:txBody>
        </p:sp>
        <p:sp>
          <p:nvSpPr>
            <p:cNvPr id="29718" name="AutoShape 23">
              <a:extLst>
                <a:ext uri="{FF2B5EF4-FFF2-40B4-BE49-F238E27FC236}">
                  <a16:creationId xmlns:a16="http://schemas.microsoft.com/office/drawing/2014/main" id="{AB9FB4A9-5A08-46A7-A558-DDC37FAFD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979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70EEE593-9EAD-407F-A1E2-9598475D51AB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5734050"/>
            <a:ext cx="1474787" cy="519113"/>
            <a:chOff x="3016" y="3758"/>
            <a:chExt cx="929" cy="414"/>
          </a:xfrm>
        </p:grpSpPr>
        <p:sp>
          <p:nvSpPr>
            <p:cNvPr id="29715" name="Text Box 17">
              <a:extLst>
                <a:ext uri="{FF2B5EF4-FFF2-40B4-BE49-F238E27FC236}">
                  <a16:creationId xmlns:a16="http://schemas.microsoft.com/office/drawing/2014/main" id="{59842F98-9EC5-478E-8FBA-380EA6E66C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758"/>
              <a:ext cx="777" cy="41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y</a:t>
              </a:r>
              <a:r>
                <a:rPr lang="en-US" altLang="zh-CN" sz="2800" b="1"/>
                <a:t>=</a:t>
              </a:r>
              <a:r>
                <a:rPr lang="en-US" altLang="zh-CN" sz="2800" b="1" i="1"/>
                <a:t>y</a:t>
              </a:r>
              <a:r>
                <a:rPr lang="en-US" altLang="zh-CN" sz="2800" b="1" baseline="-25000"/>
                <a:t>0</a:t>
              </a:r>
              <a:r>
                <a:rPr lang="en-US" altLang="zh-CN" sz="2800" b="1"/>
                <a:t>/</a:t>
              </a:r>
              <a:r>
                <a:rPr lang="en-US" altLang="zh-CN" sz="2800" b="1" i="1"/>
                <a:t>s</a:t>
              </a:r>
              <a:r>
                <a:rPr lang="en-US" altLang="zh-CN" sz="2800" b="1" baseline="30000"/>
                <a:t>2</a:t>
              </a:r>
              <a:endParaRPr lang="en-US" altLang="zh-CN" sz="2800" b="1"/>
            </a:p>
          </p:txBody>
        </p:sp>
        <p:sp>
          <p:nvSpPr>
            <p:cNvPr id="29716" name="AutoShape 24">
              <a:extLst>
                <a:ext uri="{FF2B5EF4-FFF2-40B4-BE49-F238E27FC236}">
                  <a16:creationId xmlns:a16="http://schemas.microsoft.com/office/drawing/2014/main" id="{8B695294-1D19-4718-BE78-8AB9A1498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3838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10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6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60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604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6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autoUpdateAnimBg="0"/>
      <p:bldP spid="60420" grpId="0" autoUpdateAnimBg="0"/>
      <p:bldP spid="60421" grpId="0" animBg="1" autoUpdateAnimBg="0"/>
      <p:bldP spid="60422" grpId="0" autoUpdateAnimBg="0"/>
      <p:bldP spid="60423" grpId="0" autoUpdateAnimBg="0"/>
      <p:bldP spid="60425" grpId="0" animBg="1" autoUpdateAnimBg="0"/>
      <p:bldP spid="60426" grpId="0" animBg="1" autoUpdateAnimBg="0"/>
      <p:bldP spid="60429" grpId="0" autoUpdateAnimBg="0"/>
      <p:bldP spid="60431" grpId="0" animBg="1" autoUpdateAnimBg="0"/>
      <p:bldP spid="60432" grpId="0" animBg="1" autoUpdateAnimBg="0"/>
      <p:bldP spid="60434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2" name="Object 2">
            <a:extLst>
              <a:ext uri="{FF2B5EF4-FFF2-40B4-BE49-F238E27FC236}">
                <a16:creationId xmlns:a16="http://schemas.microsoft.com/office/drawing/2014/main" id="{5947EA64-594E-4D6F-B681-9D5E4E8F98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179638"/>
          <a:ext cx="274320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1" name="公式" r:id="rId3" imgW="875920" imgH="393529" progId="Equation.3">
                  <p:embed/>
                </p:oleObj>
              </mc:Choice>
              <mc:Fallback>
                <p:oleObj name="公式" r:id="rId3" imgW="875920" imgH="39352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79638"/>
                        <a:ext cx="2743200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Text Box 4">
            <a:extLst>
              <a:ext uri="{FF2B5EF4-FFF2-40B4-BE49-F238E27FC236}">
                <a16:creationId xmlns:a16="http://schemas.microsoft.com/office/drawing/2014/main" id="{A540A7C6-F196-4092-9BC6-A73947C69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2484438"/>
            <a:ext cx="1077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a y,</a:t>
            </a:r>
          </a:p>
        </p:txBody>
      </p:sp>
      <p:sp>
        <p:nvSpPr>
          <p:cNvPr id="30724" name="Text Box 5">
            <a:extLst>
              <a:ext uri="{FF2B5EF4-FFF2-40B4-BE49-F238E27FC236}">
                <a16:creationId xmlns:a16="http://schemas.microsoft.com/office/drawing/2014/main" id="{F32D1509-92DC-4A88-A94F-53AFF00F8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" y="549275"/>
            <a:ext cx="12192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分析模型</a:t>
            </a:r>
          </a:p>
        </p:txBody>
      </p:sp>
      <p:sp>
        <p:nvSpPr>
          <p:cNvPr id="61446" name="Text Box 6">
            <a:extLst>
              <a:ext uri="{FF2B5EF4-FFF2-40B4-BE49-F238E27FC236}">
                <a16:creationId xmlns:a16="http://schemas.microsoft.com/office/drawing/2014/main" id="{17664693-E91F-494E-A4D7-E4644C426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570038"/>
            <a:ext cx="177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</a:rPr>
              <a:t>x=y, y</a:t>
            </a:r>
            <a:r>
              <a:rPr lang="en-US" altLang="zh-CN" sz="2800" b="1">
                <a:solidFill>
                  <a:srgbClr val="FF3300"/>
                </a:solidFill>
              </a:rPr>
              <a:t>=</a:t>
            </a:r>
            <a:r>
              <a:rPr lang="en-US" altLang="zh-CN" sz="2800" b="1" i="1">
                <a:solidFill>
                  <a:srgbClr val="FF3300"/>
                </a:solidFill>
              </a:rPr>
              <a:t>y</a:t>
            </a:r>
            <a:r>
              <a:rPr lang="en-US" altLang="zh-CN" sz="2800" b="1" baseline="-25000">
                <a:solidFill>
                  <a:srgbClr val="FF3300"/>
                </a:solidFill>
              </a:rPr>
              <a:t>0</a:t>
            </a:r>
            <a:r>
              <a:rPr lang="en-US" altLang="zh-CN" sz="2800" b="1">
                <a:solidFill>
                  <a:srgbClr val="FF3300"/>
                </a:solidFill>
              </a:rPr>
              <a:t>/</a:t>
            </a:r>
            <a:r>
              <a:rPr lang="en-US" altLang="zh-CN" sz="2800" b="1" i="1">
                <a:solidFill>
                  <a:srgbClr val="FF3300"/>
                </a:solidFill>
              </a:rPr>
              <a:t>s</a:t>
            </a:r>
          </a:p>
        </p:txBody>
      </p:sp>
      <p:sp>
        <p:nvSpPr>
          <p:cNvPr id="61447" name="Text Box 7">
            <a:extLst>
              <a:ext uri="{FF2B5EF4-FFF2-40B4-BE49-F238E27FC236}">
                <a16:creationId xmlns:a16="http://schemas.microsoft.com/office/drawing/2014/main" id="{72298AE6-3CDA-4282-B07D-F85CCC1C6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570038"/>
            <a:ext cx="2357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=2</a:t>
            </a:r>
            <a:r>
              <a:rPr lang="en-US" altLang="zh-CN" sz="2800" b="1" i="1">
                <a:solidFill>
                  <a:schemeClr val="accent2"/>
                </a:solidFill>
              </a:rPr>
              <a:t>y,  y</a:t>
            </a:r>
            <a:r>
              <a:rPr lang="en-US" altLang="zh-CN" sz="2800" b="1">
                <a:solidFill>
                  <a:schemeClr val="accent2"/>
                </a:solidFill>
              </a:rPr>
              <a:t>=</a:t>
            </a:r>
            <a:r>
              <a:rPr lang="en-US" altLang="zh-CN" sz="2800" b="1" i="1">
                <a:solidFill>
                  <a:schemeClr val="accent2"/>
                </a:solidFill>
              </a:rPr>
              <a:t>y</a:t>
            </a:r>
            <a:r>
              <a:rPr lang="en-US" altLang="zh-CN" sz="2800" b="1" baseline="-25000">
                <a:solidFill>
                  <a:schemeClr val="accent2"/>
                </a:solidFill>
              </a:rPr>
              <a:t>0</a:t>
            </a:r>
            <a:r>
              <a:rPr lang="en-US" altLang="zh-CN" sz="2800" b="1">
                <a:solidFill>
                  <a:schemeClr val="accent2"/>
                </a:solidFill>
              </a:rPr>
              <a:t>/</a:t>
            </a:r>
            <a:r>
              <a:rPr lang="en-US" altLang="zh-CN" sz="2800" b="1" i="1">
                <a:solidFill>
                  <a:schemeClr val="accent2"/>
                </a:solidFill>
              </a:rPr>
              <a:t>s</a:t>
            </a:r>
            <a:r>
              <a:rPr lang="en-US" altLang="zh-CN" sz="2800" b="1" baseline="30000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61448" name="Text Box 8">
            <a:extLst>
              <a:ext uri="{FF2B5EF4-FFF2-40B4-BE49-F238E27FC236}">
                <a16:creationId xmlns:a16="http://schemas.microsoft.com/office/drawing/2014/main" id="{816253F9-70EB-4F05-946F-BF47723B7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50" y="2346325"/>
            <a:ext cx="1717675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~</a:t>
            </a:r>
            <a:r>
              <a:rPr lang="zh-CN" altLang="en-US" sz="2800" b="1"/>
              <a:t>威慑值</a:t>
            </a:r>
          </a:p>
        </p:txBody>
      </p:sp>
      <p:sp>
        <p:nvSpPr>
          <p:cNvPr id="61449" name="Text Box 9">
            <a:extLst>
              <a:ext uri="{FF2B5EF4-FFF2-40B4-BE49-F238E27FC236}">
                <a16:creationId xmlns:a16="http://schemas.microsoft.com/office/drawing/2014/main" id="{C0216947-5746-459F-9FD7-9159A6F61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332038"/>
            <a:ext cx="17526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s~</a:t>
            </a:r>
            <a:r>
              <a:rPr lang="zh-CN" altLang="en-US" sz="2800" b="1"/>
              <a:t>残存率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E45125B1-A49D-487E-A3CF-08B9B2CE15C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400550"/>
            <a:ext cx="2895600" cy="1162050"/>
            <a:chOff x="240" y="1584"/>
            <a:chExt cx="1824" cy="732"/>
          </a:xfrm>
        </p:grpSpPr>
        <p:sp>
          <p:nvSpPr>
            <p:cNvPr id="30752" name="Freeform 11">
              <a:extLst>
                <a:ext uri="{FF2B5EF4-FFF2-40B4-BE49-F238E27FC236}">
                  <a16:creationId xmlns:a16="http://schemas.microsoft.com/office/drawing/2014/main" id="{DEEA1862-8B64-446F-995A-E0E2AD6AB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" y="1584"/>
              <a:ext cx="1824" cy="732"/>
            </a:xfrm>
            <a:custGeom>
              <a:avLst/>
              <a:gdLst>
                <a:gd name="T0" fmla="*/ 0 w 1380"/>
                <a:gd name="T1" fmla="*/ 645 h 780"/>
                <a:gd name="T2" fmla="*/ 498 w 1380"/>
                <a:gd name="T3" fmla="*/ 477 h 780"/>
                <a:gd name="T4" fmla="*/ 913 w 1380"/>
                <a:gd name="T5" fmla="*/ 357 h 780"/>
                <a:gd name="T6" fmla="*/ 1302 w 1380"/>
                <a:gd name="T7" fmla="*/ 267 h 780"/>
                <a:gd name="T8" fmla="*/ 1829 w 1380"/>
                <a:gd name="T9" fmla="*/ 159 h 780"/>
                <a:gd name="T10" fmla="*/ 2355 w 1380"/>
                <a:gd name="T11" fmla="*/ 69 h 780"/>
                <a:gd name="T12" fmla="*/ 2827 w 1380"/>
                <a:gd name="T13" fmla="*/ 21 h 780"/>
                <a:gd name="T14" fmla="*/ 3187 w 1380"/>
                <a:gd name="T15" fmla="*/ 0 h 7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80"/>
                <a:gd name="T25" fmla="*/ 0 h 780"/>
                <a:gd name="T26" fmla="*/ 1380 w 1380"/>
                <a:gd name="T27" fmla="*/ 780 h 7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53" name="Text Box 12">
              <a:extLst>
                <a:ext uri="{FF2B5EF4-FFF2-40B4-BE49-F238E27FC236}">
                  <a16:creationId xmlns:a16="http://schemas.microsoft.com/office/drawing/2014/main" id="{CC452373-AC6F-491C-93BC-54678AE9D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632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/>
                <a:t>=</a:t>
              </a:r>
              <a:r>
                <a:rPr lang="en-US" altLang="zh-CN" i="1"/>
                <a:t>f</a:t>
              </a:r>
              <a:r>
                <a:rPr lang="en-US" altLang="zh-CN"/>
                <a:t>(</a:t>
              </a:r>
              <a:r>
                <a:rPr lang="en-US" altLang="zh-CN" i="1"/>
                <a:t>x</a:t>
              </a:r>
              <a:r>
                <a:rPr lang="en-US" altLang="zh-CN"/>
                <a:t>)</a:t>
              </a:r>
            </a:p>
          </p:txBody>
        </p:sp>
      </p:grpSp>
      <p:sp>
        <p:nvSpPr>
          <p:cNvPr id="61453" name="Text Box 13">
            <a:extLst>
              <a:ext uri="{FF2B5EF4-FFF2-40B4-BE49-F238E27FC236}">
                <a16:creationId xmlns:a16="http://schemas.microsoft.com/office/drawing/2014/main" id="{BB22601D-7585-427B-97DB-0E07A3E82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213100"/>
            <a:ext cx="4032250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800" b="1"/>
              <a:t>利用微积分知识可知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800" b="1" i="1"/>
              <a:t>y</a:t>
            </a:r>
            <a:r>
              <a:rPr lang="zh-CN" altLang="en-US" sz="2800" b="1"/>
              <a:t>是一条上凸的曲线，且</a:t>
            </a:r>
          </a:p>
        </p:txBody>
      </p:sp>
      <p:sp>
        <p:nvSpPr>
          <p:cNvPr id="61454" name="Text Box 14">
            <a:extLst>
              <a:ext uri="{FF2B5EF4-FFF2-40B4-BE49-F238E27FC236}">
                <a16:creationId xmlns:a16="http://schemas.microsoft.com/office/drawing/2014/main" id="{E2704596-56F5-45F1-AA3B-2CA896F33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437063"/>
            <a:ext cx="43434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i="1"/>
              <a:t> y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变大，曲线上移、变陡</a:t>
            </a:r>
            <a:r>
              <a:rPr lang="en-US" altLang="zh-CN" sz="2800" b="1"/>
              <a:t>.</a:t>
            </a:r>
          </a:p>
        </p:txBody>
      </p:sp>
      <p:sp>
        <p:nvSpPr>
          <p:cNvPr id="61455" name="Text Box 15">
            <a:extLst>
              <a:ext uri="{FF2B5EF4-FFF2-40B4-BE49-F238E27FC236}">
                <a16:creationId xmlns:a16="http://schemas.microsoft.com/office/drawing/2014/main" id="{9CA58DD2-691D-4920-9FDF-4539D25FBB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075238"/>
            <a:ext cx="4414837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i="1"/>
              <a:t> s</a:t>
            </a:r>
            <a:r>
              <a:rPr lang="zh-CN" altLang="en-US" sz="2800" b="1"/>
              <a:t>变大，</a:t>
            </a:r>
            <a:r>
              <a:rPr lang="en-US" altLang="zh-CN" sz="2800" b="1" i="1"/>
              <a:t>y</a:t>
            </a:r>
            <a:r>
              <a:rPr lang="zh-CN" altLang="en-US" sz="2800" b="1"/>
              <a:t>减小，曲线变平</a:t>
            </a:r>
            <a:r>
              <a:rPr lang="en-US" altLang="zh-CN" sz="2800" b="1"/>
              <a:t>.</a:t>
            </a: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1FECBCA0-3FC6-4F79-A285-58392BF5525B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3500438"/>
            <a:ext cx="4114800" cy="2743200"/>
            <a:chOff x="432" y="2208"/>
            <a:chExt cx="2592" cy="1728"/>
          </a:xfrm>
        </p:grpSpPr>
        <p:sp>
          <p:nvSpPr>
            <p:cNvPr id="30746" name="Line 18">
              <a:extLst>
                <a:ext uri="{FF2B5EF4-FFF2-40B4-BE49-F238E27FC236}">
                  <a16:creationId xmlns:a16="http://schemas.microsoft.com/office/drawing/2014/main" id="{C59729B3-B05F-4C32-807B-0D8A3D1FE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744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7" name="Text Box 19">
              <a:extLst>
                <a:ext uri="{FF2B5EF4-FFF2-40B4-BE49-F238E27FC236}">
                  <a16:creationId xmlns:a16="http://schemas.microsoft.com/office/drawing/2014/main" id="{4E118B76-3730-4A65-9B92-8F01813C9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64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</a:p>
          </p:txBody>
        </p:sp>
        <p:sp>
          <p:nvSpPr>
            <p:cNvPr id="30748" name="Text Box 20">
              <a:extLst>
                <a:ext uri="{FF2B5EF4-FFF2-40B4-BE49-F238E27FC236}">
                  <a16:creationId xmlns:a16="http://schemas.microsoft.com/office/drawing/2014/main" id="{69A48CF4-6B29-4A93-B6F8-C45A4722F6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20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</a:p>
          </p:txBody>
        </p:sp>
        <p:sp>
          <p:nvSpPr>
            <p:cNvPr id="30749" name="Text Box 21">
              <a:extLst>
                <a:ext uri="{FF2B5EF4-FFF2-40B4-BE49-F238E27FC236}">
                  <a16:creationId xmlns:a16="http://schemas.microsoft.com/office/drawing/2014/main" id="{C1628A25-193A-4C0C-98AC-8840CDC99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360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O</a:t>
              </a:r>
            </a:p>
          </p:txBody>
        </p:sp>
        <p:sp>
          <p:nvSpPr>
            <p:cNvPr id="30750" name="Text Box 22">
              <a:extLst>
                <a:ext uri="{FF2B5EF4-FFF2-40B4-BE49-F238E27FC236}">
                  <a16:creationId xmlns:a16="http://schemas.microsoft.com/office/drawing/2014/main" id="{4044DB13-8D6B-4B57-88C9-283896249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31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30751" name="Line 23">
              <a:extLst>
                <a:ext uri="{FF2B5EF4-FFF2-40B4-BE49-F238E27FC236}">
                  <a16:creationId xmlns:a16="http://schemas.microsoft.com/office/drawing/2014/main" id="{3420A231-980D-41FD-9A6E-23609A94F3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30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1464" name="Text Box 24">
            <a:extLst>
              <a:ext uri="{FF2B5EF4-FFF2-40B4-BE49-F238E27FC236}">
                <a16:creationId xmlns:a16="http://schemas.microsoft.com/office/drawing/2014/main" id="{3BC9BFD4-12C5-43FA-806E-17556E2EC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075" y="808038"/>
            <a:ext cx="2828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</a:rPr>
              <a:t>x&lt;y,  y</a:t>
            </a:r>
            <a:r>
              <a:rPr lang="en-US" altLang="zh-CN" sz="2800" b="1">
                <a:solidFill>
                  <a:srgbClr val="FF3300"/>
                </a:solidFill>
              </a:rPr>
              <a:t>= </a:t>
            </a:r>
            <a:r>
              <a:rPr lang="en-US" altLang="zh-CN" sz="2800" b="1" i="1">
                <a:solidFill>
                  <a:srgbClr val="FF3300"/>
                </a:solidFill>
              </a:rPr>
              <a:t>y</a:t>
            </a:r>
            <a:r>
              <a:rPr lang="en-US" altLang="zh-CN" sz="2800" b="1" baseline="-25000">
                <a:solidFill>
                  <a:srgbClr val="FF3300"/>
                </a:solidFill>
              </a:rPr>
              <a:t>0</a:t>
            </a:r>
            <a:r>
              <a:rPr lang="en-US" altLang="zh-CN" sz="2800" b="1">
                <a:solidFill>
                  <a:srgbClr val="FF3300"/>
                </a:solidFill>
              </a:rPr>
              <a:t>+(1–</a:t>
            </a:r>
            <a:r>
              <a:rPr lang="en-US" altLang="zh-CN" sz="2800" b="1" i="1">
                <a:solidFill>
                  <a:srgbClr val="FF3300"/>
                </a:solidFill>
              </a:rPr>
              <a:t>s</a:t>
            </a:r>
            <a:r>
              <a:rPr lang="en-US" altLang="zh-CN" sz="2800" b="1">
                <a:solidFill>
                  <a:srgbClr val="FF3300"/>
                </a:solidFill>
              </a:rPr>
              <a:t>)</a:t>
            </a:r>
            <a:r>
              <a:rPr lang="en-US" altLang="zh-CN" sz="2800" b="1" i="1">
                <a:solidFill>
                  <a:srgbClr val="FF3300"/>
                </a:solidFill>
              </a:rPr>
              <a:t>x</a:t>
            </a:r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633F8A5D-6121-4730-923C-DDECAA967AAC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763963"/>
            <a:ext cx="1981200" cy="2179637"/>
            <a:chOff x="672" y="2371"/>
            <a:chExt cx="1248" cy="1373"/>
          </a:xfrm>
        </p:grpSpPr>
        <p:sp>
          <p:nvSpPr>
            <p:cNvPr id="30743" name="Line 29">
              <a:extLst>
                <a:ext uri="{FF2B5EF4-FFF2-40B4-BE49-F238E27FC236}">
                  <a16:creationId xmlns:a16="http://schemas.microsoft.com/office/drawing/2014/main" id="{988C2B05-0879-48A2-84A3-B895B7BE3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544"/>
              <a:ext cx="1248" cy="120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4" name="Line 30">
              <a:extLst>
                <a:ext uri="{FF2B5EF4-FFF2-40B4-BE49-F238E27FC236}">
                  <a16:creationId xmlns:a16="http://schemas.microsoft.com/office/drawing/2014/main" id="{4A7EE1F8-FAF8-4D4E-A894-2507CA3783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3120"/>
              <a:ext cx="624" cy="38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5" name="Text Box 31">
              <a:extLst>
                <a:ext uri="{FF2B5EF4-FFF2-40B4-BE49-F238E27FC236}">
                  <a16:creationId xmlns:a16="http://schemas.microsoft.com/office/drawing/2014/main" id="{B8E2DFC8-7191-4CF9-B570-B4C81BF38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1" y="2371"/>
              <a:ext cx="4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3300"/>
                  </a:solidFill>
                </a:rPr>
                <a:t>x=y</a:t>
              </a:r>
            </a:p>
          </p:txBody>
        </p:sp>
      </p:grpSp>
      <p:grpSp>
        <p:nvGrpSpPr>
          <p:cNvPr id="5" name="Group 32">
            <a:extLst>
              <a:ext uri="{FF2B5EF4-FFF2-40B4-BE49-F238E27FC236}">
                <a16:creationId xmlns:a16="http://schemas.microsoft.com/office/drawing/2014/main" id="{3EC0E899-5338-43AA-B688-FF1590D6CEE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687763"/>
            <a:ext cx="3276600" cy="2255837"/>
            <a:chOff x="672" y="2323"/>
            <a:chExt cx="2064" cy="1421"/>
          </a:xfrm>
        </p:grpSpPr>
        <p:sp>
          <p:nvSpPr>
            <p:cNvPr id="30740" name="Line 33">
              <a:extLst>
                <a:ext uri="{FF2B5EF4-FFF2-40B4-BE49-F238E27FC236}">
                  <a16:creationId xmlns:a16="http://schemas.microsoft.com/office/drawing/2014/main" id="{EDE48C51-BB62-433C-BA5E-7BC02B5D00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592"/>
              <a:ext cx="1776" cy="1152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1" name="Line 34">
              <a:extLst>
                <a:ext uri="{FF2B5EF4-FFF2-40B4-BE49-F238E27FC236}">
                  <a16:creationId xmlns:a16="http://schemas.microsoft.com/office/drawing/2014/main" id="{41C92D68-40A9-4B63-B68E-81A545E7A6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832"/>
              <a:ext cx="768" cy="28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2" name="Text Box 35">
              <a:extLst>
                <a:ext uri="{FF2B5EF4-FFF2-40B4-BE49-F238E27FC236}">
                  <a16:creationId xmlns:a16="http://schemas.microsoft.com/office/drawing/2014/main" id="{FF174358-64D5-424E-A96B-6313C1995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6" y="2323"/>
              <a:ext cx="4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solidFill>
                    <a:schemeClr val="accent2"/>
                  </a:solidFill>
                </a:rPr>
                <a:t>x</a:t>
              </a:r>
              <a:r>
                <a:rPr lang="en-US" altLang="zh-CN">
                  <a:solidFill>
                    <a:schemeClr val="accent2"/>
                  </a:solidFill>
                </a:rPr>
                <a:t>=2</a:t>
              </a:r>
              <a:r>
                <a:rPr lang="en-US" altLang="zh-CN" i="1">
                  <a:solidFill>
                    <a:schemeClr val="accent2"/>
                  </a:solidFill>
                </a:rPr>
                <a:t>y</a:t>
              </a:r>
            </a:p>
          </p:txBody>
        </p:sp>
      </p:grpSp>
      <p:grpSp>
        <p:nvGrpSpPr>
          <p:cNvPr id="6" name="Group 39">
            <a:extLst>
              <a:ext uri="{FF2B5EF4-FFF2-40B4-BE49-F238E27FC236}">
                <a16:creationId xmlns:a16="http://schemas.microsoft.com/office/drawing/2014/main" id="{70A75839-4551-4A38-B152-0F67FB25B84F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620713"/>
            <a:ext cx="4176713" cy="927100"/>
            <a:chOff x="2873" y="73"/>
            <a:chExt cx="2638" cy="585"/>
          </a:xfrm>
        </p:grpSpPr>
        <p:sp>
          <p:nvSpPr>
            <p:cNvPr id="30738" name="Text Box 26">
              <a:extLst>
                <a:ext uri="{FF2B5EF4-FFF2-40B4-BE49-F238E27FC236}">
                  <a16:creationId xmlns:a16="http://schemas.microsoft.com/office/drawing/2014/main" id="{2FCA83AE-CF75-4282-8F79-336200E24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3" y="211"/>
              <a:ext cx="7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chemeClr val="accent2"/>
                  </a:solidFill>
                </a:rPr>
                <a:t>y&lt;x&lt;</a:t>
              </a:r>
              <a:r>
                <a:rPr lang="en-US" altLang="zh-CN" b="1">
                  <a:solidFill>
                    <a:schemeClr val="accent2"/>
                  </a:solidFill>
                </a:rPr>
                <a:t>2</a:t>
              </a:r>
              <a:r>
                <a:rPr lang="en-US" altLang="zh-CN" b="1" i="1">
                  <a:solidFill>
                    <a:schemeClr val="accent2"/>
                  </a:solidFill>
                </a:rPr>
                <a:t>y,</a:t>
              </a:r>
            </a:p>
          </p:txBody>
        </p:sp>
        <p:graphicFrame>
          <p:nvGraphicFramePr>
            <p:cNvPr id="30739" name="Object 37">
              <a:extLst>
                <a:ext uri="{FF2B5EF4-FFF2-40B4-BE49-F238E27FC236}">
                  <a16:creationId xmlns:a16="http://schemas.microsoft.com/office/drawing/2014/main" id="{7CC51732-C2BA-4842-A680-A860E2BBDD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51" y="73"/>
            <a:ext cx="1860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2" name="公式" r:id="rId5" imgW="1333500" imgH="419100" progId="Equation.3">
                    <p:embed/>
                  </p:oleObj>
                </mc:Choice>
                <mc:Fallback>
                  <p:oleObj name="公式" r:id="rId5" imgW="1333500" imgH="4191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1" y="73"/>
                          <a:ext cx="1860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1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10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10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10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 autoUpdateAnimBg="0"/>
      <p:bldP spid="61446" grpId="0" autoUpdateAnimBg="0"/>
      <p:bldP spid="61447" grpId="0" autoUpdateAnimBg="0"/>
      <p:bldP spid="61448" grpId="0" animBg="1"/>
      <p:bldP spid="61449" grpId="0" animBg="1"/>
      <p:bldP spid="61453" grpId="0" animBg="1" autoUpdateAnimBg="0"/>
      <p:bldP spid="61454" grpId="0" animBg="1"/>
      <p:bldP spid="61455" grpId="0" animBg="1"/>
      <p:bldP spid="61464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>
            <a:extLst>
              <a:ext uri="{FF2B5EF4-FFF2-40B4-BE49-F238E27FC236}">
                <a16:creationId xmlns:a16="http://schemas.microsoft.com/office/drawing/2014/main" id="{F545CE52-8F5C-4B04-A159-B66F24262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1534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甲方增加经费保护及疏散工业、交通中心等目标</a:t>
            </a:r>
            <a:r>
              <a:rPr lang="en-US" altLang="zh-CN" sz="2800" b="1"/>
              <a:t>.</a:t>
            </a:r>
          </a:p>
        </p:txBody>
      </p:sp>
      <p:sp>
        <p:nvSpPr>
          <p:cNvPr id="62467" name="Text Box 3">
            <a:extLst>
              <a:ext uri="{FF2B5EF4-FFF2-40B4-BE49-F238E27FC236}">
                <a16:creationId xmlns:a16="http://schemas.microsoft.com/office/drawing/2014/main" id="{05FA5A26-D20D-453A-AE7A-37332D672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02565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乙方威慑值 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变大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E1F7875-3977-4349-886C-3310CEF2AE9B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209800"/>
            <a:ext cx="3962400" cy="2743200"/>
            <a:chOff x="3072" y="1392"/>
            <a:chExt cx="2496" cy="1728"/>
          </a:xfrm>
        </p:grpSpPr>
        <p:sp>
          <p:nvSpPr>
            <p:cNvPr id="31762" name="Line 5">
              <a:extLst>
                <a:ext uri="{FF2B5EF4-FFF2-40B4-BE49-F238E27FC236}">
                  <a16:creationId xmlns:a16="http://schemas.microsoft.com/office/drawing/2014/main" id="{B1AD5CCB-5C06-4FAA-B7B9-7DB0CB517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928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3" name="Line 6">
              <a:extLst>
                <a:ext uri="{FF2B5EF4-FFF2-40B4-BE49-F238E27FC236}">
                  <a16:creationId xmlns:a16="http://schemas.microsoft.com/office/drawing/2014/main" id="{E29B2782-A94C-477B-B503-557C84627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2" y="1536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" name="Freeform 7">
              <a:extLst>
                <a:ext uri="{FF2B5EF4-FFF2-40B4-BE49-F238E27FC236}">
                  <a16:creationId xmlns:a16="http://schemas.microsoft.com/office/drawing/2014/main" id="{37FEF998-060D-47D9-8D81-43C437DCC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872"/>
              <a:ext cx="1536" cy="828"/>
            </a:xfrm>
            <a:custGeom>
              <a:avLst/>
              <a:gdLst>
                <a:gd name="T0" fmla="*/ 0 w 1380"/>
                <a:gd name="T1" fmla="*/ 933 h 780"/>
                <a:gd name="T2" fmla="*/ 297 w 1380"/>
                <a:gd name="T3" fmla="*/ 689 h 780"/>
                <a:gd name="T4" fmla="*/ 547 w 1380"/>
                <a:gd name="T5" fmla="*/ 517 h 780"/>
                <a:gd name="T6" fmla="*/ 778 w 1380"/>
                <a:gd name="T7" fmla="*/ 387 h 780"/>
                <a:gd name="T8" fmla="*/ 1093 w 1380"/>
                <a:gd name="T9" fmla="*/ 230 h 780"/>
                <a:gd name="T10" fmla="*/ 1406 w 1380"/>
                <a:gd name="T11" fmla="*/ 100 h 780"/>
                <a:gd name="T12" fmla="*/ 1687 w 1380"/>
                <a:gd name="T13" fmla="*/ 29 h 780"/>
                <a:gd name="T14" fmla="*/ 1903 w 1380"/>
                <a:gd name="T15" fmla="*/ 0 h 7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80"/>
                <a:gd name="T25" fmla="*/ 0 h 780"/>
                <a:gd name="T26" fmla="*/ 1380 w 1380"/>
                <a:gd name="T27" fmla="*/ 780 h 7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" name="Text Box 8">
              <a:extLst>
                <a:ext uri="{FF2B5EF4-FFF2-40B4-BE49-F238E27FC236}">
                  <a16:creationId xmlns:a16="http://schemas.microsoft.com/office/drawing/2014/main" id="{5B26DEB9-4147-473A-8131-0875F89D9D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283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</a:p>
          </p:txBody>
        </p:sp>
        <p:sp>
          <p:nvSpPr>
            <p:cNvPr id="31766" name="Text Box 9">
              <a:extLst>
                <a:ext uri="{FF2B5EF4-FFF2-40B4-BE49-F238E27FC236}">
                  <a16:creationId xmlns:a16="http://schemas.microsoft.com/office/drawing/2014/main" id="{27A27949-1102-4E6E-B05F-0F1E7492A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39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</a:p>
          </p:txBody>
        </p:sp>
        <p:sp>
          <p:nvSpPr>
            <p:cNvPr id="31767" name="Text Box 10">
              <a:extLst>
                <a:ext uri="{FF2B5EF4-FFF2-40B4-BE49-F238E27FC236}">
                  <a16:creationId xmlns:a16="http://schemas.microsoft.com/office/drawing/2014/main" id="{1CE86186-C66E-4EB4-B76A-206777D4B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8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O</a:t>
              </a:r>
            </a:p>
          </p:txBody>
        </p:sp>
        <p:sp>
          <p:nvSpPr>
            <p:cNvPr id="31768" name="Freeform 11">
              <a:extLst>
                <a:ext uri="{FF2B5EF4-FFF2-40B4-BE49-F238E27FC236}">
                  <a16:creationId xmlns:a16="http://schemas.microsoft.com/office/drawing/2014/main" id="{3080311D-F258-4038-BC13-662D4A683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488"/>
              <a:ext cx="720" cy="1440"/>
            </a:xfrm>
            <a:custGeom>
              <a:avLst/>
              <a:gdLst>
                <a:gd name="T0" fmla="*/ 0 w 684"/>
                <a:gd name="T1" fmla="*/ 1881 h 1260"/>
                <a:gd name="T2" fmla="*/ 322 w 684"/>
                <a:gd name="T3" fmla="*/ 1415 h 1260"/>
                <a:gd name="T4" fmla="*/ 532 w 684"/>
                <a:gd name="T5" fmla="*/ 1022 h 1260"/>
                <a:gd name="T6" fmla="*/ 629 w 684"/>
                <a:gd name="T7" fmla="*/ 752 h 1260"/>
                <a:gd name="T8" fmla="*/ 741 w 684"/>
                <a:gd name="T9" fmla="*/ 394 h 1260"/>
                <a:gd name="T10" fmla="*/ 798 w 684"/>
                <a:gd name="T11" fmla="*/ 0 h 12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4"/>
                <a:gd name="T19" fmla="*/ 0 h 1260"/>
                <a:gd name="T20" fmla="*/ 684 w 684"/>
                <a:gd name="T21" fmla="*/ 1260 h 12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4" h="1260">
                  <a:moveTo>
                    <a:pt x="0" y="1260"/>
                  </a:moveTo>
                  <a:cubicBezTo>
                    <a:pt x="46" y="1208"/>
                    <a:pt x="200" y="1044"/>
                    <a:pt x="276" y="948"/>
                  </a:cubicBezTo>
                  <a:cubicBezTo>
                    <a:pt x="352" y="852"/>
                    <a:pt x="412" y="758"/>
                    <a:pt x="456" y="684"/>
                  </a:cubicBezTo>
                  <a:cubicBezTo>
                    <a:pt x="500" y="610"/>
                    <a:pt x="510" y="574"/>
                    <a:pt x="540" y="504"/>
                  </a:cubicBezTo>
                  <a:cubicBezTo>
                    <a:pt x="570" y="434"/>
                    <a:pt x="612" y="348"/>
                    <a:pt x="636" y="264"/>
                  </a:cubicBezTo>
                  <a:cubicBezTo>
                    <a:pt x="660" y="180"/>
                    <a:pt x="674" y="55"/>
                    <a:pt x="68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9" name="Text Box 12">
              <a:extLst>
                <a:ext uri="{FF2B5EF4-FFF2-40B4-BE49-F238E27FC236}">
                  <a16:creationId xmlns:a16="http://schemas.microsoft.com/office/drawing/2014/main" id="{4B33239B-18E6-4A29-ADC3-B9A2B2CE32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49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31770" name="Text Box 13">
              <a:extLst>
                <a:ext uri="{FF2B5EF4-FFF2-40B4-BE49-F238E27FC236}">
                  <a16:creationId xmlns:a16="http://schemas.microsoft.com/office/drawing/2014/main" id="{EBE4F04E-CFD4-4B26-83C6-486A44DF8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83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31771" name="Text Box 14">
              <a:extLst>
                <a:ext uri="{FF2B5EF4-FFF2-40B4-BE49-F238E27FC236}">
                  <a16:creationId xmlns:a16="http://schemas.microsoft.com/office/drawing/2014/main" id="{48E9384E-CB9D-4539-855A-DD28211066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1872"/>
              <a:ext cx="7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P</a:t>
              </a:r>
              <a:r>
                <a:rPr lang="en-US" altLang="zh-CN"/>
                <a:t>(</a:t>
              </a:r>
              <a:r>
                <a:rPr lang="en-US" altLang="zh-CN" i="1"/>
                <a:t>x</a:t>
              </a:r>
              <a:r>
                <a:rPr lang="en-US" altLang="zh-CN" i="1" baseline="-25000"/>
                <a:t>m</a:t>
              </a:r>
              <a:r>
                <a:rPr lang="en-US" altLang="zh-CN"/>
                <a:t>,</a:t>
              </a:r>
              <a:r>
                <a:rPr lang="en-US" altLang="zh-CN" i="1"/>
                <a:t>y</a:t>
              </a:r>
              <a:r>
                <a:rPr lang="en-US" altLang="zh-CN" i="1" baseline="-25000"/>
                <a:t>m</a:t>
              </a:r>
              <a:r>
                <a:rPr lang="en-US" altLang="zh-CN"/>
                <a:t>)</a:t>
              </a:r>
            </a:p>
          </p:txBody>
        </p:sp>
        <p:sp>
          <p:nvSpPr>
            <p:cNvPr id="31772" name="Text Box 15">
              <a:extLst>
                <a:ext uri="{FF2B5EF4-FFF2-40B4-BE49-F238E27FC236}">
                  <a16:creationId xmlns:a16="http://schemas.microsoft.com/office/drawing/2014/main" id="{26DBCC89-51D4-4CA6-8640-FF10D2A0E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352"/>
              <a:ext cx="6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/>
                <a:t>=</a:t>
              </a:r>
              <a:r>
                <a:rPr lang="en-US" altLang="zh-CN" i="1"/>
                <a:t>g</a:t>
              </a:r>
              <a:r>
                <a:rPr lang="en-US" altLang="zh-CN"/>
                <a:t>(</a:t>
              </a:r>
              <a:r>
                <a:rPr lang="en-US" altLang="zh-CN" i="1"/>
                <a:t>y</a:t>
              </a:r>
              <a:r>
                <a:rPr lang="en-US" altLang="zh-CN"/>
                <a:t>)</a:t>
              </a:r>
            </a:p>
          </p:txBody>
        </p:sp>
        <p:sp>
          <p:nvSpPr>
            <p:cNvPr id="31773" name="Text Box 16">
              <a:extLst>
                <a:ext uri="{FF2B5EF4-FFF2-40B4-BE49-F238E27FC236}">
                  <a16:creationId xmlns:a16="http://schemas.microsoft.com/office/drawing/2014/main" id="{CC6F4F5B-1253-4674-9466-710EB6AD8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448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/>
                <a:t>=</a:t>
              </a:r>
              <a:r>
                <a:rPr lang="en-US" altLang="zh-CN" i="1"/>
                <a:t>f</a:t>
              </a:r>
              <a:r>
                <a:rPr lang="en-US" altLang="zh-CN"/>
                <a:t>(</a:t>
              </a:r>
              <a:r>
                <a:rPr lang="en-US" altLang="zh-CN" i="1"/>
                <a:t>x</a:t>
              </a:r>
              <a:r>
                <a:rPr lang="en-US" altLang="zh-CN"/>
                <a:t>)</a:t>
              </a:r>
            </a:p>
          </p:txBody>
        </p:sp>
      </p:grpSp>
      <p:sp>
        <p:nvSpPr>
          <p:cNvPr id="62481" name="Freeform 17">
            <a:extLst>
              <a:ext uri="{FF2B5EF4-FFF2-40B4-BE49-F238E27FC236}">
                <a16:creationId xmlns:a16="http://schemas.microsoft.com/office/drawing/2014/main" id="{393BE5C3-FB05-4998-939A-67FE6673606A}"/>
              </a:ext>
            </a:extLst>
          </p:cNvPr>
          <p:cNvSpPr>
            <a:spLocks/>
          </p:cNvSpPr>
          <p:nvPr/>
        </p:nvSpPr>
        <p:spPr bwMode="auto">
          <a:xfrm>
            <a:off x="5257800" y="2495550"/>
            <a:ext cx="2362200" cy="1466850"/>
          </a:xfrm>
          <a:custGeom>
            <a:avLst/>
            <a:gdLst>
              <a:gd name="T0" fmla="*/ 0 w 1380"/>
              <a:gd name="T1" fmla="*/ 2147483647 h 780"/>
              <a:gd name="T2" fmla="*/ 2147483647 w 1380"/>
              <a:gd name="T3" fmla="*/ 2147483647 h 780"/>
              <a:gd name="T4" fmla="*/ 2147483647 w 1380"/>
              <a:gd name="T5" fmla="*/ 2147483647 h 780"/>
              <a:gd name="T6" fmla="*/ 2147483647 w 1380"/>
              <a:gd name="T7" fmla="*/ 2147483647 h 780"/>
              <a:gd name="T8" fmla="*/ 2147483647 w 1380"/>
              <a:gd name="T9" fmla="*/ 2147483647 h 780"/>
              <a:gd name="T10" fmla="*/ 2147483647 w 1380"/>
              <a:gd name="T11" fmla="*/ 2147483647 h 780"/>
              <a:gd name="T12" fmla="*/ 2147483647 w 1380"/>
              <a:gd name="T13" fmla="*/ 2147483647 h 780"/>
              <a:gd name="T14" fmla="*/ 2147483647 w 1380"/>
              <a:gd name="T15" fmla="*/ 0 h 7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380"/>
              <a:gd name="T25" fmla="*/ 0 h 780"/>
              <a:gd name="T26" fmla="*/ 1380 w 1380"/>
              <a:gd name="T27" fmla="*/ 780 h 78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380" h="780">
                <a:moveTo>
                  <a:pt x="0" y="780"/>
                </a:moveTo>
                <a:cubicBezTo>
                  <a:pt x="36" y="746"/>
                  <a:pt x="150" y="634"/>
                  <a:pt x="216" y="576"/>
                </a:cubicBezTo>
                <a:cubicBezTo>
                  <a:pt x="282" y="518"/>
                  <a:pt x="338" y="474"/>
                  <a:pt x="396" y="432"/>
                </a:cubicBezTo>
                <a:cubicBezTo>
                  <a:pt x="454" y="390"/>
                  <a:pt x="498" y="364"/>
                  <a:pt x="564" y="324"/>
                </a:cubicBezTo>
                <a:cubicBezTo>
                  <a:pt x="630" y="284"/>
                  <a:pt x="716" y="232"/>
                  <a:pt x="792" y="192"/>
                </a:cubicBezTo>
                <a:cubicBezTo>
                  <a:pt x="868" y="152"/>
                  <a:pt x="948" y="112"/>
                  <a:pt x="1020" y="84"/>
                </a:cubicBezTo>
                <a:cubicBezTo>
                  <a:pt x="1092" y="56"/>
                  <a:pt x="1164" y="38"/>
                  <a:pt x="1224" y="24"/>
                </a:cubicBezTo>
                <a:cubicBezTo>
                  <a:pt x="1284" y="10"/>
                  <a:pt x="1348" y="5"/>
                  <a:pt x="1380" y="0"/>
                </a:cubicBezTo>
              </a:path>
            </a:pathLst>
          </a:cu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2482" name="Object 18">
            <a:extLst>
              <a:ext uri="{FF2B5EF4-FFF2-40B4-BE49-F238E27FC236}">
                <a16:creationId xmlns:a16="http://schemas.microsoft.com/office/drawing/2014/main" id="{EDFC27A6-DD0A-4726-A105-234BD32248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4648200"/>
          <a:ext cx="259080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1" name="公式" r:id="rId3" imgW="1054100" imgH="228600" progId="Equation.3">
                  <p:embed/>
                </p:oleObj>
              </mc:Choice>
              <mc:Fallback>
                <p:oleObj name="公式" r:id="rId3" imgW="10541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648200"/>
                        <a:ext cx="2590800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3" name="Text Box 19">
            <a:extLst>
              <a:ext uri="{FF2B5EF4-FFF2-40B4-BE49-F238E27FC236}">
                <a16:creationId xmlns:a16="http://schemas.microsoft.com/office/drawing/2014/main" id="{33286515-6D5D-4700-89B5-A0D939BEA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438" y="5562600"/>
            <a:ext cx="6702425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甲方的被动防御也会使双方军备竞赛升级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graphicFrame>
        <p:nvGraphicFramePr>
          <p:cNvPr id="62484" name="Object 20">
            <a:extLst>
              <a:ext uri="{FF2B5EF4-FFF2-40B4-BE49-F238E27FC236}">
                <a16:creationId xmlns:a16="http://schemas.microsoft.com/office/drawing/2014/main" id="{4AC6723F-C7BA-4286-964B-C518F245F8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2176463"/>
          <a:ext cx="12192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2" name="公式" r:id="rId5" imgW="672808" imgH="228501" progId="Equation.3">
                  <p:embed/>
                </p:oleObj>
              </mc:Choice>
              <mc:Fallback>
                <p:oleObj name="公式" r:id="rId5" imgW="672808" imgH="228501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2176463"/>
                        <a:ext cx="121920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5" name="Text Box 21">
            <a:extLst>
              <a:ext uri="{FF2B5EF4-FFF2-40B4-BE49-F238E27FC236}">
                <a16:creationId xmlns:a16="http://schemas.microsoft.com/office/drawing/2014/main" id="{3FB704EC-9DF9-45F3-AAB5-C9148CF6E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175" y="2590800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（其他因素不变）</a:t>
            </a:r>
          </a:p>
        </p:txBody>
      </p:sp>
      <p:sp>
        <p:nvSpPr>
          <p:cNvPr id="62486" name="Text Box 22">
            <a:extLst>
              <a:ext uri="{FF2B5EF4-FFF2-40B4-BE49-F238E27FC236}">
                <a16:creationId xmlns:a16="http://schemas.microsoft.com/office/drawing/2014/main" id="{083ED8D7-A9CE-4397-81D4-211C3D7AA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763" y="3276600"/>
            <a:ext cx="3311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乙安全线 </a:t>
            </a: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上移</a:t>
            </a:r>
          </a:p>
        </p:txBody>
      </p:sp>
      <p:sp>
        <p:nvSpPr>
          <p:cNvPr id="31755" name="Text Box 23">
            <a:extLst>
              <a:ext uri="{FF2B5EF4-FFF2-40B4-BE49-F238E27FC236}">
                <a16:creationId xmlns:a16="http://schemas.microsoft.com/office/drawing/2014/main" id="{39EBDDD2-59AA-49CC-8408-D3E3AE149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33400"/>
            <a:ext cx="2209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模型解释 </a:t>
            </a:r>
          </a:p>
        </p:txBody>
      </p:sp>
      <p:sp>
        <p:nvSpPr>
          <p:cNvPr id="62488" name="AutoShape 24">
            <a:extLst>
              <a:ext uri="{FF2B5EF4-FFF2-40B4-BE49-F238E27FC236}">
                <a16:creationId xmlns:a16="http://schemas.microsoft.com/office/drawing/2014/main" id="{F6CA5BC0-05CB-4E82-9BA0-729799926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574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89" name="AutoShape 25">
            <a:extLst>
              <a:ext uri="{FF2B5EF4-FFF2-40B4-BE49-F238E27FC236}">
                <a16:creationId xmlns:a16="http://schemas.microsoft.com/office/drawing/2014/main" id="{3090D04E-7F7E-4E71-A4AA-083A48924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2766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90" name="Text Box 26">
            <a:extLst>
              <a:ext uri="{FF2B5EF4-FFF2-40B4-BE49-F238E27FC236}">
                <a16:creationId xmlns:a16="http://schemas.microsoft.com/office/drawing/2014/main" id="{A7F59554-E030-4AF7-BECA-4C4186E54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3962400"/>
            <a:ext cx="2220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平衡点</a:t>
            </a:r>
            <a:r>
              <a:rPr lang="en-US" altLang="zh-CN" sz="2800" b="1" i="1"/>
              <a:t>P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ym typeface="Symbol" panose="05050102010706020507" pitchFamily="18" charset="2"/>
              </a:rPr>
              <a:t>P</a:t>
            </a:r>
            <a:r>
              <a:rPr lang="en-US" altLang="zh-CN" sz="2800" b="1">
                <a:sym typeface="Symbol" panose="05050102010706020507" pitchFamily="18" charset="2"/>
              </a:rPr>
              <a:t>´</a:t>
            </a:r>
            <a:endParaRPr lang="en-US" altLang="zh-CN" sz="2800" b="1"/>
          </a:p>
        </p:txBody>
      </p:sp>
      <p:sp>
        <p:nvSpPr>
          <p:cNvPr id="62491" name="AutoShape 27">
            <a:extLst>
              <a:ext uri="{FF2B5EF4-FFF2-40B4-BE49-F238E27FC236}">
                <a16:creationId xmlns:a16="http://schemas.microsoft.com/office/drawing/2014/main" id="{E2F5459E-119B-4D48-9FBF-3E05CAB95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0386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2492" name="AutoShape 28">
            <a:extLst>
              <a:ext uri="{FF2B5EF4-FFF2-40B4-BE49-F238E27FC236}">
                <a16:creationId xmlns:a16="http://schemas.microsoft.com/office/drawing/2014/main" id="{26CA8881-214F-4BE8-ACCB-38950A9C0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7244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1761" name="Picture 2" descr="j0215086">
            <a:extLst>
              <a:ext uri="{FF2B5EF4-FFF2-40B4-BE49-F238E27FC236}">
                <a16:creationId xmlns:a16="http://schemas.microsoft.com/office/drawing/2014/main" id="{A991A7DB-BA1E-40CE-86F0-8BFF5F4A9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476250"/>
            <a:ext cx="5064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2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6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20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1000"/>
                                        <p:tgtEl>
                                          <p:spTgt spid="6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10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10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nimBg="1"/>
      <p:bldP spid="62467" grpId="0" animBg="1" autoUpdateAnimBg="0"/>
      <p:bldP spid="62483" grpId="0" animBg="1"/>
      <p:bldP spid="62485" grpId="0" animBg="1" autoUpdateAnimBg="0"/>
      <p:bldP spid="62486" grpId="0" animBg="1" autoUpdateAnimBg="0"/>
      <p:bldP spid="62488" grpId="0" animBg="1"/>
      <p:bldP spid="62489" grpId="0" animBg="1"/>
      <p:bldP spid="62490" grpId="0" animBg="1" autoUpdateAnimBg="0"/>
      <p:bldP spid="62491" grpId="0" animBg="1"/>
      <p:bldP spid="6249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>
            <a:extLst>
              <a:ext uri="{FF2B5EF4-FFF2-40B4-BE49-F238E27FC236}">
                <a16:creationId xmlns:a16="http://schemas.microsoft.com/office/drawing/2014/main" id="{465AD319-A8D3-4C3D-BEA2-45879EB55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254125"/>
            <a:ext cx="7502525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甲方将固定核导弹基地改进为可移动发射架</a:t>
            </a:r>
            <a:r>
              <a:rPr lang="en-US" altLang="zh-CN" sz="2800" b="1"/>
              <a:t>.</a:t>
            </a:r>
          </a:p>
        </p:txBody>
      </p:sp>
      <p:sp>
        <p:nvSpPr>
          <p:cNvPr id="63491" name="Text Box 3">
            <a:extLst>
              <a:ext uri="{FF2B5EF4-FFF2-40B4-BE49-F238E27FC236}">
                <a16:creationId xmlns:a16="http://schemas.microsoft.com/office/drawing/2014/main" id="{4C8993FD-0F9D-4A3A-9790-CDB039F1D2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995488"/>
            <a:ext cx="32242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乙安全线</a:t>
            </a: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不变</a:t>
            </a: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2C09C529-69EF-47EA-972A-900C47B73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613" y="2605088"/>
            <a:ext cx="2684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甲方残存率变大</a:t>
            </a:r>
          </a:p>
        </p:txBody>
      </p:sp>
      <p:sp>
        <p:nvSpPr>
          <p:cNvPr id="63493" name="Text Box 5">
            <a:extLst>
              <a:ext uri="{FF2B5EF4-FFF2-40B4-BE49-F238E27FC236}">
                <a16:creationId xmlns:a16="http://schemas.microsoft.com/office/drawing/2014/main" id="{FBC0CDC6-5814-4833-8906-3C1AFF587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213100"/>
            <a:ext cx="2328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威慑值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 0</a:t>
            </a:r>
            <a:r>
              <a:rPr lang="zh-CN" altLang="en-US" sz="2800" b="1"/>
              <a:t>不变</a:t>
            </a:r>
          </a:p>
        </p:txBody>
      </p:sp>
      <p:sp>
        <p:nvSpPr>
          <p:cNvPr id="63494" name="Text Box 6">
            <a:extLst>
              <a:ext uri="{FF2B5EF4-FFF2-40B4-BE49-F238E27FC236}">
                <a16:creationId xmlns:a16="http://schemas.microsoft.com/office/drawing/2014/main" id="{415AABCF-E8BB-479E-9B4A-07D87F01A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00488"/>
            <a:ext cx="3200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zh-CN" altLang="en-US" sz="2800" b="1"/>
              <a:t>减小，甲安全线</a:t>
            </a:r>
            <a:r>
              <a:rPr lang="en-US" altLang="zh-CN" sz="2800" b="1" i="1"/>
              <a:t>x</a:t>
            </a:r>
            <a:r>
              <a:rPr lang="en-US" altLang="zh-CN" sz="2800" b="1"/>
              <a:t>=</a:t>
            </a:r>
            <a:r>
              <a:rPr lang="en-US" altLang="zh-CN" sz="2800" b="1" i="1"/>
              <a:t>g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向</a:t>
            </a:r>
            <a:r>
              <a:rPr lang="en-US" altLang="zh-CN" sz="2800" b="1" i="1"/>
              <a:t>y</a:t>
            </a:r>
            <a:r>
              <a:rPr lang="zh-CN" altLang="en-US" sz="2800" b="1"/>
              <a:t>轴靠近</a:t>
            </a:r>
          </a:p>
        </p:txBody>
      </p:sp>
      <p:graphicFrame>
        <p:nvGraphicFramePr>
          <p:cNvPr id="63495" name="Object 7">
            <a:extLst>
              <a:ext uri="{FF2B5EF4-FFF2-40B4-BE49-F238E27FC236}">
                <a16:creationId xmlns:a16="http://schemas.microsoft.com/office/drawing/2014/main" id="{236386B3-4693-4F63-B9E0-B8B2223C72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5032375"/>
          <a:ext cx="2514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公式" r:id="rId3" imgW="1054100" imgH="228600" progId="Equation.3">
                  <p:embed/>
                </p:oleObj>
              </mc:Choice>
              <mc:Fallback>
                <p:oleObj name="公式" r:id="rId3" imgW="10541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032375"/>
                        <a:ext cx="2514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CD76CA4D-0ECB-4D94-B40F-73CAFD13F335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2133600"/>
            <a:ext cx="4114800" cy="2743200"/>
            <a:chOff x="2784" y="1344"/>
            <a:chExt cx="2592" cy="1728"/>
          </a:xfrm>
        </p:grpSpPr>
        <p:sp>
          <p:nvSpPr>
            <p:cNvPr id="32786" name="Line 9">
              <a:extLst>
                <a:ext uri="{FF2B5EF4-FFF2-40B4-BE49-F238E27FC236}">
                  <a16:creationId xmlns:a16="http://schemas.microsoft.com/office/drawing/2014/main" id="{DE1CDF5C-284C-4E8F-9938-731E3C47C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880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7" name="Line 10">
              <a:extLst>
                <a:ext uri="{FF2B5EF4-FFF2-40B4-BE49-F238E27FC236}">
                  <a16:creationId xmlns:a16="http://schemas.microsoft.com/office/drawing/2014/main" id="{76184489-F42C-4FD0-8C91-97A7352CD1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488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8" name="Freeform 11">
              <a:extLst>
                <a:ext uri="{FF2B5EF4-FFF2-40B4-BE49-F238E27FC236}">
                  <a16:creationId xmlns:a16="http://schemas.microsoft.com/office/drawing/2014/main" id="{2CF06443-BF64-4F7C-B685-8802BD93F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1824"/>
              <a:ext cx="1536" cy="828"/>
            </a:xfrm>
            <a:custGeom>
              <a:avLst/>
              <a:gdLst>
                <a:gd name="T0" fmla="*/ 0 w 1380"/>
                <a:gd name="T1" fmla="*/ 933 h 780"/>
                <a:gd name="T2" fmla="*/ 297 w 1380"/>
                <a:gd name="T3" fmla="*/ 689 h 780"/>
                <a:gd name="T4" fmla="*/ 547 w 1380"/>
                <a:gd name="T5" fmla="*/ 517 h 780"/>
                <a:gd name="T6" fmla="*/ 778 w 1380"/>
                <a:gd name="T7" fmla="*/ 387 h 780"/>
                <a:gd name="T8" fmla="*/ 1093 w 1380"/>
                <a:gd name="T9" fmla="*/ 230 h 780"/>
                <a:gd name="T10" fmla="*/ 1406 w 1380"/>
                <a:gd name="T11" fmla="*/ 100 h 780"/>
                <a:gd name="T12" fmla="*/ 1687 w 1380"/>
                <a:gd name="T13" fmla="*/ 29 h 780"/>
                <a:gd name="T14" fmla="*/ 1903 w 1380"/>
                <a:gd name="T15" fmla="*/ 0 h 7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80"/>
                <a:gd name="T25" fmla="*/ 0 h 780"/>
                <a:gd name="T26" fmla="*/ 1380 w 1380"/>
                <a:gd name="T27" fmla="*/ 780 h 7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89" name="Text Box 12">
              <a:extLst>
                <a:ext uri="{FF2B5EF4-FFF2-40B4-BE49-F238E27FC236}">
                  <a16:creationId xmlns:a16="http://schemas.microsoft.com/office/drawing/2014/main" id="{D7EDA1A5-82D6-4C1A-AAE6-7249B16DF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78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x</a:t>
              </a:r>
            </a:p>
          </p:txBody>
        </p:sp>
        <p:sp>
          <p:nvSpPr>
            <p:cNvPr id="32790" name="Text Box 13">
              <a:extLst>
                <a:ext uri="{FF2B5EF4-FFF2-40B4-BE49-F238E27FC236}">
                  <a16:creationId xmlns:a16="http://schemas.microsoft.com/office/drawing/2014/main" id="{922AAED3-9760-4B4F-BABE-7A08AF53B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34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</a:p>
          </p:txBody>
        </p:sp>
        <p:sp>
          <p:nvSpPr>
            <p:cNvPr id="32791" name="Text Box 14">
              <a:extLst>
                <a:ext uri="{FF2B5EF4-FFF2-40B4-BE49-F238E27FC236}">
                  <a16:creationId xmlns:a16="http://schemas.microsoft.com/office/drawing/2014/main" id="{80021A63-458C-4092-B8AA-A5EBE652B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73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O</a:t>
              </a:r>
            </a:p>
          </p:txBody>
        </p:sp>
        <p:sp>
          <p:nvSpPr>
            <p:cNvPr id="32792" name="Freeform 15">
              <a:extLst>
                <a:ext uri="{FF2B5EF4-FFF2-40B4-BE49-F238E27FC236}">
                  <a16:creationId xmlns:a16="http://schemas.microsoft.com/office/drawing/2014/main" id="{FB6185F5-4F67-4531-B80F-DC03F953D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1440"/>
              <a:ext cx="720" cy="1440"/>
            </a:xfrm>
            <a:custGeom>
              <a:avLst/>
              <a:gdLst>
                <a:gd name="T0" fmla="*/ 0 w 684"/>
                <a:gd name="T1" fmla="*/ 1881 h 1260"/>
                <a:gd name="T2" fmla="*/ 322 w 684"/>
                <a:gd name="T3" fmla="*/ 1415 h 1260"/>
                <a:gd name="T4" fmla="*/ 532 w 684"/>
                <a:gd name="T5" fmla="*/ 1022 h 1260"/>
                <a:gd name="T6" fmla="*/ 629 w 684"/>
                <a:gd name="T7" fmla="*/ 752 h 1260"/>
                <a:gd name="T8" fmla="*/ 741 w 684"/>
                <a:gd name="T9" fmla="*/ 394 h 1260"/>
                <a:gd name="T10" fmla="*/ 798 w 684"/>
                <a:gd name="T11" fmla="*/ 0 h 12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4"/>
                <a:gd name="T19" fmla="*/ 0 h 1260"/>
                <a:gd name="T20" fmla="*/ 684 w 684"/>
                <a:gd name="T21" fmla="*/ 1260 h 12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4" h="1260">
                  <a:moveTo>
                    <a:pt x="0" y="1260"/>
                  </a:moveTo>
                  <a:cubicBezTo>
                    <a:pt x="46" y="1208"/>
                    <a:pt x="200" y="1044"/>
                    <a:pt x="276" y="948"/>
                  </a:cubicBezTo>
                  <a:cubicBezTo>
                    <a:pt x="352" y="852"/>
                    <a:pt x="412" y="758"/>
                    <a:pt x="456" y="684"/>
                  </a:cubicBezTo>
                  <a:cubicBezTo>
                    <a:pt x="500" y="610"/>
                    <a:pt x="510" y="574"/>
                    <a:pt x="540" y="504"/>
                  </a:cubicBezTo>
                  <a:cubicBezTo>
                    <a:pt x="570" y="434"/>
                    <a:pt x="612" y="348"/>
                    <a:pt x="636" y="264"/>
                  </a:cubicBezTo>
                  <a:cubicBezTo>
                    <a:pt x="660" y="180"/>
                    <a:pt x="674" y="55"/>
                    <a:pt x="68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793" name="Text Box 16">
              <a:extLst>
                <a:ext uri="{FF2B5EF4-FFF2-40B4-BE49-F238E27FC236}">
                  <a16:creationId xmlns:a16="http://schemas.microsoft.com/office/drawing/2014/main" id="{68105CBB-D7AC-4652-A63B-F1397B3BBF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49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32794" name="Text Box 17">
              <a:extLst>
                <a:ext uri="{FF2B5EF4-FFF2-40B4-BE49-F238E27FC236}">
                  <a16:creationId xmlns:a16="http://schemas.microsoft.com/office/drawing/2014/main" id="{1C140ADD-42D9-4741-B3B5-19B3128CA4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784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32795" name="Text Box 18">
              <a:extLst>
                <a:ext uri="{FF2B5EF4-FFF2-40B4-BE49-F238E27FC236}">
                  <a16:creationId xmlns:a16="http://schemas.microsoft.com/office/drawing/2014/main" id="{B9F842D7-8353-476B-89C4-4ECC19A6FD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536"/>
              <a:ext cx="7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P</a:t>
              </a:r>
              <a:r>
                <a:rPr lang="en-US" altLang="zh-CN"/>
                <a:t>(</a:t>
              </a:r>
              <a:r>
                <a:rPr lang="en-US" altLang="zh-CN" i="1"/>
                <a:t>x</a:t>
              </a:r>
              <a:r>
                <a:rPr lang="en-US" altLang="zh-CN" i="1" baseline="-25000"/>
                <a:t>m</a:t>
              </a:r>
              <a:r>
                <a:rPr lang="en-US" altLang="zh-CN"/>
                <a:t>,</a:t>
              </a:r>
              <a:r>
                <a:rPr lang="en-US" altLang="zh-CN" i="1"/>
                <a:t>y</a:t>
              </a:r>
              <a:r>
                <a:rPr lang="en-US" altLang="zh-CN" i="1" baseline="-25000"/>
                <a:t>m</a:t>
              </a:r>
              <a:r>
                <a:rPr lang="en-US" altLang="zh-CN"/>
                <a:t>)</a:t>
              </a:r>
            </a:p>
          </p:txBody>
        </p:sp>
        <p:sp>
          <p:nvSpPr>
            <p:cNvPr id="32796" name="Text Box 19">
              <a:extLst>
                <a:ext uri="{FF2B5EF4-FFF2-40B4-BE49-F238E27FC236}">
                  <a16:creationId xmlns:a16="http://schemas.microsoft.com/office/drawing/2014/main" id="{28B7F5B9-D4F9-466F-84C9-B06F58F1A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304"/>
              <a:ext cx="6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/>
                <a:t>=</a:t>
              </a:r>
              <a:r>
                <a:rPr lang="en-US" altLang="zh-CN" i="1"/>
                <a:t>g</a:t>
              </a:r>
              <a:r>
                <a:rPr lang="en-US" altLang="zh-CN"/>
                <a:t>(</a:t>
              </a:r>
              <a:r>
                <a:rPr lang="en-US" altLang="zh-CN" i="1"/>
                <a:t>y</a:t>
              </a:r>
              <a:r>
                <a:rPr lang="en-US" altLang="zh-CN"/>
                <a:t>)</a:t>
              </a:r>
            </a:p>
          </p:txBody>
        </p:sp>
        <p:sp>
          <p:nvSpPr>
            <p:cNvPr id="32797" name="Text Box 20">
              <a:extLst>
                <a:ext uri="{FF2B5EF4-FFF2-40B4-BE49-F238E27FC236}">
                  <a16:creationId xmlns:a16="http://schemas.microsoft.com/office/drawing/2014/main" id="{59FD48E8-9103-4F0F-B118-A88475DEE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00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/>
                <a:t>=</a:t>
              </a:r>
              <a:r>
                <a:rPr lang="en-US" altLang="zh-CN" i="1"/>
                <a:t>f</a:t>
              </a:r>
              <a:r>
                <a:rPr lang="en-US" altLang="zh-CN"/>
                <a:t>(</a:t>
              </a:r>
              <a:r>
                <a:rPr lang="en-US" altLang="zh-CN" i="1"/>
                <a:t>x</a:t>
              </a:r>
              <a:r>
                <a:rPr lang="en-US" altLang="zh-CN"/>
                <a:t>)</a:t>
              </a:r>
            </a:p>
          </p:txBody>
        </p:sp>
      </p:grpSp>
      <p:graphicFrame>
        <p:nvGraphicFramePr>
          <p:cNvPr id="63509" name="Object 21">
            <a:extLst>
              <a:ext uri="{FF2B5EF4-FFF2-40B4-BE49-F238E27FC236}">
                <a16:creationId xmlns:a16="http://schemas.microsoft.com/office/drawing/2014/main" id="{45B27C84-B3A0-4996-BC1F-648EEDB6EB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819400"/>
          <a:ext cx="12192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6" name="公式" r:id="rId5" imgW="672808" imgH="228501" progId="Equation.3">
                  <p:embed/>
                </p:oleObj>
              </mc:Choice>
              <mc:Fallback>
                <p:oleObj name="公式" r:id="rId5" imgW="672808" imgH="228501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819400"/>
                        <a:ext cx="121920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0" name="Freeform 22">
            <a:extLst>
              <a:ext uri="{FF2B5EF4-FFF2-40B4-BE49-F238E27FC236}">
                <a16:creationId xmlns:a16="http://schemas.microsoft.com/office/drawing/2014/main" id="{2875DB93-087B-4EE1-A517-A008CD0CF43B}"/>
              </a:ext>
            </a:extLst>
          </p:cNvPr>
          <p:cNvSpPr>
            <a:spLocks/>
          </p:cNvSpPr>
          <p:nvPr/>
        </p:nvSpPr>
        <p:spPr bwMode="auto">
          <a:xfrm>
            <a:off x="6248400" y="2286000"/>
            <a:ext cx="762000" cy="2286000"/>
          </a:xfrm>
          <a:custGeom>
            <a:avLst/>
            <a:gdLst>
              <a:gd name="T0" fmla="*/ 0 w 684"/>
              <a:gd name="T1" fmla="*/ 2147483647 h 1260"/>
              <a:gd name="T2" fmla="*/ 2147483647 w 684"/>
              <a:gd name="T3" fmla="*/ 2147483647 h 1260"/>
              <a:gd name="T4" fmla="*/ 2147483647 w 684"/>
              <a:gd name="T5" fmla="*/ 2147483647 h 1260"/>
              <a:gd name="T6" fmla="*/ 2147483647 w 684"/>
              <a:gd name="T7" fmla="*/ 2147483647 h 1260"/>
              <a:gd name="T8" fmla="*/ 2147483647 w 684"/>
              <a:gd name="T9" fmla="*/ 2147483647 h 1260"/>
              <a:gd name="T10" fmla="*/ 2147483647 w 684"/>
              <a:gd name="T11" fmla="*/ 0 h 12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84"/>
              <a:gd name="T19" fmla="*/ 0 h 1260"/>
              <a:gd name="T20" fmla="*/ 684 w 684"/>
              <a:gd name="T21" fmla="*/ 1260 h 12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84" h="1260">
                <a:moveTo>
                  <a:pt x="0" y="1260"/>
                </a:moveTo>
                <a:cubicBezTo>
                  <a:pt x="46" y="1208"/>
                  <a:pt x="200" y="1044"/>
                  <a:pt x="276" y="948"/>
                </a:cubicBezTo>
                <a:cubicBezTo>
                  <a:pt x="352" y="852"/>
                  <a:pt x="412" y="758"/>
                  <a:pt x="456" y="684"/>
                </a:cubicBezTo>
                <a:cubicBezTo>
                  <a:pt x="500" y="610"/>
                  <a:pt x="510" y="574"/>
                  <a:pt x="540" y="504"/>
                </a:cubicBezTo>
                <a:cubicBezTo>
                  <a:pt x="570" y="434"/>
                  <a:pt x="612" y="348"/>
                  <a:pt x="636" y="264"/>
                </a:cubicBezTo>
                <a:cubicBezTo>
                  <a:pt x="660" y="180"/>
                  <a:pt x="674" y="55"/>
                  <a:pt x="684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9" name="Text Box 23">
            <a:extLst>
              <a:ext uri="{FF2B5EF4-FFF2-40B4-BE49-F238E27FC236}">
                <a16:creationId xmlns:a16="http://schemas.microsoft.com/office/drawing/2014/main" id="{1B9BFA70-CD11-4269-8BCC-81E9E5DF0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33400"/>
            <a:ext cx="2209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模型解释 </a:t>
            </a:r>
          </a:p>
        </p:txBody>
      </p:sp>
      <p:sp>
        <p:nvSpPr>
          <p:cNvPr id="63512" name="Text Box 24">
            <a:extLst>
              <a:ext uri="{FF2B5EF4-FFF2-40B4-BE49-F238E27FC236}">
                <a16:creationId xmlns:a16="http://schemas.microsoft.com/office/drawing/2014/main" id="{AA79BC41-53AE-416C-9DB8-19B7F0C9E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5805488"/>
            <a:ext cx="7186613" cy="519112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甲方这种单独行为，会使双方的核导弹减少</a:t>
            </a:r>
            <a:r>
              <a:rPr lang="en-US" altLang="zh-CN" sz="2800" b="1"/>
              <a:t>.</a:t>
            </a:r>
          </a:p>
        </p:txBody>
      </p:sp>
      <p:sp>
        <p:nvSpPr>
          <p:cNvPr id="63513" name="AutoShape 25">
            <a:extLst>
              <a:ext uri="{FF2B5EF4-FFF2-40B4-BE49-F238E27FC236}">
                <a16:creationId xmlns:a16="http://schemas.microsoft.com/office/drawing/2014/main" id="{B64AC6EB-C813-43A9-B714-AA3F4BFAB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1336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14" name="AutoShape 26">
            <a:extLst>
              <a:ext uri="{FF2B5EF4-FFF2-40B4-BE49-F238E27FC236}">
                <a16:creationId xmlns:a16="http://schemas.microsoft.com/office/drawing/2014/main" id="{D5DCDF32-2326-4A4A-976F-FC254C57A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1148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15" name="AutoShape 27">
            <a:extLst>
              <a:ext uri="{FF2B5EF4-FFF2-40B4-BE49-F238E27FC236}">
                <a16:creationId xmlns:a16="http://schemas.microsoft.com/office/drawing/2014/main" id="{66B67E04-5825-4313-957E-7C1D7C173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76825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3516" name="Text Box 28">
            <a:extLst>
              <a:ext uri="{FF2B5EF4-FFF2-40B4-BE49-F238E27FC236}">
                <a16:creationId xmlns:a16="http://schemas.microsoft.com/office/drawing/2014/main" id="{B08A3609-AEB4-4544-9908-7C844F305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963" y="5057775"/>
            <a:ext cx="1149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ym typeface="Symbol" panose="05050102010706020507" pitchFamily="18" charset="2"/>
              </a:rPr>
              <a:t>P</a:t>
            </a:r>
            <a:r>
              <a:rPr lang="en-US" altLang="zh-CN" sz="2800" b="1">
                <a:sym typeface="Symbol" panose="05050102010706020507" pitchFamily="18" charset="2"/>
              </a:rPr>
              <a:t>´</a:t>
            </a:r>
            <a:endParaRPr lang="en-US" altLang="zh-CN" sz="2800" b="1"/>
          </a:p>
        </p:txBody>
      </p:sp>
      <p:pic>
        <p:nvPicPr>
          <p:cNvPr id="32785" name="Picture 2" descr="j0215086">
            <a:extLst>
              <a:ext uri="{FF2B5EF4-FFF2-40B4-BE49-F238E27FC236}">
                <a16:creationId xmlns:a16="http://schemas.microsoft.com/office/drawing/2014/main" id="{C4AEEEB7-28C2-41B2-AB54-5751A0CCE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476250"/>
            <a:ext cx="5064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10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1000"/>
                                        <p:tgtEl>
                                          <p:spTgt spid="6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1000"/>
                                        <p:tgtEl>
                                          <p:spTgt spid="63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1000"/>
                                        <p:tgtEl>
                                          <p:spTgt spid="6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10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3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nimBg="1"/>
      <p:bldP spid="63491" grpId="0" animBg="1" autoUpdateAnimBg="0"/>
      <p:bldP spid="63492" grpId="0" animBg="1" autoUpdateAnimBg="0"/>
      <p:bldP spid="63493" grpId="0" animBg="1" autoUpdateAnimBg="0"/>
      <p:bldP spid="63494" grpId="0" animBg="1" autoUpdateAnimBg="0"/>
      <p:bldP spid="63512" grpId="0" animBg="1"/>
      <p:bldP spid="63513" grpId="0" animBg="1"/>
      <p:bldP spid="63514" grpId="0" animBg="1"/>
      <p:bldP spid="63515" grpId="0" animBg="1"/>
      <p:bldP spid="63516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>
            <a:extLst>
              <a:ext uri="{FF2B5EF4-FFF2-40B4-BE49-F238E27FC236}">
                <a16:creationId xmlns:a16="http://schemas.microsoft.com/office/drawing/2014/main" id="{90ED789A-32D1-4364-B4B4-ED402E92F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613" y="1036638"/>
            <a:ext cx="8701087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双方发展多弹头导弹，每个弹头可以独立地摧毁目标</a:t>
            </a:r>
            <a:r>
              <a:rPr lang="en-US" altLang="zh-CN" sz="2800" b="1"/>
              <a:t>.</a:t>
            </a:r>
          </a:p>
        </p:txBody>
      </p:sp>
      <p:sp>
        <p:nvSpPr>
          <p:cNvPr id="64515" name="Text Box 3">
            <a:extLst>
              <a:ext uri="{FF2B5EF4-FFF2-40B4-BE49-F238E27FC236}">
                <a16:creationId xmlns:a16="http://schemas.microsoft.com/office/drawing/2014/main" id="{9C748A0A-2EC9-4883-A937-F79C00B6B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1570038"/>
            <a:ext cx="45672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 </a:t>
            </a:r>
            <a:r>
              <a:rPr lang="en-US" altLang="zh-CN" sz="2800" b="1"/>
              <a:t>,</a:t>
            </a:r>
            <a:r>
              <a:rPr lang="en-US" altLang="zh-CN" sz="2800" b="1" i="1"/>
              <a:t> y</a:t>
            </a:r>
            <a:r>
              <a:rPr lang="zh-CN" altLang="en-US" sz="2800" b="1"/>
              <a:t>仍为双方核导弹的数量</a:t>
            </a:r>
            <a:r>
              <a:rPr lang="en-US" altLang="zh-CN" sz="2800" b="1"/>
              <a:t>)</a:t>
            </a:r>
          </a:p>
        </p:txBody>
      </p:sp>
      <p:sp>
        <p:nvSpPr>
          <p:cNvPr id="64516" name="Text Box 4">
            <a:extLst>
              <a:ext uri="{FF2B5EF4-FFF2-40B4-BE49-F238E27FC236}">
                <a16:creationId xmlns:a16="http://schemas.microsoft.com/office/drawing/2014/main" id="{F0A5CECD-0ABB-4D9F-9E3A-CD5DD945A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125663"/>
            <a:ext cx="65151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双方威慑值</a:t>
            </a:r>
            <a:r>
              <a:rPr lang="en-US" altLang="zh-CN" sz="2800" b="1" i="1"/>
              <a:t>x</a:t>
            </a:r>
            <a:r>
              <a:rPr lang="en-US" altLang="zh-CN" sz="2800" b="1" baseline="-25000"/>
              <a:t> 0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和残存率</a:t>
            </a:r>
            <a:r>
              <a:rPr lang="en-US" altLang="zh-CN" sz="2800" b="1" i="1"/>
              <a:t>s</a:t>
            </a:r>
            <a:r>
              <a:rPr lang="zh-CN" altLang="en-US" sz="2800" b="1"/>
              <a:t>均减小</a:t>
            </a:r>
            <a:r>
              <a:rPr lang="en-US" altLang="zh-CN" sz="2800" b="1"/>
              <a:t>.</a:t>
            </a:r>
          </a:p>
        </p:txBody>
      </p:sp>
      <p:sp>
        <p:nvSpPr>
          <p:cNvPr id="64517" name="Text Box 5">
            <a:extLst>
              <a:ext uri="{FF2B5EF4-FFF2-40B4-BE49-F238E27FC236}">
                <a16:creationId xmlns:a16="http://schemas.microsoft.com/office/drawing/2014/main" id="{605FFFB7-4EED-4217-BFBD-09162367A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39883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y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减小 </a:t>
            </a:r>
            <a:r>
              <a:rPr lang="zh-CN" altLang="en-US" sz="2800" b="1">
                <a:sym typeface="Symbol" panose="05050102010706020507" pitchFamily="18" charset="2"/>
              </a:rPr>
              <a:t> </a:t>
            </a:r>
            <a:r>
              <a:rPr lang="zh-CN" altLang="en-US" sz="2800" b="1"/>
              <a:t> </a:t>
            </a:r>
            <a:r>
              <a:rPr lang="en-US" altLang="zh-CN" sz="2800" b="1" i="1"/>
              <a:t>y</a:t>
            </a:r>
            <a:r>
              <a:rPr lang="zh-CN" altLang="en-US" sz="2800" b="1"/>
              <a:t>下移且变平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ADEA731A-D255-4FE1-AE62-4701F341526D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2743200"/>
            <a:ext cx="4114800" cy="2743200"/>
            <a:chOff x="2928" y="1728"/>
            <a:chExt cx="2592" cy="1728"/>
          </a:xfrm>
        </p:grpSpPr>
        <p:sp>
          <p:nvSpPr>
            <p:cNvPr id="33815" name="Line 7">
              <a:extLst>
                <a:ext uri="{FF2B5EF4-FFF2-40B4-BE49-F238E27FC236}">
                  <a16:creationId xmlns:a16="http://schemas.microsoft.com/office/drawing/2014/main" id="{1B90C65F-B0FB-4C92-8E90-5A8B726C9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264"/>
              <a:ext cx="1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6" name="Line 8">
              <a:extLst>
                <a:ext uri="{FF2B5EF4-FFF2-40B4-BE49-F238E27FC236}">
                  <a16:creationId xmlns:a16="http://schemas.microsoft.com/office/drawing/2014/main" id="{2A80FBA5-1BDE-4286-A9E4-067B0BDC7C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87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7" name="Freeform 9">
              <a:extLst>
                <a:ext uri="{FF2B5EF4-FFF2-40B4-BE49-F238E27FC236}">
                  <a16:creationId xmlns:a16="http://schemas.microsoft.com/office/drawing/2014/main" id="{E350AFAA-5BF6-42C2-BE17-EDBD6F291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2208"/>
              <a:ext cx="1536" cy="828"/>
            </a:xfrm>
            <a:custGeom>
              <a:avLst/>
              <a:gdLst>
                <a:gd name="T0" fmla="*/ 0 w 1380"/>
                <a:gd name="T1" fmla="*/ 933 h 780"/>
                <a:gd name="T2" fmla="*/ 297 w 1380"/>
                <a:gd name="T3" fmla="*/ 689 h 780"/>
                <a:gd name="T4" fmla="*/ 547 w 1380"/>
                <a:gd name="T5" fmla="*/ 517 h 780"/>
                <a:gd name="T6" fmla="*/ 778 w 1380"/>
                <a:gd name="T7" fmla="*/ 387 h 780"/>
                <a:gd name="T8" fmla="*/ 1093 w 1380"/>
                <a:gd name="T9" fmla="*/ 230 h 780"/>
                <a:gd name="T10" fmla="*/ 1406 w 1380"/>
                <a:gd name="T11" fmla="*/ 100 h 780"/>
                <a:gd name="T12" fmla="*/ 1687 w 1380"/>
                <a:gd name="T13" fmla="*/ 29 h 780"/>
                <a:gd name="T14" fmla="*/ 1903 w 1380"/>
                <a:gd name="T15" fmla="*/ 0 h 7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80"/>
                <a:gd name="T25" fmla="*/ 0 h 780"/>
                <a:gd name="T26" fmla="*/ 1380 w 1380"/>
                <a:gd name="T27" fmla="*/ 780 h 7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8" name="Text Box 10">
              <a:extLst>
                <a:ext uri="{FF2B5EF4-FFF2-40B4-BE49-F238E27FC236}">
                  <a16:creationId xmlns:a16="http://schemas.microsoft.com/office/drawing/2014/main" id="{C81C54AE-D14B-413F-AB0B-CFAF770E4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316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</a:p>
          </p:txBody>
        </p:sp>
        <p:sp>
          <p:nvSpPr>
            <p:cNvPr id="33819" name="Text Box 11">
              <a:extLst>
                <a:ext uri="{FF2B5EF4-FFF2-40B4-BE49-F238E27FC236}">
                  <a16:creationId xmlns:a16="http://schemas.microsoft.com/office/drawing/2014/main" id="{A4350938-07D1-4BFE-B22F-9B72D2993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72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</a:p>
          </p:txBody>
        </p:sp>
        <p:sp>
          <p:nvSpPr>
            <p:cNvPr id="33820" name="Text Box 12">
              <a:extLst>
                <a:ext uri="{FF2B5EF4-FFF2-40B4-BE49-F238E27FC236}">
                  <a16:creationId xmlns:a16="http://schemas.microsoft.com/office/drawing/2014/main" id="{00ECE610-EC02-40C3-9544-EF7E6A80E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12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O</a:t>
              </a:r>
            </a:p>
          </p:txBody>
        </p:sp>
        <p:sp>
          <p:nvSpPr>
            <p:cNvPr id="33821" name="Freeform 13">
              <a:extLst>
                <a:ext uri="{FF2B5EF4-FFF2-40B4-BE49-F238E27FC236}">
                  <a16:creationId xmlns:a16="http://schemas.microsoft.com/office/drawing/2014/main" id="{980C095B-1B81-4274-ACEF-990EB554B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824"/>
              <a:ext cx="720" cy="1440"/>
            </a:xfrm>
            <a:custGeom>
              <a:avLst/>
              <a:gdLst>
                <a:gd name="T0" fmla="*/ 0 w 684"/>
                <a:gd name="T1" fmla="*/ 1881 h 1260"/>
                <a:gd name="T2" fmla="*/ 322 w 684"/>
                <a:gd name="T3" fmla="*/ 1415 h 1260"/>
                <a:gd name="T4" fmla="*/ 532 w 684"/>
                <a:gd name="T5" fmla="*/ 1022 h 1260"/>
                <a:gd name="T6" fmla="*/ 629 w 684"/>
                <a:gd name="T7" fmla="*/ 752 h 1260"/>
                <a:gd name="T8" fmla="*/ 741 w 684"/>
                <a:gd name="T9" fmla="*/ 394 h 1260"/>
                <a:gd name="T10" fmla="*/ 798 w 684"/>
                <a:gd name="T11" fmla="*/ 0 h 12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4"/>
                <a:gd name="T19" fmla="*/ 0 h 1260"/>
                <a:gd name="T20" fmla="*/ 684 w 684"/>
                <a:gd name="T21" fmla="*/ 1260 h 12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4" h="1260">
                  <a:moveTo>
                    <a:pt x="0" y="1260"/>
                  </a:moveTo>
                  <a:cubicBezTo>
                    <a:pt x="46" y="1208"/>
                    <a:pt x="200" y="1044"/>
                    <a:pt x="276" y="948"/>
                  </a:cubicBezTo>
                  <a:cubicBezTo>
                    <a:pt x="352" y="852"/>
                    <a:pt x="412" y="758"/>
                    <a:pt x="456" y="684"/>
                  </a:cubicBezTo>
                  <a:cubicBezTo>
                    <a:pt x="500" y="610"/>
                    <a:pt x="510" y="574"/>
                    <a:pt x="540" y="504"/>
                  </a:cubicBezTo>
                  <a:cubicBezTo>
                    <a:pt x="570" y="434"/>
                    <a:pt x="612" y="348"/>
                    <a:pt x="636" y="264"/>
                  </a:cubicBezTo>
                  <a:cubicBezTo>
                    <a:pt x="660" y="180"/>
                    <a:pt x="674" y="55"/>
                    <a:pt x="68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2" name="Text Box 14">
              <a:extLst>
                <a:ext uri="{FF2B5EF4-FFF2-40B4-BE49-F238E27FC236}">
                  <a16:creationId xmlns:a16="http://schemas.microsoft.com/office/drawing/2014/main" id="{7F8BDF66-22FB-4026-ACAA-D2714CEA2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832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33823" name="Text Box 15">
              <a:extLst>
                <a:ext uri="{FF2B5EF4-FFF2-40B4-BE49-F238E27FC236}">
                  <a16:creationId xmlns:a16="http://schemas.microsoft.com/office/drawing/2014/main" id="{FF646768-020D-4072-8B32-2E3BE55AC0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16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 baseline="-25000"/>
                <a:t>0</a:t>
              </a:r>
              <a:endParaRPr lang="en-US" altLang="zh-CN" i="1"/>
            </a:p>
          </p:txBody>
        </p:sp>
        <p:sp>
          <p:nvSpPr>
            <p:cNvPr id="33824" name="Text Box 16">
              <a:extLst>
                <a:ext uri="{FF2B5EF4-FFF2-40B4-BE49-F238E27FC236}">
                  <a16:creationId xmlns:a16="http://schemas.microsoft.com/office/drawing/2014/main" id="{98749DE8-D8C1-4714-88DD-BF80C5CAA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968"/>
              <a:ext cx="7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P</a:t>
              </a:r>
              <a:r>
                <a:rPr lang="en-US" altLang="zh-CN"/>
                <a:t>(</a:t>
              </a:r>
              <a:r>
                <a:rPr lang="en-US" altLang="zh-CN" i="1"/>
                <a:t>x</a:t>
              </a:r>
              <a:r>
                <a:rPr lang="en-US" altLang="zh-CN" i="1" baseline="-25000"/>
                <a:t>m</a:t>
              </a:r>
              <a:r>
                <a:rPr lang="en-US" altLang="zh-CN"/>
                <a:t>,</a:t>
              </a:r>
              <a:r>
                <a:rPr lang="en-US" altLang="zh-CN" i="1"/>
                <a:t>y</a:t>
              </a:r>
              <a:r>
                <a:rPr lang="en-US" altLang="zh-CN" i="1" baseline="-25000"/>
                <a:t>m</a:t>
              </a:r>
              <a:r>
                <a:rPr lang="en-US" altLang="zh-CN"/>
                <a:t>)</a:t>
              </a:r>
            </a:p>
          </p:txBody>
        </p:sp>
        <p:sp>
          <p:nvSpPr>
            <p:cNvPr id="33825" name="Text Box 17">
              <a:extLst>
                <a:ext uri="{FF2B5EF4-FFF2-40B4-BE49-F238E27FC236}">
                  <a16:creationId xmlns:a16="http://schemas.microsoft.com/office/drawing/2014/main" id="{F7AA42AD-4A41-4EF9-A759-CFF29CCFD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688"/>
              <a:ext cx="6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  <a:r>
                <a:rPr lang="en-US" altLang="zh-CN"/>
                <a:t>=</a:t>
              </a:r>
              <a:r>
                <a:rPr lang="en-US" altLang="zh-CN" i="1"/>
                <a:t>g</a:t>
              </a:r>
              <a:r>
                <a:rPr lang="en-US" altLang="zh-CN"/>
                <a:t>(</a:t>
              </a:r>
              <a:r>
                <a:rPr lang="en-US" altLang="zh-CN" i="1"/>
                <a:t>y</a:t>
              </a:r>
              <a:r>
                <a:rPr lang="en-US" altLang="zh-CN"/>
                <a:t>)</a:t>
              </a:r>
            </a:p>
          </p:txBody>
        </p:sp>
        <p:sp>
          <p:nvSpPr>
            <p:cNvPr id="33826" name="Text Box 18">
              <a:extLst>
                <a:ext uri="{FF2B5EF4-FFF2-40B4-BE49-F238E27FC236}">
                  <a16:creationId xmlns:a16="http://schemas.microsoft.com/office/drawing/2014/main" id="{FEC1DAB5-84D4-4D89-A338-099A874FF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400"/>
              <a:ext cx="57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i="1"/>
                <a:t>y</a:t>
              </a:r>
              <a:r>
                <a:rPr lang="en-US" altLang="zh-CN"/>
                <a:t>=</a:t>
              </a:r>
              <a:r>
                <a:rPr lang="en-US" altLang="zh-CN" i="1"/>
                <a:t>f</a:t>
              </a:r>
              <a:r>
                <a:rPr lang="en-US" altLang="zh-CN"/>
                <a:t>(</a:t>
              </a:r>
              <a:r>
                <a:rPr lang="en-US" altLang="zh-CN" i="1"/>
                <a:t>x</a:t>
              </a:r>
              <a:r>
                <a:rPr lang="en-US" altLang="zh-CN"/>
                <a:t>)</a:t>
              </a:r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EA612942-250E-445C-B9CB-BCB1500CB43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810000"/>
            <a:ext cx="1684338" cy="1371600"/>
            <a:chOff x="3168" y="2400"/>
            <a:chExt cx="1061" cy="864"/>
          </a:xfrm>
        </p:grpSpPr>
        <p:graphicFrame>
          <p:nvGraphicFramePr>
            <p:cNvPr id="33812" name="Object 20">
              <a:extLst>
                <a:ext uri="{FF2B5EF4-FFF2-40B4-BE49-F238E27FC236}">
                  <a16:creationId xmlns:a16="http://schemas.microsoft.com/office/drawing/2014/main" id="{ACDB306B-4785-46C6-BCF1-435F49F26D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2400"/>
            <a:ext cx="245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0" name="公式" r:id="rId3" imgW="177492" imgH="164814" progId="Equation.3">
                    <p:embed/>
                  </p:oleObj>
                </mc:Choice>
                <mc:Fallback>
                  <p:oleObj name="公式" r:id="rId3" imgW="177492" imgH="164814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00"/>
                          <a:ext cx="245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3" name="Freeform 21">
              <a:extLst>
                <a:ext uri="{FF2B5EF4-FFF2-40B4-BE49-F238E27FC236}">
                  <a16:creationId xmlns:a16="http://schemas.microsoft.com/office/drawing/2014/main" id="{8DC77199-79D6-4EE1-AF2B-0A7047CE2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544"/>
              <a:ext cx="480" cy="720"/>
            </a:xfrm>
            <a:custGeom>
              <a:avLst/>
              <a:gdLst>
                <a:gd name="T0" fmla="*/ 0 w 684"/>
                <a:gd name="T1" fmla="*/ 235 h 1260"/>
                <a:gd name="T2" fmla="*/ 95 w 684"/>
                <a:gd name="T3" fmla="*/ 177 h 1260"/>
                <a:gd name="T4" fmla="*/ 158 w 684"/>
                <a:gd name="T5" fmla="*/ 127 h 1260"/>
                <a:gd name="T6" fmla="*/ 187 w 684"/>
                <a:gd name="T7" fmla="*/ 94 h 1260"/>
                <a:gd name="T8" fmla="*/ 220 w 684"/>
                <a:gd name="T9" fmla="*/ 49 h 1260"/>
                <a:gd name="T10" fmla="*/ 236 w 684"/>
                <a:gd name="T11" fmla="*/ 0 h 12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4"/>
                <a:gd name="T19" fmla="*/ 0 h 1260"/>
                <a:gd name="T20" fmla="*/ 684 w 684"/>
                <a:gd name="T21" fmla="*/ 1260 h 12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4" h="1260">
                  <a:moveTo>
                    <a:pt x="0" y="1260"/>
                  </a:moveTo>
                  <a:cubicBezTo>
                    <a:pt x="46" y="1208"/>
                    <a:pt x="200" y="1044"/>
                    <a:pt x="276" y="948"/>
                  </a:cubicBezTo>
                  <a:cubicBezTo>
                    <a:pt x="352" y="852"/>
                    <a:pt x="412" y="758"/>
                    <a:pt x="456" y="684"/>
                  </a:cubicBezTo>
                  <a:cubicBezTo>
                    <a:pt x="500" y="610"/>
                    <a:pt x="510" y="574"/>
                    <a:pt x="540" y="504"/>
                  </a:cubicBezTo>
                  <a:cubicBezTo>
                    <a:pt x="570" y="434"/>
                    <a:pt x="612" y="348"/>
                    <a:pt x="636" y="264"/>
                  </a:cubicBezTo>
                  <a:cubicBezTo>
                    <a:pt x="660" y="180"/>
                    <a:pt x="674" y="55"/>
                    <a:pt x="68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4" name="Freeform 22">
              <a:extLst>
                <a:ext uri="{FF2B5EF4-FFF2-40B4-BE49-F238E27FC236}">
                  <a16:creationId xmlns:a16="http://schemas.microsoft.com/office/drawing/2014/main" id="{5B85A917-07F4-4AC9-AC1E-BBC356CDB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8" y="2640"/>
              <a:ext cx="960" cy="540"/>
            </a:xfrm>
            <a:custGeom>
              <a:avLst/>
              <a:gdLst>
                <a:gd name="T0" fmla="*/ 0 w 1380"/>
                <a:gd name="T1" fmla="*/ 259 h 780"/>
                <a:gd name="T2" fmla="*/ 72 w 1380"/>
                <a:gd name="T3" fmla="*/ 191 h 780"/>
                <a:gd name="T4" fmla="*/ 133 w 1380"/>
                <a:gd name="T5" fmla="*/ 143 h 780"/>
                <a:gd name="T6" fmla="*/ 190 w 1380"/>
                <a:gd name="T7" fmla="*/ 107 h 780"/>
                <a:gd name="T8" fmla="*/ 266 w 1380"/>
                <a:gd name="T9" fmla="*/ 64 h 780"/>
                <a:gd name="T10" fmla="*/ 344 w 1380"/>
                <a:gd name="T11" fmla="*/ 28 h 780"/>
                <a:gd name="T12" fmla="*/ 412 w 1380"/>
                <a:gd name="T13" fmla="*/ 8 h 780"/>
                <a:gd name="T14" fmla="*/ 465 w 1380"/>
                <a:gd name="T15" fmla="*/ 0 h 7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80"/>
                <a:gd name="T25" fmla="*/ 0 h 780"/>
                <a:gd name="T26" fmla="*/ 1380 w 1380"/>
                <a:gd name="T27" fmla="*/ 780 h 7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3">
            <a:extLst>
              <a:ext uri="{FF2B5EF4-FFF2-40B4-BE49-F238E27FC236}">
                <a16:creationId xmlns:a16="http://schemas.microsoft.com/office/drawing/2014/main" id="{4AE39D62-E714-4CBA-BFA4-A742803E49FC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2667000"/>
            <a:ext cx="2959100" cy="2514600"/>
            <a:chOff x="2976" y="0"/>
            <a:chExt cx="1864" cy="1584"/>
          </a:xfrm>
        </p:grpSpPr>
        <p:sp>
          <p:nvSpPr>
            <p:cNvPr id="33809" name="Freeform 24">
              <a:extLst>
                <a:ext uri="{FF2B5EF4-FFF2-40B4-BE49-F238E27FC236}">
                  <a16:creationId xmlns:a16="http://schemas.microsoft.com/office/drawing/2014/main" id="{FC5D7BA0-4210-4753-A925-6244CF642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240"/>
              <a:ext cx="1776" cy="1260"/>
            </a:xfrm>
            <a:custGeom>
              <a:avLst/>
              <a:gdLst>
                <a:gd name="T0" fmla="*/ 0 w 1380"/>
                <a:gd name="T1" fmla="*/ 3287 h 780"/>
                <a:gd name="T2" fmla="*/ 461 w 1380"/>
                <a:gd name="T3" fmla="*/ 2426 h 780"/>
                <a:gd name="T4" fmla="*/ 844 w 1380"/>
                <a:gd name="T5" fmla="*/ 1822 h 780"/>
                <a:gd name="T6" fmla="*/ 1202 w 1380"/>
                <a:gd name="T7" fmla="*/ 1365 h 780"/>
                <a:gd name="T8" fmla="*/ 1687 w 1380"/>
                <a:gd name="T9" fmla="*/ 809 h 780"/>
                <a:gd name="T10" fmla="*/ 2175 w 1380"/>
                <a:gd name="T11" fmla="*/ 355 h 780"/>
                <a:gd name="T12" fmla="*/ 2609 w 1380"/>
                <a:gd name="T13" fmla="*/ 102 h 780"/>
                <a:gd name="T14" fmla="*/ 2942 w 1380"/>
                <a:gd name="T15" fmla="*/ 0 h 7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380"/>
                <a:gd name="T25" fmla="*/ 0 h 780"/>
                <a:gd name="T26" fmla="*/ 1380 w 1380"/>
                <a:gd name="T27" fmla="*/ 780 h 78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380" h="780">
                  <a:moveTo>
                    <a:pt x="0" y="780"/>
                  </a:moveTo>
                  <a:cubicBezTo>
                    <a:pt x="36" y="746"/>
                    <a:pt x="150" y="634"/>
                    <a:pt x="216" y="576"/>
                  </a:cubicBezTo>
                  <a:cubicBezTo>
                    <a:pt x="282" y="518"/>
                    <a:pt x="338" y="474"/>
                    <a:pt x="396" y="432"/>
                  </a:cubicBezTo>
                  <a:cubicBezTo>
                    <a:pt x="454" y="390"/>
                    <a:pt x="498" y="364"/>
                    <a:pt x="564" y="324"/>
                  </a:cubicBezTo>
                  <a:cubicBezTo>
                    <a:pt x="630" y="284"/>
                    <a:pt x="716" y="232"/>
                    <a:pt x="792" y="192"/>
                  </a:cubicBezTo>
                  <a:cubicBezTo>
                    <a:pt x="868" y="152"/>
                    <a:pt x="948" y="112"/>
                    <a:pt x="1020" y="84"/>
                  </a:cubicBezTo>
                  <a:cubicBezTo>
                    <a:pt x="1092" y="56"/>
                    <a:pt x="1164" y="38"/>
                    <a:pt x="1224" y="24"/>
                  </a:cubicBezTo>
                  <a:cubicBezTo>
                    <a:pt x="1284" y="10"/>
                    <a:pt x="1348" y="5"/>
                    <a:pt x="138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0" name="Freeform 25">
              <a:extLst>
                <a:ext uri="{FF2B5EF4-FFF2-40B4-BE49-F238E27FC236}">
                  <a16:creationId xmlns:a16="http://schemas.microsoft.com/office/drawing/2014/main" id="{983DA7A8-9993-40B5-A8B6-58F038CD1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48"/>
              <a:ext cx="1248" cy="1536"/>
            </a:xfrm>
            <a:custGeom>
              <a:avLst/>
              <a:gdLst>
                <a:gd name="T0" fmla="*/ 0 w 684"/>
                <a:gd name="T1" fmla="*/ 2282 h 1260"/>
                <a:gd name="T2" fmla="*/ 1679 w 684"/>
                <a:gd name="T3" fmla="*/ 1718 h 1260"/>
                <a:gd name="T4" fmla="*/ 2770 w 684"/>
                <a:gd name="T5" fmla="*/ 1240 h 1260"/>
                <a:gd name="T6" fmla="*/ 3279 w 684"/>
                <a:gd name="T7" fmla="*/ 912 h 1260"/>
                <a:gd name="T8" fmla="*/ 3861 w 684"/>
                <a:gd name="T9" fmla="*/ 479 h 1260"/>
                <a:gd name="T10" fmla="*/ 4155 w 684"/>
                <a:gd name="T11" fmla="*/ 0 h 12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84"/>
                <a:gd name="T19" fmla="*/ 0 h 1260"/>
                <a:gd name="T20" fmla="*/ 684 w 684"/>
                <a:gd name="T21" fmla="*/ 1260 h 12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84" h="1260">
                  <a:moveTo>
                    <a:pt x="0" y="1260"/>
                  </a:moveTo>
                  <a:cubicBezTo>
                    <a:pt x="46" y="1208"/>
                    <a:pt x="200" y="1044"/>
                    <a:pt x="276" y="948"/>
                  </a:cubicBezTo>
                  <a:cubicBezTo>
                    <a:pt x="352" y="852"/>
                    <a:pt x="412" y="758"/>
                    <a:pt x="456" y="684"/>
                  </a:cubicBezTo>
                  <a:cubicBezTo>
                    <a:pt x="500" y="610"/>
                    <a:pt x="510" y="574"/>
                    <a:pt x="540" y="504"/>
                  </a:cubicBezTo>
                  <a:cubicBezTo>
                    <a:pt x="570" y="434"/>
                    <a:pt x="612" y="348"/>
                    <a:pt x="636" y="264"/>
                  </a:cubicBezTo>
                  <a:cubicBezTo>
                    <a:pt x="660" y="180"/>
                    <a:pt x="674" y="55"/>
                    <a:pt x="68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11" name="Object 26">
              <a:extLst>
                <a:ext uri="{FF2B5EF4-FFF2-40B4-BE49-F238E27FC236}">
                  <a16:creationId xmlns:a16="http://schemas.microsoft.com/office/drawing/2014/main" id="{9F246AC6-3F7A-49E9-955B-A09C1788CC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60" y="0"/>
            <a:ext cx="280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1" name="公式" r:id="rId5" imgW="203024" imgH="164957" progId="Equation.3">
                    <p:embed/>
                  </p:oleObj>
                </mc:Choice>
                <mc:Fallback>
                  <p:oleObj name="公式" r:id="rId5" imgW="203024" imgH="164957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0"/>
                          <a:ext cx="280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4539" name="Text Box 27">
            <a:extLst>
              <a:ext uri="{FF2B5EF4-FFF2-40B4-BE49-F238E27FC236}">
                <a16:creationId xmlns:a16="http://schemas.microsoft.com/office/drawing/2014/main" id="{8FE717DE-13A7-4CE1-90B5-FD8FEE7DF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00843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s</a:t>
            </a:r>
            <a:r>
              <a:rPr lang="zh-CN" altLang="en-US" sz="2800" b="1"/>
              <a:t>变小 </a:t>
            </a:r>
            <a:r>
              <a:rPr lang="zh-CN" altLang="en-US" sz="2800" b="1">
                <a:sym typeface="Symbol" panose="05050102010706020507" pitchFamily="18" charset="2"/>
              </a:rPr>
              <a:t>  </a:t>
            </a:r>
            <a:r>
              <a:rPr lang="en-US" altLang="zh-CN" sz="2800" b="1" i="1"/>
              <a:t>y</a:t>
            </a:r>
            <a:r>
              <a:rPr lang="zh-CN" altLang="en-US" sz="2800" b="1"/>
              <a:t>增加且变陡</a:t>
            </a:r>
          </a:p>
        </p:txBody>
      </p:sp>
      <p:sp>
        <p:nvSpPr>
          <p:cNvPr id="64540" name="Text Box 28">
            <a:extLst>
              <a:ext uri="{FF2B5EF4-FFF2-40B4-BE49-F238E27FC236}">
                <a16:creationId xmlns:a16="http://schemas.microsoft.com/office/drawing/2014/main" id="{ED166A0A-4CA4-464D-A635-0457ACA5C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5603875"/>
            <a:ext cx="8820150" cy="5826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双方导弹增加还是减少，需要更多信息及更详细的分析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64541" name="Object 29">
            <a:extLst>
              <a:ext uri="{FF2B5EF4-FFF2-40B4-BE49-F238E27FC236}">
                <a16:creationId xmlns:a16="http://schemas.microsoft.com/office/drawing/2014/main" id="{710F0856-15A6-410E-BAD8-9A9E88800C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1538" y="4724400"/>
          <a:ext cx="16430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2" name="公式" r:id="rId7" imgW="583693" imgH="177646" progId="Equation.3">
                  <p:embed/>
                </p:oleObj>
              </mc:Choice>
              <mc:Fallback>
                <p:oleObj name="公式" r:id="rId7" imgW="583693" imgH="177646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4724400"/>
                        <a:ext cx="16430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4" name="Text Box 30">
            <a:extLst>
              <a:ext uri="{FF2B5EF4-FFF2-40B4-BE49-F238E27FC236}">
                <a16:creationId xmlns:a16="http://schemas.microsoft.com/office/drawing/2014/main" id="{641C1CBD-0620-4FB2-A31A-ED42E71E4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"/>
            <a:ext cx="2209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模型解释 </a:t>
            </a:r>
          </a:p>
        </p:txBody>
      </p:sp>
      <p:sp>
        <p:nvSpPr>
          <p:cNvPr id="64543" name="Text Box 31">
            <a:extLst>
              <a:ext uri="{FF2B5EF4-FFF2-40B4-BE49-F238E27FC236}">
                <a16:creationId xmlns:a16="http://schemas.microsoft.com/office/drawing/2014/main" id="{B5927ECF-F79F-453C-818A-34D7BFD78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900" y="2781300"/>
            <a:ext cx="2597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/>
              <a:t>乙安全线 </a:t>
            </a:r>
            <a:r>
              <a:rPr lang="en-US" altLang="zh-CN" sz="2800" b="1" i="1"/>
              <a:t>y</a:t>
            </a:r>
            <a:r>
              <a:rPr lang="en-US" altLang="zh-CN" sz="2800" b="1"/>
              <a:t>=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</a:p>
        </p:txBody>
      </p:sp>
      <p:graphicFrame>
        <p:nvGraphicFramePr>
          <p:cNvPr id="64544" name="Object 32">
            <a:extLst>
              <a:ext uri="{FF2B5EF4-FFF2-40B4-BE49-F238E27FC236}">
                <a16:creationId xmlns:a16="http://schemas.microsoft.com/office/drawing/2014/main" id="{531EC3D9-3386-4576-863F-047B3C6467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4724400"/>
          <a:ext cx="16811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3" name="公式" r:id="rId9" imgW="596641" imgH="177723" progId="Equation.3">
                  <p:embed/>
                </p:oleObj>
              </mc:Choice>
              <mc:Fallback>
                <p:oleObj name="公式" r:id="rId9" imgW="596641" imgH="177723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724400"/>
                        <a:ext cx="16811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45" name="AutoShape 33">
            <a:extLst>
              <a:ext uri="{FF2B5EF4-FFF2-40B4-BE49-F238E27FC236}">
                <a16:creationId xmlns:a16="http://schemas.microsoft.com/office/drawing/2014/main" id="{9287CF6F-4A20-4B68-99C1-E33499E29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44725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4546" name="AutoShape 34">
            <a:extLst>
              <a:ext uri="{FF2B5EF4-FFF2-40B4-BE49-F238E27FC236}">
                <a16:creationId xmlns:a16="http://schemas.microsoft.com/office/drawing/2014/main" id="{F70FBCB1-6873-445F-83D1-AE27E7188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724400"/>
            <a:ext cx="3048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1000"/>
                                        <p:tgtEl>
                                          <p:spTgt spid="6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1000"/>
                                        <p:tgtEl>
                                          <p:spTgt spid="6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1" dur="1000"/>
                                        <p:tgtEl>
                                          <p:spTgt spid="6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5" grpId="0" animBg="1" autoUpdateAnimBg="0"/>
      <p:bldP spid="64516" grpId="0" animBg="1" autoUpdateAnimBg="0"/>
      <p:bldP spid="64517" grpId="0" animBg="1" autoUpdateAnimBg="0"/>
      <p:bldP spid="64539" grpId="0" animBg="1" autoUpdateAnimBg="0"/>
      <p:bldP spid="64540" grpId="0" animBg="1"/>
      <p:bldP spid="64543" grpId="0" animBg="1" autoUpdateAnimBg="0"/>
      <p:bldP spid="64545" grpId="0" animBg="1"/>
      <p:bldP spid="6454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>
            <a:extLst>
              <a:ext uri="{FF2B5EF4-FFF2-40B4-BE49-F238E27FC236}">
                <a16:creationId xmlns:a16="http://schemas.microsoft.com/office/drawing/2014/main" id="{16EA95F7-81B0-4889-B154-3FD45E574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6250"/>
            <a:ext cx="39624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核 军 备 竞 赛</a:t>
            </a:r>
          </a:p>
        </p:txBody>
      </p:sp>
      <p:sp>
        <p:nvSpPr>
          <p:cNvPr id="129029" name="Text Box 5">
            <a:extLst>
              <a:ext uri="{FF2B5EF4-FFF2-40B4-BE49-F238E27FC236}">
                <a16:creationId xmlns:a16="http://schemas.microsoft.com/office/drawing/2014/main" id="{B9BB8AB7-F402-4312-AB1C-C86E9F52A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557338"/>
            <a:ext cx="8208962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对</a:t>
            </a:r>
            <a:r>
              <a:rPr lang="zh-CN" altLang="en-US" sz="2800" b="1">
                <a:solidFill>
                  <a:srgbClr val="FF3300"/>
                </a:solidFill>
              </a:rPr>
              <a:t>“核威慑战略”</a:t>
            </a:r>
            <a:r>
              <a:rPr lang="zh-CN" altLang="en-US" sz="2800" b="1"/>
              <a:t>做一些合理、简化假设，用图的模型描述双方核武器相互制约、达到平衡的过程</a:t>
            </a:r>
            <a:r>
              <a:rPr lang="en-US" altLang="zh-CN" sz="2800" b="1"/>
              <a:t>.</a:t>
            </a:r>
          </a:p>
        </p:txBody>
      </p:sp>
      <p:sp>
        <p:nvSpPr>
          <p:cNvPr id="34820" name="Text Box 9">
            <a:extLst>
              <a:ext uri="{FF2B5EF4-FFF2-40B4-BE49-F238E27FC236}">
                <a16:creationId xmlns:a16="http://schemas.microsoft.com/office/drawing/2014/main" id="{2E6EA70D-AA15-43AB-890D-13A5BEA58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350" y="31400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9035" name="Rectangle 11">
            <a:extLst>
              <a:ext uri="{FF2B5EF4-FFF2-40B4-BE49-F238E27FC236}">
                <a16:creationId xmlns:a16="http://schemas.microsoft.com/office/drawing/2014/main" id="{6744C0AA-342F-4E56-BE66-BC397FC6B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924175"/>
            <a:ext cx="6840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提出</a:t>
            </a:r>
            <a:r>
              <a:rPr lang="zh-CN" altLang="en-US" sz="2800" b="1">
                <a:solidFill>
                  <a:srgbClr val="FF3300"/>
                </a:solidFill>
              </a:rPr>
              <a:t>安全曲线</a:t>
            </a:r>
            <a:r>
              <a:rPr lang="zh-CN" altLang="en-US" sz="2800" b="1"/>
              <a:t>概念，给出它的一般形式</a:t>
            </a:r>
            <a:r>
              <a:rPr lang="en-US" altLang="zh-CN" sz="2800" b="1"/>
              <a:t>.</a:t>
            </a:r>
          </a:p>
        </p:txBody>
      </p:sp>
      <p:sp>
        <p:nvSpPr>
          <p:cNvPr id="129036" name="Rectangle 12">
            <a:extLst>
              <a:ext uri="{FF2B5EF4-FFF2-40B4-BE49-F238E27FC236}">
                <a16:creationId xmlns:a16="http://schemas.microsoft.com/office/drawing/2014/main" id="{1302B533-FEC1-4A6C-B6BE-D5AEC6F9C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716338"/>
            <a:ext cx="82804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通过更精细的分析找到影响安全线的参数：</a:t>
            </a:r>
            <a:r>
              <a:rPr lang="zh-CN" altLang="en-US" sz="2800" b="1">
                <a:solidFill>
                  <a:srgbClr val="FF3300"/>
                </a:solidFill>
              </a:rPr>
              <a:t>威慑值和残存率</a:t>
            </a:r>
            <a:r>
              <a:rPr lang="zh-CN" altLang="en-US" sz="2800" b="1"/>
              <a:t>，给出安全线的分析表达式</a:t>
            </a:r>
            <a:r>
              <a:rPr lang="en-US" altLang="zh-CN" sz="2800" b="1"/>
              <a:t>.</a:t>
            </a:r>
          </a:p>
        </p:txBody>
      </p:sp>
      <p:sp>
        <p:nvSpPr>
          <p:cNvPr id="129037" name="Text Box 13">
            <a:extLst>
              <a:ext uri="{FF2B5EF4-FFF2-40B4-BE49-F238E27FC236}">
                <a16:creationId xmlns:a16="http://schemas.microsoft.com/office/drawing/2014/main" id="{0F082218-06D7-4767-97B1-0B0792E9D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157788"/>
            <a:ext cx="8496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利用模型对核军备竞赛中的一些现象作出合理解释</a:t>
            </a:r>
            <a:r>
              <a:rPr lang="en-US" altLang="zh-CN" sz="2800" b="1"/>
              <a:t>.</a:t>
            </a:r>
          </a:p>
        </p:txBody>
      </p:sp>
      <p:pic>
        <p:nvPicPr>
          <p:cNvPr id="34824" name="Picture 14" descr="j0215086">
            <a:extLst>
              <a:ext uri="{FF2B5EF4-FFF2-40B4-BE49-F238E27FC236}">
                <a16:creationId xmlns:a16="http://schemas.microsoft.com/office/drawing/2014/main" id="{13B72005-1CDB-4458-8932-F928715B6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476250"/>
            <a:ext cx="5064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9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9" grpId="0" animBg="1" autoUpdateAnimBg="0"/>
      <p:bldP spid="129035" grpId="0"/>
      <p:bldP spid="129036" grpId="0"/>
      <p:bldP spid="12903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2">
            <a:extLst>
              <a:ext uri="{FF2B5EF4-FFF2-40B4-BE49-F238E27FC236}">
                <a16:creationId xmlns:a16="http://schemas.microsoft.com/office/drawing/2014/main" id="{1CF1E54C-76C0-4448-BE02-7A3866BDB4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9463" y="549275"/>
          <a:ext cx="1195387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7" name="Clip" r:id="rId3" imgW="3154363" imgH="4708525" progId="MS_ClipArt_Gallery.2">
                  <p:embed/>
                </p:oleObj>
              </mc:Choice>
              <mc:Fallback>
                <p:oleObj name="Clip" r:id="rId3" imgW="3154363" imgH="4708525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549275"/>
                        <a:ext cx="1195387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>
            <a:extLst>
              <a:ext uri="{FF2B5EF4-FFF2-40B4-BE49-F238E27FC236}">
                <a16:creationId xmlns:a16="http://schemas.microsoft.com/office/drawing/2014/main" id="{762F5447-C991-4822-918E-2BA08B3E8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371600"/>
            <a:ext cx="48768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帆船在海面上乘风远航，确定</a:t>
            </a:r>
            <a:r>
              <a:rPr lang="zh-CN" altLang="en-US" sz="2800" b="1">
                <a:solidFill>
                  <a:srgbClr val="FF3300"/>
                </a:solidFill>
              </a:rPr>
              <a:t>最佳</a:t>
            </a:r>
            <a:r>
              <a:rPr lang="zh-CN" altLang="en-US" sz="2800" b="1"/>
              <a:t>的航行方向及帆的朝向</a:t>
            </a:r>
            <a:r>
              <a:rPr lang="en-US" altLang="zh-CN" sz="2800" b="1"/>
              <a:t>.</a:t>
            </a:r>
          </a:p>
        </p:txBody>
      </p:sp>
      <p:sp>
        <p:nvSpPr>
          <p:cNvPr id="18439" name="Text Box 7">
            <a:extLst>
              <a:ext uri="{FF2B5EF4-FFF2-40B4-BE49-F238E27FC236}">
                <a16:creationId xmlns:a16="http://schemas.microsoft.com/office/drawing/2014/main" id="{FA085B33-D811-449E-821B-623366E02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44763"/>
            <a:ext cx="1905000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简化问题</a:t>
            </a:r>
          </a:p>
        </p:txBody>
      </p:sp>
      <p:grpSp>
        <p:nvGrpSpPr>
          <p:cNvPr id="2" name="Group 38">
            <a:extLst>
              <a:ext uri="{FF2B5EF4-FFF2-40B4-BE49-F238E27FC236}">
                <a16:creationId xmlns:a16="http://schemas.microsoft.com/office/drawing/2014/main" id="{0564DB38-8300-4E45-A6A3-46F4A268A2D4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2605088"/>
            <a:ext cx="3810000" cy="3338512"/>
            <a:chOff x="3264" y="1392"/>
            <a:chExt cx="2400" cy="2103"/>
          </a:xfrm>
        </p:grpSpPr>
        <p:sp>
          <p:nvSpPr>
            <p:cNvPr id="35854" name="Line 8">
              <a:extLst>
                <a:ext uri="{FF2B5EF4-FFF2-40B4-BE49-F238E27FC236}">
                  <a16:creationId xmlns:a16="http://schemas.microsoft.com/office/drawing/2014/main" id="{6BB983AE-4D29-4D81-92AB-E805FC40D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3216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5" name="Line 9">
              <a:extLst>
                <a:ext uri="{FF2B5EF4-FFF2-40B4-BE49-F238E27FC236}">
                  <a16:creationId xmlns:a16="http://schemas.microsoft.com/office/drawing/2014/main" id="{B69A32F5-FCF0-4F71-84A0-396F69ECA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728"/>
              <a:ext cx="960" cy="14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56" name="Line 22">
              <a:extLst>
                <a:ext uri="{FF2B5EF4-FFF2-40B4-BE49-F238E27FC236}">
                  <a16:creationId xmlns:a16="http://schemas.microsoft.com/office/drawing/2014/main" id="{2009DBFC-56E4-42B4-B457-AAE6FA0C45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177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5857" name="Group 26">
              <a:extLst>
                <a:ext uri="{FF2B5EF4-FFF2-40B4-BE49-F238E27FC236}">
                  <a16:creationId xmlns:a16="http://schemas.microsoft.com/office/drawing/2014/main" id="{010FC416-A899-4701-B914-060E65D11C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3" y="2064"/>
              <a:ext cx="991" cy="1048"/>
              <a:chOff x="3373" y="2064"/>
              <a:chExt cx="991" cy="1048"/>
            </a:xfrm>
          </p:grpSpPr>
          <p:sp>
            <p:nvSpPr>
              <p:cNvPr id="35868" name="Line 10">
                <a:extLst>
                  <a:ext uri="{FF2B5EF4-FFF2-40B4-BE49-F238E27FC236}">
                    <a16:creationId xmlns:a16="http://schemas.microsoft.com/office/drawing/2014/main" id="{69D8458E-024D-4902-BC1B-1962124D7C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1043931">
                <a:off x="3502" y="2776"/>
                <a:ext cx="288" cy="33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69" name="Line 11">
                <a:extLst>
                  <a:ext uri="{FF2B5EF4-FFF2-40B4-BE49-F238E27FC236}">
                    <a16:creationId xmlns:a16="http://schemas.microsoft.com/office/drawing/2014/main" id="{9928CCE9-C43B-4F22-A4F6-0A23486E5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556069" flipV="1">
                <a:off x="3373" y="2272"/>
                <a:ext cx="576" cy="48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70" name="Arc 13">
                <a:extLst>
                  <a:ext uri="{FF2B5EF4-FFF2-40B4-BE49-F238E27FC236}">
                    <a16:creationId xmlns:a16="http://schemas.microsoft.com/office/drawing/2014/main" id="{2ACFFA36-EEC6-4B45-BBF6-96911CB0FD83}"/>
                  </a:ext>
                </a:extLst>
              </p:cNvPr>
              <p:cNvSpPr>
                <a:spLocks/>
              </p:cNvSpPr>
              <p:nvPr/>
            </p:nvSpPr>
            <p:spPr bwMode="auto">
              <a:xfrm rot="20556069" flipH="1">
                <a:off x="3810" y="2105"/>
                <a:ext cx="384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71" name="Line 21">
                <a:extLst>
                  <a:ext uri="{FF2B5EF4-FFF2-40B4-BE49-F238E27FC236}">
                    <a16:creationId xmlns:a16="http://schemas.microsoft.com/office/drawing/2014/main" id="{5D503300-9058-4CE7-AC29-610DE0EF3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0556069" flipH="1">
                <a:off x="3740" y="2452"/>
                <a:ext cx="624" cy="528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72" name="Arc 25">
                <a:extLst>
                  <a:ext uri="{FF2B5EF4-FFF2-40B4-BE49-F238E27FC236}">
                    <a16:creationId xmlns:a16="http://schemas.microsoft.com/office/drawing/2014/main" id="{74B282F6-CC36-4084-95DF-FFA61BED7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2064"/>
                <a:ext cx="48" cy="33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5858" name="Text Box 27">
              <a:extLst>
                <a:ext uri="{FF2B5EF4-FFF2-40B4-BE49-F238E27FC236}">
                  <a16:creationId xmlns:a16="http://schemas.microsoft.com/office/drawing/2014/main" id="{C8BB4354-0D7C-4EDF-96C2-A4BD8695E2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16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A</a:t>
              </a:r>
            </a:p>
          </p:txBody>
        </p:sp>
        <p:sp>
          <p:nvSpPr>
            <p:cNvPr id="35859" name="Text Box 28">
              <a:extLst>
                <a:ext uri="{FF2B5EF4-FFF2-40B4-BE49-F238E27FC236}">
                  <a16:creationId xmlns:a16="http://schemas.microsoft.com/office/drawing/2014/main" id="{6E4EA4B6-225C-48DB-8297-943C0167BE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316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B</a:t>
              </a:r>
            </a:p>
          </p:txBody>
        </p:sp>
        <p:sp>
          <p:nvSpPr>
            <p:cNvPr id="35860" name="Text Box 29">
              <a:extLst>
                <a:ext uri="{FF2B5EF4-FFF2-40B4-BE49-F238E27FC236}">
                  <a16:creationId xmlns:a16="http://schemas.microsoft.com/office/drawing/2014/main" id="{A6F6B587-DA7C-4796-8D25-0EB8AF8D2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3024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zh-CN" sz="2800" b="1"/>
                <a:t> </a:t>
              </a:r>
            </a:p>
          </p:txBody>
        </p:sp>
        <p:sp>
          <p:nvSpPr>
            <p:cNvPr id="35861" name="Text Box 30">
              <a:extLst>
                <a:ext uri="{FF2B5EF4-FFF2-40B4-BE49-F238E27FC236}">
                  <a16:creationId xmlns:a16="http://schemas.microsoft.com/office/drawing/2014/main" id="{E65FCA8B-7484-4998-8533-A794F7F86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033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altLang="zh-CN" sz="2800" b="1"/>
                <a:t> </a:t>
              </a:r>
            </a:p>
          </p:txBody>
        </p:sp>
        <p:sp>
          <p:nvSpPr>
            <p:cNvPr id="35862" name="Text Box 31">
              <a:extLst>
                <a:ext uri="{FF2B5EF4-FFF2-40B4-BE49-F238E27FC236}">
                  <a16:creationId xmlns:a16="http://schemas.microsoft.com/office/drawing/2014/main" id="{7580F204-68E4-46A1-9C6F-3E8EBF0FD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928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ym typeface="Symbol" panose="05050102010706020507" pitchFamily="18" charset="2"/>
                </a:rPr>
                <a:t></a:t>
              </a:r>
              <a:r>
                <a:rPr lang="en-US" altLang="zh-CN" sz="2800" b="1"/>
                <a:t> </a:t>
              </a:r>
            </a:p>
          </p:txBody>
        </p:sp>
        <p:sp>
          <p:nvSpPr>
            <p:cNvPr id="35863" name="Line 32">
              <a:extLst>
                <a:ext uri="{FF2B5EF4-FFF2-40B4-BE49-F238E27FC236}">
                  <a16:creationId xmlns:a16="http://schemas.microsoft.com/office/drawing/2014/main" id="{588F19D3-01D0-4839-B470-742592800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784"/>
              <a:ext cx="76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stealth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4" name="Text Box 33">
              <a:extLst>
                <a:ext uri="{FF2B5EF4-FFF2-40B4-BE49-F238E27FC236}">
                  <a16:creationId xmlns:a16="http://schemas.microsoft.com/office/drawing/2014/main" id="{53B3D6AF-404D-459E-9ECD-C657A1E9E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2361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风向</a:t>
              </a:r>
            </a:p>
          </p:txBody>
        </p:sp>
        <p:sp>
          <p:nvSpPr>
            <p:cNvPr id="35865" name="Text Box 34">
              <a:extLst>
                <a:ext uri="{FF2B5EF4-FFF2-40B4-BE49-F238E27FC236}">
                  <a16:creationId xmlns:a16="http://schemas.microsoft.com/office/drawing/2014/main" id="{415DB2EA-8419-432B-8F45-63E8D2FB7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440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北</a:t>
              </a:r>
            </a:p>
          </p:txBody>
        </p:sp>
        <p:sp>
          <p:nvSpPr>
            <p:cNvPr id="35866" name="Text Box 35">
              <a:extLst>
                <a:ext uri="{FF2B5EF4-FFF2-40B4-BE49-F238E27FC236}">
                  <a16:creationId xmlns:a16="http://schemas.microsoft.com/office/drawing/2014/main" id="{7AB73B57-30FE-4DF3-BBD4-9403B4D45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392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航向</a:t>
              </a:r>
            </a:p>
          </p:txBody>
        </p:sp>
        <p:sp>
          <p:nvSpPr>
            <p:cNvPr id="35867" name="Text Box 36">
              <a:extLst>
                <a:ext uri="{FF2B5EF4-FFF2-40B4-BE49-F238E27FC236}">
                  <a16:creationId xmlns:a16="http://schemas.microsoft.com/office/drawing/2014/main" id="{74095F36-24EC-4022-AE86-A0AA96910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824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accent2"/>
                  </a:solidFill>
                </a:rPr>
                <a:t>帆船</a:t>
              </a:r>
            </a:p>
          </p:txBody>
        </p:sp>
      </p:grpSp>
      <p:sp>
        <p:nvSpPr>
          <p:cNvPr id="18473" name="Text Box 41">
            <a:extLst>
              <a:ext uri="{FF2B5EF4-FFF2-40B4-BE49-F238E27FC236}">
                <a16:creationId xmlns:a16="http://schemas.microsoft.com/office/drawing/2014/main" id="{91519002-7D8D-4091-9CA4-0484CEEB7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24200"/>
            <a:ext cx="43434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海面上东风劲吹，设帆船要从</a:t>
            </a:r>
            <a:r>
              <a:rPr lang="en-US" altLang="zh-CN" sz="2800" b="1" i="1"/>
              <a:t>A</a:t>
            </a:r>
            <a:r>
              <a:rPr lang="zh-CN" altLang="en-US" sz="2800" b="1"/>
              <a:t>点驶向正东方的</a:t>
            </a:r>
            <a:r>
              <a:rPr lang="en-US" altLang="zh-CN" sz="2800" b="1" i="1"/>
              <a:t>B</a:t>
            </a:r>
            <a:r>
              <a:rPr lang="zh-CN" altLang="en-US" sz="2800" b="1"/>
              <a:t>点，确定起航时的航向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zh-CN" altLang="en-US" sz="2800" b="1">
                <a:sym typeface="Symbol" panose="05050102010706020507" pitchFamily="18" charset="2"/>
              </a:rPr>
              <a:t>，</a:t>
            </a:r>
            <a:endParaRPr lang="zh-CN" altLang="en-US" sz="2800" b="1"/>
          </a:p>
        </p:txBody>
      </p:sp>
      <p:grpSp>
        <p:nvGrpSpPr>
          <p:cNvPr id="4" name="Group 45">
            <a:extLst>
              <a:ext uri="{FF2B5EF4-FFF2-40B4-BE49-F238E27FC236}">
                <a16:creationId xmlns:a16="http://schemas.microsoft.com/office/drawing/2014/main" id="{536F6EA1-16E9-4E26-AE7F-3CA666659D7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962400"/>
            <a:ext cx="6629400" cy="1433513"/>
            <a:chOff x="288" y="2496"/>
            <a:chExt cx="4176" cy="903"/>
          </a:xfrm>
        </p:grpSpPr>
        <p:grpSp>
          <p:nvGrpSpPr>
            <p:cNvPr id="35849" name="Group 40">
              <a:extLst>
                <a:ext uri="{FF2B5EF4-FFF2-40B4-BE49-F238E27FC236}">
                  <a16:creationId xmlns:a16="http://schemas.microsoft.com/office/drawing/2014/main" id="{00CB68F2-49F6-41CA-A635-6EB883523A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496"/>
              <a:ext cx="1248" cy="576"/>
              <a:chOff x="3216" y="2208"/>
              <a:chExt cx="1248" cy="576"/>
            </a:xfrm>
          </p:grpSpPr>
          <p:sp>
            <p:nvSpPr>
              <p:cNvPr id="35851" name="Line 23">
                <a:extLst>
                  <a:ext uri="{FF2B5EF4-FFF2-40B4-BE49-F238E27FC236}">
                    <a16:creationId xmlns:a16="http://schemas.microsoft.com/office/drawing/2014/main" id="{88353A9A-FBED-4C34-BCE1-D0F24C4D40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2352"/>
                <a:ext cx="1152" cy="432"/>
              </a:xfrm>
              <a:prstGeom prst="line">
                <a:avLst/>
              </a:prstGeom>
              <a:noFill/>
              <a:ln w="57150">
                <a:solidFill>
                  <a:srgbClr val="FF66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52" name="Text Box 37">
                <a:extLst>
                  <a:ext uri="{FF2B5EF4-FFF2-40B4-BE49-F238E27FC236}">
                    <a16:creationId xmlns:a16="http://schemas.microsoft.com/office/drawing/2014/main" id="{9E8E5BE0-D06A-405E-80B2-C52EFCFF05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400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>
                    <a:solidFill>
                      <a:srgbClr val="FF3300"/>
                    </a:solidFill>
                  </a:rPr>
                  <a:t>帆</a:t>
                </a:r>
              </a:p>
            </p:txBody>
          </p:sp>
          <p:sp>
            <p:nvSpPr>
              <p:cNvPr id="35853" name="Text Box 39">
                <a:extLst>
                  <a:ext uri="{FF2B5EF4-FFF2-40B4-BE49-F238E27FC236}">
                    <a16:creationId xmlns:a16="http://schemas.microsoft.com/office/drawing/2014/main" id="{83AC9D92-559A-49F4-939C-3178DF175D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2208"/>
                <a:ext cx="33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FF3300"/>
                    </a:solidFill>
                    <a:sym typeface="Symbol" panose="05050102010706020507" pitchFamily="18" charset="2"/>
                  </a:rPr>
                  <a:t></a:t>
                </a:r>
                <a:endParaRPr lang="en-US" altLang="zh-CN" sz="2800" b="1">
                  <a:solidFill>
                    <a:srgbClr val="FF3300"/>
                  </a:solidFill>
                </a:endParaRPr>
              </a:p>
            </p:txBody>
          </p:sp>
        </p:grpSp>
        <p:sp>
          <p:nvSpPr>
            <p:cNvPr id="35850" name="Text Box 42">
              <a:extLst>
                <a:ext uri="{FF2B5EF4-FFF2-40B4-BE49-F238E27FC236}">
                  <a16:creationId xmlns:a16="http://schemas.microsoft.com/office/drawing/2014/main" id="{B9591167-9F16-4684-AC01-CFA5168374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072"/>
              <a:ext cx="19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FF3300"/>
                  </a:solidFill>
                  <a:sym typeface="Symbol" panose="05050102010706020507" pitchFamily="18" charset="2"/>
                </a:rPr>
                <a:t>以及帆的朝向</a:t>
              </a:r>
              <a:r>
                <a:rPr lang="zh-CN" altLang="en-US" sz="2800" b="1" i="1">
                  <a:solidFill>
                    <a:srgbClr val="FF3300"/>
                  </a:solidFill>
                  <a:sym typeface="Symbol" panose="05050102010706020507" pitchFamily="18" charset="2"/>
                </a:rPr>
                <a:t> </a:t>
              </a:r>
              <a:r>
                <a:rPr lang="en-US" altLang="zh-CN" sz="2800" b="1" i="1">
                  <a:solidFill>
                    <a:srgbClr val="FF3300"/>
                  </a:solidFill>
                  <a:sym typeface="Symbol" panose="05050102010706020507" pitchFamily="18" charset="2"/>
                </a:rPr>
                <a:t>.</a:t>
              </a:r>
              <a:endParaRPr lang="en-US" altLang="zh-CN" sz="2800" b="1">
                <a:solidFill>
                  <a:srgbClr val="FF3300"/>
                </a:solidFill>
                <a:sym typeface="Symbol" panose="05050102010706020507" pitchFamily="18" charset="2"/>
              </a:endParaRPr>
            </a:p>
          </p:txBody>
        </p:sp>
      </p:grpSp>
      <p:sp>
        <p:nvSpPr>
          <p:cNvPr id="35848" name="Rectangle 46">
            <a:extLst>
              <a:ext uri="{FF2B5EF4-FFF2-40B4-BE49-F238E27FC236}">
                <a16:creationId xmlns:a16="http://schemas.microsoft.com/office/drawing/2014/main" id="{17C20311-5A38-4E14-9129-60F3A967D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533400"/>
            <a:ext cx="3600450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ea typeface="楷体_GB2312" pitchFamily="49" charset="-122"/>
              </a:rPr>
              <a:t>2.8 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扬帆远航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utoUpdateAnimBg="0"/>
      <p:bldP spid="18439" grpId="0" animBg="1" autoUpdateAnimBg="0"/>
      <p:bldP spid="18473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866" name="Object 2">
            <a:extLst>
              <a:ext uri="{FF2B5EF4-FFF2-40B4-BE49-F238E27FC236}">
                <a16:creationId xmlns:a16="http://schemas.microsoft.com/office/drawing/2014/main" id="{D9F57704-3CEC-4379-978F-7AB04B8CFA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27038"/>
          <a:ext cx="10144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9" name="Clip" r:id="rId3" imgW="3154363" imgH="4708525" progId="MS_ClipArt_Gallery.2">
                  <p:embed/>
                </p:oleObj>
              </mc:Choice>
              <mc:Fallback>
                <p:oleObj name="Clip" r:id="rId3" imgW="3154363" imgH="4708525" progId="MS_ClipArt_Gallery.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27038"/>
                        <a:ext cx="10144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7" name="Text Box 32">
            <a:extLst>
              <a:ext uri="{FF2B5EF4-FFF2-40B4-BE49-F238E27FC236}">
                <a16:creationId xmlns:a16="http://schemas.microsoft.com/office/drawing/2014/main" id="{AC1FA4E7-AA8D-47F3-966C-30CBA782F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762000"/>
            <a:ext cx="19050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模型分析</a:t>
            </a:r>
          </a:p>
        </p:txBody>
      </p:sp>
      <p:sp>
        <p:nvSpPr>
          <p:cNvPr id="19489" name="Text Box 33">
            <a:extLst>
              <a:ext uri="{FF2B5EF4-FFF2-40B4-BE49-F238E27FC236}">
                <a16:creationId xmlns:a16="http://schemas.microsoft.com/office/drawing/2014/main" id="{E5B82C25-6BFF-4C01-B871-149D03013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47688"/>
            <a:ext cx="419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风</a:t>
            </a:r>
            <a:r>
              <a:rPr lang="en-US" altLang="zh-CN" sz="2800" b="1"/>
              <a:t>(</a:t>
            </a:r>
            <a:r>
              <a:rPr lang="zh-CN" altLang="en-US" sz="2800" b="1"/>
              <a:t>通过帆</a:t>
            </a:r>
            <a:r>
              <a:rPr lang="en-US" altLang="zh-CN" sz="2800" b="1"/>
              <a:t>)</a:t>
            </a:r>
            <a:r>
              <a:rPr lang="zh-CN" altLang="en-US" sz="2800" b="1"/>
              <a:t>对船的推力</a:t>
            </a:r>
            <a:r>
              <a:rPr lang="en-US" altLang="zh-CN" sz="2800" b="1" i="1"/>
              <a:t>w</a:t>
            </a:r>
            <a:endParaRPr lang="en-US" altLang="zh-CN" sz="2800" b="1"/>
          </a:p>
        </p:txBody>
      </p:sp>
      <p:sp>
        <p:nvSpPr>
          <p:cNvPr id="19490" name="Text Box 34">
            <a:extLst>
              <a:ext uri="{FF2B5EF4-FFF2-40B4-BE49-F238E27FC236}">
                <a16:creationId xmlns:a16="http://schemas.microsoft.com/office/drawing/2014/main" id="{481D0882-8030-43A1-9BCD-A3276CE55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15728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风对船体部分的阻力</a:t>
            </a:r>
            <a:r>
              <a:rPr lang="en-US" altLang="zh-CN" sz="2800" b="1" i="1"/>
              <a:t>p</a:t>
            </a:r>
            <a:endParaRPr lang="en-US" altLang="zh-CN" sz="2800" b="1"/>
          </a:p>
        </p:txBody>
      </p:sp>
      <p:sp>
        <p:nvSpPr>
          <p:cNvPr id="19492" name="Text Box 36">
            <a:extLst>
              <a:ext uri="{FF2B5EF4-FFF2-40B4-BE49-F238E27FC236}">
                <a16:creationId xmlns:a16="http://schemas.microsoft.com/office/drawing/2014/main" id="{8CB8111F-DE71-44CC-BC3F-425A52EE0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833563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推力</a:t>
            </a:r>
            <a:r>
              <a:rPr lang="en-US" altLang="zh-CN" sz="2800" b="1" i="1"/>
              <a:t>w</a:t>
            </a:r>
            <a:r>
              <a:rPr lang="zh-CN" altLang="zh-CN" sz="2800" b="1"/>
              <a:t>的分解</a:t>
            </a:r>
            <a:endParaRPr lang="zh-CN" altLang="en-US" sz="2800" b="1"/>
          </a:p>
        </p:txBody>
      </p:sp>
      <p:grpSp>
        <p:nvGrpSpPr>
          <p:cNvPr id="2" name="Group 82">
            <a:extLst>
              <a:ext uri="{FF2B5EF4-FFF2-40B4-BE49-F238E27FC236}">
                <a16:creationId xmlns:a16="http://schemas.microsoft.com/office/drawing/2014/main" id="{42DEDB51-A1D5-4930-9EB8-2ACC5A06432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752600"/>
            <a:ext cx="3886200" cy="3352800"/>
            <a:chOff x="3120" y="1104"/>
            <a:chExt cx="2448" cy="2112"/>
          </a:xfrm>
        </p:grpSpPr>
        <p:grpSp>
          <p:nvGrpSpPr>
            <p:cNvPr id="36896" name="Group 55">
              <a:extLst>
                <a:ext uri="{FF2B5EF4-FFF2-40B4-BE49-F238E27FC236}">
                  <a16:creationId xmlns:a16="http://schemas.microsoft.com/office/drawing/2014/main" id="{DE577C89-D0E1-427C-B912-98BE04B67D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104"/>
              <a:ext cx="2448" cy="2112"/>
              <a:chOff x="3120" y="1104"/>
              <a:chExt cx="2448" cy="2112"/>
            </a:xfrm>
          </p:grpSpPr>
          <p:grpSp>
            <p:nvGrpSpPr>
              <p:cNvPr id="36900" name="Group 31">
                <a:extLst>
                  <a:ext uri="{FF2B5EF4-FFF2-40B4-BE49-F238E27FC236}">
                    <a16:creationId xmlns:a16="http://schemas.microsoft.com/office/drawing/2014/main" id="{708F9890-FA12-4B1E-B48E-FD27AAB7BE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1104"/>
                <a:ext cx="2448" cy="2112"/>
                <a:chOff x="2640" y="288"/>
                <a:chExt cx="2448" cy="2112"/>
              </a:xfrm>
            </p:grpSpPr>
            <p:sp>
              <p:nvSpPr>
                <p:cNvPr id="36902" name="Line 5">
                  <a:extLst>
                    <a:ext uri="{FF2B5EF4-FFF2-40B4-BE49-F238E27FC236}">
                      <a16:creationId xmlns:a16="http://schemas.microsoft.com/office/drawing/2014/main" id="{9C0F8505-5CA5-433E-A734-F6FEF725F1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46" y="288"/>
                  <a:ext cx="1375" cy="197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36903" name="Group 7">
                  <a:extLst>
                    <a:ext uri="{FF2B5EF4-FFF2-40B4-BE49-F238E27FC236}">
                      <a16:creationId xmlns:a16="http://schemas.microsoft.com/office/drawing/2014/main" id="{AC18151F-DA8A-42CB-BDCF-7FBE946F05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27" y="734"/>
                  <a:ext cx="1419" cy="1393"/>
                  <a:chOff x="3373" y="2064"/>
                  <a:chExt cx="991" cy="1048"/>
                </a:xfrm>
              </p:grpSpPr>
              <p:sp>
                <p:nvSpPr>
                  <p:cNvPr id="36910" name="Line 8">
                    <a:extLst>
                      <a:ext uri="{FF2B5EF4-FFF2-40B4-BE49-F238E27FC236}">
                        <a16:creationId xmlns:a16="http://schemas.microsoft.com/office/drawing/2014/main" id="{C4FB833A-5FD5-4CD5-9349-EB4C7331A2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-1043931">
                    <a:off x="3502" y="2776"/>
                    <a:ext cx="288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1" name="Line 9">
                    <a:extLst>
                      <a:ext uri="{FF2B5EF4-FFF2-40B4-BE49-F238E27FC236}">
                        <a16:creationId xmlns:a16="http://schemas.microsoft.com/office/drawing/2014/main" id="{250EEB5F-ADAD-495D-9D22-89914D8AEA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20556069" flipV="1">
                    <a:off x="3373" y="2272"/>
                    <a:ext cx="576" cy="480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2" name="Arc 10">
                    <a:extLst>
                      <a:ext uri="{FF2B5EF4-FFF2-40B4-BE49-F238E27FC236}">
                        <a16:creationId xmlns:a16="http://schemas.microsoft.com/office/drawing/2014/main" id="{5DE65498-B6D1-4318-B0FA-AAF0CC37CF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20556069" flipH="1">
                    <a:off x="3810" y="2105"/>
                    <a:ext cx="384" cy="9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3" name="Line 11">
                    <a:extLst>
                      <a:ext uri="{FF2B5EF4-FFF2-40B4-BE49-F238E27FC236}">
                        <a16:creationId xmlns:a16="http://schemas.microsoft.com/office/drawing/2014/main" id="{26F7B6EF-B949-4F85-BB72-0C9068D0AD9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20556069" flipH="1">
                    <a:off x="3740" y="2452"/>
                    <a:ext cx="624" cy="528"/>
                  </a:xfrm>
                  <a:prstGeom prst="line">
                    <a:avLst/>
                  </a:pr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14" name="Arc 12">
                    <a:extLst>
                      <a:ext uri="{FF2B5EF4-FFF2-40B4-BE49-F238E27FC236}">
                        <a16:creationId xmlns:a16="http://schemas.microsoft.com/office/drawing/2014/main" id="{A8AA6DCD-912B-40B7-8FD6-6018873BF3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224" y="2064"/>
                    <a:ext cx="48" cy="33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1600"/>
                      <a:gd name="T11" fmla="*/ 21600 w 21600"/>
                      <a:gd name="T12" fmla="*/ 21600 h 216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6904" name="Text Box 16">
                  <a:extLst>
                    <a:ext uri="{FF2B5EF4-FFF2-40B4-BE49-F238E27FC236}">
                      <a16:creationId xmlns:a16="http://schemas.microsoft.com/office/drawing/2014/main" id="{702BD283-3FD8-4ACA-83FF-311BACD9A8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56" y="2073"/>
                  <a:ext cx="41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Char char="•"/>
                  </a:pPr>
                  <a:r>
                    <a:rPr lang="en-US" altLang="zh-CN" sz="2800" b="1"/>
                    <a:t> </a:t>
                  </a:r>
                </a:p>
              </p:txBody>
            </p:sp>
            <p:sp>
              <p:nvSpPr>
                <p:cNvPr id="36905" name="Text Box 17">
                  <a:extLst>
                    <a:ext uri="{FF2B5EF4-FFF2-40B4-BE49-F238E27FC236}">
                      <a16:creationId xmlns:a16="http://schemas.microsoft.com/office/drawing/2014/main" id="{7D991BFA-7403-4F23-B007-F3B7CA931E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84" y="1977"/>
                  <a:ext cx="41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i="1">
                      <a:sym typeface="Symbol" panose="05050102010706020507" pitchFamily="18" charset="2"/>
                    </a:rPr>
                    <a:t></a:t>
                  </a:r>
                  <a:r>
                    <a:rPr lang="en-US" altLang="zh-CN" sz="2800" b="1" i="1"/>
                    <a:t> </a:t>
                  </a:r>
                  <a:endParaRPr lang="en-US" altLang="zh-CN" sz="2800" b="1"/>
                </a:p>
              </p:txBody>
            </p:sp>
            <p:sp>
              <p:nvSpPr>
                <p:cNvPr id="36906" name="Line 18">
                  <a:extLst>
                    <a:ext uri="{FF2B5EF4-FFF2-40B4-BE49-F238E27FC236}">
                      <a16:creationId xmlns:a16="http://schemas.microsoft.com/office/drawing/2014/main" id="{EC96D5B6-E014-4C9E-BD58-488A2C0AA3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6" y="1488"/>
                  <a:ext cx="1356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7" name="Line 25">
                  <a:extLst>
                    <a:ext uri="{FF2B5EF4-FFF2-40B4-BE49-F238E27FC236}">
                      <a16:creationId xmlns:a16="http://schemas.microsoft.com/office/drawing/2014/main" id="{F44AC19C-69BB-4DFB-B8AA-777D067267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40" y="1169"/>
                  <a:ext cx="1649" cy="574"/>
                </a:xfrm>
                <a:prstGeom prst="line">
                  <a:avLst/>
                </a:prstGeom>
                <a:noFill/>
                <a:ln w="57150">
                  <a:solidFill>
                    <a:srgbClr val="FF66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08" name="Text Box 27">
                  <a:extLst>
                    <a:ext uri="{FF2B5EF4-FFF2-40B4-BE49-F238E27FC236}">
                      <a16:creationId xmlns:a16="http://schemas.microsoft.com/office/drawing/2014/main" id="{11345422-56E1-48A5-907D-9A30CC0693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33" y="1104"/>
                  <a:ext cx="48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i="1">
                      <a:sym typeface="Symbol" panose="05050102010706020507" pitchFamily="18" charset="2"/>
                    </a:rPr>
                    <a:t></a:t>
                  </a:r>
                  <a:endParaRPr lang="en-US" altLang="zh-CN" sz="2800" b="1"/>
                </a:p>
              </p:txBody>
            </p:sp>
            <p:sp>
              <p:nvSpPr>
                <p:cNvPr id="36909" name="Line 30">
                  <a:extLst>
                    <a:ext uri="{FF2B5EF4-FFF2-40B4-BE49-F238E27FC236}">
                      <a16:creationId xmlns:a16="http://schemas.microsoft.com/office/drawing/2014/main" id="{62BC6433-893A-4DCC-98B9-ADD453F448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2256"/>
                  <a:ext cx="225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901" name="Text Box 43">
                <a:extLst>
                  <a:ext uri="{FF2B5EF4-FFF2-40B4-BE49-F238E27FC236}">
                    <a16:creationId xmlns:a16="http://schemas.microsoft.com/office/drawing/2014/main" id="{E56B5031-073F-432F-8A44-090B6C6D3B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2025"/>
                <a:ext cx="48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w</a:t>
                </a:r>
                <a:endParaRPr lang="en-US" altLang="zh-CN" sz="2800" b="1"/>
              </a:p>
            </p:txBody>
          </p:sp>
        </p:grpSp>
        <p:grpSp>
          <p:nvGrpSpPr>
            <p:cNvPr id="36897" name="Group 72">
              <a:extLst>
                <a:ext uri="{FF2B5EF4-FFF2-40B4-BE49-F238E27FC236}">
                  <a16:creationId xmlns:a16="http://schemas.microsoft.com/office/drawing/2014/main" id="{D2DC6070-2493-4C6C-99D4-3F6D945947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353"/>
              <a:ext cx="768" cy="327"/>
              <a:chOff x="4416" y="1344"/>
              <a:chExt cx="768" cy="327"/>
            </a:xfrm>
          </p:grpSpPr>
          <p:sp>
            <p:nvSpPr>
              <p:cNvPr id="36898" name="Line 61">
                <a:extLst>
                  <a:ext uri="{FF2B5EF4-FFF2-40B4-BE49-F238E27FC236}">
                    <a16:creationId xmlns:a16="http://schemas.microsoft.com/office/drawing/2014/main" id="{EC93B39E-A33E-483B-8D9A-BEAE66367C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536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9" name="Text Box 66">
                <a:extLst>
                  <a:ext uri="{FF2B5EF4-FFF2-40B4-BE49-F238E27FC236}">
                    <a16:creationId xmlns:a16="http://schemas.microsoft.com/office/drawing/2014/main" id="{E1A89CCD-9F41-447B-8689-D89B0246F3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6" y="1344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p</a:t>
                </a:r>
                <a:endParaRPr lang="en-US" altLang="zh-CN" sz="2800" b="1"/>
              </a:p>
            </p:txBody>
          </p:sp>
        </p:grpSp>
      </p:grpSp>
      <p:sp>
        <p:nvSpPr>
          <p:cNvPr id="19526" name="Text Box 70">
            <a:extLst>
              <a:ext uri="{FF2B5EF4-FFF2-40B4-BE49-F238E27FC236}">
                <a16:creationId xmlns:a16="http://schemas.microsoft.com/office/drawing/2014/main" id="{D9498A72-B0E7-4FCF-B278-84FF15C0B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0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阻力</a:t>
            </a:r>
            <a:r>
              <a:rPr lang="en-US" altLang="zh-CN" sz="2800" b="1" i="1"/>
              <a:t>p</a:t>
            </a:r>
            <a:r>
              <a:rPr lang="zh-CN" altLang="en-US" sz="2800" b="1"/>
              <a:t>的分解</a:t>
            </a:r>
          </a:p>
        </p:txBody>
      </p:sp>
      <p:grpSp>
        <p:nvGrpSpPr>
          <p:cNvPr id="7" name="Group 79">
            <a:extLst>
              <a:ext uri="{FF2B5EF4-FFF2-40B4-BE49-F238E27FC236}">
                <a16:creationId xmlns:a16="http://schemas.microsoft.com/office/drawing/2014/main" id="{6C4E98A9-E667-4B23-ACB1-80F8BFD2A2F1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857375"/>
            <a:ext cx="5181600" cy="2562225"/>
            <a:chOff x="2016" y="1161"/>
            <a:chExt cx="3264" cy="1614"/>
          </a:xfrm>
        </p:grpSpPr>
        <p:sp>
          <p:nvSpPr>
            <p:cNvPr id="36890" name="Text Box 37">
              <a:extLst>
                <a:ext uri="{FF2B5EF4-FFF2-40B4-BE49-F238E27FC236}">
                  <a16:creationId xmlns:a16="http://schemas.microsoft.com/office/drawing/2014/main" id="{B4A07857-B8CC-4151-B2D4-7825284907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161"/>
              <a:ext cx="11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w=w</a:t>
              </a:r>
              <a:r>
                <a:rPr lang="en-US" altLang="zh-CN" sz="2800" b="1" baseline="-25000"/>
                <a:t>1</a:t>
              </a:r>
              <a:r>
                <a:rPr lang="en-US" altLang="zh-CN" sz="2800" b="1" i="1"/>
                <a:t>+w</a:t>
              </a:r>
              <a:r>
                <a:rPr lang="en-US" altLang="zh-CN" sz="2800" b="1" baseline="-25000"/>
                <a:t>2</a:t>
              </a:r>
              <a:endParaRPr lang="en-US" altLang="zh-CN" sz="2800" b="1" i="1"/>
            </a:p>
          </p:txBody>
        </p:sp>
        <p:grpSp>
          <p:nvGrpSpPr>
            <p:cNvPr id="36891" name="Group 42">
              <a:extLst>
                <a:ext uri="{FF2B5EF4-FFF2-40B4-BE49-F238E27FC236}">
                  <a16:creationId xmlns:a16="http://schemas.microsoft.com/office/drawing/2014/main" id="{82CA4A3B-AAF4-46B2-8BBD-C4EEB56811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304"/>
              <a:ext cx="1344" cy="384"/>
              <a:chOff x="3888" y="2304"/>
              <a:chExt cx="1344" cy="384"/>
            </a:xfrm>
          </p:grpSpPr>
          <p:sp>
            <p:nvSpPr>
              <p:cNvPr id="36894" name="Line 40">
                <a:extLst>
                  <a:ext uri="{FF2B5EF4-FFF2-40B4-BE49-F238E27FC236}">
                    <a16:creationId xmlns:a16="http://schemas.microsoft.com/office/drawing/2014/main" id="{58AA8D53-9B68-4D67-B00E-F0E4DDAE5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304"/>
                <a:ext cx="96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5" name="Line 41">
                <a:extLst>
                  <a:ext uri="{FF2B5EF4-FFF2-40B4-BE49-F238E27FC236}">
                    <a16:creationId xmlns:a16="http://schemas.microsoft.com/office/drawing/2014/main" id="{57F9F5F6-13BC-4672-85B3-7755F5291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2304"/>
                <a:ext cx="1248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892" name="Text Box 46">
              <a:extLst>
                <a:ext uri="{FF2B5EF4-FFF2-40B4-BE49-F238E27FC236}">
                  <a16:creationId xmlns:a16="http://schemas.microsoft.com/office/drawing/2014/main" id="{F6C6BFF4-1024-42DD-8524-12F815BCB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30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w</a:t>
              </a:r>
              <a:r>
                <a:rPr lang="en-US" altLang="zh-CN" sz="2800" b="1" i="1" baseline="-25000"/>
                <a:t>1</a:t>
              </a:r>
              <a:endParaRPr lang="en-US" altLang="zh-CN" sz="2800" b="1" i="1"/>
            </a:p>
          </p:txBody>
        </p:sp>
        <p:sp>
          <p:nvSpPr>
            <p:cNvPr id="36893" name="Text Box 47">
              <a:extLst>
                <a:ext uri="{FF2B5EF4-FFF2-40B4-BE49-F238E27FC236}">
                  <a16:creationId xmlns:a16="http://schemas.microsoft.com/office/drawing/2014/main" id="{B4791F53-D6FC-4EBC-83E3-B4F3DC33F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44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w</a:t>
              </a:r>
              <a:r>
                <a:rPr lang="en-US" altLang="zh-CN" sz="2800" b="1" i="1" baseline="-25000"/>
                <a:t>2</a:t>
              </a:r>
              <a:endParaRPr lang="en-US" altLang="zh-CN" sz="2800" b="1" i="1"/>
            </a:p>
          </p:txBody>
        </p:sp>
      </p:grpSp>
      <p:grpSp>
        <p:nvGrpSpPr>
          <p:cNvPr id="9" name="Group 60">
            <a:extLst>
              <a:ext uri="{FF2B5EF4-FFF2-40B4-BE49-F238E27FC236}">
                <a16:creationId xmlns:a16="http://schemas.microsoft.com/office/drawing/2014/main" id="{4CBE8A1B-FD0B-4EC8-BE8C-E07A7288658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2528888"/>
            <a:ext cx="3200400" cy="2043112"/>
            <a:chOff x="2016" y="1584"/>
            <a:chExt cx="2016" cy="1287"/>
          </a:xfrm>
        </p:grpSpPr>
        <p:sp>
          <p:nvSpPr>
            <p:cNvPr id="36885" name="Text Box 53">
              <a:extLst>
                <a:ext uri="{FF2B5EF4-FFF2-40B4-BE49-F238E27FC236}">
                  <a16:creationId xmlns:a16="http://schemas.microsoft.com/office/drawing/2014/main" id="{4692B1F0-4A82-47A6-BFB6-97B9DC350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584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w</a:t>
              </a:r>
              <a:r>
                <a:rPr lang="en-US" altLang="zh-CN" sz="2800" b="1" baseline="-25000"/>
                <a:t>1</a:t>
              </a:r>
              <a:r>
                <a:rPr lang="en-US" altLang="zh-CN" sz="2800" b="1" i="1"/>
                <a:t>=f</a:t>
              </a:r>
              <a:r>
                <a:rPr lang="en-US" altLang="zh-CN" sz="2800" b="1" baseline="-25000"/>
                <a:t>1</a:t>
              </a:r>
              <a:r>
                <a:rPr lang="en-US" altLang="zh-CN" sz="2800" b="1" i="1"/>
                <a:t>+f</a:t>
              </a:r>
              <a:r>
                <a:rPr lang="en-US" altLang="zh-CN" sz="2800" b="1" baseline="-25000"/>
                <a:t>2</a:t>
              </a:r>
              <a:endParaRPr lang="en-US" altLang="zh-CN" sz="2800" b="1" i="1"/>
            </a:p>
          </p:txBody>
        </p:sp>
        <p:sp>
          <p:nvSpPr>
            <p:cNvPr id="36886" name="Line 56">
              <a:extLst>
                <a:ext uri="{FF2B5EF4-FFF2-40B4-BE49-F238E27FC236}">
                  <a16:creationId xmlns:a16="http://schemas.microsoft.com/office/drawing/2014/main" id="{071BF13D-F499-49BB-BD62-557265D7AA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4" y="2496"/>
              <a:ext cx="288" cy="19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7" name="Line 57">
              <a:extLst>
                <a:ext uri="{FF2B5EF4-FFF2-40B4-BE49-F238E27FC236}">
                  <a16:creationId xmlns:a16="http://schemas.microsoft.com/office/drawing/2014/main" id="{340B5AF1-C345-4050-BAC0-959CA51599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304"/>
              <a:ext cx="144" cy="19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8" name="Text Box 58">
              <a:extLst>
                <a:ext uri="{FF2B5EF4-FFF2-40B4-BE49-F238E27FC236}">
                  <a16:creationId xmlns:a16="http://schemas.microsoft.com/office/drawing/2014/main" id="{D390534F-2A69-409E-B601-EBA4D451E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8" y="2313"/>
              <a:ext cx="3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66CC"/>
                  </a:solidFill>
                </a:rPr>
                <a:t>f</a:t>
              </a:r>
              <a:r>
                <a:rPr lang="en-US" altLang="zh-CN" sz="2800" b="1" i="1" baseline="-25000">
                  <a:solidFill>
                    <a:srgbClr val="FF66CC"/>
                  </a:solidFill>
                </a:rPr>
                <a:t>1</a:t>
              </a:r>
              <a:endParaRPr lang="en-US" altLang="zh-CN" sz="2800" b="1" i="1"/>
            </a:p>
          </p:txBody>
        </p:sp>
        <p:sp>
          <p:nvSpPr>
            <p:cNvPr id="36889" name="Text Box 59">
              <a:extLst>
                <a:ext uri="{FF2B5EF4-FFF2-40B4-BE49-F238E27FC236}">
                  <a16:creationId xmlns:a16="http://schemas.microsoft.com/office/drawing/2014/main" id="{00DB62DC-D1AD-4967-8AAF-9D751FED8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544"/>
              <a:ext cx="3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66CC"/>
                  </a:solidFill>
                </a:rPr>
                <a:t>f</a:t>
              </a:r>
              <a:r>
                <a:rPr lang="en-US" altLang="zh-CN" sz="2800" b="1" i="1" baseline="-25000">
                  <a:solidFill>
                    <a:srgbClr val="FF66CC"/>
                  </a:solidFill>
                </a:rPr>
                <a:t>2</a:t>
              </a:r>
              <a:endParaRPr lang="en-US" altLang="zh-CN" sz="2800" b="1" i="1"/>
            </a:p>
          </p:txBody>
        </p:sp>
      </p:grpSp>
      <p:grpSp>
        <p:nvGrpSpPr>
          <p:cNvPr id="10" name="Group 85">
            <a:extLst>
              <a:ext uri="{FF2B5EF4-FFF2-40B4-BE49-F238E27FC236}">
                <a16:creationId xmlns:a16="http://schemas.microsoft.com/office/drawing/2014/main" id="{9B21CF90-5D6B-487D-8D9A-B1F4D7F274FF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752600"/>
            <a:ext cx="1524000" cy="685800"/>
            <a:chOff x="4128" y="1104"/>
            <a:chExt cx="960" cy="432"/>
          </a:xfrm>
        </p:grpSpPr>
        <p:sp>
          <p:nvSpPr>
            <p:cNvPr id="36881" name="Line 62">
              <a:extLst>
                <a:ext uri="{FF2B5EF4-FFF2-40B4-BE49-F238E27FC236}">
                  <a16:creationId xmlns:a16="http://schemas.microsoft.com/office/drawing/2014/main" id="{B2C34D6E-2E19-477C-A13D-AF388C64D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248"/>
              <a:ext cx="288" cy="288"/>
            </a:xfrm>
            <a:prstGeom prst="line">
              <a:avLst/>
            </a:prstGeom>
            <a:noFill/>
            <a:ln w="38100">
              <a:solidFill>
                <a:srgbClr val="FF66CC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2" name="Line 63">
              <a:extLst>
                <a:ext uri="{FF2B5EF4-FFF2-40B4-BE49-F238E27FC236}">
                  <a16:creationId xmlns:a16="http://schemas.microsoft.com/office/drawing/2014/main" id="{794EAA5E-034A-4D56-B483-D42134AE2B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248"/>
              <a:ext cx="192" cy="288"/>
            </a:xfrm>
            <a:prstGeom prst="line">
              <a:avLst/>
            </a:prstGeom>
            <a:noFill/>
            <a:ln w="38100">
              <a:solidFill>
                <a:srgbClr val="FF66CC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3" name="Text Box 67">
              <a:extLst>
                <a:ext uri="{FF2B5EF4-FFF2-40B4-BE49-F238E27FC236}">
                  <a16:creationId xmlns:a16="http://schemas.microsoft.com/office/drawing/2014/main" id="{A3230021-64D4-46E4-8A01-2D1D5DAAA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10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66CC"/>
                  </a:solidFill>
                </a:rPr>
                <a:t>p</a:t>
              </a:r>
              <a:r>
                <a:rPr lang="en-US" altLang="zh-CN" sz="2800" b="1" baseline="-25000">
                  <a:solidFill>
                    <a:srgbClr val="FF66CC"/>
                  </a:solidFill>
                </a:rPr>
                <a:t>2</a:t>
              </a:r>
              <a:endParaRPr lang="en-US" altLang="zh-CN" sz="2800" b="1"/>
            </a:p>
          </p:txBody>
        </p:sp>
        <p:sp>
          <p:nvSpPr>
            <p:cNvPr id="36884" name="Text Box 68">
              <a:extLst>
                <a:ext uri="{FF2B5EF4-FFF2-40B4-BE49-F238E27FC236}">
                  <a16:creationId xmlns:a16="http://schemas.microsoft.com/office/drawing/2014/main" id="{5825C9B7-63E8-4914-8701-E1627509E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20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66CC"/>
                  </a:solidFill>
                </a:rPr>
                <a:t>p</a:t>
              </a:r>
              <a:r>
                <a:rPr lang="en-US" altLang="zh-CN" sz="2800" b="1" baseline="-25000">
                  <a:solidFill>
                    <a:srgbClr val="FF66CC"/>
                  </a:solidFill>
                </a:rPr>
                <a:t>1</a:t>
              </a:r>
              <a:endParaRPr lang="en-US" altLang="zh-CN" sz="2800" b="1"/>
            </a:p>
          </p:txBody>
        </p:sp>
      </p:grpSp>
      <p:sp>
        <p:nvSpPr>
          <p:cNvPr id="19530" name="Text Box 74">
            <a:extLst>
              <a:ext uri="{FF2B5EF4-FFF2-40B4-BE49-F238E27FC236}">
                <a16:creationId xmlns:a16="http://schemas.microsoft.com/office/drawing/2014/main" id="{DD4754D6-C689-4A0B-98C3-B1762871A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8242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/>
              <a:t>=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+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endParaRPr lang="en-US" altLang="zh-CN" sz="2800" b="1"/>
          </a:p>
        </p:txBody>
      </p:sp>
      <p:sp>
        <p:nvSpPr>
          <p:cNvPr id="19533" name="Text Box 77">
            <a:extLst>
              <a:ext uri="{FF2B5EF4-FFF2-40B4-BE49-F238E27FC236}">
                <a16:creationId xmlns:a16="http://schemas.microsoft.com/office/drawing/2014/main" id="{798BE166-086F-4761-92B2-4F6D58CD6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248275"/>
            <a:ext cx="10668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  <p:sp>
        <p:nvSpPr>
          <p:cNvPr id="19534" name="Text Box 78">
            <a:extLst>
              <a:ext uri="{FF2B5EF4-FFF2-40B4-BE49-F238E27FC236}">
                <a16:creationId xmlns:a16="http://schemas.microsoft.com/office/drawing/2014/main" id="{BA17908A-296B-440C-8B2F-14E8A3B5C2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105400"/>
            <a:ext cx="69151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en-US" altLang="zh-CN" sz="2800" b="1" i="1"/>
              <a:t>w</a:t>
            </a:r>
            <a:r>
              <a:rPr lang="zh-CN" altLang="en-US" sz="2800" b="1"/>
              <a:t>与帆迎风面积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成正比，</a:t>
            </a:r>
            <a:r>
              <a:rPr lang="en-US" altLang="zh-CN" sz="2800" b="1" i="1"/>
              <a:t>p</a:t>
            </a:r>
            <a:r>
              <a:rPr lang="zh-CN" altLang="en-US" sz="2800" b="1"/>
              <a:t>与船迎风面积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成正比，</a:t>
            </a:r>
            <a:r>
              <a:rPr lang="zh-CN" altLang="en-US" sz="2800" b="1">
                <a:solidFill>
                  <a:srgbClr val="3333FF"/>
                </a:solidFill>
              </a:rPr>
              <a:t>比例系数相同且</a:t>
            </a:r>
            <a:r>
              <a:rPr lang="zh-CN" altLang="en-US" sz="2800" b="1" i="1">
                <a:solidFill>
                  <a:srgbClr val="3333FF"/>
                </a:solidFill>
              </a:rPr>
              <a:t> </a:t>
            </a:r>
            <a:r>
              <a:rPr lang="en-US" altLang="zh-CN" sz="2800" b="1" i="1">
                <a:solidFill>
                  <a:srgbClr val="3333FF"/>
                </a:solidFill>
              </a:rPr>
              <a:t>s</a:t>
            </a:r>
            <a:r>
              <a:rPr lang="en-US" altLang="zh-CN" sz="2800" b="1" baseline="-25000">
                <a:solidFill>
                  <a:srgbClr val="3333FF"/>
                </a:solidFill>
              </a:rPr>
              <a:t>1</a:t>
            </a:r>
            <a:r>
              <a:rPr lang="zh-CN" altLang="en-US" sz="2800" b="1">
                <a:solidFill>
                  <a:srgbClr val="3333FF"/>
                </a:solidFill>
              </a:rPr>
              <a:t>远大于</a:t>
            </a:r>
            <a:r>
              <a:rPr lang="zh-CN" altLang="en-US" sz="2800" b="1" baseline="-25000">
                <a:solidFill>
                  <a:srgbClr val="3333FF"/>
                </a:solidFill>
              </a:rPr>
              <a:t> </a:t>
            </a:r>
            <a:r>
              <a:rPr lang="en-US" altLang="zh-CN" sz="2800" b="1" i="1">
                <a:solidFill>
                  <a:srgbClr val="3333FF"/>
                </a:solidFill>
              </a:rPr>
              <a:t>s</a:t>
            </a:r>
            <a:r>
              <a:rPr lang="en-US" altLang="zh-CN" sz="2800" b="1" baseline="-25000">
                <a:solidFill>
                  <a:srgbClr val="3333FF"/>
                </a:solidFill>
              </a:rPr>
              <a:t>2 .</a:t>
            </a:r>
          </a:p>
        </p:txBody>
      </p:sp>
      <p:sp>
        <p:nvSpPr>
          <p:cNvPr id="19536" name="Text Box 80">
            <a:extLst>
              <a:ext uri="{FF2B5EF4-FFF2-40B4-BE49-F238E27FC236}">
                <a16:creationId xmlns:a16="http://schemas.microsoft.com/office/drawing/2014/main" id="{02DBEC0A-84DB-49DF-B303-C7DCEE3AE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138488"/>
            <a:ext cx="31242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~</a:t>
            </a:r>
            <a:r>
              <a:rPr lang="zh-CN" altLang="en-US" sz="2800" b="1"/>
              <a:t>航行方向的推力</a:t>
            </a:r>
          </a:p>
        </p:txBody>
      </p:sp>
      <p:sp>
        <p:nvSpPr>
          <p:cNvPr id="19537" name="Text Box 81">
            <a:extLst>
              <a:ext uri="{FF2B5EF4-FFF2-40B4-BE49-F238E27FC236}">
                <a16:creationId xmlns:a16="http://schemas.microsoft.com/office/drawing/2014/main" id="{A90924DE-477F-4F9F-B1E8-BFCEAC137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419600"/>
            <a:ext cx="33528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~</a:t>
            </a:r>
            <a:r>
              <a:rPr lang="zh-CN" altLang="en-US" sz="2800" b="1"/>
              <a:t>航行方向的阻力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9" grpId="0" autoUpdateAnimBg="0"/>
      <p:bldP spid="19490" grpId="0" autoUpdateAnimBg="0"/>
      <p:bldP spid="19492" grpId="0" autoUpdateAnimBg="0"/>
      <p:bldP spid="19526" grpId="0" autoUpdateAnimBg="0"/>
      <p:bldP spid="19530" grpId="0" autoUpdateAnimBg="0"/>
      <p:bldP spid="19533" grpId="0" animBg="1" autoUpdateAnimBg="0"/>
      <p:bldP spid="19534" grpId="0" autoUpdateAnimBg="0"/>
      <p:bldP spid="19536" grpId="0" animBg="1" autoUpdateAnimBg="0"/>
      <p:bldP spid="19537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ext Box 4">
            <a:extLst>
              <a:ext uri="{FF2B5EF4-FFF2-40B4-BE49-F238E27FC236}">
                <a16:creationId xmlns:a16="http://schemas.microsoft.com/office/drawing/2014/main" id="{70B22B02-82A8-4290-BBE0-051208C70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7657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w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w</a:t>
            </a:r>
            <a:r>
              <a:rPr lang="en-US" altLang="zh-CN" sz="2800" b="1"/>
              <a:t>sin(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b="1"/>
              <a:t>–</a:t>
            </a:r>
            <a:r>
              <a:rPr lang="en-US" altLang="zh-CN" sz="2800" b="1" i="1">
                <a:sym typeface="Symbol" panose="05050102010706020507" pitchFamily="18" charset="2"/>
              </a:rPr>
              <a:t>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0485" name="Text Box 5">
            <a:extLst>
              <a:ext uri="{FF2B5EF4-FFF2-40B4-BE49-F238E27FC236}">
                <a16:creationId xmlns:a16="http://schemas.microsoft.com/office/drawing/2014/main" id="{5667D81A-7B63-4417-9332-BC1F2F14A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686175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=w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sin</a:t>
            </a:r>
            <a:r>
              <a:rPr lang="en-US" altLang="zh-CN" sz="2800" b="1" i="1">
                <a:sym typeface="Symbol" panose="05050102010706020507" pitchFamily="18" charset="2"/>
              </a:rPr>
              <a:t>=w</a:t>
            </a:r>
            <a:r>
              <a:rPr lang="en-US" altLang="zh-CN" sz="2800" b="1"/>
              <a:t>sin</a:t>
            </a:r>
            <a:r>
              <a:rPr lang="en-US" altLang="zh-CN" sz="2800" b="1" i="1">
                <a:sym typeface="Symbol" panose="05050102010706020507" pitchFamily="18" charset="2"/>
              </a:rPr>
              <a:t> </a:t>
            </a:r>
            <a:r>
              <a:rPr lang="en-US" altLang="zh-CN" sz="2800" b="1"/>
              <a:t>sin(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b="1"/>
              <a:t>–</a:t>
            </a:r>
            <a:r>
              <a:rPr lang="en-US" altLang="zh-CN" sz="2800" b="1" i="1">
                <a:sym typeface="Symbol" panose="05050102010706020507" pitchFamily="18" charset="2"/>
              </a:rPr>
              <a:t>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EEE4910C-302F-4A50-8082-7FC1A1ADF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29577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p</a:t>
            </a:r>
            <a:r>
              <a:rPr lang="en-US" altLang="zh-CN" sz="2800" b="1"/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endParaRPr lang="en-US" altLang="zh-CN" sz="2800" b="1">
              <a:sym typeface="Symbol" panose="05050102010706020507" pitchFamily="18" charset="2"/>
            </a:endParaRPr>
          </a:p>
        </p:txBody>
      </p:sp>
      <p:sp>
        <p:nvSpPr>
          <p:cNvPr id="37893" name="Text Box 7">
            <a:extLst>
              <a:ext uri="{FF2B5EF4-FFF2-40B4-BE49-F238E27FC236}">
                <a16:creationId xmlns:a16="http://schemas.microsoft.com/office/drawing/2014/main" id="{B8CB7E7A-DAF6-485C-8995-9439F60DC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3888"/>
            <a:ext cx="10668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  <p:grpSp>
        <p:nvGrpSpPr>
          <p:cNvPr id="2" name="Group 46">
            <a:extLst>
              <a:ext uri="{FF2B5EF4-FFF2-40B4-BE49-F238E27FC236}">
                <a16:creationId xmlns:a16="http://schemas.microsoft.com/office/drawing/2014/main" id="{B5FBB23A-8D30-409C-8BD8-910AE2F0991E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995488"/>
            <a:ext cx="3886200" cy="3352800"/>
            <a:chOff x="3120" y="1104"/>
            <a:chExt cx="2448" cy="2112"/>
          </a:xfrm>
        </p:grpSpPr>
        <p:grpSp>
          <p:nvGrpSpPr>
            <p:cNvPr id="37908" name="Group 8">
              <a:extLst>
                <a:ext uri="{FF2B5EF4-FFF2-40B4-BE49-F238E27FC236}">
                  <a16:creationId xmlns:a16="http://schemas.microsoft.com/office/drawing/2014/main" id="{2AD0B8C1-E43E-4D68-A48F-C0E3BD8EA6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104"/>
              <a:ext cx="2448" cy="2112"/>
              <a:chOff x="3120" y="1104"/>
              <a:chExt cx="2448" cy="2112"/>
            </a:xfrm>
          </p:grpSpPr>
          <p:grpSp>
            <p:nvGrpSpPr>
              <p:cNvPr id="37923" name="Group 9">
                <a:extLst>
                  <a:ext uri="{FF2B5EF4-FFF2-40B4-BE49-F238E27FC236}">
                    <a16:creationId xmlns:a16="http://schemas.microsoft.com/office/drawing/2014/main" id="{12A452F5-F974-40D4-9177-1BF8E5060D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1104"/>
                <a:ext cx="2448" cy="2112"/>
                <a:chOff x="3120" y="1104"/>
                <a:chExt cx="2448" cy="2112"/>
              </a:xfrm>
            </p:grpSpPr>
            <p:grpSp>
              <p:nvGrpSpPr>
                <p:cNvPr id="37927" name="Group 10">
                  <a:extLst>
                    <a:ext uri="{FF2B5EF4-FFF2-40B4-BE49-F238E27FC236}">
                      <a16:creationId xmlns:a16="http://schemas.microsoft.com/office/drawing/2014/main" id="{4D869EC6-B2E7-482E-A38A-BE502EE5C1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0" y="1104"/>
                  <a:ext cx="2448" cy="2112"/>
                  <a:chOff x="2640" y="288"/>
                  <a:chExt cx="2448" cy="2112"/>
                </a:xfrm>
              </p:grpSpPr>
              <p:sp>
                <p:nvSpPr>
                  <p:cNvPr id="37929" name="Line 11">
                    <a:extLst>
                      <a:ext uri="{FF2B5EF4-FFF2-40B4-BE49-F238E27FC236}">
                        <a16:creationId xmlns:a16="http://schemas.microsoft.com/office/drawing/2014/main" id="{537FE112-F724-4464-A2E4-38ACDD886C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46" y="288"/>
                    <a:ext cx="1375" cy="197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930" name="Group 12">
                    <a:extLst>
                      <a:ext uri="{FF2B5EF4-FFF2-40B4-BE49-F238E27FC236}">
                        <a16:creationId xmlns:a16="http://schemas.microsoft.com/office/drawing/2014/main" id="{0C00603F-2757-4B03-9E65-38DF6C5A644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727" y="734"/>
                    <a:ext cx="1419" cy="1393"/>
                    <a:chOff x="3373" y="2064"/>
                    <a:chExt cx="991" cy="1048"/>
                  </a:xfrm>
                </p:grpSpPr>
                <p:sp>
                  <p:nvSpPr>
                    <p:cNvPr id="37937" name="Line 13">
                      <a:extLst>
                        <a:ext uri="{FF2B5EF4-FFF2-40B4-BE49-F238E27FC236}">
                          <a16:creationId xmlns:a16="http://schemas.microsoft.com/office/drawing/2014/main" id="{DE332764-C5DC-4BE6-8E94-5F4EF60578B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-1043931">
                      <a:off x="3502" y="2776"/>
                      <a:ext cx="288" cy="33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938" name="Line 14">
                      <a:extLst>
                        <a:ext uri="{FF2B5EF4-FFF2-40B4-BE49-F238E27FC236}">
                          <a16:creationId xmlns:a16="http://schemas.microsoft.com/office/drawing/2014/main" id="{56551954-26B5-4784-B119-FA1002EE6D4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20556069" flipV="1">
                      <a:off x="3373" y="2272"/>
                      <a:ext cx="576" cy="4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939" name="Arc 15">
                      <a:extLst>
                        <a:ext uri="{FF2B5EF4-FFF2-40B4-BE49-F238E27FC236}">
                          <a16:creationId xmlns:a16="http://schemas.microsoft.com/office/drawing/2014/main" id="{256BDBC4-45DC-4827-AE20-A29BFE5DA3B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 rot="20556069" flipH="1">
                      <a:off x="3810" y="2105"/>
                      <a:ext cx="384" cy="96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940" name="Line 16">
                      <a:extLst>
                        <a:ext uri="{FF2B5EF4-FFF2-40B4-BE49-F238E27FC236}">
                          <a16:creationId xmlns:a16="http://schemas.microsoft.com/office/drawing/2014/main" id="{38C23FF0-F05C-42D5-90A7-35DD20C98BB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20556069" flipH="1">
                      <a:off x="3740" y="2452"/>
                      <a:ext cx="624" cy="528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7941" name="Arc 17">
                      <a:extLst>
                        <a:ext uri="{FF2B5EF4-FFF2-40B4-BE49-F238E27FC236}">
                          <a16:creationId xmlns:a16="http://schemas.microsoft.com/office/drawing/2014/main" id="{74E2B36E-DFF3-4B37-8CA3-5AD8ADBAE4F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224" y="2064"/>
                      <a:ext cx="48" cy="336"/>
                    </a:xfrm>
                    <a:custGeom>
                      <a:avLst/>
                      <a:gdLst>
                        <a:gd name="T0" fmla="*/ 0 w 21600"/>
                        <a:gd name="T1" fmla="*/ 0 h 21600"/>
                        <a:gd name="T2" fmla="*/ 0 w 21600"/>
                        <a:gd name="T3" fmla="*/ 0 h 21600"/>
                        <a:gd name="T4" fmla="*/ 0 w 21600"/>
                        <a:gd name="T5" fmla="*/ 0 h 21600"/>
                        <a:gd name="T6" fmla="*/ 0 60000 65536"/>
                        <a:gd name="T7" fmla="*/ 0 60000 65536"/>
                        <a:gd name="T8" fmla="*/ 0 60000 65536"/>
                        <a:gd name="T9" fmla="*/ 0 w 21600"/>
                        <a:gd name="T10" fmla="*/ 0 h 21600"/>
                        <a:gd name="T11" fmla="*/ 21600 w 21600"/>
                        <a:gd name="T12" fmla="*/ 21600 h 21600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21600" h="21600" fill="none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</a:path>
                        <a:path w="21600" h="21600" stroke="0" extrusionOk="0">
                          <a:moveTo>
                            <a:pt x="-1" y="0"/>
                          </a:moveTo>
                          <a:cubicBezTo>
                            <a:pt x="11929" y="0"/>
                            <a:pt x="21600" y="9670"/>
                            <a:pt x="21600" y="21600"/>
                          </a:cubicBezTo>
                          <a:lnTo>
                            <a:pt x="0" y="21600"/>
                          </a:lnTo>
                          <a:lnTo>
                            <a:pt x="-1" y="0"/>
                          </a:lnTo>
                          <a:close/>
                        </a:path>
                      </a:pathLst>
                    </a:custGeom>
                    <a:noFill/>
                    <a:ln w="952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7931" name="Text Box 18">
                    <a:extLst>
                      <a:ext uri="{FF2B5EF4-FFF2-40B4-BE49-F238E27FC236}">
                        <a16:creationId xmlns:a16="http://schemas.microsoft.com/office/drawing/2014/main" id="{D5BAE17C-3EA0-491F-A768-528C3E5F1F3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756" y="2073"/>
                    <a:ext cx="41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buFontTx/>
                      <a:buChar char="•"/>
                    </a:pPr>
                    <a:r>
                      <a:rPr lang="en-US" altLang="zh-CN" sz="2800"/>
                      <a:t> </a:t>
                    </a:r>
                  </a:p>
                </p:txBody>
              </p:sp>
              <p:sp>
                <p:nvSpPr>
                  <p:cNvPr id="37932" name="Text Box 19">
                    <a:extLst>
                      <a:ext uri="{FF2B5EF4-FFF2-40B4-BE49-F238E27FC236}">
                        <a16:creationId xmlns:a16="http://schemas.microsoft.com/office/drawing/2014/main" id="{E76EFA4B-630E-4C23-9C20-028012EEFAB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84" y="1977"/>
                    <a:ext cx="41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800" i="1">
                        <a:sym typeface="Symbol" panose="05050102010706020507" pitchFamily="18" charset="2"/>
                      </a:rPr>
                      <a:t></a:t>
                    </a:r>
                    <a:r>
                      <a:rPr lang="en-US" altLang="zh-CN" sz="2800"/>
                      <a:t> </a:t>
                    </a:r>
                  </a:p>
                </p:txBody>
              </p:sp>
              <p:sp>
                <p:nvSpPr>
                  <p:cNvPr id="37933" name="Line 20">
                    <a:extLst>
                      <a:ext uri="{FF2B5EF4-FFF2-40B4-BE49-F238E27FC236}">
                        <a16:creationId xmlns:a16="http://schemas.microsoft.com/office/drawing/2014/main" id="{345730ED-2BC0-4E1B-B93E-9D06C0D286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96" y="1488"/>
                    <a:ext cx="1356" cy="0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headEnd type="stealth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34" name="Line 21">
                    <a:extLst>
                      <a:ext uri="{FF2B5EF4-FFF2-40B4-BE49-F238E27FC236}">
                        <a16:creationId xmlns:a16="http://schemas.microsoft.com/office/drawing/2014/main" id="{6EA726EF-FBFB-4665-A264-90A15643FA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640" y="1169"/>
                    <a:ext cx="1649" cy="574"/>
                  </a:xfrm>
                  <a:prstGeom prst="line">
                    <a:avLst/>
                  </a:prstGeom>
                  <a:noFill/>
                  <a:ln w="57150">
                    <a:solidFill>
                      <a:srgbClr val="FF66CC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35" name="Text Box 22">
                    <a:extLst>
                      <a:ext uri="{FF2B5EF4-FFF2-40B4-BE49-F238E27FC236}">
                        <a16:creationId xmlns:a16="http://schemas.microsoft.com/office/drawing/2014/main" id="{1340A692-0A24-4CED-8AA6-A88D3FEFCA9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33" y="1104"/>
                    <a:ext cx="482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800" i="1">
                        <a:sym typeface="Symbol" panose="05050102010706020507" pitchFamily="18" charset="2"/>
                      </a:rPr>
                      <a:t></a:t>
                    </a:r>
                    <a:endParaRPr lang="en-US" altLang="zh-CN" sz="2800"/>
                  </a:p>
                </p:txBody>
              </p:sp>
              <p:sp>
                <p:nvSpPr>
                  <p:cNvPr id="37936" name="Line 23">
                    <a:extLst>
                      <a:ext uri="{FF2B5EF4-FFF2-40B4-BE49-F238E27FC236}">
                        <a16:creationId xmlns:a16="http://schemas.microsoft.com/office/drawing/2014/main" id="{A9E73762-6823-481E-9FEB-44AC5473BA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832" y="2256"/>
                    <a:ext cx="225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7928" name="Text Box 24">
                  <a:extLst>
                    <a:ext uri="{FF2B5EF4-FFF2-40B4-BE49-F238E27FC236}">
                      <a16:creationId xmlns:a16="http://schemas.microsoft.com/office/drawing/2014/main" id="{69BCD649-4BF6-4FFE-9715-271CF7D684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92" y="2025"/>
                  <a:ext cx="48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i="1"/>
                    <a:t>w</a:t>
                  </a:r>
                  <a:endParaRPr lang="en-US" altLang="zh-CN" sz="2800" b="1"/>
                </a:p>
              </p:txBody>
            </p:sp>
          </p:grpSp>
          <p:grpSp>
            <p:nvGrpSpPr>
              <p:cNvPr id="37924" name="Group 25">
                <a:extLst>
                  <a:ext uri="{FF2B5EF4-FFF2-40B4-BE49-F238E27FC236}">
                    <a16:creationId xmlns:a16="http://schemas.microsoft.com/office/drawing/2014/main" id="{6CECE71D-4265-4714-AE5B-71ED9AF506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16" y="1353"/>
                <a:ext cx="768" cy="327"/>
                <a:chOff x="4416" y="1344"/>
                <a:chExt cx="768" cy="327"/>
              </a:xfrm>
            </p:grpSpPr>
            <p:sp>
              <p:nvSpPr>
                <p:cNvPr id="37925" name="Line 26">
                  <a:extLst>
                    <a:ext uri="{FF2B5EF4-FFF2-40B4-BE49-F238E27FC236}">
                      <a16:creationId xmlns:a16="http://schemas.microsoft.com/office/drawing/2014/main" id="{50964297-48C5-4B66-BE62-F3DE82F347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16" y="1536"/>
                  <a:ext cx="48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lg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26" name="Text Box 27">
                  <a:extLst>
                    <a:ext uri="{FF2B5EF4-FFF2-40B4-BE49-F238E27FC236}">
                      <a16:creationId xmlns:a16="http://schemas.microsoft.com/office/drawing/2014/main" id="{AEC4333F-A12C-464D-9042-18D0383A080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96" y="1344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i="1"/>
                    <a:t>p</a:t>
                  </a:r>
                  <a:endParaRPr lang="en-US" altLang="zh-CN" sz="2800"/>
                </a:p>
              </p:txBody>
            </p:sp>
          </p:grpSp>
        </p:grpSp>
        <p:grpSp>
          <p:nvGrpSpPr>
            <p:cNvPr id="37909" name="Group 30">
              <a:extLst>
                <a:ext uri="{FF2B5EF4-FFF2-40B4-BE49-F238E27FC236}">
                  <a16:creationId xmlns:a16="http://schemas.microsoft.com/office/drawing/2014/main" id="{F90054D8-AC0F-428E-A67D-D9D914B47A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304"/>
              <a:ext cx="1344" cy="384"/>
              <a:chOff x="3888" y="2304"/>
              <a:chExt cx="1344" cy="384"/>
            </a:xfrm>
          </p:grpSpPr>
          <p:sp>
            <p:nvSpPr>
              <p:cNvPr id="37921" name="Line 31">
                <a:extLst>
                  <a:ext uri="{FF2B5EF4-FFF2-40B4-BE49-F238E27FC236}">
                    <a16:creationId xmlns:a16="http://schemas.microsoft.com/office/drawing/2014/main" id="{50EFC00D-E66D-4F25-9E10-1520C81B9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304"/>
                <a:ext cx="96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22" name="Line 32">
                <a:extLst>
                  <a:ext uri="{FF2B5EF4-FFF2-40B4-BE49-F238E27FC236}">
                    <a16:creationId xmlns:a16="http://schemas.microsoft.com/office/drawing/2014/main" id="{E15931A4-9FD2-4A0F-8222-A14EE74A23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2304"/>
                <a:ext cx="1248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7910" name="Text Box 33">
              <a:extLst>
                <a:ext uri="{FF2B5EF4-FFF2-40B4-BE49-F238E27FC236}">
                  <a16:creationId xmlns:a16="http://schemas.microsoft.com/office/drawing/2014/main" id="{80EAA06E-054B-4B60-9748-EC6A96250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304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w</a:t>
              </a:r>
              <a:r>
                <a:rPr lang="en-US" altLang="zh-CN" sz="2800" b="1" baseline="-25000"/>
                <a:t>1</a:t>
              </a:r>
              <a:endParaRPr lang="en-US" altLang="zh-CN" sz="2800" b="1"/>
            </a:p>
          </p:txBody>
        </p:sp>
        <p:sp>
          <p:nvSpPr>
            <p:cNvPr id="37911" name="Text Box 34">
              <a:extLst>
                <a:ext uri="{FF2B5EF4-FFF2-40B4-BE49-F238E27FC236}">
                  <a16:creationId xmlns:a16="http://schemas.microsoft.com/office/drawing/2014/main" id="{3E3F330F-5F1E-499C-B85E-0F0134DB9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44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w</a:t>
              </a:r>
              <a:r>
                <a:rPr lang="en-US" altLang="zh-CN" sz="2800" b="1" baseline="-25000"/>
                <a:t>2</a:t>
              </a:r>
              <a:endParaRPr lang="en-US" altLang="zh-CN" sz="2800" b="1"/>
            </a:p>
          </p:txBody>
        </p:sp>
        <p:sp>
          <p:nvSpPr>
            <p:cNvPr id="37912" name="Line 37">
              <a:extLst>
                <a:ext uri="{FF2B5EF4-FFF2-40B4-BE49-F238E27FC236}">
                  <a16:creationId xmlns:a16="http://schemas.microsoft.com/office/drawing/2014/main" id="{AEABDD62-49D2-4DC1-BA0E-BDE9F41A2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4" y="2496"/>
              <a:ext cx="288" cy="19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3" name="Line 38">
              <a:extLst>
                <a:ext uri="{FF2B5EF4-FFF2-40B4-BE49-F238E27FC236}">
                  <a16:creationId xmlns:a16="http://schemas.microsoft.com/office/drawing/2014/main" id="{F1938F20-6874-4583-8BBC-C8948B13F7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304"/>
              <a:ext cx="144" cy="19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Text Box 39">
              <a:extLst>
                <a:ext uri="{FF2B5EF4-FFF2-40B4-BE49-F238E27FC236}">
                  <a16:creationId xmlns:a16="http://schemas.microsoft.com/office/drawing/2014/main" id="{AC4E44F0-5490-444F-B1BE-D10419A3F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8" y="2313"/>
              <a:ext cx="3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66CC"/>
                  </a:solidFill>
                </a:rPr>
                <a:t>f</a:t>
              </a:r>
              <a:r>
                <a:rPr lang="en-US" altLang="zh-CN" sz="2800" b="1" baseline="-25000">
                  <a:solidFill>
                    <a:srgbClr val="FF66CC"/>
                  </a:solidFill>
                </a:rPr>
                <a:t>1</a:t>
              </a:r>
              <a:endParaRPr lang="en-US" altLang="zh-CN" sz="2800"/>
            </a:p>
          </p:txBody>
        </p:sp>
        <p:sp>
          <p:nvSpPr>
            <p:cNvPr id="37915" name="Text Box 40">
              <a:extLst>
                <a:ext uri="{FF2B5EF4-FFF2-40B4-BE49-F238E27FC236}">
                  <a16:creationId xmlns:a16="http://schemas.microsoft.com/office/drawing/2014/main" id="{B93FC0FC-3B1F-4969-8736-28056AFDDF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544"/>
              <a:ext cx="32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66CC"/>
                  </a:solidFill>
                </a:rPr>
                <a:t>f</a:t>
              </a:r>
              <a:r>
                <a:rPr lang="en-US" altLang="zh-CN" sz="2800" b="1" baseline="-25000">
                  <a:solidFill>
                    <a:srgbClr val="FF66CC"/>
                  </a:solidFill>
                </a:rPr>
                <a:t>2</a:t>
              </a:r>
              <a:endParaRPr lang="en-US" altLang="zh-CN" sz="2800"/>
            </a:p>
          </p:txBody>
        </p:sp>
        <p:grpSp>
          <p:nvGrpSpPr>
            <p:cNvPr id="37916" name="Group 41">
              <a:extLst>
                <a:ext uri="{FF2B5EF4-FFF2-40B4-BE49-F238E27FC236}">
                  <a16:creationId xmlns:a16="http://schemas.microsoft.com/office/drawing/2014/main" id="{087D877E-5C23-4837-A6E3-35F220C8C4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104"/>
              <a:ext cx="960" cy="432"/>
              <a:chOff x="4128" y="1104"/>
              <a:chExt cx="960" cy="432"/>
            </a:xfrm>
          </p:grpSpPr>
          <p:sp>
            <p:nvSpPr>
              <p:cNvPr id="37917" name="Line 42">
                <a:extLst>
                  <a:ext uri="{FF2B5EF4-FFF2-40B4-BE49-F238E27FC236}">
                    <a16:creationId xmlns:a16="http://schemas.microsoft.com/office/drawing/2014/main" id="{ABE1FA4B-3313-4EE8-B533-C98ACABCFB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1248"/>
                <a:ext cx="288" cy="288"/>
              </a:xfrm>
              <a:prstGeom prst="line">
                <a:avLst/>
              </a:prstGeom>
              <a:noFill/>
              <a:ln w="38100">
                <a:solidFill>
                  <a:srgbClr val="FF66CC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8" name="Line 43">
                <a:extLst>
                  <a:ext uri="{FF2B5EF4-FFF2-40B4-BE49-F238E27FC236}">
                    <a16:creationId xmlns:a16="http://schemas.microsoft.com/office/drawing/2014/main" id="{7DB22E57-47C9-460D-B517-52FC70832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1248"/>
                <a:ext cx="192" cy="288"/>
              </a:xfrm>
              <a:prstGeom prst="line">
                <a:avLst/>
              </a:prstGeom>
              <a:noFill/>
              <a:ln w="38100">
                <a:solidFill>
                  <a:srgbClr val="FF66CC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9" name="Text Box 44">
                <a:extLst>
                  <a:ext uri="{FF2B5EF4-FFF2-40B4-BE49-F238E27FC236}">
                    <a16:creationId xmlns:a16="http://schemas.microsoft.com/office/drawing/2014/main" id="{98E2C5E0-A0D6-413D-A199-E83B75B75D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1104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FF66CC"/>
                    </a:solidFill>
                  </a:rPr>
                  <a:t>p</a:t>
                </a:r>
                <a:r>
                  <a:rPr lang="en-US" altLang="zh-CN" sz="2800" b="1" baseline="-25000">
                    <a:solidFill>
                      <a:srgbClr val="FF66CC"/>
                    </a:solidFill>
                  </a:rPr>
                  <a:t>2</a:t>
                </a:r>
                <a:endParaRPr lang="en-US" altLang="zh-CN" sz="2800"/>
              </a:p>
            </p:txBody>
          </p:sp>
          <p:sp>
            <p:nvSpPr>
              <p:cNvPr id="37920" name="Text Box 45">
                <a:extLst>
                  <a:ext uri="{FF2B5EF4-FFF2-40B4-BE49-F238E27FC236}">
                    <a16:creationId xmlns:a16="http://schemas.microsoft.com/office/drawing/2014/main" id="{30D64D94-BC0B-4718-B7A7-51F1452F91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1200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FF66CC"/>
                    </a:solidFill>
                  </a:rPr>
                  <a:t>p</a:t>
                </a:r>
                <a:r>
                  <a:rPr lang="en-US" altLang="zh-CN" sz="2800" b="1" baseline="-25000">
                    <a:solidFill>
                      <a:srgbClr val="FF66CC"/>
                    </a:solidFill>
                  </a:rPr>
                  <a:t>1</a:t>
                </a:r>
                <a:endParaRPr lang="en-US" altLang="zh-CN" sz="2800"/>
              </a:p>
            </p:txBody>
          </p:sp>
        </p:grpSp>
      </p:grpSp>
      <p:sp>
        <p:nvSpPr>
          <p:cNvPr id="20527" name="Text Box 47">
            <a:extLst>
              <a:ext uri="{FF2B5EF4-FFF2-40B4-BE49-F238E27FC236}">
                <a16:creationId xmlns:a16="http://schemas.microsoft.com/office/drawing/2014/main" id="{056C5297-4E8E-414B-8B8A-71C179BDF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700088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en-US" altLang="zh-CN" sz="2800" b="1" i="1"/>
              <a:t>w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与帆面平行，可忽略</a:t>
            </a:r>
            <a:r>
              <a:rPr lang="en-US" altLang="zh-CN" sz="2800" b="1"/>
              <a:t>.</a:t>
            </a:r>
          </a:p>
        </p:txBody>
      </p:sp>
      <p:sp>
        <p:nvSpPr>
          <p:cNvPr id="20528" name="Text Box 48">
            <a:extLst>
              <a:ext uri="{FF2B5EF4-FFF2-40B4-BE49-F238E27FC236}">
                <a16:creationId xmlns:a16="http://schemas.microsoft.com/office/drawing/2014/main" id="{95F2D925-B351-4A5A-998D-7CA4E2AD1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233488"/>
            <a:ext cx="518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en-US" altLang="zh-CN" sz="2800" b="1" i="1"/>
              <a:t>f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垂直于船身，可由舵抵消</a:t>
            </a:r>
            <a:r>
              <a:rPr lang="en-US" altLang="zh-CN" sz="2800" b="1"/>
              <a:t>.</a:t>
            </a:r>
          </a:p>
        </p:txBody>
      </p:sp>
      <p:sp>
        <p:nvSpPr>
          <p:cNvPr id="20529" name="Text Box 49">
            <a:extLst>
              <a:ext uri="{FF2B5EF4-FFF2-40B4-BE49-F238E27FC236}">
                <a16:creationId xmlns:a16="http://schemas.microsoft.com/office/drawing/2014/main" id="{5AEF7C4A-BDC6-4C50-9CC9-D3FE557FD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671763"/>
            <a:ext cx="10668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sp>
        <p:nvSpPr>
          <p:cNvPr id="20530" name="Text Box 50">
            <a:extLst>
              <a:ext uri="{FF2B5EF4-FFF2-40B4-BE49-F238E27FC236}">
                <a16:creationId xmlns:a16="http://schemas.microsoft.com/office/drawing/2014/main" id="{688C3B92-1AAD-4E93-914F-26BFBA5D0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452688"/>
            <a:ext cx="228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w=ks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,  p=ks</a:t>
            </a:r>
            <a:r>
              <a:rPr lang="en-US" altLang="zh-CN" sz="2800" b="1" baseline="-25000"/>
              <a:t>2</a:t>
            </a:r>
            <a:endParaRPr lang="en-US" altLang="zh-CN" sz="2800" b="1" i="1"/>
          </a:p>
        </p:txBody>
      </p:sp>
      <p:sp>
        <p:nvSpPr>
          <p:cNvPr id="20535" name="Text Box 55">
            <a:extLst>
              <a:ext uri="{FF2B5EF4-FFF2-40B4-BE49-F238E27FC236}">
                <a16:creationId xmlns:a16="http://schemas.microsoft.com/office/drawing/2014/main" id="{732B668E-EEF1-4E25-98B9-9AFDA7D69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653088"/>
            <a:ext cx="54102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船在正东方向速度分量</a:t>
            </a:r>
            <a:r>
              <a:rPr lang="en-US" altLang="zh-CN" sz="2800" b="1" i="1"/>
              <a:t>v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v</a:t>
            </a:r>
            <a:r>
              <a:rPr lang="en-US" altLang="zh-CN" sz="2800" b="1"/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endParaRPr lang="en-US" altLang="zh-CN" sz="2800" b="1">
              <a:sym typeface="Symbol" panose="05050102010706020507" pitchFamily="18" charset="2"/>
            </a:endParaRPr>
          </a:p>
        </p:txBody>
      </p:sp>
      <p:sp>
        <p:nvSpPr>
          <p:cNvPr id="20541" name="Text Box 61">
            <a:extLst>
              <a:ext uri="{FF2B5EF4-FFF2-40B4-BE49-F238E27FC236}">
                <a16:creationId xmlns:a16="http://schemas.microsoft.com/office/drawing/2014/main" id="{58BE8F02-ABB6-4EE0-A653-1E5D7F0C0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781175"/>
            <a:ext cx="4906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航向速度</a:t>
            </a:r>
            <a:r>
              <a:rPr lang="en-US" altLang="zh-CN" sz="2800" b="1" i="1"/>
              <a:t>v</a:t>
            </a:r>
            <a:r>
              <a:rPr lang="zh-CN" altLang="en-US" sz="2800" b="1"/>
              <a:t>与力</a:t>
            </a:r>
            <a:r>
              <a:rPr lang="en-US" altLang="zh-CN" sz="2800" b="1" i="1"/>
              <a:t>f=f</a:t>
            </a:r>
            <a:r>
              <a:rPr lang="en-US" altLang="zh-CN" sz="2800" b="1" baseline="-25000"/>
              <a:t>1</a:t>
            </a:r>
            <a:r>
              <a:rPr lang="en-US" altLang="zh-CN" b="1"/>
              <a:t>–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成正比</a:t>
            </a:r>
            <a:r>
              <a:rPr lang="en-US" altLang="zh-CN" sz="2800" b="1"/>
              <a:t>.</a:t>
            </a:r>
          </a:p>
        </p:txBody>
      </p:sp>
      <p:sp>
        <p:nvSpPr>
          <p:cNvPr id="20543" name="Text Box 63">
            <a:extLst>
              <a:ext uri="{FF2B5EF4-FFF2-40B4-BE49-F238E27FC236}">
                <a16:creationId xmlns:a16="http://schemas.microsoft.com/office/drawing/2014/main" id="{D3DD142A-5770-4D12-82E4-DA6CEFC74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98157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v</a:t>
            </a:r>
            <a:r>
              <a:rPr lang="en-US" altLang="zh-CN" sz="2800" b="1"/>
              <a:t>=</a:t>
            </a:r>
            <a:r>
              <a:rPr lang="en-US" altLang="zh-CN" sz="2800" b="1" i="1"/>
              <a:t>k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(</a:t>
            </a:r>
            <a:r>
              <a:rPr lang="en-US" altLang="zh-CN" sz="2800" b="1" i="1"/>
              <a:t>f</a:t>
            </a:r>
            <a:r>
              <a:rPr lang="en-US" altLang="zh-CN" sz="2800" b="1" baseline="-25000"/>
              <a:t>1</a:t>
            </a:r>
            <a:r>
              <a:rPr lang="en-US" altLang="zh-CN" b="1"/>
              <a:t>–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)</a:t>
            </a:r>
          </a:p>
        </p:txBody>
      </p:sp>
      <p:grpSp>
        <p:nvGrpSpPr>
          <p:cNvPr id="10" name="Group 71">
            <a:extLst>
              <a:ext uri="{FF2B5EF4-FFF2-40B4-BE49-F238E27FC236}">
                <a16:creationId xmlns:a16="http://schemas.microsoft.com/office/drawing/2014/main" id="{17537D2B-2145-4666-90ED-7E00822AAE57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5043488"/>
            <a:ext cx="914400" cy="519112"/>
            <a:chOff x="4176" y="3024"/>
            <a:chExt cx="576" cy="327"/>
          </a:xfrm>
        </p:grpSpPr>
        <p:sp>
          <p:nvSpPr>
            <p:cNvPr id="37906" name="Line 64">
              <a:extLst>
                <a:ext uri="{FF2B5EF4-FFF2-40B4-BE49-F238E27FC236}">
                  <a16:creationId xmlns:a16="http://schemas.microsoft.com/office/drawing/2014/main" id="{893BFD0B-DF78-46D4-93B6-1F9E138BB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3072"/>
              <a:ext cx="5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7" name="Text Box 66">
              <a:extLst>
                <a:ext uri="{FF2B5EF4-FFF2-40B4-BE49-F238E27FC236}">
                  <a16:creationId xmlns:a16="http://schemas.microsoft.com/office/drawing/2014/main" id="{C262A425-A53F-4EA8-812F-FA9A1E04E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024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v</a:t>
              </a:r>
              <a:r>
                <a:rPr lang="en-US" altLang="zh-CN" sz="2800" b="1" baseline="-25000"/>
                <a:t>1</a:t>
              </a:r>
              <a:endParaRPr lang="en-US" altLang="zh-CN" sz="2800" b="1"/>
            </a:p>
          </p:txBody>
        </p:sp>
      </p:grpSp>
      <p:grpSp>
        <p:nvGrpSpPr>
          <p:cNvPr id="11" name="Group 70">
            <a:extLst>
              <a:ext uri="{FF2B5EF4-FFF2-40B4-BE49-F238E27FC236}">
                <a16:creationId xmlns:a16="http://schemas.microsoft.com/office/drawing/2014/main" id="{CC480BCD-76F3-4500-ADAC-DC4272C96BA1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833688"/>
            <a:ext cx="533400" cy="609600"/>
            <a:chOff x="4128" y="1632"/>
            <a:chExt cx="336" cy="384"/>
          </a:xfrm>
        </p:grpSpPr>
        <p:sp>
          <p:nvSpPr>
            <p:cNvPr id="37904" name="Line 68">
              <a:extLst>
                <a:ext uri="{FF2B5EF4-FFF2-40B4-BE49-F238E27FC236}">
                  <a16:creationId xmlns:a16="http://schemas.microsoft.com/office/drawing/2014/main" id="{711F0794-0E58-4282-913C-3287F41462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680"/>
              <a:ext cx="24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5" name="Text Box 69">
              <a:extLst>
                <a:ext uri="{FF2B5EF4-FFF2-40B4-BE49-F238E27FC236}">
                  <a16:creationId xmlns:a16="http://schemas.microsoft.com/office/drawing/2014/main" id="{4DE620C1-1807-49D8-BB1E-F7F8AFF2D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632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v</a:t>
              </a:r>
              <a:endParaRPr lang="en-US" altLang="zh-CN" sz="28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2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utoUpdateAnimBg="0"/>
      <p:bldP spid="20485" grpId="0" autoUpdateAnimBg="0"/>
      <p:bldP spid="20486" grpId="0" autoUpdateAnimBg="0"/>
      <p:bldP spid="20527" grpId="0" autoUpdateAnimBg="0"/>
      <p:bldP spid="20528" grpId="0" autoUpdateAnimBg="0"/>
      <p:bldP spid="20529" grpId="0" animBg="1" autoUpdateAnimBg="0"/>
      <p:bldP spid="20530" grpId="0" autoUpdateAnimBg="0"/>
      <p:bldP spid="20535" grpId="0" animBg="1" autoUpdateAnimBg="0"/>
      <p:bldP spid="20541" grpId="0" autoUpdateAnimBg="0"/>
      <p:bldP spid="20543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2" name="Text Box 38">
            <a:extLst>
              <a:ext uri="{FF2B5EF4-FFF2-40B4-BE49-F238E27FC236}">
                <a16:creationId xmlns:a16="http://schemas.microsoft.com/office/drawing/2014/main" id="{5A302951-ECF5-4EDD-A9A7-29D12F1A5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648200"/>
            <a:ext cx="49530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FF3300"/>
                </a:solidFill>
              </a:rPr>
              <a:t>2) </a:t>
            </a:r>
            <a:r>
              <a:rPr lang="zh-CN" altLang="en-US" sz="2800" b="1">
                <a:solidFill>
                  <a:srgbClr val="FF3300"/>
                </a:solidFill>
              </a:rPr>
              <a:t>令</a:t>
            </a:r>
            <a:r>
              <a:rPr lang="zh-CN" altLang="en-US" sz="2800" b="1" i="1">
                <a:solidFill>
                  <a:srgbClr val="FF3300"/>
                </a:solidFill>
                <a:sym typeface="Symbol" panose="05050102010706020507" pitchFamily="18" charset="2"/>
              </a:rPr>
              <a:t> </a:t>
            </a:r>
            <a:r>
              <a:rPr lang="en-US" altLang="zh-CN" sz="2800" b="1" i="1">
                <a:solidFill>
                  <a:srgbClr val="FF3300"/>
                </a:solidFill>
                <a:sym typeface="Symbol" panose="05050102010706020507" pitchFamily="18" charset="2"/>
              </a:rPr>
              <a:t>= </a:t>
            </a:r>
            <a:r>
              <a:rPr lang="en-US" altLang="zh-CN" sz="2800" b="1">
                <a:solidFill>
                  <a:srgbClr val="FF3300"/>
                </a:solidFill>
                <a:sym typeface="Symbol" panose="05050102010706020507" pitchFamily="18" charset="2"/>
              </a:rPr>
              <a:t>/2,</a:t>
            </a:r>
            <a:r>
              <a:rPr lang="zh-CN" altLang="zh-CN" sz="2800" b="1"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/>
              <a:t>v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k</a:t>
            </a:r>
            <a:r>
              <a:rPr lang="en-US" altLang="zh-CN" sz="2800" b="1" baseline="-25000"/>
              <a:t>1 </a:t>
            </a:r>
            <a:r>
              <a:rPr lang="en-US" altLang="zh-CN" sz="2800" b="1"/>
              <a:t>[</a:t>
            </a:r>
            <a:r>
              <a:rPr lang="en-US" altLang="zh-CN" sz="2800" b="1" i="1"/>
              <a:t>w</a:t>
            </a:r>
            <a:r>
              <a:rPr lang="en-US" altLang="zh-CN" sz="2800" b="1"/>
              <a:t>(1</a:t>
            </a:r>
            <a:r>
              <a:rPr lang="en-US" altLang="zh-CN" b="1"/>
              <a:t>–</a:t>
            </a:r>
            <a:r>
              <a:rPr lang="en-US" altLang="zh-CN" sz="2800" b="1">
                <a:sym typeface="Symbol" panose="05050102010706020507" pitchFamily="18" charset="2"/>
              </a:rPr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)/2</a:t>
            </a:r>
            <a:r>
              <a:rPr lang="en-US" altLang="zh-CN" b="1"/>
              <a:t>–</a:t>
            </a:r>
            <a:r>
              <a:rPr lang="en-US" altLang="zh-CN" sz="2800" b="1" i="1"/>
              <a:t>p</a:t>
            </a:r>
            <a:r>
              <a:rPr lang="en-US" altLang="zh-CN" sz="2800" b="1"/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]cos</a:t>
            </a:r>
            <a:r>
              <a:rPr lang="en-US" altLang="zh-CN" sz="2800" b="1" i="1">
                <a:sym typeface="Symbol" panose="05050102010706020507" pitchFamily="18" charset="2"/>
              </a:rPr>
              <a:t> </a:t>
            </a:r>
            <a:endParaRPr lang="en-US" altLang="zh-CN" sz="2800" b="1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求</a:t>
            </a:r>
            <a:r>
              <a:rPr lang="zh-CN" altLang="en-US" sz="2800" b="1" i="1">
                <a:solidFill>
                  <a:srgbClr val="FF3300"/>
                </a:solidFill>
                <a:sym typeface="Symbol" panose="05050102010706020507" pitchFamily="18" charset="2"/>
              </a:rPr>
              <a:t></a:t>
            </a:r>
            <a:r>
              <a:rPr lang="zh-CN" altLang="en-US" sz="2800" b="1">
                <a:solidFill>
                  <a:srgbClr val="FF3300"/>
                </a:solidFill>
                <a:sym typeface="Symbol" panose="05050102010706020507" pitchFamily="18" charset="2"/>
              </a:rPr>
              <a:t>使</a:t>
            </a:r>
            <a:r>
              <a:rPr lang="en-US" altLang="zh-CN" sz="2800" b="1" i="1">
                <a:solidFill>
                  <a:srgbClr val="FF3300"/>
                </a:solidFill>
              </a:rPr>
              <a:t>v</a:t>
            </a:r>
            <a:r>
              <a:rPr lang="en-US" altLang="zh-CN" sz="2800" b="1" baseline="-25000">
                <a:solidFill>
                  <a:srgbClr val="FF3300"/>
                </a:solidFill>
              </a:rPr>
              <a:t>1</a:t>
            </a:r>
            <a:r>
              <a:rPr lang="zh-CN" altLang="en-US" sz="2800" b="1">
                <a:solidFill>
                  <a:srgbClr val="FF3300"/>
                </a:solidFill>
              </a:rPr>
              <a:t>最大</a:t>
            </a:r>
            <a:r>
              <a:rPr lang="zh-CN" altLang="en-US" sz="2800" b="1"/>
              <a:t>（</a:t>
            </a:r>
            <a:r>
              <a:rPr lang="en-US" altLang="zh-CN" sz="2800" b="1" i="1"/>
              <a:t>w=ks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en-US" altLang="zh-CN" sz="2800" b="1" i="1"/>
              <a:t>p=ks</a:t>
            </a:r>
            <a:r>
              <a:rPr lang="en-US" altLang="zh-CN" sz="2800" b="1" baseline="-25000"/>
              <a:t>2</a:t>
            </a:r>
            <a:r>
              <a:rPr lang="zh-CN" altLang="en-US" sz="2800" b="1"/>
              <a:t>）</a:t>
            </a:r>
          </a:p>
        </p:txBody>
      </p:sp>
      <p:sp>
        <p:nvSpPr>
          <p:cNvPr id="21544" name="Text Box 40">
            <a:extLst>
              <a:ext uri="{FF2B5EF4-FFF2-40B4-BE49-F238E27FC236}">
                <a16:creationId xmlns:a16="http://schemas.microsoft.com/office/drawing/2014/main" id="{01128223-E75A-439F-8259-A77433FC4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909888"/>
            <a:ext cx="41148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1) </a:t>
            </a:r>
            <a:r>
              <a:rPr lang="zh-CN" altLang="en-US" sz="2800" b="1"/>
              <a:t>当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zh-CN" altLang="en-US" sz="2800" b="1">
                <a:sym typeface="Symbol" panose="05050102010706020507" pitchFamily="18" charset="2"/>
              </a:rPr>
              <a:t>固定时求</a:t>
            </a:r>
            <a:r>
              <a:rPr lang="zh-CN" altLang="en-US" sz="2800" b="1" i="1">
                <a:sym typeface="Symbol" panose="05050102010706020507" pitchFamily="18" charset="2"/>
              </a:rPr>
              <a:t></a:t>
            </a:r>
            <a:r>
              <a:rPr lang="zh-CN" altLang="en-US" sz="2800" b="1">
                <a:sym typeface="Symbol" panose="05050102010706020507" pitchFamily="18" charset="2"/>
              </a:rPr>
              <a:t>使</a:t>
            </a:r>
            <a:r>
              <a:rPr lang="en-US" altLang="zh-CN" sz="2800" b="1" i="1"/>
              <a:t>f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最大</a:t>
            </a:r>
            <a:endParaRPr lang="zh-CN" altLang="en-US" sz="2800" b="1" baseline="-25000"/>
          </a:p>
        </p:txBody>
      </p:sp>
      <p:sp>
        <p:nvSpPr>
          <p:cNvPr id="21545" name="Text Box 41">
            <a:extLst>
              <a:ext uri="{FF2B5EF4-FFF2-40B4-BE49-F238E27FC236}">
                <a16:creationId xmlns:a16="http://schemas.microsoft.com/office/drawing/2014/main" id="{E02E4E52-1E6C-433E-BEE7-22A0FEED2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05200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w</a:t>
            </a:r>
            <a:r>
              <a:rPr lang="en-US" altLang="zh-CN" sz="2800" b="1"/>
              <a:t>[cos(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b="1"/>
              <a:t>–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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  <a:r>
              <a:rPr lang="en-US" altLang="zh-CN" b="1"/>
              <a:t>–</a:t>
            </a:r>
            <a:r>
              <a:rPr lang="en-US" altLang="zh-CN" sz="2800" b="1">
                <a:sym typeface="Symbol" panose="05050102010706020507" pitchFamily="18" charset="2"/>
              </a:rPr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]/2</a:t>
            </a: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AA05C71E-AE9A-4BB0-954E-A2DA98A3063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114800"/>
            <a:ext cx="5181600" cy="519113"/>
            <a:chOff x="2544" y="3504"/>
            <a:chExt cx="3120" cy="327"/>
          </a:xfrm>
        </p:grpSpPr>
        <p:sp>
          <p:nvSpPr>
            <p:cNvPr id="38967" name="Text Box 43">
              <a:extLst>
                <a:ext uri="{FF2B5EF4-FFF2-40B4-BE49-F238E27FC236}">
                  <a16:creationId xmlns:a16="http://schemas.microsoft.com/office/drawing/2014/main" id="{14B658BF-4B90-468D-B92C-6D11F620B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504"/>
              <a:ext cx="28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ym typeface="Symbol" panose="05050102010706020507" pitchFamily="18" charset="2"/>
                </a:rPr>
                <a:t> = </a:t>
              </a:r>
              <a:r>
                <a:rPr lang="en-US" altLang="zh-CN" sz="2800" b="1">
                  <a:sym typeface="Symbol" panose="05050102010706020507" pitchFamily="18" charset="2"/>
                </a:rPr>
                <a:t>/2 </a:t>
              </a:r>
              <a:r>
                <a:rPr lang="zh-CN" altLang="zh-CN" sz="2800" b="1">
                  <a:sym typeface="Symbol" panose="05050102010706020507" pitchFamily="18" charset="2"/>
                </a:rPr>
                <a:t>时 </a:t>
              </a:r>
              <a:r>
                <a:rPr lang="en-US" altLang="zh-CN" sz="2800" b="1" i="1"/>
                <a:t>f</a:t>
              </a:r>
              <a:r>
                <a:rPr lang="en-US" altLang="zh-CN" sz="2800" b="1" baseline="-25000"/>
                <a:t>1</a:t>
              </a:r>
              <a:r>
                <a:rPr lang="en-US" altLang="zh-CN" sz="2800" b="1"/>
                <a:t>=</a:t>
              </a:r>
              <a:r>
                <a:rPr lang="en-US" altLang="zh-CN" sz="2800" b="1" i="1"/>
                <a:t>w</a:t>
              </a:r>
              <a:r>
                <a:rPr lang="en-US" altLang="zh-CN" sz="2800" b="1"/>
                <a:t>(1</a:t>
              </a:r>
              <a:r>
                <a:rPr lang="en-US" altLang="zh-CN" b="1"/>
                <a:t>–</a:t>
              </a:r>
              <a:r>
                <a:rPr lang="en-US" altLang="zh-CN" sz="2800" b="1">
                  <a:sym typeface="Symbol" panose="05050102010706020507" pitchFamily="18" charset="2"/>
                </a:rPr>
                <a:t>cos</a:t>
              </a:r>
              <a:r>
                <a:rPr lang="en-US" altLang="zh-CN" sz="2800" b="1" i="1">
                  <a:sym typeface="Symbol" panose="05050102010706020507" pitchFamily="18" charset="2"/>
                </a:rPr>
                <a:t></a:t>
              </a:r>
              <a:r>
                <a:rPr lang="en-US" altLang="zh-CN" sz="2800" b="1">
                  <a:sym typeface="Symbol" panose="05050102010706020507" pitchFamily="18" charset="2"/>
                </a:rPr>
                <a:t>)/2</a:t>
              </a:r>
              <a:r>
                <a:rPr lang="zh-CN" altLang="zh-CN" sz="2800" b="1">
                  <a:sym typeface="Symbol" panose="05050102010706020507" pitchFamily="18" charset="2"/>
                </a:rPr>
                <a:t>最大</a:t>
              </a:r>
              <a:endParaRPr lang="zh-CN" altLang="en-US" sz="2800" b="1">
                <a:sym typeface="Symbol" panose="05050102010706020507" pitchFamily="18" charset="2"/>
              </a:endParaRPr>
            </a:p>
          </p:txBody>
        </p:sp>
        <p:sp>
          <p:nvSpPr>
            <p:cNvPr id="38968" name="AutoShape 44">
              <a:extLst>
                <a:ext uri="{FF2B5EF4-FFF2-40B4-BE49-F238E27FC236}">
                  <a16:creationId xmlns:a16="http://schemas.microsoft.com/office/drawing/2014/main" id="{D20584E5-C77F-4306-81A5-8C163C7B5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552"/>
              <a:ext cx="192" cy="240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1549" name="Rectangle 45">
            <a:extLst>
              <a:ext uri="{FF2B5EF4-FFF2-40B4-BE49-F238E27FC236}">
                <a16:creationId xmlns:a16="http://schemas.microsoft.com/office/drawing/2014/main" id="{52D6B0DF-B456-47C7-95BD-EC6D8D283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95313"/>
            <a:ext cx="2554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= k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(</a:t>
            </a:r>
            <a:r>
              <a:rPr lang="en-US" altLang="zh-CN" sz="2800" b="1" i="1"/>
              <a:t>f</a:t>
            </a:r>
            <a:r>
              <a:rPr lang="en-US" altLang="zh-CN" sz="2800" b="1" baseline="-25000"/>
              <a:t>1</a:t>
            </a:r>
            <a:r>
              <a:rPr lang="en-US" altLang="zh-CN" b="1"/>
              <a:t>–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)cos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21550" name="Text Box 46">
            <a:extLst>
              <a:ext uri="{FF2B5EF4-FFF2-40B4-BE49-F238E27FC236}">
                <a16:creationId xmlns:a16="http://schemas.microsoft.com/office/drawing/2014/main" id="{D10E150E-1A05-4475-ABE0-26EEABC6D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0" y="1219200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f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=w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sin</a:t>
            </a:r>
            <a:r>
              <a:rPr lang="en-US" altLang="zh-CN" sz="2800" b="1" i="1">
                <a:sym typeface="Symbol" panose="05050102010706020507" pitchFamily="18" charset="2"/>
              </a:rPr>
              <a:t>=w</a:t>
            </a:r>
            <a:r>
              <a:rPr lang="en-US" altLang="zh-CN" sz="2800" b="1"/>
              <a:t>sin</a:t>
            </a:r>
            <a:r>
              <a:rPr lang="en-US" altLang="zh-CN" sz="2800" b="1" i="1">
                <a:sym typeface="Symbol" panose="05050102010706020507" pitchFamily="18" charset="2"/>
              </a:rPr>
              <a:t> </a:t>
            </a:r>
            <a:r>
              <a:rPr lang="en-US" altLang="zh-CN" sz="2800" b="1"/>
              <a:t>sin(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b="1"/>
              <a:t>–</a:t>
            </a:r>
            <a:r>
              <a:rPr lang="en-US" altLang="zh-CN" sz="2800" b="1" i="1">
                <a:sym typeface="Symbol" panose="05050102010706020507" pitchFamily="18" charset="2"/>
              </a:rPr>
              <a:t>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21551" name="Text Box 47">
            <a:extLst>
              <a:ext uri="{FF2B5EF4-FFF2-40B4-BE49-F238E27FC236}">
                <a16:creationId xmlns:a16="http://schemas.microsoft.com/office/drawing/2014/main" id="{33A7D9E4-F2B8-4D30-8A7E-0CFBC2FC8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1219200"/>
            <a:ext cx="1562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=p</a:t>
            </a:r>
            <a:r>
              <a:rPr lang="en-US" altLang="zh-CN" sz="2800" b="1"/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21577" name="Text Box 73">
            <a:extLst>
              <a:ext uri="{FF2B5EF4-FFF2-40B4-BE49-F238E27FC236}">
                <a16:creationId xmlns:a16="http://schemas.microsoft.com/office/drawing/2014/main" id="{70BF581E-AD96-4C91-A19B-301A1D37E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209800"/>
            <a:ext cx="2743200" cy="519113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求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 i="1">
                <a:sym typeface="Symbol" panose="05050102010706020507" pitchFamily="18" charset="2"/>
              </a:rPr>
              <a:t>, </a:t>
            </a:r>
            <a:r>
              <a:rPr lang="en-US" altLang="zh-CN" sz="2800" b="1">
                <a:sym typeface="Symbol" panose="05050102010706020507" pitchFamily="18" charset="2"/>
              </a:rPr>
              <a:t>,</a:t>
            </a:r>
            <a:r>
              <a:rPr lang="zh-CN" altLang="zh-CN" sz="2800" b="1">
                <a:sym typeface="Symbol" panose="05050102010706020507" pitchFamily="18" charset="2"/>
              </a:rPr>
              <a:t>使 </a:t>
            </a:r>
            <a:r>
              <a:rPr lang="en-US" altLang="zh-CN" sz="2800" b="1" i="1"/>
              <a:t>v</a:t>
            </a:r>
            <a:r>
              <a:rPr lang="en-US" altLang="zh-CN" sz="2800" b="1" baseline="-25000"/>
              <a:t>1</a:t>
            </a:r>
            <a:r>
              <a:rPr lang="zh-CN" altLang="zh-CN" sz="2800" b="1">
                <a:sym typeface="Symbol" panose="05050102010706020507" pitchFamily="18" charset="2"/>
              </a:rPr>
              <a:t>最大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38922" name="Text Box 109">
            <a:extLst>
              <a:ext uri="{FF2B5EF4-FFF2-40B4-BE49-F238E27FC236}">
                <a16:creationId xmlns:a16="http://schemas.microsoft.com/office/drawing/2014/main" id="{6B381861-DBB5-4655-AB48-007D2FF2F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33400"/>
            <a:ext cx="19812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sp>
        <p:nvSpPr>
          <p:cNvPr id="21614" name="Text Box 110">
            <a:extLst>
              <a:ext uri="{FF2B5EF4-FFF2-40B4-BE49-F238E27FC236}">
                <a16:creationId xmlns:a16="http://schemas.microsoft.com/office/drawing/2014/main" id="{1D9FA765-C8F0-4341-9E73-4AC9474AE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609600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v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v</a:t>
            </a:r>
            <a:r>
              <a:rPr lang="en-US" altLang="zh-CN" sz="2800" b="1"/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endParaRPr lang="en-US" altLang="zh-CN" sz="2800"/>
          </a:p>
        </p:txBody>
      </p:sp>
      <p:grpSp>
        <p:nvGrpSpPr>
          <p:cNvPr id="38924" name="Group 118">
            <a:extLst>
              <a:ext uri="{FF2B5EF4-FFF2-40B4-BE49-F238E27FC236}">
                <a16:creationId xmlns:a16="http://schemas.microsoft.com/office/drawing/2014/main" id="{A65750C1-EA66-4433-A2BD-D00486FFF144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752600"/>
            <a:ext cx="3886200" cy="3567113"/>
            <a:chOff x="3264" y="1104"/>
            <a:chExt cx="2448" cy="2247"/>
          </a:xfrm>
        </p:grpSpPr>
        <p:grpSp>
          <p:nvGrpSpPr>
            <p:cNvPr id="38926" name="Group 74">
              <a:extLst>
                <a:ext uri="{FF2B5EF4-FFF2-40B4-BE49-F238E27FC236}">
                  <a16:creationId xmlns:a16="http://schemas.microsoft.com/office/drawing/2014/main" id="{9C4CEDCB-376D-4C08-9024-BF7FF98B7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1104"/>
              <a:ext cx="2448" cy="2112"/>
              <a:chOff x="3120" y="1104"/>
              <a:chExt cx="2448" cy="2112"/>
            </a:xfrm>
          </p:grpSpPr>
          <p:grpSp>
            <p:nvGrpSpPr>
              <p:cNvPr id="38933" name="Group 75">
                <a:extLst>
                  <a:ext uri="{FF2B5EF4-FFF2-40B4-BE49-F238E27FC236}">
                    <a16:creationId xmlns:a16="http://schemas.microsoft.com/office/drawing/2014/main" id="{DB63A6F8-26C5-4508-84ED-A4365E7729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1104"/>
                <a:ext cx="2448" cy="2112"/>
                <a:chOff x="3120" y="1104"/>
                <a:chExt cx="2448" cy="2112"/>
              </a:xfrm>
            </p:grpSpPr>
            <p:grpSp>
              <p:nvGrpSpPr>
                <p:cNvPr id="38948" name="Group 76">
                  <a:extLst>
                    <a:ext uri="{FF2B5EF4-FFF2-40B4-BE49-F238E27FC236}">
                      <a16:creationId xmlns:a16="http://schemas.microsoft.com/office/drawing/2014/main" id="{A5AA7FFE-EA6F-46BF-903B-AB34EB746D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0" y="1104"/>
                  <a:ext cx="2448" cy="2112"/>
                  <a:chOff x="3120" y="1104"/>
                  <a:chExt cx="2448" cy="2112"/>
                </a:xfrm>
              </p:grpSpPr>
              <p:grpSp>
                <p:nvGrpSpPr>
                  <p:cNvPr id="38952" name="Group 77">
                    <a:extLst>
                      <a:ext uri="{FF2B5EF4-FFF2-40B4-BE49-F238E27FC236}">
                        <a16:creationId xmlns:a16="http://schemas.microsoft.com/office/drawing/2014/main" id="{F1018083-218B-4A5A-BA37-F0B70B406F4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20" y="1104"/>
                    <a:ext cx="2448" cy="2112"/>
                    <a:chOff x="2640" y="288"/>
                    <a:chExt cx="2448" cy="2112"/>
                  </a:xfrm>
                </p:grpSpPr>
                <p:sp>
                  <p:nvSpPr>
                    <p:cNvPr id="38954" name="Line 78">
                      <a:extLst>
                        <a:ext uri="{FF2B5EF4-FFF2-40B4-BE49-F238E27FC236}">
                          <a16:creationId xmlns:a16="http://schemas.microsoft.com/office/drawing/2014/main" id="{30F0E784-5A7C-405C-9A42-44B91794AA9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846" y="288"/>
                      <a:ext cx="1375" cy="1977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8955" name="Group 79">
                      <a:extLst>
                        <a:ext uri="{FF2B5EF4-FFF2-40B4-BE49-F238E27FC236}">
                          <a16:creationId xmlns:a16="http://schemas.microsoft.com/office/drawing/2014/main" id="{48A17AF3-E6D4-445A-9524-441DE932539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727" y="734"/>
                      <a:ext cx="1419" cy="1393"/>
                      <a:chOff x="3373" y="2064"/>
                      <a:chExt cx="991" cy="1048"/>
                    </a:xfrm>
                  </p:grpSpPr>
                  <p:sp>
                    <p:nvSpPr>
                      <p:cNvPr id="38962" name="Line 80">
                        <a:extLst>
                          <a:ext uri="{FF2B5EF4-FFF2-40B4-BE49-F238E27FC236}">
                            <a16:creationId xmlns:a16="http://schemas.microsoft.com/office/drawing/2014/main" id="{A174A485-AD25-450C-B521-F0F1CA108FB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-1043931">
                        <a:off x="3502" y="2776"/>
                        <a:ext cx="288" cy="336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963" name="Line 81">
                        <a:extLst>
                          <a:ext uri="{FF2B5EF4-FFF2-40B4-BE49-F238E27FC236}">
                            <a16:creationId xmlns:a16="http://schemas.microsoft.com/office/drawing/2014/main" id="{93B35220-3790-4FC4-92E6-11497880FD5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20556069" flipV="1">
                        <a:off x="3373" y="2272"/>
                        <a:ext cx="576" cy="48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964" name="Arc 82">
                        <a:extLst>
                          <a:ext uri="{FF2B5EF4-FFF2-40B4-BE49-F238E27FC236}">
                            <a16:creationId xmlns:a16="http://schemas.microsoft.com/office/drawing/2014/main" id="{D21AA757-EBB3-41FA-BD51-1531201974D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 rot="20556069" flipH="1">
                        <a:off x="3810" y="2105"/>
                        <a:ext cx="384" cy="96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9525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965" name="Line 83">
                        <a:extLst>
                          <a:ext uri="{FF2B5EF4-FFF2-40B4-BE49-F238E27FC236}">
                            <a16:creationId xmlns:a16="http://schemas.microsoft.com/office/drawing/2014/main" id="{69E223AD-CD02-41E9-8659-88FD14D6791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20556069" flipH="1">
                        <a:off x="3740" y="2452"/>
                        <a:ext cx="624" cy="528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966" name="Arc 84">
                        <a:extLst>
                          <a:ext uri="{FF2B5EF4-FFF2-40B4-BE49-F238E27FC236}">
                            <a16:creationId xmlns:a16="http://schemas.microsoft.com/office/drawing/2014/main" id="{DFDF4AC4-8D55-4375-8605-B713BB86490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4224" y="2064"/>
                        <a:ext cx="48" cy="336"/>
                      </a:xfrm>
                      <a:custGeom>
                        <a:avLst/>
                        <a:gdLst>
                          <a:gd name="T0" fmla="*/ 0 w 21600"/>
                          <a:gd name="T1" fmla="*/ 0 h 21600"/>
                          <a:gd name="T2" fmla="*/ 0 w 21600"/>
                          <a:gd name="T3" fmla="*/ 0 h 21600"/>
                          <a:gd name="T4" fmla="*/ 0 w 21600"/>
                          <a:gd name="T5" fmla="*/ 0 h 21600"/>
                          <a:gd name="T6" fmla="*/ 0 60000 65536"/>
                          <a:gd name="T7" fmla="*/ 0 60000 65536"/>
                          <a:gd name="T8" fmla="*/ 0 60000 65536"/>
                          <a:gd name="T9" fmla="*/ 0 w 21600"/>
                          <a:gd name="T10" fmla="*/ 0 h 21600"/>
                          <a:gd name="T11" fmla="*/ 21600 w 21600"/>
                          <a:gd name="T12" fmla="*/ 21600 h 21600"/>
                        </a:gdLst>
                        <a:ahLst/>
                        <a:cxnLst>
                          <a:cxn ang="T6">
                            <a:pos x="T0" y="T1"/>
                          </a:cxn>
                          <a:cxn ang="T7">
                            <a:pos x="T2" y="T3"/>
                          </a:cxn>
                          <a:cxn ang="T8">
                            <a:pos x="T4" y="T5"/>
                          </a:cxn>
                        </a:cxnLst>
                        <a:rect l="T9" t="T10" r="T11" b="T12"/>
                        <a:pathLst>
                          <a:path w="21600" h="21600" fill="none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</a:path>
                          <a:path w="21600" h="21600" stroke="0" extrusionOk="0">
                            <a:moveTo>
                              <a:pt x="-1" y="0"/>
                            </a:moveTo>
                            <a:cubicBezTo>
                              <a:pt x="11929" y="0"/>
                              <a:pt x="21600" y="9670"/>
                              <a:pt x="21600" y="21600"/>
                            </a:cubicBezTo>
                            <a:lnTo>
                              <a:pt x="0" y="21600"/>
                            </a:lnTo>
                            <a:lnTo>
                              <a:pt x="-1" y="0"/>
                            </a:lnTo>
                            <a:close/>
                          </a:path>
                        </a:pathLst>
                      </a:custGeom>
                      <a:noFill/>
                      <a:ln w="9525">
                        <a:solidFill>
                          <a:schemeClr val="accent2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38956" name="Text Box 85">
                      <a:extLst>
                        <a:ext uri="{FF2B5EF4-FFF2-40B4-BE49-F238E27FC236}">
                          <a16:creationId xmlns:a16="http://schemas.microsoft.com/office/drawing/2014/main" id="{5EABB4AE-AF39-4A87-B4CD-730ABA4903BE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756" y="2073"/>
                      <a:ext cx="412" cy="3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  <a:buFontTx/>
                        <a:buChar char="•"/>
                      </a:pPr>
                      <a:r>
                        <a:rPr lang="en-US" altLang="zh-CN" sz="2800"/>
                        <a:t> </a:t>
                      </a:r>
                    </a:p>
                  </p:txBody>
                </p:sp>
                <p:sp>
                  <p:nvSpPr>
                    <p:cNvPr id="38957" name="Text Box 86">
                      <a:extLst>
                        <a:ext uri="{FF2B5EF4-FFF2-40B4-BE49-F238E27FC236}">
                          <a16:creationId xmlns:a16="http://schemas.microsoft.com/office/drawing/2014/main" id="{5F710E17-6B6D-4121-9C68-E0A1B10BC46B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984" y="1977"/>
                      <a:ext cx="412" cy="3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800" i="1">
                          <a:sym typeface="Symbol" panose="05050102010706020507" pitchFamily="18" charset="2"/>
                        </a:rPr>
                        <a:t></a:t>
                      </a:r>
                      <a:r>
                        <a:rPr lang="en-US" altLang="zh-CN" sz="2800"/>
                        <a:t> </a:t>
                      </a:r>
                    </a:p>
                  </p:txBody>
                </p:sp>
                <p:sp>
                  <p:nvSpPr>
                    <p:cNvPr id="38958" name="Line 87">
                      <a:extLst>
                        <a:ext uri="{FF2B5EF4-FFF2-40B4-BE49-F238E27FC236}">
                          <a16:creationId xmlns:a16="http://schemas.microsoft.com/office/drawing/2014/main" id="{1C4940F6-FAC6-405E-A015-B5F58931510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396" y="1488"/>
                      <a:ext cx="1356" cy="0"/>
                    </a:xfrm>
                    <a:prstGeom prst="line">
                      <a:avLst/>
                    </a:prstGeom>
                    <a:noFill/>
                    <a:ln w="57150">
                      <a:solidFill>
                        <a:schemeClr val="tx1"/>
                      </a:solidFill>
                      <a:round/>
                      <a:headEnd type="stealth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8959" name="Line 88">
                      <a:extLst>
                        <a:ext uri="{FF2B5EF4-FFF2-40B4-BE49-F238E27FC236}">
                          <a16:creationId xmlns:a16="http://schemas.microsoft.com/office/drawing/2014/main" id="{86227474-4014-4A00-B0A5-B4BF8FF2703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40" y="1169"/>
                      <a:ext cx="1649" cy="574"/>
                    </a:xfrm>
                    <a:prstGeom prst="line">
                      <a:avLst/>
                    </a:prstGeom>
                    <a:noFill/>
                    <a:ln w="57150">
                      <a:solidFill>
                        <a:srgbClr val="FF66CC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8960" name="Text Box 89">
                      <a:extLst>
                        <a:ext uri="{FF2B5EF4-FFF2-40B4-BE49-F238E27FC236}">
                          <a16:creationId xmlns:a16="http://schemas.microsoft.com/office/drawing/2014/main" id="{E6067391-A5C9-479C-BFE1-85BFD67EC6E6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533" y="1104"/>
                      <a:ext cx="482" cy="3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800" i="1">
                          <a:sym typeface="Symbol" panose="05050102010706020507" pitchFamily="18" charset="2"/>
                        </a:rPr>
                        <a:t></a:t>
                      </a:r>
                      <a:endParaRPr lang="en-US" altLang="zh-CN" sz="2800"/>
                    </a:p>
                  </p:txBody>
                </p:sp>
                <p:sp>
                  <p:nvSpPr>
                    <p:cNvPr id="38961" name="Line 90">
                      <a:extLst>
                        <a:ext uri="{FF2B5EF4-FFF2-40B4-BE49-F238E27FC236}">
                          <a16:creationId xmlns:a16="http://schemas.microsoft.com/office/drawing/2014/main" id="{4FEF1CE9-DF6F-40F9-929F-9772442B558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32" y="2256"/>
                      <a:ext cx="2256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38953" name="Text Box 91">
                    <a:extLst>
                      <a:ext uri="{FF2B5EF4-FFF2-40B4-BE49-F238E27FC236}">
                        <a16:creationId xmlns:a16="http://schemas.microsoft.com/office/drawing/2014/main" id="{04D29575-5EAB-4B83-9249-BA7452C9D09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992" y="2025"/>
                    <a:ext cx="480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800" b="1" i="1"/>
                      <a:t>w</a:t>
                    </a:r>
                    <a:endParaRPr lang="en-US" altLang="zh-CN" sz="2800" b="1"/>
                  </a:p>
                </p:txBody>
              </p:sp>
            </p:grpSp>
            <p:grpSp>
              <p:nvGrpSpPr>
                <p:cNvPr id="38949" name="Group 92">
                  <a:extLst>
                    <a:ext uri="{FF2B5EF4-FFF2-40B4-BE49-F238E27FC236}">
                      <a16:creationId xmlns:a16="http://schemas.microsoft.com/office/drawing/2014/main" id="{0F913054-59F7-4C96-97DD-9AAA2D86259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16" y="1353"/>
                  <a:ext cx="768" cy="327"/>
                  <a:chOff x="4416" y="1344"/>
                  <a:chExt cx="768" cy="327"/>
                </a:xfrm>
              </p:grpSpPr>
              <p:sp>
                <p:nvSpPr>
                  <p:cNvPr id="38950" name="Line 93">
                    <a:extLst>
                      <a:ext uri="{FF2B5EF4-FFF2-40B4-BE49-F238E27FC236}">
                        <a16:creationId xmlns:a16="http://schemas.microsoft.com/office/drawing/2014/main" id="{8E966890-8706-461E-9BDB-2EAB10B7C18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416" y="1536"/>
                    <a:ext cx="480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 type="stealth" w="med" len="lg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51" name="Text Box 94">
                    <a:extLst>
                      <a:ext uri="{FF2B5EF4-FFF2-40B4-BE49-F238E27FC236}">
                        <a16:creationId xmlns:a16="http://schemas.microsoft.com/office/drawing/2014/main" id="{D5E146A7-93D2-4F84-BE70-F2055CE27D7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96" y="1344"/>
                    <a:ext cx="28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800" b="1" i="1"/>
                      <a:t>p</a:t>
                    </a:r>
                    <a:endParaRPr lang="en-US" altLang="zh-CN" sz="2800"/>
                  </a:p>
                </p:txBody>
              </p:sp>
            </p:grpSp>
          </p:grpSp>
          <p:grpSp>
            <p:nvGrpSpPr>
              <p:cNvPr id="38934" name="Group 95">
                <a:extLst>
                  <a:ext uri="{FF2B5EF4-FFF2-40B4-BE49-F238E27FC236}">
                    <a16:creationId xmlns:a16="http://schemas.microsoft.com/office/drawing/2014/main" id="{AA36DCB3-85DF-4A92-BCEB-218EF587C2F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304"/>
                <a:ext cx="1344" cy="384"/>
                <a:chOff x="3888" y="2304"/>
                <a:chExt cx="1344" cy="384"/>
              </a:xfrm>
            </p:grpSpPr>
            <p:sp>
              <p:nvSpPr>
                <p:cNvPr id="38946" name="Line 96">
                  <a:extLst>
                    <a:ext uri="{FF2B5EF4-FFF2-40B4-BE49-F238E27FC236}">
                      <a16:creationId xmlns:a16="http://schemas.microsoft.com/office/drawing/2014/main" id="{4D527032-C096-41E6-8780-D4A69EBBA6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2304"/>
                  <a:ext cx="96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lg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947" name="Line 97">
                  <a:extLst>
                    <a:ext uri="{FF2B5EF4-FFF2-40B4-BE49-F238E27FC236}">
                      <a16:creationId xmlns:a16="http://schemas.microsoft.com/office/drawing/2014/main" id="{7CE8D581-643F-49BA-BD04-7ACC3A0976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84" y="2304"/>
                  <a:ext cx="1248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lg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8935" name="Text Box 98">
                <a:extLst>
                  <a:ext uri="{FF2B5EF4-FFF2-40B4-BE49-F238E27FC236}">
                    <a16:creationId xmlns:a16="http://schemas.microsoft.com/office/drawing/2014/main" id="{02F4AFA0-23BA-4A36-A53C-D628C875A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36" y="2304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w</a:t>
                </a:r>
                <a:r>
                  <a:rPr lang="en-US" altLang="zh-CN" sz="2800" b="1" baseline="-25000"/>
                  <a:t>1</a:t>
                </a:r>
                <a:endParaRPr lang="en-US" altLang="zh-CN" sz="2800" b="1"/>
              </a:p>
            </p:txBody>
          </p:sp>
          <p:sp>
            <p:nvSpPr>
              <p:cNvPr id="38936" name="Text Box 99">
                <a:extLst>
                  <a:ext uri="{FF2B5EF4-FFF2-40B4-BE49-F238E27FC236}">
                    <a16:creationId xmlns:a16="http://schemas.microsoft.com/office/drawing/2014/main" id="{8CD6E8F2-638B-4604-8326-9F1587A975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448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w</a:t>
                </a:r>
                <a:r>
                  <a:rPr lang="en-US" altLang="zh-CN" sz="2800" b="1" baseline="-25000"/>
                  <a:t>2</a:t>
                </a:r>
                <a:endParaRPr lang="en-US" altLang="zh-CN" sz="2800" b="1"/>
              </a:p>
            </p:txBody>
          </p:sp>
          <p:sp>
            <p:nvSpPr>
              <p:cNvPr id="38937" name="Line 100">
                <a:extLst>
                  <a:ext uri="{FF2B5EF4-FFF2-40B4-BE49-F238E27FC236}">
                    <a16:creationId xmlns:a16="http://schemas.microsoft.com/office/drawing/2014/main" id="{C37E542E-3D7B-4098-9275-CFDF58C66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44" y="2496"/>
                <a:ext cx="288" cy="192"/>
              </a:xfrm>
              <a:prstGeom prst="line">
                <a:avLst/>
              </a:prstGeom>
              <a:noFill/>
              <a:ln w="38100">
                <a:solidFill>
                  <a:srgbClr val="FF99FF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38" name="Line 101">
                <a:extLst>
                  <a:ext uri="{FF2B5EF4-FFF2-40B4-BE49-F238E27FC236}">
                    <a16:creationId xmlns:a16="http://schemas.microsoft.com/office/drawing/2014/main" id="{39C6D86B-7392-4303-9771-E8C725E577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4" y="2304"/>
                <a:ext cx="144" cy="192"/>
              </a:xfrm>
              <a:prstGeom prst="line">
                <a:avLst/>
              </a:prstGeom>
              <a:noFill/>
              <a:ln w="38100">
                <a:solidFill>
                  <a:srgbClr val="FF99FF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39" name="Text Box 102">
                <a:extLst>
                  <a:ext uri="{FF2B5EF4-FFF2-40B4-BE49-F238E27FC236}">
                    <a16:creationId xmlns:a16="http://schemas.microsoft.com/office/drawing/2014/main" id="{CA666D4D-B379-4355-BDAC-041ECF201F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18" y="2313"/>
                <a:ext cx="32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FF66CC"/>
                    </a:solidFill>
                  </a:rPr>
                  <a:t>f</a:t>
                </a:r>
                <a:r>
                  <a:rPr lang="en-US" altLang="zh-CN" sz="2800" b="1" baseline="-25000">
                    <a:solidFill>
                      <a:srgbClr val="FF66CC"/>
                    </a:solidFill>
                  </a:rPr>
                  <a:t>1</a:t>
                </a:r>
                <a:endParaRPr lang="en-US" altLang="zh-CN" sz="2800"/>
              </a:p>
            </p:txBody>
          </p:sp>
          <p:sp>
            <p:nvSpPr>
              <p:cNvPr id="38940" name="Text Box 103">
                <a:extLst>
                  <a:ext uri="{FF2B5EF4-FFF2-40B4-BE49-F238E27FC236}">
                    <a16:creationId xmlns:a16="http://schemas.microsoft.com/office/drawing/2014/main" id="{368D5B83-7E42-4B74-92F1-9118264C49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2544"/>
                <a:ext cx="32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>
                    <a:solidFill>
                      <a:srgbClr val="FF66CC"/>
                    </a:solidFill>
                  </a:rPr>
                  <a:t>f</a:t>
                </a:r>
                <a:r>
                  <a:rPr lang="en-US" altLang="zh-CN" sz="2800" b="1" baseline="-25000">
                    <a:solidFill>
                      <a:srgbClr val="FF66CC"/>
                    </a:solidFill>
                  </a:rPr>
                  <a:t>2</a:t>
                </a:r>
                <a:endParaRPr lang="en-US" altLang="zh-CN" sz="2800"/>
              </a:p>
            </p:txBody>
          </p:sp>
          <p:grpSp>
            <p:nvGrpSpPr>
              <p:cNvPr id="38941" name="Group 104">
                <a:extLst>
                  <a:ext uri="{FF2B5EF4-FFF2-40B4-BE49-F238E27FC236}">
                    <a16:creationId xmlns:a16="http://schemas.microsoft.com/office/drawing/2014/main" id="{6FF56E0B-BB81-4291-A4CA-9DC111906A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1104"/>
                <a:ext cx="960" cy="432"/>
                <a:chOff x="4128" y="1104"/>
                <a:chExt cx="960" cy="432"/>
              </a:xfrm>
            </p:grpSpPr>
            <p:sp>
              <p:nvSpPr>
                <p:cNvPr id="38942" name="Line 105">
                  <a:extLst>
                    <a:ext uri="{FF2B5EF4-FFF2-40B4-BE49-F238E27FC236}">
                      <a16:creationId xmlns:a16="http://schemas.microsoft.com/office/drawing/2014/main" id="{B3019772-7269-4841-8B98-E604876584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8" y="1248"/>
                  <a:ext cx="288" cy="288"/>
                </a:xfrm>
                <a:prstGeom prst="line">
                  <a:avLst/>
                </a:prstGeom>
                <a:noFill/>
                <a:ln w="38100">
                  <a:solidFill>
                    <a:srgbClr val="FF66CC"/>
                  </a:solidFill>
                  <a:round/>
                  <a:headEnd type="stealth" w="med" len="lg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943" name="Line 106">
                  <a:extLst>
                    <a:ext uri="{FF2B5EF4-FFF2-40B4-BE49-F238E27FC236}">
                      <a16:creationId xmlns:a16="http://schemas.microsoft.com/office/drawing/2014/main" id="{7C8119A9-4BAD-4ECF-9ECB-FA57664B8A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16" y="1248"/>
                  <a:ext cx="192" cy="288"/>
                </a:xfrm>
                <a:prstGeom prst="line">
                  <a:avLst/>
                </a:prstGeom>
                <a:noFill/>
                <a:ln w="38100">
                  <a:solidFill>
                    <a:srgbClr val="FF66CC"/>
                  </a:solidFill>
                  <a:round/>
                  <a:headEnd type="stealth" w="med" len="lg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944" name="Text Box 107">
                  <a:extLst>
                    <a:ext uri="{FF2B5EF4-FFF2-40B4-BE49-F238E27FC236}">
                      <a16:creationId xmlns:a16="http://schemas.microsoft.com/office/drawing/2014/main" id="{FFE35EC4-E169-43BA-8426-43DAD03180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704" y="1104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i="1">
                      <a:solidFill>
                        <a:srgbClr val="FF66CC"/>
                      </a:solidFill>
                    </a:rPr>
                    <a:t>p</a:t>
                  </a:r>
                  <a:r>
                    <a:rPr lang="en-US" altLang="zh-CN" sz="2800" b="1" baseline="-25000">
                      <a:solidFill>
                        <a:srgbClr val="FF66CC"/>
                      </a:solidFill>
                    </a:rPr>
                    <a:t>2</a:t>
                  </a:r>
                  <a:endParaRPr lang="en-US" altLang="zh-CN" sz="2800"/>
                </a:p>
              </p:txBody>
            </p:sp>
            <p:sp>
              <p:nvSpPr>
                <p:cNvPr id="38945" name="Text Box 108">
                  <a:extLst>
                    <a:ext uri="{FF2B5EF4-FFF2-40B4-BE49-F238E27FC236}">
                      <a16:creationId xmlns:a16="http://schemas.microsoft.com/office/drawing/2014/main" id="{6961B6B7-A6FA-460D-9A30-18064CAB30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28" y="1200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i="1">
                      <a:solidFill>
                        <a:srgbClr val="FF66CC"/>
                      </a:solidFill>
                    </a:rPr>
                    <a:t>p</a:t>
                  </a:r>
                  <a:r>
                    <a:rPr lang="en-US" altLang="zh-CN" sz="2800" b="1" baseline="-25000">
                      <a:solidFill>
                        <a:srgbClr val="FF66CC"/>
                      </a:solidFill>
                    </a:rPr>
                    <a:t>1</a:t>
                  </a:r>
                  <a:endParaRPr lang="en-US" altLang="zh-CN" sz="2800"/>
                </a:p>
              </p:txBody>
            </p:sp>
          </p:grpSp>
        </p:grpSp>
        <p:grpSp>
          <p:nvGrpSpPr>
            <p:cNvPr id="38927" name="Group 112">
              <a:extLst>
                <a:ext uri="{FF2B5EF4-FFF2-40B4-BE49-F238E27FC236}">
                  <a16:creationId xmlns:a16="http://schemas.microsoft.com/office/drawing/2014/main" id="{BA8231E3-8CFE-4B15-8B62-DC273BD039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3024"/>
              <a:ext cx="576" cy="327"/>
              <a:chOff x="4176" y="3024"/>
              <a:chExt cx="576" cy="327"/>
            </a:xfrm>
          </p:grpSpPr>
          <p:sp>
            <p:nvSpPr>
              <p:cNvPr id="38931" name="Line 113">
                <a:extLst>
                  <a:ext uri="{FF2B5EF4-FFF2-40B4-BE49-F238E27FC236}">
                    <a16:creationId xmlns:a16="http://schemas.microsoft.com/office/drawing/2014/main" id="{19DEAF91-3DB1-4FF2-8949-B189F84DBB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3072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32" name="Text Box 114">
                <a:extLst>
                  <a:ext uri="{FF2B5EF4-FFF2-40B4-BE49-F238E27FC236}">
                    <a16:creationId xmlns:a16="http://schemas.microsoft.com/office/drawing/2014/main" id="{161E3F26-B34F-49FD-9E5C-E2DAC47539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0" y="3024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v</a:t>
                </a:r>
                <a:r>
                  <a:rPr lang="en-US" altLang="zh-CN" sz="2800" b="1" baseline="-25000"/>
                  <a:t>1</a:t>
                </a:r>
                <a:endParaRPr lang="en-US" altLang="zh-CN" sz="2800" b="1"/>
              </a:p>
            </p:txBody>
          </p:sp>
        </p:grpSp>
        <p:grpSp>
          <p:nvGrpSpPr>
            <p:cNvPr id="38928" name="Group 115">
              <a:extLst>
                <a:ext uri="{FF2B5EF4-FFF2-40B4-BE49-F238E27FC236}">
                  <a16:creationId xmlns:a16="http://schemas.microsoft.com/office/drawing/2014/main" id="{653D85FE-6EF8-487D-B03E-0D24C7898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632"/>
              <a:ext cx="336" cy="384"/>
              <a:chOff x="4128" y="1632"/>
              <a:chExt cx="336" cy="384"/>
            </a:xfrm>
          </p:grpSpPr>
          <p:sp>
            <p:nvSpPr>
              <p:cNvPr id="38929" name="Line 116">
                <a:extLst>
                  <a:ext uri="{FF2B5EF4-FFF2-40B4-BE49-F238E27FC236}">
                    <a16:creationId xmlns:a16="http://schemas.microsoft.com/office/drawing/2014/main" id="{63C55DD6-730F-4645-9EA5-3D397E05C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1680"/>
                <a:ext cx="24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30" name="Text Box 117">
                <a:extLst>
                  <a:ext uri="{FF2B5EF4-FFF2-40B4-BE49-F238E27FC236}">
                    <a16:creationId xmlns:a16="http://schemas.microsoft.com/office/drawing/2014/main" id="{F9E63ABE-BAEF-45BA-8EB3-BE2AD6EA03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1632"/>
                <a:ext cx="28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i="1"/>
                  <a:t>v</a:t>
                </a:r>
                <a:endParaRPr lang="en-US" altLang="zh-CN" sz="2800" b="1"/>
              </a:p>
            </p:txBody>
          </p:sp>
        </p:grpSp>
      </p:grpSp>
      <p:sp>
        <p:nvSpPr>
          <p:cNvPr id="21623" name="Text Box 119">
            <a:extLst>
              <a:ext uri="{FF2B5EF4-FFF2-40B4-BE49-F238E27FC236}">
                <a16:creationId xmlns:a16="http://schemas.microsoft.com/office/drawing/2014/main" id="{E10FD212-F56A-4358-833A-85DF5A126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33600"/>
            <a:ext cx="19812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42" grpId="0" animBg="1" autoUpdateAnimBg="0"/>
      <p:bldP spid="21544" grpId="0" animBg="1"/>
      <p:bldP spid="21545" grpId="0" animBg="1" autoUpdateAnimBg="0"/>
      <p:bldP spid="21549" grpId="0" animBg="1" autoUpdateAnimBg="0"/>
      <p:bldP spid="21550" grpId="0" animBg="1" autoUpdateAnimBg="0"/>
      <p:bldP spid="21551" grpId="0" animBg="1" autoUpdateAnimBg="0"/>
      <p:bldP spid="21577" grpId="0" animBg="1"/>
      <p:bldP spid="21614" grpId="0" animBg="1" autoUpdateAnimBg="0"/>
      <p:bldP spid="21623" grpId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>
            <a:extLst>
              <a:ext uri="{FF2B5EF4-FFF2-40B4-BE49-F238E27FC236}">
                <a16:creationId xmlns:a16="http://schemas.microsoft.com/office/drawing/2014/main" id="{A71307E4-574F-4413-B106-61A03915A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281488"/>
            <a:ext cx="20574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60</a:t>
            </a:r>
            <a:r>
              <a:rPr lang="en-US" altLang="zh-CN" sz="2800" b="1" baseline="30000">
                <a:cs typeface="Times New Roman" panose="02020603050405020304" pitchFamily="18" charset="0"/>
              </a:rPr>
              <a:t>º</a:t>
            </a:r>
            <a:r>
              <a:rPr lang="en-US" altLang="zh-CN" sz="2800" b="1" baseline="30000"/>
              <a:t> </a:t>
            </a:r>
            <a:r>
              <a:rPr lang="en-US" altLang="zh-CN" sz="2800" b="1"/>
              <a:t>&lt; 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 &lt; 75</a:t>
            </a:r>
            <a:r>
              <a:rPr lang="en-US" altLang="zh-CN" sz="2800" b="1" baseline="30000">
                <a:cs typeface="Times New Roman" panose="02020603050405020304" pitchFamily="18" charset="0"/>
              </a:rPr>
              <a:t>º</a:t>
            </a:r>
            <a:r>
              <a:rPr lang="en-US" altLang="zh-CN" sz="2800" b="1" baseline="30000"/>
              <a:t> </a:t>
            </a:r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B9BF67FC-E917-4D75-AF0B-06399799C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343400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/>
              <a:t> 1&lt; </a:t>
            </a:r>
            <a:r>
              <a:rPr lang="en-US" altLang="zh-CN" sz="2800" i="1"/>
              <a:t>t</a:t>
            </a:r>
            <a:r>
              <a:rPr lang="en-US" altLang="zh-CN" sz="2800"/>
              <a:t> &lt; 2</a:t>
            </a:r>
            <a:endParaRPr lang="en-US" altLang="zh-CN" sz="2800" baseline="-25000"/>
          </a:p>
        </p:txBody>
      </p:sp>
      <p:graphicFrame>
        <p:nvGraphicFramePr>
          <p:cNvPr id="89092" name="Object 4">
            <a:extLst>
              <a:ext uri="{FF2B5EF4-FFF2-40B4-BE49-F238E27FC236}">
                <a16:creationId xmlns:a16="http://schemas.microsoft.com/office/drawing/2014/main" id="{2C9ADED8-AADD-4461-A023-BBB32B6F5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565400"/>
          <a:ext cx="345598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8" name="公式" r:id="rId3" imgW="1752600" imgH="254000" progId="Equation.3">
                  <p:embed/>
                </p:oleObj>
              </mc:Choice>
              <mc:Fallback>
                <p:oleObj name="公式" r:id="rId3" imgW="1752600" imgH="254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565400"/>
                        <a:ext cx="3455987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>
            <a:extLst>
              <a:ext uri="{FF2B5EF4-FFF2-40B4-BE49-F238E27FC236}">
                <a16:creationId xmlns:a16="http://schemas.microsoft.com/office/drawing/2014/main" id="{5D817EDE-8C30-4D77-BDB5-07DBBECF77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2347913"/>
          <a:ext cx="41036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9" name="公式" r:id="rId5" imgW="1548728" imgH="393529" progId="Equation.3">
                  <p:embed/>
                </p:oleObj>
              </mc:Choice>
              <mc:Fallback>
                <p:oleObj name="公式" r:id="rId5" imgW="1548728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347913"/>
                        <a:ext cx="41036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>
            <a:extLst>
              <a:ext uri="{FF2B5EF4-FFF2-40B4-BE49-F238E27FC236}">
                <a16:creationId xmlns:a16="http://schemas.microsoft.com/office/drawing/2014/main" id="{DF17AC37-BF2F-4A39-9B95-83D1C0F67B48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3213100"/>
            <a:ext cx="7923213" cy="1008063"/>
            <a:chOff x="384" y="1824"/>
            <a:chExt cx="5136" cy="720"/>
          </a:xfrm>
        </p:grpSpPr>
        <p:sp>
          <p:nvSpPr>
            <p:cNvPr id="39955" name="Text Box 5">
              <a:extLst>
                <a:ext uri="{FF2B5EF4-FFF2-40B4-BE49-F238E27FC236}">
                  <a16:creationId xmlns:a16="http://schemas.microsoft.com/office/drawing/2014/main" id="{A9547C86-5D29-4431-B6BD-05EB08207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1968"/>
              <a:ext cx="912" cy="414"/>
            </a:xfrm>
            <a:prstGeom prst="rect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/>
                <a:t>v</a:t>
              </a:r>
              <a:r>
                <a:rPr lang="en-US" altLang="zh-CN" sz="3200" b="1" baseline="-25000"/>
                <a:t>1</a:t>
              </a:r>
              <a:r>
                <a:rPr lang="zh-CN" altLang="en-US" sz="3200" b="1"/>
                <a:t>最大</a:t>
              </a:r>
            </a:p>
          </p:txBody>
        </p:sp>
        <p:graphicFrame>
          <p:nvGraphicFramePr>
            <p:cNvPr id="39956" name="Object 6">
              <a:extLst>
                <a:ext uri="{FF2B5EF4-FFF2-40B4-BE49-F238E27FC236}">
                  <a16:creationId xmlns:a16="http://schemas.microsoft.com/office/drawing/2014/main" id="{892EDDBB-C2DE-47E2-B626-5009B75EBD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1824"/>
            <a:ext cx="3456" cy="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70" name="公式" r:id="rId7" imgW="2349500" imgH="520700" progId="Equation.3">
                    <p:embed/>
                  </p:oleObj>
                </mc:Choice>
                <mc:Fallback>
                  <p:oleObj name="公式" r:id="rId7" imgW="2349500" imgH="5207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824"/>
                          <a:ext cx="3456" cy="720"/>
                        </a:xfrm>
                        <a:prstGeom prst="rect">
                          <a:avLst/>
                        </a:prstGeom>
                        <a:solidFill>
                          <a:srgbClr val="99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57" name="AutoShape 28">
              <a:extLst>
                <a:ext uri="{FF2B5EF4-FFF2-40B4-BE49-F238E27FC236}">
                  <a16:creationId xmlns:a16="http://schemas.microsoft.com/office/drawing/2014/main" id="{7498BC59-B010-4B94-9C27-A994E8D834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968"/>
              <a:ext cx="240" cy="240"/>
            </a:xfrm>
            <a:prstGeom prst="notchedRightArrow">
              <a:avLst>
                <a:gd name="adj1" fmla="val 50000"/>
                <a:gd name="adj2" fmla="val 25000"/>
              </a:avLst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2559" name="Text Box 31">
            <a:extLst>
              <a:ext uri="{FF2B5EF4-FFF2-40B4-BE49-F238E27FC236}">
                <a16:creationId xmlns:a16="http://schemas.microsoft.com/office/drawing/2014/main" id="{6B3C347F-E286-4469-9BBC-3CBE5300C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157788"/>
            <a:ext cx="633413" cy="9461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备注</a:t>
            </a:r>
          </a:p>
        </p:txBody>
      </p:sp>
      <p:sp>
        <p:nvSpPr>
          <p:cNvPr id="22560" name="Text Box 32">
            <a:extLst>
              <a:ext uri="{FF2B5EF4-FFF2-40B4-BE49-F238E27FC236}">
                <a16:creationId xmlns:a16="http://schemas.microsoft.com/office/drawing/2014/main" id="{47BE03A4-9E04-4720-9D9D-CAD99764F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076825"/>
            <a:ext cx="76327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 baseline="-25000"/>
              <a:t> </a:t>
            </a:r>
            <a:r>
              <a:rPr lang="zh-CN" altLang="en-US" sz="2800" b="1"/>
              <a:t>只讨论起航时的航向，是静态模型</a:t>
            </a:r>
            <a:r>
              <a:rPr lang="en-US" altLang="zh-CN" sz="2800" b="1"/>
              <a:t>.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航行过程中终点</a:t>
            </a:r>
            <a:r>
              <a:rPr lang="en-US" altLang="zh-CN" sz="2800" b="1" i="1"/>
              <a:t>B</a:t>
            </a:r>
            <a:r>
              <a:rPr lang="zh-CN" altLang="en-US" sz="2800" b="1"/>
              <a:t>将不在正东方，应调整</a:t>
            </a:r>
            <a:r>
              <a:rPr lang="zh-CN" altLang="en-US" sz="2800" b="1" i="1">
                <a:sym typeface="Symbol" panose="05050102010706020507" pitchFamily="18" charset="2"/>
              </a:rPr>
              <a:t></a:t>
            </a:r>
            <a:r>
              <a:rPr lang="zh-CN" altLang="en-US" sz="2800" b="1">
                <a:sym typeface="Symbol" panose="05050102010706020507" pitchFamily="18" charset="2"/>
              </a:rPr>
              <a:t>和</a:t>
            </a:r>
            <a:r>
              <a:rPr lang="zh-CN" altLang="en-US" sz="2800" b="1" i="1">
                <a:sym typeface="Symbol" panose="05050102010706020507" pitchFamily="18" charset="2"/>
              </a:rPr>
              <a:t> </a:t>
            </a:r>
            <a:r>
              <a:rPr lang="en-US" altLang="zh-CN" sz="2800" b="1" i="1">
                <a:sym typeface="Symbol" panose="05050102010706020507" pitchFamily="18" charset="2"/>
              </a:rPr>
              <a:t>.</a:t>
            </a:r>
            <a:r>
              <a:rPr lang="en-US" altLang="zh-CN" sz="2800" b="1" baseline="-25000"/>
              <a:t> </a:t>
            </a:r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3DCC155A-981A-43FA-920E-EBBCFF789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8430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记 </a:t>
            </a:r>
            <a:r>
              <a:rPr lang="en-US" altLang="zh-CN" sz="2800" b="1" i="1"/>
              <a:t>t</a:t>
            </a:r>
            <a:r>
              <a:rPr lang="en-US" altLang="zh-CN" sz="2800" b="1"/>
              <a:t>=1+2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/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 </a:t>
            </a:r>
            <a:r>
              <a:rPr lang="en-US" altLang="zh-CN" sz="2800" b="1" i="1"/>
              <a:t>k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</a:t>
            </a:r>
            <a:r>
              <a:rPr lang="en-US" altLang="zh-CN" sz="2800" b="1" i="1"/>
              <a:t>k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w</a:t>
            </a:r>
            <a:r>
              <a:rPr lang="en-US" altLang="zh-CN" sz="2800" b="1"/>
              <a:t>/2</a:t>
            </a:r>
            <a:endParaRPr lang="en-US" altLang="zh-CN" sz="2800" b="1" baseline="-25000"/>
          </a:p>
        </p:txBody>
      </p:sp>
      <p:sp>
        <p:nvSpPr>
          <p:cNvPr id="22563" name="Text Box 35">
            <a:extLst>
              <a:ext uri="{FF2B5EF4-FFF2-40B4-BE49-F238E27FC236}">
                <a16:creationId xmlns:a16="http://schemas.microsoft.com/office/drawing/2014/main" id="{67E46E7F-8C96-4DE4-BD32-0ED101227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066800"/>
            <a:ext cx="51054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ym typeface="Symbol" panose="05050102010706020507" pitchFamily="18" charset="2"/>
              </a:rPr>
              <a:t> =(</a:t>
            </a:r>
            <a:r>
              <a:rPr lang="en-US" altLang="zh-CN" sz="2800" b="1" i="1">
                <a:sym typeface="Symbol" panose="05050102010706020507" pitchFamily="18" charset="2"/>
              </a:rPr>
              <a:t> </a:t>
            </a:r>
            <a:r>
              <a:rPr lang="en-US" altLang="zh-CN" sz="2800" b="1" i="1"/>
              <a:t>k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w</a:t>
            </a:r>
            <a:r>
              <a:rPr lang="en-US" altLang="zh-CN" sz="2800" b="1"/>
              <a:t>/2)[1</a:t>
            </a:r>
            <a:r>
              <a:rPr lang="en-US" altLang="zh-CN" b="1"/>
              <a:t>–</a:t>
            </a:r>
            <a:r>
              <a:rPr lang="en-US" altLang="zh-CN" sz="2800" b="1"/>
              <a:t>(1+2</a:t>
            </a:r>
            <a:r>
              <a:rPr lang="en-US" altLang="zh-CN" sz="2800" b="1" i="1"/>
              <a:t>p/w</a:t>
            </a:r>
            <a:r>
              <a:rPr lang="en-US" altLang="zh-CN" sz="2800" b="1"/>
              <a:t>)cos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]cos</a:t>
            </a:r>
            <a:r>
              <a:rPr lang="en-US" altLang="zh-CN" sz="2800" b="1" i="1">
                <a:sym typeface="Symbol" panose="05050102010706020507" pitchFamily="18" charset="2"/>
              </a:rPr>
              <a:t> </a:t>
            </a:r>
            <a:r>
              <a:rPr lang="en-US" altLang="zh-CN" sz="2800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2564" name="Text Box 36">
            <a:extLst>
              <a:ext uri="{FF2B5EF4-FFF2-40B4-BE49-F238E27FC236}">
                <a16:creationId xmlns:a16="http://schemas.microsoft.com/office/drawing/2014/main" id="{6C9B471B-8D8C-4C9D-AB04-7C305346F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84308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w=ks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, p=ks</a:t>
            </a:r>
            <a:r>
              <a:rPr lang="en-US" altLang="zh-CN" sz="2800" b="1" baseline="-25000"/>
              <a:t>2</a:t>
            </a:r>
            <a:endParaRPr lang="en-US" altLang="zh-CN" sz="2800" b="1" i="1" baseline="-25000"/>
          </a:p>
        </p:txBody>
      </p:sp>
      <p:sp>
        <p:nvSpPr>
          <p:cNvPr id="22565" name="Text Box 37">
            <a:extLst>
              <a:ext uri="{FF2B5EF4-FFF2-40B4-BE49-F238E27FC236}">
                <a16:creationId xmlns:a16="http://schemas.microsoft.com/office/drawing/2014/main" id="{9AA50973-7721-46EC-A28B-EAD930D1B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2814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1/4&lt;</a:t>
            </a:r>
            <a:r>
              <a:rPr lang="en-US" altLang="zh-CN" sz="2800" b="1">
                <a:sym typeface="Symbol" panose="05050102010706020507" pitchFamily="18" charset="2"/>
              </a:rPr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 </a:t>
            </a:r>
            <a:r>
              <a:rPr lang="en-US" altLang="zh-CN" sz="2800" b="1">
                <a:sym typeface="Symbol" panose="05050102010706020507" pitchFamily="18" charset="2"/>
              </a:rPr>
              <a:t>&lt;1/2</a:t>
            </a:r>
            <a:endParaRPr lang="en-US" altLang="zh-CN" sz="2800" b="1"/>
          </a:p>
        </p:txBody>
      </p:sp>
      <p:sp>
        <p:nvSpPr>
          <p:cNvPr id="39949" name="Text Box 38">
            <a:extLst>
              <a:ext uri="{FF2B5EF4-FFF2-40B4-BE49-F238E27FC236}">
                <a16:creationId xmlns:a16="http://schemas.microsoft.com/office/drawing/2014/main" id="{A30799BE-5BED-4593-A6EE-CB2033841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"/>
            <a:ext cx="19050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  <p:sp>
        <p:nvSpPr>
          <p:cNvPr id="22567" name="Text Box 39">
            <a:extLst>
              <a:ext uri="{FF2B5EF4-FFF2-40B4-BE49-F238E27FC236}">
                <a16:creationId xmlns:a16="http://schemas.microsoft.com/office/drawing/2014/main" id="{6D4C08D3-BAEB-47FC-BD4A-3DB86A92A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57200"/>
            <a:ext cx="510540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i="1"/>
              <a:t>v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k</a:t>
            </a:r>
            <a:r>
              <a:rPr lang="en-US" altLang="zh-CN" sz="2800" b="1" baseline="-25000"/>
              <a:t>1 </a:t>
            </a:r>
            <a:r>
              <a:rPr lang="en-US" altLang="zh-CN" sz="2800" b="1"/>
              <a:t>[</a:t>
            </a:r>
            <a:r>
              <a:rPr lang="en-US" altLang="zh-CN" sz="2800" b="1" i="1"/>
              <a:t>w</a:t>
            </a:r>
            <a:r>
              <a:rPr lang="en-US" altLang="zh-CN" sz="2800" b="1"/>
              <a:t>(1</a:t>
            </a:r>
            <a:r>
              <a:rPr lang="en-US" altLang="zh-CN" b="1"/>
              <a:t>–</a:t>
            </a:r>
            <a:r>
              <a:rPr lang="en-US" altLang="zh-CN" sz="2800" b="1">
                <a:sym typeface="Symbol" panose="05050102010706020507" pitchFamily="18" charset="2"/>
              </a:rPr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)/2</a:t>
            </a:r>
            <a:r>
              <a:rPr lang="en-US" altLang="zh-CN" b="1"/>
              <a:t>–</a:t>
            </a:r>
            <a:r>
              <a:rPr lang="en-US" altLang="zh-CN" sz="2800" b="1" i="1"/>
              <a:t>p</a:t>
            </a:r>
            <a:r>
              <a:rPr lang="en-US" altLang="zh-CN" sz="2800" b="1"/>
              <a:t>cos</a:t>
            </a:r>
            <a:r>
              <a:rPr lang="en-US" altLang="zh-CN" sz="2800" b="1" i="1">
                <a:sym typeface="Symbol" panose="05050102010706020507" pitchFamily="18" charset="2"/>
              </a:rPr>
              <a:t></a:t>
            </a:r>
            <a:r>
              <a:rPr lang="en-US" altLang="zh-CN" sz="2800" b="1">
                <a:sym typeface="Symbol" panose="05050102010706020507" pitchFamily="18" charset="2"/>
              </a:rPr>
              <a:t>]cos</a:t>
            </a:r>
            <a:r>
              <a:rPr lang="en-US" altLang="zh-CN" sz="2800" b="1" i="1">
                <a:sym typeface="Symbol" panose="05050102010706020507" pitchFamily="18" charset="2"/>
              </a:rPr>
              <a:t> </a:t>
            </a:r>
          </a:p>
        </p:txBody>
      </p:sp>
      <p:sp>
        <p:nvSpPr>
          <p:cNvPr id="22568" name="Text Box 40">
            <a:extLst>
              <a:ext uri="{FF2B5EF4-FFF2-40B4-BE49-F238E27FC236}">
                <a16:creationId xmlns:a16="http://schemas.microsoft.com/office/drawing/2014/main" id="{46895F0B-319B-4244-AE5C-118460223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672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en-US" altLang="zh-CN" sz="2800"/>
              <a:t>&gt;&gt;</a:t>
            </a:r>
            <a:r>
              <a:rPr lang="en-US" altLang="zh-CN" sz="2800" baseline="-25000"/>
              <a:t> </a:t>
            </a: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  <p:sp>
        <p:nvSpPr>
          <p:cNvPr id="22569" name="AutoShape 41">
            <a:extLst>
              <a:ext uri="{FF2B5EF4-FFF2-40B4-BE49-F238E27FC236}">
                <a16:creationId xmlns:a16="http://schemas.microsoft.com/office/drawing/2014/main" id="{F027B416-E7F9-44D7-A17E-E0FE76A0C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343400"/>
            <a:ext cx="1524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70" name="AutoShape 42">
            <a:extLst>
              <a:ext uri="{FF2B5EF4-FFF2-40B4-BE49-F238E27FC236}">
                <a16:creationId xmlns:a16="http://schemas.microsoft.com/office/drawing/2014/main" id="{322CD7F0-C420-4967-A7A8-E50EE51E1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343400"/>
            <a:ext cx="1524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800"/>
          </a:p>
        </p:txBody>
      </p:sp>
      <p:sp>
        <p:nvSpPr>
          <p:cNvPr id="22571" name="AutoShape 43">
            <a:extLst>
              <a:ext uri="{FF2B5EF4-FFF2-40B4-BE49-F238E27FC236}">
                <a16:creationId xmlns:a16="http://schemas.microsoft.com/office/drawing/2014/main" id="{9D26F6AE-3E16-4C18-870E-A84C7D707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4343400"/>
            <a:ext cx="152400" cy="485775"/>
          </a:xfrm>
          <a:prstGeom prst="right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1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10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9" dur="1000"/>
                                        <p:tgtEl>
                                          <p:spTgt spid="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2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25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 autoUpdateAnimBg="0"/>
      <p:bldP spid="22537" grpId="0" autoUpdateAnimBg="0"/>
      <p:bldP spid="22559" grpId="0" animBg="1" autoUpdateAnimBg="0"/>
      <p:bldP spid="22562" grpId="0" autoUpdateAnimBg="0"/>
      <p:bldP spid="22563" grpId="0" autoUpdateAnimBg="0"/>
      <p:bldP spid="22564" grpId="0" autoUpdateAnimBg="0"/>
      <p:bldP spid="22565" grpId="0" autoUpdateAnimBg="0"/>
      <p:bldP spid="22567" grpId="0" autoUpdateAnimBg="0"/>
      <p:bldP spid="22568" grpId="0" autoUpdateAnimBg="0"/>
      <p:bldP spid="22569" grpId="0" animBg="1"/>
      <p:bldP spid="22570" grpId="0" animBg="1" autoUpdateAnimBg="0"/>
      <p:bldP spid="22571" grpId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4">
            <a:extLst>
              <a:ext uri="{FF2B5EF4-FFF2-40B4-BE49-F238E27FC236}">
                <a16:creationId xmlns:a16="http://schemas.microsoft.com/office/drawing/2014/main" id="{67484412-DD51-4513-914F-8C7B759D5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76250"/>
            <a:ext cx="4824412" cy="64135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ea typeface="楷体_GB2312" pitchFamily="49" charset="-122"/>
              </a:rPr>
              <a:t>2.8   </a:t>
            </a:r>
            <a:r>
              <a:rPr lang="zh-CN" altLang="en-US" sz="3600" b="1">
                <a:ea typeface="楷体_GB2312" pitchFamily="49" charset="-122"/>
              </a:rPr>
              <a:t>天气预报的评价</a:t>
            </a:r>
            <a:r>
              <a:rPr lang="zh-CN" altLang="en-US" sz="3200" u="sng">
                <a:ea typeface="楷体_GB2312" pitchFamily="49" charset="-122"/>
              </a:rPr>
              <a:t> </a:t>
            </a:r>
          </a:p>
        </p:txBody>
      </p:sp>
      <p:sp>
        <p:nvSpPr>
          <p:cNvPr id="160773" name="Rectangle 5">
            <a:extLst>
              <a:ext uri="{FF2B5EF4-FFF2-40B4-BE49-F238E27FC236}">
                <a16:creationId xmlns:a16="http://schemas.microsoft.com/office/drawing/2014/main" id="{94A5B295-C2FF-43C3-9179-D517D3D1B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268413"/>
            <a:ext cx="7505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明天是否下雨的天气预报以</a:t>
            </a:r>
            <a:r>
              <a:rPr lang="zh-CN" altLang="en-US" sz="2800" b="1">
                <a:solidFill>
                  <a:srgbClr val="FF3300"/>
                </a:solidFill>
              </a:rPr>
              <a:t>有雨概率</a:t>
            </a:r>
            <a:r>
              <a:rPr lang="zh-CN" altLang="en-US" sz="2800" b="1"/>
              <a:t>形式给出</a:t>
            </a:r>
            <a:r>
              <a:rPr lang="en-US" altLang="zh-CN" sz="2800" b="1"/>
              <a:t>. </a:t>
            </a:r>
          </a:p>
        </p:txBody>
      </p:sp>
      <p:sp>
        <p:nvSpPr>
          <p:cNvPr id="160774" name="Text Box 6">
            <a:extLst>
              <a:ext uri="{FF2B5EF4-FFF2-40B4-BE49-F238E27FC236}">
                <a16:creationId xmlns:a16="http://schemas.microsoft.com/office/drawing/2014/main" id="{C9DD4387-8AA7-4B06-BDD6-78DADB0BD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1438"/>
            <a:ext cx="1008063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问题</a:t>
            </a:r>
          </a:p>
        </p:txBody>
      </p:sp>
      <p:sp>
        <p:nvSpPr>
          <p:cNvPr id="160775" name="Rectangle 7">
            <a:extLst>
              <a:ext uri="{FF2B5EF4-FFF2-40B4-BE49-F238E27FC236}">
                <a16:creationId xmlns:a16="http://schemas.microsoft.com/office/drawing/2014/main" id="{C651947C-EC45-4A46-B22A-1570F7342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781175"/>
            <a:ext cx="6840538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已得到某地一个月</a:t>
            </a:r>
            <a:r>
              <a:rPr lang="en-US" altLang="zh-CN" sz="2800" b="1">
                <a:solidFill>
                  <a:srgbClr val="FF3300"/>
                </a:solidFill>
              </a:rPr>
              <a:t>4</a:t>
            </a:r>
            <a:r>
              <a:rPr lang="zh-CN" altLang="en-US" sz="2800" b="1">
                <a:solidFill>
                  <a:srgbClr val="FF3300"/>
                </a:solidFill>
              </a:rPr>
              <a:t>种预报方法</a:t>
            </a:r>
            <a:r>
              <a:rPr lang="zh-CN" altLang="en-US" sz="2800" b="1"/>
              <a:t>的有雨概率预报，和实际上有雨或无雨的</a:t>
            </a:r>
            <a:r>
              <a:rPr lang="zh-CN" altLang="en-US" sz="2800" b="1">
                <a:solidFill>
                  <a:srgbClr val="FF3300"/>
                </a:solidFill>
              </a:rPr>
              <a:t>观测结果</a:t>
            </a:r>
            <a:r>
              <a:rPr lang="en-US" altLang="zh-CN" sz="2800" b="1"/>
              <a:t>. </a:t>
            </a:r>
          </a:p>
        </p:txBody>
      </p:sp>
      <p:graphicFrame>
        <p:nvGraphicFramePr>
          <p:cNvPr id="161233" name="Group 465">
            <a:extLst>
              <a:ext uri="{FF2B5EF4-FFF2-40B4-BE49-F238E27FC236}">
                <a16:creationId xmlns:a16="http://schemas.microsoft.com/office/drawing/2014/main" id="{CBC2CB10-73D0-4556-A33C-C5A0A9A96725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2997200"/>
          <a:ext cx="8820150" cy="2800351"/>
        </p:xfrm>
        <a:graphic>
          <a:graphicData uri="http://schemas.openxmlformats.org/drawingml/2006/table">
            <a:tbl>
              <a:tblPr/>
              <a:tblGrid>
                <a:gridCol w="735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27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3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日期</a:t>
                      </a:r>
                      <a:endParaRPr kumimoji="1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预报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A(%)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预报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 (%)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预报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 (%) 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预报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 (%)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实测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有雨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=1,</a:t>
                      </a:r>
                      <a:r>
                        <a:rPr kumimoji="1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无雨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=0)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…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3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1230" name="Rectangle 462">
            <a:extLst>
              <a:ext uri="{FF2B5EF4-FFF2-40B4-BE49-F238E27FC236}">
                <a16:creationId xmlns:a16="http://schemas.microsoft.com/office/drawing/2014/main" id="{4434DF8E-7B9A-4DD7-8B71-7F9A7C0A2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919788"/>
            <a:ext cx="688022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怎样根据这些数据对</a:t>
            </a:r>
            <a:r>
              <a:rPr lang="en-US" altLang="zh-CN" sz="2800" b="1"/>
              <a:t>4</a:t>
            </a:r>
            <a:r>
              <a:rPr lang="zh-CN" altLang="en-US" sz="2800" b="1"/>
              <a:t>种预报方法给以评价 </a:t>
            </a:r>
          </a:p>
        </p:txBody>
      </p:sp>
      <p:pic>
        <p:nvPicPr>
          <p:cNvPr id="41025" name="Picture 466" descr="j0293828">
            <a:extLst>
              <a:ext uri="{FF2B5EF4-FFF2-40B4-BE49-F238E27FC236}">
                <a16:creationId xmlns:a16="http://schemas.microsoft.com/office/drawing/2014/main" id="{A8F6E13F-A3FC-4167-8BEB-F25AA2BF2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8223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72">
            <a:extLst>
              <a:ext uri="{FF2B5EF4-FFF2-40B4-BE49-F238E27FC236}">
                <a16:creationId xmlns:a16="http://schemas.microsoft.com/office/drawing/2014/main" id="{CEE214EC-71D9-4418-8A11-FD20AEDB3911}"/>
              </a:ext>
            </a:extLst>
          </p:cNvPr>
          <p:cNvGrpSpPr>
            <a:grpSpLocks/>
          </p:cNvGrpSpPr>
          <p:nvPr/>
        </p:nvGrpSpPr>
        <p:grpSpPr bwMode="auto">
          <a:xfrm>
            <a:off x="7885113" y="3573463"/>
            <a:ext cx="1079500" cy="2065337"/>
            <a:chOff x="4967" y="2251"/>
            <a:chExt cx="680" cy="1301"/>
          </a:xfrm>
        </p:grpSpPr>
        <p:sp>
          <p:nvSpPr>
            <p:cNvPr id="41030" name="AutoShape 467">
              <a:extLst>
                <a:ext uri="{FF2B5EF4-FFF2-40B4-BE49-F238E27FC236}">
                  <a16:creationId xmlns:a16="http://schemas.microsoft.com/office/drawing/2014/main" id="{6EA08BD0-420E-4832-9267-A7C4F37AA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251"/>
              <a:ext cx="142" cy="1301"/>
            </a:xfrm>
            <a:prstGeom prst="rightBrace">
              <a:avLst>
                <a:gd name="adj1" fmla="val 76350"/>
                <a:gd name="adj2" fmla="val 5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031" name="Text Box 468">
              <a:extLst>
                <a:ext uri="{FF2B5EF4-FFF2-40B4-BE49-F238E27FC236}">
                  <a16:creationId xmlns:a16="http://schemas.microsoft.com/office/drawing/2014/main" id="{B3BE75C4-6F48-4C15-81D4-866F934E0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3" y="2407"/>
              <a:ext cx="544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9</a:t>
              </a:r>
              <a:r>
                <a:rPr lang="zh-CN" altLang="en-US" b="1">
                  <a:solidFill>
                    <a:srgbClr val="FF3300"/>
                  </a:solidFill>
                </a:rPr>
                <a:t>天有雨</a:t>
              </a:r>
              <a:r>
                <a:rPr lang="en-US" altLang="zh-CN" b="1">
                  <a:solidFill>
                    <a:srgbClr val="FF3300"/>
                  </a:solidFill>
                </a:rPr>
                <a:t>22</a:t>
              </a:r>
              <a:r>
                <a:rPr lang="zh-CN" altLang="en-US" b="1">
                  <a:solidFill>
                    <a:srgbClr val="FF3300"/>
                  </a:solidFill>
                </a:rPr>
                <a:t>天无雨</a:t>
              </a:r>
            </a:p>
          </p:txBody>
        </p:sp>
      </p:grpSp>
      <p:grpSp>
        <p:nvGrpSpPr>
          <p:cNvPr id="3" name="Group 471">
            <a:extLst>
              <a:ext uri="{FF2B5EF4-FFF2-40B4-BE49-F238E27FC236}">
                <a16:creationId xmlns:a16="http://schemas.microsoft.com/office/drawing/2014/main" id="{763D08C7-0319-4EC6-8197-E8D9EBA4BB7C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3573463"/>
            <a:ext cx="576262" cy="2065337"/>
            <a:chOff x="1927" y="2251"/>
            <a:chExt cx="363" cy="1301"/>
          </a:xfrm>
        </p:grpSpPr>
        <p:sp>
          <p:nvSpPr>
            <p:cNvPr id="41028" name="AutoShape 469">
              <a:extLst>
                <a:ext uri="{FF2B5EF4-FFF2-40B4-BE49-F238E27FC236}">
                  <a16:creationId xmlns:a16="http://schemas.microsoft.com/office/drawing/2014/main" id="{C95C4C91-89BB-45D2-9E4D-CB7AF8D4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251"/>
              <a:ext cx="142" cy="1301"/>
            </a:xfrm>
            <a:prstGeom prst="rightBrace">
              <a:avLst>
                <a:gd name="adj1" fmla="val 76350"/>
                <a:gd name="adj2" fmla="val 50000"/>
              </a:avLst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029" name="Text Box 470">
              <a:extLst>
                <a:ext uri="{FF2B5EF4-FFF2-40B4-BE49-F238E27FC236}">
                  <a16:creationId xmlns:a16="http://schemas.microsoft.com/office/drawing/2014/main" id="{FD153614-28FF-472F-964E-C4DFE4DEC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2591"/>
              <a:ext cx="272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rgbClr val="FF3300"/>
                  </a:solidFill>
                </a:rPr>
                <a:t>全相同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1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6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3" grpId="0"/>
      <p:bldP spid="160774" grpId="0" animBg="1" autoUpdateAnimBg="0"/>
      <p:bldP spid="160775" grpId="0"/>
      <p:bldP spid="1612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8">
            <a:extLst>
              <a:ext uri="{FF2B5EF4-FFF2-40B4-BE49-F238E27FC236}">
                <a16:creationId xmlns:a16="http://schemas.microsoft.com/office/drawing/2014/main" id="{B74C44C7-3CE4-4008-B5EB-CF6DD970F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4813"/>
            <a:ext cx="2305050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计数模型</a:t>
            </a:r>
          </a:p>
        </p:txBody>
      </p:sp>
      <p:sp>
        <p:nvSpPr>
          <p:cNvPr id="161822" name="Rectangle 30">
            <a:extLst>
              <a:ext uri="{FF2B5EF4-FFF2-40B4-BE49-F238E27FC236}">
                <a16:creationId xmlns:a16="http://schemas.microsoft.com/office/drawing/2014/main" id="{77D4C383-93D1-4C17-9F69-F556BB8A4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333625"/>
            <a:ext cx="741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根据明天是否有雨的实测，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统计预报的</a:t>
            </a:r>
            <a:r>
              <a:rPr lang="zh-CN" altLang="en-US" sz="2800" b="1">
                <a:solidFill>
                  <a:srgbClr val="FF3300"/>
                </a:solidFill>
                <a:cs typeface="Times New Roman" panose="02020603050405020304" pitchFamily="18" charset="0"/>
              </a:rPr>
              <a:t>正确率</a:t>
            </a:r>
            <a:r>
              <a:rPr lang="zh-CN" altLang="en-US" sz="2800" b="1"/>
              <a:t> </a:t>
            </a:r>
          </a:p>
        </p:txBody>
      </p:sp>
      <p:sp>
        <p:nvSpPr>
          <p:cNvPr id="161823" name="Rectangle 31">
            <a:extLst>
              <a:ext uri="{FF2B5EF4-FFF2-40B4-BE49-F238E27FC236}">
                <a16:creationId xmlns:a16="http://schemas.microsoft.com/office/drawing/2014/main" id="{3AC6FEF4-A1B2-4062-A0B4-EC5F6A905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125538"/>
            <a:ext cx="3240087" cy="10318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800" b="1"/>
              <a:t>有雨概率</a:t>
            </a:r>
            <a:r>
              <a:rPr lang="en-US" altLang="zh-CN" sz="2800" b="1"/>
              <a:t>=50%  </a:t>
            </a:r>
          </a:p>
          <a:p>
            <a:pPr algn="ctr" eaLnBrk="1" hangingPunct="1">
              <a:spcBef>
                <a:spcPct val="20000"/>
              </a:spcBef>
            </a:pPr>
            <a:r>
              <a:rPr lang="zh-CN" altLang="en-US" sz="2800" b="1"/>
              <a:t>毫无意义</a:t>
            </a:r>
            <a:r>
              <a:rPr lang="en-US" altLang="zh-CN" sz="2800" b="1"/>
              <a:t>, </a:t>
            </a:r>
            <a:r>
              <a:rPr lang="zh-CN" altLang="en-US" sz="2800" b="1"/>
              <a:t>不予统计 </a:t>
            </a:r>
          </a:p>
        </p:txBody>
      </p:sp>
      <p:grpSp>
        <p:nvGrpSpPr>
          <p:cNvPr id="2" name="Group 118">
            <a:extLst>
              <a:ext uri="{FF2B5EF4-FFF2-40B4-BE49-F238E27FC236}">
                <a16:creationId xmlns:a16="http://schemas.microsoft.com/office/drawing/2014/main" id="{88161139-9A88-42B0-A45C-AAD40D97E4F8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4795838"/>
            <a:ext cx="8278812" cy="1411287"/>
            <a:chOff x="203" y="3021"/>
            <a:chExt cx="5215" cy="889"/>
          </a:xfrm>
        </p:grpSpPr>
        <p:sp>
          <p:nvSpPr>
            <p:cNvPr id="42034" name="Text Box 71">
              <a:extLst>
                <a:ext uri="{FF2B5EF4-FFF2-40B4-BE49-F238E27FC236}">
                  <a16:creationId xmlns:a16="http://schemas.microsoft.com/office/drawing/2014/main" id="{1E33F8C9-AFD3-447B-AC7E-231A921A8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3113"/>
              <a:ext cx="681" cy="27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C</a:t>
              </a:r>
              <a:endParaRPr lang="en-US" altLang="zh-CN"/>
            </a:p>
          </p:txBody>
        </p:sp>
        <p:sp>
          <p:nvSpPr>
            <p:cNvPr id="42035" name="Text Box 72">
              <a:extLst>
                <a:ext uri="{FF2B5EF4-FFF2-40B4-BE49-F238E27FC236}">
                  <a16:creationId xmlns:a16="http://schemas.microsoft.com/office/drawing/2014/main" id="{75682C19-0D76-44EA-AE6A-C7C2F8847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" y="3651"/>
              <a:ext cx="3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2</a:t>
              </a:r>
            </a:p>
          </p:txBody>
        </p:sp>
        <p:sp>
          <p:nvSpPr>
            <p:cNvPr id="42036" name="Text Box 73">
              <a:extLst>
                <a:ext uri="{FF2B5EF4-FFF2-40B4-BE49-F238E27FC236}">
                  <a16:creationId xmlns:a16="http://schemas.microsoft.com/office/drawing/2014/main" id="{C1AB743A-7A4F-46C3-8FBF-F27B10A8E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8" y="3651"/>
              <a:ext cx="3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17</a:t>
              </a:r>
            </a:p>
          </p:txBody>
        </p:sp>
        <p:sp>
          <p:nvSpPr>
            <p:cNvPr id="42037" name="Text Box 74">
              <a:extLst>
                <a:ext uri="{FF2B5EF4-FFF2-40B4-BE49-F238E27FC236}">
                  <a16:creationId xmlns:a16="http://schemas.microsoft.com/office/drawing/2014/main" id="{0E11E7BA-B9A1-45D1-A1BB-FDA4CB420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" y="3411"/>
              <a:ext cx="39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5</a:t>
              </a:r>
            </a:p>
          </p:txBody>
        </p:sp>
        <p:sp>
          <p:nvSpPr>
            <p:cNvPr id="42038" name="Text Box 76">
              <a:extLst>
                <a:ext uri="{FF2B5EF4-FFF2-40B4-BE49-F238E27FC236}">
                  <a16:creationId xmlns:a16="http://schemas.microsoft.com/office/drawing/2014/main" id="{8CA4E81F-A111-4E04-9953-2B89F0B05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3158"/>
              <a:ext cx="4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预报</a:t>
              </a:r>
            </a:p>
          </p:txBody>
        </p:sp>
        <p:sp>
          <p:nvSpPr>
            <p:cNvPr id="42039" name="Text Box 77">
              <a:extLst>
                <a:ext uri="{FF2B5EF4-FFF2-40B4-BE49-F238E27FC236}">
                  <a16:creationId xmlns:a16="http://schemas.microsoft.com/office/drawing/2014/main" id="{0B32E148-9BB7-4473-936C-E0D711C69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3021"/>
              <a:ext cx="52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实测</a:t>
              </a:r>
            </a:p>
          </p:txBody>
        </p:sp>
        <p:sp>
          <p:nvSpPr>
            <p:cNvPr id="42040" name="Line 78">
              <a:extLst>
                <a:ext uri="{FF2B5EF4-FFF2-40B4-BE49-F238E27FC236}">
                  <a16:creationId xmlns:a16="http://schemas.microsoft.com/office/drawing/2014/main" id="{B77F7C69-D76A-4199-A64B-B9E915D23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3391"/>
              <a:ext cx="168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1" name="Line 79">
              <a:extLst>
                <a:ext uri="{FF2B5EF4-FFF2-40B4-BE49-F238E27FC236}">
                  <a16:creationId xmlns:a16="http://schemas.microsoft.com/office/drawing/2014/main" id="{7A9E7716-800B-436E-BE17-403758FE5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" y="3132"/>
              <a:ext cx="1" cy="7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2" name="Line 80">
              <a:extLst>
                <a:ext uri="{FF2B5EF4-FFF2-40B4-BE49-F238E27FC236}">
                  <a16:creationId xmlns:a16="http://schemas.microsoft.com/office/drawing/2014/main" id="{31A31498-C97C-4BEC-83CF-6BF676990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9" y="3132"/>
              <a:ext cx="593" cy="2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3" name="Text Box 81">
              <a:extLst>
                <a:ext uri="{FF2B5EF4-FFF2-40B4-BE49-F238E27FC236}">
                  <a16:creationId xmlns:a16="http://schemas.microsoft.com/office/drawing/2014/main" id="{84897970-F4F8-4A21-9453-8B7CDCB92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132"/>
              <a:ext cx="4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2044" name="Text Box 82">
              <a:extLst>
                <a:ext uri="{FF2B5EF4-FFF2-40B4-BE49-F238E27FC236}">
                  <a16:creationId xmlns:a16="http://schemas.microsoft.com/office/drawing/2014/main" id="{2082D7B1-112E-4954-8079-80DA2D593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9" y="3411"/>
              <a:ext cx="49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2045" name="Text Box 83">
              <a:extLst>
                <a:ext uri="{FF2B5EF4-FFF2-40B4-BE49-F238E27FC236}">
                  <a16:creationId xmlns:a16="http://schemas.microsoft.com/office/drawing/2014/main" id="{4191C330-7AB8-4F43-87E2-4DD3A2077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6" y="3132"/>
              <a:ext cx="4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2046" name="Text Box 84">
              <a:extLst>
                <a:ext uri="{FF2B5EF4-FFF2-40B4-BE49-F238E27FC236}">
                  <a16:creationId xmlns:a16="http://schemas.microsoft.com/office/drawing/2014/main" id="{644C6308-C49E-4FD8-8BB0-03DCE6468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9" y="3643"/>
              <a:ext cx="49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2047" name="Line 85">
              <a:extLst>
                <a:ext uri="{FF2B5EF4-FFF2-40B4-BE49-F238E27FC236}">
                  <a16:creationId xmlns:a16="http://schemas.microsoft.com/office/drawing/2014/main" id="{0C35BBF4-3B7F-40CF-A560-E5233175E6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132"/>
              <a:ext cx="1" cy="7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8" name="Line 86">
              <a:extLst>
                <a:ext uri="{FF2B5EF4-FFF2-40B4-BE49-F238E27FC236}">
                  <a16:creationId xmlns:a16="http://schemas.microsoft.com/office/drawing/2014/main" id="{BB95C84C-4161-40C3-AFDC-E35D25364A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3651"/>
              <a:ext cx="16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49" name="Text Box 87">
              <a:extLst>
                <a:ext uri="{FF2B5EF4-FFF2-40B4-BE49-F238E27FC236}">
                  <a16:creationId xmlns:a16="http://schemas.microsoft.com/office/drawing/2014/main" id="{A1B0B40A-B7E6-4791-A067-CC9688412D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0" y="3418"/>
              <a:ext cx="3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3</a:t>
              </a:r>
            </a:p>
          </p:txBody>
        </p:sp>
        <p:sp>
          <p:nvSpPr>
            <p:cNvPr id="42050" name="Text Box 89">
              <a:extLst>
                <a:ext uri="{FF2B5EF4-FFF2-40B4-BE49-F238E27FC236}">
                  <a16:creationId xmlns:a16="http://schemas.microsoft.com/office/drawing/2014/main" id="{D6FA462C-873F-4B15-9B9C-A8F41E471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158"/>
              <a:ext cx="678" cy="27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D</a:t>
              </a:r>
              <a:endParaRPr lang="en-US" altLang="zh-CN"/>
            </a:p>
          </p:txBody>
        </p:sp>
        <p:grpSp>
          <p:nvGrpSpPr>
            <p:cNvPr id="42051" name="Group 90">
              <a:extLst>
                <a:ext uri="{FF2B5EF4-FFF2-40B4-BE49-F238E27FC236}">
                  <a16:creationId xmlns:a16="http://schemas.microsoft.com/office/drawing/2014/main" id="{1F3A3F9F-5579-4180-8D1A-2D89267A03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3" y="3385"/>
              <a:ext cx="394" cy="454"/>
              <a:chOff x="7920" y="9318"/>
              <a:chExt cx="720" cy="1092"/>
            </a:xfrm>
          </p:grpSpPr>
          <p:sp>
            <p:nvSpPr>
              <p:cNvPr id="42066" name="Text Box 91">
                <a:extLst>
                  <a:ext uri="{FF2B5EF4-FFF2-40B4-BE49-F238E27FC236}">
                    <a16:creationId xmlns:a16="http://schemas.microsoft.com/office/drawing/2014/main" id="{39C5A9C2-C490-4BF0-BF7A-E19FC7D975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20" y="9942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2</a:t>
                </a:r>
              </a:p>
            </p:txBody>
          </p:sp>
          <p:sp>
            <p:nvSpPr>
              <p:cNvPr id="42067" name="Text Box 92">
                <a:extLst>
                  <a:ext uri="{FF2B5EF4-FFF2-40B4-BE49-F238E27FC236}">
                    <a16:creationId xmlns:a16="http://schemas.microsoft.com/office/drawing/2014/main" id="{F854B13E-17D1-4B88-B973-8C420A7749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20" y="9318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6</a:t>
                </a:r>
              </a:p>
            </p:txBody>
          </p:sp>
        </p:grpSp>
        <p:sp>
          <p:nvSpPr>
            <p:cNvPr id="42052" name="Text Box 94">
              <a:extLst>
                <a:ext uri="{FF2B5EF4-FFF2-40B4-BE49-F238E27FC236}">
                  <a16:creationId xmlns:a16="http://schemas.microsoft.com/office/drawing/2014/main" id="{9DE2B077-2EA0-4861-9B15-CD7D2BB2E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3158"/>
              <a:ext cx="4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预报</a:t>
              </a:r>
            </a:p>
          </p:txBody>
        </p:sp>
        <p:sp>
          <p:nvSpPr>
            <p:cNvPr id="42053" name="Text Box 95">
              <a:extLst>
                <a:ext uri="{FF2B5EF4-FFF2-40B4-BE49-F238E27FC236}">
                  <a16:creationId xmlns:a16="http://schemas.microsoft.com/office/drawing/2014/main" id="{336B24D3-AF4F-4F7B-BBDF-28F43C5DB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2" y="3067"/>
              <a:ext cx="51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实测</a:t>
              </a:r>
            </a:p>
          </p:txBody>
        </p:sp>
        <p:sp>
          <p:nvSpPr>
            <p:cNvPr id="42054" name="Line 96">
              <a:extLst>
                <a:ext uri="{FF2B5EF4-FFF2-40B4-BE49-F238E27FC236}">
                  <a16:creationId xmlns:a16="http://schemas.microsoft.com/office/drawing/2014/main" id="{5B72CF4F-609B-4B83-AD72-F7DF901F7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3391"/>
              <a:ext cx="16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5" name="Line 97">
              <a:extLst>
                <a:ext uri="{FF2B5EF4-FFF2-40B4-BE49-F238E27FC236}">
                  <a16:creationId xmlns:a16="http://schemas.microsoft.com/office/drawing/2014/main" id="{C6BA0796-FB64-4975-A0BF-06597B6306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5" y="3132"/>
              <a:ext cx="1" cy="7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6" name="Line 98">
              <a:extLst>
                <a:ext uri="{FF2B5EF4-FFF2-40B4-BE49-F238E27FC236}">
                  <a16:creationId xmlns:a16="http://schemas.microsoft.com/office/drawing/2014/main" id="{988DE150-17A8-452D-8C6C-CA30C8408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6" y="3132"/>
              <a:ext cx="589" cy="2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57" name="Text Box 99">
              <a:extLst>
                <a:ext uri="{FF2B5EF4-FFF2-40B4-BE49-F238E27FC236}">
                  <a16:creationId xmlns:a16="http://schemas.microsoft.com/office/drawing/2014/main" id="{6EA589D9-3B8F-44F2-89B2-A62C02954D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3132"/>
              <a:ext cx="49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2058" name="Text Box 100">
              <a:extLst>
                <a:ext uri="{FF2B5EF4-FFF2-40B4-BE49-F238E27FC236}">
                  <a16:creationId xmlns:a16="http://schemas.microsoft.com/office/drawing/2014/main" id="{C567AEBF-D104-41D5-AC3B-AC994D7E1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385"/>
              <a:ext cx="49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2059" name="Text Box 101">
              <a:extLst>
                <a:ext uri="{FF2B5EF4-FFF2-40B4-BE49-F238E27FC236}">
                  <a16:creationId xmlns:a16="http://schemas.microsoft.com/office/drawing/2014/main" id="{C4126CB5-1CE6-47B7-B1C0-E7CC45BA8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3132"/>
              <a:ext cx="4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2060" name="Text Box 102">
              <a:extLst>
                <a:ext uri="{FF2B5EF4-FFF2-40B4-BE49-F238E27FC236}">
                  <a16:creationId xmlns:a16="http://schemas.microsoft.com/office/drawing/2014/main" id="{9D968EFA-D1A9-4BC0-8691-237F28FB3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657"/>
              <a:ext cx="49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2061" name="Line 103">
              <a:extLst>
                <a:ext uri="{FF2B5EF4-FFF2-40B4-BE49-F238E27FC236}">
                  <a16:creationId xmlns:a16="http://schemas.microsoft.com/office/drawing/2014/main" id="{C91FE8D1-F4F6-4AA4-B8B2-2554FE6D13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" y="3132"/>
              <a:ext cx="0" cy="7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62" name="Line 104">
              <a:extLst>
                <a:ext uri="{FF2B5EF4-FFF2-40B4-BE49-F238E27FC236}">
                  <a16:creationId xmlns:a16="http://schemas.microsoft.com/office/drawing/2014/main" id="{EAE2E00F-99D6-47DE-BA9B-317E7CD16B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3651"/>
              <a:ext cx="16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063" name="Group 105">
              <a:extLst>
                <a:ext uri="{FF2B5EF4-FFF2-40B4-BE49-F238E27FC236}">
                  <a16:creationId xmlns:a16="http://schemas.microsoft.com/office/drawing/2014/main" id="{998C0D69-4CD5-4EBE-B421-9AA20067AC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9" y="3385"/>
              <a:ext cx="393" cy="454"/>
              <a:chOff x="8760" y="9942"/>
              <a:chExt cx="720" cy="1092"/>
            </a:xfrm>
          </p:grpSpPr>
          <p:sp>
            <p:nvSpPr>
              <p:cNvPr id="42064" name="Text Box 106">
                <a:extLst>
                  <a:ext uri="{FF2B5EF4-FFF2-40B4-BE49-F238E27FC236}">
                    <a16:creationId xmlns:a16="http://schemas.microsoft.com/office/drawing/2014/main" id="{6FCE9043-2171-42B1-B147-AC6E7548C9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60" y="9942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 0</a:t>
                </a:r>
              </a:p>
            </p:txBody>
          </p:sp>
          <p:sp>
            <p:nvSpPr>
              <p:cNvPr id="42065" name="Text Box 107">
                <a:extLst>
                  <a:ext uri="{FF2B5EF4-FFF2-40B4-BE49-F238E27FC236}">
                    <a16:creationId xmlns:a16="http://schemas.microsoft.com/office/drawing/2014/main" id="{008E5EAE-ADA9-4E53-B351-178243111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60" y="10566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21</a:t>
                </a:r>
              </a:p>
            </p:txBody>
          </p:sp>
        </p:grpSp>
      </p:grpSp>
      <p:grpSp>
        <p:nvGrpSpPr>
          <p:cNvPr id="5" name="Group 116">
            <a:extLst>
              <a:ext uri="{FF2B5EF4-FFF2-40B4-BE49-F238E27FC236}">
                <a16:creationId xmlns:a16="http://schemas.microsoft.com/office/drawing/2014/main" id="{AE519539-1556-410C-8F2B-1A72DE75D16F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3051175"/>
            <a:ext cx="3889375" cy="1457325"/>
            <a:chOff x="203" y="1922"/>
            <a:chExt cx="2450" cy="918"/>
          </a:xfrm>
        </p:grpSpPr>
        <p:sp>
          <p:nvSpPr>
            <p:cNvPr id="42018" name="Text Box 35">
              <a:extLst>
                <a:ext uri="{FF2B5EF4-FFF2-40B4-BE49-F238E27FC236}">
                  <a16:creationId xmlns:a16="http://schemas.microsoft.com/office/drawing/2014/main" id="{A0F68AF7-A0BC-4AB7-A20A-DE5CF9437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" y="2296"/>
              <a:ext cx="3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6</a:t>
              </a:r>
            </a:p>
          </p:txBody>
        </p:sp>
        <p:sp>
          <p:nvSpPr>
            <p:cNvPr id="42019" name="Text Box 37">
              <a:extLst>
                <a:ext uri="{FF2B5EF4-FFF2-40B4-BE49-F238E27FC236}">
                  <a16:creationId xmlns:a16="http://schemas.microsoft.com/office/drawing/2014/main" id="{9FD089DE-38FC-4A13-8E54-C13558E2C3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063"/>
              <a:ext cx="4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预报</a:t>
              </a:r>
            </a:p>
          </p:txBody>
        </p:sp>
        <p:sp>
          <p:nvSpPr>
            <p:cNvPr id="42020" name="Text Box 38">
              <a:extLst>
                <a:ext uri="{FF2B5EF4-FFF2-40B4-BE49-F238E27FC236}">
                  <a16:creationId xmlns:a16="http://schemas.microsoft.com/office/drawing/2014/main" id="{83021865-3208-48B8-8466-650BEC88C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" y="1922"/>
              <a:ext cx="5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实测</a:t>
              </a:r>
            </a:p>
          </p:txBody>
        </p:sp>
        <p:sp>
          <p:nvSpPr>
            <p:cNvPr id="42021" name="Line 39">
              <a:extLst>
                <a:ext uri="{FF2B5EF4-FFF2-40B4-BE49-F238E27FC236}">
                  <a16:creationId xmlns:a16="http://schemas.microsoft.com/office/drawing/2014/main" id="{ECCBC807-310F-47BE-9FCE-30E5D9ED0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2275"/>
              <a:ext cx="167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2" name="Line 40">
              <a:extLst>
                <a:ext uri="{FF2B5EF4-FFF2-40B4-BE49-F238E27FC236}">
                  <a16:creationId xmlns:a16="http://schemas.microsoft.com/office/drawing/2014/main" id="{1AEC73A6-415B-4AC3-B2B6-5317B913B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1993"/>
              <a:ext cx="0" cy="8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3" name="Line 41">
              <a:extLst>
                <a:ext uri="{FF2B5EF4-FFF2-40B4-BE49-F238E27FC236}">
                  <a16:creationId xmlns:a16="http://schemas.microsoft.com/office/drawing/2014/main" id="{89918696-10DE-4690-8D35-74C12BFA7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4" y="1993"/>
              <a:ext cx="592" cy="2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4" name="Text Box 42">
              <a:extLst>
                <a:ext uri="{FF2B5EF4-FFF2-40B4-BE49-F238E27FC236}">
                  <a16:creationId xmlns:a16="http://schemas.microsoft.com/office/drawing/2014/main" id="{6C89BEE8-F453-4B6E-8C73-4EDED97D8B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1993"/>
              <a:ext cx="493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2025" name="Text Box 43">
              <a:extLst>
                <a:ext uri="{FF2B5EF4-FFF2-40B4-BE49-F238E27FC236}">
                  <a16:creationId xmlns:a16="http://schemas.microsoft.com/office/drawing/2014/main" id="{E317EF0E-C3F7-4B85-9255-953D9CCDB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" y="229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2026" name="Text Box 44">
              <a:extLst>
                <a:ext uri="{FF2B5EF4-FFF2-40B4-BE49-F238E27FC236}">
                  <a16:creationId xmlns:a16="http://schemas.microsoft.com/office/drawing/2014/main" id="{03070888-AB36-4BC9-BD89-C05B9D722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" y="1993"/>
              <a:ext cx="494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2027" name="Text Box 45">
              <a:extLst>
                <a:ext uri="{FF2B5EF4-FFF2-40B4-BE49-F238E27FC236}">
                  <a16:creationId xmlns:a16="http://schemas.microsoft.com/office/drawing/2014/main" id="{4FF4A071-2FB2-4BEE-BF25-705D2E87E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" y="2583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2028" name="Line 46">
              <a:extLst>
                <a:ext uri="{FF2B5EF4-FFF2-40B4-BE49-F238E27FC236}">
                  <a16:creationId xmlns:a16="http://schemas.microsoft.com/office/drawing/2014/main" id="{12849DD1-F58B-4828-B24D-3B997E86F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1993"/>
              <a:ext cx="1" cy="8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9" name="Line 47">
              <a:extLst>
                <a:ext uri="{FF2B5EF4-FFF2-40B4-BE49-F238E27FC236}">
                  <a16:creationId xmlns:a16="http://schemas.microsoft.com/office/drawing/2014/main" id="{492CEABA-5CC7-401C-A8A4-BEA6671CA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2558"/>
              <a:ext cx="16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0" name="Text Box 48">
              <a:extLst>
                <a:ext uri="{FF2B5EF4-FFF2-40B4-BE49-F238E27FC236}">
                  <a16:creationId xmlns:a16="http://schemas.microsoft.com/office/drawing/2014/main" id="{9DE5D0CD-4C7C-4AAA-9DA7-0844BE2EF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8" y="2296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10</a:t>
              </a:r>
            </a:p>
          </p:txBody>
        </p:sp>
        <p:sp>
          <p:nvSpPr>
            <p:cNvPr id="42031" name="Text Box 49">
              <a:extLst>
                <a:ext uri="{FF2B5EF4-FFF2-40B4-BE49-F238E27FC236}">
                  <a16:creationId xmlns:a16="http://schemas.microsoft.com/office/drawing/2014/main" id="{484FE186-C751-412D-ACB9-02F034AD6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" y="2614"/>
              <a:ext cx="3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3</a:t>
              </a:r>
            </a:p>
          </p:txBody>
        </p:sp>
        <p:sp>
          <p:nvSpPr>
            <p:cNvPr id="42032" name="Text Box 50">
              <a:extLst>
                <a:ext uri="{FF2B5EF4-FFF2-40B4-BE49-F238E27FC236}">
                  <a16:creationId xmlns:a16="http://schemas.microsoft.com/office/drawing/2014/main" id="{0C284747-79CE-4930-96EF-82AF182480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8" y="2614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11</a:t>
              </a:r>
            </a:p>
          </p:txBody>
        </p:sp>
        <p:sp>
          <p:nvSpPr>
            <p:cNvPr id="42033" name="Text Box 108">
              <a:extLst>
                <a:ext uri="{FF2B5EF4-FFF2-40B4-BE49-F238E27FC236}">
                  <a16:creationId xmlns:a16="http://schemas.microsoft.com/office/drawing/2014/main" id="{6420B746-E307-4BCF-9566-F44D618CA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2069"/>
              <a:ext cx="681" cy="27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A</a:t>
              </a:r>
              <a:endParaRPr lang="en-US" altLang="zh-CN"/>
            </a:p>
          </p:txBody>
        </p:sp>
      </p:grpSp>
      <p:grpSp>
        <p:nvGrpSpPr>
          <p:cNvPr id="6" name="Group 117">
            <a:extLst>
              <a:ext uri="{FF2B5EF4-FFF2-40B4-BE49-F238E27FC236}">
                <a16:creationId xmlns:a16="http://schemas.microsoft.com/office/drawing/2014/main" id="{AC08D3FB-C338-4AFB-B38D-2818A1B379DB}"/>
              </a:ext>
            </a:extLst>
          </p:cNvPr>
          <p:cNvGrpSpPr>
            <a:grpSpLocks/>
          </p:cNvGrpSpPr>
          <p:nvPr/>
        </p:nvGrpSpPr>
        <p:grpSpPr bwMode="auto">
          <a:xfrm>
            <a:off x="4624388" y="3051175"/>
            <a:ext cx="4048125" cy="1457325"/>
            <a:chOff x="2913" y="1922"/>
            <a:chExt cx="2550" cy="918"/>
          </a:xfrm>
        </p:grpSpPr>
        <p:sp>
          <p:nvSpPr>
            <p:cNvPr id="42002" name="Text Box 53">
              <a:extLst>
                <a:ext uri="{FF2B5EF4-FFF2-40B4-BE49-F238E27FC236}">
                  <a16:creationId xmlns:a16="http://schemas.microsoft.com/office/drawing/2014/main" id="{87550BBD-9E56-47E6-A71D-EC2E4512D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3" y="2063"/>
              <a:ext cx="4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预报</a:t>
              </a:r>
            </a:p>
          </p:txBody>
        </p:sp>
        <p:sp>
          <p:nvSpPr>
            <p:cNvPr id="42003" name="Text Box 54">
              <a:extLst>
                <a:ext uri="{FF2B5EF4-FFF2-40B4-BE49-F238E27FC236}">
                  <a16:creationId xmlns:a16="http://schemas.microsoft.com/office/drawing/2014/main" id="{2F9BDD1A-3B50-4839-B526-9ED7859C1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" y="1922"/>
              <a:ext cx="539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实测</a:t>
              </a:r>
            </a:p>
          </p:txBody>
        </p:sp>
        <p:sp>
          <p:nvSpPr>
            <p:cNvPr id="42004" name="Line 55">
              <a:extLst>
                <a:ext uri="{FF2B5EF4-FFF2-40B4-BE49-F238E27FC236}">
                  <a16:creationId xmlns:a16="http://schemas.microsoft.com/office/drawing/2014/main" id="{14EF15B6-5A70-43CA-A940-5985AC7DE9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2275"/>
              <a:ext cx="164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5" name="Line 56">
              <a:extLst>
                <a:ext uri="{FF2B5EF4-FFF2-40B4-BE49-F238E27FC236}">
                  <a16:creationId xmlns:a16="http://schemas.microsoft.com/office/drawing/2014/main" id="{08952BBC-DEB8-44B4-91CA-FB79D32A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90" y="1993"/>
              <a:ext cx="1" cy="8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6" name="Line 57">
              <a:extLst>
                <a:ext uri="{FF2B5EF4-FFF2-40B4-BE49-F238E27FC236}">
                  <a16:creationId xmlns:a16="http://schemas.microsoft.com/office/drawing/2014/main" id="{1BAF8C12-5188-42E8-855F-BA8824A60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0" y="1993"/>
              <a:ext cx="580" cy="2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7" name="Text Box 58">
              <a:extLst>
                <a:ext uri="{FF2B5EF4-FFF2-40B4-BE49-F238E27FC236}">
                  <a16:creationId xmlns:a16="http://schemas.microsoft.com/office/drawing/2014/main" id="{2C4FA578-CB2B-458B-A11B-23CA8AD6C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993"/>
              <a:ext cx="484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2008" name="Text Box 59">
              <a:extLst>
                <a:ext uri="{FF2B5EF4-FFF2-40B4-BE49-F238E27FC236}">
                  <a16:creationId xmlns:a16="http://schemas.microsoft.com/office/drawing/2014/main" id="{8C223846-A854-4D5C-8E99-89FE33B84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0" y="2296"/>
              <a:ext cx="4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2009" name="Text Box 60">
              <a:extLst>
                <a:ext uri="{FF2B5EF4-FFF2-40B4-BE49-F238E27FC236}">
                  <a16:creationId xmlns:a16="http://schemas.microsoft.com/office/drawing/2014/main" id="{3D0C4825-5A9C-4446-85D1-041CADD6D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4" y="1993"/>
              <a:ext cx="484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2010" name="Text Box 61">
              <a:extLst>
                <a:ext uri="{FF2B5EF4-FFF2-40B4-BE49-F238E27FC236}">
                  <a16:creationId xmlns:a16="http://schemas.microsoft.com/office/drawing/2014/main" id="{9846D0F3-D993-421A-BBAA-D4B8E7E99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0" y="2578"/>
              <a:ext cx="48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2011" name="Line 62">
              <a:extLst>
                <a:ext uri="{FF2B5EF4-FFF2-40B4-BE49-F238E27FC236}">
                  <a16:creationId xmlns:a16="http://schemas.microsoft.com/office/drawing/2014/main" id="{1CF1FB9A-E1E0-4B5B-84B0-4301C3084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4" y="1993"/>
              <a:ext cx="1" cy="8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2" name="Line 63">
              <a:extLst>
                <a:ext uri="{FF2B5EF4-FFF2-40B4-BE49-F238E27FC236}">
                  <a16:creationId xmlns:a16="http://schemas.microsoft.com/office/drawing/2014/main" id="{21CEE3DC-EA03-46E6-A43B-4064ED871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3" y="2558"/>
              <a:ext cx="16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3" name="Text Box 64">
              <a:extLst>
                <a:ext uri="{FF2B5EF4-FFF2-40B4-BE49-F238E27FC236}">
                  <a16:creationId xmlns:a16="http://schemas.microsoft.com/office/drawing/2014/main" id="{FC4BBFC6-589B-4A0C-804A-97F85A691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7" y="2296"/>
              <a:ext cx="3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0</a:t>
              </a:r>
            </a:p>
          </p:txBody>
        </p:sp>
        <p:sp>
          <p:nvSpPr>
            <p:cNvPr id="42014" name="Text Box 65">
              <a:extLst>
                <a:ext uri="{FF2B5EF4-FFF2-40B4-BE49-F238E27FC236}">
                  <a16:creationId xmlns:a16="http://schemas.microsoft.com/office/drawing/2014/main" id="{C42F95F8-F54D-421A-B4D2-691E504232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7" y="2578"/>
              <a:ext cx="3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9</a:t>
              </a:r>
            </a:p>
          </p:txBody>
        </p:sp>
        <p:sp>
          <p:nvSpPr>
            <p:cNvPr id="42015" name="Text Box 66">
              <a:extLst>
                <a:ext uri="{FF2B5EF4-FFF2-40B4-BE49-F238E27FC236}">
                  <a16:creationId xmlns:a16="http://schemas.microsoft.com/office/drawing/2014/main" id="{2C2CF5F3-C023-4278-B888-640845A84E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296"/>
              <a:ext cx="3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0</a:t>
              </a:r>
            </a:p>
          </p:txBody>
        </p:sp>
        <p:sp>
          <p:nvSpPr>
            <p:cNvPr id="42016" name="Text Box 67">
              <a:extLst>
                <a:ext uri="{FF2B5EF4-FFF2-40B4-BE49-F238E27FC236}">
                  <a16:creationId xmlns:a16="http://schemas.microsoft.com/office/drawing/2014/main" id="{9536BE45-2FFB-490C-8D60-5DFEF85DF3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" y="2578"/>
              <a:ext cx="3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22</a:t>
              </a:r>
            </a:p>
          </p:txBody>
        </p:sp>
        <p:sp>
          <p:nvSpPr>
            <p:cNvPr id="42017" name="Text Box 109">
              <a:extLst>
                <a:ext uri="{FF2B5EF4-FFF2-40B4-BE49-F238E27FC236}">
                  <a16:creationId xmlns:a16="http://schemas.microsoft.com/office/drawing/2014/main" id="{4BA63A64-01F4-43AF-8E64-30FA1A4EC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2069"/>
              <a:ext cx="678" cy="27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B</a:t>
              </a:r>
              <a:endParaRPr lang="en-US" altLang="zh-CN"/>
            </a:p>
          </p:txBody>
        </p:sp>
      </p:grpSp>
      <p:grpSp>
        <p:nvGrpSpPr>
          <p:cNvPr id="7" name="Group 124">
            <a:extLst>
              <a:ext uri="{FF2B5EF4-FFF2-40B4-BE49-F238E27FC236}">
                <a16:creationId xmlns:a16="http://schemas.microsoft.com/office/drawing/2014/main" id="{A9AA57E5-7E9D-4DA4-BF01-A0F53FD8AE4E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125538"/>
            <a:ext cx="5113337" cy="1042987"/>
            <a:chOff x="295" y="709"/>
            <a:chExt cx="3221" cy="657"/>
          </a:xfrm>
        </p:grpSpPr>
        <p:sp>
          <p:nvSpPr>
            <p:cNvPr id="41999" name="Rectangle 29">
              <a:extLst>
                <a:ext uri="{FF2B5EF4-FFF2-40B4-BE49-F238E27FC236}">
                  <a16:creationId xmlns:a16="http://schemas.microsoft.com/office/drawing/2014/main" id="{584FE987-647A-4C16-B204-862D60E85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709"/>
              <a:ext cx="3221" cy="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 sz="2800" b="1"/>
                <a:t>明天有雨概率</a:t>
              </a:r>
              <a:r>
                <a:rPr lang="en-US" altLang="zh-CN" sz="2800" b="1">
                  <a:solidFill>
                    <a:srgbClr val="FF3300"/>
                  </a:solidFill>
                </a:rPr>
                <a:t>&gt;50%   </a:t>
              </a:r>
              <a:r>
                <a:rPr lang="zh-CN" altLang="en-US" sz="2800" b="1">
                  <a:solidFill>
                    <a:srgbClr val="FF3300"/>
                  </a:solidFill>
                </a:rPr>
                <a:t>预报有雨</a:t>
              </a:r>
            </a:p>
            <a:p>
              <a:pPr eaLnBrk="1" hangingPunct="1">
                <a:spcBef>
                  <a:spcPct val="20000"/>
                </a:spcBef>
              </a:pPr>
              <a:r>
                <a:rPr lang="zh-CN" altLang="en-US" sz="2800" b="1"/>
                <a:t>明天有雨概率</a:t>
              </a:r>
              <a:r>
                <a:rPr lang="en-US" altLang="zh-CN" sz="2800" b="1">
                  <a:solidFill>
                    <a:srgbClr val="FF3300"/>
                  </a:solidFill>
                </a:rPr>
                <a:t>&lt;50%   </a:t>
              </a:r>
              <a:r>
                <a:rPr lang="zh-CN" altLang="en-US" sz="2800" b="1">
                  <a:solidFill>
                    <a:srgbClr val="FF3300"/>
                  </a:solidFill>
                </a:rPr>
                <a:t>预报无雨</a:t>
              </a:r>
              <a:r>
                <a:rPr lang="zh-CN" altLang="en-US" sz="2800" b="1"/>
                <a:t> </a:t>
              </a:r>
            </a:p>
          </p:txBody>
        </p:sp>
        <p:sp>
          <p:nvSpPr>
            <p:cNvPr id="42000" name="AutoShape 113">
              <a:extLst>
                <a:ext uri="{FF2B5EF4-FFF2-40B4-BE49-F238E27FC236}">
                  <a16:creationId xmlns:a16="http://schemas.microsoft.com/office/drawing/2014/main" id="{DB73A67C-4151-45C6-A3DE-BDF026695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709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01" name="AutoShape 114">
              <a:extLst>
                <a:ext uri="{FF2B5EF4-FFF2-40B4-BE49-F238E27FC236}">
                  <a16:creationId xmlns:a16="http://schemas.microsoft.com/office/drawing/2014/main" id="{477C347C-C4B4-4D00-A7F0-1079E1DB8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1060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1911" name="Text Box 119">
            <a:extLst>
              <a:ext uri="{FF2B5EF4-FFF2-40B4-BE49-F238E27FC236}">
                <a16:creationId xmlns:a16="http://schemas.microsoft.com/office/drawing/2014/main" id="{D99B37AA-220D-436C-A051-B7B629C5D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716338"/>
            <a:ext cx="1368425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正确率</a:t>
            </a:r>
          </a:p>
          <a:p>
            <a:pPr algn="ctr" eaLnBrk="1" hangingPunct="1">
              <a:spcBef>
                <a:spcPct val="5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0.57</a:t>
            </a:r>
          </a:p>
        </p:txBody>
      </p:sp>
      <p:sp>
        <p:nvSpPr>
          <p:cNvPr id="161912" name="Text Box 120">
            <a:extLst>
              <a:ext uri="{FF2B5EF4-FFF2-40B4-BE49-F238E27FC236}">
                <a16:creationId xmlns:a16="http://schemas.microsoft.com/office/drawing/2014/main" id="{FBA15158-2241-417C-A1B7-C4C145D82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716338"/>
            <a:ext cx="1368425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正确率</a:t>
            </a:r>
          </a:p>
          <a:p>
            <a:pPr algn="ctr" eaLnBrk="1" hangingPunct="1">
              <a:spcBef>
                <a:spcPct val="5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0.71</a:t>
            </a:r>
          </a:p>
        </p:txBody>
      </p:sp>
      <p:sp>
        <p:nvSpPr>
          <p:cNvPr id="161913" name="Text Box 121">
            <a:extLst>
              <a:ext uri="{FF2B5EF4-FFF2-40B4-BE49-F238E27FC236}">
                <a16:creationId xmlns:a16="http://schemas.microsoft.com/office/drawing/2014/main" id="{44CB3B76-5907-461E-AA8C-AD3B286D1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373688"/>
            <a:ext cx="1368425" cy="96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正确率</a:t>
            </a:r>
          </a:p>
          <a:p>
            <a:pPr algn="ctr" eaLnBrk="1" hangingPunct="1">
              <a:spcBef>
                <a:spcPct val="5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0.81</a:t>
            </a:r>
          </a:p>
        </p:txBody>
      </p:sp>
      <p:sp>
        <p:nvSpPr>
          <p:cNvPr id="161914" name="Text Box 122">
            <a:extLst>
              <a:ext uri="{FF2B5EF4-FFF2-40B4-BE49-F238E27FC236}">
                <a16:creationId xmlns:a16="http://schemas.microsoft.com/office/drawing/2014/main" id="{81509E1D-8E74-4063-A1BA-CF2A4047E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5445125"/>
            <a:ext cx="1368425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"/>
              </a:spcBef>
            </a:pPr>
            <a:r>
              <a:rPr lang="zh-CN" altLang="en-US" sz="2800" b="1">
                <a:solidFill>
                  <a:srgbClr val="FF3300"/>
                </a:solidFill>
              </a:rPr>
              <a:t>正确率</a:t>
            </a:r>
          </a:p>
          <a:p>
            <a:pPr algn="ctr" eaLnBrk="1" hangingPunct="1">
              <a:spcBef>
                <a:spcPct val="5000"/>
              </a:spcBef>
            </a:pPr>
            <a:r>
              <a:rPr lang="en-US" altLang="zh-CN" sz="2800" b="1">
                <a:solidFill>
                  <a:srgbClr val="FF3300"/>
                </a:solidFill>
              </a:rPr>
              <a:t>0.93</a:t>
            </a:r>
          </a:p>
        </p:txBody>
      </p:sp>
      <p:sp>
        <p:nvSpPr>
          <p:cNvPr id="161915" name="Text Box 123">
            <a:extLst>
              <a:ext uri="{FF2B5EF4-FFF2-40B4-BE49-F238E27FC236}">
                <a16:creationId xmlns:a16="http://schemas.microsoft.com/office/drawing/2014/main" id="{555ABF03-2631-463F-8314-7C0CF6EE6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4863" y="3027363"/>
            <a:ext cx="61118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 b="1">
                <a:solidFill>
                  <a:srgbClr val="FF3300"/>
                </a:solidFill>
                <a:latin typeface="宋体" panose="02010600030101010101" pitchFamily="2" charset="-122"/>
              </a:rPr>
              <a:t>ⅹ</a:t>
            </a:r>
          </a:p>
        </p:txBody>
      </p:sp>
      <p:sp>
        <p:nvSpPr>
          <p:cNvPr id="161917" name="Text Box 125">
            <a:extLst>
              <a:ext uri="{FF2B5EF4-FFF2-40B4-BE49-F238E27FC236}">
                <a16:creationId xmlns:a16="http://schemas.microsoft.com/office/drawing/2014/main" id="{DF44953B-69BC-40B5-BD26-D5AC70E16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350" y="4797425"/>
            <a:ext cx="7191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 b="1">
                <a:solidFill>
                  <a:srgbClr val="3333FF"/>
                </a:solidFill>
                <a:cs typeface="Times New Roman" panose="02020603050405020304" pitchFamily="18" charset="0"/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8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1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1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1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1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1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1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1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 tmFilter="0,0; .5, 1; 1, 1"/>
                                        <p:tgtEl>
                                          <p:spTgt spid="16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1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1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1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1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 tmFilter="0,0; .5, 1; 1, 1"/>
                                        <p:tgtEl>
                                          <p:spTgt spid="161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23" grpId="0" animBg="1"/>
      <p:bldP spid="161911" grpId="0"/>
      <p:bldP spid="161912" grpId="0"/>
      <p:bldP spid="161913" grpId="0"/>
      <p:bldP spid="161914" grpId="0"/>
      <p:bldP spid="161915" grpId="0"/>
      <p:bldP spid="16191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4">
            <a:extLst>
              <a:ext uri="{FF2B5EF4-FFF2-40B4-BE49-F238E27FC236}">
                <a16:creationId xmlns:a16="http://schemas.microsoft.com/office/drawing/2014/main" id="{2A2F4859-ADEA-4B4A-BD4F-DD3FF23EE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4813"/>
            <a:ext cx="1944687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计数模型</a:t>
            </a:r>
          </a:p>
        </p:txBody>
      </p:sp>
      <p:sp>
        <p:nvSpPr>
          <p:cNvPr id="162821" name="Rectangle 5">
            <a:extLst>
              <a:ext uri="{FF2B5EF4-FFF2-40B4-BE49-F238E27FC236}">
                <a16:creationId xmlns:a16="http://schemas.microsoft.com/office/drawing/2014/main" id="{F8E75E51-060E-4BBD-905A-B3C3A47EA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76250"/>
            <a:ext cx="561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从实用角度看，更重要的是</a:t>
            </a:r>
            <a:r>
              <a:rPr lang="zh-CN" altLang="en-US" sz="2800" b="1">
                <a:solidFill>
                  <a:srgbClr val="FF3300"/>
                </a:solidFill>
              </a:rPr>
              <a:t>误报率</a:t>
            </a:r>
            <a:r>
              <a:rPr lang="en-US" altLang="zh-CN" sz="2800" b="1">
                <a:solidFill>
                  <a:srgbClr val="FF3300"/>
                </a:solidFill>
              </a:rPr>
              <a:t>.</a:t>
            </a:r>
            <a:r>
              <a:rPr lang="en-US" altLang="zh-CN" sz="2800" b="1"/>
              <a:t>  </a:t>
            </a:r>
          </a:p>
        </p:txBody>
      </p:sp>
      <p:sp>
        <p:nvSpPr>
          <p:cNvPr id="162822" name="Rectangle 6">
            <a:extLst>
              <a:ext uri="{FF2B5EF4-FFF2-40B4-BE49-F238E27FC236}">
                <a16:creationId xmlns:a16="http://schemas.microsoft.com/office/drawing/2014/main" id="{9133FC7B-F935-425F-A51E-4FA4E8FEE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700213"/>
            <a:ext cx="4897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预报无雨</a:t>
            </a:r>
            <a:r>
              <a:rPr lang="zh-CN" altLang="en-US" sz="2800" b="1"/>
              <a:t>而</a:t>
            </a:r>
            <a:r>
              <a:rPr lang="zh-CN" altLang="en-US" sz="2800" b="1">
                <a:solidFill>
                  <a:srgbClr val="FF3300"/>
                </a:solidFill>
              </a:rPr>
              <a:t>实测有雨</a:t>
            </a:r>
            <a:r>
              <a:rPr lang="zh-CN" altLang="en-US" sz="2800" b="1"/>
              <a:t>的概率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</a:t>
            </a:r>
          </a:p>
        </p:txBody>
      </p:sp>
      <p:sp>
        <p:nvSpPr>
          <p:cNvPr id="162823" name="Rectangle 7">
            <a:extLst>
              <a:ext uri="{FF2B5EF4-FFF2-40B4-BE49-F238E27FC236}">
                <a16:creationId xmlns:a16="http://schemas.microsoft.com/office/drawing/2014/main" id="{55FA3BBF-B5A6-4562-8349-1D753408A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052513"/>
            <a:ext cx="4968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预报有雨</a:t>
            </a:r>
            <a:r>
              <a:rPr lang="zh-CN" altLang="en-US" sz="2800" b="1"/>
              <a:t>而</a:t>
            </a:r>
            <a:r>
              <a:rPr lang="zh-CN" altLang="en-US" sz="2800" b="1">
                <a:solidFill>
                  <a:srgbClr val="FF3300"/>
                </a:solidFill>
              </a:rPr>
              <a:t>实测无雨</a:t>
            </a:r>
            <a:r>
              <a:rPr lang="zh-CN" altLang="en-US" sz="2800" b="1"/>
              <a:t>的概率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</a:t>
            </a:r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A434AA51-D79B-4BA5-BAB2-8AC6BA0005EC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4581525"/>
            <a:ext cx="8278812" cy="1411288"/>
            <a:chOff x="203" y="3021"/>
            <a:chExt cx="5215" cy="889"/>
          </a:xfrm>
        </p:grpSpPr>
        <p:sp>
          <p:nvSpPr>
            <p:cNvPr id="43051" name="Text Box 11">
              <a:extLst>
                <a:ext uri="{FF2B5EF4-FFF2-40B4-BE49-F238E27FC236}">
                  <a16:creationId xmlns:a16="http://schemas.microsoft.com/office/drawing/2014/main" id="{E42716D2-E276-452D-BAF4-8AA9C25A8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3113"/>
              <a:ext cx="681" cy="27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C</a:t>
              </a:r>
              <a:endParaRPr lang="en-US" altLang="zh-CN"/>
            </a:p>
          </p:txBody>
        </p:sp>
        <p:sp>
          <p:nvSpPr>
            <p:cNvPr id="43052" name="Text Box 12">
              <a:extLst>
                <a:ext uri="{FF2B5EF4-FFF2-40B4-BE49-F238E27FC236}">
                  <a16:creationId xmlns:a16="http://schemas.microsoft.com/office/drawing/2014/main" id="{50F4530E-0473-483D-9826-1053ECB59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" y="3651"/>
              <a:ext cx="3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2</a:t>
              </a:r>
            </a:p>
          </p:txBody>
        </p:sp>
        <p:sp>
          <p:nvSpPr>
            <p:cNvPr id="43053" name="Text Box 13">
              <a:extLst>
                <a:ext uri="{FF2B5EF4-FFF2-40B4-BE49-F238E27FC236}">
                  <a16:creationId xmlns:a16="http://schemas.microsoft.com/office/drawing/2014/main" id="{BC8CB1B7-020A-4308-9D4E-0892A996E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8" y="3651"/>
              <a:ext cx="3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17</a:t>
              </a:r>
            </a:p>
          </p:txBody>
        </p:sp>
        <p:sp>
          <p:nvSpPr>
            <p:cNvPr id="43054" name="Text Box 14">
              <a:extLst>
                <a:ext uri="{FF2B5EF4-FFF2-40B4-BE49-F238E27FC236}">
                  <a16:creationId xmlns:a16="http://schemas.microsoft.com/office/drawing/2014/main" id="{54DCA4DC-DB49-4DCC-B08C-6940C47DB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" y="3411"/>
              <a:ext cx="395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5</a:t>
              </a:r>
            </a:p>
          </p:txBody>
        </p:sp>
        <p:sp>
          <p:nvSpPr>
            <p:cNvPr id="43055" name="Text Box 15">
              <a:extLst>
                <a:ext uri="{FF2B5EF4-FFF2-40B4-BE49-F238E27FC236}">
                  <a16:creationId xmlns:a16="http://schemas.microsoft.com/office/drawing/2014/main" id="{437E5E47-117D-45A0-A550-50546DF0E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" y="3158"/>
              <a:ext cx="4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预报</a:t>
              </a:r>
            </a:p>
          </p:txBody>
        </p:sp>
        <p:sp>
          <p:nvSpPr>
            <p:cNvPr id="43056" name="Text Box 16">
              <a:extLst>
                <a:ext uri="{FF2B5EF4-FFF2-40B4-BE49-F238E27FC236}">
                  <a16:creationId xmlns:a16="http://schemas.microsoft.com/office/drawing/2014/main" id="{3BA520EF-C43C-4158-BD29-46661A2B4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3021"/>
              <a:ext cx="52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实测</a:t>
              </a:r>
            </a:p>
          </p:txBody>
        </p:sp>
        <p:sp>
          <p:nvSpPr>
            <p:cNvPr id="43057" name="Line 17">
              <a:extLst>
                <a:ext uri="{FF2B5EF4-FFF2-40B4-BE49-F238E27FC236}">
                  <a16:creationId xmlns:a16="http://schemas.microsoft.com/office/drawing/2014/main" id="{4728EAF4-D5D7-45A6-A5A0-F7BA602AF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3391"/>
              <a:ext cx="1680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Line 18">
              <a:extLst>
                <a:ext uri="{FF2B5EF4-FFF2-40B4-BE49-F238E27FC236}">
                  <a16:creationId xmlns:a16="http://schemas.microsoft.com/office/drawing/2014/main" id="{F16696C5-499C-4474-905A-DA88806F4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2" y="3132"/>
              <a:ext cx="1" cy="7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9" name="Line 19">
              <a:extLst>
                <a:ext uri="{FF2B5EF4-FFF2-40B4-BE49-F238E27FC236}">
                  <a16:creationId xmlns:a16="http://schemas.microsoft.com/office/drawing/2014/main" id="{802AF98C-219F-4249-8811-82A82D1A1C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9" y="3132"/>
              <a:ext cx="593" cy="2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0" name="Text Box 20">
              <a:extLst>
                <a:ext uri="{FF2B5EF4-FFF2-40B4-BE49-F238E27FC236}">
                  <a16:creationId xmlns:a16="http://schemas.microsoft.com/office/drawing/2014/main" id="{039E08E8-A7BF-427A-8747-F77C5A06B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" y="3132"/>
              <a:ext cx="4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3061" name="Text Box 21">
              <a:extLst>
                <a:ext uri="{FF2B5EF4-FFF2-40B4-BE49-F238E27FC236}">
                  <a16:creationId xmlns:a16="http://schemas.microsoft.com/office/drawing/2014/main" id="{23BB7218-0302-4AED-A09D-14034FB81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9" y="3411"/>
              <a:ext cx="49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3062" name="Text Box 22">
              <a:extLst>
                <a:ext uri="{FF2B5EF4-FFF2-40B4-BE49-F238E27FC236}">
                  <a16:creationId xmlns:a16="http://schemas.microsoft.com/office/drawing/2014/main" id="{EECF013D-C952-4161-8046-5D3E4CF0E0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6" y="3132"/>
              <a:ext cx="49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3063" name="Text Box 23">
              <a:extLst>
                <a:ext uri="{FF2B5EF4-FFF2-40B4-BE49-F238E27FC236}">
                  <a16:creationId xmlns:a16="http://schemas.microsoft.com/office/drawing/2014/main" id="{341BFD58-AF9E-4040-8098-9250B3073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9" y="3643"/>
              <a:ext cx="494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3064" name="Line 24">
              <a:extLst>
                <a:ext uri="{FF2B5EF4-FFF2-40B4-BE49-F238E27FC236}">
                  <a16:creationId xmlns:a16="http://schemas.microsoft.com/office/drawing/2014/main" id="{C59783B7-B53B-4CE7-99EB-52308CFEF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6" y="3132"/>
              <a:ext cx="1" cy="7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5" name="Line 25">
              <a:extLst>
                <a:ext uri="{FF2B5EF4-FFF2-40B4-BE49-F238E27FC236}">
                  <a16:creationId xmlns:a16="http://schemas.microsoft.com/office/drawing/2014/main" id="{E87340E1-230B-4725-8E56-6B49F59F5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" y="3651"/>
              <a:ext cx="168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6" name="Text Box 26">
              <a:extLst>
                <a:ext uri="{FF2B5EF4-FFF2-40B4-BE49-F238E27FC236}">
                  <a16:creationId xmlns:a16="http://schemas.microsoft.com/office/drawing/2014/main" id="{A38E15C0-9D00-40F1-92A9-0F226C264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0" y="3418"/>
              <a:ext cx="39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3</a:t>
              </a:r>
            </a:p>
          </p:txBody>
        </p:sp>
        <p:sp>
          <p:nvSpPr>
            <p:cNvPr id="43067" name="Text Box 27">
              <a:extLst>
                <a:ext uri="{FF2B5EF4-FFF2-40B4-BE49-F238E27FC236}">
                  <a16:creationId xmlns:a16="http://schemas.microsoft.com/office/drawing/2014/main" id="{9BFB8B4C-6AE9-4892-B68D-1294E21E3C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3158"/>
              <a:ext cx="678" cy="27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D</a:t>
              </a:r>
              <a:endParaRPr lang="en-US" altLang="zh-CN"/>
            </a:p>
          </p:txBody>
        </p:sp>
        <p:grpSp>
          <p:nvGrpSpPr>
            <p:cNvPr id="43068" name="Group 28">
              <a:extLst>
                <a:ext uri="{FF2B5EF4-FFF2-40B4-BE49-F238E27FC236}">
                  <a16:creationId xmlns:a16="http://schemas.microsoft.com/office/drawing/2014/main" id="{B4DB9463-6553-4D8E-8F7B-197334FF8B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3" y="3385"/>
              <a:ext cx="394" cy="454"/>
              <a:chOff x="7920" y="9318"/>
              <a:chExt cx="720" cy="1092"/>
            </a:xfrm>
          </p:grpSpPr>
          <p:sp>
            <p:nvSpPr>
              <p:cNvPr id="43083" name="Text Box 29">
                <a:extLst>
                  <a:ext uri="{FF2B5EF4-FFF2-40B4-BE49-F238E27FC236}">
                    <a16:creationId xmlns:a16="http://schemas.microsoft.com/office/drawing/2014/main" id="{A6C57561-3EC0-440E-AA28-3AEE354BBA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20" y="9942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2</a:t>
                </a:r>
              </a:p>
            </p:txBody>
          </p:sp>
          <p:sp>
            <p:nvSpPr>
              <p:cNvPr id="43084" name="Text Box 30">
                <a:extLst>
                  <a:ext uri="{FF2B5EF4-FFF2-40B4-BE49-F238E27FC236}">
                    <a16:creationId xmlns:a16="http://schemas.microsoft.com/office/drawing/2014/main" id="{A2BA771A-DB94-4AC1-A679-B519F084BD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20" y="9318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6</a:t>
                </a:r>
              </a:p>
            </p:txBody>
          </p:sp>
        </p:grpSp>
        <p:sp>
          <p:nvSpPr>
            <p:cNvPr id="43069" name="Text Box 31">
              <a:extLst>
                <a:ext uri="{FF2B5EF4-FFF2-40B4-BE49-F238E27FC236}">
                  <a16:creationId xmlns:a16="http://schemas.microsoft.com/office/drawing/2014/main" id="{B37ECBC3-352D-4D42-B6FB-58CDFD973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7" y="3158"/>
              <a:ext cx="4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预报</a:t>
              </a:r>
            </a:p>
          </p:txBody>
        </p:sp>
        <p:sp>
          <p:nvSpPr>
            <p:cNvPr id="43070" name="Text Box 32">
              <a:extLst>
                <a:ext uri="{FF2B5EF4-FFF2-40B4-BE49-F238E27FC236}">
                  <a16:creationId xmlns:a16="http://schemas.microsoft.com/office/drawing/2014/main" id="{F1FE1D45-E9A5-4281-94ED-E7F77179C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82" y="3067"/>
              <a:ext cx="51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实测</a:t>
              </a:r>
            </a:p>
          </p:txBody>
        </p:sp>
        <p:sp>
          <p:nvSpPr>
            <p:cNvPr id="43071" name="Line 33">
              <a:extLst>
                <a:ext uri="{FF2B5EF4-FFF2-40B4-BE49-F238E27FC236}">
                  <a16:creationId xmlns:a16="http://schemas.microsoft.com/office/drawing/2014/main" id="{316178A6-C2CA-45EB-AEC2-C80A50FDD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3391"/>
              <a:ext cx="1671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72" name="Line 34">
              <a:extLst>
                <a:ext uri="{FF2B5EF4-FFF2-40B4-BE49-F238E27FC236}">
                  <a16:creationId xmlns:a16="http://schemas.microsoft.com/office/drawing/2014/main" id="{9BBB2FFF-3C92-4D4E-83D2-17AC51DA9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5" y="3132"/>
              <a:ext cx="1" cy="77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73" name="Line 35">
              <a:extLst>
                <a:ext uri="{FF2B5EF4-FFF2-40B4-BE49-F238E27FC236}">
                  <a16:creationId xmlns:a16="http://schemas.microsoft.com/office/drawing/2014/main" id="{932F8822-927F-4494-92D1-24ABE1294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86" y="3132"/>
              <a:ext cx="589" cy="25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74" name="Text Box 36">
              <a:extLst>
                <a:ext uri="{FF2B5EF4-FFF2-40B4-BE49-F238E27FC236}">
                  <a16:creationId xmlns:a16="http://schemas.microsoft.com/office/drawing/2014/main" id="{C76832DA-EB03-4956-9858-3AB2AAE4C3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3132"/>
              <a:ext cx="492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3075" name="Text Box 37">
              <a:extLst>
                <a:ext uri="{FF2B5EF4-FFF2-40B4-BE49-F238E27FC236}">
                  <a16:creationId xmlns:a16="http://schemas.microsoft.com/office/drawing/2014/main" id="{912D506A-1BFB-433C-9BFB-02033DBB1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385"/>
              <a:ext cx="49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3076" name="Text Box 38">
              <a:extLst>
                <a:ext uri="{FF2B5EF4-FFF2-40B4-BE49-F238E27FC236}">
                  <a16:creationId xmlns:a16="http://schemas.microsoft.com/office/drawing/2014/main" id="{E07C0E1A-0275-4E38-A3FD-93C659D51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3132"/>
              <a:ext cx="49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3077" name="Text Box 39">
              <a:extLst>
                <a:ext uri="{FF2B5EF4-FFF2-40B4-BE49-F238E27FC236}">
                  <a16:creationId xmlns:a16="http://schemas.microsoft.com/office/drawing/2014/main" id="{8FAD2908-C4AF-4E42-BA26-9A5F831E5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5" y="3657"/>
              <a:ext cx="492" cy="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3078" name="Line 40">
              <a:extLst>
                <a:ext uri="{FF2B5EF4-FFF2-40B4-BE49-F238E27FC236}">
                  <a16:creationId xmlns:a16="http://schemas.microsoft.com/office/drawing/2014/main" id="{FAE324AA-6A67-4EC5-B67E-2F5878EE91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" y="3132"/>
              <a:ext cx="0" cy="7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79" name="Line 41">
              <a:extLst>
                <a:ext uri="{FF2B5EF4-FFF2-40B4-BE49-F238E27FC236}">
                  <a16:creationId xmlns:a16="http://schemas.microsoft.com/office/drawing/2014/main" id="{C52C5ECB-9EDD-4158-B445-7D3DC6A3A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7" y="3651"/>
              <a:ext cx="16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3080" name="Group 42">
              <a:extLst>
                <a:ext uri="{FF2B5EF4-FFF2-40B4-BE49-F238E27FC236}">
                  <a16:creationId xmlns:a16="http://schemas.microsoft.com/office/drawing/2014/main" id="{086218CA-101D-4AC7-B02A-F4D4ABD98B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9" y="3385"/>
              <a:ext cx="393" cy="454"/>
              <a:chOff x="8760" y="9942"/>
              <a:chExt cx="720" cy="1092"/>
            </a:xfrm>
          </p:grpSpPr>
          <p:sp>
            <p:nvSpPr>
              <p:cNvPr id="43081" name="Text Box 43">
                <a:extLst>
                  <a:ext uri="{FF2B5EF4-FFF2-40B4-BE49-F238E27FC236}">
                    <a16:creationId xmlns:a16="http://schemas.microsoft.com/office/drawing/2014/main" id="{698DD076-76CB-4B84-9E4B-24D245E1F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60" y="9942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 0</a:t>
                </a:r>
              </a:p>
            </p:txBody>
          </p:sp>
          <p:sp>
            <p:nvSpPr>
              <p:cNvPr id="43082" name="Text Box 44">
                <a:extLst>
                  <a:ext uri="{FF2B5EF4-FFF2-40B4-BE49-F238E27FC236}">
                    <a16:creationId xmlns:a16="http://schemas.microsoft.com/office/drawing/2014/main" id="{29E2320C-A5A6-4FBF-97D9-5EC2371BCB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60" y="10566"/>
                <a:ext cx="72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r>
                  <a:rPr lang="en-US" altLang="zh-CN" sz="2000" b="1"/>
                  <a:t>21</a:t>
                </a:r>
              </a:p>
            </p:txBody>
          </p:sp>
        </p:grpSp>
      </p:grpSp>
      <p:grpSp>
        <p:nvGrpSpPr>
          <p:cNvPr id="5" name="Group 45">
            <a:extLst>
              <a:ext uri="{FF2B5EF4-FFF2-40B4-BE49-F238E27FC236}">
                <a16:creationId xmlns:a16="http://schemas.microsoft.com/office/drawing/2014/main" id="{277BBA97-BC51-4C28-91DB-7CC6FB3902A4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2997200"/>
            <a:ext cx="3889375" cy="1457325"/>
            <a:chOff x="203" y="1922"/>
            <a:chExt cx="2450" cy="918"/>
          </a:xfrm>
        </p:grpSpPr>
        <p:sp>
          <p:nvSpPr>
            <p:cNvPr id="43035" name="Text Box 46">
              <a:extLst>
                <a:ext uri="{FF2B5EF4-FFF2-40B4-BE49-F238E27FC236}">
                  <a16:creationId xmlns:a16="http://schemas.microsoft.com/office/drawing/2014/main" id="{8E453733-370C-4A6D-8601-8EE236358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" y="2296"/>
              <a:ext cx="3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6</a:t>
              </a:r>
            </a:p>
          </p:txBody>
        </p:sp>
        <p:sp>
          <p:nvSpPr>
            <p:cNvPr id="43036" name="Text Box 47">
              <a:extLst>
                <a:ext uri="{FF2B5EF4-FFF2-40B4-BE49-F238E27FC236}">
                  <a16:creationId xmlns:a16="http://schemas.microsoft.com/office/drawing/2014/main" id="{705FC0D3-4EA7-4551-B4F4-8F748E677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063"/>
              <a:ext cx="4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预报</a:t>
              </a:r>
            </a:p>
          </p:txBody>
        </p:sp>
        <p:sp>
          <p:nvSpPr>
            <p:cNvPr id="43037" name="Text Box 48">
              <a:extLst>
                <a:ext uri="{FF2B5EF4-FFF2-40B4-BE49-F238E27FC236}">
                  <a16:creationId xmlns:a16="http://schemas.microsoft.com/office/drawing/2014/main" id="{DC6CC275-0921-4F3A-A83F-B175763842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71" y="1922"/>
              <a:ext cx="566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实测</a:t>
              </a:r>
            </a:p>
          </p:txBody>
        </p:sp>
        <p:sp>
          <p:nvSpPr>
            <p:cNvPr id="43038" name="Line 49">
              <a:extLst>
                <a:ext uri="{FF2B5EF4-FFF2-40B4-BE49-F238E27FC236}">
                  <a16:creationId xmlns:a16="http://schemas.microsoft.com/office/drawing/2014/main" id="{4121F946-B06F-4DC1-AD2B-24C3056D5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2275"/>
              <a:ext cx="167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39" name="Line 50">
              <a:extLst>
                <a:ext uri="{FF2B5EF4-FFF2-40B4-BE49-F238E27FC236}">
                  <a16:creationId xmlns:a16="http://schemas.microsoft.com/office/drawing/2014/main" id="{F2D759F1-1444-49DD-957C-5F5A2CB76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1993"/>
              <a:ext cx="0" cy="84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0" name="Line 51">
              <a:extLst>
                <a:ext uri="{FF2B5EF4-FFF2-40B4-BE49-F238E27FC236}">
                  <a16:creationId xmlns:a16="http://schemas.microsoft.com/office/drawing/2014/main" id="{6DD7E017-F318-4850-B1A5-E6148E46B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4" y="1993"/>
              <a:ext cx="592" cy="2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1" name="Text Box 52">
              <a:extLst>
                <a:ext uri="{FF2B5EF4-FFF2-40B4-BE49-F238E27FC236}">
                  <a16:creationId xmlns:a16="http://schemas.microsoft.com/office/drawing/2014/main" id="{617DBD4D-B042-4538-8FD6-6CB52E5FD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1" y="1993"/>
              <a:ext cx="493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3042" name="Text Box 53">
              <a:extLst>
                <a:ext uri="{FF2B5EF4-FFF2-40B4-BE49-F238E27FC236}">
                  <a16:creationId xmlns:a16="http://schemas.microsoft.com/office/drawing/2014/main" id="{1B9345E7-9823-40B2-9CFF-3CE51C7D1D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" y="2296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有雨</a:t>
              </a:r>
            </a:p>
          </p:txBody>
        </p:sp>
        <p:sp>
          <p:nvSpPr>
            <p:cNvPr id="43043" name="Text Box 54">
              <a:extLst>
                <a:ext uri="{FF2B5EF4-FFF2-40B4-BE49-F238E27FC236}">
                  <a16:creationId xmlns:a16="http://schemas.microsoft.com/office/drawing/2014/main" id="{82585BB3-5F55-4CCD-84E6-0AE76B44D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" y="1993"/>
              <a:ext cx="494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3044" name="Text Box 55">
              <a:extLst>
                <a:ext uri="{FF2B5EF4-FFF2-40B4-BE49-F238E27FC236}">
                  <a16:creationId xmlns:a16="http://schemas.microsoft.com/office/drawing/2014/main" id="{CAAE5DE7-B88A-411C-82B3-18E0B39054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4" y="2583"/>
              <a:ext cx="49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2000" b="1"/>
                <a:t>无雨</a:t>
              </a:r>
            </a:p>
          </p:txBody>
        </p:sp>
        <p:sp>
          <p:nvSpPr>
            <p:cNvPr id="43045" name="Line 56">
              <a:extLst>
                <a:ext uri="{FF2B5EF4-FFF2-40B4-BE49-F238E27FC236}">
                  <a16:creationId xmlns:a16="http://schemas.microsoft.com/office/drawing/2014/main" id="{4BD0DB73-5811-4720-84F8-0D0254735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9" y="1993"/>
              <a:ext cx="1" cy="8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6" name="Line 57">
              <a:extLst>
                <a:ext uri="{FF2B5EF4-FFF2-40B4-BE49-F238E27FC236}">
                  <a16:creationId xmlns:a16="http://schemas.microsoft.com/office/drawing/2014/main" id="{8133BDD5-5077-431E-A4C8-51F7D1C03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2558"/>
              <a:ext cx="16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7" name="Text Box 58">
              <a:extLst>
                <a:ext uri="{FF2B5EF4-FFF2-40B4-BE49-F238E27FC236}">
                  <a16:creationId xmlns:a16="http://schemas.microsoft.com/office/drawing/2014/main" id="{D9DB2C78-1F49-4A58-B647-250473EE0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8" y="2296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10</a:t>
              </a:r>
            </a:p>
          </p:txBody>
        </p:sp>
        <p:sp>
          <p:nvSpPr>
            <p:cNvPr id="43048" name="Text Box 59">
              <a:extLst>
                <a:ext uri="{FF2B5EF4-FFF2-40B4-BE49-F238E27FC236}">
                  <a16:creationId xmlns:a16="http://schemas.microsoft.com/office/drawing/2014/main" id="{4A480E5F-2649-4E07-8900-ECB4E7D22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5" y="2614"/>
              <a:ext cx="3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3</a:t>
              </a:r>
            </a:p>
          </p:txBody>
        </p:sp>
        <p:sp>
          <p:nvSpPr>
            <p:cNvPr id="43049" name="Text Box 60">
              <a:extLst>
                <a:ext uri="{FF2B5EF4-FFF2-40B4-BE49-F238E27FC236}">
                  <a16:creationId xmlns:a16="http://schemas.microsoft.com/office/drawing/2014/main" id="{9AB30C35-4498-4954-B89B-E188B480E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8" y="2614"/>
              <a:ext cx="3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/>
                <a:t>11</a:t>
              </a:r>
            </a:p>
          </p:txBody>
        </p:sp>
        <p:sp>
          <p:nvSpPr>
            <p:cNvPr id="43050" name="Text Box 61">
              <a:extLst>
                <a:ext uri="{FF2B5EF4-FFF2-40B4-BE49-F238E27FC236}">
                  <a16:creationId xmlns:a16="http://schemas.microsoft.com/office/drawing/2014/main" id="{5649E9AB-8D50-4E37-911D-A580CDBCDE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" y="2069"/>
              <a:ext cx="681" cy="27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A</a:t>
              </a:r>
              <a:endParaRPr lang="en-US" altLang="zh-CN"/>
            </a:p>
          </p:txBody>
        </p:sp>
      </p:grpSp>
      <p:sp>
        <p:nvSpPr>
          <p:cNvPr id="162895" name="Rectangle 79">
            <a:extLst>
              <a:ext uri="{FF2B5EF4-FFF2-40B4-BE49-F238E27FC236}">
                <a16:creationId xmlns:a16="http://schemas.microsoft.com/office/drawing/2014/main" id="{D62AC0CE-936D-4DD9-84ED-FC176400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347913"/>
            <a:ext cx="4765675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设两种后果的损失之比为</a:t>
            </a:r>
            <a:r>
              <a:rPr lang="en-US" altLang="zh-CN" sz="2800" b="1"/>
              <a:t>1 : 2</a:t>
            </a:r>
          </a:p>
        </p:txBody>
      </p:sp>
      <p:sp>
        <p:nvSpPr>
          <p:cNvPr id="162898" name="Rectangle 82">
            <a:extLst>
              <a:ext uri="{FF2B5EF4-FFF2-40B4-BE49-F238E27FC236}">
                <a16:creationId xmlns:a16="http://schemas.microsoft.com/office/drawing/2014/main" id="{F0CA9657-D9C0-4372-8E22-814A7B7BB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230563"/>
            <a:ext cx="1584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=10/16</a:t>
            </a:r>
            <a:endParaRPr lang="en-US" altLang="zh-CN" sz="2800" b="1" baseline="-25000"/>
          </a:p>
        </p:txBody>
      </p:sp>
      <p:sp>
        <p:nvSpPr>
          <p:cNvPr id="162899" name="Rectangle 83">
            <a:extLst>
              <a:ext uri="{FF2B5EF4-FFF2-40B4-BE49-F238E27FC236}">
                <a16:creationId xmlns:a16="http://schemas.microsoft.com/office/drawing/2014/main" id="{4DF0367D-E169-4481-A645-B027D69D6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3230563"/>
            <a:ext cx="1441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=3/14</a:t>
            </a:r>
            <a:endParaRPr lang="en-US" altLang="zh-CN" sz="2800" b="1" baseline="-25000"/>
          </a:p>
        </p:txBody>
      </p:sp>
      <p:sp>
        <p:nvSpPr>
          <p:cNvPr id="162900" name="Rectangle 84">
            <a:extLst>
              <a:ext uri="{FF2B5EF4-FFF2-40B4-BE49-F238E27FC236}">
                <a16:creationId xmlns:a16="http://schemas.microsoft.com/office/drawing/2014/main" id="{164B2459-08F1-4580-BCA4-3FCE208A8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879850"/>
            <a:ext cx="4176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误报率</a:t>
            </a:r>
            <a:r>
              <a:rPr lang="en-US" altLang="zh-CN" sz="2800" b="1" i="1"/>
              <a:t>P</a:t>
            </a:r>
            <a:r>
              <a:rPr lang="en-US" altLang="zh-CN" sz="2800" b="1"/>
              <a:t>=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/3+2</a:t>
            </a:r>
            <a:r>
              <a:rPr lang="en-US" altLang="zh-CN" sz="2800" b="1" i="1"/>
              <a:t>P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/3=</a:t>
            </a:r>
            <a:r>
              <a:rPr lang="en-US" altLang="zh-CN" sz="2800" b="1">
                <a:solidFill>
                  <a:srgbClr val="FF3300"/>
                </a:solidFill>
              </a:rPr>
              <a:t>0.35</a:t>
            </a:r>
            <a:r>
              <a:rPr lang="en-US" altLang="zh-CN" sz="2800" b="1"/>
              <a:t> </a:t>
            </a:r>
          </a:p>
        </p:txBody>
      </p:sp>
      <p:sp>
        <p:nvSpPr>
          <p:cNvPr id="162901" name="Rectangle 85">
            <a:extLst>
              <a:ext uri="{FF2B5EF4-FFF2-40B4-BE49-F238E27FC236}">
                <a16:creationId xmlns:a16="http://schemas.microsoft.com/office/drawing/2014/main" id="{0E55EBB4-FDD5-403F-B669-4DDF7D6F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373688"/>
            <a:ext cx="1368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误报率</a:t>
            </a:r>
            <a:r>
              <a:rPr lang="en-US" altLang="zh-CN" sz="2800" b="1" i="1">
                <a:solidFill>
                  <a:srgbClr val="FF3300"/>
                </a:solidFill>
              </a:rPr>
              <a:t>P</a:t>
            </a:r>
            <a:r>
              <a:rPr lang="en-US" altLang="zh-CN" sz="2800" b="1">
                <a:solidFill>
                  <a:srgbClr val="FF3300"/>
                </a:solidFill>
              </a:rPr>
              <a:t>=0.20 </a:t>
            </a:r>
          </a:p>
        </p:txBody>
      </p:sp>
      <p:sp>
        <p:nvSpPr>
          <p:cNvPr id="162902" name="Rectangle 86">
            <a:extLst>
              <a:ext uri="{FF2B5EF4-FFF2-40B4-BE49-F238E27FC236}">
                <a16:creationId xmlns:a16="http://schemas.microsoft.com/office/drawing/2014/main" id="{F79D193B-C0A4-451F-8949-66F7531F9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5373688"/>
            <a:ext cx="13684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误报率</a:t>
            </a:r>
            <a:r>
              <a:rPr lang="en-US" altLang="zh-CN" sz="2800" b="1" i="1">
                <a:solidFill>
                  <a:srgbClr val="FF3300"/>
                </a:solidFill>
              </a:rPr>
              <a:t>P</a:t>
            </a:r>
            <a:r>
              <a:rPr lang="en-US" altLang="zh-CN" sz="2800" b="1">
                <a:solidFill>
                  <a:srgbClr val="FF3300"/>
                </a:solidFill>
              </a:rPr>
              <a:t>=0.06 </a:t>
            </a:r>
          </a:p>
        </p:txBody>
      </p:sp>
      <p:sp>
        <p:nvSpPr>
          <p:cNvPr id="162903" name="Text Box 87">
            <a:extLst>
              <a:ext uri="{FF2B5EF4-FFF2-40B4-BE49-F238E27FC236}">
                <a16:creationId xmlns:a16="http://schemas.microsoft.com/office/drawing/2014/main" id="{AAB84DD6-E844-48DB-8C4C-37EDE884D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8350" y="4581525"/>
            <a:ext cx="7191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 b="1">
                <a:solidFill>
                  <a:srgbClr val="3333FF"/>
                </a:solidFill>
                <a:cs typeface="Times New Roman" panose="02020603050405020304" pitchFamily="18" charset="0"/>
              </a:rPr>
              <a:t>√</a:t>
            </a:r>
          </a:p>
        </p:txBody>
      </p:sp>
      <p:grpSp>
        <p:nvGrpSpPr>
          <p:cNvPr id="6" name="Group 93">
            <a:extLst>
              <a:ext uri="{FF2B5EF4-FFF2-40B4-BE49-F238E27FC236}">
                <a16:creationId xmlns:a16="http://schemas.microsoft.com/office/drawing/2014/main" id="{4DC49FD7-DA13-4CCA-8EDE-2E3F74A87687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052513"/>
            <a:ext cx="3346450" cy="557212"/>
            <a:chOff x="3334" y="709"/>
            <a:chExt cx="2108" cy="351"/>
          </a:xfrm>
        </p:grpSpPr>
        <p:sp>
          <p:nvSpPr>
            <p:cNvPr id="43033" name="Rectangle 9">
              <a:extLst>
                <a:ext uri="{FF2B5EF4-FFF2-40B4-BE49-F238E27FC236}">
                  <a16:creationId xmlns:a16="http://schemas.microsoft.com/office/drawing/2014/main" id="{D11C6E55-09D5-46CE-AE3B-E38A8C9AB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0" y="709"/>
              <a:ext cx="19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造成预防费用浪费 </a:t>
              </a:r>
            </a:p>
          </p:txBody>
        </p:sp>
        <p:sp>
          <p:nvSpPr>
            <p:cNvPr id="43034" name="AutoShape 88">
              <a:extLst>
                <a:ext uri="{FF2B5EF4-FFF2-40B4-BE49-F238E27FC236}">
                  <a16:creationId xmlns:a16="http://schemas.microsoft.com/office/drawing/2014/main" id="{40DC0E7A-4532-40A4-A27E-112A45408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754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" name="Group 94">
            <a:extLst>
              <a:ext uri="{FF2B5EF4-FFF2-40B4-BE49-F238E27FC236}">
                <a16:creationId xmlns:a16="http://schemas.microsoft.com/office/drawing/2014/main" id="{1607C229-74F4-443E-BA63-FB8024DF31E6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1700213"/>
            <a:ext cx="3273425" cy="519112"/>
            <a:chOff x="3334" y="1117"/>
            <a:chExt cx="2062" cy="327"/>
          </a:xfrm>
        </p:grpSpPr>
        <p:sp>
          <p:nvSpPr>
            <p:cNvPr id="43031" name="Rectangle 8">
              <a:extLst>
                <a:ext uri="{FF2B5EF4-FFF2-40B4-BE49-F238E27FC236}">
                  <a16:creationId xmlns:a16="http://schemas.microsoft.com/office/drawing/2014/main" id="{5097F39E-C623-48B2-AB00-D26DB9903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117"/>
              <a:ext cx="19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预防不足导致损失 </a:t>
              </a:r>
            </a:p>
          </p:txBody>
        </p:sp>
        <p:sp>
          <p:nvSpPr>
            <p:cNvPr id="43032" name="AutoShape 89">
              <a:extLst>
                <a:ext uri="{FF2B5EF4-FFF2-40B4-BE49-F238E27FC236}">
                  <a16:creationId xmlns:a16="http://schemas.microsoft.com/office/drawing/2014/main" id="{6585B197-C519-4ECA-A986-72820B014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128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" name="Group 95">
            <a:extLst>
              <a:ext uri="{FF2B5EF4-FFF2-40B4-BE49-F238E27FC236}">
                <a16:creationId xmlns:a16="http://schemas.microsoft.com/office/drawing/2014/main" id="{3FB72300-047B-4412-98C8-C1B398289AE8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2347913"/>
            <a:ext cx="3600450" cy="519112"/>
            <a:chOff x="3334" y="1525"/>
            <a:chExt cx="2268" cy="327"/>
          </a:xfrm>
        </p:grpSpPr>
        <p:sp>
          <p:nvSpPr>
            <p:cNvPr id="43029" name="Rectangle 80">
              <a:extLst>
                <a:ext uri="{FF2B5EF4-FFF2-40B4-BE49-F238E27FC236}">
                  <a16:creationId xmlns:a16="http://schemas.microsoft.com/office/drawing/2014/main" id="{B297620D-9713-4779-84D5-4118B70FB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525"/>
              <a:ext cx="2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3300"/>
                  </a:solidFill>
                </a:rPr>
                <a:t>误报率</a:t>
              </a:r>
              <a:r>
                <a:rPr lang="en-US" altLang="zh-CN" sz="2800" b="1" i="1"/>
                <a:t>P</a:t>
              </a:r>
              <a:r>
                <a:rPr lang="en-US" altLang="zh-CN" sz="2800" b="1"/>
                <a:t>=</a:t>
              </a:r>
              <a:r>
                <a:rPr lang="en-US" altLang="zh-CN" sz="2800" b="1" i="1"/>
                <a:t>P</a:t>
              </a:r>
              <a:r>
                <a:rPr lang="en-US" altLang="zh-CN" sz="2800" b="1" baseline="-25000"/>
                <a:t>1</a:t>
              </a:r>
              <a:r>
                <a:rPr lang="en-US" altLang="zh-CN" sz="2800" b="1"/>
                <a:t>/3+2</a:t>
              </a:r>
              <a:r>
                <a:rPr lang="en-US" altLang="zh-CN" sz="2800" b="1" i="1"/>
                <a:t>P</a:t>
              </a:r>
              <a:r>
                <a:rPr lang="en-US" altLang="zh-CN" sz="2800" b="1" baseline="-25000"/>
                <a:t>2</a:t>
              </a:r>
              <a:r>
                <a:rPr lang="en-US" altLang="zh-CN" sz="2800" b="1"/>
                <a:t>/3 </a:t>
              </a:r>
            </a:p>
          </p:txBody>
        </p:sp>
        <p:sp>
          <p:nvSpPr>
            <p:cNvPr id="43030" name="AutoShape 90">
              <a:extLst>
                <a:ext uri="{FF2B5EF4-FFF2-40B4-BE49-F238E27FC236}">
                  <a16:creationId xmlns:a16="http://schemas.microsoft.com/office/drawing/2014/main" id="{5DF1DACD-BEAE-457C-88A1-5B0AB27C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536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2907" name="Oval 91">
            <a:extLst>
              <a:ext uri="{FF2B5EF4-FFF2-40B4-BE49-F238E27FC236}">
                <a16:creationId xmlns:a16="http://schemas.microsoft.com/office/drawing/2014/main" id="{CF09A55D-1A2A-42F8-B119-2207A35F2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589338"/>
            <a:ext cx="431800" cy="4333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2908" name="Oval 92">
            <a:extLst>
              <a:ext uri="{FF2B5EF4-FFF2-40B4-BE49-F238E27FC236}">
                <a16:creationId xmlns:a16="http://schemas.microsoft.com/office/drawing/2014/main" id="{9C4373F4-03CF-4A2A-BFFA-37C0EE5BA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95750"/>
            <a:ext cx="431800" cy="4333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2912" name="Rectangle 96">
            <a:extLst>
              <a:ext uri="{FF2B5EF4-FFF2-40B4-BE49-F238E27FC236}">
                <a16:creationId xmlns:a16="http://schemas.microsoft.com/office/drawing/2014/main" id="{5D5E0B76-8BF2-42CD-8B6F-FBD9604A9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6005513"/>
            <a:ext cx="5329237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缺点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未考虑预报概率的具体值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6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16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6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162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000" fill="hold"/>
                                        <p:tgtEl>
                                          <p:spTgt spid="162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1" grpId="0"/>
      <p:bldP spid="162822" grpId="0"/>
      <p:bldP spid="162823" grpId="0"/>
      <p:bldP spid="162895" grpId="0" animBg="1"/>
      <p:bldP spid="162898" grpId="0"/>
      <p:bldP spid="162899" grpId="0"/>
      <p:bldP spid="162900" grpId="0"/>
      <p:bldP spid="162901" grpId="0"/>
      <p:bldP spid="162902" grpId="0"/>
      <p:bldP spid="162903" grpId="0"/>
      <p:bldP spid="162907" grpId="0" animBg="1"/>
      <p:bldP spid="162908" grpId="0" animBg="1"/>
      <p:bldP spid="1629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>
            <a:extLst>
              <a:ext uri="{FF2B5EF4-FFF2-40B4-BE49-F238E27FC236}">
                <a16:creationId xmlns:a16="http://schemas.microsoft.com/office/drawing/2014/main" id="{4D1B92B5-CB52-4EF6-90E3-0189946C0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9275"/>
            <a:ext cx="1944687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记分模型</a:t>
            </a:r>
          </a:p>
        </p:txBody>
      </p:sp>
      <p:sp>
        <p:nvSpPr>
          <p:cNvPr id="163845" name="Rectangle 5">
            <a:extLst>
              <a:ext uri="{FF2B5EF4-FFF2-40B4-BE49-F238E27FC236}">
                <a16:creationId xmlns:a16="http://schemas.microsoft.com/office/drawing/2014/main" id="{A0F2ACFB-ED9A-473F-ADB0-79E82A0F6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620713"/>
            <a:ext cx="633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将预报有雨概率与实测结果比较并记分 </a:t>
            </a:r>
          </a:p>
        </p:txBody>
      </p:sp>
      <p:sp>
        <p:nvSpPr>
          <p:cNvPr id="163846" name="Rectangle 6">
            <a:extLst>
              <a:ext uri="{FF2B5EF4-FFF2-40B4-BE49-F238E27FC236}">
                <a16:creationId xmlns:a16="http://schemas.microsoft.com/office/drawing/2014/main" id="{54708EBE-3218-4D20-9B2F-7BEF416B7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28775"/>
            <a:ext cx="1165225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模型</a:t>
            </a:r>
            <a:r>
              <a:rPr lang="en-US" altLang="zh-CN" sz="2800" b="1"/>
              <a:t>1 </a:t>
            </a:r>
          </a:p>
        </p:txBody>
      </p:sp>
      <p:sp>
        <p:nvSpPr>
          <p:cNvPr id="163848" name="Rectangle 8">
            <a:extLst>
              <a:ext uri="{FF2B5EF4-FFF2-40B4-BE49-F238E27FC236}">
                <a16:creationId xmlns:a16="http://schemas.microsoft.com/office/drawing/2014/main" id="{97760723-1E45-4BE4-93C0-157AB59E8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708275"/>
            <a:ext cx="372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p</a:t>
            </a:r>
            <a:r>
              <a:rPr lang="en-US" altLang="zh-CN" sz="2800" b="1" i="1" baseline="-30000">
                <a:solidFill>
                  <a:srgbClr val="000000"/>
                </a:solidFill>
              </a:rPr>
              <a:t>k</a:t>
            </a:r>
            <a:r>
              <a:rPr lang="en-US" altLang="zh-CN" sz="2800" b="1" i="1">
                <a:solidFill>
                  <a:srgbClr val="000000"/>
                </a:solidFill>
              </a:rPr>
              <a:t>~</a:t>
            </a:r>
            <a:r>
              <a:rPr lang="zh-CN" altLang="en-US" sz="2800" b="1">
                <a:cs typeface="Times New Roman" panose="02020603050405020304" pitchFamily="18" charset="0"/>
              </a:rPr>
              <a:t>第</a:t>
            </a:r>
            <a:r>
              <a:rPr lang="en-US" altLang="zh-CN" sz="2800" b="1" i="1"/>
              <a:t>k</a:t>
            </a:r>
            <a:r>
              <a:rPr lang="zh-CN" altLang="en-US" sz="2800" b="1">
                <a:cs typeface="Times New Roman" panose="02020603050405020304" pitchFamily="18" charset="0"/>
              </a:rPr>
              <a:t>天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预报有雨概率</a:t>
            </a:r>
          </a:p>
        </p:txBody>
      </p:sp>
      <p:sp>
        <p:nvSpPr>
          <p:cNvPr id="163850" name="Rectangle 10">
            <a:extLst>
              <a:ext uri="{FF2B5EF4-FFF2-40B4-BE49-F238E27FC236}">
                <a16:creationId xmlns:a16="http://schemas.microsoft.com/office/drawing/2014/main" id="{1D4F9318-8303-48ED-B7F4-E1034C014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2708275"/>
            <a:ext cx="4752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v</a:t>
            </a:r>
            <a:r>
              <a:rPr lang="en-US" altLang="zh-CN" sz="2800" b="1" i="1" baseline="-30000">
                <a:solidFill>
                  <a:srgbClr val="000000"/>
                </a:solidFill>
              </a:rPr>
              <a:t>k</a:t>
            </a:r>
            <a:r>
              <a:rPr lang="en-US" altLang="zh-CN" sz="2800" b="1">
                <a:solidFill>
                  <a:srgbClr val="000000"/>
                </a:solidFill>
              </a:rPr>
              <a:t>=1~</a:t>
            </a:r>
            <a:r>
              <a:rPr lang="zh-CN" altLang="en-US" sz="2800" b="1">
                <a:cs typeface="Times New Roman" panose="02020603050405020304" pitchFamily="18" charset="0"/>
              </a:rPr>
              <a:t>第</a:t>
            </a:r>
            <a:r>
              <a:rPr lang="en-US" altLang="zh-CN" sz="2800" b="1" i="1"/>
              <a:t>k</a:t>
            </a:r>
            <a:r>
              <a:rPr lang="zh-CN" altLang="en-US" sz="2800" b="1">
                <a:cs typeface="Times New Roman" panose="02020603050405020304" pitchFamily="18" charset="0"/>
              </a:rPr>
              <a:t>天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有雨， </a:t>
            </a:r>
            <a:r>
              <a:rPr lang="en-US" altLang="zh-CN" sz="2800" b="1" i="1">
                <a:solidFill>
                  <a:srgbClr val="000000"/>
                </a:solidFill>
              </a:rPr>
              <a:t>v</a:t>
            </a:r>
            <a:r>
              <a:rPr lang="en-US" altLang="zh-CN" sz="2800" b="1" i="1" baseline="-30000">
                <a:solidFill>
                  <a:srgbClr val="000000"/>
                </a:solidFill>
              </a:rPr>
              <a:t>k</a:t>
            </a:r>
            <a:r>
              <a:rPr lang="en-US" altLang="zh-CN" sz="2800" b="1">
                <a:solidFill>
                  <a:srgbClr val="000000"/>
                </a:solidFill>
              </a:rPr>
              <a:t>=0~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无雨</a:t>
            </a:r>
          </a:p>
        </p:txBody>
      </p:sp>
      <p:sp>
        <p:nvSpPr>
          <p:cNvPr id="163851" name="Rectangle 11">
            <a:extLst>
              <a:ext uri="{FF2B5EF4-FFF2-40B4-BE49-F238E27FC236}">
                <a16:creationId xmlns:a16="http://schemas.microsoft.com/office/drawing/2014/main" id="{360DDCA3-7575-45D5-85F1-45FC9A6E2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644900"/>
            <a:ext cx="2951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第</a:t>
            </a:r>
            <a:r>
              <a:rPr lang="en-US" altLang="zh-CN" sz="2800" b="1" i="1"/>
              <a:t>k</a:t>
            </a:r>
            <a:r>
              <a:rPr lang="zh-CN" altLang="en-US" sz="2800" b="1"/>
              <a:t>天的预报得分 </a:t>
            </a:r>
          </a:p>
        </p:txBody>
      </p:sp>
      <p:graphicFrame>
        <p:nvGraphicFramePr>
          <p:cNvPr id="163855" name="Object 15">
            <a:extLst>
              <a:ext uri="{FF2B5EF4-FFF2-40B4-BE49-F238E27FC236}">
                <a16:creationId xmlns:a16="http://schemas.microsoft.com/office/drawing/2014/main" id="{0556B9CE-99B8-4B48-B372-2F0C7283B6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3381375"/>
          <a:ext cx="3455987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6" name="公式" r:id="rId3" imgW="1473200" imgH="482600" progId="Equation.3">
                  <p:embed/>
                </p:oleObj>
              </mc:Choice>
              <mc:Fallback>
                <p:oleObj name="公式" r:id="rId3" imgW="1473200" imgH="482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381375"/>
                        <a:ext cx="3455987" cy="108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7" name="Rectangle 17">
            <a:extLst>
              <a:ext uri="{FF2B5EF4-FFF2-40B4-BE49-F238E27FC236}">
                <a16:creationId xmlns:a16="http://schemas.microsoft.com/office/drawing/2014/main" id="{C1ADCD23-8D2F-4206-A5F4-6B6517C4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573588"/>
            <a:ext cx="4430713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对</a:t>
            </a:r>
            <a:r>
              <a:rPr lang="en-US" altLang="zh-CN" sz="2800" b="1" i="1"/>
              <a:t>k</a:t>
            </a:r>
            <a:r>
              <a:rPr lang="en-US" altLang="zh-CN" sz="2800" b="1"/>
              <a:t> </a:t>
            </a:r>
            <a:r>
              <a:rPr lang="zh-CN" altLang="en-US" sz="2800" b="1"/>
              <a:t>求和得到预报的分数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</a:t>
            </a:r>
          </a:p>
        </p:txBody>
      </p:sp>
      <p:sp>
        <p:nvSpPr>
          <p:cNvPr id="163858" name="Rectangle 18">
            <a:extLst>
              <a:ext uri="{FF2B5EF4-FFF2-40B4-BE49-F238E27FC236}">
                <a16:creationId xmlns:a16="http://schemas.microsoft.com/office/drawing/2014/main" id="{370772C8-0795-4604-B1E1-78B3C59AB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300663"/>
            <a:ext cx="835977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-25000"/>
              <a:t>1 </a:t>
            </a:r>
            <a:r>
              <a:rPr lang="en-US" altLang="zh-CN" sz="2800" b="1"/>
              <a:t>(A)</a:t>
            </a:r>
            <a:r>
              <a:rPr lang="en-US" altLang="zh-CN" sz="2800" b="1" baseline="30000"/>
              <a:t> </a:t>
            </a:r>
            <a:r>
              <a:rPr lang="en-US" altLang="zh-CN" sz="2800" b="1"/>
              <a:t>=1.0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(B) = 2.6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(C) = 7.0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(D) = 6.7 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83527B9B-2A01-4FD3-9A2B-0029D9F5DA5E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2017713"/>
            <a:ext cx="5830887" cy="528637"/>
            <a:chOff x="1791" y="1271"/>
            <a:chExt cx="3673" cy="333"/>
          </a:xfrm>
        </p:grpSpPr>
        <p:sp>
          <p:nvSpPr>
            <p:cNvPr id="44050" name="Rectangle 14">
              <a:extLst>
                <a:ext uri="{FF2B5EF4-FFF2-40B4-BE49-F238E27FC236}">
                  <a16:creationId xmlns:a16="http://schemas.microsoft.com/office/drawing/2014/main" id="{FC9A1EE9-41FD-4E12-92BD-5B4716BBE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271"/>
              <a:ext cx="36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预报有雨概率</a:t>
              </a:r>
              <a:r>
                <a:rPr lang="en-US" altLang="zh-CN" sz="2800" b="1"/>
                <a:t>&lt;0.5    </a:t>
              </a:r>
              <a:r>
                <a:rPr lang="zh-CN" altLang="en-US" sz="2800" b="1"/>
                <a:t>得到相应的负分 </a:t>
              </a:r>
            </a:p>
          </p:txBody>
        </p:sp>
        <p:sp>
          <p:nvSpPr>
            <p:cNvPr id="44051" name="AutoShape 19">
              <a:extLst>
                <a:ext uri="{FF2B5EF4-FFF2-40B4-BE49-F238E27FC236}">
                  <a16:creationId xmlns:a16="http://schemas.microsoft.com/office/drawing/2014/main" id="{5A2F1FCE-4402-45ED-B79E-F44EA35CB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1298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3852" name="Rectangle 12">
            <a:extLst>
              <a:ext uri="{FF2B5EF4-FFF2-40B4-BE49-F238E27FC236}">
                <a16:creationId xmlns:a16="http://schemas.microsoft.com/office/drawing/2014/main" id="{D4CF6CD8-D417-4A65-BDFC-A0430847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341438"/>
            <a:ext cx="1008062" cy="11588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800" b="1"/>
              <a:t>实测有雨 </a:t>
            </a:r>
          </a:p>
        </p:txBody>
      </p:sp>
      <p:grpSp>
        <p:nvGrpSpPr>
          <p:cNvPr id="3" name="Group 25">
            <a:extLst>
              <a:ext uri="{FF2B5EF4-FFF2-40B4-BE49-F238E27FC236}">
                <a16:creationId xmlns:a16="http://schemas.microsoft.com/office/drawing/2014/main" id="{9283036C-7ECA-4C4A-AC55-71D25C567D09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1412875"/>
            <a:ext cx="5832475" cy="519113"/>
            <a:chOff x="1791" y="890"/>
            <a:chExt cx="3674" cy="327"/>
          </a:xfrm>
        </p:grpSpPr>
        <p:sp>
          <p:nvSpPr>
            <p:cNvPr id="44048" name="Rectangle 13">
              <a:extLst>
                <a:ext uri="{FF2B5EF4-FFF2-40B4-BE49-F238E27FC236}">
                  <a16:creationId xmlns:a16="http://schemas.microsoft.com/office/drawing/2014/main" id="{F20B2EB8-4ED6-4E06-BB25-13AD8BE83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890"/>
              <a:ext cx="36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预报有雨概率</a:t>
              </a:r>
              <a:r>
                <a:rPr lang="en-US" altLang="zh-CN" sz="2800" b="1"/>
                <a:t>&gt;0.5    </a:t>
              </a:r>
              <a:r>
                <a:rPr lang="zh-CN" altLang="en-US" sz="2800" b="1"/>
                <a:t>得到相应的正分 </a:t>
              </a:r>
            </a:p>
          </p:txBody>
        </p:sp>
        <p:sp>
          <p:nvSpPr>
            <p:cNvPr id="44049" name="AutoShape 20">
              <a:extLst>
                <a:ext uri="{FF2B5EF4-FFF2-40B4-BE49-F238E27FC236}">
                  <a16:creationId xmlns:a16="http://schemas.microsoft.com/office/drawing/2014/main" id="{87B28227-6206-4F3B-9D7A-E5C880DE1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7" y="890"/>
              <a:ext cx="90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63862" name="Rectangle 22">
            <a:extLst>
              <a:ext uri="{FF2B5EF4-FFF2-40B4-BE49-F238E27FC236}">
                <a16:creationId xmlns:a16="http://schemas.microsoft.com/office/drawing/2014/main" id="{7E334EB0-BD6A-4457-891A-82A1A95FB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4551363"/>
            <a:ext cx="2020888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S</a:t>
            </a:r>
            <a:r>
              <a:rPr lang="en-US" altLang="zh-CN" sz="2800" b="1" baseline="-30000">
                <a:solidFill>
                  <a:srgbClr val="000000"/>
                </a:solidFill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越大越好</a:t>
            </a:r>
            <a:r>
              <a:rPr lang="zh-CN" altLang="en-US" sz="2800" b="1"/>
              <a:t> </a:t>
            </a:r>
          </a:p>
        </p:txBody>
      </p:sp>
      <p:sp>
        <p:nvSpPr>
          <p:cNvPr id="163863" name="Text Box 23">
            <a:extLst>
              <a:ext uri="{FF2B5EF4-FFF2-40B4-BE49-F238E27FC236}">
                <a16:creationId xmlns:a16="http://schemas.microsoft.com/office/drawing/2014/main" id="{945D1EC8-DD08-45B9-A9E8-FBB99A78F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516563"/>
            <a:ext cx="7191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 b="1">
                <a:solidFill>
                  <a:srgbClr val="3333FF"/>
                </a:solidFill>
                <a:cs typeface="Times New Roman" panose="02020603050405020304" pitchFamily="18" charset="0"/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3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3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6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63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6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5" grpId="0"/>
      <p:bldP spid="163846" grpId="0" animBg="1"/>
      <p:bldP spid="163848" grpId="0"/>
      <p:bldP spid="163850" grpId="0"/>
      <p:bldP spid="163851" grpId="0"/>
      <p:bldP spid="163857" grpId="0" animBg="1"/>
      <p:bldP spid="163858" grpId="0" animBg="1"/>
      <p:bldP spid="163852" grpId="0" animBg="1"/>
      <p:bldP spid="163862" grpId="0" animBg="1"/>
      <p:bldP spid="16386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">
            <a:extLst>
              <a:ext uri="{FF2B5EF4-FFF2-40B4-BE49-F238E27FC236}">
                <a16:creationId xmlns:a16="http://schemas.microsoft.com/office/drawing/2014/main" id="{40D71121-2C6C-432E-85D0-144622202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9275"/>
            <a:ext cx="1944687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记分模型</a:t>
            </a:r>
          </a:p>
        </p:txBody>
      </p:sp>
      <p:sp>
        <p:nvSpPr>
          <p:cNvPr id="164869" name="Rectangle 5">
            <a:extLst>
              <a:ext uri="{FF2B5EF4-FFF2-40B4-BE49-F238E27FC236}">
                <a16:creationId xmlns:a16="http://schemas.microsoft.com/office/drawing/2014/main" id="{D3A5B895-793E-4502-84CD-F618EDC4A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57363"/>
            <a:ext cx="107632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模型</a:t>
            </a:r>
            <a:r>
              <a:rPr lang="en-US" altLang="zh-CN" sz="2800" b="1"/>
              <a:t>2</a:t>
            </a: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05452B91-6DF4-49FB-AE2D-E365DF536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061" name="Rectangle 8">
            <a:extLst>
              <a:ext uri="{FF2B5EF4-FFF2-40B4-BE49-F238E27FC236}">
                <a16:creationId xmlns:a16="http://schemas.microsoft.com/office/drawing/2014/main" id="{A13EB60F-64B6-452F-AB97-D4CC046F3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76250"/>
            <a:ext cx="3721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p</a:t>
            </a:r>
            <a:r>
              <a:rPr lang="en-US" altLang="zh-CN" sz="2800" b="1" i="1" baseline="-30000">
                <a:solidFill>
                  <a:srgbClr val="000000"/>
                </a:solidFill>
              </a:rPr>
              <a:t>k</a:t>
            </a:r>
            <a:r>
              <a:rPr lang="en-US" altLang="zh-CN" sz="2800" b="1" i="1">
                <a:solidFill>
                  <a:srgbClr val="000000"/>
                </a:solidFill>
              </a:rPr>
              <a:t>~</a:t>
            </a:r>
            <a:r>
              <a:rPr lang="zh-CN" altLang="en-US" sz="2800" b="1">
                <a:cs typeface="Times New Roman" panose="02020603050405020304" pitchFamily="18" charset="0"/>
              </a:rPr>
              <a:t>第</a:t>
            </a:r>
            <a:r>
              <a:rPr lang="en-US" altLang="zh-CN" sz="2800" b="1" i="1"/>
              <a:t>k</a:t>
            </a:r>
            <a:r>
              <a:rPr lang="zh-CN" altLang="en-US" sz="2800" b="1">
                <a:cs typeface="Times New Roman" panose="02020603050405020304" pitchFamily="18" charset="0"/>
              </a:rPr>
              <a:t>天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预报有雨概率</a:t>
            </a:r>
          </a:p>
        </p:txBody>
      </p:sp>
      <p:sp>
        <p:nvSpPr>
          <p:cNvPr id="45062" name="Rectangle 9">
            <a:extLst>
              <a:ext uri="{FF2B5EF4-FFF2-40B4-BE49-F238E27FC236}">
                <a16:creationId xmlns:a16="http://schemas.microsoft.com/office/drawing/2014/main" id="{846F5072-C35D-47E1-A0B0-6D2673E09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1125538"/>
            <a:ext cx="475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v</a:t>
            </a:r>
            <a:r>
              <a:rPr lang="en-US" altLang="zh-CN" sz="2800" b="1" i="1" baseline="-30000">
                <a:solidFill>
                  <a:srgbClr val="000000"/>
                </a:solidFill>
              </a:rPr>
              <a:t>k</a:t>
            </a:r>
            <a:r>
              <a:rPr lang="en-US" altLang="zh-CN" sz="2800" b="1">
                <a:solidFill>
                  <a:srgbClr val="000000"/>
                </a:solidFill>
              </a:rPr>
              <a:t>=1~</a:t>
            </a:r>
            <a:r>
              <a:rPr lang="zh-CN" altLang="en-US" sz="2800" b="1">
                <a:cs typeface="Times New Roman" panose="02020603050405020304" pitchFamily="18" charset="0"/>
              </a:rPr>
              <a:t>第</a:t>
            </a:r>
            <a:r>
              <a:rPr lang="en-US" altLang="zh-CN" sz="2800" b="1" i="1"/>
              <a:t>k</a:t>
            </a:r>
            <a:r>
              <a:rPr lang="zh-CN" altLang="en-US" sz="2800" b="1">
                <a:cs typeface="Times New Roman" panose="02020603050405020304" pitchFamily="18" charset="0"/>
              </a:rPr>
              <a:t>天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有雨， </a:t>
            </a:r>
            <a:r>
              <a:rPr lang="en-US" altLang="zh-CN" sz="2800" b="1" i="1">
                <a:solidFill>
                  <a:srgbClr val="000000"/>
                </a:solidFill>
              </a:rPr>
              <a:t>v</a:t>
            </a:r>
            <a:r>
              <a:rPr lang="en-US" altLang="zh-CN" sz="2800" b="1" i="1" baseline="-30000">
                <a:solidFill>
                  <a:srgbClr val="000000"/>
                </a:solidFill>
              </a:rPr>
              <a:t>k</a:t>
            </a:r>
            <a:r>
              <a:rPr lang="en-US" altLang="zh-CN" sz="2800" b="1">
                <a:solidFill>
                  <a:srgbClr val="000000"/>
                </a:solidFill>
              </a:rPr>
              <a:t>=0~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无雨</a:t>
            </a: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3D4740AF-C303-4872-8E23-CCD7BC51F3C5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1773238"/>
            <a:ext cx="4752975" cy="530225"/>
            <a:chOff x="1383" y="1117"/>
            <a:chExt cx="2994" cy="334"/>
          </a:xfrm>
        </p:grpSpPr>
        <p:graphicFrame>
          <p:nvGraphicFramePr>
            <p:cNvPr id="45078" name="Object 6">
              <a:extLst>
                <a:ext uri="{FF2B5EF4-FFF2-40B4-BE49-F238E27FC236}">
                  <a16:creationId xmlns:a16="http://schemas.microsoft.com/office/drawing/2014/main" id="{B7123102-CA0D-4861-A2BB-3C0D54B881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8" y="1117"/>
            <a:ext cx="1089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87" name="公式" r:id="rId3" imgW="837836" imgH="253890" progId="Equation.3">
                    <p:embed/>
                  </p:oleObj>
                </mc:Choice>
                <mc:Fallback>
                  <p:oleObj name="公式" r:id="rId3" imgW="837836" imgH="25389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1117"/>
                          <a:ext cx="1089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9" name="Rectangle 10">
              <a:extLst>
                <a:ext uri="{FF2B5EF4-FFF2-40B4-BE49-F238E27FC236}">
                  <a16:creationId xmlns:a16="http://schemas.microsoft.com/office/drawing/2014/main" id="{337CDF4B-C307-4A8F-9661-5C64F92DF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117"/>
              <a:ext cx="18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第</a:t>
              </a:r>
              <a:r>
                <a:rPr lang="en-US" altLang="zh-CN" sz="2800" b="1" i="1"/>
                <a:t>k</a:t>
              </a:r>
              <a:r>
                <a:rPr lang="zh-CN" altLang="en-US" sz="2800" b="1"/>
                <a:t>天的预报得分 </a:t>
              </a:r>
            </a:p>
          </p:txBody>
        </p:sp>
      </p:grpSp>
      <p:sp>
        <p:nvSpPr>
          <p:cNvPr id="164875" name="Rectangle 11">
            <a:extLst>
              <a:ext uri="{FF2B5EF4-FFF2-40B4-BE49-F238E27FC236}">
                <a16:creationId xmlns:a16="http://schemas.microsoft.com/office/drawing/2014/main" id="{9A5B59AB-F87B-4B84-B4E2-7ACA0BB3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2375"/>
            <a:ext cx="4430713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对</a:t>
            </a:r>
            <a:r>
              <a:rPr lang="en-US" altLang="zh-CN" sz="2800" b="1" i="1"/>
              <a:t>k</a:t>
            </a:r>
            <a:r>
              <a:rPr lang="en-US" altLang="zh-CN" sz="2800" b="1"/>
              <a:t> </a:t>
            </a:r>
            <a:r>
              <a:rPr lang="zh-CN" altLang="en-US" sz="2800" b="1"/>
              <a:t>求和得到预报的分数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</a:t>
            </a:r>
          </a:p>
        </p:txBody>
      </p:sp>
      <p:sp>
        <p:nvSpPr>
          <p:cNvPr id="164876" name="Rectangle 12">
            <a:extLst>
              <a:ext uri="{FF2B5EF4-FFF2-40B4-BE49-F238E27FC236}">
                <a16:creationId xmlns:a16="http://schemas.microsoft.com/office/drawing/2014/main" id="{F5EB7794-E722-4D25-9D7B-018E740D6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478088"/>
            <a:ext cx="2020888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S</a:t>
            </a:r>
            <a:r>
              <a:rPr lang="en-US" altLang="zh-CN" sz="2800" b="1" baseline="-30000">
                <a:solidFill>
                  <a:srgbClr val="000000"/>
                </a:solidFill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越小越好</a:t>
            </a:r>
            <a:r>
              <a:rPr lang="zh-CN" altLang="en-US" sz="2800" b="1"/>
              <a:t> </a:t>
            </a:r>
          </a:p>
        </p:txBody>
      </p:sp>
      <p:sp>
        <p:nvSpPr>
          <p:cNvPr id="164877" name="Rectangle 13">
            <a:extLst>
              <a:ext uri="{FF2B5EF4-FFF2-40B4-BE49-F238E27FC236}">
                <a16:creationId xmlns:a16="http://schemas.microsoft.com/office/drawing/2014/main" id="{DB898DEE-0D51-43CA-B592-0B4E29120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141663"/>
            <a:ext cx="862647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-25000"/>
              <a:t>2 </a:t>
            </a:r>
            <a:r>
              <a:rPr lang="en-US" altLang="zh-CN" sz="2800" b="1"/>
              <a:t>(A)</a:t>
            </a:r>
            <a:r>
              <a:rPr lang="en-US" altLang="zh-CN" sz="2800" b="1" baseline="30000"/>
              <a:t> </a:t>
            </a:r>
            <a:r>
              <a:rPr lang="en-US" altLang="zh-CN" sz="2800" b="1"/>
              <a:t>=14.5</a:t>
            </a:r>
            <a:r>
              <a:rPr lang="zh-CN" altLang="en-US" sz="2800" b="1"/>
              <a:t>，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(B) = 12.9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(C) = 8.5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(D) = 8.8 </a:t>
            </a:r>
          </a:p>
        </p:txBody>
      </p:sp>
      <p:sp>
        <p:nvSpPr>
          <p:cNvPr id="164878" name="Text Box 14">
            <a:extLst>
              <a:ext uri="{FF2B5EF4-FFF2-40B4-BE49-F238E27FC236}">
                <a16:creationId xmlns:a16="http://schemas.microsoft.com/office/drawing/2014/main" id="{4EECCB46-3289-4208-906D-999CE8776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357563"/>
            <a:ext cx="7191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 b="1">
                <a:solidFill>
                  <a:srgbClr val="3333FF"/>
                </a:solidFill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45068" name="Rectangle 16">
            <a:extLst>
              <a:ext uri="{FF2B5EF4-FFF2-40B4-BE49-F238E27FC236}">
                <a16:creationId xmlns:a16="http://schemas.microsoft.com/office/drawing/2014/main" id="{9016F2E5-58C3-466E-8976-AE9AEF103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4881" name="Rectangle 17">
            <a:extLst>
              <a:ext uri="{FF2B5EF4-FFF2-40B4-BE49-F238E27FC236}">
                <a16:creationId xmlns:a16="http://schemas.microsoft.com/office/drawing/2014/main" id="{D11A3214-78A6-4A5B-807A-6955B09CF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06850"/>
            <a:ext cx="1076325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模型</a:t>
            </a:r>
            <a:r>
              <a:rPr lang="en-US" altLang="zh-CN" sz="2800" b="1"/>
              <a:t>3</a:t>
            </a:r>
          </a:p>
        </p:txBody>
      </p:sp>
      <p:grpSp>
        <p:nvGrpSpPr>
          <p:cNvPr id="3" name="Group 24">
            <a:extLst>
              <a:ext uri="{FF2B5EF4-FFF2-40B4-BE49-F238E27FC236}">
                <a16:creationId xmlns:a16="http://schemas.microsoft.com/office/drawing/2014/main" id="{C81A82A5-213E-4903-A2B6-EF9CEF3813A2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3933825"/>
            <a:ext cx="5041900" cy="592138"/>
            <a:chOff x="1383" y="2478"/>
            <a:chExt cx="3176" cy="373"/>
          </a:xfrm>
        </p:grpSpPr>
        <p:graphicFrame>
          <p:nvGraphicFramePr>
            <p:cNvPr id="45076" name="Object 15">
              <a:extLst>
                <a:ext uri="{FF2B5EF4-FFF2-40B4-BE49-F238E27FC236}">
                  <a16:creationId xmlns:a16="http://schemas.microsoft.com/office/drawing/2014/main" id="{1588BAA7-E72C-488A-BC47-A282F8D516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43" y="2478"/>
            <a:ext cx="1316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088" name="公式" r:id="rId5" imgW="965200" imgH="241300" progId="Equation.3">
                    <p:embed/>
                  </p:oleObj>
                </mc:Choice>
                <mc:Fallback>
                  <p:oleObj name="公式" r:id="rId5" imgW="965200" imgH="2413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2478"/>
                          <a:ext cx="1316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7" name="Rectangle 18">
              <a:extLst>
                <a:ext uri="{FF2B5EF4-FFF2-40B4-BE49-F238E27FC236}">
                  <a16:creationId xmlns:a16="http://schemas.microsoft.com/office/drawing/2014/main" id="{4A931C84-A969-430B-8E39-D37DED149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524"/>
              <a:ext cx="185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第</a:t>
              </a:r>
              <a:r>
                <a:rPr lang="en-US" altLang="zh-CN" sz="2800" b="1" i="1"/>
                <a:t>k</a:t>
              </a:r>
              <a:r>
                <a:rPr lang="zh-CN" altLang="en-US" sz="2800" b="1"/>
                <a:t>天的预报得分 </a:t>
              </a:r>
            </a:p>
          </p:txBody>
        </p:sp>
      </p:grpSp>
      <p:sp>
        <p:nvSpPr>
          <p:cNvPr id="164883" name="Rectangle 19">
            <a:extLst>
              <a:ext uri="{FF2B5EF4-FFF2-40B4-BE49-F238E27FC236}">
                <a16:creationId xmlns:a16="http://schemas.microsoft.com/office/drawing/2014/main" id="{87842673-0F5B-477A-AD90-65211422E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738688"/>
            <a:ext cx="4430712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对</a:t>
            </a:r>
            <a:r>
              <a:rPr lang="en-US" altLang="zh-CN" sz="2800" b="1" i="1"/>
              <a:t>k</a:t>
            </a:r>
            <a:r>
              <a:rPr lang="en-US" altLang="zh-CN" sz="2800" b="1"/>
              <a:t> </a:t>
            </a:r>
            <a:r>
              <a:rPr lang="zh-CN" altLang="en-US" sz="2800" b="1"/>
              <a:t>求和得到预报的分数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</a:t>
            </a:r>
          </a:p>
        </p:txBody>
      </p:sp>
      <p:sp>
        <p:nvSpPr>
          <p:cNvPr id="164884" name="Rectangle 20">
            <a:extLst>
              <a:ext uri="{FF2B5EF4-FFF2-40B4-BE49-F238E27FC236}">
                <a16:creationId xmlns:a16="http://schemas.microsoft.com/office/drawing/2014/main" id="{40354726-5C15-4607-9602-016AA0ED2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724400"/>
            <a:ext cx="2020887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S</a:t>
            </a:r>
            <a:r>
              <a:rPr lang="en-US" altLang="zh-CN" sz="2800" b="1" baseline="-30000">
                <a:solidFill>
                  <a:srgbClr val="000000"/>
                </a:solidFill>
              </a:rPr>
              <a:t>3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越小越好</a:t>
            </a:r>
            <a:r>
              <a:rPr lang="zh-CN" altLang="en-US" sz="2800" b="1"/>
              <a:t> </a:t>
            </a:r>
          </a:p>
        </p:txBody>
      </p:sp>
      <p:sp>
        <p:nvSpPr>
          <p:cNvPr id="164885" name="Rectangle 21">
            <a:extLst>
              <a:ext uri="{FF2B5EF4-FFF2-40B4-BE49-F238E27FC236}">
                <a16:creationId xmlns:a16="http://schemas.microsoft.com/office/drawing/2014/main" id="{978B399A-40CA-455F-8158-1235BA9D3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462588"/>
            <a:ext cx="880427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-25000"/>
              <a:t>3 </a:t>
            </a:r>
            <a:r>
              <a:rPr lang="en-US" altLang="zh-CN" sz="2800" b="1"/>
              <a:t>(A)</a:t>
            </a:r>
            <a:r>
              <a:rPr lang="en-US" altLang="zh-CN" sz="2800" b="1" baseline="30000"/>
              <a:t> </a:t>
            </a:r>
            <a:r>
              <a:rPr lang="en-US" altLang="zh-CN" sz="2800" b="1"/>
              <a:t>=8.95</a:t>
            </a:r>
            <a:r>
              <a:rPr lang="zh-CN" altLang="en-US" sz="2800" b="1"/>
              <a:t>，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(B) = 6.39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(C) =4.23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(D) =3.21 </a:t>
            </a:r>
          </a:p>
        </p:txBody>
      </p:sp>
      <p:sp>
        <p:nvSpPr>
          <p:cNvPr id="164886" name="Text Box 22">
            <a:extLst>
              <a:ext uri="{FF2B5EF4-FFF2-40B4-BE49-F238E27FC236}">
                <a16:creationId xmlns:a16="http://schemas.microsoft.com/office/drawing/2014/main" id="{C00C5CFB-3BCC-4E57-B925-D13931DFB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5662613"/>
            <a:ext cx="7191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400" b="1">
                <a:solidFill>
                  <a:srgbClr val="3333FF"/>
                </a:solidFill>
                <a:cs typeface="Times New Roman" panose="02020603050405020304" pitchFamily="18" charset="0"/>
              </a:rPr>
              <a:t>√</a:t>
            </a:r>
          </a:p>
        </p:txBody>
      </p:sp>
      <p:pic>
        <p:nvPicPr>
          <p:cNvPr id="45075" name="Picture 25" descr="j0293828">
            <a:extLst>
              <a:ext uri="{FF2B5EF4-FFF2-40B4-BE49-F238E27FC236}">
                <a16:creationId xmlns:a16="http://schemas.microsoft.com/office/drawing/2014/main" id="{22AE63A8-7CEF-4F94-845E-7794C37C9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8223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4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4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64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64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64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6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9" grpId="0" animBg="1"/>
      <p:bldP spid="164875" grpId="0" animBg="1"/>
      <p:bldP spid="164876" grpId="0" animBg="1"/>
      <p:bldP spid="164877" grpId="0" animBg="1"/>
      <p:bldP spid="164878" grpId="0"/>
      <p:bldP spid="164881" grpId="0" animBg="1"/>
      <p:bldP spid="164883" grpId="0" animBg="1"/>
      <p:bldP spid="164884" grpId="0" animBg="1"/>
      <p:bldP spid="164885" grpId="0" animBg="1"/>
      <p:bldP spid="16488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69903DED-F431-4DD2-88D9-6482C2D76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1944687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记分模型</a:t>
            </a:r>
          </a:p>
        </p:txBody>
      </p:sp>
      <p:sp>
        <p:nvSpPr>
          <p:cNvPr id="165893" name="Rectangle 5">
            <a:extLst>
              <a:ext uri="{FF2B5EF4-FFF2-40B4-BE49-F238E27FC236}">
                <a16:creationId xmlns:a16="http://schemas.microsoft.com/office/drawing/2014/main" id="{1D6F1C4E-81BC-4E6F-94B5-B8C7573BA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3" y="1628775"/>
            <a:ext cx="8626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-25000"/>
              <a:t>2 </a:t>
            </a:r>
            <a:r>
              <a:rPr lang="en-US" altLang="zh-CN" sz="2800" b="1"/>
              <a:t>(A)</a:t>
            </a:r>
            <a:r>
              <a:rPr lang="en-US" altLang="zh-CN" sz="2800" b="1" baseline="30000"/>
              <a:t> </a:t>
            </a:r>
            <a:r>
              <a:rPr lang="en-US" altLang="zh-CN" sz="2800" b="1"/>
              <a:t>=14.5</a:t>
            </a:r>
            <a:r>
              <a:rPr lang="zh-CN" altLang="en-US" sz="2800" b="1"/>
              <a:t>，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(B) = 12.9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(C) = 8.5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(D) = 8.8 </a:t>
            </a:r>
          </a:p>
        </p:txBody>
      </p:sp>
      <p:sp>
        <p:nvSpPr>
          <p:cNvPr id="165894" name="Rectangle 6">
            <a:extLst>
              <a:ext uri="{FF2B5EF4-FFF2-40B4-BE49-F238E27FC236}">
                <a16:creationId xmlns:a16="http://schemas.microsoft.com/office/drawing/2014/main" id="{CB20F041-5D02-4CC6-8594-82B2CA90C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3600"/>
            <a:ext cx="8804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-25000"/>
              <a:t>3 </a:t>
            </a:r>
            <a:r>
              <a:rPr lang="en-US" altLang="zh-CN" sz="2800" b="1"/>
              <a:t>(A)</a:t>
            </a:r>
            <a:r>
              <a:rPr lang="en-US" altLang="zh-CN" sz="2800" b="1" baseline="30000"/>
              <a:t> </a:t>
            </a:r>
            <a:r>
              <a:rPr lang="en-US" altLang="zh-CN" sz="2800" b="1"/>
              <a:t>=8.95</a:t>
            </a:r>
            <a:r>
              <a:rPr lang="zh-CN" altLang="en-US" sz="2800" b="1"/>
              <a:t>，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(B) = 6.39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(C) =4.23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 (D) =3.21 </a:t>
            </a:r>
          </a:p>
        </p:txBody>
      </p:sp>
      <p:sp>
        <p:nvSpPr>
          <p:cNvPr id="165895" name="Rectangle 7">
            <a:extLst>
              <a:ext uri="{FF2B5EF4-FFF2-40B4-BE49-F238E27FC236}">
                <a16:creationId xmlns:a16="http://schemas.microsoft.com/office/drawing/2014/main" id="{43B27376-7465-467F-BF31-502615AF5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8359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 baseline="-25000"/>
              <a:t>1 </a:t>
            </a:r>
            <a:r>
              <a:rPr lang="en-US" altLang="zh-CN" sz="2800" b="1"/>
              <a:t>(A)</a:t>
            </a:r>
            <a:r>
              <a:rPr lang="en-US" altLang="zh-CN" sz="2800" b="1" baseline="30000"/>
              <a:t> </a:t>
            </a:r>
            <a:r>
              <a:rPr lang="en-US" altLang="zh-CN" sz="2800" b="1"/>
              <a:t>=1.0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(B) = 2.6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(C) = 7.0</a:t>
            </a:r>
            <a:r>
              <a:rPr lang="zh-CN" altLang="en-US" sz="2800" b="1"/>
              <a:t>， 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(D) = 6.7 </a:t>
            </a:r>
          </a:p>
        </p:txBody>
      </p:sp>
      <p:sp>
        <p:nvSpPr>
          <p:cNvPr id="165896" name="Rectangle 8">
            <a:extLst>
              <a:ext uri="{FF2B5EF4-FFF2-40B4-BE49-F238E27FC236}">
                <a16:creationId xmlns:a16="http://schemas.microsoft.com/office/drawing/2014/main" id="{9E2AF2FB-EDAC-46B1-BCAD-D659C8912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8275"/>
            <a:ext cx="7681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模型</a:t>
            </a:r>
            <a:r>
              <a:rPr lang="en-US" altLang="zh-CN" sz="2800" b="1"/>
              <a:t>1, 2</a:t>
            </a:r>
            <a:r>
              <a:rPr lang="zh-CN" altLang="en-US" sz="2800" b="1"/>
              <a:t>对</a:t>
            </a:r>
            <a:r>
              <a:rPr lang="en-US" altLang="zh-CN" sz="2800" b="1"/>
              <a:t>4</a:t>
            </a:r>
            <a:r>
              <a:rPr lang="zh-CN" altLang="en-US" sz="2800" b="1"/>
              <a:t>种预报的优劣排序、相对分差都相同</a:t>
            </a:r>
          </a:p>
        </p:txBody>
      </p:sp>
      <p:sp>
        <p:nvSpPr>
          <p:cNvPr id="165899" name="Rectangle 11">
            <a:extLst>
              <a:ext uri="{FF2B5EF4-FFF2-40B4-BE49-F238E27FC236}">
                <a16:creationId xmlns:a16="http://schemas.microsoft.com/office/drawing/2014/main" id="{45C069CE-7BAE-42A1-ADFE-A9C82921B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284538"/>
            <a:ext cx="3433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f</a:t>
            </a:r>
            <a:r>
              <a:rPr lang="en-US" altLang="zh-CN" sz="2800" b="1"/>
              <a:t>~</a:t>
            </a:r>
            <a:r>
              <a:rPr lang="zh-CN" altLang="en-US" sz="2800" b="1"/>
              <a:t>理论上的有雨概率 </a:t>
            </a:r>
          </a:p>
        </p:txBody>
      </p:sp>
      <p:graphicFrame>
        <p:nvGraphicFramePr>
          <p:cNvPr id="165900" name="Object 12">
            <a:extLst>
              <a:ext uri="{FF2B5EF4-FFF2-40B4-BE49-F238E27FC236}">
                <a16:creationId xmlns:a16="http://schemas.microsoft.com/office/drawing/2014/main" id="{DEA60563-D1F1-4D73-8FA2-F2C1E0DECE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363" y="4508500"/>
          <a:ext cx="45370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7" name="公式" r:id="rId3" imgW="2654300" imgH="228600" progId="Equation.3">
                  <p:embed/>
                </p:oleObj>
              </mc:Choice>
              <mc:Fallback>
                <p:oleObj name="公式" r:id="rId3" imgW="265430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3" y="4508500"/>
                        <a:ext cx="45370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2" name="Object 14">
            <a:extLst>
              <a:ext uri="{FF2B5EF4-FFF2-40B4-BE49-F238E27FC236}">
                <a16:creationId xmlns:a16="http://schemas.microsoft.com/office/drawing/2014/main" id="{89F840BE-F790-4CA0-A845-1ABFD5FF1D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4533900"/>
          <a:ext cx="259238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8" name="公式" r:id="rId5" imgW="1308100" imgH="228600" progId="Equation.3">
                  <p:embed/>
                </p:oleObj>
              </mc:Choice>
              <mc:Fallback>
                <p:oleObj name="公式" r:id="rId5" imgW="13081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33900"/>
                        <a:ext cx="2592388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904" name="Rectangle 16">
            <a:extLst>
              <a:ext uri="{FF2B5EF4-FFF2-40B4-BE49-F238E27FC236}">
                <a16:creationId xmlns:a16="http://schemas.microsoft.com/office/drawing/2014/main" id="{A900D2BD-5428-48DF-A406-594117938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917950"/>
            <a:ext cx="2951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模型</a:t>
            </a:r>
            <a:r>
              <a:rPr lang="en-US" altLang="zh-CN" sz="2800" b="1"/>
              <a:t>3</a:t>
            </a:r>
            <a:r>
              <a:rPr lang="zh-CN" altLang="en-US" sz="2800" b="1"/>
              <a:t>的期望分数 </a:t>
            </a:r>
          </a:p>
        </p:txBody>
      </p:sp>
      <p:sp>
        <p:nvSpPr>
          <p:cNvPr id="46091" name="Rectangle 24">
            <a:extLst>
              <a:ext uri="{FF2B5EF4-FFF2-40B4-BE49-F238E27FC236}">
                <a16:creationId xmlns:a16="http://schemas.microsoft.com/office/drawing/2014/main" id="{94C6F410-BE1F-4681-9B36-BC0B15A79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533400"/>
            <a:ext cx="2708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p~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预报有雨概率</a:t>
            </a:r>
          </a:p>
        </p:txBody>
      </p:sp>
      <p:sp>
        <p:nvSpPr>
          <p:cNvPr id="46092" name="Rectangle 26">
            <a:extLst>
              <a:ext uri="{FF2B5EF4-FFF2-40B4-BE49-F238E27FC236}">
                <a16:creationId xmlns:a16="http://schemas.microsoft.com/office/drawing/2014/main" id="{5F2C93FA-57ED-44EC-9A68-C5EF558B1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533400"/>
            <a:ext cx="3529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00"/>
                </a:solidFill>
              </a:rPr>
              <a:t>v</a:t>
            </a:r>
            <a:r>
              <a:rPr lang="en-US" altLang="zh-CN" sz="2800" b="1">
                <a:solidFill>
                  <a:srgbClr val="000000"/>
                </a:solidFill>
              </a:rPr>
              <a:t>=1~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有雨， </a:t>
            </a:r>
            <a:r>
              <a:rPr lang="en-US" altLang="zh-CN" sz="2800" b="1" i="1">
                <a:solidFill>
                  <a:srgbClr val="000000"/>
                </a:solidFill>
              </a:rPr>
              <a:t>v</a:t>
            </a:r>
            <a:r>
              <a:rPr lang="en-US" altLang="zh-CN" sz="2800" b="1">
                <a:solidFill>
                  <a:srgbClr val="000000"/>
                </a:solidFill>
              </a:rPr>
              <a:t>=0~</a:t>
            </a:r>
            <a:r>
              <a:rPr lang="zh-CN" altLang="en-US" sz="2800" b="1">
                <a:solidFill>
                  <a:srgbClr val="000000"/>
                </a:solidFill>
                <a:cs typeface="Times New Roman" panose="02020603050405020304" pitchFamily="18" charset="0"/>
              </a:rPr>
              <a:t>无雨</a:t>
            </a:r>
          </a:p>
        </p:txBody>
      </p:sp>
      <p:sp>
        <p:nvSpPr>
          <p:cNvPr id="165915" name="Rectangle 27">
            <a:extLst>
              <a:ext uri="{FF2B5EF4-FFF2-40B4-BE49-F238E27FC236}">
                <a16:creationId xmlns:a16="http://schemas.microsoft.com/office/drawing/2014/main" id="{39F081C8-1479-4DFA-BCA0-D748311DA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860800"/>
            <a:ext cx="3744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v</a:t>
            </a:r>
            <a:r>
              <a:rPr lang="en-US" altLang="zh-CN" sz="2800" b="1"/>
              <a:t>=1)= </a:t>
            </a:r>
            <a:r>
              <a:rPr lang="en-US" altLang="zh-CN" sz="2800" b="1" i="1"/>
              <a:t>f</a:t>
            </a:r>
            <a:r>
              <a:rPr lang="en-US" altLang="zh-CN" sz="2800" b="1"/>
              <a:t>,  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v</a:t>
            </a:r>
            <a:r>
              <a:rPr lang="en-US" altLang="zh-CN" sz="2800" b="1"/>
              <a:t>=0)= 1</a:t>
            </a:r>
            <a:r>
              <a:rPr lang="en-US" altLang="zh-CN" b="1"/>
              <a:t>–</a:t>
            </a:r>
            <a:r>
              <a:rPr lang="en-US" altLang="zh-CN" sz="2800" b="1"/>
              <a:t> </a:t>
            </a:r>
            <a:r>
              <a:rPr lang="en-US" altLang="zh-CN" sz="2800" b="1" i="1"/>
              <a:t>f</a:t>
            </a:r>
            <a:r>
              <a:rPr lang="en-US" altLang="zh-CN" sz="2800" b="1"/>
              <a:t> </a:t>
            </a:r>
          </a:p>
        </p:txBody>
      </p:sp>
      <p:sp>
        <p:nvSpPr>
          <p:cNvPr id="165916" name="Rectangle 28">
            <a:extLst>
              <a:ext uri="{FF2B5EF4-FFF2-40B4-BE49-F238E27FC236}">
                <a16:creationId xmlns:a16="http://schemas.microsoft.com/office/drawing/2014/main" id="{C56F0762-ADC2-4F8D-B338-E270CA784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84538"/>
            <a:ext cx="4294188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比较模型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与模型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的优劣 </a:t>
            </a:r>
          </a:p>
        </p:txBody>
      </p:sp>
      <p:sp>
        <p:nvSpPr>
          <p:cNvPr id="165917" name="Text Box 29">
            <a:extLst>
              <a:ext uri="{FF2B5EF4-FFF2-40B4-BE49-F238E27FC236}">
                <a16:creationId xmlns:a16="http://schemas.microsoft.com/office/drawing/2014/main" id="{8656FC11-EF35-4DEE-BA1E-D4B8DB091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850" y="4365625"/>
            <a:ext cx="1582738" cy="9461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/>
              <a:t>=</a:t>
            </a:r>
            <a:r>
              <a:rPr lang="en-US" altLang="zh-CN" sz="2800" b="1" i="1"/>
              <a:t>f </a:t>
            </a:r>
            <a:r>
              <a:rPr lang="zh-CN" altLang="en-US" sz="2800" b="1"/>
              <a:t>时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S</a:t>
            </a:r>
            <a:r>
              <a:rPr lang="en-US" altLang="zh-CN" sz="2800" b="1"/>
              <a:t>)</a:t>
            </a:r>
            <a:r>
              <a:rPr lang="zh-CN" altLang="en-US" sz="2800" b="1"/>
              <a:t>最小</a:t>
            </a: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5993EB70-E375-460C-9A2B-65B92CA0549A}"/>
              </a:ext>
            </a:extLst>
          </p:cNvPr>
          <p:cNvGrpSpPr>
            <a:grpSpLocks/>
          </p:cNvGrpSpPr>
          <p:nvPr/>
        </p:nvGrpSpPr>
        <p:grpSpPr bwMode="auto">
          <a:xfrm>
            <a:off x="7740650" y="2708275"/>
            <a:ext cx="1250950" cy="519113"/>
            <a:chOff x="4876" y="1706"/>
            <a:chExt cx="788" cy="327"/>
          </a:xfrm>
        </p:grpSpPr>
        <p:sp>
          <p:nvSpPr>
            <p:cNvPr id="46105" name="Rectangle 10">
              <a:extLst>
                <a:ext uri="{FF2B5EF4-FFF2-40B4-BE49-F238E27FC236}">
                  <a16:creationId xmlns:a16="http://schemas.microsoft.com/office/drawing/2014/main" id="{64A92B6A-BD6F-4B49-B218-F48EF73FF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" y="1706"/>
              <a:ext cx="697" cy="327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等价</a:t>
              </a:r>
              <a:r>
                <a:rPr lang="en-US" altLang="zh-CN" sz="2800" b="1"/>
                <a:t>! </a:t>
              </a:r>
            </a:p>
          </p:txBody>
        </p:sp>
        <p:sp>
          <p:nvSpPr>
            <p:cNvPr id="46106" name="AutoShape 30">
              <a:extLst>
                <a:ext uri="{FF2B5EF4-FFF2-40B4-BE49-F238E27FC236}">
                  <a16:creationId xmlns:a16="http://schemas.microsoft.com/office/drawing/2014/main" id="{C2A584F4-04B1-4B26-81B9-6859ED0B22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1706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38">
            <a:extLst>
              <a:ext uri="{FF2B5EF4-FFF2-40B4-BE49-F238E27FC236}">
                <a16:creationId xmlns:a16="http://schemas.microsoft.com/office/drawing/2014/main" id="{0828566C-FD26-470E-B875-F4EAB74CD43A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5157788"/>
            <a:ext cx="4248150" cy="579437"/>
            <a:chOff x="204" y="3249"/>
            <a:chExt cx="2676" cy="365"/>
          </a:xfrm>
        </p:grpSpPr>
        <p:graphicFrame>
          <p:nvGraphicFramePr>
            <p:cNvPr id="46103" name="Object 17">
              <a:extLst>
                <a:ext uri="{FF2B5EF4-FFF2-40B4-BE49-F238E27FC236}">
                  <a16:creationId xmlns:a16="http://schemas.microsoft.com/office/drawing/2014/main" id="{19DA0AC1-83C2-4402-8FF3-7EF9179415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01" y="3249"/>
            <a:ext cx="1179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9" name="公式" r:id="rId7" imgW="825500" imgH="254000" progId="Equation.3">
                    <p:embed/>
                  </p:oleObj>
                </mc:Choice>
                <mc:Fallback>
                  <p:oleObj name="公式" r:id="rId7" imgW="825500" imgH="2540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3249"/>
                          <a:ext cx="1179" cy="365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04" name="Rectangle 32">
              <a:extLst>
                <a:ext uri="{FF2B5EF4-FFF2-40B4-BE49-F238E27FC236}">
                  <a16:creationId xmlns:a16="http://schemas.microsoft.com/office/drawing/2014/main" id="{B7359F96-EBD1-425C-8109-5DAF3024A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3266"/>
              <a:ext cx="1542" cy="327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考察一般模型 </a:t>
              </a:r>
            </a:p>
          </p:txBody>
        </p:sp>
      </p:grpSp>
      <p:sp>
        <p:nvSpPr>
          <p:cNvPr id="165921" name="Rectangle 33">
            <a:extLst>
              <a:ext uri="{FF2B5EF4-FFF2-40B4-BE49-F238E27FC236}">
                <a16:creationId xmlns:a16="http://schemas.microsoft.com/office/drawing/2014/main" id="{1A36F41F-6790-4407-8D15-6AD7B4B9C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157788"/>
            <a:ext cx="2374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求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S</a:t>
            </a:r>
            <a:r>
              <a:rPr lang="en-US" altLang="zh-CN" sz="2800" b="1"/>
              <a:t>)</a:t>
            </a:r>
            <a:r>
              <a:rPr lang="zh-CN" altLang="en-US" sz="2800" b="1"/>
              <a:t>的极值 </a:t>
            </a:r>
          </a:p>
        </p:txBody>
      </p:sp>
      <p:sp>
        <p:nvSpPr>
          <p:cNvPr id="165923" name="Rectangle 35">
            <a:extLst>
              <a:ext uri="{FF2B5EF4-FFF2-40B4-BE49-F238E27FC236}">
                <a16:creationId xmlns:a16="http://schemas.microsoft.com/office/drawing/2014/main" id="{8EB98CB8-8CE9-44E4-BEE6-BE3477928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5805488"/>
            <a:ext cx="3665537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此意义下模型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最佳！ </a:t>
            </a:r>
          </a:p>
        </p:txBody>
      </p:sp>
      <p:grpSp>
        <p:nvGrpSpPr>
          <p:cNvPr id="4" name="Group 37">
            <a:extLst>
              <a:ext uri="{FF2B5EF4-FFF2-40B4-BE49-F238E27FC236}">
                <a16:creationId xmlns:a16="http://schemas.microsoft.com/office/drawing/2014/main" id="{147404DE-82A9-41AB-8BD2-806053AD7D46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5805488"/>
            <a:ext cx="4741863" cy="519112"/>
            <a:chOff x="340" y="3657"/>
            <a:chExt cx="2987" cy="327"/>
          </a:xfrm>
        </p:grpSpPr>
        <p:sp>
          <p:nvSpPr>
            <p:cNvPr id="46101" name="Rectangle 34">
              <a:extLst>
                <a:ext uri="{FF2B5EF4-FFF2-40B4-BE49-F238E27FC236}">
                  <a16:creationId xmlns:a16="http://schemas.microsoft.com/office/drawing/2014/main" id="{D89328E2-E9C9-4F1E-8405-0CF03202A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657"/>
              <a:ext cx="28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仅当</a:t>
              </a:r>
              <a:r>
                <a:rPr lang="en-US" altLang="zh-CN" sz="2800" b="1" i="1"/>
                <a:t>n</a:t>
              </a:r>
              <a:r>
                <a:rPr lang="en-US" altLang="zh-CN" sz="2800" b="1"/>
                <a:t>=2</a:t>
              </a:r>
              <a:r>
                <a:rPr lang="zh-CN" altLang="en-US" sz="2800" b="1"/>
                <a:t>时</a:t>
              </a:r>
              <a:r>
                <a:rPr lang="en-US" altLang="zh-CN" sz="2800" b="1" i="1"/>
                <a:t>p</a:t>
              </a:r>
              <a:r>
                <a:rPr lang="en-US" altLang="zh-CN" sz="2800" b="1"/>
                <a:t>=</a:t>
              </a:r>
              <a:r>
                <a:rPr lang="en-US" altLang="zh-CN" sz="2800" b="1" i="1"/>
                <a:t>f</a:t>
              </a:r>
              <a:r>
                <a:rPr lang="zh-CN" altLang="en-US" sz="2800" b="1"/>
                <a:t>才能</a:t>
              </a:r>
              <a:r>
                <a:rPr lang="en-US" altLang="zh-CN" sz="2800" b="1" i="1"/>
                <a:t>E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S</a:t>
              </a:r>
              <a:r>
                <a:rPr lang="en-US" altLang="zh-CN" sz="2800" b="1"/>
                <a:t>)</a:t>
              </a:r>
              <a:r>
                <a:rPr lang="zh-CN" altLang="en-US" sz="2800" b="1"/>
                <a:t>最小 </a:t>
              </a:r>
            </a:p>
          </p:txBody>
        </p:sp>
        <p:sp>
          <p:nvSpPr>
            <p:cNvPr id="46102" name="AutoShape 36">
              <a:extLst>
                <a:ext uri="{FF2B5EF4-FFF2-40B4-BE49-F238E27FC236}">
                  <a16:creationId xmlns:a16="http://schemas.microsoft.com/office/drawing/2014/main" id="{35B9A1D6-F8BD-4402-ADDB-3B11C9091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3657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6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65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65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000"/>
                                        <p:tgtEl>
                                          <p:spTgt spid="165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3" grpId="0"/>
      <p:bldP spid="165894" grpId="0"/>
      <p:bldP spid="165895" grpId="0"/>
      <p:bldP spid="165896" grpId="0"/>
      <p:bldP spid="165899" grpId="0"/>
      <p:bldP spid="165904" grpId="0"/>
      <p:bldP spid="165915" grpId="0"/>
      <p:bldP spid="165916" grpId="0" animBg="1"/>
      <p:bldP spid="165917" grpId="0" animBg="1"/>
      <p:bldP spid="165921" grpId="0"/>
      <p:bldP spid="1659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">
            <a:extLst>
              <a:ext uri="{FF2B5EF4-FFF2-40B4-BE49-F238E27FC236}">
                <a16:creationId xmlns:a16="http://schemas.microsoft.com/office/drawing/2014/main" id="{F4DAF3FF-A8BD-4825-8405-B59850F5D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4813"/>
            <a:ext cx="1944687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图形模型</a:t>
            </a:r>
          </a:p>
        </p:txBody>
      </p:sp>
      <p:sp>
        <p:nvSpPr>
          <p:cNvPr id="47107" name="Text Box 7">
            <a:extLst>
              <a:ext uri="{FF2B5EF4-FFF2-40B4-BE49-F238E27FC236}">
                <a16:creationId xmlns:a16="http://schemas.microsoft.com/office/drawing/2014/main" id="{4F8F480A-5845-441A-82FB-047D0654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692150"/>
            <a:ext cx="1225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algn="just" eaLnBrk="1" hangingPunct="1">
              <a:lnSpc>
                <a:spcPct val="80000"/>
              </a:lnSpc>
            </a:pPr>
            <a:endParaRPr lang="zh-CN" altLang="zh-CN" sz="2000"/>
          </a:p>
        </p:txBody>
      </p:sp>
      <p:grpSp>
        <p:nvGrpSpPr>
          <p:cNvPr id="2" name="Group 43">
            <a:extLst>
              <a:ext uri="{FF2B5EF4-FFF2-40B4-BE49-F238E27FC236}">
                <a16:creationId xmlns:a16="http://schemas.microsoft.com/office/drawing/2014/main" id="{EC2E90DF-269E-4C28-AECD-43563557E307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908050"/>
            <a:ext cx="3986212" cy="2124075"/>
            <a:chOff x="687" y="1071"/>
            <a:chExt cx="2511" cy="1338"/>
          </a:xfrm>
        </p:grpSpPr>
        <p:sp>
          <p:nvSpPr>
            <p:cNvPr id="47145" name="Text Box 9">
              <a:extLst>
                <a:ext uri="{FF2B5EF4-FFF2-40B4-BE49-F238E27FC236}">
                  <a16:creationId xmlns:a16="http://schemas.microsoft.com/office/drawing/2014/main" id="{DEA07B8E-878E-49C5-A1B9-846498CC2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7" y="1382"/>
              <a:ext cx="1954" cy="3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(1)       (1) (1)   (3)    (1) (2)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 *           *   *     *       *   *</a:t>
              </a:r>
            </a:p>
          </p:txBody>
        </p:sp>
        <p:sp>
          <p:nvSpPr>
            <p:cNvPr id="47146" name="Text Box 10">
              <a:extLst>
                <a:ext uri="{FF2B5EF4-FFF2-40B4-BE49-F238E27FC236}">
                  <a16:creationId xmlns:a16="http://schemas.microsoft.com/office/drawing/2014/main" id="{020FE418-1395-4A03-96AD-60BFE78B2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889"/>
              <a:ext cx="2087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(1)(1)(2)(3)(3)(1)(3)(2)(4)(2)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 *  *   *   *   *  *   *  *   *  *</a:t>
              </a:r>
            </a:p>
            <a:p>
              <a:pPr algn="just" eaLnBrk="1" hangingPunct="1">
                <a:lnSpc>
                  <a:spcPct val="64000"/>
                </a:lnSpc>
              </a:pPr>
              <a:r>
                <a:rPr lang="en-US" altLang="zh-CN" sz="2000"/>
                <a:t>0     0.2     0.4     0.6    0.8    1</a:t>
              </a:r>
            </a:p>
          </p:txBody>
        </p:sp>
        <p:sp>
          <p:nvSpPr>
            <p:cNvPr id="47147" name="Line 14">
              <a:extLst>
                <a:ext uri="{FF2B5EF4-FFF2-40B4-BE49-F238E27FC236}">
                  <a16:creationId xmlns:a16="http://schemas.microsoft.com/office/drawing/2014/main" id="{F90658A0-E725-4431-8DAD-209E155F1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2" y="2107"/>
              <a:ext cx="1839" cy="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8" name="Line 17">
              <a:extLst>
                <a:ext uri="{FF2B5EF4-FFF2-40B4-BE49-F238E27FC236}">
                  <a16:creationId xmlns:a16="http://schemas.microsoft.com/office/drawing/2014/main" id="{B52264E1-0C8F-4276-AE2D-8D55157808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31" y="1253"/>
              <a:ext cx="25" cy="8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9" name="Text Box 21">
              <a:extLst>
                <a:ext uri="{FF2B5EF4-FFF2-40B4-BE49-F238E27FC236}">
                  <a16:creationId xmlns:a16="http://schemas.microsoft.com/office/drawing/2014/main" id="{422C0036-0D23-438B-84CC-268EB0648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979"/>
              <a:ext cx="18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p</a:t>
              </a:r>
              <a:endParaRPr lang="en-US" altLang="zh-CN" sz="2000" b="1"/>
            </a:p>
          </p:txBody>
        </p:sp>
        <p:sp>
          <p:nvSpPr>
            <p:cNvPr id="47150" name="Text Box 33">
              <a:extLst>
                <a:ext uri="{FF2B5EF4-FFF2-40B4-BE49-F238E27FC236}">
                  <a16:creationId xmlns:a16="http://schemas.microsoft.com/office/drawing/2014/main" id="{732B4F1C-09CB-41CD-8421-B0204EBF1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455"/>
              <a:ext cx="402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v</a:t>
              </a:r>
              <a:r>
                <a:rPr lang="en-US" altLang="zh-CN" sz="2000" b="1"/>
                <a:t>=1</a:t>
              </a:r>
            </a:p>
          </p:txBody>
        </p:sp>
        <p:sp>
          <p:nvSpPr>
            <p:cNvPr id="47151" name="Text Box 34">
              <a:extLst>
                <a:ext uri="{FF2B5EF4-FFF2-40B4-BE49-F238E27FC236}">
                  <a16:creationId xmlns:a16="http://schemas.microsoft.com/office/drawing/2014/main" id="{3B858B7B-40B2-406F-BE43-F89C867F1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" y="1938"/>
              <a:ext cx="42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v</a:t>
              </a:r>
              <a:r>
                <a:rPr lang="en-US" altLang="zh-CN" sz="2000" b="1"/>
                <a:t>=0</a:t>
              </a:r>
            </a:p>
          </p:txBody>
        </p:sp>
        <p:sp>
          <p:nvSpPr>
            <p:cNvPr id="47152" name="Line 37">
              <a:extLst>
                <a:ext uri="{FF2B5EF4-FFF2-40B4-BE49-F238E27FC236}">
                  <a16:creationId xmlns:a16="http://schemas.microsoft.com/office/drawing/2014/main" id="{0C92DD93-3EC7-452B-87A4-57AD7A233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1616"/>
              <a:ext cx="15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3" name="Text Box 39">
              <a:extLst>
                <a:ext uri="{FF2B5EF4-FFF2-40B4-BE49-F238E27FC236}">
                  <a16:creationId xmlns:a16="http://schemas.microsoft.com/office/drawing/2014/main" id="{037DC385-3F5E-46AB-A39A-7D1E8AAF55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1071"/>
              <a:ext cx="748" cy="223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A</a:t>
              </a:r>
              <a:endParaRPr lang="en-US" altLang="zh-CN"/>
            </a:p>
          </p:txBody>
        </p:sp>
      </p:grpSp>
      <p:grpSp>
        <p:nvGrpSpPr>
          <p:cNvPr id="3" name="Group 47">
            <a:extLst>
              <a:ext uri="{FF2B5EF4-FFF2-40B4-BE49-F238E27FC236}">
                <a16:creationId xmlns:a16="http://schemas.microsoft.com/office/drawing/2014/main" id="{1465F996-7009-4B88-BFD4-E575542E801F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573463"/>
            <a:ext cx="3929062" cy="2087562"/>
            <a:chOff x="360" y="2523"/>
            <a:chExt cx="2475" cy="1315"/>
          </a:xfrm>
        </p:grpSpPr>
        <p:sp>
          <p:nvSpPr>
            <p:cNvPr id="47136" name="Text Box 12">
              <a:extLst>
                <a:ext uri="{FF2B5EF4-FFF2-40B4-BE49-F238E27FC236}">
                  <a16:creationId xmlns:a16="http://schemas.microsoft.com/office/drawing/2014/main" id="{598DA9B9-4294-4B13-8D1C-34E9C7C45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2843"/>
              <a:ext cx="1950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(1)(1)       (2) (1)  (1)(3)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 *  *          *    *    *   * </a:t>
              </a:r>
            </a:p>
          </p:txBody>
        </p:sp>
        <p:sp>
          <p:nvSpPr>
            <p:cNvPr id="47137" name="Text Box 13">
              <a:extLst>
                <a:ext uri="{FF2B5EF4-FFF2-40B4-BE49-F238E27FC236}">
                  <a16:creationId xmlns:a16="http://schemas.microsoft.com/office/drawing/2014/main" id="{EE8F6DFC-A34A-470E-9665-A27E38438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" y="3318"/>
              <a:ext cx="2191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(5)(6)(4)(1)(1)(2)(3)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 *  *   *  *   *   *   *</a:t>
              </a:r>
            </a:p>
            <a:p>
              <a:pPr algn="just" eaLnBrk="1" hangingPunct="1">
                <a:lnSpc>
                  <a:spcPct val="64000"/>
                </a:lnSpc>
              </a:pPr>
              <a:r>
                <a:rPr lang="en-US" altLang="zh-CN" sz="2000"/>
                <a:t>0     0.2    0.4      0.6    0.8    1</a:t>
              </a:r>
            </a:p>
          </p:txBody>
        </p:sp>
        <p:sp>
          <p:nvSpPr>
            <p:cNvPr id="47138" name="Line 18">
              <a:extLst>
                <a:ext uri="{FF2B5EF4-FFF2-40B4-BE49-F238E27FC236}">
                  <a16:creationId xmlns:a16="http://schemas.microsoft.com/office/drawing/2014/main" id="{9DA06EB9-A90C-4E15-BF20-6E9F4A7A9D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0" y="2825"/>
              <a:ext cx="1" cy="7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9" name="Text Box 24">
              <a:extLst>
                <a:ext uri="{FF2B5EF4-FFF2-40B4-BE49-F238E27FC236}">
                  <a16:creationId xmlns:a16="http://schemas.microsoft.com/office/drawing/2014/main" id="{EF90DFCD-5937-4B32-B2A1-2B149B914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" y="3390"/>
              <a:ext cx="161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p</a:t>
              </a:r>
              <a:endParaRPr lang="en-US" altLang="zh-CN" sz="2000" b="1"/>
            </a:p>
          </p:txBody>
        </p:sp>
        <p:sp>
          <p:nvSpPr>
            <p:cNvPr id="47140" name="Line 25">
              <a:extLst>
                <a:ext uri="{FF2B5EF4-FFF2-40B4-BE49-F238E27FC236}">
                  <a16:creationId xmlns:a16="http://schemas.microsoft.com/office/drawing/2014/main" id="{304D64D7-B568-4D35-9777-5062FD816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1" y="3565"/>
              <a:ext cx="1761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1" name="Text Box 26">
              <a:extLst>
                <a:ext uri="{FF2B5EF4-FFF2-40B4-BE49-F238E27FC236}">
                  <a16:creationId xmlns:a16="http://schemas.microsoft.com/office/drawing/2014/main" id="{9456A2F7-0B21-4F4B-8E3E-B61994F1E5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2931"/>
              <a:ext cx="369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v</a:t>
              </a:r>
              <a:r>
                <a:rPr lang="en-US" altLang="zh-CN" sz="2000" b="1"/>
                <a:t>=1</a:t>
              </a:r>
            </a:p>
          </p:txBody>
        </p:sp>
        <p:sp>
          <p:nvSpPr>
            <p:cNvPr id="47142" name="Text Box 27">
              <a:extLst>
                <a:ext uri="{FF2B5EF4-FFF2-40B4-BE49-F238E27FC236}">
                  <a16:creationId xmlns:a16="http://schemas.microsoft.com/office/drawing/2014/main" id="{DBCD6499-772A-48FA-8F2E-497580409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" y="3434"/>
              <a:ext cx="388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v</a:t>
              </a:r>
              <a:r>
                <a:rPr lang="en-US" altLang="zh-CN" sz="2000" b="1"/>
                <a:t>=0</a:t>
              </a:r>
            </a:p>
          </p:txBody>
        </p:sp>
        <p:sp>
          <p:nvSpPr>
            <p:cNvPr id="47143" name="Line 28">
              <a:extLst>
                <a:ext uri="{FF2B5EF4-FFF2-40B4-BE49-F238E27FC236}">
                  <a16:creationId xmlns:a16="http://schemas.microsoft.com/office/drawing/2014/main" id="{4910FC97-248B-4567-827D-17BE58FAF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" y="3069"/>
              <a:ext cx="15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44" name="Text Box 41">
              <a:extLst>
                <a:ext uri="{FF2B5EF4-FFF2-40B4-BE49-F238E27FC236}">
                  <a16:creationId xmlns:a16="http://schemas.microsoft.com/office/drawing/2014/main" id="{424F2954-B2DB-4460-B31D-BC544A37A0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523"/>
              <a:ext cx="748" cy="22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/>
                <a:t>预报</a:t>
              </a:r>
              <a:r>
                <a:rPr lang="en-US" altLang="zh-CN" b="1"/>
                <a:t>C</a:t>
              </a:r>
              <a:endParaRPr lang="en-US" altLang="zh-CN"/>
            </a:p>
          </p:txBody>
        </p:sp>
      </p:grpSp>
      <p:grpSp>
        <p:nvGrpSpPr>
          <p:cNvPr id="4" name="Group 48">
            <a:extLst>
              <a:ext uri="{FF2B5EF4-FFF2-40B4-BE49-F238E27FC236}">
                <a16:creationId xmlns:a16="http://schemas.microsoft.com/office/drawing/2014/main" id="{426632C4-7EDD-47E2-B425-F9895802562E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3573463"/>
            <a:ext cx="4033837" cy="2049462"/>
            <a:chOff x="3061" y="2568"/>
            <a:chExt cx="2541" cy="1291"/>
          </a:xfrm>
        </p:grpSpPr>
        <p:sp>
          <p:nvSpPr>
            <p:cNvPr id="47127" name="Text Box 11">
              <a:extLst>
                <a:ext uri="{FF2B5EF4-FFF2-40B4-BE49-F238E27FC236}">
                  <a16:creationId xmlns:a16="http://schemas.microsoft.com/office/drawing/2014/main" id="{96387B73-EAA0-4E6F-87A6-E1BE2EDE0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339"/>
              <a:ext cx="2268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(2)(4)(4)(6)(5)(1) 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 *  *   *   *   *  *  </a:t>
              </a:r>
            </a:p>
            <a:p>
              <a:pPr algn="just" eaLnBrk="1" hangingPunct="1">
                <a:lnSpc>
                  <a:spcPct val="64000"/>
                </a:lnSpc>
              </a:pPr>
              <a:r>
                <a:rPr lang="en-US" altLang="zh-CN" sz="2000"/>
                <a:t> 0     0.2     0.4     0.6    0.8    1</a:t>
              </a:r>
            </a:p>
          </p:txBody>
        </p:sp>
        <p:sp>
          <p:nvSpPr>
            <p:cNvPr id="47128" name="Line 16">
              <a:extLst>
                <a:ext uri="{FF2B5EF4-FFF2-40B4-BE49-F238E27FC236}">
                  <a16:creationId xmlns:a16="http://schemas.microsoft.com/office/drawing/2014/main" id="{D89FB8BE-0275-44DA-AB90-045B49A83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2" y="3566"/>
              <a:ext cx="1842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9" name="Line 20">
              <a:extLst>
                <a:ext uri="{FF2B5EF4-FFF2-40B4-BE49-F238E27FC236}">
                  <a16:creationId xmlns:a16="http://schemas.microsoft.com/office/drawing/2014/main" id="{062B1F16-6A14-4FFB-AC76-E4A68536D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2" y="2823"/>
              <a:ext cx="0" cy="7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0" name="Text Box 23">
              <a:extLst>
                <a:ext uri="{FF2B5EF4-FFF2-40B4-BE49-F238E27FC236}">
                  <a16:creationId xmlns:a16="http://schemas.microsoft.com/office/drawing/2014/main" id="{D545DAC9-082F-4F87-8198-22A11B0C9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3" y="3418"/>
              <a:ext cx="21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p</a:t>
              </a:r>
              <a:endParaRPr lang="en-US" altLang="zh-CN" sz="2000" b="1"/>
            </a:p>
          </p:txBody>
        </p:sp>
        <p:sp>
          <p:nvSpPr>
            <p:cNvPr id="47131" name="Text Box 29">
              <a:extLst>
                <a:ext uri="{FF2B5EF4-FFF2-40B4-BE49-F238E27FC236}">
                  <a16:creationId xmlns:a16="http://schemas.microsoft.com/office/drawing/2014/main" id="{07E71974-CE7D-40ED-8C12-B13C9D4EF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" y="2969"/>
              <a:ext cx="365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v</a:t>
              </a:r>
              <a:r>
                <a:rPr lang="en-US" altLang="zh-CN" sz="2000" b="1"/>
                <a:t>=1</a:t>
              </a:r>
            </a:p>
          </p:txBody>
        </p:sp>
        <p:sp>
          <p:nvSpPr>
            <p:cNvPr id="47132" name="Text Box 30">
              <a:extLst>
                <a:ext uri="{FF2B5EF4-FFF2-40B4-BE49-F238E27FC236}">
                  <a16:creationId xmlns:a16="http://schemas.microsoft.com/office/drawing/2014/main" id="{F734E3B6-AA80-47A2-BA75-73322C648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3452"/>
              <a:ext cx="38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v</a:t>
              </a:r>
              <a:r>
                <a:rPr lang="en-US" altLang="zh-CN" sz="2000" b="1"/>
                <a:t>=0</a:t>
              </a:r>
            </a:p>
          </p:txBody>
        </p:sp>
        <p:sp>
          <p:nvSpPr>
            <p:cNvPr id="47133" name="Text Box 31">
              <a:extLst>
                <a:ext uri="{FF2B5EF4-FFF2-40B4-BE49-F238E27FC236}">
                  <a16:creationId xmlns:a16="http://schemas.microsoft.com/office/drawing/2014/main" id="{A78BE900-E2BC-4173-9BAD-94FEB5AE5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5" y="2892"/>
              <a:ext cx="1605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      (2)(1)(1)(2)(3)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/>
                <a:t>       *   *   *  *   *</a:t>
              </a:r>
            </a:p>
          </p:txBody>
        </p:sp>
        <p:sp>
          <p:nvSpPr>
            <p:cNvPr id="47134" name="Line 32">
              <a:extLst>
                <a:ext uri="{FF2B5EF4-FFF2-40B4-BE49-F238E27FC236}">
                  <a16:creationId xmlns:a16="http://schemas.microsoft.com/office/drawing/2014/main" id="{528E4282-44E8-4CCA-B518-25EE0D957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5" y="3112"/>
              <a:ext cx="158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35" name="Text Box 42">
              <a:extLst>
                <a:ext uri="{FF2B5EF4-FFF2-40B4-BE49-F238E27FC236}">
                  <a16:creationId xmlns:a16="http://schemas.microsoft.com/office/drawing/2014/main" id="{E4F37F55-13D6-4FE2-9DB8-1D08F10A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2" y="2568"/>
              <a:ext cx="748" cy="22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D</a:t>
              </a:r>
              <a:endParaRPr lang="en-US" altLang="zh-CN"/>
            </a:p>
          </p:txBody>
        </p:sp>
      </p:grpSp>
      <p:grpSp>
        <p:nvGrpSpPr>
          <p:cNvPr id="5" name="Group 49">
            <a:extLst>
              <a:ext uri="{FF2B5EF4-FFF2-40B4-BE49-F238E27FC236}">
                <a16:creationId xmlns:a16="http://schemas.microsoft.com/office/drawing/2014/main" id="{633E3D6C-D845-40F0-B9D3-F721D259686E}"/>
              </a:ext>
            </a:extLst>
          </p:cNvPr>
          <p:cNvGrpSpPr>
            <a:grpSpLocks/>
          </p:cNvGrpSpPr>
          <p:nvPr/>
        </p:nvGrpSpPr>
        <p:grpSpPr bwMode="auto">
          <a:xfrm>
            <a:off x="4905375" y="981075"/>
            <a:ext cx="3814763" cy="2009775"/>
            <a:chOff x="3090" y="1257"/>
            <a:chExt cx="2403" cy="1266"/>
          </a:xfrm>
        </p:grpSpPr>
        <p:sp>
          <p:nvSpPr>
            <p:cNvPr id="47118" name="Text Box 8">
              <a:extLst>
                <a:ext uri="{FF2B5EF4-FFF2-40B4-BE49-F238E27FC236}">
                  <a16:creationId xmlns:a16="http://schemas.microsoft.com/office/drawing/2014/main" id="{69E72E43-BAC3-4BDE-B81F-928C0CD32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7" y="2003"/>
              <a:ext cx="1852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 b="1"/>
                <a:t>          (22) 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 b="1"/>
                <a:t>            *  </a:t>
              </a:r>
            </a:p>
            <a:p>
              <a:pPr algn="just" eaLnBrk="1" hangingPunct="1">
                <a:lnSpc>
                  <a:spcPct val="64000"/>
                </a:lnSpc>
              </a:pPr>
              <a:r>
                <a:rPr lang="en-US" altLang="zh-CN" sz="2000" b="1"/>
                <a:t>0    0.2    0.4    0.6   0.8   1</a:t>
              </a:r>
            </a:p>
          </p:txBody>
        </p:sp>
        <p:sp>
          <p:nvSpPr>
            <p:cNvPr id="47119" name="Line 15">
              <a:extLst>
                <a:ext uri="{FF2B5EF4-FFF2-40B4-BE49-F238E27FC236}">
                  <a16:creationId xmlns:a16="http://schemas.microsoft.com/office/drawing/2014/main" id="{F354BE1C-BDA6-4493-9F8B-E7E84A7ED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7" y="2212"/>
              <a:ext cx="1692" cy="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0" name="Line 19">
              <a:extLst>
                <a:ext uri="{FF2B5EF4-FFF2-40B4-BE49-F238E27FC236}">
                  <a16:creationId xmlns:a16="http://schemas.microsoft.com/office/drawing/2014/main" id="{B1460470-2105-4BB9-A19C-7FEF3E984C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6" y="1469"/>
              <a:ext cx="0" cy="7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1" name="Text Box 22">
              <a:extLst>
                <a:ext uri="{FF2B5EF4-FFF2-40B4-BE49-F238E27FC236}">
                  <a16:creationId xmlns:a16="http://schemas.microsoft.com/office/drawing/2014/main" id="{6185D313-9A59-4BF6-9BE6-B18FA0969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4" y="2121"/>
              <a:ext cx="209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p</a:t>
              </a:r>
              <a:endParaRPr lang="en-US" altLang="zh-CN" sz="2000" b="1"/>
            </a:p>
          </p:txBody>
        </p:sp>
        <p:sp>
          <p:nvSpPr>
            <p:cNvPr id="47122" name="Text Box 35">
              <a:extLst>
                <a:ext uri="{FF2B5EF4-FFF2-40B4-BE49-F238E27FC236}">
                  <a16:creationId xmlns:a16="http://schemas.microsoft.com/office/drawing/2014/main" id="{46400C46-4C62-4DA4-946D-FF223DF9D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7" y="1536"/>
              <a:ext cx="418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v</a:t>
              </a:r>
              <a:r>
                <a:rPr lang="en-US" altLang="zh-CN" sz="2000" b="1"/>
                <a:t>=1</a:t>
              </a:r>
            </a:p>
          </p:txBody>
        </p:sp>
        <p:sp>
          <p:nvSpPr>
            <p:cNvPr id="47123" name="Text Box 36">
              <a:extLst>
                <a:ext uri="{FF2B5EF4-FFF2-40B4-BE49-F238E27FC236}">
                  <a16:creationId xmlns:a16="http://schemas.microsoft.com/office/drawing/2014/main" id="{5FEBA2D8-BBAD-492A-882A-378F89825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2019"/>
              <a:ext cx="439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b="1" i="1"/>
                <a:t>v</a:t>
              </a:r>
              <a:r>
                <a:rPr lang="en-US" altLang="zh-CN" sz="2000" b="1"/>
                <a:t>=0</a:t>
              </a:r>
            </a:p>
          </p:txBody>
        </p:sp>
        <p:sp>
          <p:nvSpPr>
            <p:cNvPr id="47124" name="Line 38">
              <a:extLst>
                <a:ext uri="{FF2B5EF4-FFF2-40B4-BE49-F238E27FC236}">
                  <a16:creationId xmlns:a16="http://schemas.microsoft.com/office/drawing/2014/main" id="{7C7BB524-6146-4DC5-819D-69A94FCEDA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5" y="1708"/>
              <a:ext cx="1583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25" name="Text Box 40">
              <a:extLst>
                <a:ext uri="{FF2B5EF4-FFF2-40B4-BE49-F238E27FC236}">
                  <a16:creationId xmlns:a16="http://schemas.microsoft.com/office/drawing/2014/main" id="{33895176-BCD3-4A98-AE56-5C6D7F0B5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1257"/>
              <a:ext cx="746" cy="2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B</a:t>
              </a:r>
              <a:endParaRPr lang="en-US" altLang="zh-CN" b="1"/>
            </a:p>
          </p:txBody>
        </p:sp>
        <p:sp>
          <p:nvSpPr>
            <p:cNvPr id="47126" name="Text Box 44">
              <a:extLst>
                <a:ext uri="{FF2B5EF4-FFF2-40B4-BE49-F238E27FC236}">
                  <a16:creationId xmlns:a16="http://schemas.microsoft.com/office/drawing/2014/main" id="{4D6C2E14-932B-440A-B70D-10EC75AF36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1486"/>
              <a:ext cx="54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lvl="1" algn="just" eaLnBrk="1" hangingPunct="1">
                <a:lnSpc>
                  <a:spcPct val="80000"/>
                </a:lnSpc>
              </a:pPr>
              <a:r>
                <a:rPr lang="en-US" altLang="zh-CN" sz="2000" b="1"/>
                <a:t>(9)</a:t>
              </a:r>
            </a:p>
            <a:p>
              <a:pPr algn="just" eaLnBrk="1" hangingPunct="1">
                <a:lnSpc>
                  <a:spcPct val="80000"/>
                </a:lnSpc>
              </a:pPr>
              <a:r>
                <a:rPr lang="en-US" altLang="zh-CN" sz="2000" b="1"/>
                <a:t>        *</a:t>
              </a:r>
            </a:p>
          </p:txBody>
        </p:sp>
      </p:grpSp>
      <p:sp>
        <p:nvSpPr>
          <p:cNvPr id="166962" name="Rectangle 50">
            <a:extLst>
              <a:ext uri="{FF2B5EF4-FFF2-40B4-BE49-F238E27FC236}">
                <a16:creationId xmlns:a16="http://schemas.microsoft.com/office/drawing/2014/main" id="{8981CD06-7998-425B-A7A0-60B1DB9B9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68638"/>
            <a:ext cx="4548187" cy="4572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*</a:t>
            </a:r>
            <a:r>
              <a:rPr lang="zh-CN" altLang="en-US" b="1"/>
              <a:t>号几乎随机分布</a:t>
            </a:r>
            <a:r>
              <a:rPr lang="en-US" altLang="zh-CN" b="1"/>
              <a:t>, </a:t>
            </a:r>
            <a:r>
              <a:rPr lang="zh-CN" altLang="en-US" b="1"/>
              <a:t>预报效果很差 </a:t>
            </a:r>
          </a:p>
        </p:txBody>
      </p:sp>
      <p:sp>
        <p:nvSpPr>
          <p:cNvPr id="166963" name="Rectangle 51">
            <a:extLst>
              <a:ext uri="{FF2B5EF4-FFF2-40B4-BE49-F238E27FC236}">
                <a16:creationId xmlns:a16="http://schemas.microsoft.com/office/drawing/2014/main" id="{06474B0E-0D85-469E-B68B-7272227E5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04813"/>
            <a:ext cx="116522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模型</a:t>
            </a:r>
            <a:r>
              <a:rPr lang="en-US" altLang="zh-CN" sz="2800" b="1"/>
              <a:t>1 </a:t>
            </a:r>
          </a:p>
        </p:txBody>
      </p:sp>
      <p:sp>
        <p:nvSpPr>
          <p:cNvPr id="166964" name="Rectangle 52">
            <a:extLst>
              <a:ext uri="{FF2B5EF4-FFF2-40B4-BE49-F238E27FC236}">
                <a16:creationId xmlns:a16="http://schemas.microsoft.com/office/drawing/2014/main" id="{A9C61038-6834-41AA-8AB3-1AC3A84F2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043238"/>
            <a:ext cx="378142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*</a:t>
            </a:r>
            <a:r>
              <a:rPr lang="zh-CN" altLang="en-US" b="1"/>
              <a:t>号的</a:t>
            </a:r>
            <a:r>
              <a:rPr lang="en-US" altLang="zh-CN" b="1" i="1"/>
              <a:t>p</a:t>
            </a:r>
            <a:r>
              <a:rPr lang="zh-CN" altLang="en-US" b="1"/>
              <a:t>没有变化</a:t>
            </a:r>
            <a:r>
              <a:rPr lang="en-US" altLang="zh-CN" b="1"/>
              <a:t>, </a:t>
            </a:r>
            <a:r>
              <a:rPr lang="zh-CN" altLang="en-US" b="1"/>
              <a:t>毫无用途 </a:t>
            </a:r>
          </a:p>
        </p:txBody>
      </p:sp>
      <p:sp>
        <p:nvSpPr>
          <p:cNvPr id="166965" name="Rectangle 53">
            <a:extLst>
              <a:ext uri="{FF2B5EF4-FFF2-40B4-BE49-F238E27FC236}">
                <a16:creationId xmlns:a16="http://schemas.microsoft.com/office/drawing/2014/main" id="{EF51B08A-F470-4F5B-8CB3-825B75FE9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589588"/>
            <a:ext cx="4392612" cy="82232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v</a:t>
            </a:r>
            <a:r>
              <a:rPr lang="en-US" altLang="zh-CN" b="1"/>
              <a:t>=0*</a:t>
            </a:r>
            <a:r>
              <a:rPr lang="zh-CN" altLang="en-US" b="1"/>
              <a:t>号在</a:t>
            </a:r>
            <a:r>
              <a:rPr lang="en-US" altLang="zh-CN" b="1" i="1"/>
              <a:t>p</a:t>
            </a:r>
            <a:r>
              <a:rPr lang="en-US" altLang="zh-CN" b="1"/>
              <a:t>=0.6</a:t>
            </a:r>
            <a:r>
              <a:rPr lang="zh-CN" altLang="en-US" b="1"/>
              <a:t>左边</a:t>
            </a:r>
            <a:r>
              <a:rPr lang="en-US" altLang="zh-CN" b="1"/>
              <a:t>,</a:t>
            </a:r>
            <a:r>
              <a:rPr lang="zh-CN" altLang="en-US" b="1"/>
              <a:t>无雨预报较好</a:t>
            </a:r>
            <a:r>
              <a:rPr lang="en-US" altLang="zh-CN" b="1"/>
              <a:t>; </a:t>
            </a:r>
            <a:r>
              <a:rPr lang="en-US" altLang="zh-CN" b="1" i="1"/>
              <a:t>v</a:t>
            </a:r>
            <a:r>
              <a:rPr lang="en-US" altLang="zh-CN" b="1"/>
              <a:t>=1 *</a:t>
            </a:r>
            <a:r>
              <a:rPr lang="zh-CN" altLang="en-US" b="1"/>
              <a:t>号分散 </a:t>
            </a:r>
            <a:r>
              <a:rPr lang="en-US" altLang="zh-CN" b="1"/>
              <a:t>,</a:t>
            </a:r>
            <a:r>
              <a:rPr lang="zh-CN" altLang="en-US" b="1"/>
              <a:t>有雨预报较差  </a:t>
            </a:r>
          </a:p>
        </p:txBody>
      </p:sp>
      <p:sp>
        <p:nvSpPr>
          <p:cNvPr id="166966" name="Rectangle 54">
            <a:extLst>
              <a:ext uri="{FF2B5EF4-FFF2-40B4-BE49-F238E27FC236}">
                <a16:creationId xmlns:a16="http://schemas.microsoft.com/office/drawing/2014/main" id="{88B7AC94-890F-4BD3-9D95-817A3CB24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2975" y="5589588"/>
            <a:ext cx="4427538" cy="8223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 </a:t>
            </a:r>
            <a:r>
              <a:rPr lang="en-US" altLang="zh-CN" b="1" i="1"/>
              <a:t>v</a:t>
            </a:r>
            <a:r>
              <a:rPr lang="en-US" altLang="zh-CN" b="1"/>
              <a:t>=0 *</a:t>
            </a:r>
            <a:r>
              <a:rPr lang="zh-CN" altLang="en-US" b="1"/>
              <a:t>号在</a:t>
            </a:r>
            <a:r>
              <a:rPr lang="en-US" altLang="zh-CN" b="1" i="1"/>
              <a:t>p</a:t>
            </a:r>
            <a:r>
              <a:rPr lang="en-US" altLang="zh-CN" b="1"/>
              <a:t>=0.5</a:t>
            </a:r>
            <a:r>
              <a:rPr lang="zh-CN" altLang="en-US" b="1"/>
              <a:t>左边</a:t>
            </a:r>
            <a:r>
              <a:rPr lang="en-US" altLang="zh-CN" b="1"/>
              <a:t>,</a:t>
            </a:r>
            <a:r>
              <a:rPr lang="en-US" altLang="zh-CN" b="1" i="1"/>
              <a:t>v</a:t>
            </a:r>
            <a:r>
              <a:rPr lang="en-US" altLang="zh-CN" b="1"/>
              <a:t>=1 *</a:t>
            </a:r>
            <a:r>
              <a:rPr lang="zh-CN" altLang="en-US" b="1"/>
              <a:t>号在</a:t>
            </a:r>
            <a:r>
              <a:rPr lang="en-US" altLang="zh-CN" b="1" i="1"/>
              <a:t>p</a:t>
            </a:r>
            <a:r>
              <a:rPr lang="en-US" altLang="zh-CN" b="1"/>
              <a:t>=0.4</a:t>
            </a:r>
            <a:r>
              <a:rPr lang="zh-CN" altLang="en-US" b="1"/>
              <a:t>右边</a:t>
            </a:r>
            <a:r>
              <a:rPr lang="en-US" altLang="zh-CN" b="1"/>
              <a:t>,</a:t>
            </a:r>
            <a:r>
              <a:rPr lang="zh-CN" altLang="en-US" b="1"/>
              <a:t>无雨、有雨预报都好 </a:t>
            </a:r>
          </a:p>
        </p:txBody>
      </p:sp>
      <p:sp>
        <p:nvSpPr>
          <p:cNvPr id="166967" name="Rectangle 55">
            <a:extLst>
              <a:ext uri="{FF2B5EF4-FFF2-40B4-BE49-F238E27FC236}">
                <a16:creationId xmlns:a16="http://schemas.microsoft.com/office/drawing/2014/main" id="{69ED855E-F760-48CD-8000-571AC03BA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76250"/>
            <a:ext cx="4214813" cy="4572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*</a:t>
            </a:r>
            <a:r>
              <a:rPr lang="zh-CN" altLang="en-US" b="1"/>
              <a:t>上</a:t>
            </a:r>
            <a:r>
              <a:rPr lang="en-US" altLang="zh-CN" b="1"/>
              <a:t>( )</a:t>
            </a:r>
            <a:r>
              <a:rPr lang="zh-CN" altLang="en-US" b="1"/>
              <a:t>中数字是坐标在*的天数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6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62" grpId="0" animBg="1"/>
      <p:bldP spid="166963" grpId="0" animBg="1"/>
      <p:bldP spid="166964" grpId="0" animBg="1"/>
      <p:bldP spid="166965" grpId="0" animBg="1"/>
      <p:bldP spid="166966" grpId="0" animBg="1"/>
      <p:bldP spid="16696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>
            <a:extLst>
              <a:ext uri="{FF2B5EF4-FFF2-40B4-BE49-F238E27FC236}">
                <a16:creationId xmlns:a16="http://schemas.microsoft.com/office/drawing/2014/main" id="{56FA97DE-F9EA-43AF-8121-A6B95C6F1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04813"/>
            <a:ext cx="1944688" cy="5794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图形模型</a:t>
            </a:r>
          </a:p>
        </p:txBody>
      </p:sp>
      <p:sp>
        <p:nvSpPr>
          <p:cNvPr id="167941" name="Rectangle 5">
            <a:extLst>
              <a:ext uri="{FF2B5EF4-FFF2-40B4-BE49-F238E27FC236}">
                <a16:creationId xmlns:a16="http://schemas.microsoft.com/office/drawing/2014/main" id="{0A9BDBDF-1692-4305-8A3C-9CA52E2AA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61963"/>
            <a:ext cx="1165225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模型</a:t>
            </a:r>
            <a:r>
              <a:rPr lang="en-US" altLang="zh-CN" sz="2800" b="1"/>
              <a:t>2 </a:t>
            </a:r>
          </a:p>
        </p:txBody>
      </p:sp>
      <p:sp>
        <p:nvSpPr>
          <p:cNvPr id="48132" name="AutoShape 10">
            <a:extLst>
              <a:ext uri="{FF2B5EF4-FFF2-40B4-BE49-F238E27FC236}">
                <a16:creationId xmlns:a16="http://schemas.microsoft.com/office/drawing/2014/main" id="{F3A7C8B9-6061-492E-AB92-8AE39ACD9E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0"/>
            <a:ext cx="5276850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" name="Group 165">
            <a:extLst>
              <a:ext uri="{FF2B5EF4-FFF2-40B4-BE49-F238E27FC236}">
                <a16:creationId xmlns:a16="http://schemas.microsoft.com/office/drawing/2014/main" id="{C38540E6-E004-4BDC-A95A-2F904356593A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981075"/>
            <a:ext cx="2841625" cy="1871663"/>
            <a:chOff x="567" y="981"/>
            <a:chExt cx="1790" cy="1179"/>
          </a:xfrm>
        </p:grpSpPr>
        <p:grpSp>
          <p:nvGrpSpPr>
            <p:cNvPr id="48182" name="Group 160">
              <a:extLst>
                <a:ext uri="{FF2B5EF4-FFF2-40B4-BE49-F238E27FC236}">
                  <a16:creationId xmlns:a16="http://schemas.microsoft.com/office/drawing/2014/main" id="{B63AA45A-0B1C-4202-B849-164BC393F5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117"/>
              <a:ext cx="1790" cy="1043"/>
              <a:chOff x="567" y="1117"/>
              <a:chExt cx="1790" cy="1043"/>
            </a:xfrm>
          </p:grpSpPr>
          <p:sp>
            <p:nvSpPr>
              <p:cNvPr id="48184" name="Text Box 56">
                <a:extLst>
                  <a:ext uri="{FF2B5EF4-FFF2-40B4-BE49-F238E27FC236}">
                    <a16:creationId xmlns:a16="http://schemas.microsoft.com/office/drawing/2014/main" id="{B7CE1E7E-FF9B-4A1F-A00A-572B9B0FF6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7" y="1434"/>
                <a:ext cx="47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0.5</a:t>
                </a:r>
              </a:p>
            </p:txBody>
          </p:sp>
          <p:sp>
            <p:nvSpPr>
              <p:cNvPr id="48185" name="Text Box 50">
                <a:extLst>
                  <a:ext uri="{FF2B5EF4-FFF2-40B4-BE49-F238E27FC236}">
                    <a16:creationId xmlns:a16="http://schemas.microsoft.com/office/drawing/2014/main" id="{0A8D8DAF-41B1-4962-BB84-E527BA19D8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9" y="1475"/>
                <a:ext cx="1333" cy="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*         *   *</a:t>
                </a:r>
              </a:p>
              <a:p>
                <a:r>
                  <a:rPr lang="en-US" altLang="zh-CN" sz="2000"/>
                  <a:t>     * *     *</a:t>
                </a:r>
              </a:p>
              <a:p>
                <a:r>
                  <a:rPr lang="en-US" altLang="zh-CN" sz="2000"/>
                  <a:t> * *   *  *</a:t>
                </a:r>
              </a:p>
            </p:txBody>
          </p:sp>
          <p:sp>
            <p:nvSpPr>
              <p:cNvPr id="48186" name="Text Box 46">
                <a:extLst>
                  <a:ext uri="{FF2B5EF4-FFF2-40B4-BE49-F238E27FC236}">
                    <a16:creationId xmlns:a16="http://schemas.microsoft.com/office/drawing/2014/main" id="{1240AB10-34DE-415C-BE4F-2C4356B68C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94" y="1937"/>
                <a:ext cx="46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0.5</a:t>
                </a:r>
              </a:p>
            </p:txBody>
          </p:sp>
          <p:sp>
            <p:nvSpPr>
              <p:cNvPr id="48187" name="Line 41">
                <a:extLst>
                  <a:ext uri="{FF2B5EF4-FFF2-40B4-BE49-F238E27FC236}">
                    <a16:creationId xmlns:a16="http://schemas.microsoft.com/office/drawing/2014/main" id="{C35FDFC7-035A-40E8-A1BD-945DF9DC5C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" y="1933"/>
                <a:ext cx="1043" cy="2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88" name="Line 37">
                <a:extLst>
                  <a:ext uri="{FF2B5EF4-FFF2-40B4-BE49-F238E27FC236}">
                    <a16:creationId xmlns:a16="http://schemas.microsoft.com/office/drawing/2014/main" id="{30367DE0-CF4B-460A-AF83-9700825F5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84" y="1208"/>
                <a:ext cx="15" cy="7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89" name="Line 31">
                <a:extLst>
                  <a:ext uri="{FF2B5EF4-FFF2-40B4-BE49-F238E27FC236}">
                    <a16:creationId xmlns:a16="http://schemas.microsoft.com/office/drawing/2014/main" id="{6DE2460D-CB85-47AB-A293-F933400BA6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" y="1298"/>
                <a:ext cx="726" cy="6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90" name="Text Box 30">
                <a:extLst>
                  <a:ext uri="{FF2B5EF4-FFF2-40B4-BE49-F238E27FC236}">
                    <a16:creationId xmlns:a16="http://schemas.microsoft.com/office/drawing/2014/main" id="{4AA45BF4-BCDB-41EC-80A4-4E42EDA038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73" y="1843"/>
                <a:ext cx="38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/>
                  <a:t>p</a:t>
                </a:r>
                <a:endParaRPr lang="en-US" altLang="zh-CN" sz="2000"/>
              </a:p>
            </p:txBody>
          </p:sp>
          <p:sp>
            <p:nvSpPr>
              <p:cNvPr id="48191" name="Text Box 26">
                <a:extLst>
                  <a:ext uri="{FF2B5EF4-FFF2-40B4-BE49-F238E27FC236}">
                    <a16:creationId xmlns:a16="http://schemas.microsoft.com/office/drawing/2014/main" id="{E9B19EA5-AA47-4825-952B-EFAF7FA6E4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" y="1891"/>
                <a:ext cx="307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</a:t>
                </a:r>
              </a:p>
            </p:txBody>
          </p:sp>
          <p:sp>
            <p:nvSpPr>
              <p:cNvPr id="48192" name="Text Box 19">
                <a:extLst>
                  <a:ext uri="{FF2B5EF4-FFF2-40B4-BE49-F238E27FC236}">
                    <a16:creationId xmlns:a16="http://schemas.microsoft.com/office/drawing/2014/main" id="{F336F7C6-ED0E-4EEB-A9BD-E4E9EED234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" y="1117"/>
                <a:ext cx="296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/>
                  <a:t>q</a:t>
                </a:r>
                <a:endParaRPr lang="en-US" altLang="zh-CN" sz="2000"/>
              </a:p>
            </p:txBody>
          </p:sp>
        </p:grpSp>
        <p:sp>
          <p:nvSpPr>
            <p:cNvPr id="48183" name="Text Box 17">
              <a:extLst>
                <a:ext uri="{FF2B5EF4-FFF2-40B4-BE49-F238E27FC236}">
                  <a16:creationId xmlns:a16="http://schemas.microsoft.com/office/drawing/2014/main" id="{8322B350-423A-4E8E-B837-60DAD7FA40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981"/>
              <a:ext cx="832" cy="20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A</a:t>
              </a:r>
              <a:endParaRPr lang="en-US" altLang="zh-CN"/>
            </a:p>
          </p:txBody>
        </p:sp>
      </p:grpSp>
      <p:grpSp>
        <p:nvGrpSpPr>
          <p:cNvPr id="4" name="Group 167">
            <a:extLst>
              <a:ext uri="{FF2B5EF4-FFF2-40B4-BE49-F238E27FC236}">
                <a16:creationId xmlns:a16="http://schemas.microsoft.com/office/drawing/2014/main" id="{253EAED7-C513-41EF-BA74-ACEE53372A3F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981075"/>
            <a:ext cx="2320925" cy="1943100"/>
            <a:chOff x="2426" y="981"/>
            <a:chExt cx="1462" cy="1224"/>
          </a:xfrm>
        </p:grpSpPr>
        <p:grpSp>
          <p:nvGrpSpPr>
            <p:cNvPr id="48171" name="Group 159">
              <a:extLst>
                <a:ext uri="{FF2B5EF4-FFF2-40B4-BE49-F238E27FC236}">
                  <a16:creationId xmlns:a16="http://schemas.microsoft.com/office/drawing/2014/main" id="{918F1D11-2A88-4DA5-83A6-A016F8A4C5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6" y="1026"/>
              <a:ext cx="1462" cy="1179"/>
              <a:chOff x="3623" y="1797"/>
              <a:chExt cx="1462" cy="1179"/>
            </a:xfrm>
          </p:grpSpPr>
          <p:sp>
            <p:nvSpPr>
              <p:cNvPr id="48173" name="Text Box 55">
                <a:extLst>
                  <a:ext uri="{FF2B5EF4-FFF2-40B4-BE49-F238E27FC236}">
                    <a16:creationId xmlns:a16="http://schemas.microsoft.com/office/drawing/2014/main" id="{89BCF16B-8F6D-44FD-9268-AFC7344F50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2" y="2241"/>
                <a:ext cx="201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*</a:t>
                </a:r>
              </a:p>
            </p:txBody>
          </p:sp>
          <p:sp>
            <p:nvSpPr>
              <p:cNvPr id="48174" name="Text Box 48">
                <a:extLst>
                  <a:ext uri="{FF2B5EF4-FFF2-40B4-BE49-F238E27FC236}">
                    <a16:creationId xmlns:a16="http://schemas.microsoft.com/office/drawing/2014/main" id="{6A483A7C-DE8E-4C57-8577-C60D51679A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3" y="2188"/>
                <a:ext cx="321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0.5</a:t>
                </a:r>
              </a:p>
            </p:txBody>
          </p:sp>
          <p:sp>
            <p:nvSpPr>
              <p:cNvPr id="48175" name="Text Box 44">
                <a:extLst>
                  <a:ext uri="{FF2B5EF4-FFF2-40B4-BE49-F238E27FC236}">
                    <a16:creationId xmlns:a16="http://schemas.microsoft.com/office/drawing/2014/main" id="{26BC8B09-4D92-437E-BF7A-023BE051F8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93" y="2680"/>
                <a:ext cx="337" cy="2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0.5</a:t>
                </a:r>
              </a:p>
            </p:txBody>
          </p:sp>
          <p:sp>
            <p:nvSpPr>
              <p:cNvPr id="48176" name="Line 42">
                <a:extLst>
                  <a:ext uri="{FF2B5EF4-FFF2-40B4-BE49-F238E27FC236}">
                    <a16:creationId xmlns:a16="http://schemas.microsoft.com/office/drawing/2014/main" id="{21CDA138-5356-4C25-863F-35AA6B1F3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95" y="2704"/>
                <a:ext cx="890" cy="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77" name="Line 38">
                <a:extLst>
                  <a:ext uri="{FF2B5EF4-FFF2-40B4-BE49-F238E27FC236}">
                    <a16:creationId xmlns:a16="http://schemas.microsoft.com/office/drawing/2014/main" id="{9F28962E-17E2-4BB0-8736-821F6C719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78" y="1979"/>
                <a:ext cx="17" cy="7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78" name="Line 34">
                <a:extLst>
                  <a:ext uri="{FF2B5EF4-FFF2-40B4-BE49-F238E27FC236}">
                    <a16:creationId xmlns:a16="http://schemas.microsoft.com/office/drawing/2014/main" id="{242F28A8-F038-4067-AF4A-81DAA0302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95" y="2069"/>
                <a:ext cx="709" cy="64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79" name="Text Box 29">
                <a:extLst>
                  <a:ext uri="{FF2B5EF4-FFF2-40B4-BE49-F238E27FC236}">
                    <a16:creationId xmlns:a16="http://schemas.microsoft.com/office/drawing/2014/main" id="{C9933E2A-2905-4B94-9790-E7FD618C4F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0" y="2568"/>
                <a:ext cx="255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/>
                  <a:t>p</a:t>
                </a:r>
                <a:endParaRPr lang="en-US" altLang="zh-CN" sz="2000"/>
              </a:p>
            </p:txBody>
          </p:sp>
          <p:sp>
            <p:nvSpPr>
              <p:cNvPr id="48180" name="Text Box 23">
                <a:extLst>
                  <a:ext uri="{FF2B5EF4-FFF2-40B4-BE49-F238E27FC236}">
                    <a16:creationId xmlns:a16="http://schemas.microsoft.com/office/drawing/2014/main" id="{B9882BB4-232E-4E2B-ACC8-DDF323D62C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4" y="2632"/>
                <a:ext cx="204" cy="3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</a:t>
                </a:r>
              </a:p>
            </p:txBody>
          </p:sp>
          <p:sp>
            <p:nvSpPr>
              <p:cNvPr id="48181" name="Text Box 20">
                <a:extLst>
                  <a:ext uri="{FF2B5EF4-FFF2-40B4-BE49-F238E27FC236}">
                    <a16:creationId xmlns:a16="http://schemas.microsoft.com/office/drawing/2014/main" id="{556C1170-8A66-460E-A5B8-CAD31A6D8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797"/>
                <a:ext cx="233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/>
                  <a:t>q</a:t>
                </a:r>
                <a:endParaRPr lang="en-US" altLang="zh-CN" sz="2000"/>
              </a:p>
            </p:txBody>
          </p:sp>
        </p:grpSp>
        <p:sp>
          <p:nvSpPr>
            <p:cNvPr id="48172" name="Text Box 16">
              <a:extLst>
                <a:ext uri="{FF2B5EF4-FFF2-40B4-BE49-F238E27FC236}">
                  <a16:creationId xmlns:a16="http://schemas.microsoft.com/office/drawing/2014/main" id="{9F8F8F5A-14FB-4D6F-AEF3-DC4E7A8F2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981"/>
              <a:ext cx="834" cy="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B</a:t>
              </a:r>
              <a:endParaRPr lang="en-US" altLang="zh-CN"/>
            </a:p>
          </p:txBody>
        </p:sp>
      </p:grpSp>
      <p:grpSp>
        <p:nvGrpSpPr>
          <p:cNvPr id="6" name="Group 166">
            <a:extLst>
              <a:ext uri="{FF2B5EF4-FFF2-40B4-BE49-F238E27FC236}">
                <a16:creationId xmlns:a16="http://schemas.microsoft.com/office/drawing/2014/main" id="{5A32C80F-3C58-4F77-B015-95B1F09519B8}"/>
              </a:ext>
            </a:extLst>
          </p:cNvPr>
          <p:cNvGrpSpPr>
            <a:grpSpLocks/>
          </p:cNvGrpSpPr>
          <p:nvPr/>
        </p:nvGrpSpPr>
        <p:grpSpPr bwMode="auto">
          <a:xfrm>
            <a:off x="236538" y="3906838"/>
            <a:ext cx="2679700" cy="2160587"/>
            <a:chOff x="567" y="2320"/>
            <a:chExt cx="1688" cy="1361"/>
          </a:xfrm>
        </p:grpSpPr>
        <p:grpSp>
          <p:nvGrpSpPr>
            <p:cNvPr id="48159" name="Group 162">
              <a:extLst>
                <a:ext uri="{FF2B5EF4-FFF2-40B4-BE49-F238E27FC236}">
                  <a16:creationId xmlns:a16="http://schemas.microsoft.com/office/drawing/2014/main" id="{AF950288-58B7-4595-AB2A-37719DC943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2478"/>
              <a:ext cx="1688" cy="1203"/>
              <a:chOff x="612" y="2315"/>
              <a:chExt cx="1688" cy="1203"/>
            </a:xfrm>
          </p:grpSpPr>
          <p:sp>
            <p:nvSpPr>
              <p:cNvPr id="48161" name="Text Box 52">
                <a:extLst>
                  <a:ext uri="{FF2B5EF4-FFF2-40B4-BE49-F238E27FC236}">
                    <a16:creationId xmlns:a16="http://schemas.microsoft.com/office/drawing/2014/main" id="{D935F231-2FBF-4289-B91B-5143C5DC68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2" y="2432"/>
                <a:ext cx="712" cy="7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</a:pPr>
                <a:r>
                  <a:rPr lang="en-US" altLang="zh-CN" sz="2000"/>
                  <a:t>   * *</a:t>
                </a:r>
              </a:p>
              <a:p>
                <a:pPr>
                  <a:lnSpc>
                    <a:spcPct val="90000"/>
                  </a:lnSpc>
                </a:pPr>
                <a:endParaRPr lang="en-US" altLang="zh-CN" sz="2000"/>
              </a:p>
              <a:p>
                <a:pPr>
                  <a:lnSpc>
                    <a:spcPct val="90000"/>
                  </a:lnSpc>
                </a:pPr>
                <a:r>
                  <a:rPr lang="en-US" altLang="zh-CN" sz="2000"/>
                  <a:t>*     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2000"/>
                  <a:t>  *  </a:t>
                </a:r>
              </a:p>
            </p:txBody>
          </p:sp>
          <p:sp>
            <p:nvSpPr>
              <p:cNvPr id="48162" name="Text Box 51">
                <a:extLst>
                  <a:ext uri="{FF2B5EF4-FFF2-40B4-BE49-F238E27FC236}">
                    <a16:creationId xmlns:a16="http://schemas.microsoft.com/office/drawing/2014/main" id="{451EE5A1-C12A-41A4-96AE-665AD094C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" y="2931"/>
                <a:ext cx="725" cy="5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70000"/>
                  </a:lnSpc>
                </a:pPr>
                <a:r>
                  <a:rPr lang="en-US" altLang="zh-CN" sz="2000"/>
                  <a:t>     *  </a:t>
                </a:r>
              </a:p>
              <a:p>
                <a:pPr eaLnBrk="1" hangingPunct="1">
                  <a:lnSpc>
                    <a:spcPct val="70000"/>
                  </a:lnSpc>
                </a:pPr>
                <a:r>
                  <a:rPr lang="en-US" altLang="zh-CN" sz="2000"/>
                  <a:t>*</a:t>
                </a:r>
              </a:p>
              <a:p>
                <a:pPr>
                  <a:lnSpc>
                    <a:spcPct val="70000"/>
                  </a:lnSpc>
                </a:pPr>
                <a:r>
                  <a:rPr lang="en-US" altLang="zh-CN" sz="2000"/>
                  <a:t> *   * *</a:t>
                </a:r>
              </a:p>
            </p:txBody>
          </p:sp>
          <p:sp>
            <p:nvSpPr>
              <p:cNvPr id="48163" name="Text Box 49">
                <a:extLst>
                  <a:ext uri="{FF2B5EF4-FFF2-40B4-BE49-F238E27FC236}">
                    <a16:creationId xmlns:a16="http://schemas.microsoft.com/office/drawing/2014/main" id="{70F7A714-8105-4A4F-9991-D8BF4C738D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2614"/>
                <a:ext cx="426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0.5</a:t>
                </a:r>
              </a:p>
            </p:txBody>
          </p:sp>
          <p:sp>
            <p:nvSpPr>
              <p:cNvPr id="48164" name="Text Box 45">
                <a:extLst>
                  <a:ext uri="{FF2B5EF4-FFF2-40B4-BE49-F238E27FC236}">
                    <a16:creationId xmlns:a16="http://schemas.microsoft.com/office/drawing/2014/main" id="{A4A4D900-99F0-49B0-B7FA-7C0B67B209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9" y="3222"/>
                <a:ext cx="426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0.5</a:t>
                </a:r>
              </a:p>
            </p:txBody>
          </p:sp>
          <p:sp>
            <p:nvSpPr>
              <p:cNvPr id="48165" name="Line 40">
                <a:extLst>
                  <a:ext uri="{FF2B5EF4-FFF2-40B4-BE49-F238E27FC236}">
                    <a16:creationId xmlns:a16="http://schemas.microsoft.com/office/drawing/2014/main" id="{8BC96E33-B703-48BB-84F3-B568266AF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99" y="3242"/>
                <a:ext cx="1074" cy="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6" name="Line 36">
                <a:extLst>
                  <a:ext uri="{FF2B5EF4-FFF2-40B4-BE49-F238E27FC236}">
                    <a16:creationId xmlns:a16="http://schemas.microsoft.com/office/drawing/2014/main" id="{69BE263B-0214-46E2-BC00-14B28E053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84" y="2432"/>
                <a:ext cx="15" cy="8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7" name="Line 33">
                <a:extLst>
                  <a:ext uri="{FF2B5EF4-FFF2-40B4-BE49-F238E27FC236}">
                    <a16:creationId xmlns:a16="http://schemas.microsoft.com/office/drawing/2014/main" id="{EF02F7BD-DE72-46A5-BA5D-8759A9901D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99" y="2523"/>
                <a:ext cx="892" cy="71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68" name="Text Box 28">
                <a:extLst>
                  <a:ext uri="{FF2B5EF4-FFF2-40B4-BE49-F238E27FC236}">
                    <a16:creationId xmlns:a16="http://schemas.microsoft.com/office/drawing/2014/main" id="{F5FF3C13-939B-46DB-AB53-787A64CA8A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7" y="3158"/>
                <a:ext cx="373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/>
                  <a:t>p</a:t>
                </a:r>
                <a:endParaRPr lang="en-US" altLang="zh-CN" sz="2000"/>
              </a:p>
            </p:txBody>
          </p:sp>
          <p:sp>
            <p:nvSpPr>
              <p:cNvPr id="48169" name="Text Box 25">
                <a:extLst>
                  <a:ext uri="{FF2B5EF4-FFF2-40B4-BE49-F238E27FC236}">
                    <a16:creationId xmlns:a16="http://schemas.microsoft.com/office/drawing/2014/main" id="{60B53BA8-FBE5-43FC-BB7B-04E4979AB8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1" y="3179"/>
                <a:ext cx="285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/>
                  <a:t>0</a:t>
                </a:r>
              </a:p>
            </p:txBody>
          </p:sp>
          <p:sp>
            <p:nvSpPr>
              <p:cNvPr id="48170" name="Text Box 21">
                <a:extLst>
                  <a:ext uri="{FF2B5EF4-FFF2-40B4-BE49-F238E27FC236}">
                    <a16:creationId xmlns:a16="http://schemas.microsoft.com/office/drawing/2014/main" id="{89371AAB-D43E-4847-BBBF-AA1D85110C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" y="2315"/>
                <a:ext cx="223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i="1"/>
                  <a:t>q</a:t>
                </a:r>
                <a:endParaRPr lang="en-US" altLang="zh-CN" sz="2000"/>
              </a:p>
            </p:txBody>
          </p:sp>
        </p:grpSp>
        <p:sp>
          <p:nvSpPr>
            <p:cNvPr id="48160" name="Text Box 15">
              <a:extLst>
                <a:ext uri="{FF2B5EF4-FFF2-40B4-BE49-F238E27FC236}">
                  <a16:creationId xmlns:a16="http://schemas.microsoft.com/office/drawing/2014/main" id="{3934E34F-F669-4491-BDAD-30E26020D9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2320"/>
              <a:ext cx="834" cy="20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C</a:t>
              </a:r>
              <a:endParaRPr lang="en-US" altLang="zh-CN"/>
            </a:p>
          </p:txBody>
        </p:sp>
      </p:grpSp>
      <p:grpSp>
        <p:nvGrpSpPr>
          <p:cNvPr id="8" name="Group 168">
            <a:extLst>
              <a:ext uri="{FF2B5EF4-FFF2-40B4-BE49-F238E27FC236}">
                <a16:creationId xmlns:a16="http://schemas.microsoft.com/office/drawing/2014/main" id="{21383B1C-02B4-42DC-99AD-BBE2004C5291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3933825"/>
            <a:ext cx="2751137" cy="2159000"/>
            <a:chOff x="2727" y="2614"/>
            <a:chExt cx="1733" cy="1360"/>
          </a:xfrm>
        </p:grpSpPr>
        <p:sp>
          <p:nvSpPr>
            <p:cNvPr id="48148" name="Text Box 54">
              <a:extLst>
                <a:ext uri="{FF2B5EF4-FFF2-40B4-BE49-F238E27FC236}">
                  <a16:creationId xmlns:a16="http://schemas.microsoft.com/office/drawing/2014/main" id="{D20BA43C-3949-44BF-ABEA-A64ACD9F4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9" y="3381"/>
              <a:ext cx="741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           *</a:t>
              </a:r>
            </a:p>
            <a:p>
              <a:r>
                <a:rPr lang="en-US" altLang="zh-CN" sz="2000"/>
                <a:t>* * * *</a:t>
              </a:r>
            </a:p>
          </p:txBody>
        </p:sp>
        <p:sp>
          <p:nvSpPr>
            <p:cNvPr id="48149" name="Text Box 53">
              <a:extLst>
                <a:ext uri="{FF2B5EF4-FFF2-40B4-BE49-F238E27FC236}">
                  <a16:creationId xmlns:a16="http://schemas.microsoft.com/office/drawing/2014/main" id="{C63BED6A-B1A5-47F7-9D0C-CBA25E5BB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3" y="2925"/>
              <a:ext cx="699" cy="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   * * *</a:t>
              </a:r>
            </a:p>
            <a:p>
              <a:r>
                <a:rPr lang="en-US" altLang="zh-CN" sz="2000"/>
                <a:t>       *    </a:t>
              </a:r>
            </a:p>
          </p:txBody>
        </p:sp>
        <p:sp>
          <p:nvSpPr>
            <p:cNvPr id="48150" name="Text Box 47">
              <a:extLst>
                <a:ext uri="{FF2B5EF4-FFF2-40B4-BE49-F238E27FC236}">
                  <a16:creationId xmlns:a16="http://schemas.microsoft.com/office/drawing/2014/main" id="{2B02FAF5-54D5-4BFD-A2C8-5DAE2D9E3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7" y="3113"/>
              <a:ext cx="425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0.5</a:t>
              </a:r>
            </a:p>
          </p:txBody>
        </p:sp>
        <p:sp>
          <p:nvSpPr>
            <p:cNvPr id="48151" name="Text Box 43">
              <a:extLst>
                <a:ext uri="{FF2B5EF4-FFF2-40B4-BE49-F238E27FC236}">
                  <a16:creationId xmlns:a16="http://schemas.microsoft.com/office/drawing/2014/main" id="{877B27B7-CAB1-48FF-B044-FEEBA60988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9" y="3727"/>
              <a:ext cx="425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0.5</a:t>
              </a:r>
            </a:p>
          </p:txBody>
        </p:sp>
        <p:sp>
          <p:nvSpPr>
            <p:cNvPr id="48152" name="Line 39">
              <a:extLst>
                <a:ext uri="{FF2B5EF4-FFF2-40B4-BE49-F238E27FC236}">
                  <a16:creationId xmlns:a16="http://schemas.microsoft.com/office/drawing/2014/main" id="{7BEF2FAC-7528-4197-A7E4-5ACA33CA6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9" y="3727"/>
              <a:ext cx="1032" cy="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3" name="Line 35">
              <a:extLst>
                <a:ext uri="{FF2B5EF4-FFF2-40B4-BE49-F238E27FC236}">
                  <a16:creationId xmlns:a16="http://schemas.microsoft.com/office/drawing/2014/main" id="{8DA56981-F463-47F4-A930-2C3596ACBC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07" y="2927"/>
              <a:ext cx="22" cy="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4" name="Line 32">
              <a:extLst>
                <a:ext uri="{FF2B5EF4-FFF2-40B4-BE49-F238E27FC236}">
                  <a16:creationId xmlns:a16="http://schemas.microsoft.com/office/drawing/2014/main" id="{1A6A87A6-C95D-4704-9028-135C992311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9" y="2977"/>
              <a:ext cx="813" cy="7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55" name="Text Box 27">
              <a:extLst>
                <a:ext uri="{FF2B5EF4-FFF2-40B4-BE49-F238E27FC236}">
                  <a16:creationId xmlns:a16="http://schemas.microsoft.com/office/drawing/2014/main" id="{57D0C8FC-740A-48F1-A72D-FBFB7AC8F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3634"/>
              <a:ext cx="354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/>
                <a:t>p</a:t>
              </a:r>
              <a:endParaRPr lang="en-US" altLang="zh-CN" sz="2000"/>
            </a:p>
          </p:txBody>
        </p:sp>
        <p:sp>
          <p:nvSpPr>
            <p:cNvPr id="48156" name="Text Box 24">
              <a:extLst>
                <a:ext uri="{FF2B5EF4-FFF2-40B4-BE49-F238E27FC236}">
                  <a16:creationId xmlns:a16="http://schemas.microsoft.com/office/drawing/2014/main" id="{89EA2C03-30DD-4DCE-A222-1804A5BE2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1" y="3657"/>
              <a:ext cx="284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/>
                <a:t>0</a:t>
              </a:r>
            </a:p>
          </p:txBody>
        </p:sp>
        <p:sp>
          <p:nvSpPr>
            <p:cNvPr id="48157" name="Text Box 22">
              <a:extLst>
                <a:ext uri="{FF2B5EF4-FFF2-40B4-BE49-F238E27FC236}">
                  <a16:creationId xmlns:a16="http://schemas.microsoft.com/office/drawing/2014/main" id="{9ED2C7C2-B377-40F9-AF72-B4A41ADB9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7" y="2619"/>
              <a:ext cx="272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/>
                <a:t>q</a:t>
              </a:r>
              <a:endParaRPr lang="en-US" altLang="zh-CN" sz="2000"/>
            </a:p>
          </p:txBody>
        </p:sp>
        <p:sp>
          <p:nvSpPr>
            <p:cNvPr id="48158" name="Text Box 14">
              <a:extLst>
                <a:ext uri="{FF2B5EF4-FFF2-40B4-BE49-F238E27FC236}">
                  <a16:creationId xmlns:a16="http://schemas.microsoft.com/office/drawing/2014/main" id="{39B606E1-5E8C-4104-8CC9-DA9238F467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8" y="2614"/>
              <a:ext cx="834" cy="20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rgbClr val="000000"/>
                  </a:solidFill>
                </a:rPr>
                <a:t>预报</a:t>
              </a:r>
              <a:r>
                <a:rPr lang="en-US" altLang="zh-CN" b="1">
                  <a:solidFill>
                    <a:srgbClr val="000000"/>
                  </a:solidFill>
                </a:rPr>
                <a:t>D</a:t>
              </a:r>
              <a:endParaRPr lang="en-US" altLang="zh-CN"/>
            </a:p>
          </p:txBody>
        </p:sp>
      </p:grpSp>
      <p:sp>
        <p:nvSpPr>
          <p:cNvPr id="168093" name="Rectangle 157">
            <a:extLst>
              <a:ext uri="{FF2B5EF4-FFF2-40B4-BE49-F238E27FC236}">
                <a16:creationId xmlns:a16="http://schemas.microsoft.com/office/drawing/2014/main" id="{0C1158B9-7E79-4F81-8854-F72EBA4BB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476250"/>
            <a:ext cx="5581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p </a:t>
            </a:r>
            <a:r>
              <a:rPr lang="en-US" altLang="zh-CN" b="1"/>
              <a:t>~</a:t>
            </a:r>
            <a:r>
              <a:rPr lang="zh-CN" altLang="en-US" b="1"/>
              <a:t>预报有雨概率</a:t>
            </a:r>
            <a:r>
              <a:rPr lang="en-US" altLang="zh-CN" b="1"/>
              <a:t>, </a:t>
            </a:r>
            <a:r>
              <a:rPr lang="en-US" altLang="zh-CN" b="1" i="1"/>
              <a:t>q~</a:t>
            </a:r>
            <a:r>
              <a:rPr lang="zh-CN" altLang="en-US" b="1"/>
              <a:t>实测有雨天数比例</a:t>
            </a:r>
          </a:p>
        </p:txBody>
      </p:sp>
      <p:sp>
        <p:nvSpPr>
          <p:cNvPr id="168099" name="Rectangle 163">
            <a:extLst>
              <a:ext uri="{FF2B5EF4-FFF2-40B4-BE49-F238E27FC236}">
                <a16:creationId xmlns:a16="http://schemas.microsoft.com/office/drawing/2014/main" id="{70D6AE0E-FDB5-42AA-A592-582B675F1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1052513"/>
            <a:ext cx="2403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/>
              <a:t>p</a:t>
            </a:r>
            <a:r>
              <a:rPr lang="zh-CN" altLang="en-US" b="1"/>
              <a:t>和</a:t>
            </a:r>
            <a:r>
              <a:rPr lang="en-US" altLang="zh-CN" b="1" i="1"/>
              <a:t>q</a:t>
            </a:r>
            <a:r>
              <a:rPr lang="zh-CN" altLang="en-US" b="1"/>
              <a:t>越接近越好 </a:t>
            </a:r>
          </a:p>
        </p:txBody>
      </p:sp>
      <p:sp>
        <p:nvSpPr>
          <p:cNvPr id="168100" name="Rectangle 164">
            <a:extLst>
              <a:ext uri="{FF2B5EF4-FFF2-40B4-BE49-F238E27FC236}">
                <a16:creationId xmlns:a16="http://schemas.microsoft.com/office/drawing/2014/main" id="{B4DEDE74-0FAC-4F56-ADD2-CF2541425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1628775"/>
            <a:ext cx="2863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*</a:t>
            </a:r>
            <a:r>
              <a:rPr lang="zh-CN" altLang="en-US" b="1"/>
              <a:t>离对角线越近越好 </a:t>
            </a:r>
          </a:p>
        </p:txBody>
      </p:sp>
      <p:sp>
        <p:nvSpPr>
          <p:cNvPr id="168105" name="Rectangle 169">
            <a:extLst>
              <a:ext uri="{FF2B5EF4-FFF2-40B4-BE49-F238E27FC236}">
                <a16:creationId xmlns:a16="http://schemas.microsoft.com/office/drawing/2014/main" id="{FCAD2816-843D-478A-BE29-E342B6E26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924175"/>
            <a:ext cx="2339975" cy="82232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*</a:t>
            </a:r>
            <a:r>
              <a:rPr lang="zh-CN" altLang="en-US" b="1"/>
              <a:t>几乎均匀分布</a:t>
            </a:r>
            <a:r>
              <a:rPr lang="en-US" altLang="zh-CN" b="1"/>
              <a:t>,</a:t>
            </a:r>
            <a:r>
              <a:rPr lang="zh-CN" altLang="en-US" b="1"/>
              <a:t>明显不好 </a:t>
            </a:r>
          </a:p>
        </p:txBody>
      </p:sp>
      <p:sp>
        <p:nvSpPr>
          <p:cNvPr id="168106" name="Rectangle 170">
            <a:extLst>
              <a:ext uri="{FF2B5EF4-FFF2-40B4-BE49-F238E27FC236}">
                <a16:creationId xmlns:a16="http://schemas.microsoft.com/office/drawing/2014/main" id="{108F6BB8-C534-4497-BC31-998DF239B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894013"/>
            <a:ext cx="2016125" cy="822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只有一个*</a:t>
            </a:r>
            <a:r>
              <a:rPr lang="en-US" altLang="zh-CN" b="1"/>
              <a:t>, </a:t>
            </a:r>
            <a:r>
              <a:rPr lang="zh-CN" altLang="en-US" b="1"/>
              <a:t>几乎在</a:t>
            </a:r>
            <a:r>
              <a:rPr lang="en-US" altLang="zh-CN" b="1" i="1"/>
              <a:t>q</a:t>
            </a:r>
            <a:r>
              <a:rPr lang="en-US" altLang="zh-CN" b="1"/>
              <a:t>=</a:t>
            </a:r>
            <a:r>
              <a:rPr lang="en-US" altLang="zh-CN" b="1" i="1"/>
              <a:t>p</a:t>
            </a:r>
            <a:r>
              <a:rPr lang="zh-CN" altLang="en-US" b="1"/>
              <a:t>上 </a:t>
            </a:r>
          </a:p>
        </p:txBody>
      </p:sp>
      <p:sp>
        <p:nvSpPr>
          <p:cNvPr id="168107" name="Rectangle 171">
            <a:extLst>
              <a:ext uri="{FF2B5EF4-FFF2-40B4-BE49-F238E27FC236}">
                <a16:creationId xmlns:a16="http://schemas.microsoft.com/office/drawing/2014/main" id="{EEADA662-30DF-4CD2-BAC9-4644011CE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021388"/>
            <a:ext cx="1706563" cy="457200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比</a:t>
            </a:r>
            <a:r>
              <a:rPr lang="en-US" altLang="zh-CN" b="1"/>
              <a:t>A</a:t>
            </a:r>
            <a:r>
              <a:rPr lang="zh-CN" altLang="en-US" b="1"/>
              <a:t>好一些 </a:t>
            </a:r>
          </a:p>
        </p:txBody>
      </p:sp>
      <p:sp>
        <p:nvSpPr>
          <p:cNvPr id="168108" name="Rectangle 172">
            <a:extLst>
              <a:ext uri="{FF2B5EF4-FFF2-40B4-BE49-F238E27FC236}">
                <a16:creationId xmlns:a16="http://schemas.microsoft.com/office/drawing/2014/main" id="{5AFFA899-3D90-4AC0-B86E-4101528F5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6021388"/>
            <a:ext cx="2098675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未显示出优势 </a:t>
            </a:r>
          </a:p>
        </p:txBody>
      </p:sp>
      <p:sp>
        <p:nvSpPr>
          <p:cNvPr id="168109" name="Rectangle 173">
            <a:extLst>
              <a:ext uri="{FF2B5EF4-FFF2-40B4-BE49-F238E27FC236}">
                <a16:creationId xmlns:a16="http://schemas.microsoft.com/office/drawing/2014/main" id="{B7C2A902-DA2B-4A15-AD1E-5D4C986A8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325" y="2324100"/>
            <a:ext cx="156368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模型缺陷 </a:t>
            </a:r>
          </a:p>
        </p:txBody>
      </p:sp>
      <p:sp>
        <p:nvSpPr>
          <p:cNvPr id="168110" name="Rectangle 174">
            <a:extLst>
              <a:ext uri="{FF2B5EF4-FFF2-40B4-BE49-F238E27FC236}">
                <a16:creationId xmlns:a16="http://schemas.microsoft.com/office/drawing/2014/main" id="{5C87676A-0DF6-4DCA-B236-0F9E013A6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997200"/>
            <a:ext cx="3403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b="1"/>
              <a:t> </a:t>
            </a:r>
            <a:r>
              <a:rPr lang="zh-CN" altLang="en-US" b="1"/>
              <a:t>不能用于预报</a:t>
            </a:r>
            <a:r>
              <a:rPr lang="en-US" altLang="zh-CN" b="1"/>
              <a:t>B</a:t>
            </a:r>
            <a:r>
              <a:rPr lang="zh-CN" altLang="en-US" b="1"/>
              <a:t>的情况 </a:t>
            </a:r>
          </a:p>
        </p:txBody>
      </p:sp>
      <p:sp>
        <p:nvSpPr>
          <p:cNvPr id="168111" name="Rectangle 175">
            <a:extLst>
              <a:ext uri="{FF2B5EF4-FFF2-40B4-BE49-F238E27FC236}">
                <a16:creationId xmlns:a16="http://schemas.microsoft.com/office/drawing/2014/main" id="{5F636910-4CCF-44DB-9B47-2D6FE1E42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500438"/>
            <a:ext cx="3421063" cy="933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b="1"/>
              <a:t> </a:t>
            </a:r>
            <a:r>
              <a:rPr lang="zh-CN" altLang="en-US" b="1"/>
              <a:t>数据量小可能是预报</a:t>
            </a:r>
            <a:r>
              <a:rPr lang="en-US" altLang="zh-CN" b="1"/>
              <a:t>D</a:t>
            </a:r>
            <a:r>
              <a:rPr lang="zh-CN" altLang="en-US" b="1"/>
              <a:t>未得到正确评价的原因 </a:t>
            </a:r>
          </a:p>
        </p:txBody>
      </p:sp>
      <p:sp>
        <p:nvSpPr>
          <p:cNvPr id="168112" name="Rectangle 176">
            <a:extLst>
              <a:ext uri="{FF2B5EF4-FFF2-40B4-BE49-F238E27FC236}">
                <a16:creationId xmlns:a16="http://schemas.microsoft.com/office/drawing/2014/main" id="{61AEA4F3-E737-47B9-A264-0E2836F7B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508500"/>
            <a:ext cx="3097213" cy="17748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b="1"/>
              <a:t>用*与</a:t>
            </a:r>
            <a:r>
              <a:rPr lang="en-US" altLang="zh-CN" b="1" i="1"/>
              <a:t>q</a:t>
            </a:r>
            <a:r>
              <a:rPr lang="en-US" altLang="zh-CN" b="1"/>
              <a:t>=</a:t>
            </a:r>
            <a:r>
              <a:rPr lang="en-US" altLang="zh-CN" b="1" i="1"/>
              <a:t>p</a:t>
            </a:r>
            <a:r>
              <a:rPr lang="zh-CN" altLang="en-US" b="1"/>
              <a:t>的竖直距离度量模型的优劣</a:t>
            </a:r>
            <a:r>
              <a:rPr lang="en-US" altLang="zh-CN" b="1"/>
              <a:t>, </a:t>
            </a:r>
            <a:r>
              <a:rPr lang="zh-CN" altLang="en-US" b="1"/>
              <a:t>并考虑各个*的权重，模型</a:t>
            </a:r>
            <a:r>
              <a:rPr lang="en-US" altLang="zh-CN" b="1"/>
              <a:t>2</a:t>
            </a:r>
            <a:r>
              <a:rPr lang="zh-CN" altLang="en-US" b="1"/>
              <a:t>可量化为分数模型 </a:t>
            </a:r>
            <a:r>
              <a:rPr lang="en-US" altLang="zh-CN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8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8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8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8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8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68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68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68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168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41" grpId="0" animBg="1"/>
      <p:bldP spid="168093" grpId="0"/>
      <p:bldP spid="168099" grpId="0"/>
      <p:bldP spid="168100" grpId="0"/>
      <p:bldP spid="168105" grpId="0" animBg="1"/>
      <p:bldP spid="168106" grpId="0" animBg="1"/>
      <p:bldP spid="168107" grpId="0" animBg="1"/>
      <p:bldP spid="168108" grpId="0" animBg="1"/>
      <p:bldP spid="168109" grpId="0" animBg="1"/>
      <p:bldP spid="168110" grpId="0" animBg="1"/>
      <p:bldP spid="168111" grpId="0" animBg="1"/>
      <p:bldP spid="16811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A0F6F460-063C-4B60-B39A-876EA3C47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1944688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深入讨论 </a:t>
            </a:r>
          </a:p>
        </p:txBody>
      </p:sp>
      <p:sp>
        <p:nvSpPr>
          <p:cNvPr id="168966" name="Rectangle 6">
            <a:extLst>
              <a:ext uri="{FF2B5EF4-FFF2-40B4-BE49-F238E27FC236}">
                <a16:creationId xmlns:a16="http://schemas.microsoft.com/office/drawing/2014/main" id="{920B7055-27BB-4CC6-A2D9-E37407310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49275"/>
            <a:ext cx="5630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评价预报的优劣，需制定评价标准 </a:t>
            </a:r>
          </a:p>
        </p:txBody>
      </p:sp>
      <p:sp>
        <p:nvSpPr>
          <p:cNvPr id="168967" name="Rectangle 7">
            <a:extLst>
              <a:ext uri="{FF2B5EF4-FFF2-40B4-BE49-F238E27FC236}">
                <a16:creationId xmlns:a16="http://schemas.microsoft.com/office/drawing/2014/main" id="{51A42358-ABAB-4053-85F5-028575A53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052513"/>
            <a:ext cx="8964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无统一看法</a:t>
            </a:r>
            <a:r>
              <a:rPr lang="en-US" altLang="zh-CN" sz="2800" b="1"/>
              <a:t>, </a:t>
            </a:r>
            <a:r>
              <a:rPr lang="zh-CN" altLang="en-US" sz="2800" b="1"/>
              <a:t>提出三类层次、内涵不同但相互关联的标准 </a:t>
            </a:r>
          </a:p>
        </p:txBody>
      </p:sp>
      <p:sp>
        <p:nvSpPr>
          <p:cNvPr id="168968" name="Rectangle 8">
            <a:extLst>
              <a:ext uri="{FF2B5EF4-FFF2-40B4-BE49-F238E27FC236}">
                <a16:creationId xmlns:a16="http://schemas.microsoft.com/office/drawing/2014/main" id="{8EB2D2FC-2004-475F-B69A-5C8DF475C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28775"/>
            <a:ext cx="5721350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第一类标准：预报者本身的一致性 </a:t>
            </a:r>
          </a:p>
        </p:txBody>
      </p:sp>
      <p:sp>
        <p:nvSpPr>
          <p:cNvPr id="168969" name="Rectangle 9">
            <a:extLst>
              <a:ext uri="{FF2B5EF4-FFF2-40B4-BE49-F238E27FC236}">
                <a16:creationId xmlns:a16="http://schemas.microsoft.com/office/drawing/2014/main" id="{B14DBF94-B375-4648-A433-73AE54A87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133600"/>
            <a:ext cx="78486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/>
              <a:t>     </a:t>
            </a:r>
            <a:r>
              <a:rPr lang="zh-CN" altLang="en-US" sz="2800" b="1"/>
              <a:t>指预报者根据知识、信息和经验对预报的事件做出的判断，与他对外发布的预报之间的关系</a:t>
            </a:r>
            <a:r>
              <a:rPr lang="en-US" altLang="zh-CN" sz="2800" b="1"/>
              <a:t>. </a:t>
            </a:r>
          </a:p>
        </p:txBody>
      </p:sp>
      <p:sp>
        <p:nvSpPr>
          <p:cNvPr id="168970" name="Rectangle 10">
            <a:extLst>
              <a:ext uri="{FF2B5EF4-FFF2-40B4-BE49-F238E27FC236}">
                <a16:creationId xmlns:a16="http://schemas.microsoft.com/office/drawing/2014/main" id="{D0DB4BE5-C718-4D38-8F6C-218B8B721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84538"/>
            <a:ext cx="2058988" cy="519112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不完全一致 </a:t>
            </a:r>
          </a:p>
        </p:txBody>
      </p:sp>
      <p:sp>
        <p:nvSpPr>
          <p:cNvPr id="168971" name="Rectangle 11">
            <a:extLst>
              <a:ext uri="{FF2B5EF4-FFF2-40B4-BE49-F238E27FC236}">
                <a16:creationId xmlns:a16="http://schemas.microsoft.com/office/drawing/2014/main" id="{07DE465B-37BD-4C65-8734-F9C103325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860800"/>
            <a:ext cx="8351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预报者没有利用全部判断，只从使用者的需要出发</a:t>
            </a:r>
            <a:r>
              <a:rPr lang="en-US" altLang="zh-CN" sz="2800" b="1"/>
              <a:t>.</a:t>
            </a:r>
          </a:p>
        </p:txBody>
      </p:sp>
      <p:sp>
        <p:nvSpPr>
          <p:cNvPr id="168972" name="Rectangle 12">
            <a:extLst>
              <a:ext uri="{FF2B5EF4-FFF2-40B4-BE49-F238E27FC236}">
                <a16:creationId xmlns:a16="http://schemas.microsoft.com/office/drawing/2014/main" id="{2218891F-688D-4507-B576-BCF274CD3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437063"/>
            <a:ext cx="7993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出于预报效益等考虑，对判断作了适当改变</a:t>
            </a:r>
            <a:r>
              <a:rPr lang="en-US" altLang="zh-CN" sz="2800" b="1"/>
              <a:t>.</a:t>
            </a:r>
          </a:p>
        </p:txBody>
      </p:sp>
      <p:sp>
        <p:nvSpPr>
          <p:cNvPr id="168973" name="Rectangle 13">
            <a:extLst>
              <a:ext uri="{FF2B5EF4-FFF2-40B4-BE49-F238E27FC236}">
                <a16:creationId xmlns:a16="http://schemas.microsoft.com/office/drawing/2014/main" id="{42601047-0727-4EC7-9E32-510789E16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5013325"/>
            <a:ext cx="6792913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一致性受预报者控制，外界通常难以掌握 </a:t>
            </a:r>
          </a:p>
        </p:txBody>
      </p:sp>
      <p:sp>
        <p:nvSpPr>
          <p:cNvPr id="168974" name="Rectangle 14">
            <a:extLst>
              <a:ext uri="{FF2B5EF4-FFF2-40B4-BE49-F238E27FC236}">
                <a16:creationId xmlns:a16="http://schemas.microsoft.com/office/drawing/2014/main" id="{BF9086E3-6E54-4E92-B7CA-E3C11D794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464175"/>
            <a:ext cx="8280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在预报以概率形式给出的情况下，当预报与预报者的判断一致时，才会得到与实际观测最相符的结果</a:t>
            </a:r>
            <a:r>
              <a:rPr lang="en-US" altLang="zh-CN" sz="2800" b="1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6" grpId="0"/>
      <p:bldP spid="168967" grpId="0"/>
      <p:bldP spid="168968" grpId="0" animBg="1"/>
      <p:bldP spid="168969" grpId="0"/>
      <p:bldP spid="168970" grpId="0" animBg="1"/>
      <p:bldP spid="168971" grpId="0"/>
      <p:bldP spid="168972" grpId="0"/>
      <p:bldP spid="168973" grpId="0" animBg="1"/>
      <p:bldP spid="16897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>
            <a:extLst>
              <a:ext uri="{FF2B5EF4-FFF2-40B4-BE49-F238E27FC236}">
                <a16:creationId xmlns:a16="http://schemas.microsoft.com/office/drawing/2014/main" id="{EADA12AF-DDE7-4E2B-8784-4A6C3CCCD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1944688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深入讨论 </a:t>
            </a:r>
          </a:p>
        </p:txBody>
      </p:sp>
      <p:sp>
        <p:nvSpPr>
          <p:cNvPr id="169989" name="Rectangle 5">
            <a:extLst>
              <a:ext uri="{FF2B5EF4-FFF2-40B4-BE49-F238E27FC236}">
                <a16:creationId xmlns:a16="http://schemas.microsoft.com/office/drawing/2014/main" id="{A0D51086-16BD-4B8E-B9E1-0DCD447A1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17013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第二类标准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根据预报和实测间的关系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评价预报的品质 </a:t>
            </a: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F8538E35-0572-43A1-A5AF-4B1BD02ED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12925"/>
            <a:ext cx="914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利用预报</a:t>
            </a:r>
            <a:r>
              <a:rPr lang="en-US" altLang="zh-CN" sz="2800" b="1"/>
              <a:t>(</a:t>
            </a:r>
            <a:r>
              <a:rPr lang="zh-CN" altLang="en-US" sz="2800" b="1"/>
              <a:t>随机变量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与观测</a:t>
            </a:r>
            <a:r>
              <a:rPr lang="en-US" altLang="zh-CN" sz="2800" b="1"/>
              <a:t>(</a:t>
            </a:r>
            <a:r>
              <a:rPr lang="zh-CN" altLang="en-US" sz="2800" b="1"/>
              <a:t>随机变量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的联合分布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 y</a:t>
            </a:r>
            <a:r>
              <a:rPr lang="en-US" altLang="zh-CN" sz="2800" b="1"/>
              <a:t>) </a:t>
            </a:r>
          </a:p>
        </p:txBody>
      </p:sp>
      <p:sp>
        <p:nvSpPr>
          <p:cNvPr id="169991" name="Rectangle 7">
            <a:extLst>
              <a:ext uri="{FF2B5EF4-FFF2-40B4-BE49-F238E27FC236}">
                <a16:creationId xmlns:a16="http://schemas.microsoft.com/office/drawing/2014/main" id="{8F7DADBA-867D-4740-95FF-3584D060D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462213"/>
            <a:ext cx="14351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可靠性 </a:t>
            </a:r>
          </a:p>
        </p:txBody>
      </p:sp>
      <p:sp>
        <p:nvSpPr>
          <p:cNvPr id="169992" name="Rectangle 8">
            <a:extLst>
              <a:ext uri="{FF2B5EF4-FFF2-40B4-BE49-F238E27FC236}">
                <a16:creationId xmlns:a16="http://schemas.microsoft.com/office/drawing/2014/main" id="{0E67FD37-E269-4F7F-9C9E-81F75EB18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76700"/>
            <a:ext cx="14351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决定性 </a:t>
            </a:r>
          </a:p>
        </p:txBody>
      </p:sp>
      <p:sp>
        <p:nvSpPr>
          <p:cNvPr id="169993" name="Rectangle 9">
            <a:extLst>
              <a:ext uri="{FF2B5EF4-FFF2-40B4-BE49-F238E27FC236}">
                <a16:creationId xmlns:a16="http://schemas.microsoft.com/office/drawing/2014/main" id="{5C9219C1-5734-4A0E-9159-87CE60927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924175"/>
            <a:ext cx="856932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将特定预报</a:t>
            </a:r>
            <a:r>
              <a:rPr lang="en-US" altLang="zh-CN" sz="2800" b="1" i="1"/>
              <a:t>x</a:t>
            </a:r>
            <a:r>
              <a:rPr lang="zh-CN" altLang="en-US" sz="2800" b="1"/>
              <a:t>下观测</a:t>
            </a:r>
            <a:r>
              <a:rPr lang="en-US" altLang="zh-CN" sz="2800" b="1" i="1"/>
              <a:t>y</a:t>
            </a:r>
            <a:r>
              <a:rPr lang="zh-CN" altLang="en-US" sz="2800" b="1"/>
              <a:t>的条件均值与</a:t>
            </a:r>
            <a:r>
              <a:rPr lang="en-US" altLang="zh-CN" sz="2800" b="1" i="1"/>
              <a:t>x</a:t>
            </a:r>
            <a:r>
              <a:rPr lang="zh-CN" altLang="en-US" sz="2800" b="1"/>
              <a:t>之差对所有</a:t>
            </a:r>
            <a:r>
              <a:rPr lang="en-US" altLang="zh-CN" sz="2800" b="1" i="1"/>
              <a:t>x</a:t>
            </a:r>
            <a:r>
              <a:rPr lang="zh-CN" altLang="en-US" sz="2800" b="1"/>
              <a:t>平均</a:t>
            </a:r>
            <a:r>
              <a:rPr lang="en-US" altLang="zh-CN" sz="2800" b="1"/>
              <a:t>,</a:t>
            </a:r>
            <a:r>
              <a:rPr lang="zh-CN" altLang="en-US" sz="2800" b="1"/>
              <a:t>作为可靠性的数量指标</a:t>
            </a:r>
            <a:r>
              <a:rPr lang="en-US" altLang="zh-CN" sz="2800" b="1"/>
              <a:t>.           </a:t>
            </a:r>
          </a:p>
        </p:txBody>
      </p:sp>
      <p:sp>
        <p:nvSpPr>
          <p:cNvPr id="169994" name="Rectangle 10">
            <a:extLst>
              <a:ext uri="{FF2B5EF4-FFF2-40B4-BE49-F238E27FC236}">
                <a16:creationId xmlns:a16="http://schemas.microsoft.com/office/drawing/2014/main" id="{081C06E2-515F-4A4C-BF2A-601246B56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846763"/>
            <a:ext cx="7270750" cy="519112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由条件分布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∣</a:t>
            </a:r>
            <a:r>
              <a:rPr lang="en-US" altLang="zh-CN" sz="2800" b="1" i="1"/>
              <a:t>x</a:t>
            </a:r>
            <a:r>
              <a:rPr lang="en-US" altLang="zh-CN" sz="2800" b="1"/>
              <a:t>) </a:t>
            </a:r>
            <a:r>
              <a:rPr lang="zh-CN" altLang="en-US" sz="2800" b="1"/>
              <a:t>和边际分布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 </a:t>
            </a:r>
            <a:r>
              <a:rPr lang="zh-CN" altLang="en-US" sz="2800" b="1"/>
              <a:t>计算得到 </a:t>
            </a:r>
          </a:p>
        </p:txBody>
      </p:sp>
      <p:sp>
        <p:nvSpPr>
          <p:cNvPr id="169995" name="Rectangle 11">
            <a:extLst>
              <a:ext uri="{FF2B5EF4-FFF2-40B4-BE49-F238E27FC236}">
                <a16:creationId xmlns:a16="http://schemas.microsoft.com/office/drawing/2014/main" id="{EC75504D-AB32-400B-AD71-24FF8517E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660900"/>
            <a:ext cx="86423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将特定预报</a:t>
            </a:r>
            <a:r>
              <a:rPr lang="en-US" altLang="zh-CN" sz="2800" b="1" i="1"/>
              <a:t>x</a:t>
            </a:r>
            <a:r>
              <a:rPr lang="zh-CN" altLang="en-US" sz="2800" b="1"/>
              <a:t>下观测</a:t>
            </a:r>
            <a:r>
              <a:rPr lang="en-US" altLang="zh-CN" sz="2800" b="1" i="1"/>
              <a:t>y</a:t>
            </a:r>
            <a:r>
              <a:rPr lang="zh-CN" altLang="en-US" sz="2800" b="1"/>
              <a:t>的条件均值与</a:t>
            </a:r>
            <a:r>
              <a:rPr lang="en-US" altLang="zh-CN" sz="2800" b="1" i="1"/>
              <a:t>y</a:t>
            </a:r>
            <a:r>
              <a:rPr lang="zh-CN" altLang="en-US" sz="2800" b="1"/>
              <a:t>的无条件均值之差对所有</a:t>
            </a:r>
            <a:r>
              <a:rPr lang="en-US" altLang="zh-CN" sz="2800" b="1" i="1"/>
              <a:t>x</a:t>
            </a:r>
            <a:r>
              <a:rPr lang="zh-CN" altLang="en-US" sz="2800" b="1"/>
              <a:t>平均</a:t>
            </a:r>
            <a:r>
              <a:rPr lang="en-US" altLang="zh-CN" sz="2800" b="1"/>
              <a:t>, </a:t>
            </a:r>
            <a:r>
              <a:rPr lang="zh-CN" altLang="en-US" sz="2800" b="1"/>
              <a:t>作为决定性的数量指标</a:t>
            </a:r>
            <a:r>
              <a:rPr lang="en-US" altLang="zh-CN" sz="2800" b="1"/>
              <a:t>. </a:t>
            </a:r>
          </a:p>
        </p:txBody>
      </p:sp>
      <p:sp>
        <p:nvSpPr>
          <p:cNvPr id="169997" name="Rectangle 13">
            <a:extLst>
              <a:ext uri="{FF2B5EF4-FFF2-40B4-BE49-F238E27FC236}">
                <a16:creationId xmlns:a16="http://schemas.microsoft.com/office/drawing/2014/main" id="{9A6D7452-1466-4955-92DC-144B31F15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73463"/>
            <a:ext cx="1727200" cy="5826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越小越好  </a:t>
            </a:r>
          </a:p>
        </p:txBody>
      </p:sp>
      <p:sp>
        <p:nvSpPr>
          <p:cNvPr id="169999" name="Rectangle 15">
            <a:extLst>
              <a:ext uri="{FF2B5EF4-FFF2-40B4-BE49-F238E27FC236}">
                <a16:creationId xmlns:a16="http://schemas.microsoft.com/office/drawing/2014/main" id="{09080DC7-C69D-4378-B413-A0F7FBF78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5229225"/>
            <a:ext cx="17907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r>
              <a:rPr lang="zh-CN" altLang="en-US" sz="2800" b="1"/>
              <a:t>越大越好 </a:t>
            </a:r>
          </a:p>
        </p:txBody>
      </p:sp>
      <p:pic>
        <p:nvPicPr>
          <p:cNvPr id="50188" name="Picture 16" descr="j0293828">
            <a:extLst>
              <a:ext uri="{FF2B5EF4-FFF2-40B4-BE49-F238E27FC236}">
                <a16:creationId xmlns:a16="http://schemas.microsoft.com/office/drawing/2014/main" id="{9B2E6620-31B3-40B6-8B36-80E80E679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8223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9" grpId="0" animBg="1"/>
      <p:bldP spid="169990" grpId="0"/>
      <p:bldP spid="169991" grpId="0" animBg="1"/>
      <p:bldP spid="169992" grpId="0" animBg="1"/>
      <p:bldP spid="169993" grpId="0"/>
      <p:bldP spid="169994" grpId="0" animBg="1"/>
      <p:bldP spid="169995" grpId="0"/>
      <p:bldP spid="169997" grpId="0" animBg="1"/>
      <p:bldP spid="16999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4">
            <a:extLst>
              <a:ext uri="{FF2B5EF4-FFF2-40B4-BE49-F238E27FC236}">
                <a16:creationId xmlns:a16="http://schemas.microsoft.com/office/drawing/2014/main" id="{52C6B35F-C6F6-406C-87C1-3D1F8B7E5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1944688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深入讨论 </a:t>
            </a:r>
          </a:p>
        </p:txBody>
      </p:sp>
      <p:sp>
        <p:nvSpPr>
          <p:cNvPr id="51203" name="Rectangle 5">
            <a:extLst>
              <a:ext uri="{FF2B5EF4-FFF2-40B4-BE49-F238E27FC236}">
                <a16:creationId xmlns:a16="http://schemas.microsoft.com/office/drawing/2014/main" id="{E0A29FDC-C61D-47CA-B517-4AF4E4EE6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17013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第二类标准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根据预报和实测间的关系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评价预报的品质 </a:t>
            </a:r>
          </a:p>
        </p:txBody>
      </p:sp>
      <p:sp>
        <p:nvSpPr>
          <p:cNvPr id="171014" name="Rectangle 6">
            <a:extLst>
              <a:ext uri="{FF2B5EF4-FFF2-40B4-BE49-F238E27FC236}">
                <a16:creationId xmlns:a16="http://schemas.microsoft.com/office/drawing/2014/main" id="{04B2D249-CFDC-4EFF-9836-9D5A4D037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773238"/>
            <a:ext cx="14351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分辨度 </a:t>
            </a:r>
          </a:p>
        </p:txBody>
      </p:sp>
      <p:sp>
        <p:nvSpPr>
          <p:cNvPr id="171015" name="Rectangle 7">
            <a:extLst>
              <a:ext uri="{FF2B5EF4-FFF2-40B4-BE49-F238E27FC236}">
                <a16:creationId xmlns:a16="http://schemas.microsoft.com/office/drawing/2014/main" id="{5B8324F9-B17E-48C4-9178-EB297EB6E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229225"/>
            <a:ext cx="1296988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敏锐性 </a:t>
            </a:r>
          </a:p>
        </p:txBody>
      </p:sp>
      <p:sp>
        <p:nvSpPr>
          <p:cNvPr id="171016" name="Rectangle 8">
            <a:extLst>
              <a:ext uri="{FF2B5EF4-FFF2-40B4-BE49-F238E27FC236}">
                <a16:creationId xmlns:a16="http://schemas.microsoft.com/office/drawing/2014/main" id="{13AB19EA-0CC1-48F4-9C3B-2FF691501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2286000"/>
            <a:ext cx="882015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将特定观测</a:t>
            </a:r>
            <a:r>
              <a:rPr lang="en-US" altLang="zh-CN" sz="2800" b="1" i="1"/>
              <a:t>y</a:t>
            </a:r>
            <a:r>
              <a:rPr lang="zh-CN" altLang="en-US" sz="2800" b="1"/>
              <a:t>下预报</a:t>
            </a:r>
            <a:r>
              <a:rPr lang="en-US" altLang="zh-CN" sz="2800" b="1" i="1"/>
              <a:t>x</a:t>
            </a:r>
            <a:r>
              <a:rPr lang="zh-CN" altLang="en-US" sz="2800" b="1"/>
              <a:t>的条件均值与</a:t>
            </a:r>
            <a:r>
              <a:rPr lang="en-US" altLang="zh-CN" sz="2800" b="1" i="1"/>
              <a:t>y</a:t>
            </a:r>
            <a:r>
              <a:rPr lang="zh-CN" altLang="en-US" sz="2800" b="1"/>
              <a:t>之差对所有</a:t>
            </a:r>
            <a:r>
              <a:rPr lang="en-US" altLang="zh-CN" sz="2800" b="1" i="1"/>
              <a:t>y</a:t>
            </a:r>
            <a:r>
              <a:rPr lang="zh-CN" altLang="en-US" sz="2800" b="1"/>
              <a:t>平均</a:t>
            </a:r>
            <a:r>
              <a:rPr lang="en-US" altLang="zh-CN" sz="2800" b="1"/>
              <a:t>,</a:t>
            </a:r>
            <a:r>
              <a:rPr lang="zh-CN" altLang="en-US" sz="2800" b="1"/>
              <a:t>作为分辨度的数量指标</a:t>
            </a:r>
            <a:r>
              <a:rPr lang="en-US" altLang="zh-CN" sz="2800" b="1"/>
              <a:t>. </a:t>
            </a:r>
          </a:p>
        </p:txBody>
      </p:sp>
      <p:sp>
        <p:nvSpPr>
          <p:cNvPr id="171017" name="Rectangle 9">
            <a:extLst>
              <a:ext uri="{FF2B5EF4-FFF2-40B4-BE49-F238E27FC236}">
                <a16:creationId xmlns:a16="http://schemas.microsoft.com/office/drawing/2014/main" id="{F9CD1BF0-50A5-4F37-AF71-C163F50C5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2781300"/>
            <a:ext cx="1727200" cy="5826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越小越好  </a:t>
            </a:r>
          </a:p>
        </p:txBody>
      </p:sp>
      <p:sp>
        <p:nvSpPr>
          <p:cNvPr id="171018" name="Rectangle 10">
            <a:extLst>
              <a:ext uri="{FF2B5EF4-FFF2-40B4-BE49-F238E27FC236}">
                <a16:creationId xmlns:a16="http://schemas.microsoft.com/office/drawing/2014/main" id="{4809AEDA-505E-4871-897E-583A90E24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363913"/>
            <a:ext cx="82804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将这个条件均值与</a:t>
            </a:r>
            <a:r>
              <a:rPr lang="en-US" altLang="zh-CN" sz="2800" b="1" i="1"/>
              <a:t>y</a:t>
            </a:r>
            <a:r>
              <a:rPr lang="zh-CN" altLang="en-US" sz="2800" b="1"/>
              <a:t>的无条件均值之差对所有</a:t>
            </a:r>
            <a:r>
              <a:rPr lang="en-US" altLang="zh-CN" sz="2800" b="1" i="1"/>
              <a:t>y</a:t>
            </a:r>
            <a:r>
              <a:rPr lang="zh-CN" altLang="en-US" sz="2800" b="1"/>
              <a:t>平均</a:t>
            </a:r>
            <a:r>
              <a:rPr lang="en-US" altLang="zh-CN" sz="2800" b="1"/>
              <a:t>, </a:t>
            </a:r>
            <a:r>
              <a:rPr lang="zh-CN" altLang="en-US" sz="2800" b="1"/>
              <a:t>作为分辨度的又一数量指标</a:t>
            </a:r>
            <a:r>
              <a:rPr lang="en-US" altLang="zh-CN" sz="2800" b="1"/>
              <a:t>. </a:t>
            </a:r>
          </a:p>
        </p:txBody>
      </p:sp>
      <p:sp>
        <p:nvSpPr>
          <p:cNvPr id="171019" name="Rectangle 11">
            <a:extLst>
              <a:ext uri="{FF2B5EF4-FFF2-40B4-BE49-F238E27FC236}">
                <a16:creationId xmlns:a16="http://schemas.microsoft.com/office/drawing/2014/main" id="{01BE79A8-A584-4351-B63D-5186860F8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3933825"/>
            <a:ext cx="17907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r>
              <a:rPr lang="zh-CN" altLang="en-US" sz="2800" b="1"/>
              <a:t>越大越好 </a:t>
            </a:r>
          </a:p>
        </p:txBody>
      </p:sp>
      <p:sp>
        <p:nvSpPr>
          <p:cNvPr id="171020" name="Rectangle 12">
            <a:extLst>
              <a:ext uri="{FF2B5EF4-FFF2-40B4-BE49-F238E27FC236}">
                <a16:creationId xmlns:a16="http://schemas.microsoft.com/office/drawing/2014/main" id="{B404C714-CAE8-4C1A-B4C8-5E1BBB3E8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862638"/>
            <a:ext cx="8135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预报本身的敏锐</a:t>
            </a:r>
            <a:r>
              <a:rPr lang="en-US" altLang="zh-CN" sz="2800" b="1"/>
              <a:t>, </a:t>
            </a:r>
            <a:r>
              <a:rPr lang="zh-CN" altLang="en-US" sz="2800" b="1"/>
              <a:t>与事件无关</a:t>
            </a:r>
            <a:r>
              <a:rPr lang="en-US" altLang="zh-CN" sz="2800" b="1"/>
              <a:t>.  </a:t>
            </a:r>
            <a:r>
              <a:rPr lang="zh-CN" altLang="en-US" sz="2800" b="1"/>
              <a:t>由边际分布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决定</a:t>
            </a:r>
            <a:r>
              <a:rPr lang="en-US" altLang="zh-CN" sz="2800" b="1"/>
              <a:t>. </a:t>
            </a:r>
          </a:p>
        </p:txBody>
      </p:sp>
      <p:sp>
        <p:nvSpPr>
          <p:cNvPr id="171021" name="Rectangle 13">
            <a:extLst>
              <a:ext uri="{FF2B5EF4-FFF2-40B4-BE49-F238E27FC236}">
                <a16:creationId xmlns:a16="http://schemas.microsoft.com/office/drawing/2014/main" id="{F85AA767-245D-4656-B132-801D1E699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229225"/>
            <a:ext cx="5113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如预报有雨概率多数接近</a:t>
            </a:r>
            <a:r>
              <a:rPr lang="en-US" altLang="zh-CN" sz="2800" b="1"/>
              <a:t>1</a:t>
            </a:r>
            <a:r>
              <a:rPr lang="zh-CN" altLang="en-US" sz="2800" b="1"/>
              <a:t>或</a:t>
            </a:r>
            <a:r>
              <a:rPr lang="en-US" altLang="zh-CN" sz="2800" b="1"/>
              <a:t>0. </a:t>
            </a:r>
          </a:p>
        </p:txBody>
      </p:sp>
      <p:sp>
        <p:nvSpPr>
          <p:cNvPr id="171024" name="Rectangle 16">
            <a:extLst>
              <a:ext uri="{FF2B5EF4-FFF2-40B4-BE49-F238E27FC236}">
                <a16:creationId xmlns:a16="http://schemas.microsoft.com/office/drawing/2014/main" id="{07065F73-4427-4829-9D23-E07CFF485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476750"/>
            <a:ext cx="7250112" cy="58261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由条件分布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∣</a:t>
            </a:r>
            <a:r>
              <a:rPr lang="en-US" altLang="zh-CN" sz="2800" b="1" i="1"/>
              <a:t>y</a:t>
            </a:r>
            <a:r>
              <a:rPr lang="en-US" altLang="zh-CN" sz="2800" b="1"/>
              <a:t>) </a:t>
            </a:r>
            <a:r>
              <a:rPr lang="zh-CN" altLang="en-US" sz="2800" b="1"/>
              <a:t>和边际分布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 </a:t>
            </a:r>
            <a:r>
              <a:rPr lang="zh-CN" altLang="en-US" sz="2800" b="1"/>
              <a:t>计算得到 </a:t>
            </a:r>
          </a:p>
        </p:txBody>
      </p:sp>
      <p:pic>
        <p:nvPicPr>
          <p:cNvPr id="51213" name="Picture 18" descr="j0293828">
            <a:extLst>
              <a:ext uri="{FF2B5EF4-FFF2-40B4-BE49-F238E27FC236}">
                <a16:creationId xmlns:a16="http://schemas.microsoft.com/office/drawing/2014/main" id="{30FC4265-23EC-4ED8-A4FF-09FF2DC01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8223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4" grpId="0" animBg="1"/>
      <p:bldP spid="171015" grpId="0" animBg="1"/>
      <p:bldP spid="171016" grpId="0"/>
      <p:bldP spid="171017" grpId="0" animBg="1"/>
      <p:bldP spid="171018" grpId="0"/>
      <p:bldP spid="171019" grpId="0" animBg="1"/>
      <p:bldP spid="171020" grpId="0"/>
      <p:bldP spid="171021" grpId="0"/>
      <p:bldP spid="1710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6" name="Rectangle 4">
            <a:extLst>
              <a:ext uri="{FF2B5EF4-FFF2-40B4-BE49-F238E27FC236}">
                <a16:creationId xmlns:a16="http://schemas.microsoft.com/office/drawing/2014/main" id="{5B6CD2F7-22CC-4F0D-820A-36FF32E99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3" y="1773238"/>
            <a:ext cx="1619250" cy="51911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不确定性 </a:t>
            </a:r>
          </a:p>
        </p:txBody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56659853-2327-45B3-BDA9-22F5BECE9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1709738"/>
            <a:ext cx="6192837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实际事件发生的不确定，与预报无关</a:t>
            </a:r>
            <a:r>
              <a:rPr lang="en-US" altLang="zh-CN" sz="2800" b="1"/>
              <a:t>.</a:t>
            </a:r>
            <a:r>
              <a:rPr lang="zh-CN" altLang="en-US" sz="2800" b="1"/>
              <a:t>会给预报带来困难 </a:t>
            </a:r>
          </a:p>
        </p:txBody>
      </p:sp>
      <p:sp>
        <p:nvSpPr>
          <p:cNvPr id="52228" name="Rectangle 8">
            <a:extLst>
              <a:ext uri="{FF2B5EF4-FFF2-40B4-BE49-F238E27FC236}">
                <a16:creationId xmlns:a16="http://schemas.microsoft.com/office/drawing/2014/main" id="{CD387CA4-5BFC-430A-A9B3-D0C5F2B0B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6250"/>
            <a:ext cx="1944688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隶书" panose="02010509060101010101" pitchFamily="49" charset="-122"/>
              </a:rPr>
              <a:t>深入讨论 </a:t>
            </a:r>
          </a:p>
        </p:txBody>
      </p:sp>
      <p:sp>
        <p:nvSpPr>
          <p:cNvPr id="52229" name="Rectangle 9">
            <a:extLst>
              <a:ext uri="{FF2B5EF4-FFF2-40B4-BE49-F238E27FC236}">
                <a16:creationId xmlns:a16="http://schemas.microsoft.com/office/drawing/2014/main" id="{8106CF44-0F12-4B68-99F4-6E1160887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9117013" cy="5191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第二类标准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根据预报和实测间的关系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评价预报的品质 </a:t>
            </a:r>
          </a:p>
        </p:txBody>
      </p:sp>
      <p:sp>
        <p:nvSpPr>
          <p:cNvPr id="172042" name="Rectangle 10">
            <a:extLst>
              <a:ext uri="{FF2B5EF4-FFF2-40B4-BE49-F238E27FC236}">
                <a16:creationId xmlns:a16="http://schemas.microsoft.com/office/drawing/2014/main" id="{843F9833-3920-4C82-9147-68C5E03E9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349500"/>
            <a:ext cx="3405188" cy="51911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由边际分布</a:t>
            </a:r>
            <a:r>
              <a:rPr lang="en-US" altLang="zh-CN" sz="2800" b="1" i="1"/>
              <a:t>F</a:t>
            </a:r>
            <a:r>
              <a:rPr lang="en-US" altLang="zh-CN" sz="2800" b="1"/>
              <a:t>(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决定 </a:t>
            </a:r>
          </a:p>
        </p:txBody>
      </p:sp>
      <p:sp>
        <p:nvSpPr>
          <p:cNvPr id="172044" name="Rectangle 12">
            <a:extLst>
              <a:ext uri="{FF2B5EF4-FFF2-40B4-BE49-F238E27FC236}">
                <a16:creationId xmlns:a16="http://schemas.microsoft.com/office/drawing/2014/main" id="{D56726F1-161B-4852-9AFA-87936F191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2892425"/>
            <a:ext cx="8577263" cy="5826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计数、记分、图形模型都从某一侧面反映第二类标准</a:t>
            </a:r>
            <a:r>
              <a:rPr lang="en-US" altLang="zh-CN" sz="2800" b="1"/>
              <a:t>. </a:t>
            </a:r>
          </a:p>
        </p:txBody>
      </p:sp>
      <p:sp>
        <p:nvSpPr>
          <p:cNvPr id="172045" name="Rectangle 13">
            <a:extLst>
              <a:ext uri="{FF2B5EF4-FFF2-40B4-BE49-F238E27FC236}">
                <a16:creationId xmlns:a16="http://schemas.microsoft.com/office/drawing/2014/main" id="{AE67AA31-8C1D-4AAC-8A54-7DEC74427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543300"/>
            <a:ext cx="8042275" cy="5191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第三类标准：利用预报所实现的效益或带来的费用</a:t>
            </a:r>
          </a:p>
        </p:txBody>
      </p:sp>
      <p:sp>
        <p:nvSpPr>
          <p:cNvPr id="172046" name="Rectangle 14">
            <a:extLst>
              <a:ext uri="{FF2B5EF4-FFF2-40B4-BE49-F238E27FC236}">
                <a16:creationId xmlns:a16="http://schemas.microsoft.com/office/drawing/2014/main" id="{A722BA49-D720-48BF-9B22-A30DBF579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86225"/>
            <a:ext cx="8064500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用决策分析法估计预报的效益或费用的期望值，与不用预报</a:t>
            </a:r>
            <a:r>
              <a:rPr lang="en-US" altLang="zh-CN" sz="2800" b="1"/>
              <a:t>(</a:t>
            </a:r>
            <a:r>
              <a:rPr lang="zh-CN" altLang="en-US" sz="2800" b="1"/>
              <a:t>做先验估计</a:t>
            </a:r>
            <a:r>
              <a:rPr lang="en-US" altLang="zh-CN" sz="2800" b="1"/>
              <a:t>)</a:t>
            </a:r>
            <a:r>
              <a:rPr lang="zh-CN" altLang="en-US" sz="2800" b="1"/>
              <a:t>相比</a:t>
            </a:r>
            <a:r>
              <a:rPr lang="en-US" altLang="zh-CN" sz="2800" b="1"/>
              <a:t>.</a:t>
            </a:r>
          </a:p>
        </p:txBody>
      </p:sp>
      <p:sp>
        <p:nvSpPr>
          <p:cNvPr id="172047" name="Rectangle 15">
            <a:extLst>
              <a:ext uri="{FF2B5EF4-FFF2-40B4-BE49-F238E27FC236}">
                <a16:creationId xmlns:a16="http://schemas.microsoft.com/office/drawing/2014/main" id="{A4CA90FA-CB34-4235-A4AC-8F83728CC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229225"/>
            <a:ext cx="6646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与预报的品质，即第二类标准密切相关</a:t>
            </a:r>
            <a:r>
              <a:rPr lang="en-US" altLang="zh-CN" sz="2800" b="1"/>
              <a:t>. </a:t>
            </a:r>
          </a:p>
        </p:txBody>
      </p:sp>
      <p:sp>
        <p:nvSpPr>
          <p:cNvPr id="172048" name="Rectangle 16">
            <a:extLst>
              <a:ext uri="{FF2B5EF4-FFF2-40B4-BE49-F238E27FC236}">
                <a16:creationId xmlns:a16="http://schemas.microsoft.com/office/drawing/2014/main" id="{AC173DDB-FB5D-4E8D-A054-BEB744C06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876925"/>
            <a:ext cx="8577263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在谷物种植、耕种计划、水果保护等领域有广泛应用</a:t>
            </a:r>
            <a:r>
              <a:rPr lang="en-US" altLang="zh-CN" sz="2800" b="1"/>
              <a:t>. </a:t>
            </a:r>
          </a:p>
        </p:txBody>
      </p:sp>
      <p:pic>
        <p:nvPicPr>
          <p:cNvPr id="52236" name="Picture 18" descr="j0293828">
            <a:extLst>
              <a:ext uri="{FF2B5EF4-FFF2-40B4-BE49-F238E27FC236}">
                <a16:creationId xmlns:a16="http://schemas.microsoft.com/office/drawing/2014/main" id="{EFF8F304-AA57-4BD8-B8A4-8B0C07027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9275"/>
            <a:ext cx="82232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6" grpId="0" animBg="1"/>
      <p:bldP spid="172037" grpId="0"/>
      <p:bldP spid="172042" grpId="0" animBg="1"/>
      <p:bldP spid="172044" grpId="0" animBg="1"/>
      <p:bldP spid="172045" grpId="0" animBg="1"/>
      <p:bldP spid="172046" grpId="0"/>
      <p:bldP spid="172047" grpId="0"/>
      <p:bldP spid="172048" grpId="0" animBg="1"/>
    </p:bldLst>
  </p:timing>
</p:sld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/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CC66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F:\数学模型电子教案\shuxuemoxing.pot</Template>
  <TotalTime>8401</TotalTime>
  <Words>6716</Words>
  <Application>Microsoft Office PowerPoint</Application>
  <PresentationFormat>全屏显示(4:3)</PresentationFormat>
  <Paragraphs>1174</Paragraphs>
  <Slides>64</Slides>
  <Notes>0</Notes>
  <HiddenSlides>16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64</vt:i4>
      </vt:variant>
    </vt:vector>
  </HeadingPairs>
  <TitlesOfParts>
    <vt:vector size="75" baseType="lpstr">
      <vt:lpstr>Times New Roman</vt:lpstr>
      <vt:lpstr>宋体</vt:lpstr>
      <vt:lpstr>Arial</vt:lpstr>
      <vt:lpstr>隶书</vt:lpstr>
      <vt:lpstr>楷体_GB2312</vt:lpstr>
      <vt:lpstr>Symbol</vt:lpstr>
      <vt:lpstr>Math1</vt:lpstr>
      <vt:lpstr>shuxuemoxing</vt:lpstr>
      <vt:lpstr>Microsoft 公式 3.0</vt:lpstr>
      <vt:lpstr>Microsoft Clip Gallery</vt:lpstr>
      <vt:lpstr>Microsoft Equation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Jiang</dc:creator>
  <cp:lastModifiedBy>李 卫国</cp:lastModifiedBy>
  <cp:revision>241</cp:revision>
  <dcterms:created xsi:type="dcterms:W3CDTF">2000-02-23T13:25:36Z</dcterms:created>
  <dcterms:modified xsi:type="dcterms:W3CDTF">2022-03-06T16:12:30Z</dcterms:modified>
</cp:coreProperties>
</file>