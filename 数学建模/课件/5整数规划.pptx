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7" r:id="rId2"/>
    <p:sldId id="287" r:id="rId3"/>
    <p:sldId id="288" r:id="rId4"/>
    <p:sldId id="289" r:id="rId5"/>
    <p:sldId id="370" r:id="rId6"/>
    <p:sldId id="371" r:id="rId7"/>
    <p:sldId id="290" r:id="rId8"/>
    <p:sldId id="291" r:id="rId9"/>
    <p:sldId id="292" r:id="rId10"/>
    <p:sldId id="372" r:id="rId11"/>
    <p:sldId id="373" r:id="rId12"/>
    <p:sldId id="374" r:id="rId13"/>
    <p:sldId id="375" r:id="rId14"/>
    <p:sldId id="293" r:id="rId15"/>
    <p:sldId id="343" r:id="rId16"/>
    <p:sldId id="294" r:id="rId17"/>
    <p:sldId id="295" r:id="rId18"/>
    <p:sldId id="296" r:id="rId19"/>
    <p:sldId id="297" r:id="rId20"/>
    <p:sldId id="298" r:id="rId21"/>
    <p:sldId id="299" r:id="rId22"/>
    <p:sldId id="359" r:id="rId23"/>
    <p:sldId id="300" r:id="rId24"/>
    <p:sldId id="301" r:id="rId25"/>
    <p:sldId id="302" r:id="rId26"/>
    <p:sldId id="344" r:id="rId27"/>
    <p:sldId id="303" r:id="rId28"/>
    <p:sldId id="304" r:id="rId29"/>
    <p:sldId id="305" r:id="rId30"/>
    <p:sldId id="306" r:id="rId31"/>
    <p:sldId id="360" r:id="rId32"/>
    <p:sldId id="307" r:id="rId33"/>
    <p:sldId id="345" r:id="rId34"/>
    <p:sldId id="308" r:id="rId35"/>
    <p:sldId id="309" r:id="rId36"/>
    <p:sldId id="310" r:id="rId37"/>
    <p:sldId id="311" r:id="rId38"/>
    <p:sldId id="312" r:id="rId39"/>
    <p:sldId id="313" r:id="rId40"/>
    <p:sldId id="361" r:id="rId41"/>
    <p:sldId id="362" r:id="rId42"/>
    <p:sldId id="363" r:id="rId43"/>
    <p:sldId id="364" r:id="rId44"/>
    <p:sldId id="366" r:id="rId45"/>
    <p:sldId id="367" r:id="rId46"/>
    <p:sldId id="368" r:id="rId47"/>
    <p:sldId id="369" r:id="rId48"/>
    <p:sldId id="376" r:id="rId49"/>
    <p:sldId id="378" r:id="rId50"/>
    <p:sldId id="379" r:id="rId51"/>
    <p:sldId id="380" r:id="rId52"/>
    <p:sldId id="377" r:id="rId53"/>
    <p:sldId id="325" r:id="rId54"/>
    <p:sldId id="326" r:id="rId55"/>
    <p:sldId id="327" r:id="rId56"/>
    <p:sldId id="328" r:id="rId57"/>
    <p:sldId id="329" r:id="rId58"/>
    <p:sldId id="330" r:id="rId59"/>
    <p:sldId id="355" r:id="rId60"/>
    <p:sldId id="331" r:id="rId61"/>
    <p:sldId id="332" r:id="rId62"/>
    <p:sldId id="333" r:id="rId63"/>
    <p:sldId id="334" r:id="rId6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CC"/>
    <a:srgbClr val="CCFFFF"/>
    <a:srgbClr val="FFFFCC"/>
    <a:srgbClr val="CCFFCC"/>
    <a:srgbClr val="FFFF99"/>
    <a:srgbClr val="BAEEF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8" autoAdjust="0"/>
    <p:restoredTop sz="95469" autoAdjust="0"/>
  </p:normalViewPr>
  <p:slideViewPr>
    <p:cSldViewPr>
      <p:cViewPr varScale="1">
        <p:scale>
          <a:sx n="57" d="100"/>
          <a:sy n="57" d="100"/>
        </p:scale>
        <p:origin x="16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1.xml"/><Relationship Id="rId2" Type="http://schemas.openxmlformats.org/officeDocument/2006/relationships/slide" Target="slides/slide10.xml"/><Relationship Id="rId1" Type="http://schemas.openxmlformats.org/officeDocument/2006/relationships/slide" Target="slides/slide5.xml"/><Relationship Id="rId6" Type="http://schemas.openxmlformats.org/officeDocument/2006/relationships/slide" Target="slides/slide46.xml"/><Relationship Id="rId5" Type="http://schemas.openxmlformats.org/officeDocument/2006/relationships/slide" Target="slides/slide13.xml"/><Relationship Id="rId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png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11" Type="http://schemas.openxmlformats.org/officeDocument/2006/relationships/image" Target="../media/image13.wmf"/><Relationship Id="rId5" Type="http://schemas.openxmlformats.org/officeDocument/2006/relationships/image" Target="../media/image19.wmf"/><Relationship Id="rId10" Type="http://schemas.openxmlformats.org/officeDocument/2006/relationships/image" Target="../media/image24.wmf"/><Relationship Id="rId4" Type="http://schemas.openxmlformats.org/officeDocument/2006/relationships/image" Target="../media/image18.wmf"/><Relationship Id="rId9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4" Type="http://schemas.openxmlformats.org/officeDocument/2006/relationships/image" Target="../media/image40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png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image" Target="../media/image79.wmf"/><Relationship Id="rId18" Type="http://schemas.openxmlformats.org/officeDocument/2006/relationships/image" Target="../media/image84.wmf"/><Relationship Id="rId3" Type="http://schemas.openxmlformats.org/officeDocument/2006/relationships/image" Target="../media/image69.wmf"/><Relationship Id="rId21" Type="http://schemas.openxmlformats.org/officeDocument/2006/relationships/image" Target="../media/image87.wmf"/><Relationship Id="rId7" Type="http://schemas.openxmlformats.org/officeDocument/2006/relationships/image" Target="../media/image73.wmf"/><Relationship Id="rId12" Type="http://schemas.openxmlformats.org/officeDocument/2006/relationships/image" Target="../media/image78.wmf"/><Relationship Id="rId17" Type="http://schemas.openxmlformats.org/officeDocument/2006/relationships/image" Target="../media/image83.wmf"/><Relationship Id="rId2" Type="http://schemas.openxmlformats.org/officeDocument/2006/relationships/image" Target="../media/image68.wmf"/><Relationship Id="rId16" Type="http://schemas.openxmlformats.org/officeDocument/2006/relationships/image" Target="../media/image82.wmf"/><Relationship Id="rId20" Type="http://schemas.openxmlformats.org/officeDocument/2006/relationships/image" Target="../media/image86.wmf"/><Relationship Id="rId1" Type="http://schemas.openxmlformats.org/officeDocument/2006/relationships/image" Target="../media/image67.png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5" Type="http://schemas.openxmlformats.org/officeDocument/2006/relationships/image" Target="../media/image71.wmf"/><Relationship Id="rId15" Type="http://schemas.openxmlformats.org/officeDocument/2006/relationships/image" Target="../media/image81.wmf"/><Relationship Id="rId23" Type="http://schemas.openxmlformats.org/officeDocument/2006/relationships/image" Target="../media/image89.wmf"/><Relationship Id="rId10" Type="http://schemas.openxmlformats.org/officeDocument/2006/relationships/image" Target="../media/image76.wmf"/><Relationship Id="rId19" Type="http://schemas.openxmlformats.org/officeDocument/2006/relationships/image" Target="../media/image85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Relationship Id="rId14" Type="http://schemas.openxmlformats.org/officeDocument/2006/relationships/image" Target="../media/image80.wmf"/><Relationship Id="rId22" Type="http://schemas.openxmlformats.org/officeDocument/2006/relationships/image" Target="../media/image8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png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image" Target="../media/image78.wmf"/><Relationship Id="rId18" Type="http://schemas.openxmlformats.org/officeDocument/2006/relationships/image" Target="../media/image96.wmf"/><Relationship Id="rId3" Type="http://schemas.openxmlformats.org/officeDocument/2006/relationships/image" Target="../media/image68.wmf"/><Relationship Id="rId21" Type="http://schemas.openxmlformats.org/officeDocument/2006/relationships/image" Target="../media/image86.wmf"/><Relationship Id="rId7" Type="http://schemas.openxmlformats.org/officeDocument/2006/relationships/image" Target="../media/image72.wmf"/><Relationship Id="rId12" Type="http://schemas.openxmlformats.org/officeDocument/2006/relationships/image" Target="../media/image95.wmf"/><Relationship Id="rId17" Type="http://schemas.openxmlformats.org/officeDocument/2006/relationships/image" Target="../media/image82.wmf"/><Relationship Id="rId2" Type="http://schemas.openxmlformats.org/officeDocument/2006/relationships/image" Target="../media/image93.wmf"/><Relationship Id="rId16" Type="http://schemas.openxmlformats.org/officeDocument/2006/relationships/image" Target="../media/image81.wmf"/><Relationship Id="rId20" Type="http://schemas.openxmlformats.org/officeDocument/2006/relationships/image" Target="../media/image85.wmf"/><Relationship Id="rId1" Type="http://schemas.openxmlformats.org/officeDocument/2006/relationships/image" Target="../media/image67.png"/><Relationship Id="rId6" Type="http://schemas.openxmlformats.org/officeDocument/2006/relationships/image" Target="../media/image71.wmf"/><Relationship Id="rId11" Type="http://schemas.openxmlformats.org/officeDocument/2006/relationships/image" Target="../media/image76.wmf"/><Relationship Id="rId5" Type="http://schemas.openxmlformats.org/officeDocument/2006/relationships/image" Target="../media/image70.wmf"/><Relationship Id="rId15" Type="http://schemas.openxmlformats.org/officeDocument/2006/relationships/image" Target="../media/image80.wmf"/><Relationship Id="rId10" Type="http://schemas.openxmlformats.org/officeDocument/2006/relationships/image" Target="../media/image94.wmf"/><Relationship Id="rId19" Type="http://schemas.openxmlformats.org/officeDocument/2006/relationships/image" Target="../media/image97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Relationship Id="rId14" Type="http://schemas.openxmlformats.org/officeDocument/2006/relationships/image" Target="../media/image79.wmf"/><Relationship Id="rId22" Type="http://schemas.openxmlformats.org/officeDocument/2006/relationships/image" Target="../media/image8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png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4" Type="http://schemas.openxmlformats.org/officeDocument/2006/relationships/image" Target="../media/image102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image" Target="../media/image11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4" Type="http://schemas.openxmlformats.org/officeDocument/2006/relationships/image" Target="../media/image66.png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e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image" Target="../media/image132.wmf"/><Relationship Id="rId7" Type="http://schemas.openxmlformats.org/officeDocument/2006/relationships/image" Target="../media/image136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45.wmf"/><Relationship Id="rId5" Type="http://schemas.openxmlformats.org/officeDocument/2006/relationships/image" Target="../media/image149.wmf"/><Relationship Id="rId4" Type="http://schemas.openxmlformats.org/officeDocument/2006/relationships/image" Target="../media/image140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4" Type="http://schemas.openxmlformats.org/officeDocument/2006/relationships/image" Target="../media/image153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4.wmf"/><Relationship Id="rId4" Type="http://schemas.openxmlformats.org/officeDocument/2006/relationships/image" Target="../media/image153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png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69241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114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42744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984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20946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3141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K1.jp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FD34DF-A507-4503-B6CD-E9DD335313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2" descr="K2.jp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2AEE9E0-864B-496E-BE99-D23E63FDD4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13" descr="K3.jpg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5194AB7-3048-496C-B64D-09A24F3751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5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5902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166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2931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7370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 descr="K1.jp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F8F9C1C-FF11-46E0-9716-66070997551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2" descr="K2.jp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58FDEC-345D-435B-A4C0-0B82C582334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图片 13" descr="K3.jpg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5050347-17D7-458C-9594-E258660AAC1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8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53.xml"/><Relationship Id="rId3" Type="http://schemas.openxmlformats.org/officeDocument/2006/relationships/slide" Target="slide3.xml"/><Relationship Id="rId7" Type="http://schemas.openxmlformats.org/officeDocument/2006/relationships/slide" Target="slide5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slide" Target="slide27.xml"/><Relationship Id="rId5" Type="http://schemas.openxmlformats.org/officeDocument/2006/relationships/slide" Target="slide2.xml"/><Relationship Id="rId4" Type="http://schemas.openxmlformats.org/officeDocument/2006/relationships/slide" Target="slide19.xml"/><Relationship Id="rId9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0.wmf"/><Relationship Id="rId22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0.e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1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4.wmf"/><Relationship Id="rId26" Type="http://schemas.openxmlformats.org/officeDocument/2006/relationships/image" Target="../media/image78.wmf"/><Relationship Id="rId39" Type="http://schemas.openxmlformats.org/officeDocument/2006/relationships/oleObject" Target="../embeddings/oleObject82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82.wmf"/><Relationship Id="rId42" Type="http://schemas.openxmlformats.org/officeDocument/2006/relationships/image" Target="../media/image86.wmf"/><Relationship Id="rId47" Type="http://schemas.openxmlformats.org/officeDocument/2006/relationships/oleObject" Target="../embeddings/oleObject86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29" Type="http://schemas.openxmlformats.org/officeDocument/2006/relationships/oleObject" Target="../embeddings/oleObject77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77.wmf"/><Relationship Id="rId32" Type="http://schemas.openxmlformats.org/officeDocument/2006/relationships/image" Target="../media/image81.wmf"/><Relationship Id="rId37" Type="http://schemas.openxmlformats.org/officeDocument/2006/relationships/oleObject" Target="../embeddings/oleObject81.bin"/><Relationship Id="rId40" Type="http://schemas.openxmlformats.org/officeDocument/2006/relationships/image" Target="../media/image85.wmf"/><Relationship Id="rId45" Type="http://schemas.openxmlformats.org/officeDocument/2006/relationships/oleObject" Target="../embeddings/oleObject85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79.wmf"/><Relationship Id="rId36" Type="http://schemas.openxmlformats.org/officeDocument/2006/relationships/image" Target="../media/image83.wmf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4" Type="http://schemas.openxmlformats.org/officeDocument/2006/relationships/image" Target="../media/image87.wmf"/><Relationship Id="rId4" Type="http://schemas.openxmlformats.org/officeDocument/2006/relationships/image" Target="../media/image67.png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80.wmf"/><Relationship Id="rId35" Type="http://schemas.openxmlformats.org/officeDocument/2006/relationships/oleObject" Target="../embeddings/oleObject80.bin"/><Relationship Id="rId43" Type="http://schemas.openxmlformats.org/officeDocument/2006/relationships/oleObject" Target="../embeddings/oleObject84.bin"/><Relationship Id="rId48" Type="http://schemas.openxmlformats.org/officeDocument/2006/relationships/image" Target="../media/image89.wmf"/><Relationship Id="rId8" Type="http://schemas.openxmlformats.org/officeDocument/2006/relationships/image" Target="../media/image69.wmf"/><Relationship Id="rId3" Type="http://schemas.openxmlformats.org/officeDocument/2006/relationships/oleObject" Target="../embeddings/oleObject64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38" Type="http://schemas.openxmlformats.org/officeDocument/2006/relationships/image" Target="../media/image84.wmf"/><Relationship Id="rId46" Type="http://schemas.openxmlformats.org/officeDocument/2006/relationships/image" Target="../media/image88.wmf"/><Relationship Id="rId20" Type="http://schemas.openxmlformats.org/officeDocument/2006/relationships/image" Target="../media/image75.wmf"/><Relationship Id="rId41" Type="http://schemas.openxmlformats.org/officeDocument/2006/relationships/oleObject" Target="../embeddings/oleObject8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6.bin"/><Relationship Id="rId18" Type="http://schemas.openxmlformats.org/officeDocument/2006/relationships/image" Target="../media/image73.wmf"/><Relationship Id="rId26" Type="http://schemas.openxmlformats.org/officeDocument/2006/relationships/image" Target="../media/image95.wmf"/><Relationship Id="rId39" Type="http://schemas.openxmlformats.org/officeDocument/2006/relationships/oleObject" Target="../embeddings/oleObject109.bin"/><Relationship Id="rId21" Type="http://schemas.openxmlformats.org/officeDocument/2006/relationships/oleObject" Target="../embeddings/oleObject100.bin"/><Relationship Id="rId34" Type="http://schemas.openxmlformats.org/officeDocument/2006/relationships/image" Target="../media/image81.wmf"/><Relationship Id="rId42" Type="http://schemas.openxmlformats.org/officeDocument/2006/relationships/image" Target="../media/image85.wmf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29" Type="http://schemas.openxmlformats.org/officeDocument/2006/relationships/oleObject" Target="../embeddings/oleObject104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76.wmf"/><Relationship Id="rId32" Type="http://schemas.openxmlformats.org/officeDocument/2006/relationships/image" Target="../media/image80.wmf"/><Relationship Id="rId37" Type="http://schemas.openxmlformats.org/officeDocument/2006/relationships/oleObject" Target="../embeddings/oleObject108.bin"/><Relationship Id="rId40" Type="http://schemas.openxmlformats.org/officeDocument/2006/relationships/image" Target="../media/image97.wmf"/><Relationship Id="rId45" Type="http://schemas.openxmlformats.org/officeDocument/2006/relationships/oleObject" Target="../embeddings/oleObject112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image" Target="../media/image78.wmf"/><Relationship Id="rId36" Type="http://schemas.openxmlformats.org/officeDocument/2006/relationships/image" Target="../media/image82.wmf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99.bin"/><Relationship Id="rId31" Type="http://schemas.openxmlformats.org/officeDocument/2006/relationships/oleObject" Target="../embeddings/oleObject105.bin"/><Relationship Id="rId44" Type="http://schemas.openxmlformats.org/officeDocument/2006/relationships/image" Target="../media/image86.wmf"/><Relationship Id="rId4" Type="http://schemas.openxmlformats.org/officeDocument/2006/relationships/image" Target="../media/image67.png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71.wmf"/><Relationship Id="rId22" Type="http://schemas.openxmlformats.org/officeDocument/2006/relationships/image" Target="../media/image94.wmf"/><Relationship Id="rId27" Type="http://schemas.openxmlformats.org/officeDocument/2006/relationships/oleObject" Target="../embeddings/oleObject103.bin"/><Relationship Id="rId30" Type="http://schemas.openxmlformats.org/officeDocument/2006/relationships/image" Target="../media/image79.wmf"/><Relationship Id="rId35" Type="http://schemas.openxmlformats.org/officeDocument/2006/relationships/oleObject" Target="../embeddings/oleObject107.bin"/><Relationship Id="rId43" Type="http://schemas.openxmlformats.org/officeDocument/2006/relationships/oleObject" Target="../embeddings/oleObject111.bin"/><Relationship Id="rId8" Type="http://schemas.openxmlformats.org/officeDocument/2006/relationships/image" Target="../media/image68.wmf"/><Relationship Id="rId3" Type="http://schemas.openxmlformats.org/officeDocument/2006/relationships/oleObject" Target="../embeddings/oleObject91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33" Type="http://schemas.openxmlformats.org/officeDocument/2006/relationships/oleObject" Target="../embeddings/oleObject106.bin"/><Relationship Id="rId38" Type="http://schemas.openxmlformats.org/officeDocument/2006/relationships/image" Target="../media/image96.wmf"/><Relationship Id="rId46" Type="http://schemas.openxmlformats.org/officeDocument/2006/relationships/image" Target="../media/image87.wmf"/><Relationship Id="rId20" Type="http://schemas.openxmlformats.org/officeDocument/2006/relationships/image" Target="../media/image74.wmf"/><Relationship Id="rId41" Type="http://schemas.openxmlformats.org/officeDocument/2006/relationships/oleObject" Target="../embeddings/oleObject11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98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1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10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0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1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6.png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1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66.png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36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18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26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24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27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37.w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6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33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35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138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39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4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44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71.bin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4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45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73.bin"/><Relationship Id="rId10" Type="http://schemas.openxmlformats.org/officeDocument/2006/relationships/image" Target="../media/image153.wmf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75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77.bin"/><Relationship Id="rId10" Type="http://schemas.openxmlformats.org/officeDocument/2006/relationships/image" Target="../media/image153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79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5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63.wmf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10" Type="http://schemas.openxmlformats.org/officeDocument/2006/relationships/image" Target="../media/image159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61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90.bin"/><Relationship Id="rId4" Type="http://schemas.openxmlformats.org/officeDocument/2006/relationships/image" Target="../media/image164.w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6C15D792-6B46-493C-BBB3-2FA4E130B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838200"/>
            <a:ext cx="54752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000" b="1">
                <a:latin typeface="隶书" panose="02010509060101010101" pitchFamily="49" charset="-122"/>
                <a:ea typeface="隶书" panose="02010509060101010101" pitchFamily="49" charset="-122"/>
              </a:rPr>
              <a:t>第四章  数学规划模型</a:t>
            </a:r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7D3906E0-BA53-4255-A388-333615CE8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844675"/>
            <a:ext cx="5562600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  <a:hlinkClick r:id="rId3" action="ppaction://hlinksldjump"/>
              </a:rPr>
              <a:t>4.1    </a:t>
            </a:r>
            <a:r>
              <a:rPr lang="zh-CN" altLang="en-US" sz="3200" b="1">
                <a:ea typeface="楷体_GB2312" pitchFamily="49" charset="-122"/>
                <a:hlinkClick r:id="rId3" action="ppaction://hlinksldjump"/>
              </a:rPr>
              <a:t>奶制品的生产与销售</a:t>
            </a:r>
            <a:endParaRPr lang="zh-CN" altLang="en-US" sz="3200" b="1"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rId4" action="ppaction://hlinksldjump"/>
              </a:rPr>
              <a:t>4.2   </a:t>
            </a:r>
            <a:r>
              <a:rPr lang="zh-CN" altLang="en-US" sz="3200" b="1">
                <a:ea typeface="楷体_GB2312" pitchFamily="49" charset="-122"/>
                <a:hlinkClick r:id="rId4" action="ppaction://hlinksldjump"/>
              </a:rPr>
              <a:t>自来水输送与货机装运</a:t>
            </a:r>
            <a:endParaRPr lang="zh-CN" altLang="en-US" sz="3200" b="1"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rId5" action="ppaction://hlinksldjump"/>
              </a:rPr>
              <a:t>4.3   </a:t>
            </a:r>
            <a:r>
              <a:rPr lang="zh-CN" altLang="en-US" sz="3200" b="1">
                <a:ea typeface="楷体_GB2312" pitchFamily="49" charset="-122"/>
                <a:hlinkClick r:id="rId5" action="ppaction://hlinksldjump"/>
              </a:rPr>
              <a:t>汽车生产与原油采购</a:t>
            </a:r>
            <a:endParaRPr lang="zh-CN" altLang="en-US" sz="3200" b="1"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rId6" action="ppaction://hlinksldjump"/>
              </a:rPr>
              <a:t>4.4   </a:t>
            </a:r>
            <a:r>
              <a:rPr lang="zh-CN" altLang="en-US" sz="3200" b="1">
                <a:ea typeface="楷体_GB2312" pitchFamily="49" charset="-122"/>
                <a:hlinkClick r:id="rId6" action="ppaction://hlinksldjump"/>
              </a:rPr>
              <a:t>接力队选拔和选课策略</a:t>
            </a:r>
            <a:endParaRPr lang="zh-CN" altLang="en-US" sz="3200" b="1"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solidFill>
                  <a:srgbClr val="BAEEF4"/>
                </a:solidFill>
                <a:ea typeface="楷体_GB2312" pitchFamily="49" charset="-122"/>
                <a:hlinkClick r:id="rId7" action="ppaction://hlinksldjump"/>
              </a:rPr>
              <a:t>4.5   </a:t>
            </a:r>
            <a:r>
              <a:rPr lang="zh-CN" altLang="en-US" sz="3200" b="1">
                <a:solidFill>
                  <a:srgbClr val="BAEEF4"/>
                </a:solidFill>
                <a:ea typeface="楷体_GB2312" pitchFamily="49" charset="-122"/>
                <a:hlinkClick r:id="rId7" action="ppaction://hlinksldjump"/>
              </a:rPr>
              <a:t>饮料厂的生产与检修</a:t>
            </a:r>
            <a:endParaRPr lang="zh-CN" altLang="en-US" sz="3200" b="1">
              <a:solidFill>
                <a:srgbClr val="BAEEF4"/>
              </a:solidFill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rId8" action="ppaction://hlinksldjump"/>
              </a:rPr>
              <a:t>4.6   </a:t>
            </a:r>
            <a:r>
              <a:rPr lang="zh-CN" altLang="en-US" sz="3200" b="1">
                <a:ea typeface="楷体_GB2312" pitchFamily="49" charset="-122"/>
                <a:hlinkClick r:id="rId8" action="ppaction://hlinksldjump"/>
              </a:rPr>
              <a:t>钢管和易拉罐下料</a:t>
            </a:r>
            <a:endParaRPr lang="zh-CN" altLang="en-US" sz="3200" b="1">
              <a:ea typeface="楷体_GB2312" pitchFamily="49" charset="-122"/>
            </a:endParaRPr>
          </a:p>
        </p:txBody>
      </p:sp>
      <p:pic>
        <p:nvPicPr>
          <p:cNvPr id="3076" name="Picture 4" descr="D:\work\101210数学模型（第四版）电子教案\logo.jpg">
            <a:extLst>
              <a:ext uri="{FF2B5EF4-FFF2-40B4-BE49-F238E27FC236}">
                <a16:creationId xmlns:a16="http://schemas.microsoft.com/office/drawing/2014/main" id="{143A1CE6-A903-42D7-BCF8-178C602B3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0"/>
          <a:stretch>
            <a:fillRect/>
          </a:stretch>
        </p:blipFill>
        <p:spPr bwMode="auto">
          <a:xfrm>
            <a:off x="17463" y="20638"/>
            <a:ext cx="33353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ED645930-AF21-4D28-980A-22E2520C5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410200"/>
            <a:ext cx="779938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如果生产某一类型汽车，则至少要生产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80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辆，</a:t>
            </a:r>
            <a:r>
              <a:rPr lang="zh-CN" altLang="en-US" sz="2800" b="1">
                <a:latin typeface="宋体" panose="02010600030101010101" pitchFamily="2" charset="-122"/>
              </a:rPr>
              <a:t>  那么最优的生产计划应作何改变？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75323C1-D3DB-4CCE-BD7E-77C1FF6169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1066800"/>
            <a:ext cx="5915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accent2"/>
                </a:solidFill>
                <a:ea typeface="楷体_GB2312" pitchFamily="49" charset="-122"/>
              </a:rPr>
              <a:t>1  </a:t>
            </a:r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汽车厂生产计划（整数） </a:t>
            </a:r>
            <a:endParaRPr lang="zh-CN" altLang="en-US" sz="320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2022CD58-FE7F-4170-A626-610F501D4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701800"/>
            <a:ext cx="8077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汽车厂生产三种类型的汽车，已知各类型每辆车对钢材、劳动时间的需求，利润及工厂每月的资源量</a:t>
            </a:r>
            <a:r>
              <a:rPr lang="en-US" altLang="zh-CN" sz="2800" b="1"/>
              <a:t>. 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F505EBDF-9650-44B9-AE22-7C62E80C3EC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889250"/>
            <a:ext cx="8610600" cy="1911350"/>
            <a:chOff x="192" y="1584"/>
            <a:chExt cx="5424" cy="1204"/>
          </a:xfrm>
        </p:grpSpPr>
        <p:sp>
          <p:nvSpPr>
            <p:cNvPr id="4104" name="Text Box 6">
              <a:extLst>
                <a:ext uri="{FF2B5EF4-FFF2-40B4-BE49-F238E27FC236}">
                  <a16:creationId xmlns:a16="http://schemas.microsoft.com/office/drawing/2014/main" id="{43B1E26F-2A7F-4545-83D1-F6AA97F61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603"/>
              <a:ext cx="5424" cy="1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30000"/>
                </a:spcBef>
              </a:pPr>
              <a:r>
                <a:rPr lang="en-US" altLang="zh-CN" b="1"/>
                <a:t>                                     </a:t>
              </a:r>
              <a:r>
                <a:rPr lang="zh-CN" altLang="en-US" b="1"/>
                <a:t>小型          中型          大型           资源量</a:t>
              </a:r>
            </a:p>
            <a:p>
              <a:pPr eaLnBrk="1" hangingPunct="1">
                <a:spcBef>
                  <a:spcPct val="30000"/>
                </a:spcBef>
              </a:pPr>
              <a:r>
                <a:rPr lang="zh-CN" altLang="en-US" b="1"/>
                <a:t>钢材（</a:t>
              </a:r>
              <a:r>
                <a:rPr lang="en-US" altLang="zh-CN" b="1"/>
                <a:t>t</a:t>
              </a:r>
              <a:r>
                <a:rPr lang="zh-CN" altLang="en-US" b="1"/>
                <a:t>）                    </a:t>
              </a:r>
              <a:r>
                <a:rPr lang="en-US" altLang="zh-CN" b="1"/>
                <a:t>1.5              3                5                 600</a:t>
              </a:r>
            </a:p>
            <a:p>
              <a:pPr eaLnBrk="1" hangingPunct="1">
                <a:spcBef>
                  <a:spcPct val="30000"/>
                </a:spcBef>
              </a:pPr>
              <a:r>
                <a:rPr lang="zh-CN" altLang="en-US" b="1"/>
                <a:t>劳动时间（</a:t>
              </a:r>
              <a:r>
                <a:rPr lang="en-US" altLang="zh-CN" b="1"/>
                <a:t>h</a:t>
              </a:r>
              <a:r>
                <a:rPr lang="zh-CN" altLang="en-US" b="1"/>
                <a:t>）           </a:t>
              </a:r>
              <a:r>
                <a:rPr lang="en-US" altLang="zh-CN" b="1"/>
                <a:t>280           250             400             60000</a:t>
              </a:r>
            </a:p>
            <a:p>
              <a:pPr eaLnBrk="1" hangingPunct="1">
                <a:spcBef>
                  <a:spcPct val="30000"/>
                </a:spcBef>
              </a:pPr>
              <a:r>
                <a:rPr lang="zh-CN" altLang="en-US" b="1"/>
                <a:t>利润（万元）               </a:t>
              </a:r>
              <a:r>
                <a:rPr lang="en-US" altLang="zh-CN" b="1"/>
                <a:t>2                3                4                      </a:t>
              </a:r>
            </a:p>
          </p:txBody>
        </p:sp>
        <p:sp>
          <p:nvSpPr>
            <p:cNvPr id="4105" name="Line 7">
              <a:extLst>
                <a:ext uri="{FF2B5EF4-FFF2-40B4-BE49-F238E27FC236}">
                  <a16:creationId xmlns:a16="http://schemas.microsoft.com/office/drawing/2014/main" id="{FDEE11CF-30DB-4FBA-8A4C-EE2B5D313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584"/>
              <a:ext cx="53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" name="Line 8">
              <a:extLst>
                <a:ext uri="{FF2B5EF4-FFF2-40B4-BE49-F238E27FC236}">
                  <a16:creationId xmlns:a16="http://schemas.microsoft.com/office/drawing/2014/main" id="{67BD5D30-B023-4547-A79B-D5D453770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907"/>
              <a:ext cx="53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7" name="Line 9">
              <a:extLst>
                <a:ext uri="{FF2B5EF4-FFF2-40B4-BE49-F238E27FC236}">
                  <a16:creationId xmlns:a16="http://schemas.microsoft.com/office/drawing/2014/main" id="{45588276-BFC1-4CD7-AFDC-E02AEB363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784"/>
              <a:ext cx="53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8" name="Line 10">
              <a:extLst>
                <a:ext uri="{FF2B5EF4-FFF2-40B4-BE49-F238E27FC236}">
                  <a16:creationId xmlns:a16="http://schemas.microsoft.com/office/drawing/2014/main" id="{F701A7BE-FEBA-46BC-9887-6C4DD1DEF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58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9" name="Line 11">
              <a:extLst>
                <a:ext uri="{FF2B5EF4-FFF2-40B4-BE49-F238E27FC236}">
                  <a16:creationId xmlns:a16="http://schemas.microsoft.com/office/drawing/2014/main" id="{F66CDDFE-CB28-4119-A637-1E3FF479C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58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0" name="Line 12">
              <a:extLst>
                <a:ext uri="{FF2B5EF4-FFF2-40B4-BE49-F238E27FC236}">
                  <a16:creationId xmlns:a16="http://schemas.microsoft.com/office/drawing/2014/main" id="{CC91689D-83F6-43FF-886B-C832ED925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58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1" name="Line 13">
              <a:extLst>
                <a:ext uri="{FF2B5EF4-FFF2-40B4-BE49-F238E27FC236}">
                  <a16:creationId xmlns:a16="http://schemas.microsoft.com/office/drawing/2014/main" id="{5662EDDF-26C5-4E18-85EF-6DF33265EE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158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6" name="Text Box 14">
            <a:extLst>
              <a:ext uri="{FF2B5EF4-FFF2-40B4-BE49-F238E27FC236}">
                <a16:creationId xmlns:a16="http://schemas.microsoft.com/office/drawing/2014/main" id="{577ED2F6-2D77-4E3C-8CF0-3E04054A5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91088"/>
            <a:ext cx="678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 </a:t>
            </a:r>
            <a:r>
              <a:rPr lang="zh-CN" altLang="en-US" sz="2800" b="1"/>
              <a:t>制订月生产计划，使工厂的利润最大</a:t>
            </a:r>
            <a:r>
              <a:rPr lang="en-US" altLang="zh-CN" sz="2800" b="1"/>
              <a:t>.</a:t>
            </a:r>
          </a:p>
        </p:txBody>
      </p:sp>
      <p:sp>
        <p:nvSpPr>
          <p:cNvPr id="4103" name="Text Box 15">
            <a:extLst>
              <a:ext uri="{FF2B5EF4-FFF2-40B4-BE49-F238E27FC236}">
                <a16:creationId xmlns:a16="http://schemas.microsoft.com/office/drawing/2014/main" id="{87BEC55A-430C-44EB-BFC0-AC5EA1B13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04813"/>
            <a:ext cx="51054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4.3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整数规划</a:t>
            </a:r>
            <a:endParaRPr lang="zh-CN" altLang="en-US" sz="3200" b="1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 autoUpdateAnimBg="0"/>
      <p:bldP spid="33795" grpId="0"/>
      <p:bldP spid="33796" grpId="0" animBg="1" autoUpdateAnimBg="0"/>
      <p:bldP spid="33806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19D21E07-73A8-48D9-9F80-3C8EF6090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01850"/>
            <a:ext cx="4343400" cy="94615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设每月生产小、中、大型汽车的数量分别为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,</a:t>
            </a:r>
            <a:r>
              <a:rPr lang="en-US" altLang="zh-CN" sz="2800" b="1" i="1"/>
              <a:t> 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,</a:t>
            </a:r>
            <a:r>
              <a:rPr lang="en-US" altLang="zh-CN" sz="2800" b="1" i="1"/>
              <a:t> x</a:t>
            </a:r>
            <a:r>
              <a:rPr lang="en-US" altLang="zh-CN" sz="2800" b="1" baseline="-30000"/>
              <a:t>3</a:t>
            </a:r>
            <a:endParaRPr lang="en-US" altLang="zh-CN" sz="2800" b="1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B3E93B3B-DAA8-4CD5-B663-953E1ABBE987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357563"/>
            <a:ext cx="5473700" cy="2463800"/>
            <a:chOff x="878" y="2160"/>
            <a:chExt cx="3154" cy="1552"/>
          </a:xfrm>
        </p:grpSpPr>
        <p:graphicFrame>
          <p:nvGraphicFramePr>
            <p:cNvPr id="5137" name="Object 4">
              <a:extLst>
                <a:ext uri="{FF2B5EF4-FFF2-40B4-BE49-F238E27FC236}">
                  <a16:creationId xmlns:a16="http://schemas.microsoft.com/office/drawing/2014/main" id="{90DEB15A-DC95-4009-9FB7-845667EA40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8" y="2160"/>
            <a:ext cx="2420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6" name="公式" r:id="rId3" imgW="1485900" imgH="228600" progId="Equation.3">
                    <p:embed/>
                  </p:oleObj>
                </mc:Choice>
                <mc:Fallback>
                  <p:oleObj name="公式" r:id="rId3" imgW="14859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8" y="2160"/>
                          <a:ext cx="2420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8" name="Object 5">
              <a:extLst>
                <a:ext uri="{FF2B5EF4-FFF2-40B4-BE49-F238E27FC236}">
                  <a16:creationId xmlns:a16="http://schemas.microsoft.com/office/drawing/2014/main" id="{9C4A27AA-70DD-47D1-B8DC-E489A23153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2590"/>
            <a:ext cx="2496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7" name="公式" r:id="rId5" imgW="1778000" imgH="228600" progId="Equation.3">
                    <p:embed/>
                  </p:oleObj>
                </mc:Choice>
                <mc:Fallback>
                  <p:oleObj name="公式" r:id="rId5" imgW="17780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590"/>
                          <a:ext cx="2496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9" name="Object 6">
              <a:extLst>
                <a:ext uri="{FF2B5EF4-FFF2-40B4-BE49-F238E27FC236}">
                  <a16:creationId xmlns:a16="http://schemas.microsoft.com/office/drawing/2014/main" id="{476B6038-C3C9-4C4D-838C-CE5CF8571B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2976"/>
            <a:ext cx="2688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8" r:id="rId7" imgW="1981200" imgH="228600" progId="Equation.3">
                    <p:embed/>
                  </p:oleObj>
                </mc:Choice>
                <mc:Fallback>
                  <p:oleObj r:id="rId7" imgW="19812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976"/>
                          <a:ext cx="2688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0" name="Object 7">
              <a:extLst>
                <a:ext uri="{FF2B5EF4-FFF2-40B4-BE49-F238E27FC236}">
                  <a16:creationId xmlns:a16="http://schemas.microsoft.com/office/drawing/2014/main" id="{22D8CA7F-199E-4502-9BD1-295D05BE39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360"/>
            <a:ext cx="1248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9" r:id="rId9" imgW="812447" imgH="228501" progId="Equation.3">
                    <p:embed/>
                  </p:oleObj>
                </mc:Choice>
                <mc:Fallback>
                  <p:oleObj r:id="rId9" imgW="812447" imgH="22850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360"/>
                          <a:ext cx="1248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4" name="Rectangle 8">
            <a:extLst>
              <a:ext uri="{FF2B5EF4-FFF2-40B4-BE49-F238E27FC236}">
                <a16:creationId xmlns:a16="http://schemas.microsoft.com/office/drawing/2014/main" id="{D814FBCF-8167-41EC-B308-64AB6C126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32766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汽车厂生产计划 </a:t>
            </a:r>
            <a:endParaRPr lang="zh-CN" altLang="en-US" sz="32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825" name="Text Box 9">
            <a:extLst>
              <a:ext uri="{FF2B5EF4-FFF2-40B4-BE49-F238E27FC236}">
                <a16:creationId xmlns:a16="http://schemas.microsoft.com/office/drawing/2014/main" id="{A29D6325-7C87-4098-9E1B-59E36BF88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1905000" cy="5794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模型建立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A5FCCD24-EB0D-414F-9A78-D944143B588E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295400"/>
            <a:ext cx="4267200" cy="1905000"/>
            <a:chOff x="192" y="1488"/>
            <a:chExt cx="2688" cy="1200"/>
          </a:xfrm>
        </p:grpSpPr>
        <p:sp>
          <p:nvSpPr>
            <p:cNvPr id="5129" name="Text Box 11">
              <a:extLst>
                <a:ext uri="{FF2B5EF4-FFF2-40B4-BE49-F238E27FC236}">
                  <a16:creationId xmlns:a16="http://schemas.microsoft.com/office/drawing/2014/main" id="{E4F2B772-54D3-47EA-8B40-49A7E92C9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557"/>
              <a:ext cx="2688" cy="1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            </a:t>
              </a:r>
              <a:r>
                <a:rPr lang="zh-CN" altLang="en-US" sz="2000" b="1"/>
                <a:t>小型     中型     大型     现有量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000" b="1"/>
                <a:t>钢材     </a:t>
              </a:r>
              <a:r>
                <a:rPr lang="en-US" altLang="zh-CN" sz="2000" b="1"/>
                <a:t>1.5          3           5           600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000" b="1"/>
                <a:t>时间    </a:t>
              </a:r>
              <a:r>
                <a:rPr lang="en-US" altLang="zh-CN" sz="2000" b="1"/>
                <a:t>280       250       400        60000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000" b="1"/>
                <a:t>利润     </a:t>
              </a:r>
              <a:r>
                <a:rPr lang="en-US" altLang="zh-CN" sz="2000" b="1"/>
                <a:t>2            3           4                      </a:t>
              </a:r>
            </a:p>
          </p:txBody>
        </p:sp>
        <p:sp>
          <p:nvSpPr>
            <p:cNvPr id="5130" name="Line 12">
              <a:extLst>
                <a:ext uri="{FF2B5EF4-FFF2-40B4-BE49-F238E27FC236}">
                  <a16:creationId xmlns:a16="http://schemas.microsoft.com/office/drawing/2014/main" id="{10A3C514-8D46-4265-ABC8-07A61152E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488"/>
              <a:ext cx="2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Line 13">
              <a:extLst>
                <a:ext uri="{FF2B5EF4-FFF2-40B4-BE49-F238E27FC236}">
                  <a16:creationId xmlns:a16="http://schemas.microsoft.com/office/drawing/2014/main" id="{035617C7-2D6E-44BE-A71B-7FC4174AB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824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Line 14">
              <a:extLst>
                <a:ext uri="{FF2B5EF4-FFF2-40B4-BE49-F238E27FC236}">
                  <a16:creationId xmlns:a16="http://schemas.microsoft.com/office/drawing/2014/main" id="{D9D9EB38-1F49-4512-8F9C-8BE414B8D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688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" name="Line 15">
              <a:extLst>
                <a:ext uri="{FF2B5EF4-FFF2-40B4-BE49-F238E27FC236}">
                  <a16:creationId xmlns:a16="http://schemas.microsoft.com/office/drawing/2014/main" id="{91515E15-9C51-4EA4-B0D5-F92EA69E0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48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4" name="Line 16">
              <a:extLst>
                <a:ext uri="{FF2B5EF4-FFF2-40B4-BE49-F238E27FC236}">
                  <a16:creationId xmlns:a16="http://schemas.microsoft.com/office/drawing/2014/main" id="{355DA66F-1ED9-476E-8585-D93B87F9F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48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5" name="Line 17">
              <a:extLst>
                <a:ext uri="{FF2B5EF4-FFF2-40B4-BE49-F238E27FC236}">
                  <a16:creationId xmlns:a16="http://schemas.microsoft.com/office/drawing/2014/main" id="{2E5A0D96-CE48-485F-8AC1-A5D95ED7B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48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6" name="Line 18">
              <a:extLst>
                <a:ext uri="{FF2B5EF4-FFF2-40B4-BE49-F238E27FC236}">
                  <a16:creationId xmlns:a16="http://schemas.microsoft.com/office/drawing/2014/main" id="{CB2F4137-051A-46E4-99BB-3DDA9FAE5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48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35" name="Text Box 19">
            <a:extLst>
              <a:ext uri="{FF2B5EF4-FFF2-40B4-BE49-F238E27FC236}">
                <a16:creationId xmlns:a16="http://schemas.microsoft.com/office/drawing/2014/main" id="{BF65D8BD-31A4-4FC1-8C92-23933E3C5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3716338"/>
            <a:ext cx="1727200" cy="1117600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线性规划模型</a:t>
            </a:r>
            <a:r>
              <a:rPr lang="en-US" altLang="zh-CN" sz="2800" b="1"/>
              <a:t>(LP)</a:t>
            </a:r>
          </a:p>
        </p:txBody>
      </p:sp>
      <p:graphicFrame>
        <p:nvGraphicFramePr>
          <p:cNvPr id="5128" name="Object 20">
            <a:extLst>
              <a:ext uri="{FF2B5EF4-FFF2-40B4-BE49-F238E27FC236}">
                <a16:creationId xmlns:a16="http://schemas.microsoft.com/office/drawing/2014/main" id="{A002BAEA-1A4F-441E-AAFF-0FD025D358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447675"/>
          <a:ext cx="10668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Clip" r:id="rId11" imgW="952179" imgH="449239" progId="MS_ClipArt_Gallery.2">
                  <p:embed/>
                </p:oleObj>
              </mc:Choice>
              <mc:Fallback>
                <p:oleObj name="Clip" r:id="rId11" imgW="952179" imgH="449239" progId="MS_ClipArt_Gallery.2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47675"/>
                        <a:ext cx="10668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 autoUpdateAnimBg="0"/>
      <p:bldP spid="34825" grpId="0" animBg="1" autoUpdateAnimBg="0"/>
      <p:bldP spid="34835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EDF7E48E-E12A-4036-8A62-B57426111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1000"/>
            <a:ext cx="1143000" cy="1066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模型求解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4B6D8F52-DAC9-4618-BB80-54810A278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934075"/>
            <a:ext cx="8351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/>
              <a:t>3</a:t>
            </a:r>
            <a:r>
              <a:rPr lang="zh-CN" altLang="en-US" sz="2800" b="1"/>
              <a:t>）模型中</a:t>
            </a:r>
            <a:r>
              <a:rPr lang="zh-CN" altLang="en-US" sz="2800" b="1">
                <a:solidFill>
                  <a:srgbClr val="FF0000"/>
                </a:solidFill>
              </a:rPr>
              <a:t>增加条件</a:t>
            </a:r>
            <a:r>
              <a:rPr lang="zh-CN" altLang="en-US" sz="2800" b="1"/>
              <a:t>：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,</a:t>
            </a:r>
            <a:r>
              <a:rPr lang="en-US" altLang="zh-CN" sz="2800" b="1" i="1"/>
              <a:t> 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,</a:t>
            </a:r>
            <a:r>
              <a:rPr lang="en-US" altLang="zh-CN" sz="2800" b="1" i="1"/>
              <a:t> x</a:t>
            </a:r>
            <a:r>
              <a:rPr lang="en-US" altLang="zh-CN" sz="2800" b="1" baseline="-30000"/>
              <a:t>3 </a:t>
            </a:r>
            <a:r>
              <a:rPr lang="en-US" altLang="zh-CN" sz="2800" b="1"/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均为整数，重新求解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en-US" altLang="zh-CN" sz="2800" b="1"/>
              <a:t> 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B0D4DE16-B846-423E-B8D5-26722C348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404813"/>
            <a:ext cx="6172200" cy="2530475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b="1"/>
              <a:t>Objective Value:          632.2581</a:t>
            </a:r>
          </a:p>
          <a:p>
            <a:pPr eaLnBrk="1" hangingPunct="1"/>
            <a:r>
              <a:rPr lang="en-US" altLang="zh-CN" sz="2000" b="1"/>
              <a:t>    Variable        Value        Reduced Cost</a:t>
            </a:r>
          </a:p>
          <a:p>
            <a:pPr algn="just"/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3300"/>
                </a:solidFill>
              </a:rPr>
              <a:t>X1        64.516129</a:t>
            </a:r>
            <a:r>
              <a:rPr lang="en-US" altLang="zh-CN" sz="2000" b="1"/>
              <a:t>                      0.000000</a:t>
            </a:r>
          </a:p>
          <a:p>
            <a:pPr algn="just"/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3300"/>
                </a:solidFill>
              </a:rPr>
              <a:t>X2      167.741928</a:t>
            </a:r>
            <a:r>
              <a:rPr lang="en-US" altLang="zh-CN" sz="2000" b="1"/>
              <a:t>                      0.000000</a:t>
            </a:r>
          </a:p>
          <a:p>
            <a:pPr algn="just"/>
            <a:r>
              <a:rPr lang="en-US" altLang="zh-CN" sz="2000" b="1"/>
              <a:t>        X3          0.000000                      0.946237</a:t>
            </a:r>
          </a:p>
          <a:p>
            <a:pPr algn="just"/>
            <a:r>
              <a:rPr lang="en-US" altLang="zh-CN" sz="2000" b="1"/>
              <a:t>    Row    Slack or Surplus      Dual Price</a:t>
            </a:r>
          </a:p>
          <a:p>
            <a:pPr algn="just"/>
            <a:r>
              <a:rPr lang="en-US" altLang="zh-CN" sz="2000" b="1"/>
              <a:t>          2          0.000000                        0.731183</a:t>
            </a:r>
          </a:p>
          <a:p>
            <a:pPr algn="just"/>
            <a:r>
              <a:rPr lang="en-US" altLang="zh-CN" sz="2000" b="1"/>
              <a:t>          3          0.000000                        0.003226</a:t>
            </a: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B47D15A0-B2F0-4BF3-BB24-37113FB2A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44675"/>
            <a:ext cx="2376488" cy="1117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结果为小数，怎么办？</a:t>
            </a: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DBD1187C-C22B-40FE-91A4-AF402B636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41663"/>
            <a:ext cx="822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1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</a:rPr>
              <a:t>舍去小数</a:t>
            </a:r>
            <a:r>
              <a:rPr lang="zh-CN" altLang="en-US" sz="2800" b="1"/>
              <a:t>：取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=64</a:t>
            </a:r>
            <a:r>
              <a:rPr lang="zh-CN" altLang="en-US" sz="2800" b="1"/>
              <a:t>，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=167</a:t>
            </a:r>
            <a:r>
              <a:rPr lang="zh-CN" altLang="en-US" sz="2800" b="1"/>
              <a:t>，算出目标函数值 </a:t>
            </a:r>
            <a:r>
              <a:rPr lang="en-US" altLang="zh-CN" sz="2800" i="1"/>
              <a:t>z</a:t>
            </a:r>
            <a:r>
              <a:rPr lang="en-US" altLang="zh-CN" sz="2800" b="1"/>
              <a:t>=629</a:t>
            </a:r>
            <a:r>
              <a:rPr lang="zh-CN" altLang="en-US" sz="2800" b="1"/>
              <a:t>，与</a:t>
            </a:r>
            <a:r>
              <a:rPr lang="en-US" altLang="zh-CN" sz="2800" b="1"/>
              <a:t>LP</a:t>
            </a:r>
            <a:r>
              <a:rPr lang="zh-CN" altLang="en-US" sz="2800" b="1"/>
              <a:t>最优值</a:t>
            </a:r>
            <a:r>
              <a:rPr lang="en-US" altLang="zh-CN" sz="2800" b="1"/>
              <a:t>632.2581</a:t>
            </a:r>
            <a:r>
              <a:rPr lang="zh-CN" altLang="en-US" sz="2800" b="1"/>
              <a:t>相差不大</a:t>
            </a:r>
            <a:r>
              <a:rPr lang="en-US" altLang="zh-CN" sz="2800" b="1"/>
              <a:t>.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41CC13F0-5584-4A3F-9C8F-D1A2B99E6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149725"/>
            <a:ext cx="822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</a:rPr>
              <a:t>试探</a:t>
            </a:r>
            <a:r>
              <a:rPr lang="zh-CN" altLang="en-US" sz="2800" b="1"/>
              <a:t>：如取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=65</a:t>
            </a:r>
            <a:r>
              <a:rPr lang="zh-CN" altLang="en-US" sz="2800" b="1"/>
              <a:t>，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=167</a:t>
            </a:r>
            <a:r>
              <a:rPr lang="zh-CN" altLang="en-US" sz="2800" b="1"/>
              <a:t>；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=64</a:t>
            </a:r>
            <a:r>
              <a:rPr lang="zh-CN" altLang="en-US" sz="2800" b="1"/>
              <a:t>，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=168</a:t>
            </a:r>
            <a:r>
              <a:rPr lang="zh-CN" altLang="en-US" sz="2800" b="1"/>
              <a:t>等，计算函数值</a:t>
            </a:r>
            <a:r>
              <a:rPr lang="en-US" altLang="zh-CN" sz="2800" i="1"/>
              <a:t>z</a:t>
            </a:r>
            <a:r>
              <a:rPr lang="zh-CN" altLang="en-US" sz="2800" b="1"/>
              <a:t>，通过比较可能得到更优的解</a:t>
            </a:r>
            <a:r>
              <a:rPr lang="en-US" altLang="zh-CN" sz="2800" b="1"/>
              <a:t>.</a:t>
            </a:r>
            <a:endParaRPr lang="en-US" altLang="zh-CN" sz="2800"/>
          </a:p>
        </p:txBody>
      </p:sp>
      <p:sp>
        <p:nvSpPr>
          <p:cNvPr id="35848" name="Text Box 8">
            <a:extLst>
              <a:ext uri="{FF2B5EF4-FFF2-40B4-BE49-F238E27FC236}">
                <a16:creationId xmlns:a16="http://schemas.microsoft.com/office/drawing/2014/main" id="{A5B29468-4A0C-4CF1-ACC3-91D7F57C9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3" y="5300663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 </a:t>
            </a:r>
            <a:r>
              <a:rPr lang="zh-CN" altLang="en-US" sz="2800" b="1"/>
              <a:t>但</a:t>
            </a:r>
            <a:r>
              <a:rPr lang="zh-CN" altLang="en-US" sz="2800" b="1">
                <a:solidFill>
                  <a:srgbClr val="FF0000"/>
                </a:solidFill>
              </a:rPr>
              <a:t>必须检验</a:t>
            </a:r>
            <a:r>
              <a:rPr lang="zh-CN" altLang="en-US" sz="2800" b="1"/>
              <a:t>它们是否满足约束条件</a:t>
            </a:r>
            <a:r>
              <a:rPr lang="en-US" altLang="zh-CN" sz="2800" b="1"/>
              <a:t>.  </a:t>
            </a:r>
            <a:r>
              <a:rPr lang="zh-CN" altLang="en-US" sz="2800" b="1"/>
              <a:t>为什么？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nimBg="1" autoUpdateAnimBg="0"/>
      <p:bldP spid="35844" grpId="0" animBg="1" autoUpdateAnimBg="0"/>
      <p:bldP spid="35845" grpId="0" animBg="1"/>
      <p:bldP spid="35846" grpId="0" animBg="1" autoUpdateAnimBg="0"/>
      <p:bldP spid="35847" grpId="0" animBg="1" autoUpdateAnimBg="0"/>
      <p:bldP spid="35848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>
            <a:extLst>
              <a:ext uri="{FF2B5EF4-FFF2-40B4-BE49-F238E27FC236}">
                <a16:creationId xmlns:a16="http://schemas.microsoft.com/office/drawing/2014/main" id="{45D3466B-12DF-4E1C-8FF3-861307F35AAD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CC04EDEC-CECB-4D68-A9BE-392E2456D318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5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sp>
        <p:nvSpPr>
          <p:cNvPr id="7171" name="Line 3">
            <a:extLst>
              <a:ext uri="{FF2B5EF4-FFF2-40B4-BE49-F238E27FC236}">
                <a16:creationId xmlns:a16="http://schemas.microsoft.com/office/drawing/2014/main" id="{07D96D8E-90C4-4B7C-99B4-7BA5120E9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613275"/>
            <a:ext cx="502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FBCA9333-05F8-49B1-8D5F-E42A526A1E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7113" y="1565275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A3EF907F-822B-4FE7-9F5F-983C19EA5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1989138"/>
            <a:ext cx="1223963" cy="71437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70755054-63CC-496A-890F-B60EC405C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2060575"/>
            <a:ext cx="1728787" cy="2520950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5" name="AutoShape 7">
            <a:extLst>
              <a:ext uri="{FF2B5EF4-FFF2-40B4-BE49-F238E27FC236}">
                <a16:creationId xmlns:a16="http://schemas.microsoft.com/office/drawing/2014/main" id="{9306E4AD-7420-42D4-8D0B-656EB34DE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45370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76" name="AutoShape 8">
            <a:extLst>
              <a:ext uri="{FF2B5EF4-FFF2-40B4-BE49-F238E27FC236}">
                <a16:creationId xmlns:a16="http://schemas.microsoft.com/office/drawing/2014/main" id="{0D21FABA-5642-4CB6-8E9E-0A680BC0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37750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77" name="AutoShape 9">
            <a:extLst>
              <a:ext uri="{FF2B5EF4-FFF2-40B4-BE49-F238E27FC236}">
                <a16:creationId xmlns:a16="http://schemas.microsoft.com/office/drawing/2014/main" id="{56D7328D-1418-4565-85B4-45321337E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29368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78" name="AutoShape 10">
            <a:extLst>
              <a:ext uri="{FF2B5EF4-FFF2-40B4-BE49-F238E27FC236}">
                <a16:creationId xmlns:a16="http://schemas.microsoft.com/office/drawing/2014/main" id="{D190B70A-8B10-473D-9B58-784BFFCF3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513" y="45370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79" name="AutoShape 11">
            <a:extLst>
              <a:ext uri="{FF2B5EF4-FFF2-40B4-BE49-F238E27FC236}">
                <a16:creationId xmlns:a16="http://schemas.microsoft.com/office/drawing/2014/main" id="{D5CC4AE8-9D9B-4661-9C7E-4CF8E1716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313" y="45370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0" name="AutoShape 12">
            <a:extLst>
              <a:ext uri="{FF2B5EF4-FFF2-40B4-BE49-F238E27FC236}">
                <a16:creationId xmlns:a16="http://schemas.microsoft.com/office/drawing/2014/main" id="{08903A37-B030-45BC-867A-2CA83B1B6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45370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1" name="AutoShape 13">
            <a:extLst>
              <a:ext uri="{FF2B5EF4-FFF2-40B4-BE49-F238E27FC236}">
                <a16:creationId xmlns:a16="http://schemas.microsoft.com/office/drawing/2014/main" id="{4D4BA4D0-9EE5-4B45-90B1-697517650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313" y="38512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2" name="AutoShape 14">
            <a:extLst>
              <a:ext uri="{FF2B5EF4-FFF2-40B4-BE49-F238E27FC236}">
                <a16:creationId xmlns:a16="http://schemas.microsoft.com/office/drawing/2014/main" id="{93F1D730-441E-408E-81B3-7C2DB9E2A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37750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3" name="AutoShape 15">
            <a:extLst>
              <a:ext uri="{FF2B5EF4-FFF2-40B4-BE49-F238E27FC236}">
                <a16:creationId xmlns:a16="http://schemas.microsoft.com/office/drawing/2014/main" id="{5EAA6CCB-561C-43A9-AB20-00DF22E6C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9368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4" name="AutoShape 16">
            <a:extLst>
              <a:ext uri="{FF2B5EF4-FFF2-40B4-BE49-F238E27FC236}">
                <a16:creationId xmlns:a16="http://schemas.microsoft.com/office/drawing/2014/main" id="{D1DCDEC0-E742-4388-906F-913DBFDBC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29368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5" name="AutoShape 17">
            <a:extLst>
              <a:ext uri="{FF2B5EF4-FFF2-40B4-BE49-F238E27FC236}">
                <a16:creationId xmlns:a16="http://schemas.microsoft.com/office/drawing/2014/main" id="{ED61E2C3-94A9-4180-B24C-CBD698290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3" y="29368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6" name="AutoShape 18">
            <a:extLst>
              <a:ext uri="{FF2B5EF4-FFF2-40B4-BE49-F238E27FC236}">
                <a16:creationId xmlns:a16="http://schemas.microsoft.com/office/drawing/2014/main" id="{2731B918-54DF-4EC7-8A0E-6B2C67EC0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913" y="21748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7" name="AutoShape 19">
            <a:extLst>
              <a:ext uri="{FF2B5EF4-FFF2-40B4-BE49-F238E27FC236}">
                <a16:creationId xmlns:a16="http://schemas.microsoft.com/office/drawing/2014/main" id="{08CEA70F-76AB-4C8D-9A9C-9FDFB59F0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0913" y="45370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8" name="AutoShape 20">
            <a:extLst>
              <a:ext uri="{FF2B5EF4-FFF2-40B4-BE49-F238E27FC236}">
                <a16:creationId xmlns:a16="http://schemas.microsoft.com/office/drawing/2014/main" id="{3E40F222-3430-4E6C-9CC5-B799F31D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3" y="3851275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89" name="Line 25">
            <a:extLst>
              <a:ext uri="{FF2B5EF4-FFF2-40B4-BE49-F238E27FC236}">
                <a16:creationId xmlns:a16="http://schemas.microsoft.com/office/drawing/2014/main" id="{63E7E24E-E3F7-4791-8933-C9D7AD032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2205038"/>
            <a:ext cx="3816350" cy="2519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90" name="Line 28">
            <a:extLst>
              <a:ext uri="{FF2B5EF4-FFF2-40B4-BE49-F238E27FC236}">
                <a16:creationId xmlns:a16="http://schemas.microsoft.com/office/drawing/2014/main" id="{DF3E4269-9276-479A-90C9-50023BAF95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1989138"/>
            <a:ext cx="1150937" cy="1368425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91" name="Line 29">
            <a:extLst>
              <a:ext uri="{FF2B5EF4-FFF2-40B4-BE49-F238E27FC236}">
                <a16:creationId xmlns:a16="http://schemas.microsoft.com/office/drawing/2014/main" id="{08E4BD6C-A997-4242-88C7-5E8F14A4A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0" y="1268413"/>
            <a:ext cx="3816350" cy="2519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92" name="Line 30">
            <a:extLst>
              <a:ext uri="{FF2B5EF4-FFF2-40B4-BE49-F238E27FC236}">
                <a16:creationId xmlns:a16="http://schemas.microsoft.com/office/drawing/2014/main" id="{A24B4256-4B15-4A04-AD76-2506726A3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1916113"/>
            <a:ext cx="3816350" cy="2519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93" name="Line 31">
            <a:extLst>
              <a:ext uri="{FF2B5EF4-FFF2-40B4-BE49-F238E27FC236}">
                <a16:creationId xmlns:a16="http://schemas.microsoft.com/office/drawing/2014/main" id="{B16BA0ED-FA31-41B0-BB4F-A04763DB0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1557338"/>
            <a:ext cx="3816350" cy="2519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94" name="AutoShape 32">
            <a:extLst>
              <a:ext uri="{FF2B5EF4-FFF2-40B4-BE49-F238E27FC236}">
                <a16:creationId xmlns:a16="http://schemas.microsoft.com/office/drawing/2014/main" id="{68FB8C31-ADF2-465E-BE76-427332F4D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133600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95" name="AutoShape 33">
            <a:extLst>
              <a:ext uri="{FF2B5EF4-FFF2-40B4-BE49-F238E27FC236}">
                <a16:creationId xmlns:a16="http://schemas.microsoft.com/office/drawing/2014/main" id="{CE807F04-2D66-498C-81EB-357B7FB2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860800"/>
            <a:ext cx="76200" cy="76200"/>
          </a:xfrm>
          <a:prstGeom prst="flowChartConnector">
            <a:avLst/>
          </a:prstGeom>
          <a:solidFill>
            <a:srgbClr val="FF0000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7196" name="AutoShape 35">
            <a:extLst>
              <a:ext uri="{FF2B5EF4-FFF2-40B4-BE49-F238E27FC236}">
                <a16:creationId xmlns:a16="http://schemas.microsoft.com/office/drawing/2014/main" id="{9F6E8F48-E619-40E7-9894-B6F345339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989138"/>
            <a:ext cx="76200" cy="76200"/>
          </a:xfrm>
          <a:prstGeom prst="flowChartConnector">
            <a:avLst/>
          </a:prstGeom>
          <a:solidFill>
            <a:schemeClr val="tx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139300" name="AutoShape 36">
            <a:extLst>
              <a:ext uri="{FF2B5EF4-FFF2-40B4-BE49-F238E27FC236}">
                <a16:creationId xmlns:a16="http://schemas.microsoft.com/office/drawing/2014/main" id="{424966A7-256D-4963-878F-E73732F7A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052513"/>
            <a:ext cx="1800225" cy="576262"/>
          </a:xfrm>
          <a:prstGeom prst="wedgeRectCallout">
            <a:avLst>
              <a:gd name="adj1" fmla="val -71074"/>
              <a:gd name="adj2" fmla="val 107574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Tahoma" panose="020B0604030504040204" pitchFamily="34" charset="0"/>
              </a:rPr>
              <a:t>松弛最优解</a:t>
            </a:r>
          </a:p>
          <a:p>
            <a:pPr algn="ctr" eaLnBrk="1" hangingPunct="1"/>
            <a:endParaRPr lang="en-US" altLang="zh-CN" sz="2000" b="1">
              <a:latin typeface="Tahoma" panose="020B0604030504040204" pitchFamily="34" charset="0"/>
            </a:endParaRPr>
          </a:p>
        </p:txBody>
      </p:sp>
      <p:sp>
        <p:nvSpPr>
          <p:cNvPr id="139301" name="AutoShape 37">
            <a:extLst>
              <a:ext uri="{FF2B5EF4-FFF2-40B4-BE49-F238E27FC236}">
                <a16:creationId xmlns:a16="http://schemas.microsoft.com/office/drawing/2014/main" id="{3CD06B2F-970C-4790-B32C-1BEF2842A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765175"/>
            <a:ext cx="1800225" cy="576263"/>
          </a:xfrm>
          <a:prstGeom prst="wedgeRectCallout">
            <a:avLst>
              <a:gd name="adj1" fmla="val 75662"/>
              <a:gd name="adj2" fmla="val 185815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Tahoma" panose="020B0604030504040204" pitchFamily="34" charset="0"/>
              </a:rPr>
              <a:t>整数最优解</a:t>
            </a:r>
          </a:p>
          <a:p>
            <a:pPr algn="ctr" eaLnBrk="1" hangingPunct="1"/>
            <a:endParaRPr lang="en-US" altLang="zh-CN" sz="2000" b="1">
              <a:latin typeface="Tahoma" panose="020B0604030504040204" pitchFamily="34" charset="0"/>
            </a:endParaRPr>
          </a:p>
        </p:txBody>
      </p:sp>
      <p:sp>
        <p:nvSpPr>
          <p:cNvPr id="139303" name="AutoShape 39">
            <a:extLst>
              <a:ext uri="{FF2B5EF4-FFF2-40B4-BE49-F238E27FC236}">
                <a16:creationId xmlns:a16="http://schemas.microsoft.com/office/drawing/2014/main" id="{DB5E080F-2840-40BE-9194-2A55B0B99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700213"/>
            <a:ext cx="2520950" cy="1368425"/>
          </a:xfrm>
          <a:prstGeom prst="cloudCallout">
            <a:avLst>
              <a:gd name="adj1" fmla="val -23236"/>
              <a:gd name="adj2" fmla="val 101394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能不能</a:t>
            </a:r>
          </a:p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  取整近似？</a:t>
            </a:r>
          </a:p>
        </p:txBody>
      </p:sp>
      <p:sp>
        <p:nvSpPr>
          <p:cNvPr id="139304" name="AutoShape 40">
            <a:extLst>
              <a:ext uri="{FF2B5EF4-FFF2-40B4-BE49-F238E27FC236}">
                <a16:creationId xmlns:a16="http://schemas.microsoft.com/office/drawing/2014/main" id="{85FE7856-7D94-4387-9AB0-A769865BA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149725"/>
            <a:ext cx="2520950" cy="1368425"/>
          </a:xfrm>
          <a:prstGeom prst="cloudCallout">
            <a:avLst>
              <a:gd name="adj1" fmla="val -33500"/>
              <a:gd name="adj2" fmla="val 95014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能不能</a:t>
            </a:r>
          </a:p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  四周搜索？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00" grpId="0" animBg="1"/>
      <p:bldP spid="139301" grpId="0" animBg="1"/>
      <p:bldP spid="139303" grpId="0" animBg="1"/>
      <p:bldP spid="13930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>
            <a:extLst>
              <a:ext uri="{FF2B5EF4-FFF2-40B4-BE49-F238E27FC236}">
                <a16:creationId xmlns:a16="http://schemas.microsoft.com/office/drawing/2014/main" id="{D8583C4F-6C88-4BE3-AAD6-25B4E4082872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FA4ED5A2-0CCB-4BB8-8E59-31FC724341A7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6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sp>
        <p:nvSpPr>
          <p:cNvPr id="8195" name="Line 3">
            <a:extLst>
              <a:ext uri="{FF2B5EF4-FFF2-40B4-BE49-F238E27FC236}">
                <a16:creationId xmlns:a16="http://schemas.microsoft.com/office/drawing/2014/main" id="{49831159-DB53-4D71-98AF-4104D142C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943600"/>
            <a:ext cx="502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96" name="Line 4">
            <a:extLst>
              <a:ext uri="{FF2B5EF4-FFF2-40B4-BE49-F238E27FC236}">
                <a16:creationId xmlns:a16="http://schemas.microsoft.com/office/drawing/2014/main" id="{2B80B47F-FC2B-4959-B12B-E233C5350D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8956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0293" name="Line 5">
            <a:extLst>
              <a:ext uri="{FF2B5EF4-FFF2-40B4-BE49-F238E27FC236}">
                <a16:creationId xmlns:a16="http://schemas.microsoft.com/office/drawing/2014/main" id="{542FC15E-2A17-4E3B-AF32-0B651BB6A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0" y="2924175"/>
            <a:ext cx="1511300" cy="433388"/>
          </a:xfrm>
          <a:prstGeom prst="line">
            <a:avLst/>
          </a:prstGeom>
          <a:noFill/>
          <a:ln w="2857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 sz="4400" b="1">
              <a:latin typeface="Tahoma" pitchFamily="34" charset="0"/>
            </a:endParaRPr>
          </a:p>
        </p:txBody>
      </p:sp>
      <p:sp>
        <p:nvSpPr>
          <p:cNvPr id="140294" name="Line 6">
            <a:extLst>
              <a:ext uri="{FF2B5EF4-FFF2-40B4-BE49-F238E27FC236}">
                <a16:creationId xmlns:a16="http://schemas.microsoft.com/office/drawing/2014/main" id="{1031DE14-A16E-4195-A3B9-60783198A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3357563"/>
            <a:ext cx="1873250" cy="2592387"/>
          </a:xfrm>
          <a:prstGeom prst="line">
            <a:avLst/>
          </a:prstGeom>
          <a:noFill/>
          <a:ln w="2857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 sz="4400" b="1">
              <a:latin typeface="Tahoma" pitchFamily="34" charset="0"/>
            </a:endParaRPr>
          </a:p>
        </p:txBody>
      </p:sp>
      <p:sp>
        <p:nvSpPr>
          <p:cNvPr id="8199" name="AutoShape 7">
            <a:extLst>
              <a:ext uri="{FF2B5EF4-FFF2-40B4-BE49-F238E27FC236}">
                <a16:creationId xmlns:a16="http://schemas.microsoft.com/office/drawing/2014/main" id="{2670F920-7872-41A0-9B03-B2A42BCC3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8674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0" name="AutoShape 8">
            <a:extLst>
              <a:ext uri="{FF2B5EF4-FFF2-40B4-BE49-F238E27FC236}">
                <a16:creationId xmlns:a16="http://schemas.microsoft.com/office/drawing/2014/main" id="{B124E353-EECF-48E2-BD6B-5D97EA175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1054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1" name="AutoShape 9">
            <a:extLst>
              <a:ext uri="{FF2B5EF4-FFF2-40B4-BE49-F238E27FC236}">
                <a16:creationId xmlns:a16="http://schemas.microsoft.com/office/drawing/2014/main" id="{B976E127-26BC-4A9C-A08B-1AE9A66F3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672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2" name="AutoShape 10">
            <a:extLst>
              <a:ext uri="{FF2B5EF4-FFF2-40B4-BE49-F238E27FC236}">
                <a16:creationId xmlns:a16="http://schemas.microsoft.com/office/drawing/2014/main" id="{742EC80A-1E1D-451C-9A06-EABDBDB6D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8674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3" name="AutoShape 11">
            <a:extLst>
              <a:ext uri="{FF2B5EF4-FFF2-40B4-BE49-F238E27FC236}">
                <a16:creationId xmlns:a16="http://schemas.microsoft.com/office/drawing/2014/main" id="{D7543957-F80F-44E8-BCD1-8C4D01432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4" name="AutoShape 12">
            <a:extLst>
              <a:ext uri="{FF2B5EF4-FFF2-40B4-BE49-F238E27FC236}">
                <a16:creationId xmlns:a16="http://schemas.microsoft.com/office/drawing/2014/main" id="{0D28034A-522B-4FD2-A656-70D0B1DC4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8674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5" name="AutoShape 13">
            <a:extLst>
              <a:ext uri="{FF2B5EF4-FFF2-40B4-BE49-F238E27FC236}">
                <a16:creationId xmlns:a16="http://schemas.microsoft.com/office/drawing/2014/main" id="{BC4AD642-1E50-494D-B33C-1A20B0F16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1816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6" name="AutoShape 14">
            <a:extLst>
              <a:ext uri="{FF2B5EF4-FFF2-40B4-BE49-F238E27FC236}">
                <a16:creationId xmlns:a16="http://schemas.microsoft.com/office/drawing/2014/main" id="{A4F704EE-4BF2-4F4D-94D2-A64454FC6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1054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7" name="AutoShape 15">
            <a:extLst>
              <a:ext uri="{FF2B5EF4-FFF2-40B4-BE49-F238E27FC236}">
                <a16:creationId xmlns:a16="http://schemas.microsoft.com/office/drawing/2014/main" id="{17416FE0-FCAA-4C6C-8557-2784ACFFC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2672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8" name="AutoShape 16">
            <a:extLst>
              <a:ext uri="{FF2B5EF4-FFF2-40B4-BE49-F238E27FC236}">
                <a16:creationId xmlns:a16="http://schemas.microsoft.com/office/drawing/2014/main" id="{299EAD8B-0992-44D3-AB83-BD8D710EA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2672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09" name="AutoShape 17">
            <a:extLst>
              <a:ext uri="{FF2B5EF4-FFF2-40B4-BE49-F238E27FC236}">
                <a16:creationId xmlns:a16="http://schemas.microsoft.com/office/drawing/2014/main" id="{AA7DE867-B9D0-4952-A498-D22E531D1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2672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10" name="AutoShape 18">
            <a:extLst>
              <a:ext uri="{FF2B5EF4-FFF2-40B4-BE49-F238E27FC236}">
                <a16:creationId xmlns:a16="http://schemas.microsoft.com/office/drawing/2014/main" id="{D755B73C-5BA5-4CFE-93CB-203639EE1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5052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11" name="AutoShape 19">
            <a:extLst>
              <a:ext uri="{FF2B5EF4-FFF2-40B4-BE49-F238E27FC236}">
                <a16:creationId xmlns:a16="http://schemas.microsoft.com/office/drawing/2014/main" id="{06DABBA7-4A23-4A34-AEA8-4394B1E97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8674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12" name="AutoShape 20">
            <a:extLst>
              <a:ext uri="{FF2B5EF4-FFF2-40B4-BE49-F238E27FC236}">
                <a16:creationId xmlns:a16="http://schemas.microsoft.com/office/drawing/2014/main" id="{709DF0F2-A378-4B7D-B464-D89358950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157788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140309" name="Line 21">
            <a:extLst>
              <a:ext uri="{FF2B5EF4-FFF2-40B4-BE49-F238E27FC236}">
                <a16:creationId xmlns:a16="http://schemas.microsoft.com/office/drawing/2014/main" id="{BE097D13-EA68-4B11-95CC-6228FFF963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4625" y="2924175"/>
            <a:ext cx="777875" cy="1147763"/>
          </a:xfrm>
          <a:prstGeom prst="line">
            <a:avLst/>
          </a:prstGeom>
          <a:noFill/>
          <a:ln w="2857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 sz="4400" b="1">
              <a:latin typeface="Tahoma" pitchFamily="34" charset="0"/>
            </a:endParaRPr>
          </a:p>
        </p:txBody>
      </p:sp>
      <p:sp>
        <p:nvSpPr>
          <p:cNvPr id="8214" name="AutoShape 23">
            <a:extLst>
              <a:ext uri="{FF2B5EF4-FFF2-40B4-BE49-F238E27FC236}">
                <a16:creationId xmlns:a16="http://schemas.microsoft.com/office/drawing/2014/main" id="{F56D698F-8489-41FC-9488-B569267ED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505200"/>
            <a:ext cx="76200" cy="76200"/>
          </a:xfrm>
          <a:prstGeom prst="flowChartConnector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215" name="Line 24">
            <a:extLst>
              <a:ext uri="{FF2B5EF4-FFF2-40B4-BE49-F238E27FC236}">
                <a16:creationId xmlns:a16="http://schemas.microsoft.com/office/drawing/2014/main" id="{C185922D-85B4-4A9D-8F3D-750811526A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5513" y="1628775"/>
            <a:ext cx="2692400" cy="3435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16" name="Line 30">
            <a:extLst>
              <a:ext uri="{FF2B5EF4-FFF2-40B4-BE49-F238E27FC236}">
                <a16:creationId xmlns:a16="http://schemas.microsoft.com/office/drawing/2014/main" id="{59668762-C875-4FC4-A221-DD6452E5A4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1412875"/>
            <a:ext cx="2692400" cy="3435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17" name="AutoShape 31">
            <a:extLst>
              <a:ext uri="{FF2B5EF4-FFF2-40B4-BE49-F238E27FC236}">
                <a16:creationId xmlns:a16="http://schemas.microsoft.com/office/drawing/2014/main" id="{733A3A5B-5E70-4128-88E9-92A3CF77D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852738"/>
            <a:ext cx="76200" cy="76200"/>
          </a:xfrm>
          <a:prstGeom prst="flowChartConnector">
            <a:avLst/>
          </a:prstGeom>
          <a:solidFill>
            <a:schemeClr val="tx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140321" name="AutoShape 33">
            <a:extLst>
              <a:ext uri="{FF2B5EF4-FFF2-40B4-BE49-F238E27FC236}">
                <a16:creationId xmlns:a16="http://schemas.microsoft.com/office/drawing/2014/main" id="{45A6E1F2-2488-4B4B-9946-E5ACA7007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700213"/>
            <a:ext cx="1800225" cy="576262"/>
          </a:xfrm>
          <a:prstGeom prst="wedgeRectCallout">
            <a:avLst>
              <a:gd name="adj1" fmla="val -76278"/>
              <a:gd name="adj2" fmla="val 143940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Tahoma" panose="020B0604030504040204" pitchFamily="34" charset="0"/>
              </a:rPr>
              <a:t>松弛最优解</a:t>
            </a:r>
          </a:p>
          <a:p>
            <a:pPr algn="ctr" eaLnBrk="1" hangingPunct="1"/>
            <a:endParaRPr lang="en-US" altLang="zh-CN" sz="2000" b="1">
              <a:latin typeface="Tahoma" panose="020B0604030504040204" pitchFamily="34" charset="0"/>
            </a:endParaRPr>
          </a:p>
        </p:txBody>
      </p:sp>
      <p:sp>
        <p:nvSpPr>
          <p:cNvPr id="140322" name="AutoShape 34">
            <a:extLst>
              <a:ext uri="{FF2B5EF4-FFF2-40B4-BE49-F238E27FC236}">
                <a16:creationId xmlns:a16="http://schemas.microsoft.com/office/drawing/2014/main" id="{A6FD6A53-D370-4BB4-A6F8-D7BF5BC79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284538"/>
            <a:ext cx="1800225" cy="576262"/>
          </a:xfrm>
          <a:prstGeom prst="wedgeRectCallout">
            <a:avLst>
              <a:gd name="adj1" fmla="val 67106"/>
              <a:gd name="adj2" fmla="val 113912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Tahoma" panose="020B0604030504040204" pitchFamily="34" charset="0"/>
              </a:rPr>
              <a:t>整数最优解</a:t>
            </a:r>
          </a:p>
          <a:p>
            <a:pPr algn="ctr" eaLnBrk="1" hangingPunct="1"/>
            <a:endParaRPr lang="en-US" altLang="zh-CN" sz="2000" b="1">
              <a:latin typeface="Tahoma" panose="020B0604030504040204" pitchFamily="34" charset="0"/>
            </a:endParaRPr>
          </a:p>
        </p:txBody>
      </p:sp>
      <p:sp>
        <p:nvSpPr>
          <p:cNvPr id="140323" name="AutoShape 35">
            <a:extLst>
              <a:ext uri="{FF2B5EF4-FFF2-40B4-BE49-F238E27FC236}">
                <a16:creationId xmlns:a16="http://schemas.microsoft.com/office/drawing/2014/main" id="{373F7DD2-E3BB-4679-BE1F-8C19B7034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133600"/>
            <a:ext cx="2592388" cy="1368425"/>
          </a:xfrm>
          <a:prstGeom prst="cloudCallout">
            <a:avLst>
              <a:gd name="adj1" fmla="val -29606"/>
              <a:gd name="adj2" fmla="val 113111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800" b="1">
              <a:latin typeface="Tahoma" panose="020B0604030504040204" pitchFamily="34" charset="0"/>
            </a:endParaRPr>
          </a:p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差得比较多！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21" grpId="0" animBg="1"/>
      <p:bldP spid="140322" grpId="0" animBg="1"/>
      <p:bldP spid="1403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1923ABAF-A1F4-4B3C-883A-6EAC692FA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00488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IP</a:t>
            </a:r>
            <a:r>
              <a:rPr lang="zh-CN" altLang="en-US" sz="2800" b="1">
                <a:latin typeface="宋体" panose="02010600030101010101" pitchFamily="2" charset="-122"/>
              </a:rPr>
              <a:t>可用</a:t>
            </a:r>
            <a:r>
              <a:rPr lang="en-US" altLang="zh-CN" sz="2800" b="1"/>
              <a:t>LINGO</a:t>
            </a:r>
            <a:r>
              <a:rPr lang="zh-CN" altLang="en-US" sz="2800" b="1">
                <a:latin typeface="宋体" panose="02010600030101010101" pitchFamily="2" charset="-122"/>
              </a:rPr>
              <a:t>直接求解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369581F3-C8AB-437A-B2B8-E5B826515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11163"/>
            <a:ext cx="67056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整数规划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/>
              <a:t>Integer Programming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简记</a:t>
            </a:r>
            <a:r>
              <a:rPr lang="en-US" altLang="zh-CN" sz="2800" b="1"/>
              <a:t>IP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F496E9BE-F56E-41F1-A719-1AD51868D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4221163"/>
            <a:ext cx="2373313" cy="2227262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IP </a:t>
            </a:r>
            <a:r>
              <a:rPr lang="zh-CN" altLang="en-US" sz="2800" b="1">
                <a:latin typeface="宋体" panose="02010600030101010101" pitchFamily="2" charset="-122"/>
              </a:rPr>
              <a:t>的最优解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=64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=168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=0</a:t>
            </a:r>
            <a:r>
              <a:rPr lang="zh-CN" altLang="en-US" sz="2800" b="1">
                <a:latin typeface="宋体" panose="02010600030101010101" pitchFamily="2" charset="-122"/>
              </a:rPr>
              <a:t>，最优值</a:t>
            </a:r>
            <a:r>
              <a:rPr lang="en-US" altLang="zh-CN" sz="2800" b="1" i="1"/>
              <a:t>z</a:t>
            </a:r>
            <a:r>
              <a:rPr lang="en-US" altLang="zh-CN" sz="2800" b="1"/>
              <a:t>=632  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E8C7DA3E-90F3-4A57-B70A-37B8B134A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524000"/>
            <a:ext cx="3990975" cy="19177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fr-FR" altLang="zh-CN" b="1"/>
              <a:t>max=2*x1+3*x2+4*x3;</a:t>
            </a:r>
          </a:p>
          <a:p>
            <a:pPr eaLnBrk="1" hangingPunct="1"/>
            <a:r>
              <a:rPr lang="fr-FR" altLang="zh-CN" b="1"/>
              <a:t>1.5*x1+3*x2+5*x3&lt;600;</a:t>
            </a:r>
          </a:p>
          <a:p>
            <a:pPr eaLnBrk="1" hangingPunct="1"/>
            <a:r>
              <a:rPr lang="fr-FR" altLang="zh-CN" b="1"/>
              <a:t>280*x1+250*x2+400*x3</a:t>
            </a:r>
          </a:p>
          <a:p>
            <a:pPr eaLnBrk="1" hangingPunct="1"/>
            <a:r>
              <a:rPr lang="fr-FR" altLang="zh-CN" b="1"/>
              <a:t>&lt;60000;</a:t>
            </a:r>
          </a:p>
          <a:p>
            <a:pPr eaLnBrk="1" hangingPunct="1"/>
            <a:r>
              <a:rPr lang="fr-FR" altLang="zh-CN" b="1">
                <a:solidFill>
                  <a:srgbClr val="0000FF"/>
                </a:solidFill>
              </a:rPr>
              <a:t>@gin(x1);@gin(x2);@gin(x3);</a:t>
            </a:r>
            <a:endParaRPr lang="en-US" altLang="zh-CN" b="1">
              <a:solidFill>
                <a:srgbClr val="0000FF"/>
              </a:solidFill>
            </a:endParaRPr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8CC8D7A4-4946-459F-BCED-44E5AE395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06788"/>
            <a:ext cx="6075363" cy="30130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r>
              <a:rPr lang="en-US" altLang="zh-CN" b="1"/>
              <a:t>Global optimal solution found.</a:t>
            </a:r>
          </a:p>
          <a:p>
            <a:pPr eaLnBrk="1" hangingPunct="1"/>
            <a:r>
              <a:rPr lang="en-US" altLang="zh-CN" b="1"/>
              <a:t>  </a:t>
            </a:r>
            <a:r>
              <a:rPr lang="en-US" altLang="zh-CN" b="1">
                <a:solidFill>
                  <a:srgbClr val="FF0000"/>
                </a:solidFill>
              </a:rPr>
              <a:t>Objective value:                          632.0000</a:t>
            </a:r>
          </a:p>
          <a:p>
            <a:pPr eaLnBrk="1" hangingPunct="1"/>
            <a:r>
              <a:rPr lang="en-US" altLang="zh-CN" b="1"/>
              <a:t>  Extended solver steps:                           0</a:t>
            </a:r>
          </a:p>
          <a:p>
            <a:pPr eaLnBrk="1" hangingPunct="1"/>
            <a:r>
              <a:rPr lang="en-US" altLang="zh-CN" b="1"/>
              <a:t>  Total solver iterations:                          3</a:t>
            </a:r>
          </a:p>
          <a:p>
            <a:pPr eaLnBrk="1" hangingPunct="1"/>
            <a:r>
              <a:rPr lang="en-US" altLang="zh-CN" b="1"/>
              <a:t>   Variable           Value        Reduced Cost</a:t>
            </a:r>
          </a:p>
          <a:p>
            <a:pPr eaLnBrk="1" hangingPunct="1"/>
            <a:r>
              <a:rPr lang="en-US" altLang="zh-CN" b="1"/>
              <a:t>              </a:t>
            </a:r>
            <a:r>
              <a:rPr lang="en-US" altLang="zh-CN" b="1">
                <a:solidFill>
                  <a:srgbClr val="FF0000"/>
                </a:solidFill>
              </a:rPr>
              <a:t>X1        64.00000</a:t>
            </a:r>
            <a:r>
              <a:rPr lang="en-US" altLang="zh-CN" b="1"/>
              <a:t>           -2.000000</a:t>
            </a:r>
          </a:p>
          <a:p>
            <a:pPr eaLnBrk="1" hangingPunct="1"/>
            <a:r>
              <a:rPr lang="en-US" altLang="zh-CN" b="1"/>
              <a:t>              </a:t>
            </a:r>
            <a:r>
              <a:rPr lang="en-US" altLang="zh-CN" b="1">
                <a:solidFill>
                  <a:srgbClr val="FF0000"/>
                </a:solidFill>
              </a:rPr>
              <a:t>X2        168.0000</a:t>
            </a:r>
            <a:r>
              <a:rPr lang="en-US" altLang="zh-CN" b="1"/>
              <a:t>           -3.000000</a:t>
            </a:r>
          </a:p>
          <a:p>
            <a:pPr eaLnBrk="1" hangingPunct="1"/>
            <a:r>
              <a:rPr lang="en-US" altLang="zh-CN" b="1"/>
              <a:t>              </a:t>
            </a:r>
            <a:r>
              <a:rPr lang="en-US" altLang="zh-CN" b="1">
                <a:solidFill>
                  <a:srgbClr val="FF0000"/>
                </a:solidFill>
              </a:rPr>
              <a:t>X3        0.000000</a:t>
            </a:r>
            <a:r>
              <a:rPr lang="en-US" altLang="zh-CN" b="1"/>
              <a:t>           -4.000000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3143E97B-4918-474D-A1C4-A28AFF4EC2FF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125538"/>
            <a:ext cx="4343400" cy="2022475"/>
            <a:chOff x="144" y="576"/>
            <a:chExt cx="2736" cy="1275"/>
          </a:xfrm>
        </p:grpSpPr>
        <p:graphicFrame>
          <p:nvGraphicFramePr>
            <p:cNvPr id="9226" name="Object 9">
              <a:extLst>
                <a:ext uri="{FF2B5EF4-FFF2-40B4-BE49-F238E27FC236}">
                  <a16:creationId xmlns:a16="http://schemas.microsoft.com/office/drawing/2014/main" id="{A1643B23-CDD0-4E1F-909A-E3071FE740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" y="576"/>
            <a:ext cx="2009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4" name="公式" r:id="rId3" imgW="1485900" imgH="228600" progId="Equation.3">
                    <p:embed/>
                  </p:oleObj>
                </mc:Choice>
                <mc:Fallback>
                  <p:oleObj name="公式" r:id="rId3" imgW="14859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" y="576"/>
                          <a:ext cx="2009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10">
              <a:extLst>
                <a:ext uri="{FF2B5EF4-FFF2-40B4-BE49-F238E27FC236}">
                  <a16:creationId xmlns:a16="http://schemas.microsoft.com/office/drawing/2014/main" id="{121F84B7-6D1A-494E-B5AF-98A7D9D67A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" y="912"/>
            <a:ext cx="2112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5" name="公式" r:id="rId5" imgW="1778000" imgH="228600" progId="Equation.3">
                    <p:embed/>
                  </p:oleObj>
                </mc:Choice>
                <mc:Fallback>
                  <p:oleObj name="公式" r:id="rId5" imgW="17780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912"/>
                          <a:ext cx="2112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8" name="Object 11">
              <a:extLst>
                <a:ext uri="{FF2B5EF4-FFF2-40B4-BE49-F238E27FC236}">
                  <a16:creationId xmlns:a16="http://schemas.microsoft.com/office/drawing/2014/main" id="{C73456A8-B6BD-42FD-93D9-0596DB3272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" y="1248"/>
            <a:ext cx="233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6" name="Equation" r:id="rId7" imgW="1955800" imgH="228600" progId="Equation.3">
                    <p:embed/>
                  </p:oleObj>
                </mc:Choice>
                <mc:Fallback>
                  <p:oleObj name="Equation" r:id="rId7" imgW="19558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" y="1248"/>
                          <a:ext cx="233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9" name="Object 12">
              <a:extLst>
                <a:ext uri="{FF2B5EF4-FFF2-40B4-BE49-F238E27FC236}">
                  <a16:creationId xmlns:a16="http://schemas.microsoft.com/office/drawing/2014/main" id="{C6D01178-681C-4659-B420-CDA95EE493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" y="1540"/>
            <a:ext cx="176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7" name="Equation" r:id="rId9" imgW="1295400" imgH="228600" progId="Equation.3">
                    <p:embed/>
                  </p:oleObj>
                </mc:Choice>
                <mc:Fallback>
                  <p:oleObj name="Equation" r:id="rId9" imgW="12954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" y="1540"/>
                          <a:ext cx="176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4" name="Text Box 13">
            <a:extLst>
              <a:ext uri="{FF2B5EF4-FFF2-40B4-BE49-F238E27FC236}">
                <a16:creationId xmlns:a16="http://schemas.microsoft.com/office/drawing/2014/main" id="{8C290170-65D1-4794-B517-5D3669401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11163"/>
            <a:ext cx="1905000" cy="5794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模型求解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36878" name="Text Box 14">
            <a:extLst>
              <a:ext uri="{FF2B5EF4-FFF2-40B4-BE49-F238E27FC236}">
                <a16:creationId xmlns:a16="http://schemas.microsoft.com/office/drawing/2014/main" id="{D70D0C4F-6B52-4254-A0E3-D2BCDE884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573463"/>
            <a:ext cx="2120900" cy="519112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IP </a:t>
            </a:r>
            <a:r>
              <a:rPr lang="zh-CN" altLang="en-US" sz="2800" b="1"/>
              <a:t>结果输出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7" grpId="0" animBg="1" autoUpdateAnimBg="0"/>
      <p:bldP spid="36869" grpId="0" animBg="1" autoUpdateAnimBg="0"/>
      <p:bldP spid="36870" grpId="0" animBg="1" autoUpdateAnimBg="0"/>
      <p:bldP spid="36871" grpId="0" animBg="1" autoUpdateAnimBg="0"/>
      <p:bldP spid="3687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5016903F-C0AF-44A3-9AAB-9BA25B9FF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365625"/>
            <a:ext cx="4914900" cy="1406525"/>
          </a:xfrm>
          <a:prstGeom prst="rect">
            <a:avLst/>
          </a:prstGeom>
          <a:solidFill>
            <a:srgbClr val="C1DF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/>
              <a:t>3</a:t>
            </a:r>
            <a:r>
              <a:rPr lang="zh-CN" altLang="en-US" b="1">
                <a:latin typeface="宋体" panose="02010600030101010101" pitchFamily="2" charset="-122"/>
              </a:rPr>
              <a:t>个</a:t>
            </a:r>
            <a:r>
              <a:rPr lang="zh-CN" altLang="en-US" b="1"/>
              <a:t>子模型不满足约束条件应</a:t>
            </a:r>
            <a:r>
              <a:rPr lang="zh-CN" altLang="en-US" b="1">
                <a:latin typeface="宋体" panose="02010600030101010101" pitchFamily="2" charset="-122"/>
              </a:rPr>
              <a:t>去掉。逐一求解，比较目标函数值，取整数，得最优解：</a:t>
            </a:r>
            <a:endParaRPr lang="zh-CN" altLang="en-US" b="1"/>
          </a:p>
        </p:txBody>
      </p:sp>
      <p:graphicFrame>
        <p:nvGraphicFramePr>
          <p:cNvPr id="37891" name="Object 3">
            <a:extLst>
              <a:ext uri="{FF2B5EF4-FFF2-40B4-BE49-F238E27FC236}">
                <a16:creationId xmlns:a16="http://schemas.microsoft.com/office/drawing/2014/main" id="{DF7E3A59-9FAE-4B49-B3B3-B0E3870D69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600200"/>
          <a:ext cx="2971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r:id="rId3" imgW="1384300" imgH="228600" progId="Equation.3">
                  <p:embed/>
                </p:oleObj>
              </mc:Choice>
              <mc:Fallback>
                <p:oleObj r:id="rId3" imgW="13843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600200"/>
                        <a:ext cx="2971800" cy="495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DA084BD6-9766-444C-A602-4DDDADEC88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2133600"/>
          <a:ext cx="29718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r:id="rId5" imgW="1384300" imgH="228600" progId="Equation.3">
                  <p:embed/>
                </p:oleObj>
              </mc:Choice>
              <mc:Fallback>
                <p:oleObj r:id="rId5" imgW="1384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133600"/>
                        <a:ext cx="2971800" cy="4778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>
            <a:extLst>
              <a:ext uri="{FF2B5EF4-FFF2-40B4-BE49-F238E27FC236}">
                <a16:creationId xmlns:a16="http://schemas.microsoft.com/office/drawing/2014/main" id="{EA46CF02-D1E1-4233-A29C-43235B5B22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2667000"/>
          <a:ext cx="29718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r:id="rId7" imgW="1460500" imgH="228600" progId="Equation.3">
                  <p:embed/>
                </p:oleObj>
              </mc:Choice>
              <mc:Fallback>
                <p:oleObj r:id="rId7" imgW="14605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667000"/>
                        <a:ext cx="2971800" cy="4968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>
            <a:extLst>
              <a:ext uri="{FF2B5EF4-FFF2-40B4-BE49-F238E27FC236}">
                <a16:creationId xmlns:a16="http://schemas.microsoft.com/office/drawing/2014/main" id="{E076371D-21B7-48C1-91B4-C1349A4DD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3200400"/>
          <a:ext cx="2971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r:id="rId9" imgW="1384300" imgH="228600" progId="Equation.3">
                  <p:embed/>
                </p:oleObj>
              </mc:Choice>
              <mc:Fallback>
                <p:oleObj r:id="rId9" imgW="13843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200400"/>
                        <a:ext cx="2971800" cy="4937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3CE48376-3FD6-4961-AB3A-1B6BBA4F24E9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733800"/>
            <a:ext cx="2971800" cy="2057400"/>
            <a:chOff x="3456" y="2688"/>
            <a:chExt cx="1872" cy="1296"/>
          </a:xfrm>
        </p:grpSpPr>
        <p:graphicFrame>
          <p:nvGraphicFramePr>
            <p:cNvPr id="10260" name="Object 8">
              <a:extLst>
                <a:ext uri="{FF2B5EF4-FFF2-40B4-BE49-F238E27FC236}">
                  <a16:creationId xmlns:a16="http://schemas.microsoft.com/office/drawing/2014/main" id="{A49B988A-20C5-4496-B014-5CF332EA36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2688"/>
            <a:ext cx="187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9" r:id="rId11" imgW="1460500" imgH="228600" progId="Equation.3">
                    <p:embed/>
                  </p:oleObj>
                </mc:Choice>
                <mc:Fallback>
                  <p:oleObj r:id="rId11" imgW="1460500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688"/>
                          <a:ext cx="1872" cy="300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1" name="Object 9">
              <a:extLst>
                <a:ext uri="{FF2B5EF4-FFF2-40B4-BE49-F238E27FC236}">
                  <a16:creationId xmlns:a16="http://schemas.microsoft.com/office/drawing/2014/main" id="{0EAA3F38-4562-4907-A6AB-CF3149A5DF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3024"/>
            <a:ext cx="1872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0" r:id="rId13" imgW="1460500" imgH="228600" progId="Equation.3">
                    <p:embed/>
                  </p:oleObj>
                </mc:Choice>
                <mc:Fallback>
                  <p:oleObj r:id="rId13" imgW="14605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024"/>
                          <a:ext cx="1872" cy="305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Object 10">
              <a:extLst>
                <a:ext uri="{FF2B5EF4-FFF2-40B4-BE49-F238E27FC236}">
                  <a16:creationId xmlns:a16="http://schemas.microsoft.com/office/drawing/2014/main" id="{6B02EE6E-1A00-472F-A9E6-2BF0D06A0A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3360"/>
            <a:ext cx="1856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1" r:id="rId15" imgW="1524000" imgH="228600" progId="Equation.3">
                    <p:embed/>
                  </p:oleObj>
                </mc:Choice>
                <mc:Fallback>
                  <p:oleObj r:id="rId15" imgW="15240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360"/>
                          <a:ext cx="1856" cy="291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3" name="Object 11">
              <a:extLst>
                <a:ext uri="{FF2B5EF4-FFF2-40B4-BE49-F238E27FC236}">
                  <a16:creationId xmlns:a16="http://schemas.microsoft.com/office/drawing/2014/main" id="{6D0B9C0B-F86B-458E-B484-38EF63C79A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3674"/>
            <a:ext cx="1872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2" r:id="rId17" imgW="863225" imgH="228501" progId="Equation.3">
                    <p:embed/>
                  </p:oleObj>
                </mc:Choice>
                <mc:Fallback>
                  <p:oleObj r:id="rId17" imgW="863225" imgH="228501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674"/>
                          <a:ext cx="1872" cy="310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0" name="Text Box 12">
            <a:extLst>
              <a:ext uri="{FF2B5EF4-FFF2-40B4-BE49-F238E27FC236}">
                <a16:creationId xmlns:a16="http://schemas.microsoft.com/office/drawing/2014/main" id="{DB7DA8CC-4E22-4CD2-81A9-431CDAE01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71888"/>
            <a:ext cx="4800600" cy="466725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方法</a:t>
            </a:r>
            <a:r>
              <a:rPr lang="en-US" altLang="zh-CN" b="1"/>
              <a:t>1</a:t>
            </a:r>
            <a:r>
              <a:rPr lang="zh-CN" altLang="en-US" b="1"/>
              <a:t>：分解为</a:t>
            </a:r>
            <a:r>
              <a:rPr lang="en-US" altLang="zh-CN" b="1"/>
              <a:t>8</a:t>
            </a:r>
            <a:r>
              <a:rPr lang="zh-CN" altLang="en-US" b="1"/>
              <a:t>个</a:t>
            </a:r>
            <a:r>
              <a:rPr lang="en-US" altLang="zh-CN" b="1"/>
              <a:t>LP</a:t>
            </a:r>
            <a:r>
              <a:rPr lang="zh-CN" altLang="en-US" b="1"/>
              <a:t>子模型 </a:t>
            </a:r>
          </a:p>
        </p:txBody>
      </p:sp>
      <p:sp>
        <p:nvSpPr>
          <p:cNvPr id="37902" name="Text Box 14">
            <a:extLst>
              <a:ext uri="{FF2B5EF4-FFF2-40B4-BE49-F238E27FC236}">
                <a16:creationId xmlns:a16="http://schemas.microsoft.com/office/drawing/2014/main" id="{AEFA1BE0-1187-4264-B109-62B55AF8C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92150"/>
            <a:ext cx="8667750" cy="6048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若生产某类汽车，则至少生产</a:t>
            </a:r>
            <a:r>
              <a:rPr lang="en-US" altLang="zh-CN" sz="2800" b="1">
                <a:latin typeface="宋体" panose="02010600030101010101" pitchFamily="2" charset="-122"/>
              </a:rPr>
              <a:t>80</a:t>
            </a:r>
            <a:r>
              <a:rPr lang="zh-CN" altLang="en-US" sz="2800" b="1">
                <a:latin typeface="宋体" panose="02010600030101010101" pitchFamily="2" charset="-122"/>
              </a:rPr>
              <a:t>辆，求生产计划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C7081B7C-5F2F-430D-AC84-4EE640B00F3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524000"/>
            <a:ext cx="4953000" cy="2032000"/>
            <a:chOff x="192" y="1008"/>
            <a:chExt cx="3120" cy="1280"/>
          </a:xfrm>
        </p:grpSpPr>
        <p:graphicFrame>
          <p:nvGraphicFramePr>
            <p:cNvPr id="10256" name="Object 16">
              <a:extLst>
                <a:ext uri="{FF2B5EF4-FFF2-40B4-BE49-F238E27FC236}">
                  <a16:creationId xmlns:a16="http://schemas.microsoft.com/office/drawing/2014/main" id="{81DAA8C5-07E0-4960-B44D-EB1F27492C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" y="1008"/>
            <a:ext cx="2375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3" name="公式" r:id="rId19" imgW="1485900" imgH="228600" progId="Equation.3">
                    <p:embed/>
                  </p:oleObj>
                </mc:Choice>
                <mc:Fallback>
                  <p:oleObj name="公式" r:id="rId19" imgW="148590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" y="1008"/>
                          <a:ext cx="2375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7" name="Object 17">
              <a:extLst>
                <a:ext uri="{FF2B5EF4-FFF2-40B4-BE49-F238E27FC236}">
                  <a16:creationId xmlns:a16="http://schemas.microsoft.com/office/drawing/2014/main" id="{0AF3CB3F-4CD7-4BAA-B47F-15943DAB03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" y="1337"/>
            <a:ext cx="2400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4" name="公式" r:id="rId21" imgW="1778000" imgH="228600" progId="Equation.3">
                    <p:embed/>
                  </p:oleObj>
                </mc:Choice>
                <mc:Fallback>
                  <p:oleObj name="公式" r:id="rId21" imgW="177800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1337"/>
                          <a:ext cx="2400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8" name="Object 18">
              <a:extLst>
                <a:ext uri="{FF2B5EF4-FFF2-40B4-BE49-F238E27FC236}">
                  <a16:creationId xmlns:a16="http://schemas.microsoft.com/office/drawing/2014/main" id="{087A04B0-E1E9-4DC8-A300-81F3117AC9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1673"/>
            <a:ext cx="2722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5" name="Equation" r:id="rId23" imgW="1955800" imgH="228600" progId="Equation.3">
                    <p:embed/>
                  </p:oleObj>
                </mc:Choice>
                <mc:Fallback>
                  <p:oleObj name="Equation" r:id="rId23" imgW="1955800" imgH="2286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1673"/>
                          <a:ext cx="2722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Text Box 19">
              <a:extLst>
                <a:ext uri="{FF2B5EF4-FFF2-40B4-BE49-F238E27FC236}">
                  <a16:creationId xmlns:a16="http://schemas.microsoft.com/office/drawing/2014/main" id="{CDC6EF37-4A8B-40C6-B64F-B2E325C98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961"/>
              <a:ext cx="19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x</a:t>
              </a:r>
              <a:r>
                <a:rPr lang="en-US" altLang="zh-CN" sz="2800" b="1" baseline="-30000">
                  <a:solidFill>
                    <a:srgbClr val="FF3300"/>
                  </a:solidFill>
                </a:rPr>
                <a:t>1</a:t>
              </a:r>
              <a:r>
                <a:rPr lang="en-US" altLang="zh-CN" sz="2800" b="1">
                  <a:solidFill>
                    <a:srgbClr val="FF3300"/>
                  </a:solidFill>
                  <a:latin typeface="宋体" panose="02010600030101010101" pitchFamily="2" charset="-122"/>
                </a:rPr>
                <a:t>,</a:t>
              </a:r>
              <a:r>
                <a:rPr lang="en-US" altLang="zh-CN" sz="2800" b="1" i="1">
                  <a:solidFill>
                    <a:srgbClr val="FF3300"/>
                  </a:solidFill>
                </a:rPr>
                <a:t>x</a:t>
              </a:r>
              <a:r>
                <a:rPr lang="en-US" altLang="zh-CN" sz="2800" b="1" baseline="-30000">
                  <a:solidFill>
                    <a:srgbClr val="FF3300"/>
                  </a:solidFill>
                </a:rPr>
                <a:t>2,</a:t>
              </a:r>
              <a:r>
                <a:rPr lang="en-US" altLang="zh-CN" sz="2800" b="1">
                  <a:solidFill>
                    <a:srgbClr val="FF3300"/>
                  </a:solidFill>
                </a:rPr>
                <a:t>, </a:t>
              </a:r>
              <a:r>
                <a:rPr lang="en-US" altLang="zh-CN" sz="2800" b="1" i="1">
                  <a:solidFill>
                    <a:srgbClr val="FF3300"/>
                  </a:solidFill>
                </a:rPr>
                <a:t>x</a:t>
              </a:r>
              <a:r>
                <a:rPr lang="en-US" altLang="zh-CN" sz="2800" b="1" baseline="-30000">
                  <a:solidFill>
                    <a:srgbClr val="FF3300"/>
                  </a:solidFill>
                </a:rPr>
                <a:t>3</a:t>
              </a:r>
              <a:r>
                <a:rPr lang="en-US" altLang="zh-CN" sz="2800" b="1">
                  <a:solidFill>
                    <a:srgbClr val="FF3300"/>
                  </a:solidFill>
                </a:rPr>
                <a:t>=0 </a:t>
              </a:r>
              <a:r>
                <a:rPr lang="zh-CN" altLang="en-US" sz="2800" b="1">
                  <a:solidFill>
                    <a:srgbClr val="FF3300"/>
                  </a:solidFill>
                </a:rPr>
                <a:t>或 </a:t>
              </a:r>
              <a:r>
                <a:rPr lang="zh-CN" altLang="en-US" sz="2800" b="1">
                  <a:solidFill>
                    <a:srgbClr val="FF3300"/>
                  </a:solidFill>
                  <a:sym typeface="Symbol" panose="05050102010706020507" pitchFamily="18" charset="2"/>
                </a:rPr>
                <a:t></a:t>
              </a:r>
              <a:r>
                <a:rPr lang="en-US" altLang="zh-CN" sz="2800" b="1">
                  <a:solidFill>
                    <a:srgbClr val="FF3300"/>
                  </a:solidFill>
                  <a:sym typeface="Symbol" panose="05050102010706020507" pitchFamily="18" charset="2"/>
                </a:rPr>
                <a:t>80</a:t>
              </a:r>
              <a:endParaRPr lang="en-US" altLang="zh-CN" sz="2800" b="1">
                <a:solidFill>
                  <a:srgbClr val="FF3300"/>
                </a:solidFill>
              </a:endParaRPr>
            </a:p>
          </p:txBody>
        </p:sp>
      </p:grpSp>
      <p:sp>
        <p:nvSpPr>
          <p:cNvPr id="37908" name="AutoShape 20">
            <a:extLst>
              <a:ext uri="{FF2B5EF4-FFF2-40B4-BE49-F238E27FC236}">
                <a16:creationId xmlns:a16="http://schemas.microsoft.com/office/drawing/2014/main" id="{C0AD93D8-8580-4D79-A739-9FA53EA1B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1242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909" name="Text Box 21">
            <a:extLst>
              <a:ext uri="{FF2B5EF4-FFF2-40B4-BE49-F238E27FC236}">
                <a16:creationId xmlns:a16="http://schemas.microsoft.com/office/drawing/2014/main" id="{6B423473-864E-46BD-BB30-F3EE0E68D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5164138"/>
            <a:ext cx="53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endParaRPr lang="en-US" altLang="zh-CN" sz="3600" b="1">
              <a:solidFill>
                <a:srgbClr val="FF0000"/>
              </a:solidFill>
            </a:endParaRPr>
          </a:p>
        </p:txBody>
      </p:sp>
      <p:sp>
        <p:nvSpPr>
          <p:cNvPr id="37910" name="Text Box 22">
            <a:extLst>
              <a:ext uri="{FF2B5EF4-FFF2-40B4-BE49-F238E27FC236}">
                <a16:creationId xmlns:a16="http://schemas.microsoft.com/office/drawing/2014/main" id="{D9E4A31D-579F-485C-81B1-E3F3CEB9A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587875"/>
            <a:ext cx="53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endParaRPr lang="en-US" altLang="zh-CN" sz="3600" b="1">
              <a:solidFill>
                <a:srgbClr val="FF0000"/>
              </a:solidFill>
            </a:endParaRPr>
          </a:p>
        </p:txBody>
      </p:sp>
      <p:sp>
        <p:nvSpPr>
          <p:cNvPr id="37911" name="Text Box 23">
            <a:extLst>
              <a:ext uri="{FF2B5EF4-FFF2-40B4-BE49-F238E27FC236}">
                <a16:creationId xmlns:a16="http://schemas.microsoft.com/office/drawing/2014/main" id="{3133491F-7309-43EA-8DA9-E77A926E9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492375"/>
            <a:ext cx="53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endParaRPr lang="en-US" altLang="zh-CN" sz="3600" b="1">
              <a:solidFill>
                <a:srgbClr val="FF0000"/>
              </a:solidFill>
            </a:endParaRPr>
          </a:p>
        </p:txBody>
      </p:sp>
      <p:sp>
        <p:nvSpPr>
          <p:cNvPr id="37912" name="Text Box 24">
            <a:extLst>
              <a:ext uri="{FF2B5EF4-FFF2-40B4-BE49-F238E27FC236}">
                <a16:creationId xmlns:a16="http://schemas.microsoft.com/office/drawing/2014/main" id="{10F8F545-987F-4959-A6A0-A49DF8CD6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6019800"/>
            <a:ext cx="6019800" cy="519113"/>
          </a:xfrm>
          <a:prstGeom prst="rect">
            <a:avLst/>
          </a:prstGeom>
          <a:solidFill>
            <a:srgbClr val="CC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=80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 150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=0</a:t>
            </a:r>
            <a:r>
              <a:rPr lang="zh-CN" altLang="en-US" sz="2800" b="1">
                <a:latin typeface="宋体" panose="02010600030101010101" pitchFamily="2" charset="-122"/>
              </a:rPr>
              <a:t>，最优值</a:t>
            </a:r>
            <a:r>
              <a:rPr lang="en-US" altLang="zh-CN" sz="2800" b="1" i="1"/>
              <a:t>z</a:t>
            </a:r>
            <a:r>
              <a:rPr lang="en-US" altLang="zh-CN" sz="2800" b="1"/>
              <a:t>=610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 autoUpdateAnimBg="0"/>
      <p:bldP spid="37900" grpId="0" animBg="1" autoUpdateAnimBg="0"/>
      <p:bldP spid="37902" grpId="0" animBg="1"/>
      <p:bldP spid="37908" grpId="0" animBg="1"/>
      <p:bldP spid="37909" grpId="0" autoUpdateAnimBg="0"/>
      <p:bldP spid="37910" grpId="0" autoUpdateAnimBg="0"/>
      <p:bldP spid="37911" grpId="0" autoUpdateAnimBg="0"/>
      <p:bldP spid="37912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2E7E5309-6835-4220-A137-5BC4EFB62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717925"/>
            <a:ext cx="230505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b="1"/>
              <a:t>LINGO</a:t>
            </a:r>
            <a:r>
              <a:rPr lang="zh-CN" altLang="en-US" b="1"/>
              <a:t>中对</a:t>
            </a:r>
            <a:r>
              <a:rPr lang="en-US" altLang="zh-CN" b="1"/>
              <a:t>0-1</a:t>
            </a:r>
            <a:r>
              <a:rPr lang="zh-CN" altLang="en-US" b="1"/>
              <a:t>变量的限定：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b="1">
                <a:solidFill>
                  <a:srgbClr val="FF0000"/>
                </a:solidFill>
              </a:rPr>
              <a:t>@bin(y1); @bin(y2); @bin(y3);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2D28210B-2166-4F27-A039-FDBB2ADF5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713"/>
            <a:ext cx="7535863" cy="523875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方法</a:t>
            </a:r>
            <a:r>
              <a:rPr lang="en-US" altLang="zh-CN" sz="2800" b="1"/>
              <a:t>2</a:t>
            </a:r>
            <a:r>
              <a:rPr lang="zh-CN" altLang="en-US" sz="2800" b="1"/>
              <a:t>：</a:t>
            </a:r>
            <a:r>
              <a:rPr lang="zh-CN" altLang="en-US" sz="2800" b="1">
                <a:latin typeface="宋体" panose="02010600030101010101" pitchFamily="2" charset="-122"/>
              </a:rPr>
              <a:t>引入</a:t>
            </a:r>
            <a:r>
              <a:rPr lang="en-US" altLang="zh-CN" sz="2800" b="1"/>
              <a:t>0-1</a:t>
            </a:r>
            <a:r>
              <a:rPr lang="zh-CN" altLang="en-US" sz="2800" b="1"/>
              <a:t>逻辑</a:t>
            </a:r>
            <a:r>
              <a:rPr lang="zh-CN" altLang="en-US" sz="2800" b="1">
                <a:latin typeface="宋体" panose="02010600030101010101" pitchFamily="2" charset="-122"/>
              </a:rPr>
              <a:t>变量，化为整数规划</a:t>
            </a:r>
            <a:r>
              <a:rPr lang="zh-CN" altLang="en-US" sz="2800" b="1"/>
              <a:t> 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EC440F83-8DA6-4A80-9530-4981C41ED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700213"/>
            <a:ext cx="2362200" cy="11176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/>
              <a:t>M</a:t>
            </a:r>
            <a:r>
              <a:rPr lang="zh-CN" altLang="en-US" sz="2800" b="1">
                <a:latin typeface="宋体" panose="02010600030101010101" pitchFamily="2" charset="-122"/>
              </a:rPr>
              <a:t>为大的正数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本例可取</a:t>
            </a:r>
            <a:r>
              <a:rPr lang="en-US" altLang="zh-CN" sz="2800" b="1"/>
              <a:t>1000 </a:t>
            </a: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4FEBDAA2-ABAA-43F1-9531-755F21D1D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641725"/>
            <a:ext cx="5029200" cy="25304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28600"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01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b="1"/>
              <a:t>Objective Value:          610.0000</a:t>
            </a:r>
          </a:p>
          <a:p>
            <a:pPr eaLnBrk="1" hangingPunct="1"/>
            <a:r>
              <a:rPr lang="en-US" altLang="zh-CN" sz="2000" b="1"/>
              <a:t>     Variable      Value        Reduced Cost</a:t>
            </a:r>
          </a:p>
          <a:p>
            <a:pPr algn="just"/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3300"/>
                </a:solidFill>
              </a:rPr>
              <a:t>X1        80.000000</a:t>
            </a:r>
            <a:r>
              <a:rPr lang="en-US" altLang="zh-CN" sz="2000" b="1"/>
              <a:t>         -2.000000</a:t>
            </a:r>
          </a:p>
          <a:p>
            <a:pPr algn="just"/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3300"/>
                </a:solidFill>
              </a:rPr>
              <a:t>X2      150.000000</a:t>
            </a:r>
            <a:r>
              <a:rPr lang="en-US" altLang="zh-CN" sz="2000" b="1"/>
              <a:t>         -3.000000</a:t>
            </a:r>
          </a:p>
          <a:p>
            <a:pPr algn="just"/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3300"/>
                </a:solidFill>
              </a:rPr>
              <a:t>X3          0.000000</a:t>
            </a:r>
            <a:r>
              <a:rPr lang="en-US" altLang="zh-CN" sz="2000" b="1"/>
              <a:t>         -4.000000</a:t>
            </a:r>
          </a:p>
          <a:p>
            <a:pPr algn="just"/>
            <a:r>
              <a:rPr lang="en-US" altLang="zh-CN" sz="2000" b="1"/>
              <a:t>        Y1          1.000000          0.000000</a:t>
            </a:r>
          </a:p>
          <a:p>
            <a:pPr algn="just"/>
            <a:r>
              <a:rPr lang="en-US" altLang="zh-CN" sz="2000" b="1"/>
              <a:t>        Y2          1.000000          0.000000</a:t>
            </a:r>
          </a:p>
          <a:p>
            <a:r>
              <a:rPr lang="en-US" altLang="zh-CN" sz="2000" b="1"/>
              <a:t>        Y3          0.000000          0.000000 </a:t>
            </a:r>
          </a:p>
        </p:txBody>
      </p:sp>
      <p:sp>
        <p:nvSpPr>
          <p:cNvPr id="38919" name="Text Box 7">
            <a:extLst>
              <a:ext uri="{FF2B5EF4-FFF2-40B4-BE49-F238E27FC236}">
                <a16:creationId xmlns:a16="http://schemas.microsoft.com/office/drawing/2014/main" id="{AECD9DBD-21A0-4A2F-A21F-26910919A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3672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800" baseline="-30000"/>
              <a:t>1</a:t>
            </a:r>
            <a:r>
              <a:rPr lang="en-US" altLang="zh-CN" sz="2800"/>
              <a:t>=0 </a:t>
            </a:r>
            <a:r>
              <a:rPr lang="zh-CN" altLang="en-US" sz="2800">
                <a:latin typeface="宋体" panose="02010600030101010101" pitchFamily="2" charset="-122"/>
              </a:rPr>
              <a:t>或</a:t>
            </a:r>
            <a:r>
              <a:rPr lang="zh-CN" altLang="en-US" sz="2800"/>
              <a:t> </a:t>
            </a:r>
            <a:r>
              <a:rPr lang="zh-CN" altLang="en-US" sz="2800">
                <a:sym typeface="Symbol" panose="05050102010706020507" pitchFamily="18" charset="2"/>
              </a:rPr>
              <a:t></a:t>
            </a:r>
            <a:r>
              <a:rPr lang="en-US" altLang="zh-CN" sz="2800"/>
              <a:t>80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24CF2827-C5B2-4C39-B760-693192F768E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360613"/>
            <a:ext cx="2133600" cy="1128712"/>
            <a:chOff x="192" y="1353"/>
            <a:chExt cx="1344" cy="711"/>
          </a:xfrm>
        </p:grpSpPr>
        <p:sp>
          <p:nvSpPr>
            <p:cNvPr id="11281" name="Text Box 9">
              <a:extLst>
                <a:ext uri="{FF2B5EF4-FFF2-40B4-BE49-F238E27FC236}">
                  <a16:creationId xmlns:a16="http://schemas.microsoft.com/office/drawing/2014/main" id="{880E1FED-8FE5-40C8-9B23-CED677E40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53"/>
              <a:ext cx="13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 baseline="-30000"/>
                <a:t>2</a:t>
              </a:r>
              <a:r>
                <a:rPr lang="en-US" altLang="zh-CN" sz="2800"/>
                <a:t>=0 </a:t>
              </a:r>
              <a:r>
                <a:rPr lang="zh-CN" altLang="en-US" sz="2800">
                  <a:latin typeface="宋体" panose="02010600030101010101" pitchFamily="2" charset="-122"/>
                </a:rPr>
                <a:t>或</a:t>
              </a:r>
              <a:r>
                <a:rPr lang="zh-CN" altLang="en-US" sz="2800"/>
                <a:t> </a:t>
              </a:r>
              <a:r>
                <a:rPr lang="zh-CN" altLang="en-US" sz="2800">
                  <a:sym typeface="Symbol" panose="05050102010706020507" pitchFamily="18" charset="2"/>
                </a:rPr>
                <a:t></a:t>
              </a:r>
              <a:r>
                <a:rPr lang="en-US" altLang="zh-CN" sz="2800"/>
                <a:t>80</a:t>
              </a:r>
            </a:p>
          </p:txBody>
        </p:sp>
        <p:sp>
          <p:nvSpPr>
            <p:cNvPr id="11282" name="Text Box 10">
              <a:extLst>
                <a:ext uri="{FF2B5EF4-FFF2-40B4-BE49-F238E27FC236}">
                  <a16:creationId xmlns:a16="http://schemas.microsoft.com/office/drawing/2014/main" id="{87399591-96B7-4165-8726-7C189F817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737"/>
              <a:ext cx="13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 baseline="-30000"/>
                <a:t>3</a:t>
              </a:r>
              <a:r>
                <a:rPr lang="en-US" altLang="zh-CN" sz="2800"/>
                <a:t>=0 </a:t>
              </a:r>
              <a:r>
                <a:rPr lang="zh-CN" altLang="en-US" sz="2800">
                  <a:latin typeface="宋体" panose="02010600030101010101" pitchFamily="2" charset="-122"/>
                </a:rPr>
                <a:t>或</a:t>
              </a:r>
              <a:r>
                <a:rPr lang="zh-CN" altLang="en-US" sz="2800"/>
                <a:t> </a:t>
              </a:r>
              <a:r>
                <a:rPr lang="zh-CN" altLang="en-US" sz="2800">
                  <a:sym typeface="Symbol" panose="05050102010706020507" pitchFamily="18" charset="2"/>
                </a:rPr>
                <a:t></a:t>
              </a:r>
              <a:r>
                <a:rPr lang="en-US" altLang="zh-CN" sz="2800"/>
                <a:t>80</a:t>
              </a: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FE46A3B6-43D0-46FE-BA5F-FD257CAEB5E5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736725"/>
            <a:ext cx="4225925" cy="488950"/>
            <a:chOff x="1488" y="960"/>
            <a:chExt cx="2662" cy="308"/>
          </a:xfrm>
        </p:grpSpPr>
        <p:graphicFrame>
          <p:nvGraphicFramePr>
            <p:cNvPr id="11279" name="Object 12">
              <a:extLst>
                <a:ext uri="{FF2B5EF4-FFF2-40B4-BE49-F238E27FC236}">
                  <a16:creationId xmlns:a16="http://schemas.microsoft.com/office/drawing/2014/main" id="{E4C528F6-2FE8-43BC-8A86-FCBB236EBA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960"/>
            <a:ext cx="251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6" name="Equation" r:id="rId3" imgW="1790700" imgH="215900" progId="Equation.3">
                    <p:embed/>
                  </p:oleObj>
                </mc:Choice>
                <mc:Fallback>
                  <p:oleObj name="Equation" r:id="rId3" imgW="1790700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960"/>
                          <a:ext cx="2518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0" name="AutoShape 13">
              <a:extLst>
                <a:ext uri="{FF2B5EF4-FFF2-40B4-BE49-F238E27FC236}">
                  <a16:creationId xmlns:a16="http://schemas.microsoft.com/office/drawing/2014/main" id="{03D4F64B-0EEC-4494-9AE1-CA6EF353F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008"/>
              <a:ext cx="96" cy="240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B1F5E1D6-C849-4850-A630-C7EEA6B875D8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346325"/>
            <a:ext cx="4343400" cy="1143000"/>
            <a:chOff x="1488" y="1344"/>
            <a:chExt cx="2736" cy="720"/>
          </a:xfrm>
        </p:grpSpPr>
        <p:graphicFrame>
          <p:nvGraphicFramePr>
            <p:cNvPr id="11275" name="Object 15">
              <a:extLst>
                <a:ext uri="{FF2B5EF4-FFF2-40B4-BE49-F238E27FC236}">
                  <a16:creationId xmlns:a16="http://schemas.microsoft.com/office/drawing/2014/main" id="{60CBE535-3BB7-44CE-BA78-54CE9490BD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1344"/>
            <a:ext cx="253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7" name="Equation" r:id="rId5" imgW="1879600" imgH="215900" progId="Equation.3">
                    <p:embed/>
                  </p:oleObj>
                </mc:Choice>
                <mc:Fallback>
                  <p:oleObj name="Equation" r:id="rId5" imgW="1879600" imgH="2159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344"/>
                          <a:ext cx="2535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6" name="Object 16">
              <a:extLst>
                <a:ext uri="{FF2B5EF4-FFF2-40B4-BE49-F238E27FC236}">
                  <a16:creationId xmlns:a16="http://schemas.microsoft.com/office/drawing/2014/main" id="{DA6A51CB-6E1A-47DA-AB89-E2614E5549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2" y="1741"/>
            <a:ext cx="262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8" name="Equation" r:id="rId7" imgW="1854200" imgH="228600" progId="Equation.3">
                    <p:embed/>
                  </p:oleObj>
                </mc:Choice>
                <mc:Fallback>
                  <p:oleObj name="Equation" r:id="rId7" imgW="185420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2" y="1741"/>
                          <a:ext cx="2622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7" name="AutoShape 17">
              <a:extLst>
                <a:ext uri="{FF2B5EF4-FFF2-40B4-BE49-F238E27FC236}">
                  <a16:creationId xmlns:a16="http://schemas.microsoft.com/office/drawing/2014/main" id="{654CEBD1-5376-41C4-9102-7649A7E4F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392"/>
              <a:ext cx="96" cy="240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8" name="AutoShape 18">
              <a:extLst>
                <a:ext uri="{FF2B5EF4-FFF2-40B4-BE49-F238E27FC236}">
                  <a16:creationId xmlns:a16="http://schemas.microsoft.com/office/drawing/2014/main" id="{2CA44A8E-5AD4-4CEC-80AC-43B6C8C95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728"/>
              <a:ext cx="96" cy="240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8931" name="Text Box 19">
            <a:extLst>
              <a:ext uri="{FF2B5EF4-FFF2-40B4-BE49-F238E27FC236}">
                <a16:creationId xmlns:a16="http://schemas.microsoft.com/office/drawing/2014/main" id="{012EA010-7680-45F8-B1BB-09BD3E77C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4724400"/>
            <a:ext cx="1981200" cy="519113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最优解同前</a:t>
            </a:r>
            <a:r>
              <a:rPr lang="zh-CN" altLang="en-US" sz="28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nimBg="1" autoUpdateAnimBg="0"/>
      <p:bldP spid="38915" grpId="0" animBg="1" autoUpdateAnimBg="0"/>
      <p:bldP spid="38916" grpId="0" animBg="1" autoUpdateAnimBg="0"/>
      <p:bldP spid="38917" grpId="0" animBg="1" autoUpdateAnimBg="0"/>
      <p:bldP spid="38919" grpId="0"/>
      <p:bldP spid="38931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>
            <a:extLst>
              <a:ext uri="{FF2B5EF4-FFF2-40B4-BE49-F238E27FC236}">
                <a16:creationId xmlns:a16="http://schemas.microsoft.com/office/drawing/2014/main" id="{DEEC346A-F7C0-41C7-8C52-8E400D4FEC62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2B154DDA-3DF7-497E-AD2F-E7FBBF697923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10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E94456BB-738D-48E5-9F9C-E27DC052B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76250"/>
            <a:ext cx="5903913" cy="576263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ahoma" panose="020B0604030504040204" pitchFamily="34" charset="0"/>
              </a:rPr>
              <a:t>  </a:t>
            </a:r>
            <a:r>
              <a:rPr lang="zh-CN" altLang="en-US" sz="2800" b="1">
                <a:solidFill>
                  <a:srgbClr val="0000FF"/>
                </a:solidFill>
                <a:latin typeface="Tahoma" panose="020B0604030504040204" pitchFamily="34" charset="0"/>
              </a:rPr>
              <a:t>带逻辑变量的数学规划问题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09F7EBFE-EE19-4A21-A6FA-65361070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268413"/>
            <a:ext cx="7056438" cy="50482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ahoma" panose="020B0604030504040204" pitchFamily="34" charset="0"/>
              </a:rPr>
              <a:t>  1</a:t>
            </a:r>
            <a:r>
              <a:rPr lang="zh-CN" altLang="en-US" sz="2800" b="1">
                <a:latin typeface="Tahoma" panose="020B0604030504040204" pitchFamily="34" charset="0"/>
              </a:rPr>
              <a:t>、  </a:t>
            </a:r>
            <a:r>
              <a:rPr lang="en-US" altLang="zh-CN" sz="2800" b="1">
                <a:latin typeface="Tahoma" panose="020B0604030504040204" pitchFamily="34" charset="0"/>
              </a:rPr>
              <a:t>m</a:t>
            </a:r>
            <a:r>
              <a:rPr lang="zh-CN" altLang="en-US" sz="2800" b="1">
                <a:latin typeface="Tahoma" panose="020B0604030504040204" pitchFamily="34" charset="0"/>
              </a:rPr>
              <a:t>个约束中只有</a:t>
            </a:r>
            <a:r>
              <a:rPr lang="en-US" altLang="zh-CN" sz="2800" b="1">
                <a:latin typeface="Tahoma" panose="020B0604030504040204" pitchFamily="34" charset="0"/>
              </a:rPr>
              <a:t>k</a:t>
            </a:r>
            <a:r>
              <a:rPr lang="zh-CN" altLang="en-US" sz="2800" b="1">
                <a:latin typeface="Tahoma" panose="020B0604030504040204" pitchFamily="34" charset="0"/>
              </a:rPr>
              <a:t>个起作用</a:t>
            </a:r>
          </a:p>
        </p:txBody>
      </p:sp>
      <p:graphicFrame>
        <p:nvGraphicFramePr>
          <p:cNvPr id="144392" name="Object 8">
            <a:extLst>
              <a:ext uri="{FF2B5EF4-FFF2-40B4-BE49-F238E27FC236}">
                <a16:creationId xmlns:a16="http://schemas.microsoft.com/office/drawing/2014/main" id="{14C2D5E4-C423-4BC8-85B9-FE72B59B1084}"/>
              </a:ext>
            </a:extLst>
          </p:cNvPr>
          <p:cNvGraphicFramePr>
            <a:graphicFrameLocks noGrp="1" noChangeAspect="1"/>
          </p:cNvGraphicFramePr>
          <p:nvPr>
            <p:ph type="body" idx="4294967295"/>
          </p:nvPr>
        </p:nvGraphicFramePr>
        <p:xfrm>
          <a:off x="2268538" y="1700213"/>
          <a:ext cx="417671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文档" r:id="rId3" imgW="1736406" imgH="556694" progId="Word.Document.8">
                  <p:embed/>
                </p:oleObj>
              </mc:Choice>
              <mc:Fallback>
                <p:oleObj name="文档" r:id="rId3" imgW="1736406" imgH="556694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700213"/>
                        <a:ext cx="4176712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3" name="Object 9">
            <a:extLst>
              <a:ext uri="{FF2B5EF4-FFF2-40B4-BE49-F238E27FC236}">
                <a16:creationId xmlns:a16="http://schemas.microsoft.com/office/drawing/2014/main" id="{2FC14CBA-D5B5-4610-A4A7-2BB7BD0FA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708275"/>
          <a:ext cx="7178675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文档" r:id="rId5" imgW="2968416" imgH="556694" progId="Word.Document.8">
                  <p:embed/>
                </p:oleObj>
              </mc:Choice>
              <mc:Fallback>
                <p:oleObj name="文档" r:id="rId5" imgW="2968416" imgH="556694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708275"/>
                        <a:ext cx="7178675" cy="143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4" name="AutoShape 10">
            <a:extLst>
              <a:ext uri="{FF2B5EF4-FFF2-40B4-BE49-F238E27FC236}">
                <a16:creationId xmlns:a16="http://schemas.microsoft.com/office/drawing/2014/main" id="{C91C0787-2433-4FD4-B208-057D483AE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724400"/>
            <a:ext cx="649288" cy="792163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3CC33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graphicFrame>
        <p:nvGraphicFramePr>
          <p:cNvPr id="144395" name="Object 11">
            <a:extLst>
              <a:ext uri="{FF2B5EF4-FFF2-40B4-BE49-F238E27FC236}">
                <a16:creationId xmlns:a16="http://schemas.microsoft.com/office/drawing/2014/main" id="{5B395F16-0A89-4208-B16A-F86B2D6E6C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149725"/>
          <a:ext cx="5113338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文档" r:id="rId7" imgW="2193639" imgH="939219" progId="Word.Document.8">
                  <p:embed/>
                </p:oleObj>
              </mc:Choice>
              <mc:Fallback>
                <p:oleObj name="文档" r:id="rId7" imgW="2193639" imgH="939219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149725"/>
                        <a:ext cx="5113338" cy="21399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5" name="Rectangle 3">
            <a:extLst>
              <a:ext uri="{FF2B5EF4-FFF2-40B4-BE49-F238E27FC236}">
                <a16:creationId xmlns:a16="http://schemas.microsoft.com/office/drawing/2014/main" id="{F951BF6B-309D-4BC4-9399-4B3224906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76250"/>
            <a:ext cx="5903913" cy="57626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ahoma" panose="020B0604030504040204" pitchFamily="34" charset="0"/>
              </a:rPr>
              <a:t>  </a:t>
            </a:r>
            <a:r>
              <a:rPr lang="zh-CN" altLang="en-US" sz="2800" b="1">
                <a:solidFill>
                  <a:srgbClr val="0000FF"/>
                </a:solidFill>
                <a:latin typeface="Tahoma" panose="020B0604030504040204" pitchFamily="34" charset="0"/>
              </a:rPr>
              <a:t>带逻辑变量的数学规划问题</a:t>
            </a:r>
          </a:p>
        </p:txBody>
      </p:sp>
      <p:sp>
        <p:nvSpPr>
          <p:cNvPr id="80906" name="Rectangle 4">
            <a:extLst>
              <a:ext uri="{FF2B5EF4-FFF2-40B4-BE49-F238E27FC236}">
                <a16:creationId xmlns:a16="http://schemas.microsoft.com/office/drawing/2014/main" id="{851206AA-6BC1-4F38-8748-7E577FFF4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268413"/>
            <a:ext cx="7056438" cy="5048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ahoma" panose="020B0604030504040204" pitchFamily="34" charset="0"/>
              </a:rPr>
              <a:t>  1</a:t>
            </a:r>
            <a:r>
              <a:rPr lang="zh-CN" altLang="en-US" sz="2800" b="1">
                <a:latin typeface="Tahoma" panose="020B0604030504040204" pitchFamily="34" charset="0"/>
              </a:rPr>
              <a:t>、  </a:t>
            </a:r>
            <a:r>
              <a:rPr lang="en-US" altLang="zh-CN" sz="2800" b="1">
                <a:latin typeface="Tahoma" panose="020B0604030504040204" pitchFamily="34" charset="0"/>
              </a:rPr>
              <a:t>m</a:t>
            </a:r>
            <a:r>
              <a:rPr lang="zh-CN" altLang="en-US" sz="2800" b="1">
                <a:latin typeface="Tahoma" panose="020B0604030504040204" pitchFamily="34" charset="0"/>
              </a:rPr>
              <a:t>个约束中只有</a:t>
            </a:r>
            <a:r>
              <a:rPr lang="en-US" altLang="zh-CN" sz="2800" b="1">
                <a:latin typeface="Tahoma" panose="020B0604030504040204" pitchFamily="34" charset="0"/>
              </a:rPr>
              <a:t>k</a:t>
            </a:r>
            <a:r>
              <a:rPr lang="zh-CN" altLang="en-US" sz="2800" b="1">
                <a:latin typeface="Tahoma" panose="020B0604030504040204" pitchFamily="34" charset="0"/>
              </a:rPr>
              <a:t>个起作用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nimBg="1" autoUpdateAnimBg="0"/>
      <p:bldP spid="80900" grpId="0" animBg="1" autoUpdateAnimBg="0"/>
      <p:bldP spid="144394" grpId="0" animBg="1"/>
      <p:bldP spid="80905" grpId="0" animBg="1"/>
      <p:bldP spid="8090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>
            <a:extLst>
              <a:ext uri="{FF2B5EF4-FFF2-40B4-BE49-F238E27FC236}">
                <a16:creationId xmlns:a16="http://schemas.microsoft.com/office/drawing/2014/main" id="{D22ACFEA-5582-4F09-961F-921A884AAEC6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6591884E-A6B4-4B20-B5F6-1498CD268F73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11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graphicFrame>
        <p:nvGraphicFramePr>
          <p:cNvPr id="145413" name="Object 5">
            <a:extLst>
              <a:ext uri="{FF2B5EF4-FFF2-40B4-BE49-F238E27FC236}">
                <a16:creationId xmlns:a16="http://schemas.microsoft.com/office/drawing/2014/main" id="{CDF38FA2-3CD3-4BA0-8BCF-ABD490476B5C}"/>
              </a:ext>
            </a:extLst>
          </p:cNvPr>
          <p:cNvGraphicFramePr>
            <a:graphicFrameLocks noGrp="1" noChangeAspect="1"/>
          </p:cNvGraphicFramePr>
          <p:nvPr>
            <p:ph type="body" idx="4294967295"/>
          </p:nvPr>
        </p:nvGraphicFramePr>
        <p:xfrm>
          <a:off x="1979613" y="1700213"/>
          <a:ext cx="5329237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文档" r:id="rId3" imgW="2065470" imgH="565330" progId="Word.Document.8">
                  <p:embed/>
                </p:oleObj>
              </mc:Choice>
              <mc:Fallback>
                <p:oleObj name="文档" r:id="rId3" imgW="2065470" imgH="56533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700213"/>
                        <a:ext cx="5329237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4" name="Object 6">
            <a:extLst>
              <a:ext uri="{FF2B5EF4-FFF2-40B4-BE49-F238E27FC236}">
                <a16:creationId xmlns:a16="http://schemas.microsoft.com/office/drawing/2014/main" id="{C322D3FB-F54A-4986-9E93-19EFD78B0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781300"/>
          <a:ext cx="5114925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文档" r:id="rId5" imgW="2181758" imgH="556694" progId="Word.Document.8">
                  <p:embed/>
                </p:oleObj>
              </mc:Choice>
              <mc:Fallback>
                <p:oleObj name="文档" r:id="rId5" imgW="2181758" imgH="556694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781300"/>
                        <a:ext cx="5114925" cy="122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5" name="AutoShape 7">
            <a:extLst>
              <a:ext uri="{FF2B5EF4-FFF2-40B4-BE49-F238E27FC236}">
                <a16:creationId xmlns:a16="http://schemas.microsoft.com/office/drawing/2014/main" id="{BDE0C406-751B-4479-9B44-430C9FF39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724400"/>
            <a:ext cx="649288" cy="792163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3CC33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graphicFrame>
        <p:nvGraphicFramePr>
          <p:cNvPr id="145416" name="Object 8">
            <a:extLst>
              <a:ext uri="{FF2B5EF4-FFF2-40B4-BE49-F238E27FC236}">
                <a16:creationId xmlns:a16="http://schemas.microsoft.com/office/drawing/2014/main" id="{32526DB0-3553-4D51-AE5E-7C0C90C8E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5213" y="4151313"/>
          <a:ext cx="3892550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文档" r:id="rId7" imgW="1253251" imgH="939219" progId="Word.Document.8">
                  <p:embed/>
                </p:oleObj>
              </mc:Choice>
              <mc:Fallback>
                <p:oleObj name="文档" r:id="rId7" imgW="1253251" imgH="939219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4151313"/>
                        <a:ext cx="3892550" cy="20510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8" name="Rectangle 9">
            <a:extLst>
              <a:ext uri="{FF2B5EF4-FFF2-40B4-BE49-F238E27FC236}">
                <a16:creationId xmlns:a16="http://schemas.microsoft.com/office/drawing/2014/main" id="{19D3D30F-6025-4A5E-ACF6-F852EE21C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125538"/>
            <a:ext cx="7056438" cy="576262"/>
          </a:xfrm>
          <a:prstGeom prst="rect">
            <a:avLst/>
          </a:prstGeom>
          <a:solidFill>
            <a:srgbClr val="CCFFCC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ahoma" panose="020B0604030504040204" pitchFamily="34" charset="0"/>
              </a:rPr>
              <a:t>  2</a:t>
            </a:r>
            <a:r>
              <a:rPr lang="zh-CN" altLang="en-US" sz="2800" b="1">
                <a:latin typeface="Tahoma" panose="020B0604030504040204" pitchFamily="34" charset="0"/>
              </a:rPr>
              <a:t>、右端项有多种选择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5" grpId="0" animBg="1"/>
      <p:bldP spid="8192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>
            <a:extLst>
              <a:ext uri="{FF2B5EF4-FFF2-40B4-BE49-F238E27FC236}">
                <a16:creationId xmlns:a16="http://schemas.microsoft.com/office/drawing/2014/main" id="{206DB9A6-943F-437A-9205-D9A1AC20C1CE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A291E857-F4E2-43BF-ACD3-5D8BE1479DB5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12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graphicFrame>
        <p:nvGraphicFramePr>
          <p:cNvPr id="146436" name="Object 4">
            <a:extLst>
              <a:ext uri="{FF2B5EF4-FFF2-40B4-BE49-F238E27FC236}">
                <a16:creationId xmlns:a16="http://schemas.microsoft.com/office/drawing/2014/main" id="{16FBF5DF-A03C-41A7-B23C-24F971BB30A4}"/>
              </a:ext>
            </a:extLst>
          </p:cNvPr>
          <p:cNvGraphicFramePr>
            <a:graphicFrameLocks noGrp="1" noChangeAspect="1"/>
          </p:cNvGraphicFramePr>
          <p:nvPr>
            <p:ph type="body" idx="4294967295"/>
          </p:nvPr>
        </p:nvGraphicFramePr>
        <p:xfrm>
          <a:off x="2195513" y="1628775"/>
          <a:ext cx="3065462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文档" r:id="rId3" imgW="1262252" imgH="564611" progId="Word.Document.8">
                  <p:embed/>
                </p:oleObj>
              </mc:Choice>
              <mc:Fallback>
                <p:oleObj name="文档" r:id="rId3" imgW="1262252" imgH="564611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628775"/>
                        <a:ext cx="3065462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8" name="AutoShape 6">
            <a:extLst>
              <a:ext uri="{FF2B5EF4-FFF2-40B4-BE49-F238E27FC236}">
                <a16:creationId xmlns:a16="http://schemas.microsoft.com/office/drawing/2014/main" id="{FBBE7FF4-4DB9-4AD0-8FCC-D4FA7F8BA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724400"/>
            <a:ext cx="649288" cy="792163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3CC33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graphicFrame>
        <p:nvGraphicFramePr>
          <p:cNvPr id="146439" name="Object 7">
            <a:extLst>
              <a:ext uri="{FF2B5EF4-FFF2-40B4-BE49-F238E27FC236}">
                <a16:creationId xmlns:a16="http://schemas.microsoft.com/office/drawing/2014/main" id="{EDB8C949-6C33-4436-8985-324917804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005263"/>
          <a:ext cx="3382963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文档" r:id="rId5" imgW="1380340" imgH="1230340" progId="Word.Document.8">
                  <p:embed/>
                </p:oleObj>
              </mc:Choice>
              <mc:Fallback>
                <p:oleObj name="文档" r:id="rId5" imgW="1380340" imgH="123034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005263"/>
                        <a:ext cx="3382963" cy="259238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Rectangle 9">
            <a:extLst>
              <a:ext uri="{FF2B5EF4-FFF2-40B4-BE49-F238E27FC236}">
                <a16:creationId xmlns:a16="http://schemas.microsoft.com/office/drawing/2014/main" id="{A49F3BF3-AC63-409E-94AA-1CF33E11F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908050"/>
            <a:ext cx="7056437" cy="503238"/>
          </a:xfrm>
          <a:prstGeom prst="rect">
            <a:avLst/>
          </a:prstGeom>
          <a:solidFill>
            <a:srgbClr val="CCFFCC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ahoma" panose="020B0604030504040204" pitchFamily="34" charset="0"/>
              </a:rPr>
              <a:t>  3</a:t>
            </a:r>
            <a:r>
              <a:rPr lang="zh-CN" altLang="en-US" sz="2800" b="1">
                <a:latin typeface="Tahoma" panose="020B0604030504040204" pitchFamily="34" charset="0"/>
              </a:rPr>
              <a:t>、带条件约束或分段约束</a:t>
            </a:r>
          </a:p>
        </p:txBody>
      </p:sp>
      <p:graphicFrame>
        <p:nvGraphicFramePr>
          <p:cNvPr id="146442" name="Object 10">
            <a:extLst>
              <a:ext uri="{FF2B5EF4-FFF2-40B4-BE49-F238E27FC236}">
                <a16:creationId xmlns:a16="http://schemas.microsoft.com/office/drawing/2014/main" id="{45A538AA-59C0-4384-A157-951FE6540A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708275"/>
          <a:ext cx="677227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文档" r:id="rId7" imgW="2435217" imgH="556694" progId="Word.Document.8">
                  <p:embed/>
                </p:oleObj>
              </mc:Choice>
              <mc:Fallback>
                <p:oleObj name="文档" r:id="rId7" imgW="2435217" imgH="556694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8275"/>
                        <a:ext cx="6772275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8" grpId="0" animBg="1"/>
      <p:bldP spid="82951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>
            <a:extLst>
              <a:ext uri="{FF2B5EF4-FFF2-40B4-BE49-F238E27FC236}">
                <a16:creationId xmlns:a16="http://schemas.microsoft.com/office/drawing/2014/main" id="{2C486C74-D291-4887-9401-45648CAEA4F8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1476F852-4D1A-4470-AA57-773F3C84F603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13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graphicFrame>
        <p:nvGraphicFramePr>
          <p:cNvPr id="147461" name="Object 5">
            <a:extLst>
              <a:ext uri="{FF2B5EF4-FFF2-40B4-BE49-F238E27FC236}">
                <a16:creationId xmlns:a16="http://schemas.microsoft.com/office/drawing/2014/main" id="{393F5F91-377B-40B2-8380-601C21C23ADD}"/>
              </a:ext>
            </a:extLst>
          </p:cNvPr>
          <p:cNvGraphicFramePr>
            <a:graphicFrameLocks noGrp="1" noChangeAspect="1"/>
          </p:cNvGraphicFramePr>
          <p:nvPr>
            <p:ph type="body" idx="4294967295"/>
          </p:nvPr>
        </p:nvGraphicFramePr>
        <p:xfrm>
          <a:off x="1331913" y="1484313"/>
          <a:ext cx="3673475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文档" r:id="rId3" imgW="2102913" imgH="791319" progId="Word.Document.8">
                  <p:embed/>
                </p:oleObj>
              </mc:Choice>
              <mc:Fallback>
                <p:oleObj name="文档" r:id="rId3" imgW="2102913" imgH="791319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484313"/>
                        <a:ext cx="3673475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2" name="Object 6">
            <a:extLst>
              <a:ext uri="{FF2B5EF4-FFF2-40B4-BE49-F238E27FC236}">
                <a16:creationId xmlns:a16="http://schemas.microsoft.com/office/drawing/2014/main" id="{C61479A3-77D7-40A7-88C4-ED30784FEB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636838"/>
          <a:ext cx="52562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文档" r:id="rId5" imgW="2268525" imgH="556694" progId="Word.Document.8">
                  <p:embed/>
                </p:oleObj>
              </mc:Choice>
              <mc:Fallback>
                <p:oleObj name="文档" r:id="rId5" imgW="2268525" imgH="556694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636838"/>
                        <a:ext cx="52562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3" name="AutoShape 7">
            <a:extLst>
              <a:ext uri="{FF2B5EF4-FFF2-40B4-BE49-F238E27FC236}">
                <a16:creationId xmlns:a16="http://schemas.microsoft.com/office/drawing/2014/main" id="{C8F320FF-B041-4FA8-A0FB-1F5DB7AA3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724400"/>
            <a:ext cx="649288" cy="792163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3CC33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3975" name="Rectangle 9">
            <a:extLst>
              <a:ext uri="{FF2B5EF4-FFF2-40B4-BE49-F238E27FC236}">
                <a16:creationId xmlns:a16="http://schemas.microsoft.com/office/drawing/2014/main" id="{E81E8C9F-0CA2-439F-9DFF-97C2AF9AF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620713"/>
            <a:ext cx="4752975" cy="576262"/>
          </a:xfrm>
          <a:prstGeom prst="rect">
            <a:avLst/>
          </a:prstGeom>
          <a:solidFill>
            <a:srgbClr val="CCFFCC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ahoma" panose="020B0604030504040204" pitchFamily="34" charset="0"/>
              </a:rPr>
              <a:t>  4</a:t>
            </a:r>
            <a:r>
              <a:rPr lang="zh-CN" altLang="en-US" sz="2800" b="1">
                <a:latin typeface="Tahoma" panose="020B0604030504040204" pitchFamily="34" charset="0"/>
              </a:rPr>
              <a:t>、成本系数分段</a:t>
            </a:r>
          </a:p>
        </p:txBody>
      </p:sp>
      <p:graphicFrame>
        <p:nvGraphicFramePr>
          <p:cNvPr id="147466" name="Object 10">
            <a:extLst>
              <a:ext uri="{FF2B5EF4-FFF2-40B4-BE49-F238E27FC236}">
                <a16:creationId xmlns:a16="http://schemas.microsoft.com/office/drawing/2014/main" id="{1F814D35-74E5-47E0-A9EE-876C2B3F0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484313"/>
          <a:ext cx="2238375" cy="152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文档" r:id="rId7" imgW="1226609" imgH="789879" progId="Word.Document.8">
                  <p:embed/>
                </p:oleObj>
              </mc:Choice>
              <mc:Fallback>
                <p:oleObj name="文档" r:id="rId7" imgW="1226609" imgH="789879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484313"/>
                        <a:ext cx="2238375" cy="152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7" name="Object 11">
            <a:extLst>
              <a:ext uri="{FF2B5EF4-FFF2-40B4-BE49-F238E27FC236}">
                <a16:creationId xmlns:a16="http://schemas.microsoft.com/office/drawing/2014/main" id="{8BDB97E3-27B1-4611-9ECB-7C005767D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860800"/>
          <a:ext cx="4608513" cy="250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文档" r:id="rId9" imgW="1938381" imgH="1182480" progId="Word.Document.8">
                  <p:embed/>
                </p:oleObj>
              </mc:Choice>
              <mc:Fallback>
                <p:oleObj name="文档" r:id="rId9" imgW="1938381" imgH="11824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860800"/>
                        <a:ext cx="4608513" cy="25098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3" grpId="0" animBg="1"/>
      <p:bldP spid="8397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98C6E5F4-36C4-47C8-9227-FB8FD3E78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644900"/>
            <a:ext cx="45466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fr-FR" altLang="zh-CN" b="1"/>
              <a:t>max=2*x1+3*x2+4*x3;</a:t>
            </a:r>
          </a:p>
          <a:p>
            <a:pPr eaLnBrk="1" hangingPunct="1"/>
            <a:r>
              <a:rPr lang="fr-FR" altLang="zh-CN" b="1"/>
              <a:t>1.5*x1+3*x2+5*x3&lt;600;</a:t>
            </a:r>
          </a:p>
          <a:p>
            <a:pPr eaLnBrk="1" hangingPunct="1"/>
            <a:r>
              <a:rPr lang="fr-FR" altLang="zh-CN" b="1"/>
              <a:t>280*x1+250*x2+400*x3&lt;60000;</a:t>
            </a:r>
          </a:p>
          <a:p>
            <a:pPr eaLnBrk="1" hangingPunct="1"/>
            <a:r>
              <a:rPr lang="fr-FR" altLang="zh-CN" b="1"/>
              <a:t>x1*(x1-80)&gt;0;</a:t>
            </a:r>
          </a:p>
          <a:p>
            <a:pPr eaLnBrk="1" hangingPunct="1"/>
            <a:r>
              <a:rPr lang="fr-FR" altLang="zh-CN" b="1"/>
              <a:t>x2*(x2-80)&gt;0;</a:t>
            </a:r>
          </a:p>
          <a:p>
            <a:pPr eaLnBrk="1" hangingPunct="1"/>
            <a:r>
              <a:rPr lang="fr-FR" altLang="zh-CN" b="1"/>
              <a:t>x3*(x3-80)&gt;0;</a:t>
            </a:r>
          </a:p>
          <a:p>
            <a:pPr eaLnBrk="1" hangingPunct="1"/>
            <a:r>
              <a:rPr lang="fr-FR" altLang="zh-CN" b="1"/>
              <a:t>@gin(x1);@gin(x2);@gin(x3);</a:t>
            </a:r>
            <a:endParaRPr lang="en-US" altLang="zh-CN" b="1"/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BDDD26E0-E89B-4978-9A2A-2117ED7D1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96913"/>
            <a:ext cx="4191000" cy="519112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方法</a:t>
            </a:r>
            <a:r>
              <a:rPr lang="en-US" altLang="zh-CN" sz="2800" b="1"/>
              <a:t>3</a:t>
            </a:r>
            <a:r>
              <a:rPr lang="zh-CN" altLang="en-US" sz="2800" b="1"/>
              <a:t>：</a:t>
            </a:r>
            <a:r>
              <a:rPr lang="zh-CN" altLang="en-US" sz="2800" b="1">
                <a:latin typeface="宋体" panose="02010600030101010101" pitchFamily="2" charset="-122"/>
              </a:rPr>
              <a:t>化为非线性规划</a:t>
            </a:r>
            <a:r>
              <a:rPr lang="zh-CN" altLang="en-US" sz="2800" b="1"/>
              <a:t> 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231A7868-85B9-411E-9CE2-C0E416020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628775"/>
            <a:ext cx="2808287" cy="180022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非线性规划（</a:t>
            </a:r>
            <a:r>
              <a:rPr lang="en-US" altLang="zh-CN" sz="2800" b="1"/>
              <a:t>Non- Linear Programming</a:t>
            </a:r>
            <a:r>
              <a:rPr lang="zh-CN" altLang="en-US" sz="2800" b="1">
                <a:latin typeface="宋体" panose="02010600030101010101" pitchFamily="2" charset="-122"/>
              </a:rPr>
              <a:t>，简记</a:t>
            </a:r>
            <a:r>
              <a:rPr lang="en-US" altLang="zh-CN" sz="2800" b="1"/>
              <a:t>NLP</a:t>
            </a:r>
            <a:r>
              <a:rPr lang="zh-CN" altLang="en-US" sz="2800" b="1">
                <a:latin typeface="宋体" panose="02010600030101010101" pitchFamily="2" charset="-122"/>
              </a:rPr>
              <a:t>）</a:t>
            </a:r>
            <a:r>
              <a:rPr lang="zh-CN" altLang="en-US" sz="2800" b="1"/>
              <a:t> </a:t>
            </a:r>
          </a:p>
        </p:txBody>
      </p:sp>
      <p:sp>
        <p:nvSpPr>
          <p:cNvPr id="39943" name="Text Box 7">
            <a:extLst>
              <a:ext uri="{FF2B5EF4-FFF2-40B4-BE49-F238E27FC236}">
                <a16:creationId xmlns:a16="http://schemas.microsoft.com/office/drawing/2014/main" id="{5F00CC32-B37D-4CDB-B3F9-6698772A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76400"/>
            <a:ext cx="2133600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800" baseline="-30000"/>
              <a:t>1</a:t>
            </a:r>
            <a:r>
              <a:rPr lang="en-US" altLang="zh-CN" sz="2800"/>
              <a:t>=0 </a:t>
            </a:r>
            <a:r>
              <a:rPr lang="zh-CN" altLang="en-US" sz="2800">
                <a:latin typeface="宋体" panose="02010600030101010101" pitchFamily="2" charset="-122"/>
              </a:rPr>
              <a:t>或</a:t>
            </a:r>
            <a:r>
              <a:rPr lang="zh-CN" altLang="en-US" sz="2800"/>
              <a:t> </a:t>
            </a:r>
            <a:r>
              <a:rPr lang="zh-CN" altLang="en-US" sz="2800">
                <a:sym typeface="Symbol" panose="05050102010706020507" pitchFamily="18" charset="2"/>
              </a:rPr>
              <a:t></a:t>
            </a:r>
            <a:r>
              <a:rPr lang="en-US" altLang="zh-CN" sz="2800"/>
              <a:t>80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73A5CD4A-A02D-4343-BF65-5FAA200F069E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300288"/>
            <a:ext cx="2133600" cy="1128712"/>
            <a:chOff x="192" y="1353"/>
            <a:chExt cx="1344" cy="711"/>
          </a:xfrm>
        </p:grpSpPr>
        <p:sp>
          <p:nvSpPr>
            <p:cNvPr id="16401" name="Text Box 9">
              <a:extLst>
                <a:ext uri="{FF2B5EF4-FFF2-40B4-BE49-F238E27FC236}">
                  <a16:creationId xmlns:a16="http://schemas.microsoft.com/office/drawing/2014/main" id="{82EC3BA7-A46A-4F2F-864C-1333410BE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53"/>
              <a:ext cx="1344" cy="32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 baseline="-30000"/>
                <a:t>2</a:t>
              </a:r>
              <a:r>
                <a:rPr lang="en-US" altLang="zh-CN" sz="2800"/>
                <a:t>=0 </a:t>
              </a:r>
              <a:r>
                <a:rPr lang="zh-CN" altLang="en-US" sz="2800">
                  <a:latin typeface="宋体" panose="02010600030101010101" pitchFamily="2" charset="-122"/>
                </a:rPr>
                <a:t>或</a:t>
              </a:r>
              <a:r>
                <a:rPr lang="zh-CN" altLang="en-US" sz="2800"/>
                <a:t> </a:t>
              </a:r>
              <a:r>
                <a:rPr lang="zh-CN" altLang="en-US" sz="2800">
                  <a:sym typeface="Symbol" panose="05050102010706020507" pitchFamily="18" charset="2"/>
                </a:rPr>
                <a:t></a:t>
              </a:r>
              <a:r>
                <a:rPr lang="en-US" altLang="zh-CN" sz="2800"/>
                <a:t>80</a:t>
              </a:r>
            </a:p>
          </p:txBody>
        </p:sp>
        <p:sp>
          <p:nvSpPr>
            <p:cNvPr id="16402" name="Text Box 10">
              <a:extLst>
                <a:ext uri="{FF2B5EF4-FFF2-40B4-BE49-F238E27FC236}">
                  <a16:creationId xmlns:a16="http://schemas.microsoft.com/office/drawing/2014/main" id="{690C90CE-9F4A-469A-B6EE-5CEC6662F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737"/>
              <a:ext cx="1344" cy="32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 baseline="-30000"/>
                <a:t>3</a:t>
              </a:r>
              <a:r>
                <a:rPr lang="en-US" altLang="zh-CN" sz="2800"/>
                <a:t>=0 </a:t>
              </a:r>
              <a:r>
                <a:rPr lang="zh-CN" altLang="en-US" sz="2800">
                  <a:latin typeface="宋体" panose="02010600030101010101" pitchFamily="2" charset="-122"/>
                </a:rPr>
                <a:t>或</a:t>
              </a:r>
              <a:r>
                <a:rPr lang="zh-CN" altLang="en-US" sz="2800"/>
                <a:t> </a:t>
              </a:r>
              <a:r>
                <a:rPr lang="zh-CN" altLang="en-US" sz="2800">
                  <a:sym typeface="Symbol" panose="05050102010706020507" pitchFamily="18" charset="2"/>
                </a:rPr>
                <a:t></a:t>
              </a:r>
              <a:r>
                <a:rPr lang="en-US" altLang="zh-CN" sz="2800"/>
                <a:t>80</a:t>
              </a: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497A7063-4F7F-4554-AB79-F686CE468F0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676400"/>
            <a:ext cx="2438400" cy="479425"/>
            <a:chOff x="2160" y="960"/>
            <a:chExt cx="1536" cy="302"/>
          </a:xfrm>
        </p:grpSpPr>
        <p:graphicFrame>
          <p:nvGraphicFramePr>
            <p:cNvPr id="16399" name="Object 12">
              <a:extLst>
                <a:ext uri="{FF2B5EF4-FFF2-40B4-BE49-F238E27FC236}">
                  <a16:creationId xmlns:a16="http://schemas.microsoft.com/office/drawing/2014/main" id="{6529DD9B-4B89-4B6D-B932-7FD04B25B0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960"/>
            <a:ext cx="129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6" r:id="rId3" imgW="939392" imgH="215806" progId="Equation.3">
                    <p:embed/>
                  </p:oleObj>
                </mc:Choice>
                <mc:Fallback>
                  <p:oleObj r:id="rId3" imgW="939392" imgH="21580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960"/>
                          <a:ext cx="1296" cy="302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0" name="AutoShape 13">
              <a:extLst>
                <a:ext uri="{FF2B5EF4-FFF2-40B4-BE49-F238E27FC236}">
                  <a16:creationId xmlns:a16="http://schemas.microsoft.com/office/drawing/2014/main" id="{4637DF75-7812-4543-8D02-DA6D06A05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960"/>
              <a:ext cx="96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9366AAD6-8030-4BDE-8A24-4A5682DC4EB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286000"/>
            <a:ext cx="2438400" cy="1143000"/>
            <a:chOff x="2160" y="1344"/>
            <a:chExt cx="1536" cy="720"/>
          </a:xfrm>
        </p:grpSpPr>
        <p:graphicFrame>
          <p:nvGraphicFramePr>
            <p:cNvPr id="16395" name="Object 15">
              <a:extLst>
                <a:ext uri="{FF2B5EF4-FFF2-40B4-BE49-F238E27FC236}">
                  <a16:creationId xmlns:a16="http://schemas.microsoft.com/office/drawing/2014/main" id="{474ED5D4-760F-46A7-8928-4F00E6CF21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1344"/>
            <a:ext cx="129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7" r:id="rId5" imgW="964781" imgH="215806" progId="Equation.3">
                    <p:embed/>
                  </p:oleObj>
                </mc:Choice>
                <mc:Fallback>
                  <p:oleObj r:id="rId5" imgW="964781" imgH="215806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344"/>
                          <a:ext cx="1296" cy="296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6" name="Object 16">
              <a:extLst>
                <a:ext uri="{FF2B5EF4-FFF2-40B4-BE49-F238E27FC236}">
                  <a16:creationId xmlns:a16="http://schemas.microsoft.com/office/drawing/2014/main" id="{467DCEC1-F0D6-4F66-9DCF-0FB76615C7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1728"/>
            <a:ext cx="129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8" r:id="rId7" imgW="952087" imgH="228501" progId="Equation.3">
                    <p:embed/>
                  </p:oleObj>
                </mc:Choice>
                <mc:Fallback>
                  <p:oleObj r:id="rId7" imgW="952087" imgH="228501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28"/>
                          <a:ext cx="1296" cy="336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7" name="AutoShape 17">
              <a:extLst>
                <a:ext uri="{FF2B5EF4-FFF2-40B4-BE49-F238E27FC236}">
                  <a16:creationId xmlns:a16="http://schemas.microsoft.com/office/drawing/2014/main" id="{ED6E77A6-F713-447A-A7D6-71F4E9CFB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344"/>
              <a:ext cx="96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398" name="AutoShape 18">
              <a:extLst>
                <a:ext uri="{FF2B5EF4-FFF2-40B4-BE49-F238E27FC236}">
                  <a16:creationId xmlns:a16="http://schemas.microsoft.com/office/drawing/2014/main" id="{F43EC1C9-F5DB-43C7-9FAC-F54DFC451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28"/>
              <a:ext cx="96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9955" name="Text Box 19">
            <a:extLst>
              <a:ext uri="{FF2B5EF4-FFF2-40B4-BE49-F238E27FC236}">
                <a16:creationId xmlns:a16="http://schemas.microsoft.com/office/drawing/2014/main" id="{8E2EDA92-B342-4701-A978-B48D36F4C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981075"/>
            <a:ext cx="2160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最优解同前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9956" name="Text Box 20">
            <a:extLst>
              <a:ext uri="{FF2B5EF4-FFF2-40B4-BE49-F238E27FC236}">
                <a16:creationId xmlns:a16="http://schemas.microsoft.com/office/drawing/2014/main" id="{10B081C1-F74C-41C2-9BCA-A324B7DA6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716338"/>
            <a:ext cx="4067175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一般地，整数规划和非线性规划的求解比线性规划困难得多，特别是问题规模较大或者要求得到全局最优解时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  <a:r>
              <a:rPr lang="en-US" altLang="zh-CN" sz="280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nimBg="1" autoUpdateAnimBg="0"/>
      <p:bldP spid="39939" grpId="0" animBg="1" autoUpdateAnimBg="0"/>
      <p:bldP spid="39940" grpId="0" animBg="1" autoUpdateAnimBg="0"/>
      <p:bldP spid="39943" grpId="0" animBg="1" autoUpdateAnimBg="0"/>
      <p:bldP spid="39955" grpId="0" animBg="1" autoUpdateAnimBg="0"/>
      <p:bldP spid="39956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6BA1F1BD-A5D3-4723-991F-9890B1F56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20713"/>
            <a:ext cx="32766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汽车厂生产计划 </a:t>
            </a:r>
            <a:endParaRPr lang="zh-CN" altLang="en-US" sz="32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411" name="Object 5">
            <a:extLst>
              <a:ext uri="{FF2B5EF4-FFF2-40B4-BE49-F238E27FC236}">
                <a16:creationId xmlns:a16="http://schemas.microsoft.com/office/drawing/2014/main" id="{FCB970E2-9435-47A4-882F-58D613671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581025"/>
          <a:ext cx="129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Clip" r:id="rId3" imgW="952179" imgH="449239" progId="MS_ClipArt_Gallery.2">
                  <p:embed/>
                </p:oleObj>
              </mc:Choice>
              <mc:Fallback>
                <p:oleObj name="Clip" r:id="rId3" imgW="952179" imgH="449239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81025"/>
                        <a:ext cx="129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6" name="Text Box 6">
            <a:extLst>
              <a:ext uri="{FF2B5EF4-FFF2-40B4-BE49-F238E27FC236}">
                <a16:creationId xmlns:a16="http://schemas.microsoft.com/office/drawing/2014/main" id="{923ABF36-6DF7-44A5-9FA0-4C96FD418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557338"/>
            <a:ext cx="676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决策变量为整数</a:t>
            </a:r>
            <a:r>
              <a:rPr lang="en-US" altLang="zh-CN" sz="2800" b="1"/>
              <a:t>, </a:t>
            </a:r>
            <a:r>
              <a:rPr lang="zh-CN" altLang="en-US" sz="2800" b="1"/>
              <a:t>建立</a:t>
            </a:r>
            <a:r>
              <a:rPr lang="zh-CN" altLang="en-US" sz="2800" b="1">
                <a:solidFill>
                  <a:srgbClr val="FF0000"/>
                </a:solidFill>
              </a:rPr>
              <a:t>整数规划模型</a:t>
            </a:r>
            <a:r>
              <a:rPr lang="en-US" altLang="zh-CN" sz="2800" b="1"/>
              <a:t>.</a:t>
            </a:r>
          </a:p>
        </p:txBody>
      </p:sp>
      <p:sp>
        <p:nvSpPr>
          <p:cNvPr id="92167" name="Text Box 7">
            <a:extLst>
              <a:ext uri="{FF2B5EF4-FFF2-40B4-BE49-F238E27FC236}">
                <a16:creationId xmlns:a16="http://schemas.microsoft.com/office/drawing/2014/main" id="{C6E31A37-4876-473C-8C3F-F8261AECB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205038"/>
            <a:ext cx="67691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求解整数规划和非线性规划比线性规划困难得多 </a:t>
            </a:r>
            <a:r>
              <a:rPr lang="en-US" altLang="zh-CN" sz="2800" b="1"/>
              <a:t>(</a:t>
            </a:r>
            <a:r>
              <a:rPr lang="zh-CN" altLang="en-US" sz="2800" b="1"/>
              <a:t>即便用数学软件</a:t>
            </a:r>
            <a:r>
              <a:rPr lang="en-US" altLang="zh-CN" sz="2800" b="1"/>
              <a:t>) .</a:t>
            </a:r>
          </a:p>
        </p:txBody>
      </p:sp>
      <p:sp>
        <p:nvSpPr>
          <p:cNvPr id="92168" name="Text Box 8">
            <a:extLst>
              <a:ext uri="{FF2B5EF4-FFF2-40B4-BE49-F238E27FC236}">
                <a16:creationId xmlns:a16="http://schemas.microsoft.com/office/drawing/2014/main" id="{59C88E40-D85E-4BAE-8A33-7F7148BAA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429000"/>
            <a:ext cx="67691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当整数变量取值很大时</a:t>
            </a:r>
            <a:r>
              <a:rPr lang="en-US" altLang="zh-CN" sz="2800" b="1"/>
              <a:t>, </a:t>
            </a:r>
            <a:r>
              <a:rPr lang="zh-CN" altLang="en-US" sz="2800" b="1"/>
              <a:t>可作为连续变量处理</a:t>
            </a:r>
            <a:r>
              <a:rPr lang="en-US" altLang="zh-CN" sz="2800" b="1"/>
              <a:t>, </a:t>
            </a:r>
            <a:r>
              <a:rPr lang="zh-CN" altLang="en-US" sz="2800" b="1"/>
              <a:t>问题</a:t>
            </a:r>
            <a:r>
              <a:rPr lang="zh-CN" altLang="en-US" sz="2800" b="1">
                <a:solidFill>
                  <a:srgbClr val="FF0000"/>
                </a:solidFill>
              </a:rPr>
              <a:t>简化为线性规划</a:t>
            </a:r>
            <a:r>
              <a:rPr lang="en-US" altLang="zh-CN" sz="2800" b="1"/>
              <a:t>. </a:t>
            </a:r>
          </a:p>
        </p:txBody>
      </p:sp>
      <p:sp>
        <p:nvSpPr>
          <p:cNvPr id="92169" name="Text Box 9">
            <a:extLst>
              <a:ext uri="{FF2B5EF4-FFF2-40B4-BE49-F238E27FC236}">
                <a16:creationId xmlns:a16="http://schemas.microsoft.com/office/drawing/2014/main" id="{A5F42F65-5F9E-4644-B803-EFC76F02F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652963"/>
            <a:ext cx="7272337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 i="1"/>
              <a:t> </a:t>
            </a:r>
            <a:r>
              <a:rPr lang="zh-CN" altLang="en-US" sz="2800" b="1"/>
              <a:t>对于类似于“</a:t>
            </a:r>
            <a:r>
              <a:rPr lang="en-US" altLang="zh-CN" sz="2800" b="1" i="1"/>
              <a:t>x</a:t>
            </a:r>
            <a:r>
              <a:rPr lang="en-US" altLang="zh-CN" sz="2800" b="1"/>
              <a:t>=0 </a:t>
            </a:r>
            <a:r>
              <a:rPr lang="zh-CN" altLang="en-US" sz="2800" b="1">
                <a:latin typeface="宋体" panose="02010600030101010101" pitchFamily="2" charset="-122"/>
              </a:rPr>
              <a:t>或</a:t>
            </a:r>
            <a:r>
              <a:rPr lang="zh-CN" altLang="en-US" sz="2800" b="1"/>
              <a:t> </a:t>
            </a:r>
            <a:r>
              <a:rPr lang="zh-CN" altLang="en-US" sz="2800" b="1">
                <a:sym typeface="Symbol" panose="05050102010706020507" pitchFamily="18" charset="2"/>
              </a:rPr>
              <a:t></a:t>
            </a:r>
            <a:r>
              <a:rPr lang="en-US" altLang="zh-CN" sz="2800" b="1"/>
              <a:t>80”</a:t>
            </a:r>
            <a:r>
              <a:rPr lang="zh-CN" altLang="en-US" sz="2800" b="1"/>
              <a:t>这样的条件，通常</a:t>
            </a:r>
            <a:r>
              <a:rPr lang="zh-CN" altLang="en-US" sz="2800" b="1">
                <a:solidFill>
                  <a:srgbClr val="FF0000"/>
                </a:solidFill>
              </a:rPr>
              <a:t>引入</a:t>
            </a:r>
            <a:r>
              <a:rPr lang="en-US" altLang="zh-CN" sz="2800" b="1">
                <a:solidFill>
                  <a:srgbClr val="FF0000"/>
                </a:solidFill>
              </a:rPr>
              <a:t>0-1</a:t>
            </a:r>
            <a:r>
              <a:rPr lang="zh-CN" altLang="en-US" sz="2800" b="1">
                <a:solidFill>
                  <a:srgbClr val="FF0000"/>
                </a:solidFill>
              </a:rPr>
              <a:t>变量</a:t>
            </a:r>
            <a:r>
              <a:rPr lang="zh-CN" altLang="en-US" sz="2800" b="1"/>
              <a:t>处理，尽量不用非线性规划（特别是引入的整数变量个数较少时）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6" grpId="0"/>
      <p:bldP spid="92167" grpId="0"/>
      <p:bldP spid="92168" grpId="0"/>
      <p:bldP spid="921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4E032D98-9B98-41E2-A478-7200C6732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791200"/>
            <a:ext cx="8534400" cy="58261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应如何安排原油的采购和加工</a:t>
            </a:r>
            <a:r>
              <a:rPr lang="zh-CN" altLang="en-US" sz="2800" b="1"/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？</a:t>
            </a:r>
            <a:r>
              <a:rPr lang="zh-CN" altLang="en-US" sz="2800" b="1"/>
              <a:t>  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5391785-1BEA-48D9-82F4-E8E953C951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0850"/>
            <a:ext cx="4114800" cy="67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accent2"/>
                </a:solidFill>
                <a:ea typeface="楷体_GB2312" pitchFamily="49" charset="-122"/>
              </a:rPr>
              <a:t>2   </a:t>
            </a:r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原油采购与加工 </a:t>
            </a:r>
            <a:endParaRPr lang="zh-CN" altLang="en-US" sz="320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9F670DBF-9713-4DA3-BADD-76C5990D3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2997200"/>
            <a:ext cx="8353425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宋体" panose="02010600030101010101" pitchFamily="2" charset="-122"/>
              </a:rPr>
              <a:t>市场上可买到不超过</a:t>
            </a:r>
            <a:r>
              <a:rPr lang="en-US" altLang="zh-CN" sz="2800" b="1"/>
              <a:t>1500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的原油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：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>
                <a:latin typeface="宋体" panose="02010600030101010101" pitchFamily="2" charset="-122"/>
              </a:rPr>
              <a:t> 购买量不超过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时的单价为</a:t>
            </a:r>
            <a:r>
              <a:rPr lang="en-US" altLang="zh-CN" sz="2800" b="1"/>
              <a:t>10000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r>
              <a:rPr lang="zh-CN" altLang="en-US" sz="2800" b="1">
                <a:latin typeface="宋体" panose="02010600030101010101" pitchFamily="2" charset="-122"/>
              </a:rPr>
              <a:t>；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>
                <a:latin typeface="宋体" panose="02010600030101010101" pitchFamily="2" charset="-122"/>
              </a:rPr>
              <a:t> 购买量超过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但不超过</a:t>
            </a:r>
            <a:r>
              <a:rPr lang="en-US" altLang="zh-CN" sz="2800" b="1"/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时，超过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的       部分</a:t>
            </a:r>
            <a:r>
              <a:rPr lang="en-US" altLang="zh-CN" sz="2800" b="1"/>
              <a:t>8000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r>
              <a:rPr lang="zh-CN" altLang="en-US" sz="2800" b="1">
                <a:latin typeface="宋体" panose="02010600030101010101" pitchFamily="2" charset="-122"/>
              </a:rPr>
              <a:t>；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>
                <a:latin typeface="宋体" panose="02010600030101010101" pitchFamily="2" charset="-122"/>
              </a:rPr>
              <a:t> 购买量超过</a:t>
            </a:r>
            <a:r>
              <a:rPr lang="en-US" altLang="zh-CN" sz="2800" b="1"/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时，超过</a:t>
            </a:r>
            <a:r>
              <a:rPr lang="en-US" altLang="zh-CN" sz="2800" b="1"/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的部分</a:t>
            </a:r>
            <a:r>
              <a:rPr lang="en-US" altLang="zh-CN" sz="2800" b="1"/>
              <a:t>6000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/t.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F04A5915-8013-47C6-A6B5-5DE8748358CE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125538"/>
            <a:ext cx="2438400" cy="1600200"/>
            <a:chOff x="4128" y="576"/>
            <a:chExt cx="1536" cy="1008"/>
          </a:xfrm>
        </p:grpSpPr>
        <p:sp>
          <p:nvSpPr>
            <p:cNvPr id="18450" name="Text Box 6">
              <a:extLst>
                <a:ext uri="{FF2B5EF4-FFF2-40B4-BE49-F238E27FC236}">
                  <a16:creationId xmlns:a16="http://schemas.microsoft.com/office/drawing/2014/main" id="{2DF32237-F519-4650-8425-04F73E3E5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576"/>
              <a:ext cx="1536" cy="327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售价</a:t>
              </a:r>
              <a:r>
                <a:rPr lang="en-US" altLang="zh-CN" sz="2800" b="1"/>
                <a:t>4800</a:t>
              </a:r>
              <a:r>
                <a:rPr lang="zh-CN" altLang="en-US" sz="2800" b="1"/>
                <a:t>元</a:t>
              </a:r>
              <a:r>
                <a:rPr lang="en-US" altLang="zh-CN" sz="2800" b="1"/>
                <a:t>/t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18451" name="Text Box 7">
              <a:extLst>
                <a:ext uri="{FF2B5EF4-FFF2-40B4-BE49-F238E27FC236}">
                  <a16:creationId xmlns:a16="http://schemas.microsoft.com/office/drawing/2014/main" id="{0F24C3A0-3D02-49F9-AC68-4FBC6294E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257"/>
              <a:ext cx="1536" cy="327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售价</a:t>
              </a:r>
              <a:r>
                <a:rPr lang="en-US" altLang="zh-CN" sz="2800" b="1"/>
                <a:t>5600</a:t>
              </a:r>
              <a:r>
                <a:rPr lang="zh-CN" altLang="en-US" sz="2800" b="1"/>
                <a:t>元</a:t>
              </a:r>
              <a:r>
                <a:rPr lang="en-US" altLang="zh-CN" sz="2800" b="1"/>
                <a:t>/t</a:t>
              </a:r>
              <a:endParaRPr lang="zh-CN" altLang="en-US" sz="2800" b="1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460657FD-BCD7-49C1-B746-C51B34261357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341438"/>
            <a:ext cx="1981200" cy="1295400"/>
            <a:chOff x="48" y="720"/>
            <a:chExt cx="1248" cy="816"/>
          </a:xfrm>
        </p:grpSpPr>
        <p:sp>
          <p:nvSpPr>
            <p:cNvPr id="18448" name="Text Box 9">
              <a:extLst>
                <a:ext uri="{FF2B5EF4-FFF2-40B4-BE49-F238E27FC236}">
                  <a16:creationId xmlns:a16="http://schemas.microsoft.com/office/drawing/2014/main" id="{B6EAC1EF-2E02-4C52-8D35-740FEF446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720"/>
              <a:ext cx="1152" cy="327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库存</a:t>
              </a:r>
              <a:r>
                <a:rPr lang="en-US" altLang="zh-CN" sz="2800" b="1"/>
                <a:t>500t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18449" name="Text Box 10">
              <a:extLst>
                <a:ext uri="{FF2B5EF4-FFF2-40B4-BE49-F238E27FC236}">
                  <a16:creationId xmlns:a16="http://schemas.microsoft.com/office/drawing/2014/main" id="{8C47D92F-793B-4BBF-8711-EDA0A7877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1209"/>
              <a:ext cx="1248" cy="327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库存</a:t>
              </a:r>
              <a:r>
                <a:rPr lang="en-US" altLang="zh-CN" sz="2800" b="1"/>
                <a:t>1000t</a:t>
              </a:r>
              <a:r>
                <a:rPr lang="zh-CN" altLang="en-US" sz="2800" b="1"/>
                <a:t> </a:t>
              </a:r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89C8A044-7324-448E-827C-375BFDF86919}"/>
              </a:ext>
            </a:extLst>
          </p:cNvPr>
          <p:cNvGrpSpPr>
            <a:grpSpLocks/>
          </p:cNvGrpSpPr>
          <p:nvPr/>
        </p:nvGrpSpPr>
        <p:grpSpPr bwMode="auto">
          <a:xfrm>
            <a:off x="2016125" y="981075"/>
            <a:ext cx="4460875" cy="2022475"/>
            <a:chOff x="1270" y="480"/>
            <a:chExt cx="2810" cy="1274"/>
          </a:xfrm>
        </p:grpSpPr>
        <p:sp>
          <p:nvSpPr>
            <p:cNvPr id="18440" name="Text Box 12">
              <a:extLst>
                <a:ext uri="{FF2B5EF4-FFF2-40B4-BE49-F238E27FC236}">
                  <a16:creationId xmlns:a16="http://schemas.microsoft.com/office/drawing/2014/main" id="{1C7F527D-0E30-4D99-8774-F93127059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480"/>
              <a:ext cx="1104" cy="6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/>
                <a:t>汽油甲</a:t>
              </a:r>
              <a:r>
                <a:rPr lang="en-US" altLang="zh-CN" sz="2800" b="1"/>
                <a:t>(A</a:t>
              </a:r>
              <a:r>
                <a:rPr lang="en-US" altLang="zh-CN" sz="2800" b="1">
                  <a:sym typeface="Symbol" panose="05050102010706020507" pitchFamily="18" charset="2"/>
                </a:rPr>
                <a:t></a:t>
              </a:r>
              <a:r>
                <a:rPr lang="en-US" altLang="zh-CN" sz="2800" b="1"/>
                <a:t>50%) </a:t>
              </a:r>
            </a:p>
          </p:txBody>
        </p:sp>
        <p:sp>
          <p:nvSpPr>
            <p:cNvPr id="18441" name="Line 13">
              <a:extLst>
                <a:ext uri="{FF2B5EF4-FFF2-40B4-BE49-F238E27FC236}">
                  <a16:creationId xmlns:a16="http://schemas.microsoft.com/office/drawing/2014/main" id="{3C4C25A2-594C-4C0B-A17E-A2099467D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912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Line 14">
              <a:extLst>
                <a:ext uri="{FF2B5EF4-FFF2-40B4-BE49-F238E27FC236}">
                  <a16:creationId xmlns:a16="http://schemas.microsoft.com/office/drawing/2014/main" id="{79A43B42-0083-40CF-8E4F-3B485EC93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139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Text Box 15">
              <a:extLst>
                <a:ext uri="{FF2B5EF4-FFF2-40B4-BE49-F238E27FC236}">
                  <a16:creationId xmlns:a16="http://schemas.microsoft.com/office/drawing/2014/main" id="{4D9DA529-51C1-475C-AA32-EEC55A7C7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720"/>
              <a:ext cx="794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原油</a:t>
              </a:r>
              <a:r>
                <a:rPr lang="en-US" altLang="zh-CN" sz="2800" b="1"/>
                <a:t>A </a:t>
              </a:r>
            </a:p>
          </p:txBody>
        </p:sp>
        <p:sp>
          <p:nvSpPr>
            <p:cNvPr id="18444" name="Text Box 16">
              <a:extLst>
                <a:ext uri="{FF2B5EF4-FFF2-40B4-BE49-F238E27FC236}">
                  <a16:creationId xmlns:a16="http://schemas.microsoft.com/office/drawing/2014/main" id="{C7D88946-14DC-4C1B-B414-B13A0283C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1200"/>
              <a:ext cx="794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原油</a:t>
              </a:r>
              <a:r>
                <a:rPr lang="en-US" altLang="zh-CN" sz="2800" b="1"/>
                <a:t>B </a:t>
              </a:r>
            </a:p>
          </p:txBody>
        </p:sp>
        <p:sp>
          <p:nvSpPr>
            <p:cNvPr id="18445" name="Line 17">
              <a:extLst>
                <a:ext uri="{FF2B5EF4-FFF2-40B4-BE49-F238E27FC236}">
                  <a16:creationId xmlns:a16="http://schemas.microsoft.com/office/drawing/2014/main" id="{DFA33F5E-4F7F-4F8D-9CBC-BA0A0FB416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912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18">
              <a:extLst>
                <a:ext uri="{FF2B5EF4-FFF2-40B4-BE49-F238E27FC236}">
                  <a16:creationId xmlns:a16="http://schemas.microsoft.com/office/drawing/2014/main" id="{BBF735FA-23D6-4A83-A35E-D883A1282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86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Text Box 19">
              <a:extLst>
                <a:ext uri="{FF2B5EF4-FFF2-40B4-BE49-F238E27FC236}">
                  <a16:creationId xmlns:a16="http://schemas.microsoft.com/office/drawing/2014/main" id="{1438F7EF-9DC2-463A-8064-5AF5A488F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152"/>
              <a:ext cx="1104" cy="6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/>
                <a:t>汽油乙 </a:t>
              </a:r>
              <a:r>
                <a:rPr lang="en-US" altLang="zh-CN" sz="2800" b="1"/>
                <a:t>(A</a:t>
              </a:r>
              <a:r>
                <a:rPr lang="en-US" altLang="zh-CN" sz="2800" b="1">
                  <a:sym typeface="Symbol" panose="05050102010706020507" pitchFamily="18" charset="2"/>
                </a:rPr>
                <a:t></a:t>
              </a:r>
              <a:r>
                <a:rPr lang="en-US" altLang="zh-CN" sz="2800" b="1"/>
                <a:t>60%)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96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nimBg="1" autoUpdateAnimBg="0"/>
      <p:bldP spid="40964" grpId="0" build="p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>
            <a:extLst>
              <a:ext uri="{FF2B5EF4-FFF2-40B4-BE49-F238E27FC236}">
                <a16:creationId xmlns:a16="http://schemas.microsoft.com/office/drawing/2014/main" id="{61B12ED4-B6C1-45E3-8FC8-A5EF02942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843088"/>
            <a:ext cx="1143000" cy="10668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决策变量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58663911-1EA1-40F7-8959-DA6BAE90F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976688"/>
            <a:ext cx="12192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目标函数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27C252DC-433F-43F4-892E-0381CEC1A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15938"/>
            <a:ext cx="1143000" cy="10668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问题分析 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38EBDDB9-4111-469B-9202-585211CD6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71488"/>
            <a:ext cx="74676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利润：销售汽油的收入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2800" b="1">
                <a:latin typeface="宋体" panose="02010600030101010101" pitchFamily="2" charset="-122"/>
              </a:rPr>
              <a:t>购买原油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的支出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难点：原油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的购价与购买量的关系较复杂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41990" name="Object 6">
            <a:extLst>
              <a:ext uri="{FF2B5EF4-FFF2-40B4-BE49-F238E27FC236}">
                <a16:creationId xmlns:a16="http://schemas.microsoft.com/office/drawing/2014/main" id="{B054236A-8324-4C62-A8AB-2B29F08313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1300" y="5043488"/>
          <a:ext cx="700563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5" name="公式" r:id="rId3" imgW="2692400" imgH="215900" progId="Equation.3">
                  <p:embed/>
                </p:oleObj>
              </mc:Choice>
              <mc:Fallback>
                <p:oleObj name="公式" r:id="rId3" imgW="26924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5043488"/>
                        <a:ext cx="7005638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4D7EFD36-B6A1-4BF1-A7B5-3F416393D616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376488"/>
            <a:ext cx="5715000" cy="1676400"/>
            <a:chOff x="816" y="1632"/>
            <a:chExt cx="3600" cy="1056"/>
          </a:xfrm>
        </p:grpSpPr>
        <p:sp>
          <p:nvSpPr>
            <p:cNvPr id="19471" name="Text Box 8">
              <a:extLst>
                <a:ext uri="{FF2B5EF4-FFF2-40B4-BE49-F238E27FC236}">
                  <a16:creationId xmlns:a16="http://schemas.microsoft.com/office/drawing/2014/main" id="{C6BCE263-3367-4B51-8A56-79C7696EB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779"/>
              <a:ext cx="1296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/>
                <a:t>甲</a:t>
              </a:r>
              <a:r>
                <a:rPr lang="en-US" altLang="zh-CN" sz="2800" b="1"/>
                <a:t>(A</a:t>
              </a:r>
              <a:r>
                <a:rPr lang="en-US" altLang="zh-CN" sz="2800" b="1">
                  <a:sym typeface="Symbol" panose="05050102010706020507" pitchFamily="18" charset="2"/>
                </a:rPr>
                <a:t></a:t>
              </a:r>
              <a:r>
                <a:rPr lang="en-US" altLang="zh-CN" sz="2800" b="1"/>
                <a:t>50%) </a:t>
              </a:r>
            </a:p>
          </p:txBody>
        </p:sp>
        <p:sp>
          <p:nvSpPr>
            <p:cNvPr id="19472" name="Line 9">
              <a:extLst>
                <a:ext uri="{FF2B5EF4-FFF2-40B4-BE49-F238E27FC236}">
                  <a16:creationId xmlns:a16="http://schemas.microsoft.com/office/drawing/2014/main" id="{2AD0E588-6C3C-4991-A650-FAA753423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90"/>
              <a:ext cx="110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10">
              <a:extLst>
                <a:ext uri="{FF2B5EF4-FFF2-40B4-BE49-F238E27FC236}">
                  <a16:creationId xmlns:a16="http://schemas.microsoft.com/office/drawing/2014/main" id="{35C9D001-3BFB-43BA-A0AB-F6DD7AAC3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47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Text Box 11">
              <a:extLst>
                <a:ext uri="{FF2B5EF4-FFF2-40B4-BE49-F238E27FC236}">
                  <a16:creationId xmlns:a16="http://schemas.microsoft.com/office/drawing/2014/main" id="{D279B638-7A10-4318-8ED7-2361FDAA3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98"/>
              <a:ext cx="288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A </a:t>
              </a:r>
            </a:p>
          </p:txBody>
        </p:sp>
        <p:sp>
          <p:nvSpPr>
            <p:cNvPr id="19475" name="Text Box 12">
              <a:extLst>
                <a:ext uri="{FF2B5EF4-FFF2-40B4-BE49-F238E27FC236}">
                  <a16:creationId xmlns:a16="http://schemas.microsoft.com/office/drawing/2014/main" id="{2CB10B06-129F-47EC-9D54-19F4CD856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278"/>
              <a:ext cx="288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B </a:t>
              </a:r>
            </a:p>
          </p:txBody>
        </p:sp>
        <p:sp>
          <p:nvSpPr>
            <p:cNvPr id="19476" name="Line 13">
              <a:extLst>
                <a:ext uri="{FF2B5EF4-FFF2-40B4-BE49-F238E27FC236}">
                  <a16:creationId xmlns:a16="http://schemas.microsoft.com/office/drawing/2014/main" id="{29B15C9F-C941-4B8C-8041-FCA752A7A6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942"/>
              <a:ext cx="110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7" name="Line 14">
              <a:extLst>
                <a:ext uri="{FF2B5EF4-FFF2-40B4-BE49-F238E27FC236}">
                  <a16:creationId xmlns:a16="http://schemas.microsoft.com/office/drawing/2014/main" id="{EB0468BF-FC0E-424A-AC82-0A6CE9D19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42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Text Box 15">
              <a:extLst>
                <a:ext uri="{FF2B5EF4-FFF2-40B4-BE49-F238E27FC236}">
                  <a16:creationId xmlns:a16="http://schemas.microsoft.com/office/drawing/2014/main" id="{3B09E432-FA8A-4208-9464-02BE76451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307"/>
              <a:ext cx="1296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/>
                <a:t>乙</a:t>
              </a:r>
              <a:r>
                <a:rPr lang="en-US" altLang="zh-CN" sz="2800" b="1"/>
                <a:t>(A</a:t>
              </a:r>
              <a:r>
                <a:rPr lang="en-US" altLang="zh-CN" sz="2800" b="1">
                  <a:sym typeface="Symbol" panose="05050102010706020507" pitchFamily="18" charset="2"/>
                </a:rPr>
                <a:t></a:t>
              </a:r>
              <a:r>
                <a:rPr lang="en-US" altLang="zh-CN" sz="2800" b="1"/>
                <a:t>60%) </a:t>
              </a:r>
            </a:p>
          </p:txBody>
        </p:sp>
        <p:sp>
          <p:nvSpPr>
            <p:cNvPr id="19479" name="Text Box 16">
              <a:extLst>
                <a:ext uri="{FF2B5EF4-FFF2-40B4-BE49-F238E27FC236}">
                  <a16:creationId xmlns:a16="http://schemas.microsoft.com/office/drawing/2014/main" id="{2B4FF6C6-3EAE-4A44-84DA-97D22EF16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824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购买</a:t>
              </a:r>
              <a:r>
                <a:rPr lang="en-US" altLang="zh-CN" sz="2800" b="1" i="1">
                  <a:solidFill>
                    <a:srgbClr val="FF3300"/>
                  </a:solidFill>
                </a:rPr>
                <a:t>x</a:t>
              </a:r>
              <a:r>
                <a:rPr lang="en-US" altLang="zh-CN" sz="2800" b="1">
                  <a:sym typeface="Symbol" panose="05050102010706020507" pitchFamily="18" charset="2"/>
                </a:rPr>
                <a:t></a:t>
              </a:r>
              <a:endParaRPr lang="en-US" altLang="zh-CN" sz="2800" b="1"/>
            </a:p>
          </p:txBody>
        </p:sp>
        <p:sp>
          <p:nvSpPr>
            <p:cNvPr id="19480" name="Text Box 17">
              <a:extLst>
                <a:ext uri="{FF2B5EF4-FFF2-40B4-BE49-F238E27FC236}">
                  <a16:creationId xmlns:a16="http://schemas.microsoft.com/office/drawing/2014/main" id="{8C6168E7-0F57-42CC-8D7E-D212041FD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63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11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19481" name="Text Box 18">
              <a:extLst>
                <a:ext uri="{FF2B5EF4-FFF2-40B4-BE49-F238E27FC236}">
                  <a16:creationId xmlns:a16="http://schemas.microsoft.com/office/drawing/2014/main" id="{E833934F-0AE9-429A-A875-BF7DC0718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87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12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19482" name="Text Box 19">
              <a:extLst>
                <a:ext uri="{FF2B5EF4-FFF2-40B4-BE49-F238E27FC236}">
                  <a16:creationId xmlns:a16="http://schemas.microsoft.com/office/drawing/2014/main" id="{22A96B96-11A9-4BB4-BEB1-F6BECE48D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06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21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19483" name="Text Box 20">
              <a:extLst>
                <a:ext uri="{FF2B5EF4-FFF2-40B4-BE49-F238E27FC236}">
                  <a16:creationId xmlns:a16="http://schemas.microsoft.com/office/drawing/2014/main" id="{23AE2C4F-2E13-4328-92E0-858D0897D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40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22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C4A83467-FD03-4915-8CF7-0164A00F1745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2605088"/>
            <a:ext cx="1987550" cy="1357312"/>
            <a:chOff x="4464" y="1488"/>
            <a:chExt cx="1252" cy="855"/>
          </a:xfrm>
        </p:grpSpPr>
        <p:sp>
          <p:nvSpPr>
            <p:cNvPr id="19469" name="Text Box 22">
              <a:extLst>
                <a:ext uri="{FF2B5EF4-FFF2-40B4-BE49-F238E27FC236}">
                  <a16:creationId xmlns:a16="http://schemas.microsoft.com/office/drawing/2014/main" id="{46CD8627-724A-492C-9119-781193E19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488"/>
              <a:ext cx="1252" cy="327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4.8</a:t>
              </a:r>
              <a:r>
                <a:rPr lang="zh-CN" altLang="en-US" sz="2800" b="1"/>
                <a:t>千元</a:t>
              </a:r>
              <a:r>
                <a:rPr lang="en-US" altLang="zh-CN" sz="2800" b="1"/>
                <a:t>/t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19470" name="Text Box 23">
              <a:extLst>
                <a:ext uri="{FF2B5EF4-FFF2-40B4-BE49-F238E27FC236}">
                  <a16:creationId xmlns:a16="http://schemas.microsoft.com/office/drawing/2014/main" id="{E47C3368-C0F8-4736-8C4D-8FF44FF45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016"/>
              <a:ext cx="1248" cy="327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5.6</a:t>
              </a:r>
              <a:r>
                <a:rPr lang="zh-CN" altLang="en-US" sz="2800" b="1"/>
                <a:t>千元</a:t>
              </a:r>
              <a:r>
                <a:rPr lang="en-US" altLang="zh-CN" sz="2800" b="1"/>
                <a:t>/t</a:t>
              </a:r>
              <a:endParaRPr lang="zh-CN" altLang="en-US" sz="2800" b="1"/>
            </a:p>
          </p:txBody>
        </p:sp>
      </p:grpSp>
      <p:sp>
        <p:nvSpPr>
          <p:cNvPr id="42008" name="Text Box 24">
            <a:extLst>
              <a:ext uri="{FF2B5EF4-FFF2-40B4-BE49-F238E27FC236}">
                <a16:creationId xmlns:a16="http://schemas.microsoft.com/office/drawing/2014/main" id="{01AE1088-CC81-4D5F-A421-4E50EB95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843088"/>
            <a:ext cx="762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的购买量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原油</a:t>
            </a:r>
            <a:r>
              <a:rPr lang="en-US" altLang="zh-CN" sz="2800" b="1"/>
              <a:t>A, B</a:t>
            </a:r>
            <a:r>
              <a:rPr lang="zh-CN" altLang="en-US" sz="2800" b="1"/>
              <a:t>生产</a:t>
            </a:r>
            <a:r>
              <a:rPr lang="zh-CN" altLang="en-US" sz="2800" b="1">
                <a:latin typeface="宋体" panose="02010600030101010101" pitchFamily="2" charset="-122"/>
              </a:rPr>
              <a:t>汽油</a:t>
            </a:r>
            <a:r>
              <a:rPr lang="zh-CN" altLang="en-US" sz="2800" b="1"/>
              <a:t>甲</a:t>
            </a:r>
            <a:r>
              <a:rPr lang="en-US" altLang="zh-CN" sz="2800" b="1"/>
              <a:t>,</a:t>
            </a:r>
            <a:r>
              <a:rPr lang="zh-CN" altLang="en-US" sz="2800" b="1"/>
              <a:t>乙的数量</a:t>
            </a:r>
          </a:p>
        </p:txBody>
      </p:sp>
      <p:sp>
        <p:nvSpPr>
          <p:cNvPr id="42009" name="Text Box 25">
            <a:extLst>
              <a:ext uri="{FF2B5EF4-FFF2-40B4-BE49-F238E27FC236}">
                <a16:creationId xmlns:a16="http://schemas.microsoft.com/office/drawing/2014/main" id="{3B81EA31-AF8B-469C-8CEF-D8A53E22E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3576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 ~ </a:t>
            </a:r>
            <a:r>
              <a:rPr lang="zh-CN" altLang="en-US" sz="2800" b="1">
                <a:latin typeface="宋体" panose="02010600030101010101" pitchFamily="2" charset="-122"/>
              </a:rPr>
              <a:t>购买原油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的支出</a:t>
            </a:r>
          </a:p>
        </p:txBody>
      </p:sp>
      <p:sp>
        <p:nvSpPr>
          <p:cNvPr id="42010" name="Text Box 26">
            <a:extLst>
              <a:ext uri="{FF2B5EF4-FFF2-40B4-BE49-F238E27FC236}">
                <a16:creationId xmlns:a16="http://schemas.microsoft.com/office/drawing/2014/main" id="{41276E48-C504-47FE-9B3E-3C8B362FF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2814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ea typeface="楷体_GB2312" pitchFamily="49" charset="-122"/>
              </a:rPr>
              <a:t>利润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zh-CN" altLang="en-US" sz="2800" b="1">
                <a:ea typeface="楷体_GB2312" pitchFamily="49" charset="-122"/>
              </a:rPr>
              <a:t>千元</a:t>
            </a:r>
            <a:r>
              <a:rPr lang="en-US" altLang="zh-CN" sz="2800" b="1">
                <a:ea typeface="楷体_GB2312" pitchFamily="49" charset="-122"/>
              </a:rPr>
              <a:t>)</a:t>
            </a:r>
            <a:endParaRPr lang="en-US" altLang="zh-CN" sz="2800"/>
          </a:p>
        </p:txBody>
      </p:sp>
      <p:sp>
        <p:nvSpPr>
          <p:cNvPr id="13324" name="Text Box 27">
            <a:extLst>
              <a:ext uri="{FF2B5EF4-FFF2-40B4-BE49-F238E27FC236}">
                <a16:creationId xmlns:a16="http://schemas.microsoft.com/office/drawing/2014/main" id="{1BDD7140-63CE-4180-BF7B-36BCA6CEE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805488"/>
            <a:ext cx="2732088" cy="528637"/>
          </a:xfrm>
          <a:prstGeom prst="rect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如何表述？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 autoUpdateAnimBg="0"/>
      <p:bldP spid="41987" grpId="0" animBg="1" autoUpdateAnimBg="0"/>
      <p:bldP spid="41989" grpId="0" build="p" autoUpdateAnimBg="0"/>
      <p:bldP spid="42008" grpId="0" autoUpdateAnimBg="0"/>
      <p:bldP spid="42009" grpId="0" autoUpdateAnimBg="0"/>
      <p:bldP spid="42010" grpId="0" autoUpdateAnimBg="0"/>
      <p:bldP spid="13324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709CB52E-E5E9-422C-B175-286769669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9624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原油供应</a:t>
            </a:r>
            <a:r>
              <a:rPr lang="zh-CN" altLang="en-US" sz="2800"/>
              <a:t> 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1AA9F1CD-6A48-4116-AF3A-9AAF3796A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0"/>
            <a:ext cx="10668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约束条件</a:t>
            </a:r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B7A8C175-7831-47F4-94A9-B4404F969B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4572000"/>
          <a:ext cx="28956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r:id="rId3" imgW="1155199" imgH="215806" progId="Equation.3">
                  <p:embed/>
                </p:oleObj>
              </mc:Choice>
              <mc:Fallback>
                <p:oleObj r:id="rId3" imgW="1155199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572000"/>
                        <a:ext cx="28956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>
            <a:extLst>
              <a:ext uri="{FF2B5EF4-FFF2-40B4-BE49-F238E27FC236}">
                <a16:creationId xmlns:a16="http://schemas.microsoft.com/office/drawing/2014/main" id="{7A626433-4423-4F5C-A23C-C55F171741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5233988"/>
          <a:ext cx="25908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r:id="rId5" imgW="1015559" imgH="215806" progId="Equation.3">
                  <p:embed/>
                </p:oleObj>
              </mc:Choice>
              <mc:Fallback>
                <p:oleObj r:id="rId5" imgW="1015559" imgH="2158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233988"/>
                        <a:ext cx="25908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>
            <a:extLst>
              <a:ext uri="{FF2B5EF4-FFF2-40B4-BE49-F238E27FC236}">
                <a16:creationId xmlns:a16="http://schemas.microsoft.com/office/drawing/2014/main" id="{1F8DD814-746B-4C4A-99BC-5FC096DFD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58674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Equation" r:id="rId7" imgW="558558" imgH="177723" progId="Equation.3">
                  <p:embed/>
                </p:oleObj>
              </mc:Choice>
              <mc:Fallback>
                <p:oleObj name="Equation" r:id="rId7" imgW="558558" imgH="1777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867400"/>
                        <a:ext cx="160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>
            <a:extLst>
              <a:ext uri="{FF2B5EF4-FFF2-40B4-BE49-F238E27FC236}">
                <a16:creationId xmlns:a16="http://schemas.microsoft.com/office/drawing/2014/main" id="{F00A8526-75A8-402A-970E-F2EF700189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209800"/>
          <a:ext cx="6704013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name="Equation" r:id="rId9" imgW="2489200" imgH="711200" progId="Equation.3">
                  <p:embed/>
                </p:oleObj>
              </mc:Choice>
              <mc:Fallback>
                <p:oleObj name="Equation" r:id="rId9" imgW="24892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09800"/>
                        <a:ext cx="6704013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Text Box 8">
            <a:extLst>
              <a:ext uri="{FF2B5EF4-FFF2-40B4-BE49-F238E27FC236}">
                <a16:creationId xmlns:a16="http://schemas.microsoft.com/office/drawing/2014/main" id="{E167763B-1839-4495-B5E5-57D844935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57200"/>
            <a:ext cx="7075488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 i="1"/>
              <a:t> x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 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单价为</a:t>
            </a:r>
            <a:r>
              <a:rPr lang="en-US" altLang="zh-CN" sz="2800" b="1"/>
              <a:t>10</a:t>
            </a:r>
            <a:r>
              <a:rPr lang="zh-CN" altLang="en-US" sz="2800" b="1"/>
              <a:t>千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r>
              <a:rPr lang="zh-CN" altLang="en-US" sz="2800" b="1">
                <a:latin typeface="宋体" panose="02010600030101010101" pitchFamily="2" charset="-122"/>
              </a:rPr>
              <a:t>；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/>
              <a:t> 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 </a:t>
            </a:r>
            <a:r>
              <a:rPr lang="en-US" altLang="zh-CN" sz="2800" b="1" i="1"/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 </a:t>
            </a:r>
            <a:r>
              <a:rPr lang="en-US" altLang="zh-CN" sz="2800" b="1"/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，超过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的</a:t>
            </a:r>
            <a:r>
              <a:rPr lang="en-US" altLang="zh-CN" sz="2800" b="1"/>
              <a:t>8</a:t>
            </a:r>
            <a:r>
              <a:rPr lang="zh-CN" altLang="en-US" sz="2800" b="1"/>
              <a:t>千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r>
              <a:rPr lang="zh-CN" altLang="en-US" sz="2800" b="1">
                <a:latin typeface="宋体" panose="02010600030101010101" pitchFamily="2" charset="-122"/>
              </a:rPr>
              <a:t>；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 </a:t>
            </a:r>
            <a:r>
              <a:rPr lang="en-US" altLang="zh-CN" sz="2800" b="1" i="1"/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 </a:t>
            </a:r>
            <a:r>
              <a:rPr lang="en-US" altLang="zh-CN" sz="2800" b="1"/>
              <a:t>1500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，超过</a:t>
            </a:r>
            <a:r>
              <a:rPr lang="en-US" altLang="zh-CN" sz="2800" b="1"/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的</a:t>
            </a:r>
            <a:r>
              <a:rPr lang="en-US" altLang="zh-CN" sz="2800" b="1"/>
              <a:t>6</a:t>
            </a:r>
            <a:r>
              <a:rPr lang="zh-CN" altLang="en-US" sz="2800" b="1"/>
              <a:t>千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/t. 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8C348E8E-BCE7-4ADB-A98C-D1EB94E9DBD9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4191000"/>
            <a:ext cx="4191000" cy="1905000"/>
            <a:chOff x="2976" y="2496"/>
            <a:chExt cx="2640" cy="1200"/>
          </a:xfrm>
        </p:grpSpPr>
        <p:sp>
          <p:nvSpPr>
            <p:cNvPr id="20490" name="Text Box 11">
              <a:extLst>
                <a:ext uri="{FF2B5EF4-FFF2-40B4-BE49-F238E27FC236}">
                  <a16:creationId xmlns:a16="http://schemas.microsoft.com/office/drawing/2014/main" id="{7A6889EA-3402-437E-A70E-8128E3E2B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496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购买</a:t>
              </a:r>
              <a:r>
                <a:rPr lang="en-US" altLang="zh-CN" sz="2800" b="1" i="1">
                  <a:solidFill>
                    <a:srgbClr val="FF3300"/>
                  </a:solidFill>
                </a:rPr>
                <a:t>x</a:t>
              </a:r>
              <a:r>
                <a:rPr lang="en-US" altLang="zh-CN" sz="2800" b="1">
                  <a:solidFill>
                    <a:srgbClr val="FF3300"/>
                  </a:solidFill>
                  <a:sym typeface="Symbol" panose="05050102010706020507" pitchFamily="18" charset="2"/>
                </a:rPr>
                <a:t></a:t>
              </a:r>
              <a:endParaRPr lang="en-US" altLang="zh-CN" sz="2800" b="1"/>
            </a:p>
          </p:txBody>
        </p:sp>
        <p:grpSp>
          <p:nvGrpSpPr>
            <p:cNvPr id="20491" name="Group 12">
              <a:extLst>
                <a:ext uri="{FF2B5EF4-FFF2-40B4-BE49-F238E27FC236}">
                  <a16:creationId xmlns:a16="http://schemas.microsoft.com/office/drawing/2014/main" id="{F3036E71-46CE-4A87-B652-D9C01B8B6D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640"/>
              <a:ext cx="1392" cy="1056"/>
              <a:chOff x="2736" y="2400"/>
              <a:chExt cx="1392" cy="1056"/>
            </a:xfrm>
          </p:grpSpPr>
          <p:sp>
            <p:nvSpPr>
              <p:cNvPr id="20495" name="Line 13">
                <a:extLst>
                  <a:ext uri="{FF2B5EF4-FFF2-40B4-BE49-F238E27FC236}">
                    <a16:creationId xmlns:a16="http://schemas.microsoft.com/office/drawing/2014/main" id="{2B3AA502-D2CD-4DF9-8A03-1FF5862FD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758"/>
                <a:ext cx="1104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6" name="Line 14">
                <a:extLst>
                  <a:ext uri="{FF2B5EF4-FFF2-40B4-BE49-F238E27FC236}">
                    <a16:creationId xmlns:a16="http://schemas.microsoft.com/office/drawing/2014/main" id="{9969E453-DF6A-471D-9DF9-DB7D10F78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3238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7" name="Text Box 15">
                <a:extLst>
                  <a:ext uri="{FF2B5EF4-FFF2-40B4-BE49-F238E27FC236}">
                    <a16:creationId xmlns:a16="http://schemas.microsoft.com/office/drawing/2014/main" id="{A6FE295A-5661-4F73-8E22-1B4217DA3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2566"/>
                <a:ext cx="288" cy="3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A </a:t>
                </a:r>
              </a:p>
            </p:txBody>
          </p:sp>
          <p:sp>
            <p:nvSpPr>
              <p:cNvPr id="20498" name="Text Box 16">
                <a:extLst>
                  <a:ext uri="{FF2B5EF4-FFF2-40B4-BE49-F238E27FC236}">
                    <a16:creationId xmlns:a16="http://schemas.microsoft.com/office/drawing/2014/main" id="{E3604CD4-8E80-4B43-BF6B-0B0A02E456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3046"/>
                <a:ext cx="288" cy="3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B </a:t>
                </a:r>
              </a:p>
            </p:txBody>
          </p:sp>
          <p:sp>
            <p:nvSpPr>
              <p:cNvPr id="20499" name="Line 17">
                <a:extLst>
                  <a:ext uri="{FF2B5EF4-FFF2-40B4-BE49-F238E27FC236}">
                    <a16:creationId xmlns:a16="http://schemas.microsoft.com/office/drawing/2014/main" id="{BEA3215E-DEA2-47F0-9AEB-B89739D29C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4" y="2710"/>
                <a:ext cx="1104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0" name="Line 18">
                <a:extLst>
                  <a:ext uri="{FF2B5EF4-FFF2-40B4-BE49-F238E27FC236}">
                    <a16:creationId xmlns:a16="http://schemas.microsoft.com/office/drawing/2014/main" id="{3F178FF2-3827-414C-AD44-3A2D9A3F15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71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1" name="Text Box 19">
                <a:extLst>
                  <a:ext uri="{FF2B5EF4-FFF2-40B4-BE49-F238E27FC236}">
                    <a16:creationId xmlns:a16="http://schemas.microsoft.com/office/drawing/2014/main" id="{F8F0BC0B-BC06-4B58-8E8E-2F5359177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40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11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20502" name="Text Box 20">
                <a:extLst>
                  <a:ext uri="{FF2B5EF4-FFF2-40B4-BE49-F238E27FC236}">
                    <a16:creationId xmlns:a16="http://schemas.microsoft.com/office/drawing/2014/main" id="{0AC5A689-22B9-447A-AB1D-0F187B68AC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64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12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20503" name="Text Box 21">
                <a:extLst>
                  <a:ext uri="{FF2B5EF4-FFF2-40B4-BE49-F238E27FC236}">
                    <a16:creationId xmlns:a16="http://schemas.microsoft.com/office/drawing/2014/main" id="{BC767C42-D449-4257-AF41-7A4651301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83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21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20504" name="Text Box 22">
                <a:extLst>
                  <a:ext uri="{FF2B5EF4-FFF2-40B4-BE49-F238E27FC236}">
                    <a16:creationId xmlns:a16="http://schemas.microsoft.com/office/drawing/2014/main" id="{7A3C259C-FFF4-480E-9C19-E1CF5759E7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316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22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20492" name="Group 23">
              <a:extLst>
                <a:ext uri="{FF2B5EF4-FFF2-40B4-BE49-F238E27FC236}">
                  <a16:creationId xmlns:a16="http://schemas.microsoft.com/office/drawing/2014/main" id="{225D0657-4B8B-44DD-8C15-0117073288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832"/>
              <a:ext cx="1248" cy="816"/>
              <a:chOff x="48" y="720"/>
              <a:chExt cx="1248" cy="816"/>
            </a:xfrm>
          </p:grpSpPr>
          <p:sp>
            <p:nvSpPr>
              <p:cNvPr id="20493" name="Text Box 24">
                <a:extLst>
                  <a:ext uri="{FF2B5EF4-FFF2-40B4-BE49-F238E27FC236}">
                    <a16:creationId xmlns:a16="http://schemas.microsoft.com/office/drawing/2014/main" id="{19F19442-B5F6-41A9-9663-B3F786BEDA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720"/>
                <a:ext cx="115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库存</a:t>
                </a:r>
                <a:r>
                  <a:rPr lang="en-US" altLang="zh-CN" sz="2800" b="1"/>
                  <a:t>500t </a:t>
                </a:r>
              </a:p>
            </p:txBody>
          </p:sp>
          <p:sp>
            <p:nvSpPr>
              <p:cNvPr id="20494" name="Text Box 25">
                <a:extLst>
                  <a:ext uri="{FF2B5EF4-FFF2-40B4-BE49-F238E27FC236}">
                    <a16:creationId xmlns:a16="http://schemas.microsoft.com/office/drawing/2014/main" id="{BCC6AADE-78AC-4CE4-A3F7-911E7D19FE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209"/>
                <a:ext cx="124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库存</a:t>
                </a:r>
                <a:r>
                  <a:rPr lang="en-US" altLang="zh-CN" sz="2800" b="1"/>
                  <a:t>1000t 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 autoUpdateAnimBg="0"/>
      <p:bldP spid="43011" grpId="0" animBg="1" autoUpdateAnimBg="0"/>
      <p:bldP spid="430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9DD98698-042C-477F-8CD8-80228218B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62425"/>
            <a:ext cx="8534400" cy="2238375"/>
          </a:xfrm>
          <a:prstGeom prst="rect">
            <a:avLst/>
          </a:prstGeom>
          <a:solidFill>
            <a:srgbClr val="FFCCFF"/>
          </a:soli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</a:t>
            </a:r>
            <a:r>
              <a:rPr lang="zh-CN" altLang="en-US" sz="2800" b="1"/>
              <a:t>目标函数中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>
                <a:latin typeface="宋体" panose="02010600030101010101" pitchFamily="2" charset="-122"/>
              </a:rPr>
              <a:t>不是线性函数，是非线性规划；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对于用分段函数定义的</a:t>
            </a:r>
            <a:r>
              <a:rPr lang="en-US" altLang="zh-CN" sz="2800" b="1" i="1">
                <a:solidFill>
                  <a:srgbClr val="0000FF"/>
                </a:solidFill>
              </a:rPr>
              <a:t>c</a:t>
            </a:r>
            <a:r>
              <a:rPr lang="en-US" altLang="zh-CN" sz="2800" b="1">
                <a:solidFill>
                  <a:srgbClr val="0000FF"/>
                </a:solidFill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</a:rPr>
              <a:t>x</a:t>
            </a:r>
            <a:r>
              <a:rPr lang="en-US" altLang="zh-CN" sz="2800" b="1">
                <a:solidFill>
                  <a:srgbClr val="0000FF"/>
                </a:solidFill>
              </a:rPr>
              <a:t>)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，一般的非线性规划软件也难以输入和求解；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宋体" panose="02010600030101010101" pitchFamily="2" charset="-122"/>
              </a:rPr>
              <a:t> 想办法将模型化简，用现成的软件求解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en-US" altLang="zh-CN" sz="2800" b="1"/>
              <a:t> </a:t>
            </a: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3BE6CBC1-72E5-407C-B577-12CF1127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22860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汽油含原油</a:t>
            </a:r>
            <a:r>
              <a:rPr lang="en-US" altLang="zh-CN" sz="2800" b="1"/>
              <a:t>A</a:t>
            </a:r>
            <a:r>
              <a:rPr lang="zh-CN" altLang="en-US" sz="2800" b="1"/>
              <a:t>的比例限制 </a:t>
            </a:r>
          </a:p>
        </p:txBody>
      </p:sp>
      <p:graphicFrame>
        <p:nvGraphicFramePr>
          <p:cNvPr id="44036" name="Object 4">
            <a:extLst>
              <a:ext uri="{FF2B5EF4-FFF2-40B4-BE49-F238E27FC236}">
                <a16:creationId xmlns:a16="http://schemas.microsoft.com/office/drawing/2014/main" id="{0BC4FD98-397F-4914-B545-FFDF1B791C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863" y="1660525"/>
          <a:ext cx="2122487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公式" r:id="rId3" imgW="888614" imgH="431613" progId="Equation.3">
                  <p:embed/>
                </p:oleObj>
              </mc:Choice>
              <mc:Fallback>
                <p:oleObj name="公式" r:id="rId3" imgW="888614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3" y="1660525"/>
                        <a:ext cx="2122487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>
            <a:extLst>
              <a:ext uri="{FF2B5EF4-FFF2-40B4-BE49-F238E27FC236}">
                <a16:creationId xmlns:a16="http://schemas.microsoft.com/office/drawing/2014/main" id="{E4FD39BE-218F-494C-A9D0-2B76270AB2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863" y="2878138"/>
          <a:ext cx="21224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公式" r:id="rId5" imgW="901309" imgH="431613" progId="Equation.3">
                  <p:embed/>
                </p:oleObj>
              </mc:Choice>
              <mc:Fallback>
                <p:oleObj name="公式" r:id="rId5" imgW="901309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3" y="2878138"/>
                        <a:ext cx="2122487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>
            <a:extLst>
              <a:ext uri="{FF2B5EF4-FFF2-40B4-BE49-F238E27FC236}">
                <a16:creationId xmlns:a16="http://schemas.microsoft.com/office/drawing/2014/main" id="{22D799F1-BDFF-4AA9-84BD-6D621DE2A7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912938"/>
          <a:ext cx="1828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公式" r:id="rId7" imgW="723586" imgH="215806" progId="Equation.3">
                  <p:embed/>
                </p:oleObj>
              </mc:Choice>
              <mc:Fallback>
                <p:oleObj name="公式" r:id="rId7" imgW="723586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12938"/>
                        <a:ext cx="1828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>
            <a:extLst>
              <a:ext uri="{FF2B5EF4-FFF2-40B4-BE49-F238E27FC236}">
                <a16:creationId xmlns:a16="http://schemas.microsoft.com/office/drawing/2014/main" id="{DEC97823-F821-41B0-ABD8-6395B973FC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048000"/>
          <a:ext cx="20574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公式" r:id="rId9" imgW="875920" imgH="215806" progId="Equation.3">
                  <p:embed/>
                </p:oleObj>
              </mc:Choice>
              <mc:Fallback>
                <p:oleObj name="公式" r:id="rId9" imgW="875920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048000"/>
                        <a:ext cx="20574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8">
            <a:extLst>
              <a:ext uri="{FF2B5EF4-FFF2-40B4-BE49-F238E27FC236}">
                <a16:creationId xmlns:a16="http://schemas.microsoft.com/office/drawing/2014/main" id="{C9C1AB14-298A-4A8D-A1A3-65E60737E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"/>
            <a:ext cx="10668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约束条件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8382953E-DE1F-49FD-A1DE-2EF29B70CE6D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295400"/>
            <a:ext cx="3962400" cy="1676400"/>
            <a:chOff x="3168" y="240"/>
            <a:chExt cx="2448" cy="1056"/>
          </a:xfrm>
        </p:grpSpPr>
        <p:sp>
          <p:nvSpPr>
            <p:cNvPr id="21514" name="Text Box 10">
              <a:extLst>
                <a:ext uri="{FF2B5EF4-FFF2-40B4-BE49-F238E27FC236}">
                  <a16:creationId xmlns:a16="http://schemas.microsoft.com/office/drawing/2014/main" id="{E13D93DE-3BCA-41B0-8A5A-6267D3F8F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84"/>
              <a:ext cx="105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/>
                <a:t>甲</a:t>
              </a:r>
              <a:r>
                <a:rPr lang="en-US" altLang="zh-CN" b="1"/>
                <a:t>(A</a:t>
              </a:r>
              <a:r>
                <a:rPr lang="en-US" altLang="zh-CN" b="1">
                  <a:sym typeface="Symbol" panose="05050102010706020507" pitchFamily="18" charset="2"/>
                </a:rPr>
                <a:t></a:t>
              </a:r>
              <a:r>
                <a:rPr lang="en-US" altLang="zh-CN" b="1"/>
                <a:t>50%) </a:t>
              </a:r>
            </a:p>
          </p:txBody>
        </p:sp>
        <p:sp>
          <p:nvSpPr>
            <p:cNvPr id="21515" name="Line 11">
              <a:extLst>
                <a:ext uri="{FF2B5EF4-FFF2-40B4-BE49-F238E27FC236}">
                  <a16:creationId xmlns:a16="http://schemas.microsoft.com/office/drawing/2014/main" id="{24AD058C-3865-4D60-A604-97D22D97A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598"/>
              <a:ext cx="110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6" name="Line 12">
              <a:extLst>
                <a:ext uri="{FF2B5EF4-FFF2-40B4-BE49-F238E27FC236}">
                  <a16:creationId xmlns:a16="http://schemas.microsoft.com/office/drawing/2014/main" id="{7A28CD0E-9C74-4C45-B5E1-233A1C283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078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7" name="Text Box 13">
              <a:extLst>
                <a:ext uri="{FF2B5EF4-FFF2-40B4-BE49-F238E27FC236}">
                  <a16:creationId xmlns:a16="http://schemas.microsoft.com/office/drawing/2014/main" id="{673F4FEC-476A-48E5-A1AC-70A2AC73B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406"/>
              <a:ext cx="28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A </a:t>
              </a:r>
            </a:p>
          </p:txBody>
        </p:sp>
        <p:sp>
          <p:nvSpPr>
            <p:cNvPr id="21518" name="Text Box 14">
              <a:extLst>
                <a:ext uri="{FF2B5EF4-FFF2-40B4-BE49-F238E27FC236}">
                  <a16:creationId xmlns:a16="http://schemas.microsoft.com/office/drawing/2014/main" id="{FCC22DC6-B47A-40B3-8AE8-024DBBA14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886"/>
              <a:ext cx="28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B </a:t>
              </a:r>
            </a:p>
          </p:txBody>
        </p:sp>
        <p:sp>
          <p:nvSpPr>
            <p:cNvPr id="21519" name="Line 15">
              <a:extLst>
                <a:ext uri="{FF2B5EF4-FFF2-40B4-BE49-F238E27FC236}">
                  <a16:creationId xmlns:a16="http://schemas.microsoft.com/office/drawing/2014/main" id="{29FE120B-180F-4165-87A6-DDA59B46F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550"/>
              <a:ext cx="110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0" name="Text Box 16">
              <a:extLst>
                <a:ext uri="{FF2B5EF4-FFF2-40B4-BE49-F238E27FC236}">
                  <a16:creationId xmlns:a16="http://schemas.microsoft.com/office/drawing/2014/main" id="{5C07FA54-3F9C-4030-8F95-04425BB18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912"/>
              <a:ext cx="105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/>
                <a:t>乙</a:t>
              </a:r>
              <a:r>
                <a:rPr lang="en-US" altLang="zh-CN" b="1"/>
                <a:t>(A</a:t>
              </a:r>
              <a:r>
                <a:rPr lang="en-US" altLang="zh-CN" b="1">
                  <a:sym typeface="Symbol" panose="05050102010706020507" pitchFamily="18" charset="2"/>
                </a:rPr>
                <a:t></a:t>
              </a:r>
              <a:r>
                <a:rPr lang="en-US" altLang="zh-CN" b="1"/>
                <a:t>60%) </a:t>
              </a:r>
            </a:p>
          </p:txBody>
        </p:sp>
        <p:sp>
          <p:nvSpPr>
            <p:cNvPr id="21521" name="Text Box 17">
              <a:extLst>
                <a:ext uri="{FF2B5EF4-FFF2-40B4-BE49-F238E27FC236}">
                  <a16:creationId xmlns:a16="http://schemas.microsoft.com/office/drawing/2014/main" id="{944E7CBF-04A6-4515-8D58-10F1241D9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4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11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21522" name="Text Box 18">
              <a:extLst>
                <a:ext uri="{FF2B5EF4-FFF2-40B4-BE49-F238E27FC236}">
                  <a16:creationId xmlns:a16="http://schemas.microsoft.com/office/drawing/2014/main" id="{472DEC1E-E767-4E8C-8CE9-EC0DAD99A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48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12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21523" name="Text Box 19">
              <a:extLst>
                <a:ext uri="{FF2B5EF4-FFF2-40B4-BE49-F238E27FC236}">
                  <a16:creationId xmlns:a16="http://schemas.microsoft.com/office/drawing/2014/main" id="{EED9FAC4-256B-483B-B509-5C997091B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67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21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21524" name="Text Box 20">
              <a:extLst>
                <a:ext uri="{FF2B5EF4-FFF2-40B4-BE49-F238E27FC236}">
                  <a16:creationId xmlns:a16="http://schemas.microsoft.com/office/drawing/2014/main" id="{A0DCACCA-27CB-4A82-BF39-16CF7467D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0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22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21525" name="Line 21">
              <a:extLst>
                <a:ext uri="{FF2B5EF4-FFF2-40B4-BE49-F238E27FC236}">
                  <a16:creationId xmlns:a16="http://schemas.microsoft.com/office/drawing/2014/main" id="{24A7540A-2937-4A5D-B31F-FD330E31E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528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40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 animBg="1" autoUpdateAnimBg="0"/>
      <p:bldP spid="44035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1F04A00D-1B3C-40D4-87E9-8DB314740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04888"/>
            <a:ext cx="762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30000"/>
              <a:t>1 </a:t>
            </a:r>
            <a:r>
              <a:rPr lang="en-US" altLang="zh-CN" sz="2800" b="1"/>
              <a:t>, 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 </a:t>
            </a:r>
            <a:r>
              <a:rPr lang="en-US" altLang="zh-CN" sz="2800" b="1"/>
              <a:t>, 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3 </a:t>
            </a:r>
            <a:r>
              <a:rPr lang="en-US" altLang="zh-CN" sz="2800" b="1"/>
              <a:t>~</a:t>
            </a:r>
            <a:r>
              <a:rPr lang="zh-CN" altLang="en-US" sz="2800" b="1">
                <a:latin typeface="宋体" panose="02010600030101010101" pitchFamily="2" charset="-122"/>
              </a:rPr>
              <a:t>以价格</a:t>
            </a:r>
            <a:r>
              <a:rPr lang="en-US" altLang="zh-CN" sz="2800" b="1"/>
              <a:t>10, 8, 6(</a:t>
            </a:r>
            <a:r>
              <a:rPr lang="zh-CN" altLang="en-US" sz="2800" b="1">
                <a:latin typeface="宋体" panose="02010600030101010101" pitchFamily="2" charset="-122"/>
              </a:rPr>
              <a:t>千元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en-US" altLang="zh-CN" sz="2800" b="1">
                <a:latin typeface="宋体" panose="02010600030101010101" pitchFamily="2" charset="-122"/>
              </a:rPr>
              <a:t>t)</a:t>
            </a:r>
            <a:r>
              <a:rPr lang="zh-CN" altLang="en-US" sz="2800" b="1">
                <a:latin typeface="宋体" panose="02010600030101010101" pitchFamily="2" charset="-122"/>
              </a:rPr>
              <a:t>采购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的吨数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9CE04A96-F669-4821-8B14-962F83CDD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905000"/>
            <a:ext cx="990600" cy="946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目标函数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290DDD77-BB58-4722-AFFE-13546F54D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10000"/>
            <a:ext cx="8763000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只有当以</a:t>
            </a:r>
            <a:r>
              <a:rPr lang="en-US" altLang="zh-CN" sz="2800" b="1">
                <a:solidFill>
                  <a:srgbClr val="FF0000"/>
                </a:solidFill>
              </a:rPr>
              <a:t>10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千元</a:t>
            </a:r>
            <a:r>
              <a:rPr lang="en-US" altLang="zh-CN" sz="2800" b="1">
                <a:solidFill>
                  <a:srgbClr val="FF0000"/>
                </a:solidFill>
              </a:rPr>
              <a:t>/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的价格购买</a:t>
            </a:r>
            <a:r>
              <a:rPr lang="en-US" altLang="zh-CN" sz="2800" b="1" i="1">
                <a:solidFill>
                  <a:srgbClr val="FF0000"/>
                </a:solidFill>
              </a:rPr>
              <a:t>x</a:t>
            </a:r>
            <a:r>
              <a:rPr lang="en-US" altLang="zh-CN" sz="2800" b="1" baseline="-30000">
                <a:solidFill>
                  <a:srgbClr val="FF0000"/>
                </a:solidFill>
              </a:rPr>
              <a:t>1</a:t>
            </a:r>
            <a:r>
              <a:rPr lang="en-US" altLang="zh-CN" sz="2800" b="1">
                <a:solidFill>
                  <a:srgbClr val="FF0000"/>
                </a:solidFill>
              </a:rPr>
              <a:t>=500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(t)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时，才能以</a:t>
            </a:r>
            <a:r>
              <a:rPr lang="en-US" altLang="zh-CN" sz="2800" b="1">
                <a:solidFill>
                  <a:srgbClr val="FF0000"/>
                </a:solidFill>
              </a:rPr>
              <a:t>8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千元</a:t>
            </a:r>
            <a:r>
              <a:rPr lang="en-US" altLang="zh-CN" sz="2800" b="1">
                <a:solidFill>
                  <a:srgbClr val="FF0000"/>
                </a:solidFill>
              </a:rPr>
              <a:t>/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的价格购买</a:t>
            </a:r>
            <a:r>
              <a:rPr lang="en-US" altLang="zh-CN" sz="2800" b="1" i="1">
                <a:solidFill>
                  <a:srgbClr val="FF0000"/>
                </a:solidFill>
              </a:rPr>
              <a:t>x</a:t>
            </a:r>
            <a:r>
              <a:rPr lang="en-US" altLang="zh-CN" sz="2800" b="1" baseline="-30000">
                <a:solidFill>
                  <a:srgbClr val="FF0000"/>
                </a:solidFill>
              </a:rPr>
              <a:t>2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45061" name="Text Box 5">
            <a:extLst>
              <a:ext uri="{FF2B5EF4-FFF2-40B4-BE49-F238E27FC236}">
                <a16:creationId xmlns:a16="http://schemas.microsoft.com/office/drawing/2014/main" id="{7575D79B-99CE-4959-B74E-8E3AF28CC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85775"/>
            <a:ext cx="4100512" cy="523875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800" b="1">
                <a:solidFill>
                  <a:schemeClr val="accent2"/>
                </a:solidFill>
              </a:rPr>
              <a:t>1  ——  </a:t>
            </a:r>
            <a:r>
              <a:rPr lang="zh-CN" altLang="en-US" sz="2800" b="1">
                <a:solidFill>
                  <a:schemeClr val="accent2"/>
                </a:solidFill>
              </a:rPr>
              <a:t>非线性规划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45062" name="Object 6">
            <a:extLst>
              <a:ext uri="{FF2B5EF4-FFF2-40B4-BE49-F238E27FC236}">
                <a16:creationId xmlns:a16="http://schemas.microsoft.com/office/drawing/2014/main" id="{509C2F5F-ABE3-48A4-8065-214CFD6873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8275" y="2209800"/>
          <a:ext cx="73310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公式" r:id="rId3" imgW="3556000" imgH="228600" progId="Equation.3">
                  <p:embed/>
                </p:oleObj>
              </mc:Choice>
              <mc:Fallback>
                <p:oleObj name="公式" r:id="rId3" imgW="3556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2209800"/>
                        <a:ext cx="73310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>
            <a:extLst>
              <a:ext uri="{FF2B5EF4-FFF2-40B4-BE49-F238E27FC236}">
                <a16:creationId xmlns:a16="http://schemas.microsoft.com/office/drawing/2014/main" id="{BAA8725B-F847-4C93-BAF0-8D9FFE83DD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229225"/>
          <a:ext cx="2514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r:id="rId5" imgW="1193800" imgH="228600" progId="Equation.3">
                  <p:embed/>
                </p:oleObj>
              </mc:Choice>
              <mc:Fallback>
                <p:oleObj r:id="rId5" imgW="11938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229225"/>
                        <a:ext cx="2514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Text Box 9">
            <a:extLst>
              <a:ext uri="{FF2B5EF4-FFF2-40B4-BE49-F238E27FC236}">
                <a16:creationId xmlns:a16="http://schemas.microsoft.com/office/drawing/2014/main" id="{22DDFBAB-ACF8-4E38-920F-EC8B1E4A6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867400"/>
            <a:ext cx="63246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非线性规划模型</a:t>
            </a:r>
            <a:r>
              <a:rPr lang="zh-CN" altLang="en-US" sz="2800" b="1"/>
              <a:t>，可以用</a:t>
            </a:r>
            <a:r>
              <a:rPr lang="en-US" altLang="zh-CN" sz="2800" b="1"/>
              <a:t>LINGO</a:t>
            </a:r>
            <a:r>
              <a:rPr lang="zh-CN" altLang="en-US" sz="2800" b="1"/>
              <a:t>求解</a:t>
            </a:r>
          </a:p>
        </p:txBody>
      </p:sp>
      <p:sp>
        <p:nvSpPr>
          <p:cNvPr id="45067" name="Text Box 11">
            <a:extLst>
              <a:ext uri="{FF2B5EF4-FFF2-40B4-BE49-F238E27FC236}">
                <a16:creationId xmlns:a16="http://schemas.microsoft.com/office/drawing/2014/main" id="{CCBCCF9A-09B8-4F14-9B97-3A7C4BAD3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00"/>
            <a:ext cx="5410200" cy="519113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= 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 i="1"/>
              <a:t>+x</a:t>
            </a:r>
            <a:r>
              <a:rPr lang="en-US" altLang="zh-CN" sz="2800" b="1" baseline="-30000"/>
              <a:t>2</a:t>
            </a:r>
            <a:r>
              <a:rPr lang="en-US" altLang="zh-CN" sz="2800" b="1" i="1"/>
              <a:t>+x</a:t>
            </a:r>
            <a:r>
              <a:rPr lang="en-US" altLang="zh-CN" sz="2800" b="1" baseline="-30000"/>
              <a:t>3</a:t>
            </a:r>
            <a:r>
              <a:rPr lang="en-US" altLang="zh-CN" sz="2800" b="1" i="1"/>
              <a:t>,  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 = 10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+8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+6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3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800"/>
          </a:p>
        </p:txBody>
      </p:sp>
      <p:sp>
        <p:nvSpPr>
          <p:cNvPr id="45068" name="Text Box 12">
            <a:extLst>
              <a:ext uri="{FF2B5EF4-FFF2-40B4-BE49-F238E27FC236}">
                <a16:creationId xmlns:a16="http://schemas.microsoft.com/office/drawing/2014/main" id="{B74A9A40-70FF-4A08-AD68-9DBD8BD42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819400"/>
            <a:ext cx="69342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 </a:t>
            </a:r>
            <a:r>
              <a:rPr lang="en-US" altLang="zh-CN" sz="2800" b="1" i="1"/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 </a:t>
            </a:r>
            <a:r>
              <a:rPr lang="en-US" altLang="zh-CN" sz="2800" b="1"/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，超过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的</a:t>
            </a:r>
            <a:r>
              <a:rPr lang="en-US" altLang="zh-CN" sz="2800" b="1"/>
              <a:t>8</a:t>
            </a:r>
            <a:r>
              <a:rPr lang="zh-CN" altLang="en-US" sz="2800" b="1"/>
              <a:t>千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4E05DBE1-654B-4835-B521-DB5F1C42A5E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429000"/>
            <a:ext cx="2314575" cy="519113"/>
            <a:chOff x="1344" y="2208"/>
            <a:chExt cx="1458" cy="327"/>
          </a:xfrm>
        </p:grpSpPr>
        <p:sp>
          <p:nvSpPr>
            <p:cNvPr id="22546" name="Text Box 14">
              <a:extLst>
                <a:ext uri="{FF2B5EF4-FFF2-40B4-BE49-F238E27FC236}">
                  <a16:creationId xmlns:a16="http://schemas.microsoft.com/office/drawing/2014/main" id="{E9FEDD61-1836-423C-A217-6F92732AA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08"/>
              <a:ext cx="1056" cy="32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增加约束</a:t>
              </a:r>
            </a:p>
          </p:txBody>
        </p:sp>
        <p:sp>
          <p:nvSpPr>
            <p:cNvPr id="22547" name="AutoShape 15">
              <a:extLst>
                <a:ext uri="{FF2B5EF4-FFF2-40B4-BE49-F238E27FC236}">
                  <a16:creationId xmlns:a16="http://schemas.microsoft.com/office/drawing/2014/main" id="{BA170FD0-F312-4B1F-AE8E-CC8C5ED50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04"/>
              <a:ext cx="306" cy="14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68AEB17F-B676-4A9A-9C25-0170C5E93C23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4648200"/>
            <a:ext cx="2667000" cy="519113"/>
            <a:chOff x="2832" y="3024"/>
            <a:chExt cx="1680" cy="327"/>
          </a:xfrm>
        </p:grpSpPr>
        <p:graphicFrame>
          <p:nvGraphicFramePr>
            <p:cNvPr id="22544" name="Object 17">
              <a:extLst>
                <a:ext uri="{FF2B5EF4-FFF2-40B4-BE49-F238E27FC236}">
                  <a16:creationId xmlns:a16="http://schemas.microsoft.com/office/drawing/2014/main" id="{19E590D6-BCDC-4128-8293-EED0682859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6" y="3024"/>
            <a:ext cx="1536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4" r:id="rId7" imgW="1028254" imgH="215806" progId="Equation.3">
                    <p:embed/>
                  </p:oleObj>
                </mc:Choice>
                <mc:Fallback>
                  <p:oleObj r:id="rId7" imgW="1028254" imgH="215806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3024"/>
                          <a:ext cx="1536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5" name="AutoShape 18">
              <a:extLst>
                <a:ext uri="{FF2B5EF4-FFF2-40B4-BE49-F238E27FC236}">
                  <a16:creationId xmlns:a16="http://schemas.microsoft.com/office/drawing/2014/main" id="{45E554D6-935B-48A9-9117-D52CF844F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072"/>
              <a:ext cx="96" cy="240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35106084-09B0-47A1-8409-576CCBFF1F5A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5300663"/>
            <a:ext cx="4017962" cy="520700"/>
            <a:chOff x="249" y="3339"/>
            <a:chExt cx="2531" cy="328"/>
          </a:xfrm>
        </p:grpSpPr>
        <p:graphicFrame>
          <p:nvGraphicFramePr>
            <p:cNvPr id="22542" name="Object 7">
              <a:extLst>
                <a:ext uri="{FF2B5EF4-FFF2-40B4-BE49-F238E27FC236}">
                  <a16:creationId xmlns:a16="http://schemas.microsoft.com/office/drawing/2014/main" id="{7869D796-E5DA-4031-9CC2-B744505E22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2" y="3339"/>
            <a:ext cx="148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5" r:id="rId9" imgW="1040948" imgH="228501" progId="Equation.3">
                    <p:embed/>
                  </p:oleObj>
                </mc:Choice>
                <mc:Fallback>
                  <p:oleObj r:id="rId9" imgW="1040948" imgH="22850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3339"/>
                          <a:ext cx="148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3" name="Text Box 20">
              <a:extLst>
                <a:ext uri="{FF2B5EF4-FFF2-40B4-BE49-F238E27FC236}">
                  <a16:creationId xmlns:a16="http://schemas.microsoft.com/office/drawing/2014/main" id="{D55D2223-5686-4D81-8C94-C71225BCC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3339"/>
              <a:ext cx="10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类似地有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nimBg="1" autoUpdateAnimBg="0"/>
      <p:bldP spid="45059" grpId="0" animBg="1" autoUpdateAnimBg="0"/>
      <p:bldP spid="45060" grpId="0" animBg="1" autoUpdateAnimBg="0"/>
      <p:bldP spid="45061" grpId="0" animBg="1" autoUpdateAnimBg="0"/>
      <p:bldP spid="45065" grpId="0" animBg="1" autoUpdateAnimBg="0"/>
      <p:bldP spid="45067" grpId="0" animBg="1" autoUpdateAnimBg="0"/>
      <p:bldP spid="45068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0C128608-AFDB-4875-92D2-D56679295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3375"/>
            <a:ext cx="34290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LINGO</a:t>
            </a:r>
            <a:r>
              <a:rPr lang="zh-CN" altLang="en-US" sz="2800" b="1"/>
              <a:t>求解</a:t>
            </a:r>
            <a:r>
              <a:rPr lang="en-US" altLang="zh-CN" sz="2800" b="1"/>
              <a:t>1:</a:t>
            </a:r>
            <a:endParaRPr lang="zh-CN" altLang="en-US" sz="2800" b="1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787282F-20A6-4BAF-AA07-B7ED8E284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08050"/>
            <a:ext cx="3482975" cy="44735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</a:pPr>
            <a:r>
              <a:rPr lang="en-US" altLang="zh-CN" b="1"/>
              <a:t>Model: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Max= 4.8*x11 + 4.8*x21 + 5.6*x12 + 5.6*x22 - 10*x1 - 8*x2 - 6*x3;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x11+x12 &lt; x + 500;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x21+x22 &lt; 1000;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x11 - x21 &gt; 0;  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2*x12 - 3*x22 &gt; 0;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x=x1+x2+x3;     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(x1 - 500) * x2=0; 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(x2 - 500) * x3=0; 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x1 &lt; 500;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x2 &lt; 500;</a:t>
            </a:r>
          </a:p>
          <a:p>
            <a:pPr algn="just">
              <a:lnSpc>
                <a:spcPct val="80000"/>
              </a:lnSpc>
            </a:pPr>
            <a:r>
              <a:rPr lang="en-US" altLang="zh-CN" b="1"/>
              <a:t>x3 &lt; 500;</a:t>
            </a:r>
          </a:p>
          <a:p>
            <a:pPr>
              <a:lnSpc>
                <a:spcPct val="80000"/>
              </a:lnSpc>
            </a:pPr>
            <a:r>
              <a:rPr lang="en-US" altLang="zh-CN" b="1"/>
              <a:t>end 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7D435A7-0BF2-4293-AA4B-2688DCE4C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49275"/>
            <a:ext cx="4968875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en-US" altLang="zh-CN" sz="2000" b="1">
                <a:solidFill>
                  <a:srgbClr val="FF0000"/>
                </a:solidFill>
              </a:rPr>
              <a:t>Local optimal solution found.</a:t>
            </a:r>
          </a:p>
          <a:p>
            <a:pPr eaLnBrk="1" hangingPunct="1"/>
            <a:r>
              <a:rPr lang="en-US" altLang="zh-CN" sz="2000" b="1">
                <a:solidFill>
                  <a:srgbClr val="FF0000"/>
                </a:solidFill>
              </a:rPr>
              <a:t>  Objective value:                            4800.000</a:t>
            </a:r>
          </a:p>
          <a:p>
            <a:pPr eaLnBrk="1" hangingPunct="1"/>
            <a:r>
              <a:rPr lang="en-US" altLang="zh-CN" sz="2000" b="1"/>
              <a:t>  Total solver iterations:                          14</a:t>
            </a:r>
          </a:p>
          <a:p>
            <a:pPr eaLnBrk="1" hangingPunct="1"/>
            <a:r>
              <a:rPr lang="en-US" altLang="zh-CN" sz="2000" b="1"/>
              <a:t>     Variable           Value        Reduced Cost</a:t>
            </a:r>
          </a:p>
          <a:p>
            <a:pPr eaLnBrk="1" hangingPunct="1"/>
            <a:r>
              <a:rPr lang="en-US" altLang="zh-CN" sz="2000" b="1"/>
              <a:t>            X11        500.0000            0.000000</a:t>
            </a:r>
          </a:p>
          <a:p>
            <a:pPr eaLnBrk="1" hangingPunct="1"/>
            <a:r>
              <a:rPr lang="en-US" altLang="zh-CN" sz="2000" b="1"/>
              <a:t>            X21        500.0000            0.000000</a:t>
            </a:r>
          </a:p>
          <a:p>
            <a:pPr eaLnBrk="1" hangingPunct="1"/>
            <a:r>
              <a:rPr lang="en-US" altLang="zh-CN" sz="2000" b="1"/>
              <a:t>            X12        0.000000           0.2666667</a:t>
            </a:r>
          </a:p>
          <a:p>
            <a:pPr eaLnBrk="1" hangingPunct="1"/>
            <a:r>
              <a:rPr lang="en-US" altLang="zh-CN" sz="2000" b="1"/>
              <a:t>            X22        0.000000            0.000000</a:t>
            </a:r>
          </a:p>
          <a:p>
            <a:pPr eaLnBrk="1" hangingPunct="1"/>
            <a:r>
              <a:rPr lang="en-US" altLang="zh-CN" sz="2000" b="1"/>
              <a:t>              X1        0.000000           0.4000000</a:t>
            </a:r>
          </a:p>
          <a:p>
            <a:pPr eaLnBrk="1" hangingPunct="1"/>
            <a:r>
              <a:rPr lang="en-US" altLang="zh-CN" sz="2000" b="1"/>
              <a:t>              X2        0.000000            0.000000</a:t>
            </a:r>
          </a:p>
          <a:p>
            <a:pPr eaLnBrk="1" hangingPunct="1"/>
            <a:r>
              <a:rPr lang="en-US" altLang="zh-CN" sz="2000" b="1"/>
              <a:t>              X3        0.000000            0.000000</a:t>
            </a:r>
          </a:p>
          <a:p>
            <a:pPr eaLnBrk="1" hangingPunct="1"/>
            <a:r>
              <a:rPr lang="en-US" altLang="zh-CN" sz="2000" b="1"/>
              <a:t>                X        0.000000            0.000000</a:t>
            </a:r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092AB7F8-129F-43D7-BC42-99881790B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949950"/>
            <a:ext cx="8424862" cy="519113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LINGO</a:t>
            </a:r>
            <a:r>
              <a:rPr lang="zh-CN" altLang="en-US" sz="2800" b="1">
                <a:latin typeface="宋体" panose="02010600030101010101" pitchFamily="2" charset="-122"/>
              </a:rPr>
              <a:t>得到的是局部最优解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还能得到更好的解吗？</a:t>
            </a:r>
            <a:r>
              <a:rPr lang="zh-CN" altLang="en-US" sz="2800" b="1"/>
              <a:t> </a:t>
            </a:r>
          </a:p>
        </p:txBody>
      </p:sp>
      <p:sp>
        <p:nvSpPr>
          <p:cNvPr id="46086" name="Text Box 6">
            <a:extLst>
              <a:ext uri="{FF2B5EF4-FFF2-40B4-BE49-F238E27FC236}">
                <a16:creationId xmlns:a16="http://schemas.microsoft.com/office/drawing/2014/main" id="{AFC7EF6F-27DA-425D-9644-6C2843A8F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313238"/>
            <a:ext cx="4932362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用库存的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原油</a:t>
            </a:r>
            <a:r>
              <a:rPr lang="en-US" altLang="zh-CN" sz="2800" b="1"/>
              <a:t>B</a:t>
            </a:r>
            <a:r>
              <a:rPr lang="zh-CN" altLang="en-US" sz="2800" b="1">
                <a:latin typeface="宋体" panose="02010600030101010101" pitchFamily="2" charset="-122"/>
              </a:rPr>
              <a:t>生产汽油甲，不购买新的原油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，利润为</a:t>
            </a:r>
            <a:r>
              <a:rPr lang="en-US" altLang="zh-CN" sz="2800" b="1"/>
              <a:t>4800</a:t>
            </a:r>
            <a:r>
              <a:rPr lang="zh-CN" altLang="en-US" sz="2800" b="1"/>
              <a:t>千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nimBg="1" autoUpdateAnimBg="0"/>
      <p:bldP spid="46084" grpId="0" autoUpdateAnimBg="0"/>
      <p:bldP spid="46085" grpId="0" animBg="1" autoUpdateAnimBg="0"/>
      <p:bldP spid="46086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43CEED2A-F421-4669-B106-14F7B1E9F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3375"/>
            <a:ext cx="34290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LINGO</a:t>
            </a:r>
            <a:r>
              <a:rPr lang="zh-CN" altLang="en-US" sz="2800" b="1"/>
              <a:t>求解</a:t>
            </a:r>
            <a:r>
              <a:rPr lang="en-US" altLang="zh-CN" sz="2800" b="1"/>
              <a:t>2</a:t>
            </a:r>
            <a:r>
              <a:rPr lang="zh-CN" altLang="en-US" sz="2800" b="1"/>
              <a:t>：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23FD823F-80BF-4F1A-97B0-AA06D3738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92188"/>
            <a:ext cx="3671887" cy="33416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</a:pPr>
            <a:r>
              <a:rPr lang="zh-CN" altLang="en-US" b="1">
                <a:solidFill>
                  <a:srgbClr val="FF0000"/>
                </a:solidFill>
              </a:rPr>
              <a:t>计算全局最优解 ：</a:t>
            </a:r>
          </a:p>
          <a:p>
            <a:pPr algn="just" eaLnBrk="1" hangingPunct="1">
              <a:lnSpc>
                <a:spcPct val="80000"/>
              </a:lnSpc>
            </a:pPr>
            <a:endParaRPr lang="zh-CN" altLang="en-US" b="1"/>
          </a:p>
          <a:p>
            <a:pPr algn="just" eaLnBrk="1" hangingPunct="1">
              <a:lnSpc>
                <a:spcPct val="80000"/>
              </a:lnSpc>
            </a:pPr>
            <a:r>
              <a:rPr lang="zh-CN" altLang="en-US" b="1"/>
              <a:t>选</a:t>
            </a:r>
            <a:r>
              <a:rPr lang="en-US" altLang="zh-CN" b="1"/>
              <a:t>LINGO|Options</a:t>
            </a:r>
            <a:r>
              <a:rPr lang="zh-CN" altLang="en-US" b="1"/>
              <a:t>菜单；</a:t>
            </a:r>
          </a:p>
          <a:p>
            <a:pPr algn="just" eaLnBrk="1" hangingPunct="1">
              <a:lnSpc>
                <a:spcPct val="80000"/>
              </a:lnSpc>
            </a:pPr>
            <a:endParaRPr lang="zh-CN" altLang="en-US" b="1"/>
          </a:p>
          <a:p>
            <a:pPr algn="just" eaLnBrk="1" hangingPunct="1">
              <a:lnSpc>
                <a:spcPct val="80000"/>
              </a:lnSpc>
            </a:pPr>
            <a:r>
              <a:rPr lang="zh-CN" altLang="en-US" b="1"/>
              <a:t>在弹出的选项卡中选择“</a:t>
            </a:r>
            <a:r>
              <a:rPr lang="en-US" altLang="zh-CN" b="1"/>
              <a:t>General Solver”</a:t>
            </a:r>
            <a:r>
              <a:rPr lang="zh-CN" altLang="en-US" b="1"/>
              <a:t>；</a:t>
            </a:r>
          </a:p>
          <a:p>
            <a:pPr algn="just" eaLnBrk="1" hangingPunct="1">
              <a:lnSpc>
                <a:spcPct val="80000"/>
              </a:lnSpc>
            </a:pPr>
            <a:endParaRPr lang="zh-CN" altLang="en-US" b="1"/>
          </a:p>
          <a:p>
            <a:pPr algn="just" eaLnBrk="1" hangingPunct="1">
              <a:lnSpc>
                <a:spcPct val="80000"/>
              </a:lnSpc>
            </a:pPr>
            <a:r>
              <a:rPr lang="zh-CN" altLang="en-US" b="1"/>
              <a:t>然后找到选项“</a:t>
            </a:r>
            <a:r>
              <a:rPr lang="en-US" altLang="zh-CN" b="1"/>
              <a:t>Use Global Solver”</a:t>
            </a:r>
            <a:r>
              <a:rPr lang="zh-CN" altLang="en-US" b="1"/>
              <a:t>将其选中；</a:t>
            </a:r>
          </a:p>
          <a:p>
            <a:pPr algn="just" eaLnBrk="1" hangingPunct="1">
              <a:lnSpc>
                <a:spcPct val="80000"/>
              </a:lnSpc>
            </a:pPr>
            <a:endParaRPr lang="zh-CN" altLang="en-US" b="1"/>
          </a:p>
          <a:p>
            <a:pPr algn="just" eaLnBrk="1" hangingPunct="1">
              <a:lnSpc>
                <a:spcPct val="80000"/>
              </a:lnSpc>
            </a:pPr>
            <a:r>
              <a:rPr lang="zh-CN" altLang="en-US" b="1"/>
              <a:t>应用或保存；重新求解。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99006C7B-298D-4F22-A0B4-F7201CB1F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33375"/>
            <a:ext cx="496887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en-US" altLang="zh-CN" sz="2000"/>
              <a:t> </a:t>
            </a:r>
            <a:r>
              <a:rPr lang="en-US" altLang="zh-CN" sz="2000" b="1">
                <a:solidFill>
                  <a:srgbClr val="FF0000"/>
                </a:solidFill>
              </a:rPr>
              <a:t>Global optimal solution found.</a:t>
            </a:r>
          </a:p>
          <a:p>
            <a:pPr eaLnBrk="1" hangingPunct="1"/>
            <a:r>
              <a:rPr lang="en-US" altLang="zh-CN" sz="2000" b="1">
                <a:solidFill>
                  <a:srgbClr val="FF0000"/>
                </a:solidFill>
              </a:rPr>
              <a:t>  Objective value:                              5000.000</a:t>
            </a:r>
          </a:p>
          <a:p>
            <a:pPr eaLnBrk="1" hangingPunct="1"/>
            <a:r>
              <a:rPr lang="en-US" altLang="zh-CN" sz="2000" b="1"/>
              <a:t>  Extended solver steps:                               1</a:t>
            </a:r>
          </a:p>
          <a:p>
            <a:pPr eaLnBrk="1" hangingPunct="1"/>
            <a:r>
              <a:rPr lang="en-US" altLang="zh-CN" sz="2000" b="1"/>
              <a:t>  Total solver iterations:                            43       </a:t>
            </a:r>
          </a:p>
          <a:p>
            <a:pPr eaLnBrk="1" hangingPunct="1"/>
            <a:r>
              <a:rPr lang="en-US" altLang="zh-CN" sz="2000" b="1"/>
              <a:t>   Variable           Value        Reduced Cost</a:t>
            </a:r>
          </a:p>
          <a:p>
            <a:pPr eaLnBrk="1" hangingPunct="1"/>
            <a:r>
              <a:rPr lang="en-US" altLang="zh-CN" sz="2000"/>
              <a:t>   </a:t>
            </a:r>
            <a:r>
              <a:rPr lang="en-US" altLang="zh-CN" sz="2000" b="1"/>
              <a:t>X11        0.000000            0.000000</a:t>
            </a:r>
          </a:p>
          <a:p>
            <a:pPr eaLnBrk="1" hangingPunct="1"/>
            <a:r>
              <a:rPr lang="en-US" altLang="zh-CN" sz="2000" b="1"/>
              <a:t>   X21        0.000000           0.900000</a:t>
            </a:r>
          </a:p>
          <a:p>
            <a:pPr eaLnBrk="1" hangingPunct="1"/>
            <a:r>
              <a:rPr lang="en-US" altLang="zh-CN" sz="2000" b="1"/>
              <a:t>   X12        1500.000            0.000000</a:t>
            </a:r>
          </a:p>
          <a:p>
            <a:pPr eaLnBrk="1" hangingPunct="1"/>
            <a:r>
              <a:rPr lang="en-US" altLang="zh-CN" sz="2000" b="1"/>
              <a:t>   X22        1000.000            0.000000</a:t>
            </a:r>
          </a:p>
          <a:p>
            <a:pPr eaLnBrk="1" hangingPunct="1"/>
            <a:r>
              <a:rPr lang="en-US" altLang="zh-CN" sz="2000" b="1"/>
              <a:t>    X1        500.0000            0.000000</a:t>
            </a:r>
          </a:p>
          <a:p>
            <a:pPr eaLnBrk="1" hangingPunct="1"/>
            <a:r>
              <a:rPr lang="en-US" altLang="zh-CN" sz="2000" b="1"/>
              <a:t>    X2        500.0000            0.000000</a:t>
            </a:r>
          </a:p>
          <a:p>
            <a:pPr eaLnBrk="1" hangingPunct="1"/>
            <a:r>
              <a:rPr lang="en-US" altLang="zh-CN" sz="2000" b="1"/>
              <a:t>    X3        0.000000            0.000000</a:t>
            </a:r>
          </a:p>
          <a:p>
            <a:pPr eaLnBrk="1" hangingPunct="1"/>
            <a:r>
              <a:rPr lang="en-US" altLang="zh-CN" sz="2000" b="1"/>
              <a:t>     X        1000.000            0.000000</a:t>
            </a:r>
            <a:r>
              <a:rPr lang="en-US" altLang="zh-CN" sz="2000"/>
              <a:t> </a:t>
            </a:r>
          </a:p>
        </p:txBody>
      </p:sp>
      <p:sp>
        <p:nvSpPr>
          <p:cNvPr id="115717" name="Text Box 5">
            <a:extLst>
              <a:ext uri="{FF2B5EF4-FFF2-40B4-BE49-F238E27FC236}">
                <a16:creationId xmlns:a16="http://schemas.microsoft.com/office/drawing/2014/main" id="{E025A77A-F468-4C2E-900F-298A658EB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949950"/>
            <a:ext cx="5329237" cy="519113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还有其他建模和求解方法</a:t>
            </a:r>
            <a:r>
              <a:rPr lang="zh-CN" altLang="en-US" sz="2800" b="1">
                <a:latin typeface="宋体" panose="02010600030101010101" pitchFamily="2" charset="-122"/>
              </a:rPr>
              <a:t>吗？</a:t>
            </a:r>
            <a:r>
              <a:rPr lang="zh-CN" altLang="en-US" sz="2800" b="1"/>
              <a:t> </a:t>
            </a:r>
          </a:p>
        </p:txBody>
      </p:sp>
      <p:sp>
        <p:nvSpPr>
          <p:cNvPr id="115718" name="Text Box 6">
            <a:extLst>
              <a:ext uri="{FF2B5EF4-FFF2-40B4-BE49-F238E27FC236}">
                <a16:creationId xmlns:a16="http://schemas.microsoft.com/office/drawing/2014/main" id="{EDA588E8-1D06-4A9B-830C-630F5B962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652963"/>
            <a:ext cx="86042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购买</a:t>
            </a:r>
            <a:r>
              <a:rPr lang="en-US" altLang="zh-CN" sz="2800" b="1"/>
              <a:t>1000t</a:t>
            </a:r>
            <a:r>
              <a:rPr lang="zh-CN" altLang="en-US" sz="2800" b="1"/>
              <a:t>原油</a:t>
            </a:r>
            <a:r>
              <a:rPr lang="en-US" altLang="zh-CN" sz="2800" b="1"/>
              <a:t>A</a:t>
            </a:r>
            <a:r>
              <a:rPr lang="zh-CN" altLang="en-US" sz="2800" b="1"/>
              <a:t>，与库存的</a:t>
            </a:r>
            <a:r>
              <a:rPr lang="en-US" altLang="zh-CN" sz="2800" b="1"/>
              <a:t>500t</a:t>
            </a:r>
            <a:r>
              <a:rPr lang="zh-CN" altLang="en-US" sz="2800" b="1"/>
              <a:t>原油</a:t>
            </a:r>
            <a:r>
              <a:rPr lang="en-US" altLang="zh-CN" sz="2800" b="1"/>
              <a:t>A</a:t>
            </a:r>
            <a:r>
              <a:rPr lang="zh-CN" altLang="en-US" sz="2800" b="1"/>
              <a:t>和</a:t>
            </a:r>
            <a:r>
              <a:rPr lang="en-US" altLang="zh-CN" sz="2800" b="1"/>
              <a:t>1000t</a:t>
            </a:r>
            <a:r>
              <a:rPr lang="zh-CN" altLang="en-US" sz="2800" b="1"/>
              <a:t>原油</a:t>
            </a:r>
            <a:r>
              <a:rPr lang="en-US" altLang="zh-CN" sz="2800" b="1"/>
              <a:t>B</a:t>
            </a:r>
            <a:r>
              <a:rPr lang="zh-CN" altLang="en-US" sz="2800" b="1"/>
              <a:t>一起，共生产</a:t>
            </a:r>
            <a:r>
              <a:rPr lang="en-US" altLang="zh-CN" sz="2800" b="1"/>
              <a:t>2500t</a:t>
            </a:r>
            <a:r>
              <a:rPr lang="zh-CN" altLang="en-US" sz="2800" b="1"/>
              <a:t>汽油乙，利润为</a:t>
            </a:r>
            <a:r>
              <a:rPr lang="en-US" altLang="zh-CN" sz="2800" b="1"/>
              <a:t>5000</a:t>
            </a:r>
            <a:r>
              <a:rPr lang="zh-CN" altLang="en-US" sz="2800" b="1"/>
              <a:t>千元</a:t>
            </a:r>
            <a:r>
              <a:rPr lang="zh-CN" altLang="en-US" sz="2800"/>
              <a:t> 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animBg="1" autoUpdateAnimBg="0"/>
      <p:bldP spid="115716" grpId="0" autoUpdateAnimBg="0"/>
      <p:bldP spid="115717" grpId="0" animBg="1" autoUpdateAnimBg="0"/>
      <p:bldP spid="115718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BCB26578-1377-40DB-9DDB-B9E9EE847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38" y="1916113"/>
            <a:ext cx="6678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2 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=1 ~</a:t>
            </a:r>
            <a:r>
              <a:rPr lang="zh-CN" altLang="en-US" sz="2800" b="1">
                <a:latin typeface="宋体" panose="02010600030101010101" pitchFamily="2" charset="-122"/>
              </a:rPr>
              <a:t>以价格</a:t>
            </a:r>
            <a:r>
              <a:rPr lang="en-US" altLang="zh-CN" sz="2800" b="1"/>
              <a:t>10, 8, 6(</a:t>
            </a:r>
            <a:r>
              <a:rPr lang="zh-CN" altLang="en-US" sz="2800" b="1">
                <a:latin typeface="宋体" panose="02010600030101010101" pitchFamily="2" charset="-122"/>
              </a:rPr>
              <a:t>千元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en-US" altLang="zh-CN" sz="2800" b="1">
                <a:latin typeface="宋体" panose="02010600030101010101" pitchFamily="2" charset="-122"/>
              </a:rPr>
              <a:t>t)</a:t>
            </a:r>
            <a:r>
              <a:rPr lang="zh-CN" altLang="en-US" sz="2800" b="1">
                <a:latin typeface="宋体" panose="02010600030101010101" pitchFamily="2" charset="-122"/>
              </a:rPr>
              <a:t>采购</a:t>
            </a:r>
            <a:r>
              <a:rPr lang="en-US" altLang="zh-CN" sz="2800" b="1"/>
              <a:t>A</a:t>
            </a: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56A44CC0-C607-4166-AC5F-83A3B8FCD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36838"/>
            <a:ext cx="1081088" cy="946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增加约束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0182081B-239F-4AF4-8783-4A5D0616B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549275"/>
            <a:ext cx="4922837" cy="522288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800" b="1">
                <a:solidFill>
                  <a:schemeClr val="accent2"/>
                </a:solidFill>
              </a:rPr>
              <a:t>2 —— </a:t>
            </a:r>
            <a:r>
              <a:rPr lang="zh-CN" altLang="en-US" sz="2800" b="1">
                <a:solidFill>
                  <a:schemeClr val="accent2"/>
                </a:solidFill>
              </a:rPr>
              <a:t>引入</a:t>
            </a:r>
            <a:r>
              <a:rPr lang="en-US" altLang="zh-CN" sz="2800" b="1">
                <a:solidFill>
                  <a:schemeClr val="accent2"/>
                </a:solidFill>
              </a:rPr>
              <a:t>0-1</a:t>
            </a:r>
            <a:r>
              <a:rPr lang="zh-CN" altLang="en-US" sz="2800" b="1">
                <a:solidFill>
                  <a:schemeClr val="accent2"/>
                </a:solidFill>
              </a:rPr>
              <a:t>逻辑变量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7109" name="Text Box 5">
            <a:extLst>
              <a:ext uri="{FF2B5EF4-FFF2-40B4-BE49-F238E27FC236}">
                <a16:creationId xmlns:a16="http://schemas.microsoft.com/office/drawing/2014/main" id="{3AB42BB1-B17E-43F2-A907-AB9693686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787775"/>
            <a:ext cx="3335337" cy="1117600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0-1</a:t>
            </a:r>
            <a:r>
              <a:rPr lang="zh-CN" altLang="en-US" sz="2800" b="1">
                <a:latin typeface="宋体" panose="02010600030101010101" pitchFamily="2" charset="-122"/>
              </a:rPr>
              <a:t>线性规划模型</a:t>
            </a:r>
            <a:r>
              <a:rPr lang="en-US" altLang="zh-CN" sz="2800" b="1"/>
              <a:t>, </a:t>
            </a:r>
            <a:r>
              <a:rPr lang="zh-CN" altLang="en-US" sz="2800" b="1"/>
              <a:t>可用</a:t>
            </a:r>
            <a:r>
              <a:rPr lang="en-US" altLang="zh-CN" sz="2800" b="1"/>
              <a:t>LINGO</a:t>
            </a:r>
            <a:r>
              <a:rPr lang="zh-CN" altLang="en-US" sz="2800" b="1"/>
              <a:t>求解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47110" name="Object 6">
            <a:extLst>
              <a:ext uri="{FF2B5EF4-FFF2-40B4-BE49-F238E27FC236}">
                <a16:creationId xmlns:a16="http://schemas.microsoft.com/office/drawing/2014/main" id="{5486102E-493D-435C-9CB8-6BE35B96FC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9375" y="2636838"/>
          <a:ext cx="25749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r:id="rId3" imgW="1231366" imgH="215806" progId="Equation.3">
                  <p:embed/>
                </p:oleObj>
              </mc:Choice>
              <mc:Fallback>
                <p:oleObj r:id="rId3" imgW="1231366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2636838"/>
                        <a:ext cx="25749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>
            <a:extLst>
              <a:ext uri="{FF2B5EF4-FFF2-40B4-BE49-F238E27FC236}">
                <a16:creationId xmlns:a16="http://schemas.microsoft.com/office/drawing/2014/main" id="{DBF6B82E-BABA-46EC-A5A9-94AD1FF1D7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2575" y="2636838"/>
          <a:ext cx="27114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r:id="rId5" imgW="1257300" imgH="228600" progId="Equation.3">
                  <p:embed/>
                </p:oleObj>
              </mc:Choice>
              <mc:Fallback>
                <p:oleObj r:id="rId5" imgW="12573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2636838"/>
                        <a:ext cx="27114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8">
            <a:extLst>
              <a:ext uri="{FF2B5EF4-FFF2-40B4-BE49-F238E27FC236}">
                <a16:creationId xmlns:a16="http://schemas.microsoft.com/office/drawing/2014/main" id="{88BDEAB9-7188-4F60-BBF3-A61ED69B19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3159125"/>
          <a:ext cx="15192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r:id="rId7" imgW="711200" imgH="228600" progId="Equation.3">
                  <p:embed/>
                </p:oleObj>
              </mc:Choice>
              <mc:Fallback>
                <p:oleObj r:id="rId7" imgW="7112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159125"/>
                        <a:ext cx="151923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Rectangle 9">
            <a:extLst>
              <a:ext uri="{FF2B5EF4-FFF2-40B4-BE49-F238E27FC236}">
                <a16:creationId xmlns:a16="http://schemas.microsoft.com/office/drawing/2014/main" id="{67036FBF-EDAB-4FE7-BAE0-59FAF186C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140075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y</a:t>
            </a:r>
            <a:r>
              <a:rPr lang="en-US" altLang="zh-CN" b="1" baseline="-30000"/>
              <a:t>1</a:t>
            </a:r>
            <a:r>
              <a:rPr lang="en-US" altLang="zh-CN" b="1">
                <a:latin typeface="宋体" panose="02010600030101010101" pitchFamily="2" charset="-122"/>
              </a:rPr>
              <a:t>,</a:t>
            </a:r>
            <a:r>
              <a:rPr lang="en-US" altLang="zh-CN" b="1" i="1"/>
              <a:t>y</a:t>
            </a:r>
            <a:r>
              <a:rPr lang="en-US" altLang="zh-CN" b="1" baseline="-30000"/>
              <a:t>2</a:t>
            </a:r>
            <a:r>
              <a:rPr lang="en-US" altLang="zh-CN" b="1">
                <a:latin typeface="宋体" panose="02010600030101010101" pitchFamily="2" charset="-122"/>
              </a:rPr>
              <a:t>,</a:t>
            </a:r>
            <a:r>
              <a:rPr lang="en-US" altLang="zh-CN" b="1" i="1"/>
              <a:t>y</a:t>
            </a:r>
            <a:r>
              <a:rPr lang="en-US" altLang="zh-CN" b="1" baseline="-30000"/>
              <a:t>3 </a:t>
            </a:r>
            <a:r>
              <a:rPr lang="en-US" altLang="zh-CN" b="1"/>
              <a:t>=0</a:t>
            </a:r>
            <a:r>
              <a:rPr lang="zh-CN" altLang="en-US" b="1">
                <a:latin typeface="宋体" panose="02010600030101010101" pitchFamily="2" charset="-122"/>
              </a:rPr>
              <a:t>或</a:t>
            </a:r>
            <a:r>
              <a:rPr lang="en-US" altLang="zh-CN" b="1"/>
              <a:t>1 </a:t>
            </a:r>
          </a:p>
        </p:txBody>
      </p:sp>
      <p:sp>
        <p:nvSpPr>
          <p:cNvPr id="47115" name="Text Box 11">
            <a:extLst>
              <a:ext uri="{FF2B5EF4-FFF2-40B4-BE49-F238E27FC236}">
                <a16:creationId xmlns:a16="http://schemas.microsoft.com/office/drawing/2014/main" id="{913B594E-7F64-4377-B164-62F9CB62F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860800"/>
            <a:ext cx="4464050" cy="1800225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购买</a:t>
            </a:r>
            <a:r>
              <a:rPr lang="en-US" altLang="zh-CN" sz="2800" b="1">
                <a:solidFill>
                  <a:srgbClr val="FF3300"/>
                </a:solidFill>
              </a:rPr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，与库存的</a:t>
            </a:r>
            <a:r>
              <a:rPr lang="en-US" altLang="zh-CN" sz="2800" b="1"/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原油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和</a:t>
            </a:r>
            <a:r>
              <a:rPr lang="en-US" altLang="zh-CN" sz="2800" b="1"/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>
                <a:latin typeface="宋体" panose="02010600030101010101" pitchFamily="2" charset="-122"/>
              </a:rPr>
              <a:t>原油</a:t>
            </a:r>
            <a:r>
              <a:rPr lang="en-US" altLang="zh-CN" sz="2800" b="1"/>
              <a:t>B</a:t>
            </a:r>
            <a:r>
              <a:rPr lang="zh-CN" altLang="en-US" sz="2800" b="1">
                <a:latin typeface="宋体" panose="02010600030101010101" pitchFamily="2" charset="-122"/>
              </a:rPr>
              <a:t>一起，生产汽油乙，利润为</a:t>
            </a:r>
            <a:r>
              <a:rPr lang="en-US" altLang="zh-CN" sz="2800" b="1"/>
              <a:t>5000</a:t>
            </a:r>
            <a:r>
              <a:rPr lang="zh-CN" altLang="en-US" sz="2800" b="1">
                <a:latin typeface="宋体" panose="02010600030101010101" pitchFamily="2" charset="-122"/>
              </a:rPr>
              <a:t>千元</a:t>
            </a:r>
            <a:r>
              <a:rPr lang="zh-CN" altLang="en-US" sz="2800" b="1"/>
              <a:t> </a:t>
            </a:r>
            <a:r>
              <a:rPr lang="en-US" altLang="zh-CN" sz="2800" b="1"/>
              <a:t>.</a:t>
            </a:r>
          </a:p>
        </p:txBody>
      </p:sp>
      <p:sp>
        <p:nvSpPr>
          <p:cNvPr id="47116" name="Text Box 12">
            <a:extLst>
              <a:ext uri="{FF2B5EF4-FFF2-40B4-BE49-F238E27FC236}">
                <a16:creationId xmlns:a16="http://schemas.microsoft.com/office/drawing/2014/main" id="{690D3349-C580-4FE4-AD71-BDCFBFE8B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68413"/>
            <a:ext cx="762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30000"/>
              <a:t>1 </a:t>
            </a:r>
            <a:r>
              <a:rPr lang="en-US" altLang="zh-CN" sz="2800" b="1"/>
              <a:t>, 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 </a:t>
            </a:r>
            <a:r>
              <a:rPr lang="en-US" altLang="zh-CN" sz="2800" b="1"/>
              <a:t>, 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3 </a:t>
            </a:r>
            <a:r>
              <a:rPr lang="en-US" altLang="zh-CN" sz="2800" b="1"/>
              <a:t>~</a:t>
            </a:r>
            <a:r>
              <a:rPr lang="zh-CN" altLang="en-US" sz="2800" b="1">
                <a:latin typeface="宋体" panose="02010600030101010101" pitchFamily="2" charset="-122"/>
              </a:rPr>
              <a:t>以价格</a:t>
            </a:r>
            <a:r>
              <a:rPr lang="en-US" altLang="zh-CN" sz="2800" b="1"/>
              <a:t>10, 8, 6(</a:t>
            </a:r>
            <a:r>
              <a:rPr lang="zh-CN" altLang="en-US" sz="2800" b="1">
                <a:latin typeface="宋体" panose="02010600030101010101" pitchFamily="2" charset="-122"/>
              </a:rPr>
              <a:t>千元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en-US" altLang="zh-CN" sz="2800" b="1">
                <a:latin typeface="宋体" panose="02010600030101010101" pitchFamily="2" charset="-122"/>
              </a:rPr>
              <a:t>t)</a:t>
            </a:r>
            <a:r>
              <a:rPr lang="zh-CN" altLang="en-US" sz="2800" b="1">
                <a:latin typeface="宋体" panose="02010600030101010101" pitchFamily="2" charset="-122"/>
              </a:rPr>
              <a:t>采购</a:t>
            </a:r>
            <a:r>
              <a:rPr lang="en-US" altLang="zh-CN" sz="2800" b="1"/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的吨数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201A5D34-0F4D-4AB0-BF70-813159422779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2636838"/>
            <a:ext cx="1944687" cy="877887"/>
            <a:chOff x="4272" y="864"/>
            <a:chExt cx="1200" cy="455"/>
          </a:xfrm>
        </p:grpSpPr>
        <p:sp>
          <p:nvSpPr>
            <p:cNvPr id="25615" name="Text Box 14">
              <a:extLst>
                <a:ext uri="{FF2B5EF4-FFF2-40B4-BE49-F238E27FC236}">
                  <a16:creationId xmlns:a16="http://schemas.microsoft.com/office/drawing/2014/main" id="{4F1589C3-643B-4878-A17F-DB423CF08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864"/>
              <a:ext cx="1008" cy="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b="1" i="1">
                  <a:sym typeface="Symbol" panose="05050102010706020507" pitchFamily="18" charset="2"/>
                </a:rPr>
                <a:t>y</a:t>
              </a:r>
              <a:r>
                <a:rPr lang="en-US" altLang="zh-CN" b="1">
                  <a:sym typeface="Symbol" panose="05050102010706020507" pitchFamily="18" charset="2"/>
                </a:rPr>
                <a:t>=0  </a:t>
              </a:r>
              <a:r>
                <a:rPr lang="en-US" altLang="zh-CN" b="1" i="1"/>
                <a:t>x</a:t>
              </a:r>
              <a:r>
                <a:rPr lang="en-US" altLang="zh-CN" b="1"/>
                <a:t>=0</a:t>
              </a:r>
              <a:endParaRPr lang="en-US" altLang="zh-CN" b="1" i="1"/>
            </a:p>
            <a:p>
              <a:pPr eaLnBrk="1" hangingPunct="1">
                <a:spcBef>
                  <a:spcPct val="15000"/>
                </a:spcBef>
              </a:pPr>
              <a:r>
                <a:rPr lang="en-US" altLang="zh-CN" b="1" i="1"/>
                <a:t>x</a:t>
              </a:r>
              <a:r>
                <a:rPr lang="en-US" altLang="zh-CN" b="1"/>
                <a:t>&gt;0 </a:t>
              </a:r>
              <a:r>
                <a:rPr lang="en-US" altLang="zh-CN" b="1">
                  <a:sym typeface="Symbol" panose="05050102010706020507" pitchFamily="18" charset="2"/>
                </a:rPr>
                <a:t> </a:t>
              </a:r>
              <a:r>
                <a:rPr lang="en-US" altLang="zh-CN" b="1" i="1">
                  <a:sym typeface="Symbol" panose="05050102010706020507" pitchFamily="18" charset="2"/>
                </a:rPr>
                <a:t>y</a:t>
              </a:r>
              <a:r>
                <a:rPr lang="en-US" altLang="zh-CN" b="1">
                  <a:sym typeface="Symbol" panose="05050102010706020507" pitchFamily="18" charset="2"/>
                </a:rPr>
                <a:t>=1</a:t>
              </a:r>
            </a:p>
          </p:txBody>
        </p:sp>
        <p:sp>
          <p:nvSpPr>
            <p:cNvPr id="25616" name="AutoShape 15">
              <a:extLst>
                <a:ext uri="{FF2B5EF4-FFF2-40B4-BE49-F238E27FC236}">
                  <a16:creationId xmlns:a16="http://schemas.microsoft.com/office/drawing/2014/main" id="{5764FDF2-683D-410F-97D7-3E5BB83C8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008"/>
              <a:ext cx="96" cy="288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7120" name="Text Box 16">
            <a:extLst>
              <a:ext uri="{FF2B5EF4-FFF2-40B4-BE49-F238E27FC236}">
                <a16:creationId xmlns:a16="http://schemas.microsoft.com/office/drawing/2014/main" id="{4B416AC5-B5FF-4324-A551-7193BE60C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862638"/>
            <a:ext cx="6480175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与方法</a:t>
            </a:r>
            <a:r>
              <a:rPr lang="en-US" altLang="zh-CN" sz="2800" b="1"/>
              <a:t>1</a:t>
            </a:r>
            <a:r>
              <a:rPr lang="zh-CN" altLang="en-US" sz="2800" b="1"/>
              <a:t>（全局最优解）的结果相同</a:t>
            </a:r>
          </a:p>
        </p:txBody>
      </p:sp>
      <p:sp>
        <p:nvSpPr>
          <p:cNvPr id="47121" name="Text Box 17">
            <a:extLst>
              <a:ext uri="{FF2B5EF4-FFF2-40B4-BE49-F238E27FC236}">
                <a16:creationId xmlns:a16="http://schemas.microsoft.com/office/drawing/2014/main" id="{3507BDF1-60B2-4776-A3F2-FB8834FBB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1978025"/>
            <a:ext cx="21240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引入</a:t>
            </a:r>
            <a:r>
              <a:rPr lang="en-US" altLang="zh-CN" sz="2800" b="1"/>
              <a:t>0-1</a:t>
            </a:r>
            <a:r>
              <a:rPr lang="zh-CN" altLang="en-US" sz="2800" b="1"/>
              <a:t>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 animBg="1" autoUpdateAnimBg="0"/>
      <p:bldP spid="47109" grpId="0" animBg="1" autoUpdateAnimBg="0"/>
      <p:bldP spid="47113" grpId="0" autoUpdateAnimBg="0"/>
      <p:bldP spid="47115" grpId="0" animBg="1" autoUpdateAnimBg="0"/>
      <p:bldP spid="47116" grpId="0" autoUpdateAnimBg="0"/>
      <p:bldP spid="47120" grpId="0" animBg="1" autoUpdateAnimBg="0"/>
      <p:bldP spid="471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1188B6EE-1C89-4B38-AB5E-48BEEA7D0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7338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/>
              <a:t>b</a:t>
            </a:r>
            <a:r>
              <a:rPr lang="en-US" altLang="zh-CN" b="1" baseline="-30000"/>
              <a:t>1            </a:t>
            </a:r>
            <a:r>
              <a:rPr lang="en-US" altLang="zh-CN" b="1" i="1"/>
              <a:t>b</a:t>
            </a:r>
            <a:r>
              <a:rPr lang="en-US" altLang="zh-CN" b="1" baseline="-30000"/>
              <a:t>2</a:t>
            </a:r>
            <a:r>
              <a:rPr lang="en-US" altLang="zh-CN" b="1"/>
              <a:t>       </a:t>
            </a:r>
            <a:r>
              <a:rPr lang="en-US" altLang="zh-CN" b="1" i="1"/>
              <a:t>b</a:t>
            </a:r>
            <a:r>
              <a:rPr lang="en-US" altLang="zh-CN" b="1" baseline="-30000"/>
              <a:t>3</a:t>
            </a:r>
            <a:r>
              <a:rPr lang="en-US" altLang="zh-CN" b="1"/>
              <a:t>         </a:t>
            </a:r>
            <a:r>
              <a:rPr lang="en-US" altLang="zh-CN" b="1" i="1"/>
              <a:t>b</a:t>
            </a:r>
            <a:r>
              <a:rPr lang="en-US" altLang="zh-CN" b="1" baseline="-30000"/>
              <a:t>4</a:t>
            </a:r>
            <a:endParaRPr lang="en-US" altLang="zh-CN" sz="2800" b="1"/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C69F7F8B-878D-42F2-99F4-7308F1BCD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5288"/>
            <a:ext cx="1143000" cy="519112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800" b="1">
                <a:solidFill>
                  <a:schemeClr val="accent2"/>
                </a:solidFill>
              </a:rPr>
              <a:t>3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EF90ADA3-212A-4081-A0F5-2FB609BC2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708275"/>
            <a:ext cx="4110038" cy="1801813"/>
          </a:xfrm>
          <a:prstGeom prst="rect">
            <a:avLst/>
          </a:prstGeom>
          <a:solidFill>
            <a:srgbClr val="C1DF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b</a:t>
            </a:r>
            <a:r>
              <a:rPr lang="en-US" altLang="zh-CN" sz="2800" b="1" baseline="-30000"/>
              <a:t>1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 </a:t>
            </a:r>
            <a:r>
              <a:rPr lang="en-US" altLang="zh-CN" sz="2800" b="1" i="1"/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 z</a:t>
            </a:r>
            <a:r>
              <a:rPr lang="en-US" altLang="zh-CN" sz="2800" b="1" baseline="-30000"/>
              <a:t>1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2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z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=1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2</a:t>
            </a:r>
            <a:r>
              <a:rPr lang="en-US" altLang="zh-CN" sz="2800" b="1">
                <a:sym typeface="Symbol" panose="05050102010706020507" pitchFamily="18" charset="2"/>
              </a:rPr>
              <a:t></a:t>
            </a:r>
            <a:r>
              <a:rPr lang="en-US" altLang="zh-CN" sz="2800" b="1"/>
              <a:t>0,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)=</a:t>
            </a:r>
            <a:r>
              <a:rPr lang="en-US" altLang="zh-CN" sz="2800" b="1" i="1"/>
              <a:t> z</a:t>
            </a:r>
            <a:r>
              <a:rPr lang="en-US" altLang="zh-CN" sz="2800" b="1" baseline="-30000"/>
              <a:t>1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)+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2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).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95B6E5CE-B9DC-41B8-B170-B7601383999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914400"/>
            <a:ext cx="4419600" cy="2784475"/>
            <a:chOff x="2832" y="432"/>
            <a:chExt cx="2784" cy="1754"/>
          </a:xfrm>
        </p:grpSpPr>
        <p:sp>
          <p:nvSpPr>
            <p:cNvPr id="26634" name="Text Box 6">
              <a:extLst>
                <a:ext uri="{FF2B5EF4-FFF2-40B4-BE49-F238E27FC236}">
                  <a16:creationId xmlns:a16="http://schemas.microsoft.com/office/drawing/2014/main" id="{3250E5C8-0977-489D-A087-D82D6DAA0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" y="432"/>
              <a:ext cx="56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 i="1"/>
                <a:t>c</a:t>
              </a:r>
              <a:r>
                <a:rPr kumimoji="0" lang="en-US" altLang="zh-CN" sz="2000" b="1"/>
                <a:t>(</a:t>
              </a:r>
              <a:r>
                <a:rPr kumimoji="0" lang="en-US" altLang="zh-CN" sz="2000" b="1" i="1"/>
                <a:t>x</a:t>
              </a:r>
              <a:r>
                <a:rPr kumimoji="0" lang="en-US" altLang="zh-CN" sz="2000" b="1"/>
                <a:t>)</a:t>
              </a:r>
              <a:endParaRPr kumimoji="0" lang="en-US" altLang="zh-CN" sz="2000" b="1" i="1"/>
            </a:p>
          </p:txBody>
        </p:sp>
        <p:sp>
          <p:nvSpPr>
            <p:cNvPr id="26635" name="Text Box 7">
              <a:extLst>
                <a:ext uri="{FF2B5EF4-FFF2-40B4-BE49-F238E27FC236}">
                  <a16:creationId xmlns:a16="http://schemas.microsoft.com/office/drawing/2014/main" id="{F5A66AD4-5BA4-4AE4-9701-AD7627979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" y="1912"/>
              <a:ext cx="287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 i="1"/>
                <a:t>x</a:t>
              </a:r>
            </a:p>
          </p:txBody>
        </p:sp>
        <p:sp>
          <p:nvSpPr>
            <p:cNvPr id="26636" name="Text Box 8">
              <a:extLst>
                <a:ext uri="{FF2B5EF4-FFF2-40B4-BE49-F238E27FC236}">
                  <a16:creationId xmlns:a16="http://schemas.microsoft.com/office/drawing/2014/main" id="{B27A4BC2-E2B6-4FED-BF77-61D4DDFB0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778"/>
              <a:ext cx="546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/>
                <a:t>12000</a:t>
              </a:r>
            </a:p>
          </p:txBody>
        </p:sp>
        <p:sp>
          <p:nvSpPr>
            <p:cNvPr id="26637" name="Text Box 9">
              <a:extLst>
                <a:ext uri="{FF2B5EF4-FFF2-40B4-BE49-F238E27FC236}">
                  <a16:creationId xmlns:a16="http://schemas.microsoft.com/office/drawing/2014/main" id="{CBF2161D-4EF4-425E-94A4-952D11386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993"/>
              <a:ext cx="517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/>
                <a:t>9000</a:t>
              </a:r>
            </a:p>
          </p:txBody>
        </p:sp>
        <p:sp>
          <p:nvSpPr>
            <p:cNvPr id="26638" name="Text Box 10">
              <a:extLst>
                <a:ext uri="{FF2B5EF4-FFF2-40B4-BE49-F238E27FC236}">
                  <a16:creationId xmlns:a16="http://schemas.microsoft.com/office/drawing/2014/main" id="{DDA7C555-AC7D-4534-9C8F-12EFFEEB8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9" y="1351"/>
              <a:ext cx="517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/>
                <a:t>5000</a:t>
              </a:r>
            </a:p>
          </p:txBody>
        </p:sp>
        <p:sp>
          <p:nvSpPr>
            <p:cNvPr id="26639" name="Text Box 11">
              <a:extLst>
                <a:ext uri="{FF2B5EF4-FFF2-40B4-BE49-F238E27FC236}">
                  <a16:creationId xmlns:a16="http://schemas.microsoft.com/office/drawing/2014/main" id="{8A25F348-268C-4ECD-8D85-9F2CA7660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0" y="1935"/>
              <a:ext cx="288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 i="1"/>
                <a:t>O</a:t>
              </a:r>
            </a:p>
          </p:txBody>
        </p:sp>
        <p:sp>
          <p:nvSpPr>
            <p:cNvPr id="26640" name="Text Box 12">
              <a:extLst>
                <a:ext uri="{FF2B5EF4-FFF2-40B4-BE49-F238E27FC236}">
                  <a16:creationId xmlns:a16="http://schemas.microsoft.com/office/drawing/2014/main" id="{72D935E1-1413-4757-8C3E-120333F9D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4" y="1947"/>
              <a:ext cx="402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/>
                <a:t>500</a:t>
              </a:r>
            </a:p>
          </p:txBody>
        </p:sp>
        <p:sp>
          <p:nvSpPr>
            <p:cNvPr id="26641" name="Text Box 13">
              <a:extLst>
                <a:ext uri="{FF2B5EF4-FFF2-40B4-BE49-F238E27FC236}">
                  <a16:creationId xmlns:a16="http://schemas.microsoft.com/office/drawing/2014/main" id="{C7F6EF19-E1EA-412C-8D09-B95860A13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1935"/>
              <a:ext cx="48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/>
                <a:t>1000</a:t>
              </a:r>
            </a:p>
          </p:txBody>
        </p:sp>
        <p:sp>
          <p:nvSpPr>
            <p:cNvPr id="26642" name="Text Box 14">
              <a:extLst>
                <a:ext uri="{FF2B5EF4-FFF2-40B4-BE49-F238E27FC236}">
                  <a16:creationId xmlns:a16="http://schemas.microsoft.com/office/drawing/2014/main" id="{B341EDCB-DF39-434C-B38E-9A6FF757E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1" y="1947"/>
              <a:ext cx="48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2000" b="1"/>
                <a:t>1500</a:t>
              </a:r>
            </a:p>
          </p:txBody>
        </p:sp>
        <p:sp>
          <p:nvSpPr>
            <p:cNvPr id="26643" name="Line 15">
              <a:extLst>
                <a:ext uri="{FF2B5EF4-FFF2-40B4-BE49-F238E27FC236}">
                  <a16:creationId xmlns:a16="http://schemas.microsoft.com/office/drawing/2014/main" id="{2B9CD82B-97C2-4111-B0EC-165AEE2A8E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2" y="575"/>
              <a:ext cx="4" cy="14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Line 16">
              <a:extLst>
                <a:ext uri="{FF2B5EF4-FFF2-40B4-BE49-F238E27FC236}">
                  <a16:creationId xmlns:a16="http://schemas.microsoft.com/office/drawing/2014/main" id="{DFCA32CD-8E69-46A1-A6FF-C8BD0037C8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6" y="1440"/>
              <a:ext cx="552" cy="54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Line 17">
              <a:extLst>
                <a:ext uri="{FF2B5EF4-FFF2-40B4-BE49-F238E27FC236}">
                  <a16:creationId xmlns:a16="http://schemas.microsoft.com/office/drawing/2014/main" id="{A806D990-60D0-4204-8C6F-6E599DC82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4" y="1458"/>
              <a:ext cx="0" cy="5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18">
              <a:extLst>
                <a:ext uri="{FF2B5EF4-FFF2-40B4-BE49-F238E27FC236}">
                  <a16:creationId xmlns:a16="http://schemas.microsoft.com/office/drawing/2014/main" id="{B2372BFC-B3BD-4868-8239-C78C26037B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8" y="1112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Line 19">
              <a:extLst>
                <a:ext uri="{FF2B5EF4-FFF2-40B4-BE49-F238E27FC236}">
                  <a16:creationId xmlns:a16="http://schemas.microsoft.com/office/drawing/2014/main" id="{32972F2E-8C08-431E-B875-6FB2435274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7" y="1104"/>
              <a:ext cx="559" cy="36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Line 20">
              <a:extLst>
                <a:ext uri="{FF2B5EF4-FFF2-40B4-BE49-F238E27FC236}">
                  <a16:creationId xmlns:a16="http://schemas.microsoft.com/office/drawing/2014/main" id="{3162ADEF-FD6E-4929-8F51-6F9675CFB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77" y="909"/>
              <a:ext cx="0" cy="10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Line 21">
              <a:extLst>
                <a:ext uri="{FF2B5EF4-FFF2-40B4-BE49-F238E27FC236}">
                  <a16:creationId xmlns:a16="http://schemas.microsoft.com/office/drawing/2014/main" id="{A2F01FF4-C3E8-498C-A29E-199E75FD4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8" y="909"/>
              <a:ext cx="575" cy="20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0" name="Line 22">
              <a:extLst>
                <a:ext uri="{FF2B5EF4-FFF2-40B4-BE49-F238E27FC236}">
                  <a16:creationId xmlns:a16="http://schemas.microsoft.com/office/drawing/2014/main" id="{EC6947B7-1570-461E-89D6-34CD826F4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1983"/>
              <a:ext cx="208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Line 23">
              <a:extLst>
                <a:ext uri="{FF2B5EF4-FFF2-40B4-BE49-F238E27FC236}">
                  <a16:creationId xmlns:a16="http://schemas.microsoft.com/office/drawing/2014/main" id="{EEC64BF5-1F88-445C-ABC0-443E7357C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25" y="897"/>
              <a:ext cx="16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Line 24">
              <a:extLst>
                <a:ext uri="{FF2B5EF4-FFF2-40B4-BE49-F238E27FC236}">
                  <a16:creationId xmlns:a16="http://schemas.microsoft.com/office/drawing/2014/main" id="{DFFC8250-4504-46CA-96E4-4E6D560C1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25" y="1112"/>
              <a:ext cx="104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3" name="Line 25">
              <a:extLst>
                <a:ext uri="{FF2B5EF4-FFF2-40B4-BE49-F238E27FC236}">
                  <a16:creationId xmlns:a16="http://schemas.microsoft.com/office/drawing/2014/main" id="{360914AA-361C-48E1-8C93-3D72DED1BB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25" y="1458"/>
              <a:ext cx="5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154" name="Text Box 26">
            <a:extLst>
              <a:ext uri="{FF2B5EF4-FFF2-40B4-BE49-F238E27FC236}">
                <a16:creationId xmlns:a16="http://schemas.microsoft.com/office/drawing/2014/main" id="{F110462D-E3C5-4F95-ABB6-79357C252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648200"/>
            <a:ext cx="4110038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b</a:t>
            </a:r>
            <a:r>
              <a:rPr lang="en-US" altLang="zh-CN" sz="2800" b="1" baseline="-30000"/>
              <a:t>2 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 </a:t>
            </a:r>
            <a:r>
              <a:rPr lang="en-US" altLang="zh-CN" sz="2800" b="1" i="1"/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 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3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 z</a:t>
            </a:r>
            <a:r>
              <a:rPr lang="en-US" altLang="zh-CN" sz="2800" b="1" baseline="-30000"/>
              <a:t>2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3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3</a:t>
            </a:r>
            <a:r>
              <a:rPr lang="zh-CN" altLang="en-US" sz="2800" b="1">
                <a:latin typeface="宋体" panose="02010600030101010101" pitchFamily="2" charset="-122"/>
              </a:rPr>
              <a:t>，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z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=1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, 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3 </a:t>
            </a:r>
            <a:r>
              <a:rPr lang="en-US" altLang="zh-CN" sz="2800" b="1">
                <a:sym typeface="Symbol" panose="05050102010706020507" pitchFamily="18" charset="2"/>
              </a:rPr>
              <a:t></a:t>
            </a:r>
            <a:r>
              <a:rPr lang="en-US" altLang="zh-CN" sz="2800" b="1">
                <a:sym typeface="Math3" pitchFamily="2" charset="2"/>
              </a:rPr>
              <a:t> </a:t>
            </a:r>
            <a:r>
              <a:rPr lang="en-US" altLang="zh-CN" sz="2800" b="1"/>
              <a:t>0,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)=</a:t>
            </a:r>
            <a:r>
              <a:rPr lang="en-US" altLang="zh-CN" sz="2800" b="1" i="1"/>
              <a:t> z</a:t>
            </a:r>
            <a:r>
              <a:rPr lang="en-US" altLang="zh-CN" sz="2800" b="1" baseline="-30000"/>
              <a:t>2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)+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3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). </a:t>
            </a:r>
          </a:p>
        </p:txBody>
      </p:sp>
      <p:sp>
        <p:nvSpPr>
          <p:cNvPr id="48155" name="Text Box 27">
            <a:extLst>
              <a:ext uri="{FF2B5EF4-FFF2-40B4-BE49-F238E27FC236}">
                <a16:creationId xmlns:a16="http://schemas.microsoft.com/office/drawing/2014/main" id="{D01BD3E8-A393-444A-9D03-927ED4A8B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4648200"/>
            <a:ext cx="4092575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b</a:t>
            </a:r>
            <a:r>
              <a:rPr lang="en-US" altLang="zh-CN" sz="2800" b="1" baseline="-30000"/>
              <a:t>3 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 </a:t>
            </a:r>
            <a:r>
              <a:rPr lang="en-US" altLang="zh-CN" sz="2800" b="1" i="1"/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 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4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 z</a:t>
            </a:r>
            <a:r>
              <a:rPr lang="en-US" altLang="zh-CN" sz="2800" b="1" baseline="-30000"/>
              <a:t>3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4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4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z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4</a:t>
            </a:r>
            <a:r>
              <a:rPr lang="en-US" altLang="zh-CN" sz="2800" b="1"/>
              <a:t>=1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, 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4 </a:t>
            </a:r>
            <a:r>
              <a:rPr lang="en-US" altLang="zh-CN" sz="2800" b="1">
                <a:sym typeface="Symbol" panose="05050102010706020507" pitchFamily="18" charset="2"/>
              </a:rPr>
              <a:t></a:t>
            </a:r>
            <a:r>
              <a:rPr lang="en-US" altLang="zh-CN" sz="2800" b="1">
                <a:sym typeface="Math3" pitchFamily="2" charset="2"/>
              </a:rPr>
              <a:t> </a:t>
            </a:r>
            <a:r>
              <a:rPr lang="en-US" altLang="zh-CN" sz="2800" b="1"/>
              <a:t>0,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)=</a:t>
            </a:r>
            <a:r>
              <a:rPr lang="en-US" altLang="zh-CN" sz="2800" b="1" i="1"/>
              <a:t> z</a:t>
            </a:r>
            <a:r>
              <a:rPr lang="en-US" altLang="zh-CN" sz="2800" b="1" baseline="-30000"/>
              <a:t>3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3</a:t>
            </a:r>
            <a:r>
              <a:rPr lang="en-US" altLang="zh-CN" sz="2800" b="1"/>
              <a:t>)+</a:t>
            </a:r>
            <a:r>
              <a:rPr lang="en-US" altLang="zh-CN" sz="2800" b="1" i="1"/>
              <a:t>z</a:t>
            </a:r>
            <a:r>
              <a:rPr lang="en-US" altLang="zh-CN" sz="2800" b="1" baseline="-30000"/>
              <a:t>4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 baseline="-30000"/>
              <a:t>4</a:t>
            </a:r>
            <a:r>
              <a:rPr lang="en-US" altLang="zh-CN" sz="2800" b="1"/>
              <a:t>). </a:t>
            </a:r>
          </a:p>
        </p:txBody>
      </p:sp>
      <p:graphicFrame>
        <p:nvGraphicFramePr>
          <p:cNvPr id="48156" name="Object 28">
            <a:extLst>
              <a:ext uri="{FF2B5EF4-FFF2-40B4-BE49-F238E27FC236}">
                <a16:creationId xmlns:a16="http://schemas.microsoft.com/office/drawing/2014/main" id="{9BFB0A3D-0AE3-4A62-B2E2-474DB304DF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1143000"/>
          <a:ext cx="4579938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5" name="Equation" r:id="rId3" imgW="2336800" imgH="711200" progId="Equation.3">
                  <p:embed/>
                </p:oleObj>
              </mc:Choice>
              <mc:Fallback>
                <p:oleObj name="Equation" r:id="rId3" imgW="2336800" imgH="711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4579938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1DFE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7" name="Text Box 29">
            <a:extLst>
              <a:ext uri="{FF2B5EF4-FFF2-40B4-BE49-F238E27FC236}">
                <a16:creationId xmlns:a16="http://schemas.microsoft.com/office/drawing/2014/main" id="{A44D7B27-BAA5-4546-9CA3-A82A40CC4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81000"/>
            <a:ext cx="5486400" cy="5191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直接处理处理分段线性函数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81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2" grpId="0" build="p" animBg="1" autoUpdateAnimBg="0"/>
      <p:bldP spid="48154" grpId="0"/>
      <p:bldP spid="48155" grpId="0"/>
      <p:bldP spid="48157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0E7790FC-30C8-4DDF-9F77-CE39F15AF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221163"/>
            <a:ext cx="2895600" cy="156368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/>
              <a:t>IP</a:t>
            </a:r>
            <a:r>
              <a:rPr lang="zh-CN" altLang="en-US" sz="2800" b="1">
                <a:latin typeface="宋体" panose="02010600030101010101" pitchFamily="2" charset="-122"/>
              </a:rPr>
              <a:t>模型，</a:t>
            </a:r>
            <a:r>
              <a:rPr lang="en-US" altLang="zh-CN" sz="2800" b="1"/>
              <a:t>LINGO</a:t>
            </a:r>
            <a:r>
              <a:rPr lang="zh-CN" altLang="en-US" sz="2800" b="1">
                <a:latin typeface="宋体" panose="02010600030101010101" pitchFamily="2" charset="-122"/>
              </a:rPr>
              <a:t>求解，得到的结果与方法</a:t>
            </a:r>
            <a:r>
              <a:rPr lang="en-US" altLang="zh-CN" sz="2800" b="1"/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相同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49156" name="Object 4">
            <a:extLst>
              <a:ext uri="{FF2B5EF4-FFF2-40B4-BE49-F238E27FC236}">
                <a16:creationId xmlns:a16="http://schemas.microsoft.com/office/drawing/2014/main" id="{48AB148C-6F9D-4316-8599-4A55885433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238" y="5373688"/>
          <a:ext cx="3962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8" name="Equation" r:id="rId3" imgW="1625600" imgH="228600" progId="Equation.3">
                  <p:embed/>
                </p:oleObj>
              </mc:Choice>
              <mc:Fallback>
                <p:oleObj name="Equation" r:id="rId3" imgW="1625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8" y="5373688"/>
                        <a:ext cx="3962400" cy="55562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>
            <a:extLst>
              <a:ext uri="{FF2B5EF4-FFF2-40B4-BE49-F238E27FC236}">
                <a16:creationId xmlns:a16="http://schemas.microsoft.com/office/drawing/2014/main" id="{139AEBC9-7F0D-4428-98FC-37D6D1CC35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5949950"/>
          <a:ext cx="63246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9" name="Equation" r:id="rId5" imgW="2527300" imgH="228600" progId="Equation.3">
                  <p:embed/>
                </p:oleObj>
              </mc:Choice>
              <mc:Fallback>
                <p:oleObj name="Equation" r:id="rId5" imgW="25273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949950"/>
                        <a:ext cx="63246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Rectangle 6">
            <a:extLst>
              <a:ext uri="{FF2B5EF4-FFF2-40B4-BE49-F238E27FC236}">
                <a16:creationId xmlns:a16="http://schemas.microsoft.com/office/drawing/2014/main" id="{89EB2FC6-3457-4956-A7DD-C4FFAF203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824163"/>
            <a:ext cx="44958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800" b="1" i="1"/>
              <a:t>b</a:t>
            </a:r>
            <a:r>
              <a:rPr lang="en-US" altLang="zh-CN" sz="2800" b="1" i="1" baseline="-30000"/>
              <a:t>k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/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/>
              <a:t>b</a:t>
            </a:r>
            <a:r>
              <a:rPr lang="en-US" altLang="zh-CN" sz="2800" b="1" i="1" baseline="-30000"/>
              <a:t>k</a:t>
            </a:r>
            <a:r>
              <a:rPr lang="en-US" altLang="zh-CN" sz="2800" b="1" baseline="-30000"/>
              <a:t>+1</a:t>
            </a:r>
            <a:r>
              <a:rPr lang="en-US" altLang="zh-CN" sz="2800" b="1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/>
              <a:t>y</a:t>
            </a:r>
            <a:r>
              <a:rPr lang="en-US" altLang="zh-CN" sz="2800" b="1" i="1" baseline="-30000"/>
              <a:t>k</a:t>
            </a:r>
            <a:r>
              <a:rPr lang="en-US" altLang="zh-CN" sz="2800" b="1"/>
              <a:t>=1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否则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en-US" altLang="zh-CN" sz="2800" b="1" i="1"/>
              <a:t>y</a:t>
            </a:r>
            <a:r>
              <a:rPr lang="en-US" altLang="zh-CN" sz="2800" b="1" i="1" baseline="-30000"/>
              <a:t>k</a:t>
            </a:r>
            <a:r>
              <a:rPr lang="en-US" altLang="zh-CN" sz="2800" b="1"/>
              <a:t>=0</a:t>
            </a:r>
          </a:p>
        </p:txBody>
      </p:sp>
      <p:graphicFrame>
        <p:nvGraphicFramePr>
          <p:cNvPr id="49159" name="Object 7">
            <a:extLst>
              <a:ext uri="{FF2B5EF4-FFF2-40B4-BE49-F238E27FC236}">
                <a16:creationId xmlns:a16="http://schemas.microsoft.com/office/drawing/2014/main" id="{75476EB4-CE90-4068-AC82-221E74B2E0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559175"/>
          <a:ext cx="60960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0" r:id="rId7" imgW="2603500" imgH="228600" progId="Equation.3">
                  <p:embed/>
                </p:oleObj>
              </mc:Choice>
              <mc:Fallback>
                <p:oleObj r:id="rId7" imgW="26035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59175"/>
                        <a:ext cx="60960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>
            <a:extLst>
              <a:ext uri="{FF2B5EF4-FFF2-40B4-BE49-F238E27FC236}">
                <a16:creationId xmlns:a16="http://schemas.microsoft.com/office/drawing/2014/main" id="{DD103171-7B6D-4DCF-A8DE-94D3CA43C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4149725"/>
          <a:ext cx="55626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1" r:id="rId9" imgW="2565400" imgH="228600" progId="Equation.3">
                  <p:embed/>
                </p:oleObj>
              </mc:Choice>
              <mc:Fallback>
                <p:oleObj r:id="rId9" imgW="25654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149725"/>
                        <a:ext cx="55626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1" name="Object 9">
            <a:extLst>
              <a:ext uri="{FF2B5EF4-FFF2-40B4-BE49-F238E27FC236}">
                <a16:creationId xmlns:a16="http://schemas.microsoft.com/office/drawing/2014/main" id="{DCB9BE76-6ECB-4708-9EAE-23F3643151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4797425"/>
          <a:ext cx="55626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r:id="rId11" imgW="2222500" imgH="228600" progId="Equation.3">
                  <p:embed/>
                </p:oleObj>
              </mc:Choice>
              <mc:Fallback>
                <p:oleObj r:id="rId11" imgW="22225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797425"/>
                        <a:ext cx="55626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Text Box 10">
            <a:extLst>
              <a:ext uri="{FF2B5EF4-FFF2-40B4-BE49-F238E27FC236}">
                <a16:creationId xmlns:a16="http://schemas.microsoft.com/office/drawing/2014/main" id="{E525F44D-6E12-4495-86D8-126022BB4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95288"/>
            <a:ext cx="11430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方法</a:t>
            </a:r>
            <a:r>
              <a:rPr lang="en-US" altLang="zh-CN" sz="2800" b="1"/>
              <a:t>3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9163" name="Text Box 11">
            <a:extLst>
              <a:ext uri="{FF2B5EF4-FFF2-40B4-BE49-F238E27FC236}">
                <a16:creationId xmlns:a16="http://schemas.microsoft.com/office/drawing/2014/main" id="{0021F0F5-F53B-49E9-8F90-02288F6CF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979488"/>
            <a:ext cx="4343400" cy="1801812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b</a:t>
            </a:r>
            <a:r>
              <a:rPr lang="en-US" altLang="zh-CN" sz="2800" b="1" i="1" baseline="-30000"/>
              <a:t>k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/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/>
              <a:t>b</a:t>
            </a:r>
            <a:r>
              <a:rPr lang="en-US" altLang="zh-CN" sz="2800" b="1" i="1" baseline="-30000"/>
              <a:t>k</a:t>
            </a:r>
            <a:r>
              <a:rPr lang="en-US" altLang="zh-CN" sz="2800" b="1" baseline="-30000"/>
              <a:t>+1 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 z</a:t>
            </a:r>
            <a:r>
              <a:rPr lang="en-US" altLang="zh-CN" sz="2800" b="1" i="1" baseline="-30000"/>
              <a:t>k</a:t>
            </a:r>
            <a:r>
              <a:rPr lang="en-US" altLang="zh-CN" sz="2800" b="1" i="1"/>
              <a:t>b</a:t>
            </a:r>
            <a:r>
              <a:rPr lang="en-US" altLang="zh-CN" sz="2800" b="1" i="1" baseline="-30000"/>
              <a:t>k</a:t>
            </a:r>
            <a:r>
              <a:rPr lang="en-US" altLang="zh-CN" sz="2800" b="1"/>
              <a:t>+</a:t>
            </a:r>
            <a:r>
              <a:rPr lang="en-US" altLang="zh-CN" sz="2800" b="1" i="1"/>
              <a:t>z </a:t>
            </a:r>
            <a:r>
              <a:rPr lang="en-US" altLang="zh-CN" sz="2800" b="1" i="1" baseline="-30000"/>
              <a:t>k</a:t>
            </a:r>
            <a:r>
              <a:rPr lang="en-US" altLang="zh-CN" sz="2800" b="1" baseline="-30000"/>
              <a:t>+1 </a:t>
            </a:r>
            <a:r>
              <a:rPr lang="en-US" altLang="zh-CN" sz="2800" b="1" i="1"/>
              <a:t>b</a:t>
            </a:r>
            <a:r>
              <a:rPr lang="en-US" altLang="zh-CN" sz="2800" b="1" i="1" baseline="-30000"/>
              <a:t>k</a:t>
            </a:r>
            <a:r>
              <a:rPr lang="en-US" altLang="zh-CN" sz="2800" b="1" baseline="-30000"/>
              <a:t>+1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z</a:t>
            </a:r>
            <a:r>
              <a:rPr lang="en-US" altLang="zh-CN" sz="2800" b="1" i="1" baseline="-30000"/>
              <a:t>k</a:t>
            </a:r>
            <a:r>
              <a:rPr lang="en-US" altLang="zh-CN" sz="2800" b="1"/>
              <a:t>+</a:t>
            </a:r>
            <a:r>
              <a:rPr lang="en-US" altLang="zh-CN" sz="2800" b="1" i="1"/>
              <a:t>z</a:t>
            </a:r>
            <a:r>
              <a:rPr lang="en-US" altLang="zh-CN" sz="2800" b="1" i="1" baseline="-30000"/>
              <a:t>k</a:t>
            </a:r>
            <a:r>
              <a:rPr lang="en-US" altLang="zh-CN" sz="2800" b="1" baseline="-30000"/>
              <a:t>+1 </a:t>
            </a:r>
            <a:r>
              <a:rPr lang="en-US" altLang="zh-CN" sz="2800" b="1"/>
              <a:t>=1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z</a:t>
            </a:r>
            <a:r>
              <a:rPr lang="en-US" altLang="zh-CN" sz="2800" b="1" i="1" baseline="-30000"/>
              <a:t>k</a:t>
            </a:r>
            <a:r>
              <a:rPr lang="en-US" altLang="zh-CN" sz="2800" b="1"/>
              <a:t>, </a:t>
            </a:r>
            <a:r>
              <a:rPr lang="en-US" altLang="zh-CN" sz="2800" b="1" i="1"/>
              <a:t>z</a:t>
            </a:r>
            <a:r>
              <a:rPr lang="en-US" altLang="zh-CN" sz="2800" b="1" i="1" baseline="-30000"/>
              <a:t>k</a:t>
            </a:r>
            <a:r>
              <a:rPr lang="en-US" altLang="zh-CN" sz="2800" b="1" baseline="-30000"/>
              <a:t>+1 </a:t>
            </a:r>
            <a:r>
              <a:rPr lang="en-US" altLang="zh-CN" sz="2800" b="1">
                <a:sym typeface="Symbol" panose="05050102010706020507" pitchFamily="18" charset="2"/>
              </a:rPr>
              <a:t></a:t>
            </a:r>
            <a:r>
              <a:rPr lang="en-US" altLang="zh-CN" sz="2800" b="1"/>
              <a:t>0,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)=</a:t>
            </a:r>
            <a:r>
              <a:rPr lang="en-US" altLang="zh-CN" sz="2800" b="1" i="1"/>
              <a:t> z</a:t>
            </a:r>
            <a:r>
              <a:rPr lang="en-US" altLang="zh-CN" sz="2800" b="1" i="1" baseline="-30000"/>
              <a:t>k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 i="1" baseline="-30000"/>
              <a:t>k</a:t>
            </a:r>
            <a:r>
              <a:rPr lang="en-US" altLang="zh-CN" sz="2800" b="1"/>
              <a:t>)+</a:t>
            </a:r>
            <a:r>
              <a:rPr lang="en-US" altLang="zh-CN" sz="2800" b="1" i="1"/>
              <a:t>z</a:t>
            </a:r>
            <a:r>
              <a:rPr lang="en-US" altLang="zh-CN" sz="2800" b="1" i="1" baseline="-30000"/>
              <a:t>k</a:t>
            </a:r>
            <a:r>
              <a:rPr lang="en-US" altLang="zh-CN" sz="2800" b="1" baseline="-30000"/>
              <a:t>+1 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 i="1" baseline="-30000"/>
              <a:t>k</a:t>
            </a:r>
            <a:r>
              <a:rPr lang="en-US" altLang="zh-CN" sz="2800" b="1" baseline="-30000"/>
              <a:t>+1 </a:t>
            </a:r>
            <a:r>
              <a:rPr lang="en-US" altLang="zh-CN" sz="2800" b="1"/>
              <a:t>).</a:t>
            </a:r>
          </a:p>
        </p:txBody>
      </p:sp>
      <p:grpSp>
        <p:nvGrpSpPr>
          <p:cNvPr id="27659" name="Group 12">
            <a:extLst>
              <a:ext uri="{FF2B5EF4-FFF2-40B4-BE49-F238E27FC236}">
                <a16:creationId xmlns:a16="http://schemas.microsoft.com/office/drawing/2014/main" id="{0717E682-FECE-4AD2-9FD5-DBE5B61C8E90}"/>
              </a:ext>
            </a:extLst>
          </p:cNvPr>
          <p:cNvGrpSpPr>
            <a:grpSpLocks/>
          </p:cNvGrpSpPr>
          <p:nvPr/>
        </p:nvGrpSpPr>
        <p:grpSpPr bwMode="auto">
          <a:xfrm>
            <a:off x="4760913" y="260350"/>
            <a:ext cx="4419600" cy="3200400"/>
            <a:chOff x="2976" y="0"/>
            <a:chExt cx="2784" cy="2016"/>
          </a:xfrm>
        </p:grpSpPr>
        <p:grpSp>
          <p:nvGrpSpPr>
            <p:cNvPr id="27661" name="Group 13">
              <a:extLst>
                <a:ext uri="{FF2B5EF4-FFF2-40B4-BE49-F238E27FC236}">
                  <a16:creationId xmlns:a16="http://schemas.microsoft.com/office/drawing/2014/main" id="{0737D463-5C01-42ED-A85A-F688787D64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0"/>
              <a:ext cx="2784" cy="1754"/>
              <a:chOff x="2832" y="432"/>
              <a:chExt cx="2784" cy="1754"/>
            </a:xfrm>
          </p:grpSpPr>
          <p:sp>
            <p:nvSpPr>
              <p:cNvPr id="27663" name="Text Box 14">
                <a:extLst>
                  <a:ext uri="{FF2B5EF4-FFF2-40B4-BE49-F238E27FC236}">
                    <a16:creationId xmlns:a16="http://schemas.microsoft.com/office/drawing/2014/main" id="{443A6315-94CE-43C6-8864-747EC1B93E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3" y="432"/>
                <a:ext cx="560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 i="1"/>
                  <a:t>c</a:t>
                </a:r>
                <a:r>
                  <a:rPr kumimoji="0" lang="en-US" altLang="zh-CN" sz="2000" b="1"/>
                  <a:t>(</a:t>
                </a:r>
                <a:r>
                  <a:rPr kumimoji="0" lang="en-US" altLang="zh-CN" sz="2000" b="1" i="1"/>
                  <a:t>x</a:t>
                </a:r>
                <a:r>
                  <a:rPr kumimoji="0" lang="en-US" altLang="zh-CN" sz="2000" b="1"/>
                  <a:t>)</a:t>
                </a:r>
                <a:endParaRPr kumimoji="0" lang="en-US" altLang="zh-CN" sz="2000" b="1" i="1"/>
              </a:p>
            </p:txBody>
          </p:sp>
          <p:sp>
            <p:nvSpPr>
              <p:cNvPr id="27664" name="Text Box 15">
                <a:extLst>
                  <a:ext uri="{FF2B5EF4-FFF2-40B4-BE49-F238E27FC236}">
                    <a16:creationId xmlns:a16="http://schemas.microsoft.com/office/drawing/2014/main" id="{0C766535-3ED8-432C-B6B6-55EDB07168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9" y="1912"/>
                <a:ext cx="287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 i="1"/>
                  <a:t>x</a:t>
                </a:r>
              </a:p>
            </p:txBody>
          </p:sp>
          <p:sp>
            <p:nvSpPr>
              <p:cNvPr id="27665" name="Text Box 16">
                <a:extLst>
                  <a:ext uri="{FF2B5EF4-FFF2-40B4-BE49-F238E27FC236}">
                    <a16:creationId xmlns:a16="http://schemas.microsoft.com/office/drawing/2014/main" id="{618E8BFA-1729-47BF-829D-203B9218D0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778"/>
                <a:ext cx="5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/>
                  <a:t>12000</a:t>
                </a:r>
              </a:p>
            </p:txBody>
          </p:sp>
          <p:sp>
            <p:nvSpPr>
              <p:cNvPr id="27666" name="Text Box 17">
                <a:extLst>
                  <a:ext uri="{FF2B5EF4-FFF2-40B4-BE49-F238E27FC236}">
                    <a16:creationId xmlns:a16="http://schemas.microsoft.com/office/drawing/2014/main" id="{9553BC12-5EC8-4778-809D-540F9AD8A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993"/>
                <a:ext cx="517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/>
                  <a:t>9000</a:t>
                </a:r>
              </a:p>
            </p:txBody>
          </p:sp>
          <p:sp>
            <p:nvSpPr>
              <p:cNvPr id="27667" name="Text Box 18">
                <a:extLst>
                  <a:ext uri="{FF2B5EF4-FFF2-40B4-BE49-F238E27FC236}">
                    <a16:creationId xmlns:a16="http://schemas.microsoft.com/office/drawing/2014/main" id="{23B98A84-9016-4DEA-84E6-49E37B4BBD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9" y="1351"/>
                <a:ext cx="517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/>
                  <a:t>5000</a:t>
                </a:r>
              </a:p>
            </p:txBody>
          </p:sp>
          <p:sp>
            <p:nvSpPr>
              <p:cNvPr id="27668" name="Text Box 19">
                <a:extLst>
                  <a:ext uri="{FF2B5EF4-FFF2-40B4-BE49-F238E27FC236}">
                    <a16:creationId xmlns:a16="http://schemas.microsoft.com/office/drawing/2014/main" id="{84C8A1EA-2B83-46F0-85DE-993B1D886B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0" y="1935"/>
                <a:ext cx="28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 i="1"/>
                  <a:t>O</a:t>
                </a:r>
              </a:p>
            </p:txBody>
          </p:sp>
          <p:sp>
            <p:nvSpPr>
              <p:cNvPr id="27669" name="Text Box 20">
                <a:extLst>
                  <a:ext uri="{FF2B5EF4-FFF2-40B4-BE49-F238E27FC236}">
                    <a16:creationId xmlns:a16="http://schemas.microsoft.com/office/drawing/2014/main" id="{789206B7-BEC5-4D7F-B8E5-FF9181384B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4" y="1947"/>
                <a:ext cx="402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/>
                  <a:t>500</a:t>
                </a:r>
              </a:p>
            </p:txBody>
          </p:sp>
          <p:sp>
            <p:nvSpPr>
              <p:cNvPr id="27670" name="Text Box 21">
                <a:extLst>
                  <a:ext uri="{FF2B5EF4-FFF2-40B4-BE49-F238E27FC236}">
                    <a16:creationId xmlns:a16="http://schemas.microsoft.com/office/drawing/2014/main" id="{5D3EBAAE-40F4-4A98-8B06-B6B04B5EF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8" y="1935"/>
                <a:ext cx="489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/>
                  <a:t>1000</a:t>
                </a:r>
              </a:p>
            </p:txBody>
          </p:sp>
          <p:sp>
            <p:nvSpPr>
              <p:cNvPr id="27671" name="Text Box 22">
                <a:extLst>
                  <a:ext uri="{FF2B5EF4-FFF2-40B4-BE49-F238E27FC236}">
                    <a16:creationId xmlns:a16="http://schemas.microsoft.com/office/drawing/2014/main" id="{E8DAEBBC-15C5-4A56-92AF-77CC8DCC12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1" y="1947"/>
                <a:ext cx="489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en-US" altLang="zh-CN" sz="2000" b="1"/>
                  <a:t>1500</a:t>
                </a:r>
              </a:p>
            </p:txBody>
          </p:sp>
          <p:sp>
            <p:nvSpPr>
              <p:cNvPr id="27672" name="Line 23">
                <a:extLst>
                  <a:ext uri="{FF2B5EF4-FFF2-40B4-BE49-F238E27FC236}">
                    <a16:creationId xmlns:a16="http://schemas.microsoft.com/office/drawing/2014/main" id="{114D784C-83FF-43A1-B611-353D76FA8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2" y="575"/>
                <a:ext cx="4" cy="14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3" name="Line 24">
                <a:extLst>
                  <a:ext uri="{FF2B5EF4-FFF2-40B4-BE49-F238E27FC236}">
                    <a16:creationId xmlns:a16="http://schemas.microsoft.com/office/drawing/2014/main" id="{A8A1A901-39B6-4C48-ADA5-AA5800EEA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6" y="1440"/>
                <a:ext cx="552" cy="5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4" name="Line 25">
                <a:extLst>
                  <a:ext uri="{FF2B5EF4-FFF2-40B4-BE49-F238E27FC236}">
                    <a16:creationId xmlns:a16="http://schemas.microsoft.com/office/drawing/2014/main" id="{45B52DE8-4DF4-417C-B93C-BC0929F86D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64" y="1458"/>
                <a:ext cx="0" cy="5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5" name="Line 26">
                <a:extLst>
                  <a:ext uri="{FF2B5EF4-FFF2-40B4-BE49-F238E27FC236}">
                    <a16:creationId xmlns:a16="http://schemas.microsoft.com/office/drawing/2014/main" id="{FEB84C63-3DE3-46B4-88FB-8B9292EEDB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8" y="1112"/>
                <a:ext cx="0" cy="8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6" name="Line 27">
                <a:extLst>
                  <a:ext uri="{FF2B5EF4-FFF2-40B4-BE49-F238E27FC236}">
                    <a16:creationId xmlns:a16="http://schemas.microsoft.com/office/drawing/2014/main" id="{8E23EDCE-ED7E-44E7-A505-BC719F402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57" y="1104"/>
                <a:ext cx="559" cy="36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7" name="Line 28">
                <a:extLst>
                  <a:ext uri="{FF2B5EF4-FFF2-40B4-BE49-F238E27FC236}">
                    <a16:creationId xmlns:a16="http://schemas.microsoft.com/office/drawing/2014/main" id="{28FB5B42-F609-4172-9E05-08F310828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77" y="909"/>
                <a:ext cx="0" cy="10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8" name="Line 29">
                <a:extLst>
                  <a:ext uri="{FF2B5EF4-FFF2-40B4-BE49-F238E27FC236}">
                    <a16:creationId xmlns:a16="http://schemas.microsoft.com/office/drawing/2014/main" id="{AE7E54E2-12D2-43CD-94A5-026EE4775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8" y="909"/>
                <a:ext cx="575" cy="20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9" name="Line 30">
                <a:extLst>
                  <a:ext uri="{FF2B5EF4-FFF2-40B4-BE49-F238E27FC236}">
                    <a16:creationId xmlns:a16="http://schemas.microsoft.com/office/drawing/2014/main" id="{B7D021AF-DDBD-4650-8E85-D7FB78CFC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5" y="1983"/>
                <a:ext cx="208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0" name="Line 31">
                <a:extLst>
                  <a:ext uri="{FF2B5EF4-FFF2-40B4-BE49-F238E27FC236}">
                    <a16:creationId xmlns:a16="http://schemas.microsoft.com/office/drawing/2014/main" id="{C0201BAC-8DFB-44F0-8D6C-8A4A2F7DE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25" y="897"/>
                <a:ext cx="165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1" name="Line 32">
                <a:extLst>
                  <a:ext uri="{FF2B5EF4-FFF2-40B4-BE49-F238E27FC236}">
                    <a16:creationId xmlns:a16="http://schemas.microsoft.com/office/drawing/2014/main" id="{5138B6FE-BCF4-4134-850D-E522A01B0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25" y="1112"/>
                <a:ext cx="104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2" name="Line 33">
                <a:extLst>
                  <a:ext uri="{FF2B5EF4-FFF2-40B4-BE49-F238E27FC236}">
                    <a16:creationId xmlns:a16="http://schemas.microsoft.com/office/drawing/2014/main" id="{C058ADA7-6993-4955-8EF4-EEA134D688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25" y="1458"/>
                <a:ext cx="5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662" name="Text Box 34">
              <a:extLst>
                <a:ext uri="{FF2B5EF4-FFF2-40B4-BE49-F238E27FC236}">
                  <a16:creationId xmlns:a16="http://schemas.microsoft.com/office/drawing/2014/main" id="{F6C0AEDB-BDFF-48D2-940E-D51A1FD87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728"/>
              <a:ext cx="2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b</a:t>
              </a:r>
              <a:r>
                <a:rPr lang="en-US" altLang="zh-CN" b="1" baseline="-30000"/>
                <a:t>1            </a:t>
              </a:r>
              <a:r>
                <a:rPr lang="en-US" altLang="zh-CN" b="1" i="1"/>
                <a:t>b</a:t>
              </a:r>
              <a:r>
                <a:rPr lang="en-US" altLang="zh-CN" b="1" baseline="-30000"/>
                <a:t>2</a:t>
              </a:r>
              <a:r>
                <a:rPr lang="en-US" altLang="zh-CN" b="1"/>
                <a:t>       </a:t>
              </a:r>
              <a:r>
                <a:rPr lang="en-US" altLang="zh-CN" b="1" i="1"/>
                <a:t>b</a:t>
              </a:r>
              <a:r>
                <a:rPr lang="en-US" altLang="zh-CN" b="1" baseline="-30000"/>
                <a:t>3</a:t>
              </a:r>
              <a:r>
                <a:rPr lang="en-US" altLang="zh-CN" b="1"/>
                <a:t>         </a:t>
              </a:r>
              <a:r>
                <a:rPr lang="en-US" altLang="zh-CN" b="1" i="1"/>
                <a:t>b</a:t>
              </a:r>
              <a:r>
                <a:rPr lang="en-US" altLang="zh-CN" b="1" baseline="-30000"/>
                <a:t>4</a:t>
              </a:r>
              <a:endParaRPr lang="en-US" altLang="zh-CN" sz="2800" b="1"/>
            </a:p>
          </p:txBody>
        </p:sp>
      </p:grpSp>
      <p:sp>
        <p:nvSpPr>
          <p:cNvPr id="49187" name="Text Box 35">
            <a:extLst>
              <a:ext uri="{FF2B5EF4-FFF2-40B4-BE49-F238E27FC236}">
                <a16:creationId xmlns:a16="http://schemas.microsoft.com/office/drawing/2014/main" id="{75CC6ADD-14A5-45AC-A434-489F45DF5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81000"/>
            <a:ext cx="2057400" cy="519113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对于</a:t>
            </a:r>
            <a:r>
              <a:rPr lang="en-US" altLang="zh-CN" sz="2800" b="1" i="1"/>
              <a:t>k</a:t>
            </a:r>
            <a:r>
              <a:rPr lang="en-US" altLang="zh-CN" sz="2800" b="1"/>
              <a:t>=1,2,3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nimBg="1" autoUpdateAnimBg="0"/>
      <p:bldP spid="49158" grpId="0" autoUpdateAnimBg="0"/>
      <p:bldP spid="49163" grpId="0" animBg="1" autoUpdateAnimBg="0"/>
      <p:bldP spid="4918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Rectangle 4">
            <a:extLst>
              <a:ext uri="{FF2B5EF4-FFF2-40B4-BE49-F238E27FC236}">
                <a16:creationId xmlns:a16="http://schemas.microsoft.com/office/drawing/2014/main" id="{B74BFCEE-9F54-4C2E-85C7-8748D31A5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941888"/>
            <a:ext cx="80645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rgbClr val="FF0000"/>
                </a:solidFill>
              </a:rPr>
              <a:t>方法</a:t>
            </a:r>
            <a:r>
              <a:rPr lang="en-US" altLang="zh-CN" sz="2800" b="1">
                <a:solidFill>
                  <a:srgbClr val="FF0000"/>
                </a:solidFill>
              </a:rPr>
              <a:t>3:</a:t>
            </a:r>
            <a:r>
              <a:rPr lang="en-US" altLang="zh-CN" sz="2800" b="1"/>
              <a:t> </a:t>
            </a:r>
            <a:r>
              <a:rPr lang="zh-CN" altLang="en-US" sz="2800" b="1"/>
              <a:t>直接处理分段线性函数，方法更具一般性</a:t>
            </a:r>
            <a:r>
              <a:rPr lang="en-US" altLang="zh-CN" sz="2800" b="1"/>
              <a:t>.</a:t>
            </a:r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CB04B1DA-29F5-4658-9DF8-2E8FC304A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12875"/>
            <a:ext cx="7993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分段函数</a:t>
            </a:r>
            <a:r>
              <a:rPr lang="zh-CN" altLang="en-US" sz="2800" b="1">
                <a:latin typeface="宋体" panose="02010600030101010101" pitchFamily="2" charset="-122"/>
              </a:rPr>
              <a:t>无法直接用非线性规划方法或软件求解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B2FF06CB-663E-40E6-963F-48643BDE3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549275"/>
            <a:ext cx="4114800" cy="5032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楷体_GB2312" pitchFamily="49" charset="-122"/>
              </a:rPr>
              <a:t>原油采购与加工 </a:t>
            </a:r>
            <a:endParaRPr lang="zh-CN" altLang="en-US" sz="320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93192" name="Text Box 8">
            <a:extLst>
              <a:ext uri="{FF2B5EF4-FFF2-40B4-BE49-F238E27FC236}">
                <a16:creationId xmlns:a16="http://schemas.microsoft.com/office/drawing/2014/main" id="{CA3C7D73-DC22-4049-B152-4B1717562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05038"/>
            <a:ext cx="81359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800" b="1">
                <a:solidFill>
                  <a:srgbClr val="FF0000"/>
                </a:solidFill>
              </a:rPr>
              <a:t>1:</a:t>
            </a:r>
            <a:r>
              <a:rPr lang="en-US" altLang="zh-CN" sz="2800" b="1"/>
              <a:t>  </a:t>
            </a:r>
            <a:r>
              <a:rPr lang="zh-CN" altLang="en-US" sz="2800" b="1"/>
              <a:t>增加约束化为</a:t>
            </a:r>
            <a:r>
              <a:rPr lang="zh-CN" altLang="en-US" sz="2800" b="1">
                <a:latin typeface="宋体" panose="02010600030101010101" pitchFamily="2" charset="-122"/>
              </a:rPr>
              <a:t>非线性规划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可以用</a:t>
            </a:r>
            <a:r>
              <a:rPr lang="en-US" altLang="zh-CN" sz="2800" b="1"/>
              <a:t>LINGO </a:t>
            </a:r>
            <a:r>
              <a:rPr lang="zh-CN" altLang="en-US" sz="2800" b="1"/>
              <a:t>求解</a:t>
            </a:r>
            <a:r>
              <a:rPr lang="en-US" altLang="zh-CN" sz="2800" b="1"/>
              <a:t>,  </a:t>
            </a:r>
            <a:r>
              <a:rPr lang="zh-CN" altLang="en-US" sz="2800" b="1"/>
              <a:t>但可能</a:t>
            </a:r>
            <a:r>
              <a:rPr lang="zh-CN" altLang="en-US" sz="2800" b="1">
                <a:latin typeface="宋体" panose="02010600030101010101" pitchFamily="2" charset="-122"/>
              </a:rPr>
              <a:t>得到的是局部最优解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93194" name="Rectangle 10">
            <a:extLst>
              <a:ext uri="{FF2B5EF4-FFF2-40B4-BE49-F238E27FC236}">
                <a16:creationId xmlns:a16="http://schemas.microsoft.com/office/drawing/2014/main" id="{384031CD-D1A5-4DA5-95FE-99253333B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792162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800" b="1">
                <a:solidFill>
                  <a:srgbClr val="FF0000"/>
                </a:solidFill>
              </a:rPr>
              <a:t>2:</a:t>
            </a:r>
            <a:r>
              <a:rPr lang="en-US" altLang="zh-CN" sz="2800" b="1"/>
              <a:t>  </a:t>
            </a:r>
            <a:r>
              <a:rPr lang="zh-CN" altLang="en-US" sz="2800" b="1"/>
              <a:t>引入</a:t>
            </a:r>
            <a:r>
              <a:rPr lang="en-US" altLang="zh-CN" sz="2800" b="1"/>
              <a:t>0-1</a:t>
            </a:r>
            <a:r>
              <a:rPr lang="zh-CN" altLang="en-US" sz="2800" b="1"/>
              <a:t>变量</a:t>
            </a:r>
            <a:r>
              <a:rPr lang="en-US" altLang="zh-CN" sz="2800" b="1"/>
              <a:t>, </a:t>
            </a:r>
            <a:r>
              <a:rPr lang="zh-CN" altLang="en-US" sz="2800" b="1"/>
              <a:t>化为</a:t>
            </a:r>
            <a:r>
              <a:rPr lang="zh-CN" altLang="en-US" sz="2800" b="1">
                <a:latin typeface="宋体" panose="02010600030101010101" pitchFamily="2" charset="-122"/>
              </a:rPr>
              <a:t>线性规划模型</a:t>
            </a:r>
            <a:r>
              <a:rPr lang="en-US" altLang="zh-CN" sz="2800" b="1"/>
              <a:t>, </a:t>
            </a:r>
            <a:r>
              <a:rPr lang="zh-CN" altLang="en-US" sz="2800" b="1"/>
              <a:t>可用</a:t>
            </a:r>
            <a:r>
              <a:rPr lang="en-US" altLang="zh-CN" sz="2800" b="1"/>
              <a:t>LINGO</a:t>
            </a:r>
            <a:r>
              <a:rPr lang="zh-CN" altLang="en-US" sz="2800" b="1"/>
              <a:t>求解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/>
      <p:bldP spid="93190" grpId="0"/>
      <p:bldP spid="93192" grpId="0"/>
      <p:bldP spid="9319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41E9A9FA-6C5E-4AB5-99D8-5BE93D7E0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1268413"/>
            <a:ext cx="1878012" cy="528637"/>
          </a:xfrm>
          <a:prstGeom prst="rect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分派问题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8D60B8D1-FA38-4D83-BE18-1BF7F8174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981200"/>
            <a:ext cx="88392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若干项任务分给一些候选人来完成，每人的专长不同</a:t>
            </a:r>
            <a:r>
              <a:rPr lang="en-US" altLang="zh-CN" sz="2800" b="1"/>
              <a:t>,</a:t>
            </a:r>
            <a:r>
              <a:rPr lang="zh-CN" altLang="en-US" sz="2800" b="1"/>
              <a:t>完成每项任务取得的效益或需要的资源不同，如何分派任务使获得的总效益最大，或付出的总资源最少</a:t>
            </a:r>
            <a:r>
              <a:rPr lang="en-US" altLang="zh-CN" sz="2800" b="1"/>
              <a:t>?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0C6C5905-BFA1-4EE2-BAEA-F558D8869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810000"/>
            <a:ext cx="86106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若干种策略供选择，不同的策略得到的收益或付出的成本不同，各个策略之间有相互制约关系，如何在满足一定条件下作出抉择，使得收益最大或成本最小</a:t>
            </a:r>
            <a:r>
              <a:rPr lang="en-US" altLang="zh-CN" sz="2800" b="1"/>
              <a:t>?</a:t>
            </a:r>
          </a:p>
        </p:txBody>
      </p:sp>
      <p:graphicFrame>
        <p:nvGraphicFramePr>
          <p:cNvPr id="29701" name="Object 7">
            <a:extLst>
              <a:ext uri="{FF2B5EF4-FFF2-40B4-BE49-F238E27FC236}">
                <a16:creationId xmlns:a16="http://schemas.microsoft.com/office/drawing/2014/main" id="{F48DE723-72CF-4701-B7FD-EB9449176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620713"/>
          <a:ext cx="11525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Clip" r:id="rId3" imgW="761744" imgH="434194" progId="MS_ClipArt_Gallery.2">
                  <p:embed/>
                </p:oleObj>
              </mc:Choice>
              <mc:Fallback>
                <p:oleObj name="Clip" r:id="rId3" imgW="761744" imgH="434194" progId="MS_ClipArt_Gallery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620713"/>
                        <a:ext cx="11525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3">
            <a:extLst>
              <a:ext uri="{FF2B5EF4-FFF2-40B4-BE49-F238E27FC236}">
                <a16:creationId xmlns:a16="http://schemas.microsoft.com/office/drawing/2014/main" id="{678DC5D9-CECA-42D1-8A45-0B8BE96A3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49275"/>
            <a:ext cx="5562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4.4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分派问题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0-1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规划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 autoUpdateAnimBg="0"/>
      <p:bldP spid="50180" grpId="0" animBg="1" autoUpdateAnimBg="0"/>
      <p:bldP spid="50181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ext Box 3">
            <a:extLst>
              <a:ext uri="{FF2B5EF4-FFF2-40B4-BE49-F238E27FC236}">
                <a16:creationId xmlns:a16="http://schemas.microsoft.com/office/drawing/2014/main" id="{CF74F9E6-7441-4CFC-88AF-A0500E079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133850"/>
            <a:ext cx="7467600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如何选拔队员组成</a:t>
            </a:r>
            <a:r>
              <a:rPr lang="en-US" altLang="zh-CN" sz="2800" b="1">
                <a:latin typeface="宋体" panose="02010600030101010101" pitchFamily="2" charset="-122"/>
              </a:rPr>
              <a:t>4</a:t>
            </a:r>
            <a:r>
              <a:rPr lang="en-US" altLang="zh-CN" sz="2800" b="1">
                <a:latin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latin typeface="宋体" panose="02010600030101010101" pitchFamily="2" charset="-122"/>
              </a:rPr>
              <a:t>100</a:t>
            </a:r>
            <a:r>
              <a:rPr lang="en-US" altLang="zh-CN" sz="2800" b="1"/>
              <a:t>m</a:t>
            </a:r>
            <a:r>
              <a:rPr lang="zh-CN" altLang="en-US" sz="2800" b="1">
                <a:latin typeface="宋体" panose="02010600030101010101" pitchFamily="2" charset="-122"/>
              </a:rPr>
              <a:t>混合泳接力队</a:t>
            </a:r>
            <a:r>
              <a:rPr lang="en-US" altLang="zh-CN" sz="2800" b="1">
                <a:latin typeface="宋体" panose="02010600030101010101" pitchFamily="2" charset="-122"/>
              </a:rPr>
              <a:t>?</a:t>
            </a:r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7CA80220-FF3D-4920-94B7-FF99A879AC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04800" y="401638"/>
            <a:ext cx="5105400" cy="533400"/>
          </a:xfrm>
          <a:prstGeom prst="rect">
            <a:avLst/>
          </a:prstGeom>
          <a:solidFill>
            <a:srgbClr val="FFCC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  </a:t>
            </a:r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混合泳接力队的选拔 </a:t>
            </a:r>
            <a:endParaRPr lang="zh-CN" altLang="en-US" sz="3200">
              <a:ea typeface="楷体_GB2312" pitchFamily="49" charset="-122"/>
            </a:endParaRPr>
          </a:p>
        </p:txBody>
      </p:sp>
      <p:sp>
        <p:nvSpPr>
          <p:cNvPr id="51296" name="Text Box 96">
            <a:extLst>
              <a:ext uri="{FF2B5EF4-FFF2-40B4-BE49-F238E27FC236}">
                <a16:creationId xmlns:a16="http://schemas.microsoft.com/office/drawing/2014/main" id="{F49B988E-130A-40B4-8CEA-EFEF21CEE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011238"/>
            <a:ext cx="38862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5</a:t>
            </a:r>
            <a:r>
              <a:rPr lang="zh-CN" altLang="en-US" sz="2800" b="1"/>
              <a:t>名候选人的</a:t>
            </a:r>
            <a:r>
              <a:rPr lang="zh-CN" altLang="en-US" sz="2800" b="1">
                <a:latin typeface="宋体" panose="02010600030101010101" pitchFamily="2" charset="-122"/>
              </a:rPr>
              <a:t>百米成绩</a:t>
            </a:r>
          </a:p>
        </p:txBody>
      </p:sp>
      <p:sp>
        <p:nvSpPr>
          <p:cNvPr id="51297" name="Text Box 97">
            <a:extLst>
              <a:ext uri="{FF2B5EF4-FFF2-40B4-BE49-F238E27FC236}">
                <a16:creationId xmlns:a16="http://schemas.microsoft.com/office/drawing/2014/main" id="{1ABBEB4B-8BFD-420B-AA81-F5C52B28B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34075"/>
            <a:ext cx="7467600" cy="519113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穷举法</a:t>
            </a:r>
            <a:r>
              <a:rPr lang="zh-CN" altLang="en-US" sz="2800" b="1"/>
              <a:t>：</a:t>
            </a:r>
            <a:r>
              <a:rPr lang="zh-CN" altLang="en-US" sz="2800" b="1">
                <a:latin typeface="宋体" panose="02010600030101010101" pitchFamily="2" charset="-122"/>
              </a:rPr>
              <a:t>组成接力队的方案共有</a:t>
            </a:r>
            <a:r>
              <a:rPr lang="en-US" altLang="zh-CN" sz="2800" b="1"/>
              <a:t>5!=120</a:t>
            </a:r>
            <a:r>
              <a:rPr lang="zh-CN" altLang="en-US" sz="2800" b="1">
                <a:latin typeface="宋体" panose="02010600030101010101" pitchFamily="2" charset="-122"/>
              </a:rPr>
              <a:t>种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30726" name="Object 98">
            <a:extLst>
              <a:ext uri="{FF2B5EF4-FFF2-40B4-BE49-F238E27FC236}">
                <a16:creationId xmlns:a16="http://schemas.microsoft.com/office/drawing/2014/main" id="{0F92C21B-F31D-4E03-9399-33235B3782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417513"/>
          <a:ext cx="1066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9" name="Clip" r:id="rId3" imgW="761744" imgH="761744" progId="MS_ClipArt_Gallery.2">
                  <p:embed/>
                </p:oleObj>
              </mc:Choice>
              <mc:Fallback>
                <p:oleObj name="Clip" r:id="rId3" imgW="761744" imgH="761744" progId="MS_ClipArt_Gallery.2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17513"/>
                        <a:ext cx="1066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" name="Group 102">
            <a:extLst>
              <a:ext uri="{FF2B5EF4-FFF2-40B4-BE49-F238E27FC236}">
                <a16:creationId xmlns:a16="http://schemas.microsoft.com/office/drawing/2014/main" id="{D3482F9B-48B9-4AC1-AE84-33CECA814350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1628775"/>
          <a:ext cx="7848600" cy="2293938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乙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丙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丁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蝶泳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仰泳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蛙泳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自由泳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891" name="Object 147">
            <a:extLst>
              <a:ext uri="{FF2B5EF4-FFF2-40B4-BE49-F238E27FC236}">
                <a16:creationId xmlns:a16="http://schemas.microsoft.com/office/drawing/2014/main" id="{1902B294-D9B9-4A91-AD16-2003A0441A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2124075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0" name="公式" r:id="rId5" imgW="418918" imgH="177723" progId="Equation.3">
                  <p:embed/>
                </p:oleObj>
              </mc:Choice>
              <mc:Fallback>
                <p:oleObj name="公式" r:id="rId5" imgW="418918" imgH="177723" progId="Equation.3">
                  <p:embed/>
                  <p:pic>
                    <p:nvPicPr>
                      <p:cNvPr id="0" name="Object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124075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2" name="Object 148">
            <a:extLst>
              <a:ext uri="{FF2B5EF4-FFF2-40B4-BE49-F238E27FC236}">
                <a16:creationId xmlns:a16="http://schemas.microsoft.com/office/drawing/2014/main" id="{E24C7AEA-F6DD-4C5B-B699-DE7DC0A345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2562225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1" name="公式" r:id="rId7" imgW="418918" imgH="177723" progId="Equation.3">
                  <p:embed/>
                </p:oleObj>
              </mc:Choice>
              <mc:Fallback>
                <p:oleObj name="公式" r:id="rId7" imgW="418918" imgH="177723" progId="Equation.3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562225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3" name="Object 149">
            <a:extLst>
              <a:ext uri="{FF2B5EF4-FFF2-40B4-BE49-F238E27FC236}">
                <a16:creationId xmlns:a16="http://schemas.microsoft.com/office/drawing/2014/main" id="{D24C9468-F2AB-43BF-AE71-EC6356EA43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9200" y="3068638"/>
          <a:ext cx="7064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2" name="公式" r:id="rId9" imgW="342603" imgH="177646" progId="Equation.3">
                  <p:embed/>
                </p:oleObj>
              </mc:Choice>
              <mc:Fallback>
                <p:oleObj name="公式" r:id="rId9" imgW="342603" imgH="177646" progId="Equation.3">
                  <p:embed/>
                  <p:pic>
                    <p:nvPicPr>
                      <p:cNvPr id="0" name="Object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3068638"/>
                        <a:ext cx="70643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4" name="Object 150">
            <a:extLst>
              <a:ext uri="{FF2B5EF4-FFF2-40B4-BE49-F238E27FC236}">
                <a16:creationId xmlns:a16="http://schemas.microsoft.com/office/drawing/2014/main" id="{63E86A05-E020-4F0D-ACB7-E8B52F70E5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7775" y="3500438"/>
          <a:ext cx="6540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3" name="公式" r:id="rId11" imgW="317087" imgH="177569" progId="Equation.3">
                  <p:embed/>
                </p:oleObj>
              </mc:Choice>
              <mc:Fallback>
                <p:oleObj name="公式" r:id="rId11" imgW="317087" imgH="177569" progId="Equation.3">
                  <p:embed/>
                  <p:pic>
                    <p:nvPicPr>
                      <p:cNvPr id="0" name="Object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3500438"/>
                        <a:ext cx="65405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5" name="Object 151">
            <a:extLst>
              <a:ext uri="{FF2B5EF4-FFF2-40B4-BE49-F238E27FC236}">
                <a16:creationId xmlns:a16="http://schemas.microsoft.com/office/drawing/2014/main" id="{2A0C58DF-3D4A-4F5D-8D84-7259B8FEC7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2133600"/>
          <a:ext cx="654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4" name="公式" r:id="rId13" imgW="317087" imgH="177569" progId="Equation.3">
                  <p:embed/>
                </p:oleObj>
              </mc:Choice>
              <mc:Fallback>
                <p:oleObj name="公式" r:id="rId13" imgW="317087" imgH="177569" progId="Equation.3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133600"/>
                        <a:ext cx="6540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6" name="Object 152">
            <a:extLst>
              <a:ext uri="{FF2B5EF4-FFF2-40B4-BE49-F238E27FC236}">
                <a16:creationId xmlns:a16="http://schemas.microsoft.com/office/drawing/2014/main" id="{4559837C-80E7-4AAC-A38C-7A2CD275C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625" y="3500438"/>
          <a:ext cx="4968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5" name="公式" r:id="rId15" imgW="241091" imgH="177646" progId="Equation.3">
                  <p:embed/>
                </p:oleObj>
              </mc:Choice>
              <mc:Fallback>
                <p:oleObj name="公式" r:id="rId15" imgW="241091" imgH="177646" progId="Equation.3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3500438"/>
                        <a:ext cx="49688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7" name="Object 153">
            <a:extLst>
              <a:ext uri="{FF2B5EF4-FFF2-40B4-BE49-F238E27FC236}">
                <a16:creationId xmlns:a16="http://schemas.microsoft.com/office/drawing/2014/main" id="{D0616676-530C-4DCB-8EB9-7505A3E807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3500438"/>
          <a:ext cx="6540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6" name="公式" r:id="rId17" imgW="317087" imgH="177569" progId="Equation.3">
                  <p:embed/>
                </p:oleObj>
              </mc:Choice>
              <mc:Fallback>
                <p:oleObj name="公式" r:id="rId17" imgW="317087" imgH="177569" progId="Equation.3">
                  <p:embed/>
                  <p:pic>
                    <p:nvPicPr>
                      <p:cNvPr id="0" name="Object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500438"/>
                        <a:ext cx="65405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8" name="Object 154">
            <a:extLst>
              <a:ext uri="{FF2B5EF4-FFF2-40B4-BE49-F238E27FC236}">
                <a16:creationId xmlns:a16="http://schemas.microsoft.com/office/drawing/2014/main" id="{9151FD33-0B58-41C6-9310-E23D043931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8900" y="3500438"/>
          <a:ext cx="6540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7" name="公式" r:id="rId19" imgW="317087" imgH="177569" progId="Equation.3">
                  <p:embed/>
                </p:oleObj>
              </mc:Choice>
              <mc:Fallback>
                <p:oleObj name="公式" r:id="rId19" imgW="317087" imgH="177569" progId="Equation.3">
                  <p:embed/>
                  <p:pic>
                    <p:nvPicPr>
                      <p:cNvPr id="0" name="Object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3500438"/>
                        <a:ext cx="65405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9" name="Object 155">
            <a:extLst>
              <a:ext uri="{FF2B5EF4-FFF2-40B4-BE49-F238E27FC236}">
                <a16:creationId xmlns:a16="http://schemas.microsoft.com/office/drawing/2014/main" id="{39A02689-889A-4F69-AF25-814575620E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6188" y="2565400"/>
          <a:ext cx="7064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8" name="公式" r:id="rId21" imgW="342603" imgH="177646" progId="Equation.3">
                  <p:embed/>
                </p:oleObj>
              </mc:Choice>
              <mc:Fallback>
                <p:oleObj name="公式" r:id="rId21" imgW="342603" imgH="177646" progId="Equation.3">
                  <p:embed/>
                  <p:pic>
                    <p:nvPicPr>
                      <p:cNvPr id="0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565400"/>
                        <a:ext cx="7064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0" name="Object 156">
            <a:extLst>
              <a:ext uri="{FF2B5EF4-FFF2-40B4-BE49-F238E27FC236}">
                <a16:creationId xmlns:a16="http://schemas.microsoft.com/office/drawing/2014/main" id="{CEF85FAC-B93D-4C56-B9F4-7F327539B0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0686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9" name="公式" r:id="rId23" imgW="418918" imgH="177723" progId="Equation.3">
                  <p:embed/>
                </p:oleObj>
              </mc:Choice>
              <mc:Fallback>
                <p:oleObj name="公式" r:id="rId23" imgW="418918" imgH="177723" progId="Equation.3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068638"/>
                        <a:ext cx="8636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1" name="Object 157">
            <a:extLst>
              <a:ext uri="{FF2B5EF4-FFF2-40B4-BE49-F238E27FC236}">
                <a16:creationId xmlns:a16="http://schemas.microsoft.com/office/drawing/2014/main" id="{8751BA3C-2642-43BC-AAE2-74E7D9511D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4613" y="2133600"/>
          <a:ext cx="7064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0" name="公式" r:id="rId25" imgW="342603" imgH="177646" progId="Equation.3">
                  <p:embed/>
                </p:oleObj>
              </mc:Choice>
              <mc:Fallback>
                <p:oleObj name="公式" r:id="rId25" imgW="342603" imgH="177646" progId="Equation.3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3" y="2133600"/>
                        <a:ext cx="7064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2" name="Object 158">
            <a:extLst>
              <a:ext uri="{FF2B5EF4-FFF2-40B4-BE49-F238E27FC236}">
                <a16:creationId xmlns:a16="http://schemas.microsoft.com/office/drawing/2014/main" id="{184F5C86-D508-4554-BE4C-89D412D294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25654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1" name="公式" r:id="rId27" imgW="418918" imgH="177723" progId="Equation.3">
                  <p:embed/>
                </p:oleObj>
              </mc:Choice>
              <mc:Fallback>
                <p:oleObj name="公式" r:id="rId27" imgW="418918" imgH="177723" progId="Equation.3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565400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3" name="Object 159">
            <a:extLst>
              <a:ext uri="{FF2B5EF4-FFF2-40B4-BE49-F238E27FC236}">
                <a16:creationId xmlns:a16="http://schemas.microsoft.com/office/drawing/2014/main" id="{9D6E66E3-453E-414F-831B-0CAA38FC0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30686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2" name="公式" r:id="rId29" imgW="418918" imgH="177723" progId="Equation.3">
                  <p:embed/>
                </p:oleObj>
              </mc:Choice>
              <mc:Fallback>
                <p:oleObj name="公式" r:id="rId29" imgW="418918" imgH="177723" progId="Equation.3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068638"/>
                        <a:ext cx="8636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4" name="Object 160">
            <a:extLst>
              <a:ext uri="{FF2B5EF4-FFF2-40B4-BE49-F238E27FC236}">
                <a16:creationId xmlns:a16="http://schemas.microsoft.com/office/drawing/2014/main" id="{5E5B8AFC-781F-418C-8351-8E1507E87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8575" y="2133600"/>
          <a:ext cx="70643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3" name="公式" r:id="rId31" imgW="342603" imgH="177646" progId="Equation.3">
                  <p:embed/>
                </p:oleObj>
              </mc:Choice>
              <mc:Fallback>
                <p:oleObj name="公式" r:id="rId31" imgW="342603" imgH="177646" progId="Equation.3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8575" y="2133600"/>
                        <a:ext cx="70643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5" name="Object 161">
            <a:extLst>
              <a:ext uri="{FF2B5EF4-FFF2-40B4-BE49-F238E27FC236}">
                <a16:creationId xmlns:a16="http://schemas.microsoft.com/office/drawing/2014/main" id="{8DF6C81C-0CFF-43F2-91E5-4EA6C84556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2578100"/>
          <a:ext cx="8636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4" name="公式" r:id="rId33" imgW="418918" imgH="165028" progId="Equation.3">
                  <p:embed/>
                </p:oleObj>
              </mc:Choice>
              <mc:Fallback>
                <p:oleObj name="公式" r:id="rId33" imgW="418918" imgH="165028" progId="Equation.3">
                  <p:embed/>
                  <p:pic>
                    <p:nvPicPr>
                      <p:cNvPr id="0" name="Object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578100"/>
                        <a:ext cx="86360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6" name="Object 162">
            <a:extLst>
              <a:ext uri="{FF2B5EF4-FFF2-40B4-BE49-F238E27FC236}">
                <a16:creationId xmlns:a16="http://schemas.microsoft.com/office/drawing/2014/main" id="{B3285C2A-EEFF-461C-AFB3-6114AAEF1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30686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5" name="公式" r:id="rId35" imgW="418918" imgH="177723" progId="Equation.3">
                  <p:embed/>
                </p:oleObj>
              </mc:Choice>
              <mc:Fallback>
                <p:oleObj name="公式" r:id="rId35" imgW="418918" imgH="177723" progId="Equation.3">
                  <p:embed/>
                  <p:pic>
                    <p:nvPicPr>
                      <p:cNvPr id="0" name="Object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068638"/>
                        <a:ext cx="8636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7" name="Object 163">
            <a:extLst>
              <a:ext uri="{FF2B5EF4-FFF2-40B4-BE49-F238E27FC236}">
                <a16:creationId xmlns:a16="http://schemas.microsoft.com/office/drawing/2014/main" id="{AECAF7A3-523B-4D2A-A856-9403081E6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6188" y="21336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6" name="公式" r:id="rId37" imgW="418918" imgH="177723" progId="Equation.3">
                  <p:embed/>
                </p:oleObj>
              </mc:Choice>
              <mc:Fallback>
                <p:oleObj name="公式" r:id="rId37" imgW="418918" imgH="177723" progId="Equation.3">
                  <p:embed/>
                  <p:pic>
                    <p:nvPicPr>
                      <p:cNvPr id="0" name="Object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2133600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8" name="Object 164">
            <a:extLst>
              <a:ext uri="{FF2B5EF4-FFF2-40B4-BE49-F238E27FC236}">
                <a16:creationId xmlns:a16="http://schemas.microsoft.com/office/drawing/2014/main" id="{FBD6AB2F-9337-40D0-93BF-383EEC82B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6675" y="2578100"/>
          <a:ext cx="6810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7" name="公式" r:id="rId39" imgW="330057" imgH="165028" progId="Equation.3">
                  <p:embed/>
                </p:oleObj>
              </mc:Choice>
              <mc:Fallback>
                <p:oleObj name="公式" r:id="rId39" imgW="330057" imgH="165028" progId="Equation.3">
                  <p:embed/>
                  <p:pic>
                    <p:nvPicPr>
                      <p:cNvPr id="0" name="Object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6675" y="2578100"/>
                        <a:ext cx="681038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9" name="Object 165">
            <a:extLst>
              <a:ext uri="{FF2B5EF4-FFF2-40B4-BE49-F238E27FC236}">
                <a16:creationId xmlns:a16="http://schemas.microsoft.com/office/drawing/2014/main" id="{95C2964F-E94F-4C03-B115-70E94EA215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6188" y="29972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8" name="公式" r:id="rId41" imgW="418918" imgH="177723" progId="Equation.3">
                  <p:embed/>
                </p:oleObj>
              </mc:Choice>
              <mc:Fallback>
                <p:oleObj name="公式" r:id="rId41" imgW="418918" imgH="177723" progId="Equation.3">
                  <p:embed/>
                  <p:pic>
                    <p:nvPicPr>
                      <p:cNvPr id="0" name="Object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2997200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10" name="Object 166">
            <a:extLst>
              <a:ext uri="{FF2B5EF4-FFF2-40B4-BE49-F238E27FC236}">
                <a16:creationId xmlns:a16="http://schemas.microsoft.com/office/drawing/2014/main" id="{2B239A02-68F5-4028-86DF-9D7380A112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6188" y="35004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9" name="公式" r:id="rId43" imgW="418918" imgH="177723" progId="Equation.3">
                  <p:embed/>
                </p:oleObj>
              </mc:Choice>
              <mc:Fallback>
                <p:oleObj name="公式" r:id="rId43" imgW="418918" imgH="177723" progId="Equation.3">
                  <p:embed/>
                  <p:pic>
                    <p:nvPicPr>
                      <p:cNvPr id="0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3500438"/>
                        <a:ext cx="8636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13" name="Group 169">
            <a:extLst>
              <a:ext uri="{FF2B5EF4-FFF2-40B4-BE49-F238E27FC236}">
                <a16:creationId xmlns:a16="http://schemas.microsoft.com/office/drawing/2014/main" id="{4E776089-AC9C-4BF4-8183-21F0D21A564F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637088"/>
            <a:ext cx="8131175" cy="1117600"/>
            <a:chOff x="480" y="2921"/>
            <a:chExt cx="5122" cy="704"/>
          </a:xfrm>
        </p:grpSpPr>
        <p:sp>
          <p:nvSpPr>
            <p:cNvPr id="30793" name="Text Box 2">
              <a:extLst>
                <a:ext uri="{FF2B5EF4-FFF2-40B4-BE49-F238E27FC236}">
                  <a16:creationId xmlns:a16="http://schemas.microsoft.com/office/drawing/2014/main" id="{2788E8A5-2151-47A7-9834-E04ECE5D4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921"/>
              <a:ext cx="5122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讨论</a:t>
              </a:r>
              <a:r>
                <a:rPr lang="en-US" altLang="zh-CN" sz="2800" b="1">
                  <a:latin typeface="宋体" panose="02010600030101010101" pitchFamily="2" charset="-122"/>
                </a:rPr>
                <a:t>:</a:t>
              </a:r>
              <a:r>
                <a:rPr lang="zh-CN" altLang="en-US" sz="2800" b="1">
                  <a:latin typeface="宋体" panose="02010600030101010101" pitchFamily="2" charset="-122"/>
                </a:rPr>
                <a:t>丁的蛙泳成绩退步到      ；戊的自由泳成绩进步到     </a:t>
              </a:r>
              <a:r>
                <a:rPr lang="en-US" altLang="zh-CN" sz="2800" b="1"/>
                <a:t>, </a:t>
              </a:r>
              <a:r>
                <a:rPr lang="zh-CN" altLang="en-US" sz="2800" b="1">
                  <a:latin typeface="宋体" panose="02010600030101010101" pitchFamily="2" charset="-122"/>
                </a:rPr>
                <a:t>组成接力队的方案是否应该调整</a:t>
              </a:r>
              <a:r>
                <a:rPr lang="zh-CN" altLang="en-US" sz="2800" b="1"/>
                <a:t>？</a:t>
              </a:r>
            </a:p>
          </p:txBody>
        </p:sp>
        <p:graphicFrame>
          <p:nvGraphicFramePr>
            <p:cNvPr id="30794" name="Object 167">
              <a:extLst>
                <a:ext uri="{FF2B5EF4-FFF2-40B4-BE49-F238E27FC236}">
                  <a16:creationId xmlns:a16="http://schemas.microsoft.com/office/drawing/2014/main" id="{FB0297AD-C716-428E-9EB8-D041F79B39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8" y="3022"/>
            <a:ext cx="59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0" name="公式" r:id="rId45" imgW="418918" imgH="177723" progId="Equation.3">
                    <p:embed/>
                  </p:oleObj>
                </mc:Choice>
                <mc:Fallback>
                  <p:oleObj name="公式" r:id="rId45" imgW="418918" imgH="177723" progId="Equation.3">
                    <p:embed/>
                    <p:pic>
                      <p:nvPicPr>
                        <p:cNvPr id="0" name="Object 1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3022"/>
                          <a:ext cx="590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5" name="Object 168">
              <a:extLst>
                <a:ext uri="{FF2B5EF4-FFF2-40B4-BE49-F238E27FC236}">
                  <a16:creationId xmlns:a16="http://schemas.microsoft.com/office/drawing/2014/main" id="{88D5DF7A-8361-42D1-9910-A91D10845F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3339"/>
            <a:ext cx="45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1" name="公式" r:id="rId47" imgW="317087" imgH="177569" progId="Equation.3">
                    <p:embed/>
                  </p:oleObj>
                </mc:Choice>
                <mc:Fallback>
                  <p:oleObj name="公式" r:id="rId47" imgW="317087" imgH="177569" progId="Equation.3">
                    <p:embed/>
                    <p:pic>
                      <p:nvPicPr>
                        <p:cNvPr id="0" name="Object 1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339"/>
                          <a:ext cx="457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3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7" dur="500"/>
                                        <p:tgtEl>
                                          <p:spTgt spid="5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nimBg="1" autoUpdateAnimBg="0"/>
      <p:bldP spid="51296" grpId="0" animBg="1"/>
      <p:bldP spid="5129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643A4D45-F412-47AF-99A3-9621634A7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75088"/>
            <a:ext cx="990600" cy="946150"/>
          </a:xfrm>
          <a:prstGeom prst="rect">
            <a:avLst/>
          </a:prstGeom>
          <a:solidFill>
            <a:srgbClr val="C1DF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目标函数</a:t>
            </a:r>
            <a:endParaRPr lang="zh-CN" altLang="en-US" sz="2800" b="1"/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1E4B340D-6595-4AFE-B6F9-79A01806E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189288"/>
            <a:ext cx="8512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若选择队员</a:t>
            </a:r>
            <a:r>
              <a:rPr lang="en-US" altLang="zh-CN" sz="2800" b="1" i="1"/>
              <a:t>i</a:t>
            </a:r>
            <a:r>
              <a:rPr lang="zh-CN" altLang="en-US" sz="2800" b="1">
                <a:latin typeface="宋体" panose="02010600030101010101" pitchFamily="2" charset="-122"/>
              </a:rPr>
              <a:t>参加泳姿</a:t>
            </a:r>
            <a:r>
              <a:rPr lang="en-US" altLang="zh-CN" sz="2800" b="1" i="1"/>
              <a:t>j </a:t>
            </a:r>
            <a:r>
              <a:rPr lang="zh-CN" altLang="en-US" sz="2800" b="1">
                <a:latin typeface="宋体" panose="02010600030101010101" pitchFamily="2" charset="-122"/>
              </a:rPr>
              <a:t>的比赛，记</a:t>
            </a:r>
            <a:r>
              <a:rPr lang="en-US" altLang="zh-CN" sz="2800" b="1" i="1"/>
              <a:t>x</a:t>
            </a:r>
            <a:r>
              <a:rPr lang="en-US" altLang="zh-CN" sz="2800" b="1" i="1" baseline="-30000"/>
              <a:t>ij</a:t>
            </a:r>
            <a:r>
              <a:rPr lang="en-US" altLang="zh-CN" sz="2800" b="1"/>
              <a:t>=1</a:t>
            </a:r>
            <a:r>
              <a:rPr lang="en-US" altLang="zh-CN" sz="2800" b="1">
                <a:latin typeface="宋体" panose="02010600030101010101" pitchFamily="2" charset="-122"/>
              </a:rPr>
              <a:t>, </a:t>
            </a:r>
            <a:r>
              <a:rPr lang="zh-CN" altLang="en-US" sz="2800" b="1">
                <a:latin typeface="宋体" panose="02010600030101010101" pitchFamily="2" charset="-122"/>
              </a:rPr>
              <a:t>否则记</a:t>
            </a:r>
            <a:r>
              <a:rPr lang="en-US" altLang="zh-CN" sz="2800" b="1" i="1"/>
              <a:t>x</a:t>
            </a:r>
            <a:r>
              <a:rPr lang="en-US" altLang="zh-CN" sz="2800" b="1" i="1" baseline="-30000"/>
              <a:t>ij</a:t>
            </a:r>
            <a:r>
              <a:rPr lang="en-US" altLang="zh-CN" sz="2800" b="1"/>
              <a:t>=0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29AB521B-4088-4B0C-B0F7-81AC123C4C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1000" y="533400"/>
            <a:ext cx="2514600" cy="533400"/>
          </a:xfrm>
          <a:prstGeom prst="rect">
            <a:avLst/>
          </a:prstGeom>
          <a:solidFill>
            <a:srgbClr val="FFCC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chemeClr val="tx1"/>
                </a:solidFill>
              </a:rPr>
              <a:t>0-1</a:t>
            </a:r>
            <a:r>
              <a:rPr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规划模型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endParaRPr lang="zh-CN" altLang="en-US" sz="3200"/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349E9C62-C3CD-4A7D-9AE2-3B2DF744D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33400"/>
            <a:ext cx="59436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c</a:t>
            </a:r>
            <a:r>
              <a:rPr lang="en-US" altLang="zh-CN" sz="2800" b="1" i="1" baseline="-30000"/>
              <a:t>ij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/>
              <a:t>s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en-US" altLang="zh-CN" sz="2800" b="1"/>
              <a:t>~</a:t>
            </a:r>
            <a:r>
              <a:rPr lang="zh-CN" altLang="en-US" sz="2800" b="1">
                <a:latin typeface="宋体" panose="02010600030101010101" pitchFamily="2" charset="-122"/>
              </a:rPr>
              <a:t>队员</a:t>
            </a:r>
            <a:r>
              <a:rPr lang="en-US" altLang="zh-CN" sz="2800" b="1" i="1"/>
              <a:t>i</a:t>
            </a:r>
            <a:r>
              <a:rPr lang="zh-CN" altLang="en-US" sz="2800" b="1">
                <a:latin typeface="宋体" panose="02010600030101010101" pitchFamily="2" charset="-122"/>
              </a:rPr>
              <a:t>第</a:t>
            </a:r>
            <a:r>
              <a:rPr lang="en-US" altLang="zh-CN" sz="2800" b="1" i="1"/>
              <a:t>j </a:t>
            </a:r>
            <a:r>
              <a:rPr lang="zh-CN" altLang="en-US" sz="2800" b="1">
                <a:latin typeface="宋体" panose="02010600030101010101" pitchFamily="2" charset="-122"/>
              </a:rPr>
              <a:t>种泳姿的百米成绩</a:t>
            </a:r>
          </a:p>
        </p:txBody>
      </p:sp>
      <p:sp>
        <p:nvSpPr>
          <p:cNvPr id="52230" name="Text Box 6">
            <a:extLst>
              <a:ext uri="{FF2B5EF4-FFF2-40B4-BE49-F238E27FC236}">
                <a16:creationId xmlns:a16="http://schemas.microsoft.com/office/drawing/2014/main" id="{DA2B5236-112E-4DC1-B2AB-1F75417C1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029200"/>
            <a:ext cx="914400" cy="946150"/>
          </a:xfrm>
          <a:prstGeom prst="rect">
            <a:avLst/>
          </a:prstGeom>
          <a:solidFill>
            <a:srgbClr val="C1DF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约束条件</a:t>
            </a:r>
            <a:endParaRPr lang="zh-CN" altLang="en-US" sz="2800" b="1"/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id="{3607BCC0-8151-4207-9EB5-1C78C96A4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76800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每人最多入选泳姿之一</a:t>
            </a:r>
            <a:r>
              <a:rPr lang="zh-CN" altLang="en-US" sz="2800" b="1"/>
              <a:t> 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5D7B226C-A605-4E78-9E48-EF57F2C9A24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143000"/>
            <a:ext cx="8458200" cy="1981200"/>
            <a:chOff x="-3" y="-3"/>
            <a:chExt cx="3090" cy="1926"/>
          </a:xfrm>
        </p:grpSpPr>
        <p:grpSp>
          <p:nvGrpSpPr>
            <p:cNvPr id="31757" name="Group 9">
              <a:extLst>
                <a:ext uri="{FF2B5EF4-FFF2-40B4-BE49-F238E27FC236}">
                  <a16:creationId xmlns:a16="http://schemas.microsoft.com/office/drawing/2014/main" id="{51815B84-C301-4DF2-B721-710F52C39E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84" cy="1920"/>
              <a:chOff x="0" y="0"/>
              <a:chExt cx="3084" cy="1920"/>
            </a:xfrm>
          </p:grpSpPr>
          <p:grpSp>
            <p:nvGrpSpPr>
              <p:cNvPr id="31759" name="Group 10">
                <a:extLst>
                  <a:ext uri="{FF2B5EF4-FFF2-40B4-BE49-F238E27FC236}">
                    <a16:creationId xmlns:a16="http://schemas.microsoft.com/office/drawing/2014/main" id="{DCCF291E-2C64-4D61-8E8D-1C755679B7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14" cy="384"/>
                <a:chOff x="0" y="0"/>
                <a:chExt cx="514" cy="384"/>
              </a:xfrm>
            </p:grpSpPr>
            <p:sp>
              <p:nvSpPr>
                <p:cNvPr id="31847" name="Rectangle 11">
                  <a:extLst>
                    <a:ext uri="{FF2B5EF4-FFF2-40B4-BE49-F238E27FC236}">
                      <a16:creationId xmlns:a16="http://schemas.microsoft.com/office/drawing/2014/main" id="{15A89B29-7B7B-4C02-A45D-9FFE25EF5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c</a:t>
                  </a:r>
                  <a:r>
                    <a:rPr lang="en-US" altLang="zh-CN" b="1" i="1" baseline="-30000"/>
                    <a:t>ij</a:t>
                  </a:r>
                  <a:endParaRPr lang="en-US" altLang="zh-CN" b="1"/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48" name="Rectangle 12">
                  <a:extLst>
                    <a:ext uri="{FF2B5EF4-FFF2-40B4-BE49-F238E27FC236}">
                      <a16:creationId xmlns:a16="http://schemas.microsoft.com/office/drawing/2014/main" id="{C30BD30B-F68A-43A1-AA43-6A1DBBC83E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0" name="Group 13">
                <a:extLst>
                  <a:ext uri="{FF2B5EF4-FFF2-40B4-BE49-F238E27FC236}">
                    <a16:creationId xmlns:a16="http://schemas.microsoft.com/office/drawing/2014/main" id="{1CC53853-D3FE-427C-B545-C379A05BEB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" y="0"/>
                <a:ext cx="514" cy="384"/>
                <a:chOff x="514" y="0"/>
                <a:chExt cx="514" cy="384"/>
              </a:xfrm>
            </p:grpSpPr>
            <p:sp>
              <p:nvSpPr>
                <p:cNvPr id="31845" name="Rectangle 14">
                  <a:extLst>
                    <a:ext uri="{FF2B5EF4-FFF2-40B4-BE49-F238E27FC236}">
                      <a16:creationId xmlns:a16="http://schemas.microsoft.com/office/drawing/2014/main" id="{8847F2AF-6E03-4297-B15C-8562B3BF05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7" y="0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i</a:t>
                  </a:r>
                  <a:r>
                    <a:rPr lang="en-US" altLang="zh-CN" b="1"/>
                    <a:t>=1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46" name="Rectangle 15">
                  <a:extLst>
                    <a:ext uri="{FF2B5EF4-FFF2-40B4-BE49-F238E27FC236}">
                      <a16:creationId xmlns:a16="http://schemas.microsoft.com/office/drawing/2014/main" id="{01C67EE2-7B54-4BDC-B26F-3F773BA78A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4" y="0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1" name="Group 16">
                <a:extLst>
                  <a:ext uri="{FF2B5EF4-FFF2-40B4-BE49-F238E27FC236}">
                    <a16:creationId xmlns:a16="http://schemas.microsoft.com/office/drawing/2014/main" id="{84AD770F-8DFF-4D25-AE8B-9EEB87F5E7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" y="0"/>
                <a:ext cx="514" cy="384"/>
                <a:chOff x="1028" y="0"/>
                <a:chExt cx="514" cy="384"/>
              </a:xfrm>
            </p:grpSpPr>
            <p:sp>
              <p:nvSpPr>
                <p:cNvPr id="31843" name="Rectangle 17">
                  <a:extLst>
                    <a:ext uri="{FF2B5EF4-FFF2-40B4-BE49-F238E27FC236}">
                      <a16:creationId xmlns:a16="http://schemas.microsoft.com/office/drawing/2014/main" id="{C4BAF0DE-FFCA-4780-A3BF-ED5515E786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0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i</a:t>
                  </a:r>
                  <a:r>
                    <a:rPr lang="en-US" altLang="zh-CN" b="1"/>
                    <a:t>=2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44" name="Rectangle 18">
                  <a:extLst>
                    <a:ext uri="{FF2B5EF4-FFF2-40B4-BE49-F238E27FC236}">
                      <a16:creationId xmlns:a16="http://schemas.microsoft.com/office/drawing/2014/main" id="{5DC9F9F7-F8B1-4470-AD76-446CECA44B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8" y="0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2" name="Group 19">
                <a:extLst>
                  <a:ext uri="{FF2B5EF4-FFF2-40B4-BE49-F238E27FC236}">
                    <a16:creationId xmlns:a16="http://schemas.microsoft.com/office/drawing/2014/main" id="{E9DC3FDE-ED79-4208-81A6-6AA777E702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2" y="0"/>
                <a:ext cx="514" cy="384"/>
                <a:chOff x="1542" y="0"/>
                <a:chExt cx="514" cy="384"/>
              </a:xfrm>
            </p:grpSpPr>
            <p:sp>
              <p:nvSpPr>
                <p:cNvPr id="31841" name="Rectangle 20">
                  <a:extLst>
                    <a:ext uri="{FF2B5EF4-FFF2-40B4-BE49-F238E27FC236}">
                      <a16:creationId xmlns:a16="http://schemas.microsoft.com/office/drawing/2014/main" id="{6945CA79-F057-4293-9CF8-87A6E7F9DB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5" y="0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i</a:t>
                  </a:r>
                  <a:r>
                    <a:rPr lang="en-US" altLang="zh-CN" b="1"/>
                    <a:t>=3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42" name="Rectangle 21">
                  <a:extLst>
                    <a:ext uri="{FF2B5EF4-FFF2-40B4-BE49-F238E27FC236}">
                      <a16:creationId xmlns:a16="http://schemas.microsoft.com/office/drawing/2014/main" id="{76D2577A-97D8-477D-BC58-3A1A529949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2" y="0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3" name="Group 22">
                <a:extLst>
                  <a:ext uri="{FF2B5EF4-FFF2-40B4-BE49-F238E27FC236}">
                    <a16:creationId xmlns:a16="http://schemas.microsoft.com/office/drawing/2014/main" id="{2D743286-B565-4438-B8AB-F818478315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6" y="0"/>
                <a:ext cx="514" cy="384"/>
                <a:chOff x="2056" y="0"/>
                <a:chExt cx="514" cy="384"/>
              </a:xfrm>
            </p:grpSpPr>
            <p:sp>
              <p:nvSpPr>
                <p:cNvPr id="31839" name="Rectangle 23">
                  <a:extLst>
                    <a:ext uri="{FF2B5EF4-FFF2-40B4-BE49-F238E27FC236}">
                      <a16:creationId xmlns:a16="http://schemas.microsoft.com/office/drawing/2014/main" id="{95CF1270-351B-4EF5-8548-583CFBDC5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9" y="0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i</a:t>
                  </a:r>
                  <a:r>
                    <a:rPr lang="en-US" altLang="zh-CN" b="1"/>
                    <a:t>=4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40" name="Rectangle 24">
                  <a:extLst>
                    <a:ext uri="{FF2B5EF4-FFF2-40B4-BE49-F238E27FC236}">
                      <a16:creationId xmlns:a16="http://schemas.microsoft.com/office/drawing/2014/main" id="{28F0C2BD-49D3-44CE-A0C3-E4C75B29F6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6" y="0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4" name="Group 25">
                <a:extLst>
                  <a:ext uri="{FF2B5EF4-FFF2-40B4-BE49-F238E27FC236}">
                    <a16:creationId xmlns:a16="http://schemas.microsoft.com/office/drawing/2014/main" id="{3269C5F6-67A8-4E06-A28C-08A5885517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0" y="0"/>
                <a:ext cx="514" cy="384"/>
                <a:chOff x="2570" y="0"/>
                <a:chExt cx="514" cy="384"/>
              </a:xfrm>
            </p:grpSpPr>
            <p:sp>
              <p:nvSpPr>
                <p:cNvPr id="31837" name="Rectangle 26">
                  <a:extLst>
                    <a:ext uri="{FF2B5EF4-FFF2-40B4-BE49-F238E27FC236}">
                      <a16:creationId xmlns:a16="http://schemas.microsoft.com/office/drawing/2014/main" id="{0DA838FC-57DD-428F-AC87-00B102C0E6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3" y="0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i</a:t>
                  </a:r>
                  <a:r>
                    <a:rPr lang="en-US" altLang="zh-CN" b="1"/>
                    <a:t>=5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38" name="Rectangle 27">
                  <a:extLst>
                    <a:ext uri="{FF2B5EF4-FFF2-40B4-BE49-F238E27FC236}">
                      <a16:creationId xmlns:a16="http://schemas.microsoft.com/office/drawing/2014/main" id="{5745134F-2346-4EED-BED5-1628287F5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0" y="0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5" name="Group 28">
                <a:extLst>
                  <a:ext uri="{FF2B5EF4-FFF2-40B4-BE49-F238E27FC236}">
                    <a16:creationId xmlns:a16="http://schemas.microsoft.com/office/drawing/2014/main" id="{4A2A6970-6733-4D88-9693-36790D976B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84"/>
                <a:ext cx="514" cy="384"/>
                <a:chOff x="0" y="384"/>
                <a:chExt cx="514" cy="384"/>
              </a:xfrm>
            </p:grpSpPr>
            <p:sp>
              <p:nvSpPr>
                <p:cNvPr id="31835" name="Rectangle 29">
                  <a:extLst>
                    <a:ext uri="{FF2B5EF4-FFF2-40B4-BE49-F238E27FC236}">
                      <a16:creationId xmlns:a16="http://schemas.microsoft.com/office/drawing/2014/main" id="{471E09FC-2512-43A4-BDF3-C73C2AF286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j</a:t>
                  </a:r>
                  <a:r>
                    <a:rPr lang="en-US" altLang="zh-CN" b="1"/>
                    <a:t>=1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36" name="Rectangle 30">
                  <a:extLst>
                    <a:ext uri="{FF2B5EF4-FFF2-40B4-BE49-F238E27FC236}">
                      <a16:creationId xmlns:a16="http://schemas.microsoft.com/office/drawing/2014/main" id="{320EB8C9-48C0-477C-8C94-54FEB726E5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6" name="Group 31">
                <a:extLst>
                  <a:ext uri="{FF2B5EF4-FFF2-40B4-BE49-F238E27FC236}">
                    <a16:creationId xmlns:a16="http://schemas.microsoft.com/office/drawing/2014/main" id="{413B78A5-5F8E-40B2-9025-1A9B82B52A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" y="384"/>
                <a:ext cx="514" cy="384"/>
                <a:chOff x="514" y="384"/>
                <a:chExt cx="514" cy="384"/>
              </a:xfrm>
            </p:grpSpPr>
            <p:sp>
              <p:nvSpPr>
                <p:cNvPr id="31833" name="Rectangle 32">
                  <a:extLst>
                    <a:ext uri="{FF2B5EF4-FFF2-40B4-BE49-F238E27FC236}">
                      <a16:creationId xmlns:a16="http://schemas.microsoft.com/office/drawing/2014/main" id="{2022E294-B312-44CA-93A2-CA066C5D59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7" y="384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66.8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34" name="Rectangle 33">
                  <a:extLst>
                    <a:ext uri="{FF2B5EF4-FFF2-40B4-BE49-F238E27FC236}">
                      <a16:creationId xmlns:a16="http://schemas.microsoft.com/office/drawing/2014/main" id="{E70399AD-175E-430A-B49F-78E4A0E76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4" y="384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7" name="Group 34">
                <a:extLst>
                  <a:ext uri="{FF2B5EF4-FFF2-40B4-BE49-F238E27FC236}">
                    <a16:creationId xmlns:a16="http://schemas.microsoft.com/office/drawing/2014/main" id="{9505D3A5-DCF5-44C2-B1F9-43B37ACC72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" y="384"/>
                <a:ext cx="514" cy="384"/>
                <a:chOff x="1028" y="384"/>
                <a:chExt cx="514" cy="384"/>
              </a:xfrm>
            </p:grpSpPr>
            <p:sp>
              <p:nvSpPr>
                <p:cNvPr id="31831" name="Rectangle 35">
                  <a:extLst>
                    <a:ext uri="{FF2B5EF4-FFF2-40B4-BE49-F238E27FC236}">
                      <a16:creationId xmlns:a16="http://schemas.microsoft.com/office/drawing/2014/main" id="{0A6627D2-12B1-449A-AB99-870401FBFA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384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57.2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32" name="Rectangle 36">
                  <a:extLst>
                    <a:ext uri="{FF2B5EF4-FFF2-40B4-BE49-F238E27FC236}">
                      <a16:creationId xmlns:a16="http://schemas.microsoft.com/office/drawing/2014/main" id="{EAE2546B-5909-4916-9DB5-E5DA88383D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8" y="384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8" name="Group 37">
                <a:extLst>
                  <a:ext uri="{FF2B5EF4-FFF2-40B4-BE49-F238E27FC236}">
                    <a16:creationId xmlns:a16="http://schemas.microsoft.com/office/drawing/2014/main" id="{2B82A7E7-1AC9-42D8-BA03-F24A8DBADA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2" y="384"/>
                <a:ext cx="514" cy="384"/>
                <a:chOff x="1542" y="384"/>
                <a:chExt cx="514" cy="384"/>
              </a:xfrm>
            </p:grpSpPr>
            <p:sp>
              <p:nvSpPr>
                <p:cNvPr id="31829" name="Rectangle 38">
                  <a:extLst>
                    <a:ext uri="{FF2B5EF4-FFF2-40B4-BE49-F238E27FC236}">
                      <a16:creationId xmlns:a16="http://schemas.microsoft.com/office/drawing/2014/main" id="{04D07A4D-94E5-426C-8CF3-71136451E6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5" y="384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78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30" name="Rectangle 39">
                  <a:extLst>
                    <a:ext uri="{FF2B5EF4-FFF2-40B4-BE49-F238E27FC236}">
                      <a16:creationId xmlns:a16="http://schemas.microsoft.com/office/drawing/2014/main" id="{5F368EFA-9224-4F2E-84FD-60CF61A42B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2" y="384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69" name="Group 40">
                <a:extLst>
                  <a:ext uri="{FF2B5EF4-FFF2-40B4-BE49-F238E27FC236}">
                    <a16:creationId xmlns:a16="http://schemas.microsoft.com/office/drawing/2014/main" id="{F33B965C-596B-4B61-9185-3F22D80EB8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6" y="384"/>
                <a:ext cx="514" cy="384"/>
                <a:chOff x="2056" y="384"/>
                <a:chExt cx="514" cy="384"/>
              </a:xfrm>
            </p:grpSpPr>
            <p:sp>
              <p:nvSpPr>
                <p:cNvPr id="31827" name="Rectangle 41">
                  <a:extLst>
                    <a:ext uri="{FF2B5EF4-FFF2-40B4-BE49-F238E27FC236}">
                      <a16:creationId xmlns:a16="http://schemas.microsoft.com/office/drawing/2014/main" id="{3DC480C0-488F-4C1E-ADA8-5CC9C213A9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9" y="384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70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28" name="Rectangle 42">
                  <a:extLst>
                    <a:ext uri="{FF2B5EF4-FFF2-40B4-BE49-F238E27FC236}">
                      <a16:creationId xmlns:a16="http://schemas.microsoft.com/office/drawing/2014/main" id="{C36B9AE5-E78E-4B87-B010-772AD11080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6" y="384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0" name="Group 43">
                <a:extLst>
                  <a:ext uri="{FF2B5EF4-FFF2-40B4-BE49-F238E27FC236}">
                    <a16:creationId xmlns:a16="http://schemas.microsoft.com/office/drawing/2014/main" id="{97094D1A-F99B-4D53-8828-3FBB08BD0A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0" y="384"/>
                <a:ext cx="514" cy="384"/>
                <a:chOff x="2570" y="384"/>
                <a:chExt cx="514" cy="384"/>
              </a:xfrm>
            </p:grpSpPr>
            <p:sp>
              <p:nvSpPr>
                <p:cNvPr id="31825" name="Rectangle 44">
                  <a:extLst>
                    <a:ext uri="{FF2B5EF4-FFF2-40B4-BE49-F238E27FC236}">
                      <a16:creationId xmlns:a16="http://schemas.microsoft.com/office/drawing/2014/main" id="{C98AFC0D-1F5D-4B5F-A930-32CA5D8D13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3" y="384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67.4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26" name="Rectangle 45">
                  <a:extLst>
                    <a:ext uri="{FF2B5EF4-FFF2-40B4-BE49-F238E27FC236}">
                      <a16:creationId xmlns:a16="http://schemas.microsoft.com/office/drawing/2014/main" id="{E0A4DB07-1125-45BB-B61A-6923760675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0" y="384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1" name="Group 46">
                <a:extLst>
                  <a:ext uri="{FF2B5EF4-FFF2-40B4-BE49-F238E27FC236}">
                    <a16:creationId xmlns:a16="http://schemas.microsoft.com/office/drawing/2014/main" id="{BEDC529E-A785-49BD-8B83-0B64067EB8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514" cy="384"/>
                <a:chOff x="0" y="768"/>
                <a:chExt cx="514" cy="384"/>
              </a:xfrm>
            </p:grpSpPr>
            <p:sp>
              <p:nvSpPr>
                <p:cNvPr id="31823" name="Rectangle 47">
                  <a:extLst>
                    <a:ext uri="{FF2B5EF4-FFF2-40B4-BE49-F238E27FC236}">
                      <a16:creationId xmlns:a16="http://schemas.microsoft.com/office/drawing/2014/main" id="{6946924E-335C-4D74-8CAD-01F218A346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768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j</a:t>
                  </a:r>
                  <a:r>
                    <a:rPr lang="en-US" altLang="zh-CN" b="1"/>
                    <a:t>=2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24" name="Rectangle 48">
                  <a:extLst>
                    <a:ext uri="{FF2B5EF4-FFF2-40B4-BE49-F238E27FC236}">
                      <a16:creationId xmlns:a16="http://schemas.microsoft.com/office/drawing/2014/main" id="{63E9229A-7047-4B2E-B876-9AE84A5475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2" name="Group 49">
                <a:extLst>
                  <a:ext uri="{FF2B5EF4-FFF2-40B4-BE49-F238E27FC236}">
                    <a16:creationId xmlns:a16="http://schemas.microsoft.com/office/drawing/2014/main" id="{C3425811-944B-4059-9143-2D5620F930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" y="768"/>
                <a:ext cx="514" cy="384"/>
                <a:chOff x="514" y="768"/>
                <a:chExt cx="514" cy="384"/>
              </a:xfrm>
            </p:grpSpPr>
            <p:sp>
              <p:nvSpPr>
                <p:cNvPr id="31821" name="Rectangle 50">
                  <a:extLst>
                    <a:ext uri="{FF2B5EF4-FFF2-40B4-BE49-F238E27FC236}">
                      <a16:creationId xmlns:a16="http://schemas.microsoft.com/office/drawing/2014/main" id="{735D722D-68B5-43AF-98A0-0E6E8D9804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7" y="768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75.6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22" name="Rectangle 51">
                  <a:extLst>
                    <a:ext uri="{FF2B5EF4-FFF2-40B4-BE49-F238E27FC236}">
                      <a16:creationId xmlns:a16="http://schemas.microsoft.com/office/drawing/2014/main" id="{0742AA60-09D0-4046-9C81-0EB64755A8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4" y="768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3" name="Group 52">
                <a:extLst>
                  <a:ext uri="{FF2B5EF4-FFF2-40B4-BE49-F238E27FC236}">
                    <a16:creationId xmlns:a16="http://schemas.microsoft.com/office/drawing/2014/main" id="{1B427A60-33CD-44E2-8901-495F5ABF52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" y="768"/>
                <a:ext cx="514" cy="384"/>
                <a:chOff x="1028" y="768"/>
                <a:chExt cx="514" cy="384"/>
              </a:xfrm>
            </p:grpSpPr>
            <p:sp>
              <p:nvSpPr>
                <p:cNvPr id="31819" name="Rectangle 53">
                  <a:extLst>
                    <a:ext uri="{FF2B5EF4-FFF2-40B4-BE49-F238E27FC236}">
                      <a16:creationId xmlns:a16="http://schemas.microsoft.com/office/drawing/2014/main" id="{07D39835-DD78-43C0-9D1C-D1080A272E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768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66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20" name="Rectangle 54">
                  <a:extLst>
                    <a:ext uri="{FF2B5EF4-FFF2-40B4-BE49-F238E27FC236}">
                      <a16:creationId xmlns:a16="http://schemas.microsoft.com/office/drawing/2014/main" id="{AC3D557F-C55B-4FF2-A8AA-7340D1907A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8" y="768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4" name="Group 55">
                <a:extLst>
                  <a:ext uri="{FF2B5EF4-FFF2-40B4-BE49-F238E27FC236}">
                    <a16:creationId xmlns:a16="http://schemas.microsoft.com/office/drawing/2014/main" id="{3C13FAA2-7939-4F13-BC1F-CD4261B8A5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2" y="768"/>
                <a:ext cx="514" cy="384"/>
                <a:chOff x="1542" y="768"/>
                <a:chExt cx="514" cy="384"/>
              </a:xfrm>
            </p:grpSpPr>
            <p:sp>
              <p:nvSpPr>
                <p:cNvPr id="31817" name="Rectangle 56">
                  <a:extLst>
                    <a:ext uri="{FF2B5EF4-FFF2-40B4-BE49-F238E27FC236}">
                      <a16:creationId xmlns:a16="http://schemas.microsoft.com/office/drawing/2014/main" id="{768EFF2F-8415-481B-A203-7B130ABEC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5" y="768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67.8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18" name="Rectangle 57">
                  <a:extLst>
                    <a:ext uri="{FF2B5EF4-FFF2-40B4-BE49-F238E27FC236}">
                      <a16:creationId xmlns:a16="http://schemas.microsoft.com/office/drawing/2014/main" id="{E42446A3-F003-4A2C-9063-D48F3A2857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2" y="768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5" name="Group 58">
                <a:extLst>
                  <a:ext uri="{FF2B5EF4-FFF2-40B4-BE49-F238E27FC236}">
                    <a16:creationId xmlns:a16="http://schemas.microsoft.com/office/drawing/2014/main" id="{7CF2A361-B158-4015-A259-81EAAA871E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6" y="768"/>
                <a:ext cx="514" cy="384"/>
                <a:chOff x="2056" y="768"/>
                <a:chExt cx="514" cy="384"/>
              </a:xfrm>
            </p:grpSpPr>
            <p:sp>
              <p:nvSpPr>
                <p:cNvPr id="31815" name="Rectangle 59">
                  <a:extLst>
                    <a:ext uri="{FF2B5EF4-FFF2-40B4-BE49-F238E27FC236}">
                      <a16:creationId xmlns:a16="http://schemas.microsoft.com/office/drawing/2014/main" id="{D9DCDCED-EBC8-4D04-8E84-BAB9CDF94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9" y="768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74.2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16" name="Rectangle 60">
                  <a:extLst>
                    <a:ext uri="{FF2B5EF4-FFF2-40B4-BE49-F238E27FC236}">
                      <a16:creationId xmlns:a16="http://schemas.microsoft.com/office/drawing/2014/main" id="{2A7FD5CA-C52C-4C67-9EAE-275A5E0C0F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6" y="768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6" name="Group 61">
                <a:extLst>
                  <a:ext uri="{FF2B5EF4-FFF2-40B4-BE49-F238E27FC236}">
                    <a16:creationId xmlns:a16="http://schemas.microsoft.com/office/drawing/2014/main" id="{3D347F61-C159-4E0C-B09A-3298044503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0" y="768"/>
                <a:ext cx="514" cy="384"/>
                <a:chOff x="2570" y="768"/>
                <a:chExt cx="514" cy="384"/>
              </a:xfrm>
            </p:grpSpPr>
            <p:sp>
              <p:nvSpPr>
                <p:cNvPr id="31813" name="Rectangle 62">
                  <a:extLst>
                    <a:ext uri="{FF2B5EF4-FFF2-40B4-BE49-F238E27FC236}">
                      <a16:creationId xmlns:a16="http://schemas.microsoft.com/office/drawing/2014/main" id="{7B70A9D2-6484-4A5B-9E46-970C347E7E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3" y="768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71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14" name="Rectangle 63">
                  <a:extLst>
                    <a:ext uri="{FF2B5EF4-FFF2-40B4-BE49-F238E27FC236}">
                      <a16:creationId xmlns:a16="http://schemas.microsoft.com/office/drawing/2014/main" id="{75CDBA67-9C9D-46B7-BFD6-6E44EBD44C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0" y="768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7" name="Group 64">
                <a:extLst>
                  <a:ext uri="{FF2B5EF4-FFF2-40B4-BE49-F238E27FC236}">
                    <a16:creationId xmlns:a16="http://schemas.microsoft.com/office/drawing/2014/main" id="{F676A6E4-A0D2-4C3A-90AF-B056CD7C92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514" cy="384"/>
                <a:chOff x="0" y="1152"/>
                <a:chExt cx="514" cy="384"/>
              </a:xfrm>
            </p:grpSpPr>
            <p:sp>
              <p:nvSpPr>
                <p:cNvPr id="31811" name="Rectangle 65">
                  <a:extLst>
                    <a:ext uri="{FF2B5EF4-FFF2-40B4-BE49-F238E27FC236}">
                      <a16:creationId xmlns:a16="http://schemas.microsoft.com/office/drawing/2014/main" id="{73B6D670-9F56-4D93-816C-FF56F588C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152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j</a:t>
                  </a:r>
                  <a:r>
                    <a:rPr lang="en-US" altLang="zh-CN" b="1"/>
                    <a:t>=3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12" name="Rectangle 66">
                  <a:extLst>
                    <a:ext uri="{FF2B5EF4-FFF2-40B4-BE49-F238E27FC236}">
                      <a16:creationId xmlns:a16="http://schemas.microsoft.com/office/drawing/2014/main" id="{CB22E0F7-85E6-42A9-AE3E-5CE193691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8" name="Group 67">
                <a:extLst>
                  <a:ext uri="{FF2B5EF4-FFF2-40B4-BE49-F238E27FC236}">
                    <a16:creationId xmlns:a16="http://schemas.microsoft.com/office/drawing/2014/main" id="{B12E0B91-5258-4055-A618-D3ED26EE94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" y="1152"/>
                <a:ext cx="514" cy="384"/>
                <a:chOff x="514" y="1152"/>
                <a:chExt cx="514" cy="384"/>
              </a:xfrm>
            </p:grpSpPr>
            <p:sp>
              <p:nvSpPr>
                <p:cNvPr id="31809" name="Rectangle 68">
                  <a:extLst>
                    <a:ext uri="{FF2B5EF4-FFF2-40B4-BE49-F238E27FC236}">
                      <a16:creationId xmlns:a16="http://schemas.microsoft.com/office/drawing/2014/main" id="{DDD979B6-7137-492C-9895-F3E226828C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7" y="1152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87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10" name="Rectangle 69">
                  <a:extLst>
                    <a:ext uri="{FF2B5EF4-FFF2-40B4-BE49-F238E27FC236}">
                      <a16:creationId xmlns:a16="http://schemas.microsoft.com/office/drawing/2014/main" id="{487FF76C-02F8-49B6-B15D-0FF08C73A3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4" y="1152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79" name="Group 70">
                <a:extLst>
                  <a:ext uri="{FF2B5EF4-FFF2-40B4-BE49-F238E27FC236}">
                    <a16:creationId xmlns:a16="http://schemas.microsoft.com/office/drawing/2014/main" id="{544CD40D-6DD0-4E30-8637-E222BD830D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" y="1152"/>
                <a:ext cx="514" cy="384"/>
                <a:chOff x="1028" y="1152"/>
                <a:chExt cx="514" cy="384"/>
              </a:xfrm>
            </p:grpSpPr>
            <p:sp>
              <p:nvSpPr>
                <p:cNvPr id="31807" name="Rectangle 71">
                  <a:extLst>
                    <a:ext uri="{FF2B5EF4-FFF2-40B4-BE49-F238E27FC236}">
                      <a16:creationId xmlns:a16="http://schemas.microsoft.com/office/drawing/2014/main" id="{C76C7397-3357-4CD8-9897-C5D1B63AB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1152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66.4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08" name="Rectangle 72">
                  <a:extLst>
                    <a:ext uri="{FF2B5EF4-FFF2-40B4-BE49-F238E27FC236}">
                      <a16:creationId xmlns:a16="http://schemas.microsoft.com/office/drawing/2014/main" id="{978DFB5A-F407-45B3-88A3-01B206DBD2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8" y="1152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0" name="Group 73">
                <a:extLst>
                  <a:ext uri="{FF2B5EF4-FFF2-40B4-BE49-F238E27FC236}">
                    <a16:creationId xmlns:a16="http://schemas.microsoft.com/office/drawing/2014/main" id="{121478BF-8C44-4FED-99CC-985EFD71D2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2" y="1152"/>
                <a:ext cx="514" cy="384"/>
                <a:chOff x="1542" y="1152"/>
                <a:chExt cx="514" cy="384"/>
              </a:xfrm>
            </p:grpSpPr>
            <p:sp>
              <p:nvSpPr>
                <p:cNvPr id="31805" name="Rectangle 74">
                  <a:extLst>
                    <a:ext uri="{FF2B5EF4-FFF2-40B4-BE49-F238E27FC236}">
                      <a16:creationId xmlns:a16="http://schemas.microsoft.com/office/drawing/2014/main" id="{45A9A1D1-EDB0-4F01-89FC-3601E587A7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5" y="1152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84.6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06" name="Rectangle 75">
                  <a:extLst>
                    <a:ext uri="{FF2B5EF4-FFF2-40B4-BE49-F238E27FC236}">
                      <a16:creationId xmlns:a16="http://schemas.microsoft.com/office/drawing/2014/main" id="{E124DA25-E6C5-46BE-B5FF-308C59ACE2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2" y="1152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1" name="Group 76">
                <a:extLst>
                  <a:ext uri="{FF2B5EF4-FFF2-40B4-BE49-F238E27FC236}">
                    <a16:creationId xmlns:a16="http://schemas.microsoft.com/office/drawing/2014/main" id="{715852C8-A0E0-43BC-ADE2-100521F5D5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6" y="1152"/>
                <a:ext cx="514" cy="384"/>
                <a:chOff x="2056" y="1152"/>
                <a:chExt cx="514" cy="384"/>
              </a:xfrm>
            </p:grpSpPr>
            <p:sp>
              <p:nvSpPr>
                <p:cNvPr id="31803" name="Rectangle 77">
                  <a:extLst>
                    <a:ext uri="{FF2B5EF4-FFF2-40B4-BE49-F238E27FC236}">
                      <a16:creationId xmlns:a16="http://schemas.microsoft.com/office/drawing/2014/main" id="{2A88F916-D54E-4AC3-A29D-9A3F7CF7E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9" y="1152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69.6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04" name="Rectangle 78">
                  <a:extLst>
                    <a:ext uri="{FF2B5EF4-FFF2-40B4-BE49-F238E27FC236}">
                      <a16:creationId xmlns:a16="http://schemas.microsoft.com/office/drawing/2014/main" id="{487E41CD-52F0-4ACB-8E3A-ED776B5077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6" y="1152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2" name="Group 79">
                <a:extLst>
                  <a:ext uri="{FF2B5EF4-FFF2-40B4-BE49-F238E27FC236}">
                    <a16:creationId xmlns:a16="http://schemas.microsoft.com/office/drawing/2014/main" id="{EEA4C0F6-6895-451D-8CCC-DE845B96EF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0" y="1152"/>
                <a:ext cx="514" cy="384"/>
                <a:chOff x="2570" y="1152"/>
                <a:chExt cx="514" cy="384"/>
              </a:xfrm>
            </p:grpSpPr>
            <p:sp>
              <p:nvSpPr>
                <p:cNvPr id="31801" name="Rectangle 80">
                  <a:extLst>
                    <a:ext uri="{FF2B5EF4-FFF2-40B4-BE49-F238E27FC236}">
                      <a16:creationId xmlns:a16="http://schemas.microsoft.com/office/drawing/2014/main" id="{ED7FEFD6-755A-445E-A314-53B358FD57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3" y="1152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83.8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02" name="Rectangle 81">
                  <a:extLst>
                    <a:ext uri="{FF2B5EF4-FFF2-40B4-BE49-F238E27FC236}">
                      <a16:creationId xmlns:a16="http://schemas.microsoft.com/office/drawing/2014/main" id="{EE430967-6ED0-46FC-9A85-42C19E0D41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0" y="1152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3" name="Group 82">
                <a:extLst>
                  <a:ext uri="{FF2B5EF4-FFF2-40B4-BE49-F238E27FC236}">
                    <a16:creationId xmlns:a16="http://schemas.microsoft.com/office/drawing/2014/main" id="{30FFA052-902C-4B75-B4A4-0F2AB9E400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36"/>
                <a:ext cx="514" cy="384"/>
                <a:chOff x="0" y="1536"/>
                <a:chExt cx="514" cy="384"/>
              </a:xfrm>
            </p:grpSpPr>
            <p:sp>
              <p:nvSpPr>
                <p:cNvPr id="31799" name="Rectangle 83">
                  <a:extLst>
                    <a:ext uri="{FF2B5EF4-FFF2-40B4-BE49-F238E27FC236}">
                      <a16:creationId xmlns:a16="http://schemas.microsoft.com/office/drawing/2014/main" id="{DCA28D39-1BBA-4829-9D15-07C3D27792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536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/>
                    <a:t>j</a:t>
                  </a:r>
                  <a:r>
                    <a:rPr lang="en-US" altLang="zh-CN" b="1"/>
                    <a:t>=4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800" name="Rectangle 84">
                  <a:extLst>
                    <a:ext uri="{FF2B5EF4-FFF2-40B4-BE49-F238E27FC236}">
                      <a16:creationId xmlns:a16="http://schemas.microsoft.com/office/drawing/2014/main" id="{CCB9B35D-2158-43AA-8DB7-7859B65132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4" name="Group 85">
                <a:extLst>
                  <a:ext uri="{FF2B5EF4-FFF2-40B4-BE49-F238E27FC236}">
                    <a16:creationId xmlns:a16="http://schemas.microsoft.com/office/drawing/2014/main" id="{E638B27D-AAC9-4FD1-9210-CF47931FA9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" y="1536"/>
                <a:ext cx="514" cy="384"/>
                <a:chOff x="514" y="1536"/>
                <a:chExt cx="514" cy="384"/>
              </a:xfrm>
            </p:grpSpPr>
            <p:sp>
              <p:nvSpPr>
                <p:cNvPr id="31797" name="Rectangle 86">
                  <a:extLst>
                    <a:ext uri="{FF2B5EF4-FFF2-40B4-BE49-F238E27FC236}">
                      <a16:creationId xmlns:a16="http://schemas.microsoft.com/office/drawing/2014/main" id="{CDD0EC54-633A-4088-963A-6001332F66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7" y="1536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58.6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798" name="Rectangle 87">
                  <a:extLst>
                    <a:ext uri="{FF2B5EF4-FFF2-40B4-BE49-F238E27FC236}">
                      <a16:creationId xmlns:a16="http://schemas.microsoft.com/office/drawing/2014/main" id="{7DEE9CE3-9E31-4624-AF07-85CE5A2190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4" y="1536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5" name="Group 88">
                <a:extLst>
                  <a:ext uri="{FF2B5EF4-FFF2-40B4-BE49-F238E27FC236}">
                    <a16:creationId xmlns:a16="http://schemas.microsoft.com/office/drawing/2014/main" id="{A897AD07-FAEE-45C4-A768-8003DE0147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" y="1536"/>
                <a:ext cx="514" cy="384"/>
                <a:chOff x="1028" y="1536"/>
                <a:chExt cx="514" cy="384"/>
              </a:xfrm>
            </p:grpSpPr>
            <p:sp>
              <p:nvSpPr>
                <p:cNvPr id="31795" name="Rectangle 89">
                  <a:extLst>
                    <a:ext uri="{FF2B5EF4-FFF2-40B4-BE49-F238E27FC236}">
                      <a16:creationId xmlns:a16="http://schemas.microsoft.com/office/drawing/2014/main" id="{76133707-2D7C-49C2-9AC5-697180C98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1536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53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796" name="Rectangle 90">
                  <a:extLst>
                    <a:ext uri="{FF2B5EF4-FFF2-40B4-BE49-F238E27FC236}">
                      <a16:creationId xmlns:a16="http://schemas.microsoft.com/office/drawing/2014/main" id="{DCFC23E2-3FB8-4FF3-A9F1-C1C93A620C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8" y="1536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6" name="Group 91">
                <a:extLst>
                  <a:ext uri="{FF2B5EF4-FFF2-40B4-BE49-F238E27FC236}">
                    <a16:creationId xmlns:a16="http://schemas.microsoft.com/office/drawing/2014/main" id="{7D48A2EC-286B-454E-BEFF-19FB0774FD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2" y="1536"/>
                <a:ext cx="514" cy="384"/>
                <a:chOff x="1542" y="1536"/>
                <a:chExt cx="514" cy="384"/>
              </a:xfrm>
            </p:grpSpPr>
            <p:sp>
              <p:nvSpPr>
                <p:cNvPr id="31793" name="Rectangle 92">
                  <a:extLst>
                    <a:ext uri="{FF2B5EF4-FFF2-40B4-BE49-F238E27FC236}">
                      <a16:creationId xmlns:a16="http://schemas.microsoft.com/office/drawing/2014/main" id="{B025142E-0B46-493A-B5C2-531C6A9B37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5" y="1536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59.4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794" name="Rectangle 93">
                  <a:extLst>
                    <a:ext uri="{FF2B5EF4-FFF2-40B4-BE49-F238E27FC236}">
                      <a16:creationId xmlns:a16="http://schemas.microsoft.com/office/drawing/2014/main" id="{0CFB86D5-C077-425A-BD37-B04EDC7786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2" y="1536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7" name="Group 94">
                <a:extLst>
                  <a:ext uri="{FF2B5EF4-FFF2-40B4-BE49-F238E27FC236}">
                    <a16:creationId xmlns:a16="http://schemas.microsoft.com/office/drawing/2014/main" id="{4EC1E4D4-A2EE-4421-A4B6-5EE5ADBA6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6" y="1536"/>
                <a:ext cx="514" cy="384"/>
                <a:chOff x="2056" y="1536"/>
                <a:chExt cx="514" cy="384"/>
              </a:xfrm>
            </p:grpSpPr>
            <p:sp>
              <p:nvSpPr>
                <p:cNvPr id="31791" name="Rectangle 95">
                  <a:extLst>
                    <a:ext uri="{FF2B5EF4-FFF2-40B4-BE49-F238E27FC236}">
                      <a16:creationId xmlns:a16="http://schemas.microsoft.com/office/drawing/2014/main" id="{CAC44C59-3997-4224-B1D7-D8DCA201AF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9" y="1536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57.2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792" name="Rectangle 96">
                  <a:extLst>
                    <a:ext uri="{FF2B5EF4-FFF2-40B4-BE49-F238E27FC236}">
                      <a16:creationId xmlns:a16="http://schemas.microsoft.com/office/drawing/2014/main" id="{F28B5484-0CE0-4213-81E7-E398EB3D70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6" y="1536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1788" name="Group 97">
                <a:extLst>
                  <a:ext uri="{FF2B5EF4-FFF2-40B4-BE49-F238E27FC236}">
                    <a16:creationId xmlns:a16="http://schemas.microsoft.com/office/drawing/2014/main" id="{CC0A112B-8C8C-49A9-9F61-A1E320FE7F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0" y="1536"/>
                <a:ext cx="514" cy="384"/>
                <a:chOff x="2570" y="1536"/>
                <a:chExt cx="514" cy="384"/>
              </a:xfrm>
            </p:grpSpPr>
            <p:sp>
              <p:nvSpPr>
                <p:cNvPr id="31789" name="Rectangle 98">
                  <a:extLst>
                    <a:ext uri="{FF2B5EF4-FFF2-40B4-BE49-F238E27FC236}">
                      <a16:creationId xmlns:a16="http://schemas.microsoft.com/office/drawing/2014/main" id="{79792BD2-5ECC-4287-8210-6CFE162B18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3" y="1536"/>
                  <a:ext cx="42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/>
                    <a:t>62.4</a:t>
                  </a:r>
                </a:p>
                <a:p>
                  <a:pPr algn="ctr"/>
                  <a:endParaRPr lang="en-US" altLang="zh-CN" b="1"/>
                </a:p>
              </p:txBody>
            </p:sp>
            <p:sp>
              <p:nvSpPr>
                <p:cNvPr id="31790" name="Rectangle 99">
                  <a:extLst>
                    <a:ext uri="{FF2B5EF4-FFF2-40B4-BE49-F238E27FC236}">
                      <a16:creationId xmlns:a16="http://schemas.microsoft.com/office/drawing/2014/main" id="{7CF15AAF-C965-4B58-8F49-AE15761DEE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0" y="1536"/>
                  <a:ext cx="51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31758" name="Rectangle 100">
              <a:extLst>
                <a:ext uri="{FF2B5EF4-FFF2-40B4-BE49-F238E27FC236}">
                  <a16:creationId xmlns:a16="http://schemas.microsoft.com/office/drawing/2014/main" id="{20179DC9-0BF6-4528-8A0D-472B61551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090" cy="192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52325" name="Object 101">
            <a:extLst>
              <a:ext uri="{FF2B5EF4-FFF2-40B4-BE49-F238E27FC236}">
                <a16:creationId xmlns:a16="http://schemas.microsoft.com/office/drawing/2014/main" id="{E37CDF06-D477-4040-B206-9E0670E7F7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3038" y="3824288"/>
          <a:ext cx="3259137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2" name="公式" r:id="rId3" imgW="1320227" imgH="444307" progId="Equation.3">
                  <p:embed/>
                </p:oleObj>
              </mc:Choice>
              <mc:Fallback>
                <p:oleObj name="公式" r:id="rId3" imgW="1320227" imgH="444307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8" y="3824288"/>
                        <a:ext cx="3259137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26" name="Text Box 102">
            <a:extLst>
              <a:ext uri="{FF2B5EF4-FFF2-40B4-BE49-F238E27FC236}">
                <a16:creationId xmlns:a16="http://schemas.microsoft.com/office/drawing/2014/main" id="{AA9F8AE4-A5D8-4BE8-98E3-E2F17745D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891088"/>
            <a:ext cx="365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每种泳姿有且只有</a:t>
            </a: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人 </a:t>
            </a:r>
          </a:p>
        </p:txBody>
      </p:sp>
      <p:graphicFrame>
        <p:nvGraphicFramePr>
          <p:cNvPr id="52327" name="Object 103">
            <a:extLst>
              <a:ext uri="{FF2B5EF4-FFF2-40B4-BE49-F238E27FC236}">
                <a16:creationId xmlns:a16="http://schemas.microsoft.com/office/drawing/2014/main" id="{A6611D8C-BF09-4B20-91A4-6199EABE11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3725" y="5445125"/>
          <a:ext cx="28321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3" name="公式" r:id="rId5" imgW="1231366" imgH="444307" progId="Equation.3">
                  <p:embed/>
                </p:oleObj>
              </mc:Choice>
              <mc:Fallback>
                <p:oleObj name="公式" r:id="rId5" imgW="1231366" imgH="444307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5" y="5445125"/>
                        <a:ext cx="28321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8" name="Object 104">
            <a:extLst>
              <a:ext uri="{FF2B5EF4-FFF2-40B4-BE49-F238E27FC236}">
                <a16:creationId xmlns:a16="http://schemas.microsoft.com/office/drawing/2014/main" id="{C22934A6-A2AF-4B8E-B71E-6869D4311C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0550" y="5486400"/>
          <a:ext cx="2984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4" name="公式" r:id="rId7" imgW="1282700" imgH="431800" progId="Equation.3">
                  <p:embed/>
                </p:oleObj>
              </mc:Choice>
              <mc:Fallback>
                <p:oleObj name="公式" r:id="rId7" imgW="1282700" imgH="431800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0550" y="5486400"/>
                        <a:ext cx="29845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5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5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5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 autoUpdateAnimBg="0"/>
      <p:bldP spid="52227" grpId="0" animBg="1" autoUpdateAnimBg="0"/>
      <p:bldP spid="52229" grpId="0" animBg="1" autoUpdateAnimBg="0"/>
      <p:bldP spid="52230" grpId="0" animBg="1" autoUpdateAnimBg="0"/>
      <p:bldP spid="52231" grpId="0" animBg="1" autoUpdateAnimBg="0"/>
      <p:bldP spid="52326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31B13A39-86D6-4530-8338-273226E22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1163"/>
            <a:ext cx="18288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模型求解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F4B58FA1-9E73-44A7-9220-C1E9C9B41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25538"/>
            <a:ext cx="3887788" cy="52038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MODEL:</a:t>
            </a: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sets:</a:t>
            </a:r>
          </a:p>
          <a:p>
            <a:pPr eaLnBrk="1" hangingPunct="1"/>
            <a:r>
              <a:rPr lang="en-US" altLang="zh-CN" b="1"/>
              <a:t>  person/1..5/;</a:t>
            </a:r>
          </a:p>
          <a:p>
            <a:pPr eaLnBrk="1" hangingPunct="1"/>
            <a:r>
              <a:rPr lang="en-US" altLang="zh-CN" b="1"/>
              <a:t>  position/1..4/;</a:t>
            </a:r>
          </a:p>
          <a:p>
            <a:pPr eaLnBrk="1" hangingPunct="1"/>
            <a:r>
              <a:rPr lang="en-US" altLang="zh-CN" b="1"/>
              <a:t>  link(person,position): c, x;</a:t>
            </a: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endsets</a:t>
            </a:r>
            <a:endParaRPr lang="it-IT" altLang="zh-CN" b="1">
              <a:solidFill>
                <a:srgbClr val="FF0000"/>
              </a:solidFill>
            </a:endParaRPr>
          </a:p>
          <a:p>
            <a:pPr eaLnBrk="1" hangingPunct="1"/>
            <a:r>
              <a:rPr lang="it-IT" altLang="zh-CN" b="1"/>
              <a:t>data:</a:t>
            </a:r>
          </a:p>
          <a:p>
            <a:pPr eaLnBrk="1" hangingPunct="1"/>
            <a:r>
              <a:rPr lang="it-IT" altLang="zh-CN" b="1"/>
              <a:t>  c=  66.8, 75.6, 87, 58.6,</a:t>
            </a:r>
          </a:p>
          <a:p>
            <a:pPr eaLnBrk="1" hangingPunct="1"/>
            <a:r>
              <a:rPr lang="it-IT" altLang="zh-CN" b="1"/>
              <a:t>    57.2,  66, 66.4, 53,</a:t>
            </a:r>
          </a:p>
          <a:p>
            <a:pPr eaLnBrk="1" hangingPunct="1"/>
            <a:r>
              <a:rPr lang="it-IT" altLang="zh-CN" b="1"/>
              <a:t>     78, 67.8, 84.6, 59.4,</a:t>
            </a:r>
          </a:p>
          <a:p>
            <a:pPr eaLnBrk="1" hangingPunct="1"/>
            <a:r>
              <a:rPr lang="it-IT" altLang="zh-CN" b="1"/>
              <a:t>     70, 74.2, 69.6, 57.2,</a:t>
            </a:r>
          </a:p>
          <a:p>
            <a:pPr eaLnBrk="1" hangingPunct="1"/>
            <a:r>
              <a:rPr lang="it-IT" altLang="zh-CN" b="1"/>
              <a:t>     67.4, 71, 83.8, 62.4;</a:t>
            </a:r>
          </a:p>
          <a:p>
            <a:pPr eaLnBrk="1" hangingPunct="1"/>
            <a:r>
              <a:rPr lang="it-IT" altLang="zh-CN" b="1">
                <a:solidFill>
                  <a:srgbClr val="FF0000"/>
                </a:solidFill>
              </a:rPr>
              <a:t>enddata</a:t>
            </a: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E7BBB19D-8477-4525-BB7D-4D2B68006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11163"/>
            <a:ext cx="2895600" cy="579437"/>
          </a:xfrm>
          <a:prstGeom prst="rect">
            <a:avLst/>
          </a:prstGeom>
          <a:solidFill>
            <a:srgbClr val="C1DF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输入</a:t>
            </a:r>
            <a:r>
              <a:rPr lang="en-US" altLang="zh-CN" sz="2800" b="1"/>
              <a:t>LINGO</a:t>
            </a:r>
            <a:r>
              <a:rPr lang="zh-CN" altLang="en-US" sz="3200" b="1">
                <a:latin typeface="宋体" panose="02010600030101010101" pitchFamily="2" charset="-122"/>
              </a:rPr>
              <a:t>求解</a:t>
            </a:r>
            <a:r>
              <a:rPr lang="zh-CN" altLang="en-US" sz="2800" b="1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32773" name="Object 98">
            <a:extLst>
              <a:ext uri="{FF2B5EF4-FFF2-40B4-BE49-F238E27FC236}">
                <a16:creationId xmlns:a16="http://schemas.microsoft.com/office/drawing/2014/main" id="{CBF65001-CCBC-493C-8057-E9E543079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1938" y="403225"/>
          <a:ext cx="7937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Clip" r:id="rId3" imgW="761744" imgH="761744" progId="MS_ClipArt_Gallery.2">
                  <p:embed/>
                </p:oleObj>
              </mc:Choice>
              <mc:Fallback>
                <p:oleObj name="Clip" r:id="rId3" imgW="761744" imgH="761744" progId="MS_ClipArt_Gallery.2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1938" y="403225"/>
                        <a:ext cx="79375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47" name="Rectangle 99">
            <a:extLst>
              <a:ext uri="{FF2B5EF4-FFF2-40B4-BE49-F238E27FC236}">
                <a16:creationId xmlns:a16="http://schemas.microsoft.com/office/drawing/2014/main" id="{E8B1DEDA-DDA7-42C2-AF9F-6EC4378E5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125538"/>
            <a:ext cx="4319587" cy="30130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it-IT" altLang="zh-CN" b="1"/>
              <a:t>min=@sum(link: c*x);</a:t>
            </a:r>
          </a:p>
          <a:p>
            <a:pPr eaLnBrk="1" hangingPunct="1"/>
            <a:r>
              <a:rPr lang="it-IT" altLang="zh-CN" b="1"/>
              <a:t>@for(person(i):  </a:t>
            </a:r>
          </a:p>
          <a:p>
            <a:pPr eaLnBrk="1" hangingPunct="1"/>
            <a:r>
              <a:rPr lang="it-IT" altLang="zh-CN" b="1"/>
              <a:t>   @sum(position(j):x(i,j))&lt;=1;);</a:t>
            </a:r>
          </a:p>
          <a:p>
            <a:pPr eaLnBrk="1" hangingPunct="1"/>
            <a:r>
              <a:rPr lang="it-IT" altLang="zh-CN" b="1"/>
              <a:t>@for(position(i):</a:t>
            </a:r>
          </a:p>
          <a:p>
            <a:pPr eaLnBrk="1" hangingPunct="1"/>
            <a:r>
              <a:rPr lang="it-IT" altLang="zh-CN" b="1"/>
              <a:t>   @sum(person(j):x(j,i))=1;);</a:t>
            </a:r>
          </a:p>
          <a:p>
            <a:pPr eaLnBrk="1" hangingPunct="1"/>
            <a:r>
              <a:rPr lang="it-IT" altLang="zh-CN" b="1"/>
              <a:t>@for(link: @bin(x));</a:t>
            </a:r>
          </a:p>
          <a:p>
            <a:pPr eaLnBrk="1" hangingPunct="1"/>
            <a:r>
              <a:rPr lang="it-IT" altLang="zh-CN" b="1">
                <a:solidFill>
                  <a:srgbClr val="FF0000"/>
                </a:solidFill>
              </a:rPr>
              <a:t>END</a:t>
            </a:r>
            <a:r>
              <a:rPr lang="it-IT" altLang="zh-CN">
                <a:solidFill>
                  <a:srgbClr val="FF0000"/>
                </a:solidFill>
              </a:rPr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nimBg="1" autoUpdateAnimBg="0"/>
      <p:bldP spid="53253" grpId="0" animBg="1" autoUpdateAnimBg="0"/>
      <p:bldP spid="5334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14618300-8019-4DAF-A4EC-541DE9B8B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1163"/>
            <a:ext cx="18288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模型求解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16739" name="Text Box 3">
            <a:extLst>
              <a:ext uri="{FF2B5EF4-FFF2-40B4-BE49-F238E27FC236}">
                <a16:creationId xmlns:a16="http://schemas.microsoft.com/office/drawing/2014/main" id="{8E7E1A8A-937A-4204-9170-604CD951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341438"/>
            <a:ext cx="76327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/>
              <a:t>最优解：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14</a:t>
            </a:r>
            <a:r>
              <a:rPr lang="en-US" altLang="zh-CN" sz="2800" b="1"/>
              <a:t> =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21</a:t>
            </a:r>
            <a:r>
              <a:rPr lang="en-US" altLang="zh-CN" sz="2800" b="1"/>
              <a:t> =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32</a:t>
            </a:r>
            <a:r>
              <a:rPr lang="en-US" altLang="zh-CN" sz="2800" b="1"/>
              <a:t> =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43 </a:t>
            </a:r>
            <a:r>
              <a:rPr lang="en-US" altLang="zh-CN" sz="2800" b="1"/>
              <a:t>= 1,  </a:t>
            </a:r>
            <a:r>
              <a:rPr lang="zh-CN" altLang="en-US" sz="2800" b="1">
                <a:latin typeface="宋体" panose="02010600030101010101" pitchFamily="2" charset="-122"/>
              </a:rPr>
              <a:t>其他变量为</a:t>
            </a:r>
            <a:r>
              <a:rPr lang="en-US" altLang="zh-CN" sz="2800" b="1"/>
              <a:t>0;</a:t>
            </a:r>
          </a:p>
        </p:txBody>
      </p:sp>
      <p:sp>
        <p:nvSpPr>
          <p:cNvPr id="116741" name="Text Box 5">
            <a:extLst>
              <a:ext uri="{FF2B5EF4-FFF2-40B4-BE49-F238E27FC236}">
                <a16:creationId xmlns:a16="http://schemas.microsoft.com/office/drawing/2014/main" id="{6352759D-C2DD-43F1-914F-E7331028E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11163"/>
            <a:ext cx="3573463" cy="579437"/>
          </a:xfrm>
          <a:prstGeom prst="rect">
            <a:avLst/>
          </a:prstGeom>
          <a:solidFill>
            <a:srgbClr val="C1DF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输入</a:t>
            </a:r>
            <a:r>
              <a:rPr lang="en-US" altLang="zh-CN" sz="2800" b="1"/>
              <a:t>LINGO</a:t>
            </a:r>
            <a:r>
              <a:rPr lang="zh-CN" altLang="en-US" sz="3200" b="1">
                <a:latin typeface="宋体" panose="02010600030101010101" pitchFamily="2" charset="-122"/>
              </a:rPr>
              <a:t>求解</a:t>
            </a:r>
            <a:r>
              <a:rPr lang="zh-CN" altLang="en-US" sz="2800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16833" name="Text Box 97">
            <a:extLst>
              <a:ext uri="{FF2B5EF4-FFF2-40B4-BE49-F238E27FC236}">
                <a16:creationId xmlns:a16="http://schemas.microsoft.com/office/drawing/2014/main" id="{586C1FEF-20E7-4381-AC8E-EE66D773D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229225"/>
            <a:ext cx="73406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甲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自由泳、乙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蝶泳、丙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仰泳、丁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蛙泳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33798" name="Object 98">
            <a:extLst>
              <a:ext uri="{FF2B5EF4-FFF2-40B4-BE49-F238E27FC236}">
                <a16:creationId xmlns:a16="http://schemas.microsoft.com/office/drawing/2014/main" id="{F1AAD537-694D-4310-9F2B-7163359A93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1938" y="403225"/>
          <a:ext cx="7937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9" name="Clip" r:id="rId3" imgW="761744" imgH="761744" progId="MS_ClipArt_Gallery.2">
                  <p:embed/>
                </p:oleObj>
              </mc:Choice>
              <mc:Fallback>
                <p:oleObj name="Clip" r:id="rId3" imgW="761744" imgH="761744" progId="MS_ClipArt_Gallery.2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1938" y="403225"/>
                        <a:ext cx="79375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918" name="Group 102">
            <a:extLst>
              <a:ext uri="{FF2B5EF4-FFF2-40B4-BE49-F238E27FC236}">
                <a16:creationId xmlns:a16="http://schemas.microsoft.com/office/drawing/2014/main" id="{2836E282-3F61-4B9B-8F83-6120177312A0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060575"/>
            <a:ext cx="3641725" cy="519113"/>
            <a:chOff x="567" y="1298"/>
            <a:chExt cx="2294" cy="327"/>
          </a:xfrm>
        </p:grpSpPr>
        <p:graphicFrame>
          <p:nvGraphicFramePr>
            <p:cNvPr id="33865" name="Object 99">
              <a:extLst>
                <a:ext uri="{FF2B5EF4-FFF2-40B4-BE49-F238E27FC236}">
                  <a16:creationId xmlns:a16="http://schemas.microsoft.com/office/drawing/2014/main" id="{2AD00649-7654-482E-9311-86728E3605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5" y="1344"/>
            <a:ext cx="61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0" name="公式" r:id="rId5" imgW="431425" imgH="177646" progId="Equation.3">
                    <p:embed/>
                  </p:oleObj>
                </mc:Choice>
                <mc:Fallback>
                  <p:oleObj name="公式" r:id="rId5" imgW="431425" imgH="177646" progId="Equation.3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1344"/>
                          <a:ext cx="616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66" name="Rectangle 101">
              <a:extLst>
                <a:ext uri="{FF2B5EF4-FFF2-40B4-BE49-F238E27FC236}">
                  <a16:creationId xmlns:a16="http://schemas.microsoft.com/office/drawing/2014/main" id="{DD09E3CB-7B4F-4F1D-A756-DA93DABAF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1298"/>
              <a:ext cx="17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宋体" panose="02010600030101010101" pitchFamily="2" charset="-122"/>
                </a:rPr>
                <a:t>成绩为</a:t>
              </a:r>
              <a:r>
                <a:rPr lang="en-US" altLang="zh-CN" sz="2800" b="1"/>
                <a:t>253.2</a:t>
              </a:r>
              <a:r>
                <a:rPr lang="en-US" altLang="zh-CN" sz="2800" b="1">
                  <a:latin typeface="宋体" panose="02010600030101010101" pitchFamily="2" charset="-122"/>
                </a:rPr>
                <a:t>(</a:t>
              </a:r>
              <a:r>
                <a:rPr lang="en-US" altLang="zh-CN" sz="2800" b="1"/>
                <a:t>s</a:t>
              </a:r>
              <a:r>
                <a:rPr lang="en-US" altLang="zh-CN" sz="2800" b="1">
                  <a:latin typeface="宋体" panose="02010600030101010101" pitchFamily="2" charset="-122"/>
                </a:rPr>
                <a:t>)</a:t>
              </a:r>
              <a:r>
                <a:rPr lang="en-US" altLang="zh-CN" sz="2800" b="1"/>
                <a:t>=</a:t>
              </a:r>
              <a:endParaRPr lang="zh-CN" altLang="en-US" sz="2800" b="1"/>
            </a:p>
          </p:txBody>
        </p:sp>
      </p:grpSp>
      <p:graphicFrame>
        <p:nvGraphicFramePr>
          <p:cNvPr id="34919" name="Group 103">
            <a:extLst>
              <a:ext uri="{FF2B5EF4-FFF2-40B4-BE49-F238E27FC236}">
                <a16:creationId xmlns:a16="http://schemas.microsoft.com/office/drawing/2014/main" id="{05F06C59-09F0-40A5-B830-62CE05191C50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2725738"/>
          <a:ext cx="7848600" cy="2293937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乙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丙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丁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蝶泳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仰泳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蛙泳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自由泳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964" name="Object 148">
            <a:extLst>
              <a:ext uri="{FF2B5EF4-FFF2-40B4-BE49-F238E27FC236}">
                <a16:creationId xmlns:a16="http://schemas.microsoft.com/office/drawing/2014/main" id="{E22B9CC5-6633-4412-B3E9-3C88B8F164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6588" y="32210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1" name="公式" r:id="rId7" imgW="418918" imgH="177723" progId="Equation.3">
                  <p:embed/>
                </p:oleObj>
              </mc:Choice>
              <mc:Fallback>
                <p:oleObj name="公式" r:id="rId7" imgW="418918" imgH="177723" progId="Equation.3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3221038"/>
                        <a:ext cx="8636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5" name="Object 149">
            <a:extLst>
              <a:ext uri="{FF2B5EF4-FFF2-40B4-BE49-F238E27FC236}">
                <a16:creationId xmlns:a16="http://schemas.microsoft.com/office/drawing/2014/main" id="{FB0FB5D4-B83E-47C5-9DD5-6009B32143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6588" y="365918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2" name="公式" r:id="rId9" imgW="418918" imgH="177723" progId="Equation.3">
                  <p:embed/>
                </p:oleObj>
              </mc:Choice>
              <mc:Fallback>
                <p:oleObj name="公式" r:id="rId9" imgW="418918" imgH="177723" progId="Equation.3">
                  <p:embed/>
                  <p:pic>
                    <p:nvPicPr>
                      <p:cNvPr id="0" name="Object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3659188"/>
                        <a:ext cx="8636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6" name="Object 150">
            <a:extLst>
              <a:ext uri="{FF2B5EF4-FFF2-40B4-BE49-F238E27FC236}">
                <a16:creationId xmlns:a16="http://schemas.microsoft.com/office/drawing/2014/main" id="{309A9F07-2752-43C4-8D28-4591CB8FD5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4375" y="4165600"/>
          <a:ext cx="70643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3" name="公式" r:id="rId11" imgW="342603" imgH="177646" progId="Equation.3">
                  <p:embed/>
                </p:oleObj>
              </mc:Choice>
              <mc:Fallback>
                <p:oleObj name="公式" r:id="rId11" imgW="342603" imgH="177646" progId="Equation.3">
                  <p:embed/>
                  <p:pic>
                    <p:nvPicPr>
                      <p:cNvPr id="0" name="Object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5" y="4165600"/>
                        <a:ext cx="70643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7" name="Object 151">
            <a:extLst>
              <a:ext uri="{FF2B5EF4-FFF2-40B4-BE49-F238E27FC236}">
                <a16:creationId xmlns:a16="http://schemas.microsoft.com/office/drawing/2014/main" id="{CC1D89E0-8B16-4D81-AFAA-691E0411F8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2950" y="4597400"/>
          <a:ext cx="654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4" name="公式" r:id="rId13" imgW="317087" imgH="177569" progId="Equation.3">
                  <p:embed/>
                </p:oleObj>
              </mc:Choice>
              <mc:Fallback>
                <p:oleObj name="公式" r:id="rId13" imgW="317087" imgH="177569" progId="Equation.3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4597400"/>
                        <a:ext cx="654050" cy="36671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8" name="Object 152">
            <a:extLst>
              <a:ext uri="{FF2B5EF4-FFF2-40B4-BE49-F238E27FC236}">
                <a16:creationId xmlns:a16="http://schemas.microsoft.com/office/drawing/2014/main" id="{582E6797-A731-44A6-859A-0FD5FD468F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5013" y="3230563"/>
          <a:ext cx="6540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5" name="公式" r:id="rId15" imgW="317087" imgH="177569" progId="Equation.3">
                  <p:embed/>
                </p:oleObj>
              </mc:Choice>
              <mc:Fallback>
                <p:oleObj name="公式" r:id="rId15" imgW="317087" imgH="177569" progId="Equation.3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3230563"/>
                        <a:ext cx="654050" cy="3667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9" name="Object 153">
            <a:extLst>
              <a:ext uri="{FF2B5EF4-FFF2-40B4-BE49-F238E27FC236}">
                <a16:creationId xmlns:a16="http://schemas.microsoft.com/office/drawing/2014/main" id="{BD73C928-C669-474B-B54F-29F3A97009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4597400"/>
          <a:ext cx="4968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6" name="公式" r:id="rId17" imgW="241091" imgH="177646" progId="Equation.3">
                  <p:embed/>
                </p:oleObj>
              </mc:Choice>
              <mc:Fallback>
                <p:oleObj name="公式" r:id="rId17" imgW="241091" imgH="177646" progId="Equation.3">
                  <p:embed/>
                  <p:pic>
                    <p:nvPicPr>
                      <p:cNvPr id="0" name="Object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597400"/>
                        <a:ext cx="49688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0" name="Object 154">
            <a:extLst>
              <a:ext uri="{FF2B5EF4-FFF2-40B4-BE49-F238E27FC236}">
                <a16:creationId xmlns:a16="http://schemas.microsoft.com/office/drawing/2014/main" id="{F5D259E6-8F71-49B9-A4CC-6542C2D70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597400"/>
          <a:ext cx="654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7" name="公式" r:id="rId19" imgW="317087" imgH="177569" progId="Equation.3">
                  <p:embed/>
                </p:oleObj>
              </mc:Choice>
              <mc:Fallback>
                <p:oleObj name="公式" r:id="rId19" imgW="317087" imgH="177569" progId="Equation.3">
                  <p:embed/>
                  <p:pic>
                    <p:nvPicPr>
                      <p:cNvPr id="0" name="Object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597400"/>
                        <a:ext cx="6540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1" name="Object 155">
            <a:extLst>
              <a:ext uri="{FF2B5EF4-FFF2-40B4-BE49-F238E27FC236}">
                <a16:creationId xmlns:a16="http://schemas.microsoft.com/office/drawing/2014/main" id="{8685BA2A-C15E-4874-95BB-600929ED86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4075" y="4597400"/>
          <a:ext cx="654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8" name="公式" r:id="rId21" imgW="317087" imgH="177569" progId="Equation.3">
                  <p:embed/>
                </p:oleObj>
              </mc:Choice>
              <mc:Fallback>
                <p:oleObj name="公式" r:id="rId21" imgW="317087" imgH="177569" progId="Equation.3">
                  <p:embed/>
                  <p:pic>
                    <p:nvPicPr>
                      <p:cNvPr id="0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075" y="4597400"/>
                        <a:ext cx="6540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2" name="Object 156">
            <a:extLst>
              <a:ext uri="{FF2B5EF4-FFF2-40B4-BE49-F238E27FC236}">
                <a16:creationId xmlns:a16="http://schemas.microsoft.com/office/drawing/2014/main" id="{006B33FA-B059-4E44-BD5C-B468247A2B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1363" y="3662363"/>
          <a:ext cx="706437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9" name="公式" r:id="rId23" imgW="342603" imgH="177646" progId="Equation.3">
                  <p:embed/>
                </p:oleObj>
              </mc:Choice>
              <mc:Fallback>
                <p:oleObj name="公式" r:id="rId23" imgW="342603" imgH="177646" progId="Equation.3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363" y="3662363"/>
                        <a:ext cx="706437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3" name="Object 157">
            <a:extLst>
              <a:ext uri="{FF2B5EF4-FFF2-40B4-BE49-F238E27FC236}">
                <a16:creationId xmlns:a16="http://schemas.microsoft.com/office/drawing/2014/main" id="{EA897A52-4BE3-4A87-8A67-A10D8E30BF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41656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0" name="公式" r:id="rId25" imgW="418918" imgH="177723" progId="Equation.3">
                  <p:embed/>
                </p:oleObj>
              </mc:Choice>
              <mc:Fallback>
                <p:oleObj name="公式" r:id="rId25" imgW="418918" imgH="177723" progId="Equation.3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165600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4" name="Object 158">
            <a:extLst>
              <a:ext uri="{FF2B5EF4-FFF2-40B4-BE49-F238E27FC236}">
                <a16:creationId xmlns:a16="http://schemas.microsoft.com/office/drawing/2014/main" id="{4694F51F-6B86-4F8D-8AB3-116601574B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9788" y="3230563"/>
          <a:ext cx="706437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name="公式" r:id="rId27" imgW="342603" imgH="177646" progId="Equation.3">
                  <p:embed/>
                </p:oleObj>
              </mc:Choice>
              <mc:Fallback>
                <p:oleObj name="公式" r:id="rId27" imgW="342603" imgH="177646" progId="Equation.3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9788" y="3230563"/>
                        <a:ext cx="706437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5" name="Object 159">
            <a:extLst>
              <a:ext uri="{FF2B5EF4-FFF2-40B4-BE49-F238E27FC236}">
                <a16:creationId xmlns:a16="http://schemas.microsoft.com/office/drawing/2014/main" id="{94B1C57F-37CE-4E99-A281-AA9A14EAEF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8975" y="3662363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" name="公式" r:id="rId29" imgW="418918" imgH="177723" progId="Equation.3">
                  <p:embed/>
                </p:oleObj>
              </mc:Choice>
              <mc:Fallback>
                <p:oleObj name="公式" r:id="rId29" imgW="418918" imgH="177723" progId="Equation.3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3662363"/>
                        <a:ext cx="863600" cy="3667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6" name="Object 160">
            <a:extLst>
              <a:ext uri="{FF2B5EF4-FFF2-40B4-BE49-F238E27FC236}">
                <a16:creationId xmlns:a16="http://schemas.microsoft.com/office/drawing/2014/main" id="{00F56CB9-B92E-4A7B-B3B0-E11C74E25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8975" y="41656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" name="公式" r:id="rId31" imgW="418918" imgH="177723" progId="Equation.3">
                  <p:embed/>
                </p:oleObj>
              </mc:Choice>
              <mc:Fallback>
                <p:oleObj name="公式" r:id="rId31" imgW="418918" imgH="177723" progId="Equation.3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4165600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7" name="Object 161">
            <a:extLst>
              <a:ext uri="{FF2B5EF4-FFF2-40B4-BE49-F238E27FC236}">
                <a16:creationId xmlns:a16="http://schemas.microsoft.com/office/drawing/2014/main" id="{36871F2C-34D4-4C2C-9E94-B41901EA9F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3750" y="3230563"/>
          <a:ext cx="7064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4" name="公式" r:id="rId33" imgW="342603" imgH="177646" progId="Equation.3">
                  <p:embed/>
                </p:oleObj>
              </mc:Choice>
              <mc:Fallback>
                <p:oleObj name="公式" r:id="rId33" imgW="342603" imgH="177646" progId="Equation.3">
                  <p:embed/>
                  <p:pic>
                    <p:nvPicPr>
                      <p:cNvPr id="0" name="Object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3230563"/>
                        <a:ext cx="70643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8" name="Object 162">
            <a:extLst>
              <a:ext uri="{FF2B5EF4-FFF2-40B4-BE49-F238E27FC236}">
                <a16:creationId xmlns:a16="http://schemas.microsoft.com/office/drawing/2014/main" id="{CF8FBBD2-393D-48E3-913E-EB466B25E6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3675063"/>
          <a:ext cx="8636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5" name="公式" r:id="rId35" imgW="418918" imgH="165028" progId="Equation.3">
                  <p:embed/>
                </p:oleObj>
              </mc:Choice>
              <mc:Fallback>
                <p:oleObj name="公式" r:id="rId35" imgW="418918" imgH="165028" progId="Equation.3">
                  <p:embed/>
                  <p:pic>
                    <p:nvPicPr>
                      <p:cNvPr id="0" name="Object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675063"/>
                        <a:ext cx="86360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9" name="Object 163">
            <a:extLst>
              <a:ext uri="{FF2B5EF4-FFF2-40B4-BE49-F238E27FC236}">
                <a16:creationId xmlns:a16="http://schemas.microsoft.com/office/drawing/2014/main" id="{786FC81E-F06C-424B-9A9F-8E2F4B0A76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41656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6" name="公式" r:id="rId37" imgW="418918" imgH="177723" progId="Equation.3">
                  <p:embed/>
                </p:oleObj>
              </mc:Choice>
              <mc:Fallback>
                <p:oleObj name="公式" r:id="rId37" imgW="418918" imgH="177723" progId="Equation.3">
                  <p:embed/>
                  <p:pic>
                    <p:nvPicPr>
                      <p:cNvPr id="0" name="Object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165600"/>
                        <a:ext cx="863600" cy="36671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80" name="Object 164">
            <a:extLst>
              <a:ext uri="{FF2B5EF4-FFF2-40B4-BE49-F238E27FC236}">
                <a16:creationId xmlns:a16="http://schemas.microsoft.com/office/drawing/2014/main" id="{39893558-51A0-4911-A70A-E8CE203B39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1363" y="3230563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7" name="公式" r:id="rId39" imgW="418918" imgH="177723" progId="Equation.3">
                  <p:embed/>
                </p:oleObj>
              </mc:Choice>
              <mc:Fallback>
                <p:oleObj name="公式" r:id="rId39" imgW="418918" imgH="177723" progId="Equation.3">
                  <p:embed/>
                  <p:pic>
                    <p:nvPicPr>
                      <p:cNvPr id="0" name="Object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363" y="3230563"/>
                        <a:ext cx="8636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81" name="Object 165">
            <a:extLst>
              <a:ext uri="{FF2B5EF4-FFF2-40B4-BE49-F238E27FC236}">
                <a16:creationId xmlns:a16="http://schemas.microsoft.com/office/drawing/2014/main" id="{DCE754DB-9759-4B4D-BA67-F49FC7817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1850" y="3675063"/>
          <a:ext cx="6810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8" name="公式" r:id="rId41" imgW="330057" imgH="165028" progId="Equation.3">
                  <p:embed/>
                </p:oleObj>
              </mc:Choice>
              <mc:Fallback>
                <p:oleObj name="公式" r:id="rId41" imgW="330057" imgH="165028" progId="Equation.3">
                  <p:embed/>
                  <p:pic>
                    <p:nvPicPr>
                      <p:cNvPr id="0" name="Object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1850" y="3675063"/>
                        <a:ext cx="681038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82" name="Object 166">
            <a:extLst>
              <a:ext uri="{FF2B5EF4-FFF2-40B4-BE49-F238E27FC236}">
                <a16:creationId xmlns:a16="http://schemas.microsoft.com/office/drawing/2014/main" id="{0022C8AE-C7A9-49C0-B469-A317B9EC84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1363" y="4094163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9" name="公式" r:id="rId43" imgW="418918" imgH="177723" progId="Equation.3">
                  <p:embed/>
                </p:oleObj>
              </mc:Choice>
              <mc:Fallback>
                <p:oleObj name="公式" r:id="rId43" imgW="418918" imgH="177723" progId="Equation.3">
                  <p:embed/>
                  <p:pic>
                    <p:nvPicPr>
                      <p:cNvPr id="0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363" y="4094163"/>
                        <a:ext cx="8636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83" name="Object 167">
            <a:extLst>
              <a:ext uri="{FF2B5EF4-FFF2-40B4-BE49-F238E27FC236}">
                <a16:creationId xmlns:a16="http://schemas.microsoft.com/office/drawing/2014/main" id="{0B00FC4B-7D2F-479B-A289-EF8CE68B8B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1363" y="45974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0" name="公式" r:id="rId45" imgW="418918" imgH="177723" progId="Equation.3">
                  <p:embed/>
                </p:oleObj>
              </mc:Choice>
              <mc:Fallback>
                <p:oleObj name="公式" r:id="rId45" imgW="418918" imgH="177723" progId="Equation.3">
                  <p:embed/>
                  <p:pic>
                    <p:nvPicPr>
                      <p:cNvPr id="0" name="Object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363" y="4597400"/>
                        <a:ext cx="863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67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11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 animBg="1" autoUpdateAnimBg="0"/>
      <p:bldP spid="116741" grpId="0" animBg="1" autoUpdateAnimBg="0"/>
      <p:bldP spid="116833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04F6DFAB-DA75-4C85-A53D-5A1FDECA4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4675"/>
            <a:ext cx="8208963" cy="12033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丁蛙泳</a:t>
            </a:r>
            <a:r>
              <a:rPr lang="en-US" altLang="zh-CN" sz="2800" b="1" i="1"/>
              <a:t>c</a:t>
            </a:r>
            <a:r>
              <a:rPr lang="en-US" altLang="zh-CN" sz="2800" b="1" baseline="-30000"/>
              <a:t>43</a:t>
            </a:r>
            <a:r>
              <a:rPr lang="en-US" altLang="zh-CN" sz="2800" b="1"/>
              <a:t> </a:t>
            </a:r>
            <a:r>
              <a:rPr lang="en-US" altLang="zh-CN" sz="2800" b="1">
                <a:latin typeface="宋体" panose="02010600030101010101" pitchFamily="2" charset="-122"/>
              </a:rPr>
              <a:t>= </a:t>
            </a:r>
            <a:r>
              <a:rPr lang="en-US" altLang="zh-CN" sz="2800" b="1"/>
              <a:t>69.6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FF3300"/>
                </a:solidFill>
              </a:rPr>
              <a:t>75.2 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/>
              <a:t>s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>
                <a:latin typeface="宋体" panose="02010600030101010101" pitchFamily="2" charset="-122"/>
              </a:rPr>
              <a:t>，戊自由泳</a:t>
            </a:r>
            <a:r>
              <a:rPr lang="en-US" altLang="zh-CN" sz="2800" b="1" i="1"/>
              <a:t>c</a:t>
            </a:r>
            <a:r>
              <a:rPr lang="en-US" altLang="zh-CN" sz="2800" b="1" baseline="-30000"/>
              <a:t>54</a:t>
            </a:r>
            <a:r>
              <a:rPr lang="en-US" altLang="zh-CN" sz="2800" b="1">
                <a:latin typeface="宋体" panose="02010600030101010101" pitchFamily="2" charset="-122"/>
              </a:rPr>
              <a:t>= </a:t>
            </a:r>
            <a:r>
              <a:rPr lang="en-US" altLang="zh-CN" sz="2800" b="1"/>
              <a:t>62.4 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/>
              <a:t> </a:t>
            </a:r>
            <a:r>
              <a:rPr lang="en-US" altLang="zh-CN" sz="2800" b="1">
                <a:solidFill>
                  <a:srgbClr val="FF3300"/>
                </a:solidFill>
              </a:rPr>
              <a:t>57.5 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/>
              <a:t>s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>
                <a:latin typeface="宋体" panose="02010600030101010101" pitchFamily="2" charset="-122"/>
              </a:rPr>
              <a:t>方案是否调整？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7C285873-D25C-4811-B75C-0B1F47ECF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2492375"/>
            <a:ext cx="254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敏感性分析？</a:t>
            </a:r>
          </a:p>
        </p:txBody>
      </p:sp>
      <p:sp>
        <p:nvSpPr>
          <p:cNvPr id="54276" name="Text Box 4">
            <a:extLst>
              <a:ext uri="{FF2B5EF4-FFF2-40B4-BE49-F238E27FC236}">
                <a16:creationId xmlns:a16="http://schemas.microsoft.com/office/drawing/2014/main" id="{3F52DF0E-F8C8-4DD8-9E63-BF7E87283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740400"/>
            <a:ext cx="8353425" cy="6048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新方案</a:t>
            </a:r>
            <a:r>
              <a:rPr lang="en-US" altLang="zh-CN" sz="2800" b="1">
                <a:latin typeface="宋体" panose="02010600030101010101" pitchFamily="2" charset="-122"/>
              </a:rPr>
              <a:t>:</a:t>
            </a:r>
            <a:r>
              <a:rPr lang="zh-CN" altLang="en-US" sz="2800" b="1">
                <a:latin typeface="宋体" panose="02010600030101010101" pitchFamily="2" charset="-122"/>
              </a:rPr>
              <a:t>乙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蝶泳、丙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仰泳、丁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蛙泳、戊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自由泳</a:t>
            </a:r>
            <a:endParaRPr lang="zh-CN" altLang="en-US" sz="2800" b="1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8E8D9514-24D0-4B56-BF52-E6D4BAB58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11500"/>
            <a:ext cx="7777162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accent2"/>
                </a:solidFill>
              </a:rPr>
              <a:t>IP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一般没有与</a:t>
            </a:r>
            <a:r>
              <a:rPr lang="en-US" altLang="zh-CN" sz="2800" b="1">
                <a:solidFill>
                  <a:schemeClr val="accent2"/>
                </a:solidFill>
              </a:rPr>
              <a:t>LP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相类似的理论，</a:t>
            </a:r>
            <a:r>
              <a:rPr lang="en-US" altLang="zh-CN" sz="2800" b="1">
                <a:solidFill>
                  <a:schemeClr val="accent2"/>
                </a:solidFill>
              </a:rPr>
              <a:t>LINGO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输出的敏感性分析结果通常是没有意义的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54279" name="Text Box 7">
            <a:extLst>
              <a:ext uri="{FF2B5EF4-FFF2-40B4-BE49-F238E27FC236}">
                <a16:creationId xmlns:a16="http://schemas.microsoft.com/office/drawing/2014/main" id="{15736AE9-05FE-41CE-B5AF-81B5C8488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392613"/>
            <a:ext cx="807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c</a:t>
            </a:r>
            <a:r>
              <a:rPr lang="en-US" altLang="zh-CN" sz="2800" b="1" baseline="-30000"/>
              <a:t>43</a:t>
            </a:r>
            <a:r>
              <a:rPr lang="en-US" altLang="zh-CN" sz="2800" b="1"/>
              <a:t>, </a:t>
            </a:r>
            <a:r>
              <a:rPr lang="en-US" altLang="zh-CN" sz="2800" b="1" i="1"/>
              <a:t>c</a:t>
            </a:r>
            <a:r>
              <a:rPr lang="en-US" altLang="zh-CN" sz="2800" b="1" baseline="-30000"/>
              <a:t>54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的新数据重新输入模型，用</a:t>
            </a:r>
            <a:r>
              <a:rPr lang="en-US" altLang="zh-CN" sz="2800" b="1"/>
              <a:t>LINGO</a:t>
            </a:r>
            <a:r>
              <a:rPr lang="zh-CN" altLang="en-US" sz="2800" b="1">
                <a:latin typeface="宋体" panose="02010600030101010101" pitchFamily="2" charset="-122"/>
              </a:rPr>
              <a:t>求解 </a:t>
            </a:r>
          </a:p>
        </p:txBody>
      </p:sp>
      <p:sp>
        <p:nvSpPr>
          <p:cNvPr id="34823" name="Text Box 11">
            <a:extLst>
              <a:ext uri="{FF2B5EF4-FFF2-40B4-BE49-F238E27FC236}">
                <a16:creationId xmlns:a16="http://schemas.microsoft.com/office/drawing/2014/main" id="{F89697D0-2EE0-4A07-B7CB-E410594EA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76250"/>
            <a:ext cx="7027862" cy="12033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/>
              <a:t>               </a:t>
            </a:r>
            <a:r>
              <a:rPr lang="zh-CN" altLang="en-US" sz="2800" b="1"/>
              <a:t>原分配方案</a:t>
            </a:r>
            <a:r>
              <a:rPr lang="en-US" altLang="zh-CN" sz="2800" b="1"/>
              <a:t>: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甲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自由泳、乙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蝶泳、丙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仰泳、丁</a:t>
            </a:r>
            <a:r>
              <a:rPr lang="en-US" altLang="zh-CN" sz="2800" b="1"/>
              <a:t>~ </a:t>
            </a:r>
            <a:r>
              <a:rPr lang="zh-CN" altLang="en-US" sz="2800" b="1">
                <a:latin typeface="宋体" panose="02010600030101010101" pitchFamily="2" charset="-122"/>
              </a:rPr>
              <a:t>蛙泳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4824" name="Text Box 9">
            <a:extLst>
              <a:ext uri="{FF2B5EF4-FFF2-40B4-BE49-F238E27FC236}">
                <a16:creationId xmlns:a16="http://schemas.microsoft.com/office/drawing/2014/main" id="{CA3D71CE-D0B1-4449-8505-FF7A6CE68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6250"/>
            <a:ext cx="1066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讨论</a:t>
            </a:r>
          </a:p>
        </p:txBody>
      </p:sp>
      <p:grpSp>
        <p:nvGrpSpPr>
          <p:cNvPr id="95246" name="Group 14">
            <a:extLst>
              <a:ext uri="{FF2B5EF4-FFF2-40B4-BE49-F238E27FC236}">
                <a16:creationId xmlns:a16="http://schemas.microsoft.com/office/drawing/2014/main" id="{C4CCCD8D-A04B-4491-8544-9827115BB6B8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5040313"/>
            <a:ext cx="7861300" cy="519112"/>
            <a:chOff x="249" y="3175"/>
            <a:chExt cx="4952" cy="327"/>
          </a:xfrm>
        </p:grpSpPr>
        <p:sp>
          <p:nvSpPr>
            <p:cNvPr id="34826" name="Rectangle 6">
              <a:extLst>
                <a:ext uri="{FF2B5EF4-FFF2-40B4-BE49-F238E27FC236}">
                  <a16:creationId xmlns:a16="http://schemas.microsoft.com/office/drawing/2014/main" id="{70577555-41AC-48F8-8251-93A113CAF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3175"/>
              <a:ext cx="49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 b="1"/>
                <a:t>最优解：</a:t>
              </a:r>
              <a:r>
                <a:rPr lang="en-US" altLang="zh-CN" sz="2800" b="1" i="1"/>
                <a:t>x</a:t>
              </a:r>
              <a:r>
                <a:rPr lang="en-US" altLang="zh-CN" sz="2800" b="1" baseline="-25000"/>
                <a:t>21</a:t>
              </a:r>
              <a:r>
                <a:rPr lang="en-US" altLang="zh-CN" sz="2800" b="1"/>
                <a:t> = </a:t>
              </a:r>
              <a:r>
                <a:rPr lang="en-US" altLang="zh-CN" sz="2800" b="1" i="1"/>
                <a:t>x</a:t>
              </a:r>
              <a:r>
                <a:rPr lang="en-US" altLang="zh-CN" sz="2800" b="1" baseline="-25000"/>
                <a:t>32 </a:t>
              </a:r>
              <a:r>
                <a:rPr lang="en-US" altLang="zh-CN" sz="2800" b="1"/>
                <a:t>= </a:t>
              </a:r>
              <a:r>
                <a:rPr lang="en-US" altLang="zh-CN" sz="2800" b="1" i="1"/>
                <a:t>x</a:t>
              </a:r>
              <a:r>
                <a:rPr lang="en-US" altLang="zh-CN" sz="2800" b="1" baseline="-25000"/>
                <a:t>43</a:t>
              </a:r>
              <a:r>
                <a:rPr lang="en-US" altLang="zh-CN" sz="2800" b="1"/>
                <a:t> = </a:t>
              </a:r>
              <a:r>
                <a:rPr lang="en-US" altLang="zh-CN" sz="2800" b="1" i="1"/>
                <a:t>x</a:t>
              </a:r>
              <a:r>
                <a:rPr lang="en-US" altLang="zh-CN" sz="2800" b="1" baseline="-25000"/>
                <a:t>51</a:t>
              </a:r>
              <a:r>
                <a:rPr lang="en-US" altLang="zh-CN" sz="2800" b="1"/>
                <a:t> = 1,  </a:t>
              </a:r>
              <a:r>
                <a:rPr lang="zh-CN" altLang="en-US" sz="2800" b="1">
                  <a:latin typeface="宋体" panose="02010600030101010101" pitchFamily="2" charset="-122"/>
                </a:rPr>
                <a:t>成绩为</a:t>
              </a:r>
              <a:endParaRPr lang="en-US" altLang="zh-CN" sz="2800" b="1"/>
            </a:p>
          </p:txBody>
        </p:sp>
        <p:graphicFrame>
          <p:nvGraphicFramePr>
            <p:cNvPr id="34827" name="Object 13">
              <a:extLst>
                <a:ext uri="{FF2B5EF4-FFF2-40B4-BE49-F238E27FC236}">
                  <a16:creationId xmlns:a16="http://schemas.microsoft.com/office/drawing/2014/main" id="{FE6632BA-46FB-46CA-8013-A10C741C38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2" y="3203"/>
            <a:ext cx="6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9" name="公式" r:id="rId3" imgW="444114" imgH="177646" progId="Equation.3">
                    <p:embed/>
                  </p:oleObj>
                </mc:Choice>
                <mc:Fallback>
                  <p:oleObj name="公式" r:id="rId3" imgW="444114" imgH="17764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3203"/>
                          <a:ext cx="68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 autoUpdateAnimBg="0"/>
      <p:bldP spid="54275" grpId="0" autoUpdateAnimBg="0"/>
      <p:bldP spid="54276" grpId="0" animBg="1" autoUpdateAnimBg="0"/>
      <p:bldP spid="54277" grpId="0" autoUpdateAnimBg="0"/>
      <p:bldP spid="5427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6679FFFD-A99A-4A11-A5CB-D7147D6B7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620713"/>
            <a:ext cx="51054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楷体_GB2312" pitchFamily="49" charset="-122"/>
              </a:rPr>
              <a:t>混合泳接力队的选拔 </a:t>
            </a:r>
            <a:endParaRPr lang="zh-CN" altLang="en-US" sz="3200">
              <a:solidFill>
                <a:schemeClr val="tx2"/>
              </a:solidFill>
              <a:ea typeface="楷体_GB2312" pitchFamily="49" charset="-122"/>
            </a:endParaRPr>
          </a:p>
        </p:txBody>
      </p:sp>
      <p:graphicFrame>
        <p:nvGraphicFramePr>
          <p:cNvPr id="35843" name="Object 5">
            <a:extLst>
              <a:ext uri="{FF2B5EF4-FFF2-40B4-BE49-F238E27FC236}">
                <a16:creationId xmlns:a16="http://schemas.microsoft.com/office/drawing/2014/main" id="{7EE79731-21E1-4F0C-AE6B-6B8C0CE508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417513"/>
          <a:ext cx="1066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0" name="Clip" r:id="rId3" imgW="761744" imgH="761744" progId="MS_ClipArt_Gallery.2">
                  <p:embed/>
                </p:oleObj>
              </mc:Choice>
              <mc:Fallback>
                <p:oleObj name="Clip" r:id="rId3" imgW="761744" imgH="761744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17513"/>
                        <a:ext cx="1066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4" name="Text Box 6">
            <a:extLst>
              <a:ext uri="{FF2B5EF4-FFF2-40B4-BE49-F238E27FC236}">
                <a16:creationId xmlns:a16="http://schemas.microsoft.com/office/drawing/2014/main" id="{A5E9EADE-8503-4416-8471-B8C149082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484313"/>
            <a:ext cx="8424863" cy="21431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分派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b="1">
                <a:solidFill>
                  <a:srgbClr val="FF3300"/>
                </a:solidFill>
              </a:rPr>
              <a:t>Assignment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问题</a:t>
            </a:r>
            <a:r>
              <a:rPr lang="zh-CN" altLang="en-US" sz="2800" b="1">
                <a:solidFill>
                  <a:srgbClr val="FF3300"/>
                </a:solidFill>
              </a:rPr>
              <a:t>：</a:t>
            </a:r>
            <a:r>
              <a:rPr lang="zh-CN" altLang="en-US" sz="2800" b="1"/>
              <a:t>有若干项任务</a:t>
            </a:r>
            <a:r>
              <a:rPr lang="en-US" altLang="zh-CN" sz="2800" b="1"/>
              <a:t>,</a:t>
            </a:r>
            <a:r>
              <a:rPr lang="en-US" altLang="zh-CN" sz="2800" b="1">
                <a:solidFill>
                  <a:srgbClr val="FF3300"/>
                </a:solidFill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每项任务必有且只能有一人承担，每人只能承担一项</a:t>
            </a:r>
            <a:r>
              <a:rPr lang="zh-CN" altLang="en-US" sz="2800" b="1"/>
              <a:t>，不同人员承担不同任务的效益</a:t>
            </a:r>
            <a:r>
              <a:rPr lang="en-US" altLang="zh-CN" sz="2800" b="1"/>
              <a:t>(</a:t>
            </a:r>
            <a:r>
              <a:rPr lang="zh-CN" altLang="en-US" sz="2800" b="1"/>
              <a:t>或成本</a:t>
            </a:r>
            <a:r>
              <a:rPr lang="en-US" altLang="zh-CN" sz="2800" b="1"/>
              <a:t>)</a:t>
            </a:r>
            <a:r>
              <a:rPr lang="zh-CN" altLang="en-US" sz="2800" b="1"/>
              <a:t>不同，怎样分派各项任务使总效益最大</a:t>
            </a:r>
            <a:r>
              <a:rPr lang="en-US" altLang="zh-CN" sz="2800" b="1"/>
              <a:t>(</a:t>
            </a:r>
            <a:r>
              <a:rPr lang="zh-CN" altLang="en-US" sz="2800" b="1"/>
              <a:t>或总成本最小</a:t>
            </a:r>
            <a:r>
              <a:rPr lang="en-US" altLang="zh-CN" sz="2800" b="1"/>
              <a:t>)?</a:t>
            </a:r>
          </a:p>
        </p:txBody>
      </p:sp>
      <p:sp>
        <p:nvSpPr>
          <p:cNvPr id="94215" name="Text Box 7">
            <a:extLst>
              <a:ext uri="{FF2B5EF4-FFF2-40B4-BE49-F238E27FC236}">
                <a16:creationId xmlns:a16="http://schemas.microsoft.com/office/drawing/2014/main" id="{DDEEE18D-2FB0-4FA5-85F9-98E5275C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716338"/>
            <a:ext cx="6192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人员数量与任务数量相等</a:t>
            </a:r>
          </a:p>
        </p:txBody>
      </p:sp>
      <p:sp>
        <p:nvSpPr>
          <p:cNvPr id="94216" name="Text Box 8">
            <a:extLst>
              <a:ext uri="{FF2B5EF4-FFF2-40B4-BE49-F238E27FC236}">
                <a16:creationId xmlns:a16="http://schemas.microsoft.com/office/drawing/2014/main" id="{9ABA2B25-0033-40E4-8355-4F5F25F26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365625"/>
            <a:ext cx="6192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人员数量大于任务数量</a:t>
            </a:r>
            <a:r>
              <a:rPr lang="en-US" altLang="zh-CN" sz="2800" b="1"/>
              <a:t>(</a:t>
            </a:r>
            <a:r>
              <a:rPr lang="zh-CN" altLang="en-US" sz="2800" b="1"/>
              <a:t>本例</a:t>
            </a:r>
            <a:r>
              <a:rPr lang="en-US" altLang="zh-CN" sz="2800" b="1"/>
              <a:t>)</a:t>
            </a:r>
          </a:p>
        </p:txBody>
      </p:sp>
      <p:sp>
        <p:nvSpPr>
          <p:cNvPr id="94217" name="Text Box 9">
            <a:extLst>
              <a:ext uri="{FF2B5EF4-FFF2-40B4-BE49-F238E27FC236}">
                <a16:creationId xmlns:a16="http://schemas.microsoft.com/office/drawing/2014/main" id="{66860588-4ECF-4595-8959-257B026EF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013325"/>
            <a:ext cx="6192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人员数量小于任务数量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en-US" altLang="zh-CN" sz="2800" b="1"/>
              <a:t>?</a:t>
            </a:r>
          </a:p>
        </p:txBody>
      </p:sp>
      <p:sp>
        <p:nvSpPr>
          <p:cNvPr id="94218" name="Rectangle 10">
            <a:extLst>
              <a:ext uri="{FF2B5EF4-FFF2-40B4-BE49-F238E27FC236}">
                <a16:creationId xmlns:a16="http://schemas.microsoft.com/office/drawing/2014/main" id="{35E30FF3-3309-4267-850F-9ADBC6923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734050"/>
            <a:ext cx="5472113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建立</a:t>
            </a:r>
            <a:r>
              <a:rPr lang="en-US" altLang="zh-CN" sz="3200" b="1">
                <a:ea typeface="楷体_GB2312" pitchFamily="49" charset="-122"/>
              </a:rPr>
              <a:t>0-1</a:t>
            </a:r>
            <a:r>
              <a:rPr lang="zh-CN" altLang="en-US" sz="3200" b="1">
                <a:ea typeface="楷体_GB2312" pitchFamily="49" charset="-122"/>
              </a:rPr>
              <a:t>规划模型是常用方法 </a:t>
            </a:r>
            <a:endParaRPr lang="zh-CN" altLang="en-US" sz="3200">
              <a:solidFill>
                <a:schemeClr val="tx2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4" grpId="0" animBg="1" autoUpdateAnimBg="0"/>
      <p:bldP spid="94215" grpId="0"/>
      <p:bldP spid="94216" grpId="0"/>
      <p:bldP spid="94217" grpId="0"/>
      <p:bldP spid="942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1A0A2200-55AF-40DC-B509-1E07BC1D5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437188"/>
            <a:ext cx="8534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为了选修课程门数最少，应学习哪些课程 ？</a:t>
            </a:r>
            <a:r>
              <a:rPr lang="zh-CN" altLang="en-US" sz="2800" b="1"/>
              <a:t>  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2771A72-A0FD-43F5-A63A-43BC1C3E704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28600" y="381000"/>
            <a:ext cx="3276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accent2"/>
                </a:solidFill>
                <a:ea typeface="楷体_GB2312" pitchFamily="49" charset="-122"/>
              </a:rPr>
              <a:t>2   </a:t>
            </a:r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选课策略</a:t>
            </a:r>
            <a:endParaRPr lang="zh-CN" altLang="en-US" sz="320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55300" name="Text Box 4">
            <a:extLst>
              <a:ext uri="{FF2B5EF4-FFF2-40B4-BE49-F238E27FC236}">
                <a16:creationId xmlns:a16="http://schemas.microsoft.com/office/drawing/2014/main" id="{E6432631-FC99-450A-9F72-AAA335200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891088"/>
            <a:ext cx="891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要求至少选两门数学课、三门运筹学课和两门计算机课 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3BFFB47D-AE1B-4AD3-AB58-FFF9C1D7D1A9}"/>
              </a:ext>
            </a:extLst>
          </p:cNvPr>
          <p:cNvGrpSpPr>
            <a:grpSpLocks/>
          </p:cNvGrpSpPr>
          <p:nvPr/>
        </p:nvGrpSpPr>
        <p:grpSpPr bwMode="auto">
          <a:xfrm>
            <a:off x="0" y="1052513"/>
            <a:ext cx="9144000" cy="3810000"/>
            <a:chOff x="-3" y="-3"/>
            <a:chExt cx="3460" cy="3942"/>
          </a:xfrm>
        </p:grpSpPr>
        <p:grpSp>
          <p:nvGrpSpPr>
            <p:cNvPr id="36873" name="Group 6">
              <a:extLst>
                <a:ext uri="{FF2B5EF4-FFF2-40B4-BE49-F238E27FC236}">
                  <a16:creationId xmlns:a16="http://schemas.microsoft.com/office/drawing/2014/main" id="{7D10476D-7E1C-4071-81D6-FE98CFBC7D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454" cy="3936"/>
              <a:chOff x="0" y="0"/>
              <a:chExt cx="3454" cy="3936"/>
            </a:xfrm>
          </p:grpSpPr>
          <p:grpSp>
            <p:nvGrpSpPr>
              <p:cNvPr id="36875" name="Group 7">
                <a:extLst>
                  <a:ext uri="{FF2B5EF4-FFF2-40B4-BE49-F238E27FC236}">
                    <a16:creationId xmlns:a16="http://schemas.microsoft.com/office/drawing/2014/main" id="{C16894D9-599E-4486-9D16-6B574A1691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18" cy="480"/>
                <a:chOff x="0" y="0"/>
                <a:chExt cx="518" cy="480"/>
              </a:xfrm>
            </p:grpSpPr>
            <p:sp>
              <p:nvSpPr>
                <p:cNvPr id="37023" name="Rectangle 8">
                  <a:extLst>
                    <a:ext uri="{FF2B5EF4-FFF2-40B4-BE49-F238E27FC236}">
                      <a16:creationId xmlns:a16="http://schemas.microsoft.com/office/drawing/2014/main" id="{F2B7505B-0286-4174-8E2A-0C17FA91B6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3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课号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24" name="Rectangle 9">
                  <a:extLst>
                    <a:ext uri="{FF2B5EF4-FFF2-40B4-BE49-F238E27FC236}">
                      <a16:creationId xmlns:a16="http://schemas.microsoft.com/office/drawing/2014/main" id="{DB7303EC-FCB0-4325-A5A7-DC81B18F9B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1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76" name="Group 10">
                <a:extLst>
                  <a:ext uri="{FF2B5EF4-FFF2-40B4-BE49-F238E27FC236}">
                    <a16:creationId xmlns:a16="http://schemas.microsoft.com/office/drawing/2014/main" id="{67AEC75C-61CD-4E28-9C6B-334F227110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0"/>
                <a:ext cx="662" cy="480"/>
                <a:chOff x="518" y="0"/>
                <a:chExt cx="662" cy="480"/>
              </a:xfrm>
            </p:grpSpPr>
            <p:sp>
              <p:nvSpPr>
                <p:cNvPr id="37021" name="Rectangle 11">
                  <a:extLst>
                    <a:ext uri="{FF2B5EF4-FFF2-40B4-BE49-F238E27FC236}">
                      <a16:creationId xmlns:a16="http://schemas.microsoft.com/office/drawing/2014/main" id="{62D03599-C549-41A6-97DE-CCFA468E3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0"/>
                  <a:ext cx="576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课名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22" name="Rectangle 12">
                  <a:extLst>
                    <a:ext uri="{FF2B5EF4-FFF2-40B4-BE49-F238E27FC236}">
                      <a16:creationId xmlns:a16="http://schemas.microsoft.com/office/drawing/2014/main" id="{1F05C52A-7C02-49A5-A2C7-0C75B3B833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0"/>
                  <a:ext cx="66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77" name="Group 13">
                <a:extLst>
                  <a:ext uri="{FF2B5EF4-FFF2-40B4-BE49-F238E27FC236}">
                    <a16:creationId xmlns:a16="http://schemas.microsoft.com/office/drawing/2014/main" id="{F0082284-239A-4496-9DB7-3AA41F1CAD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0"/>
                <a:ext cx="446" cy="480"/>
                <a:chOff x="1180" y="0"/>
                <a:chExt cx="446" cy="480"/>
              </a:xfrm>
            </p:grpSpPr>
            <p:sp>
              <p:nvSpPr>
                <p:cNvPr id="37019" name="Rectangle 14">
                  <a:extLst>
                    <a:ext uri="{FF2B5EF4-FFF2-40B4-BE49-F238E27FC236}">
                      <a16:creationId xmlns:a16="http://schemas.microsoft.com/office/drawing/2014/main" id="{50705DCB-91EB-4A13-8EDD-D8DD6E8B79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0"/>
                  <a:ext cx="3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学分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20" name="Rectangle 15">
                  <a:extLst>
                    <a:ext uri="{FF2B5EF4-FFF2-40B4-BE49-F238E27FC236}">
                      <a16:creationId xmlns:a16="http://schemas.microsoft.com/office/drawing/2014/main" id="{AB70DA09-3A30-4E80-9F3C-E9BCFCDDFE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0"/>
                  <a:ext cx="44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78" name="Group 16">
                <a:extLst>
                  <a:ext uri="{FF2B5EF4-FFF2-40B4-BE49-F238E27FC236}">
                    <a16:creationId xmlns:a16="http://schemas.microsoft.com/office/drawing/2014/main" id="{B8FC51F6-B890-4263-82C4-609AD248FD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0"/>
                <a:ext cx="878" cy="480"/>
                <a:chOff x="1626" y="0"/>
                <a:chExt cx="878" cy="480"/>
              </a:xfrm>
            </p:grpSpPr>
            <p:sp>
              <p:nvSpPr>
                <p:cNvPr id="37017" name="Rectangle 17">
                  <a:extLst>
                    <a:ext uri="{FF2B5EF4-FFF2-40B4-BE49-F238E27FC236}">
                      <a16:creationId xmlns:a16="http://schemas.microsoft.com/office/drawing/2014/main" id="{435641D7-CABC-4FEC-B08D-96A4FE9F73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0"/>
                  <a:ext cx="7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所属类别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18" name="Rectangle 18">
                  <a:extLst>
                    <a:ext uri="{FF2B5EF4-FFF2-40B4-BE49-F238E27FC236}">
                      <a16:creationId xmlns:a16="http://schemas.microsoft.com/office/drawing/2014/main" id="{EA7B5AEB-C97A-47D2-9D8C-84C36FFCD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0"/>
                  <a:ext cx="8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79" name="Group 19">
                <a:extLst>
                  <a:ext uri="{FF2B5EF4-FFF2-40B4-BE49-F238E27FC236}">
                    <a16:creationId xmlns:a16="http://schemas.microsoft.com/office/drawing/2014/main" id="{B1FAC764-9097-4E5F-9EEC-FDCE8311EF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0"/>
                <a:ext cx="950" cy="480"/>
                <a:chOff x="2504" y="0"/>
                <a:chExt cx="950" cy="480"/>
              </a:xfrm>
            </p:grpSpPr>
            <p:sp>
              <p:nvSpPr>
                <p:cNvPr id="37015" name="Rectangle 20">
                  <a:extLst>
                    <a:ext uri="{FF2B5EF4-FFF2-40B4-BE49-F238E27FC236}">
                      <a16:creationId xmlns:a16="http://schemas.microsoft.com/office/drawing/2014/main" id="{233FA579-314A-4675-8E97-E6924604EE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0"/>
                  <a:ext cx="864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先修课要求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16" name="Rectangle 21">
                  <a:extLst>
                    <a:ext uri="{FF2B5EF4-FFF2-40B4-BE49-F238E27FC236}">
                      <a16:creationId xmlns:a16="http://schemas.microsoft.com/office/drawing/2014/main" id="{6FF712A8-6191-459C-8787-4EA83E3099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0"/>
                  <a:ext cx="950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0" name="Group 22">
                <a:extLst>
                  <a:ext uri="{FF2B5EF4-FFF2-40B4-BE49-F238E27FC236}">
                    <a16:creationId xmlns:a16="http://schemas.microsoft.com/office/drawing/2014/main" id="{38975E9D-C5DC-4213-A55B-3B2D6C4395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80"/>
                <a:ext cx="518" cy="384"/>
                <a:chOff x="0" y="480"/>
                <a:chExt cx="518" cy="384"/>
              </a:xfrm>
            </p:grpSpPr>
            <p:sp>
              <p:nvSpPr>
                <p:cNvPr id="37013" name="Rectangle 23">
                  <a:extLst>
                    <a:ext uri="{FF2B5EF4-FFF2-40B4-BE49-F238E27FC236}">
                      <a16:creationId xmlns:a16="http://schemas.microsoft.com/office/drawing/2014/main" id="{08FC29E2-E587-4131-B4AA-F1D47B722A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80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1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14" name="Rectangle 24">
                  <a:extLst>
                    <a:ext uri="{FF2B5EF4-FFF2-40B4-BE49-F238E27FC236}">
                      <a16:creationId xmlns:a16="http://schemas.microsoft.com/office/drawing/2014/main" id="{288AB4A1-44EF-486A-9FDA-DFAEBBD764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8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1" name="Group 25">
                <a:extLst>
                  <a:ext uri="{FF2B5EF4-FFF2-40B4-BE49-F238E27FC236}">
                    <a16:creationId xmlns:a16="http://schemas.microsoft.com/office/drawing/2014/main" id="{1C65D37E-D1A6-40DF-BF8D-422BA8632A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480"/>
                <a:ext cx="662" cy="384"/>
                <a:chOff x="518" y="480"/>
                <a:chExt cx="662" cy="384"/>
              </a:xfrm>
            </p:grpSpPr>
            <p:sp>
              <p:nvSpPr>
                <p:cNvPr id="37011" name="Rectangle 26">
                  <a:extLst>
                    <a:ext uri="{FF2B5EF4-FFF2-40B4-BE49-F238E27FC236}">
                      <a16:creationId xmlns:a16="http://schemas.microsoft.com/office/drawing/2014/main" id="{40B2D777-4FC6-4B8A-8FCB-E4B733ED4B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480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12" name="Rectangle 27">
                  <a:extLst>
                    <a:ext uri="{FF2B5EF4-FFF2-40B4-BE49-F238E27FC236}">
                      <a16:creationId xmlns:a16="http://schemas.microsoft.com/office/drawing/2014/main" id="{5FF50CC1-8388-4010-B16B-DFE5329BD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480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2" name="Group 28">
                <a:extLst>
                  <a:ext uri="{FF2B5EF4-FFF2-40B4-BE49-F238E27FC236}">
                    <a16:creationId xmlns:a16="http://schemas.microsoft.com/office/drawing/2014/main" id="{A6206A2D-7906-414C-8E30-053562345C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480"/>
                <a:ext cx="446" cy="384"/>
                <a:chOff x="1180" y="480"/>
                <a:chExt cx="446" cy="384"/>
              </a:xfrm>
            </p:grpSpPr>
            <p:sp>
              <p:nvSpPr>
                <p:cNvPr id="37009" name="Rectangle 29">
                  <a:extLst>
                    <a:ext uri="{FF2B5EF4-FFF2-40B4-BE49-F238E27FC236}">
                      <a16:creationId xmlns:a16="http://schemas.microsoft.com/office/drawing/2014/main" id="{30A6D89B-7EF2-4334-B0F5-C7AD1805AD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480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5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10" name="Rectangle 30">
                  <a:extLst>
                    <a:ext uri="{FF2B5EF4-FFF2-40B4-BE49-F238E27FC236}">
                      <a16:creationId xmlns:a16="http://schemas.microsoft.com/office/drawing/2014/main" id="{4B6277DD-CA3D-48E8-972A-02C66330A9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480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3" name="Group 31">
                <a:extLst>
                  <a:ext uri="{FF2B5EF4-FFF2-40B4-BE49-F238E27FC236}">
                    <a16:creationId xmlns:a16="http://schemas.microsoft.com/office/drawing/2014/main" id="{0F5CC8C6-9BB6-492B-96AC-49106641F4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480"/>
                <a:ext cx="878" cy="384"/>
                <a:chOff x="1626" y="480"/>
                <a:chExt cx="878" cy="384"/>
              </a:xfrm>
            </p:grpSpPr>
            <p:sp>
              <p:nvSpPr>
                <p:cNvPr id="37007" name="Rectangle 32">
                  <a:extLst>
                    <a:ext uri="{FF2B5EF4-FFF2-40B4-BE49-F238E27FC236}">
                      <a16:creationId xmlns:a16="http://schemas.microsoft.com/office/drawing/2014/main" id="{92DDDC4A-971D-4986-B087-5CFEB1123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480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数学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08" name="Rectangle 33">
                  <a:extLst>
                    <a:ext uri="{FF2B5EF4-FFF2-40B4-BE49-F238E27FC236}">
                      <a16:creationId xmlns:a16="http://schemas.microsoft.com/office/drawing/2014/main" id="{64124D12-11A5-4B8A-9715-8B21A24FA8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480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4" name="Group 34">
                <a:extLst>
                  <a:ext uri="{FF2B5EF4-FFF2-40B4-BE49-F238E27FC236}">
                    <a16:creationId xmlns:a16="http://schemas.microsoft.com/office/drawing/2014/main" id="{B3827789-68B5-4F39-B829-E65598AAB0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480"/>
                <a:ext cx="950" cy="384"/>
                <a:chOff x="2504" y="480"/>
                <a:chExt cx="950" cy="384"/>
              </a:xfrm>
            </p:grpSpPr>
            <p:sp>
              <p:nvSpPr>
                <p:cNvPr id="37005" name="Rectangle 35">
                  <a:extLst>
                    <a:ext uri="{FF2B5EF4-FFF2-40B4-BE49-F238E27FC236}">
                      <a16:creationId xmlns:a16="http://schemas.microsoft.com/office/drawing/2014/main" id="{6357FC99-7681-430F-8BC0-93103E43DA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480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 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06" name="Rectangle 36">
                  <a:extLst>
                    <a:ext uri="{FF2B5EF4-FFF2-40B4-BE49-F238E27FC236}">
                      <a16:creationId xmlns:a16="http://schemas.microsoft.com/office/drawing/2014/main" id="{74150C65-6C69-4538-A3C2-9606E5AEC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480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5" name="Group 37">
                <a:extLst>
                  <a:ext uri="{FF2B5EF4-FFF2-40B4-BE49-F238E27FC236}">
                    <a16:creationId xmlns:a16="http://schemas.microsoft.com/office/drawing/2014/main" id="{85714DF9-3F64-4B00-B82E-0110B25B43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64"/>
                <a:ext cx="518" cy="384"/>
                <a:chOff x="0" y="864"/>
                <a:chExt cx="518" cy="384"/>
              </a:xfrm>
            </p:grpSpPr>
            <p:sp>
              <p:nvSpPr>
                <p:cNvPr id="37003" name="Rectangle 38">
                  <a:extLst>
                    <a:ext uri="{FF2B5EF4-FFF2-40B4-BE49-F238E27FC236}">
                      <a16:creationId xmlns:a16="http://schemas.microsoft.com/office/drawing/2014/main" id="{DDEFAC8F-CED8-46DD-9043-1E745E427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864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2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04" name="Rectangle 39">
                  <a:extLst>
                    <a:ext uri="{FF2B5EF4-FFF2-40B4-BE49-F238E27FC236}">
                      <a16:creationId xmlns:a16="http://schemas.microsoft.com/office/drawing/2014/main" id="{24636862-75D0-4DEB-9C43-57FD912CA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6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6" name="Group 40">
                <a:extLst>
                  <a:ext uri="{FF2B5EF4-FFF2-40B4-BE49-F238E27FC236}">
                    <a16:creationId xmlns:a16="http://schemas.microsoft.com/office/drawing/2014/main" id="{7848D968-D1E4-49E3-AE75-CBAA3189BB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864"/>
                <a:ext cx="662" cy="384"/>
                <a:chOff x="518" y="864"/>
                <a:chExt cx="662" cy="384"/>
              </a:xfrm>
            </p:grpSpPr>
            <p:sp>
              <p:nvSpPr>
                <p:cNvPr id="37001" name="Rectangle 41">
                  <a:extLst>
                    <a:ext uri="{FF2B5EF4-FFF2-40B4-BE49-F238E27FC236}">
                      <a16:creationId xmlns:a16="http://schemas.microsoft.com/office/drawing/2014/main" id="{B133AEBB-7CD3-4E0B-8C2C-D972E2CE4F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864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02" name="Rectangle 42">
                  <a:extLst>
                    <a:ext uri="{FF2B5EF4-FFF2-40B4-BE49-F238E27FC236}">
                      <a16:creationId xmlns:a16="http://schemas.microsoft.com/office/drawing/2014/main" id="{E61F8EC6-491F-428B-85BE-5247CD141E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864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7" name="Group 43">
                <a:extLst>
                  <a:ext uri="{FF2B5EF4-FFF2-40B4-BE49-F238E27FC236}">
                    <a16:creationId xmlns:a16="http://schemas.microsoft.com/office/drawing/2014/main" id="{BA9181D2-9B60-4FF2-86EC-9EC5147EE4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864"/>
                <a:ext cx="446" cy="384"/>
                <a:chOff x="1180" y="864"/>
                <a:chExt cx="446" cy="384"/>
              </a:xfrm>
            </p:grpSpPr>
            <p:sp>
              <p:nvSpPr>
                <p:cNvPr id="36999" name="Rectangle 44">
                  <a:extLst>
                    <a:ext uri="{FF2B5EF4-FFF2-40B4-BE49-F238E27FC236}">
                      <a16:creationId xmlns:a16="http://schemas.microsoft.com/office/drawing/2014/main" id="{F8EE5F3B-CEBC-49A7-9DB2-BA6F8F8D26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864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7000" name="Rectangle 45">
                  <a:extLst>
                    <a:ext uri="{FF2B5EF4-FFF2-40B4-BE49-F238E27FC236}">
                      <a16:creationId xmlns:a16="http://schemas.microsoft.com/office/drawing/2014/main" id="{63D29474-4C09-4E08-A640-4DB953D2D9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864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8" name="Group 46">
                <a:extLst>
                  <a:ext uri="{FF2B5EF4-FFF2-40B4-BE49-F238E27FC236}">
                    <a16:creationId xmlns:a16="http://schemas.microsoft.com/office/drawing/2014/main" id="{953474B8-A8E6-44B2-A4AE-D744EC5CBC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864"/>
                <a:ext cx="878" cy="384"/>
                <a:chOff x="1626" y="864"/>
                <a:chExt cx="878" cy="384"/>
              </a:xfrm>
            </p:grpSpPr>
            <p:sp>
              <p:nvSpPr>
                <p:cNvPr id="36997" name="Rectangle 47">
                  <a:extLst>
                    <a:ext uri="{FF2B5EF4-FFF2-40B4-BE49-F238E27FC236}">
                      <a16:creationId xmlns:a16="http://schemas.microsoft.com/office/drawing/2014/main" id="{919455D3-E730-4E7C-AC83-4A332E674B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864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数学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98" name="Rectangle 48">
                  <a:extLst>
                    <a:ext uri="{FF2B5EF4-FFF2-40B4-BE49-F238E27FC236}">
                      <a16:creationId xmlns:a16="http://schemas.microsoft.com/office/drawing/2014/main" id="{4A50B0F2-C7B8-417D-A642-6C78CAFAED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864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89" name="Group 49">
                <a:extLst>
                  <a:ext uri="{FF2B5EF4-FFF2-40B4-BE49-F238E27FC236}">
                    <a16:creationId xmlns:a16="http://schemas.microsoft.com/office/drawing/2014/main" id="{34ABE706-A96A-4BCB-8959-E16C6A87EC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864"/>
                <a:ext cx="950" cy="384"/>
                <a:chOff x="2504" y="864"/>
                <a:chExt cx="950" cy="384"/>
              </a:xfrm>
            </p:grpSpPr>
            <p:sp>
              <p:nvSpPr>
                <p:cNvPr id="36995" name="Rectangle 50">
                  <a:extLst>
                    <a:ext uri="{FF2B5EF4-FFF2-40B4-BE49-F238E27FC236}">
                      <a16:creationId xmlns:a16="http://schemas.microsoft.com/office/drawing/2014/main" id="{ACC50F19-A34E-406B-BE2C-AEF917708E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864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 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96" name="Rectangle 51">
                  <a:extLst>
                    <a:ext uri="{FF2B5EF4-FFF2-40B4-BE49-F238E27FC236}">
                      <a16:creationId xmlns:a16="http://schemas.microsoft.com/office/drawing/2014/main" id="{4D1303DC-94F4-467D-A0E3-B5E539BA1A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864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0" name="Group 52">
                <a:extLst>
                  <a:ext uri="{FF2B5EF4-FFF2-40B4-BE49-F238E27FC236}">
                    <a16:creationId xmlns:a16="http://schemas.microsoft.com/office/drawing/2014/main" id="{D76B815E-07F2-4AEE-A2E9-F99CC9A8EF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48"/>
                <a:ext cx="518" cy="384"/>
                <a:chOff x="0" y="1248"/>
                <a:chExt cx="518" cy="384"/>
              </a:xfrm>
            </p:grpSpPr>
            <p:sp>
              <p:nvSpPr>
                <p:cNvPr id="36993" name="Rectangle 53">
                  <a:extLst>
                    <a:ext uri="{FF2B5EF4-FFF2-40B4-BE49-F238E27FC236}">
                      <a16:creationId xmlns:a16="http://schemas.microsoft.com/office/drawing/2014/main" id="{9552D3F6-7005-4E19-95E5-A1BB6AC530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248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94" name="Rectangle 54">
                  <a:extLst>
                    <a:ext uri="{FF2B5EF4-FFF2-40B4-BE49-F238E27FC236}">
                      <a16:creationId xmlns:a16="http://schemas.microsoft.com/office/drawing/2014/main" id="{F5121692-DD53-49FC-A344-36F23074E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48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1" name="Group 55">
                <a:extLst>
                  <a:ext uri="{FF2B5EF4-FFF2-40B4-BE49-F238E27FC236}">
                    <a16:creationId xmlns:a16="http://schemas.microsoft.com/office/drawing/2014/main" id="{71FF95A5-253B-41ED-B4CA-85D2EF3C85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1248"/>
                <a:ext cx="662" cy="384"/>
                <a:chOff x="518" y="1248"/>
                <a:chExt cx="662" cy="384"/>
              </a:xfrm>
            </p:grpSpPr>
            <p:sp>
              <p:nvSpPr>
                <p:cNvPr id="36991" name="Rectangle 56">
                  <a:extLst>
                    <a:ext uri="{FF2B5EF4-FFF2-40B4-BE49-F238E27FC236}">
                      <a16:creationId xmlns:a16="http://schemas.microsoft.com/office/drawing/2014/main" id="{E062BF08-4FA2-41FB-B937-1B85199FB2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1248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最优化方法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92" name="Rectangle 57">
                  <a:extLst>
                    <a:ext uri="{FF2B5EF4-FFF2-40B4-BE49-F238E27FC236}">
                      <a16:creationId xmlns:a16="http://schemas.microsoft.com/office/drawing/2014/main" id="{1AEE3922-B99D-47A5-8568-7262D0B297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1248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2" name="Group 58">
                <a:extLst>
                  <a:ext uri="{FF2B5EF4-FFF2-40B4-BE49-F238E27FC236}">
                    <a16:creationId xmlns:a16="http://schemas.microsoft.com/office/drawing/2014/main" id="{C27B4BE5-998B-4421-91EC-D15C5E5C48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1248"/>
                <a:ext cx="446" cy="384"/>
                <a:chOff x="1180" y="1248"/>
                <a:chExt cx="446" cy="384"/>
              </a:xfrm>
            </p:grpSpPr>
            <p:sp>
              <p:nvSpPr>
                <p:cNvPr id="36989" name="Rectangle 59">
                  <a:extLst>
                    <a:ext uri="{FF2B5EF4-FFF2-40B4-BE49-F238E27FC236}">
                      <a16:creationId xmlns:a16="http://schemas.microsoft.com/office/drawing/2014/main" id="{D0F3F885-3B4A-41A3-A768-E330D36C1E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1248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90" name="Rectangle 60">
                  <a:extLst>
                    <a:ext uri="{FF2B5EF4-FFF2-40B4-BE49-F238E27FC236}">
                      <a16:creationId xmlns:a16="http://schemas.microsoft.com/office/drawing/2014/main" id="{9C918727-B98F-44C5-A2F6-D97CD66DE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1248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3" name="Group 61">
                <a:extLst>
                  <a:ext uri="{FF2B5EF4-FFF2-40B4-BE49-F238E27FC236}">
                    <a16:creationId xmlns:a16="http://schemas.microsoft.com/office/drawing/2014/main" id="{4065BF36-AAC8-45DE-9024-FCF67CD818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1248"/>
                <a:ext cx="878" cy="384"/>
                <a:chOff x="1626" y="1248"/>
                <a:chExt cx="878" cy="384"/>
              </a:xfrm>
            </p:grpSpPr>
            <p:sp>
              <p:nvSpPr>
                <p:cNvPr id="36987" name="Rectangle 62">
                  <a:extLst>
                    <a:ext uri="{FF2B5EF4-FFF2-40B4-BE49-F238E27FC236}">
                      <a16:creationId xmlns:a16="http://schemas.microsoft.com/office/drawing/2014/main" id="{19FD404F-2CE9-4296-8E6C-1D32914FA3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1248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数学；运筹学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88" name="Rectangle 63">
                  <a:extLst>
                    <a:ext uri="{FF2B5EF4-FFF2-40B4-BE49-F238E27FC236}">
                      <a16:creationId xmlns:a16="http://schemas.microsoft.com/office/drawing/2014/main" id="{C392DDC5-2781-4950-B2BB-D9C25FAE76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1248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4" name="Group 64">
                <a:extLst>
                  <a:ext uri="{FF2B5EF4-FFF2-40B4-BE49-F238E27FC236}">
                    <a16:creationId xmlns:a16="http://schemas.microsoft.com/office/drawing/2014/main" id="{0A295B55-7706-466A-BB7B-20BD44D658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1248"/>
                <a:ext cx="950" cy="384"/>
                <a:chOff x="2504" y="1248"/>
                <a:chExt cx="950" cy="384"/>
              </a:xfrm>
            </p:grpSpPr>
            <p:sp>
              <p:nvSpPr>
                <p:cNvPr id="36985" name="Rectangle 65">
                  <a:extLst>
                    <a:ext uri="{FF2B5EF4-FFF2-40B4-BE49-F238E27FC236}">
                      <a16:creationId xmlns:a16="http://schemas.microsoft.com/office/drawing/2014/main" id="{A2190DA0-217D-4010-A78E-0A5FD9C14F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1248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微积分；线性代数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86" name="Rectangle 66">
                  <a:extLst>
                    <a:ext uri="{FF2B5EF4-FFF2-40B4-BE49-F238E27FC236}">
                      <a16:creationId xmlns:a16="http://schemas.microsoft.com/office/drawing/2014/main" id="{13E33CC5-7472-4931-9B93-E2B89FEF84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1248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5" name="Group 67">
                <a:extLst>
                  <a:ext uri="{FF2B5EF4-FFF2-40B4-BE49-F238E27FC236}">
                    <a16:creationId xmlns:a16="http://schemas.microsoft.com/office/drawing/2014/main" id="{5F973330-6F2C-4AB2-A2EB-285610C966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632"/>
                <a:ext cx="518" cy="384"/>
                <a:chOff x="0" y="1632"/>
                <a:chExt cx="518" cy="384"/>
              </a:xfrm>
            </p:grpSpPr>
            <p:sp>
              <p:nvSpPr>
                <p:cNvPr id="36983" name="Rectangle 68">
                  <a:extLst>
                    <a:ext uri="{FF2B5EF4-FFF2-40B4-BE49-F238E27FC236}">
                      <a16:creationId xmlns:a16="http://schemas.microsoft.com/office/drawing/2014/main" id="{94DF3B4C-7441-4EE0-9B04-35FEB259AA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632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84" name="Rectangle 69">
                  <a:extLst>
                    <a:ext uri="{FF2B5EF4-FFF2-40B4-BE49-F238E27FC236}">
                      <a16:creationId xmlns:a16="http://schemas.microsoft.com/office/drawing/2014/main" id="{5EEBB614-C02D-4EF3-BF5D-1745F92A98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32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6" name="Group 70">
                <a:extLst>
                  <a:ext uri="{FF2B5EF4-FFF2-40B4-BE49-F238E27FC236}">
                    <a16:creationId xmlns:a16="http://schemas.microsoft.com/office/drawing/2014/main" id="{7D05F179-C66A-4028-8441-D51327E69B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1632"/>
                <a:ext cx="662" cy="384"/>
                <a:chOff x="518" y="1632"/>
                <a:chExt cx="662" cy="384"/>
              </a:xfrm>
            </p:grpSpPr>
            <p:sp>
              <p:nvSpPr>
                <p:cNvPr id="36981" name="Rectangle 71">
                  <a:extLst>
                    <a:ext uri="{FF2B5EF4-FFF2-40B4-BE49-F238E27FC236}">
                      <a16:creationId xmlns:a16="http://schemas.microsoft.com/office/drawing/2014/main" id="{67C4A7D2-F491-4C67-A943-413A495668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1632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数据结构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82" name="Rectangle 72">
                  <a:extLst>
                    <a:ext uri="{FF2B5EF4-FFF2-40B4-BE49-F238E27FC236}">
                      <a16:creationId xmlns:a16="http://schemas.microsoft.com/office/drawing/2014/main" id="{E0700C28-2139-4D95-8118-9EF5EE7387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1632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7" name="Group 73">
                <a:extLst>
                  <a:ext uri="{FF2B5EF4-FFF2-40B4-BE49-F238E27FC236}">
                    <a16:creationId xmlns:a16="http://schemas.microsoft.com/office/drawing/2014/main" id="{35BDDD53-DC32-42BC-BC06-00B70A07F3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1632"/>
                <a:ext cx="446" cy="384"/>
                <a:chOff x="1180" y="1632"/>
                <a:chExt cx="446" cy="384"/>
              </a:xfrm>
            </p:grpSpPr>
            <p:sp>
              <p:nvSpPr>
                <p:cNvPr id="36979" name="Rectangle 74">
                  <a:extLst>
                    <a:ext uri="{FF2B5EF4-FFF2-40B4-BE49-F238E27FC236}">
                      <a16:creationId xmlns:a16="http://schemas.microsoft.com/office/drawing/2014/main" id="{FD3E3AF4-0D1E-4EBC-A744-22911B5A94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1632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80" name="Rectangle 75">
                  <a:extLst>
                    <a:ext uri="{FF2B5EF4-FFF2-40B4-BE49-F238E27FC236}">
                      <a16:creationId xmlns:a16="http://schemas.microsoft.com/office/drawing/2014/main" id="{CDD8BE80-140C-4729-A171-365E56E58E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1632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8" name="Group 76">
                <a:extLst>
                  <a:ext uri="{FF2B5EF4-FFF2-40B4-BE49-F238E27FC236}">
                    <a16:creationId xmlns:a16="http://schemas.microsoft.com/office/drawing/2014/main" id="{E96087CD-639F-4E38-AC2B-119815A7B3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1632"/>
                <a:ext cx="878" cy="384"/>
                <a:chOff x="1626" y="1632"/>
                <a:chExt cx="878" cy="384"/>
              </a:xfrm>
            </p:grpSpPr>
            <p:sp>
              <p:nvSpPr>
                <p:cNvPr id="36977" name="Rectangle 77">
                  <a:extLst>
                    <a:ext uri="{FF2B5EF4-FFF2-40B4-BE49-F238E27FC236}">
                      <a16:creationId xmlns:a16="http://schemas.microsoft.com/office/drawing/2014/main" id="{02FB4D14-BA65-44F9-A96B-B1B8DE63CA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1632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数学；计算机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78" name="Rectangle 78">
                  <a:extLst>
                    <a:ext uri="{FF2B5EF4-FFF2-40B4-BE49-F238E27FC236}">
                      <a16:creationId xmlns:a16="http://schemas.microsoft.com/office/drawing/2014/main" id="{570A46A0-6B3F-4D95-A104-9CC85B16CF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1632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899" name="Group 79">
                <a:extLst>
                  <a:ext uri="{FF2B5EF4-FFF2-40B4-BE49-F238E27FC236}">
                    <a16:creationId xmlns:a16="http://schemas.microsoft.com/office/drawing/2014/main" id="{314E4256-936E-495A-A650-343F000414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1632"/>
                <a:ext cx="950" cy="384"/>
                <a:chOff x="2504" y="1632"/>
                <a:chExt cx="950" cy="384"/>
              </a:xfrm>
            </p:grpSpPr>
            <p:sp>
              <p:nvSpPr>
                <p:cNvPr id="36975" name="Rectangle 80">
                  <a:extLst>
                    <a:ext uri="{FF2B5EF4-FFF2-40B4-BE49-F238E27FC236}">
                      <a16:creationId xmlns:a16="http://schemas.microsoft.com/office/drawing/2014/main" id="{2FC92E04-2863-4FC5-A0BC-42810B2938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1632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计算机编程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76" name="Rectangle 81">
                  <a:extLst>
                    <a:ext uri="{FF2B5EF4-FFF2-40B4-BE49-F238E27FC236}">
                      <a16:creationId xmlns:a16="http://schemas.microsoft.com/office/drawing/2014/main" id="{B4983422-DDCF-4A8E-91EB-9D9B741B8E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1632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0" name="Group 82">
                <a:extLst>
                  <a:ext uri="{FF2B5EF4-FFF2-40B4-BE49-F238E27FC236}">
                    <a16:creationId xmlns:a16="http://schemas.microsoft.com/office/drawing/2014/main" id="{DE7C5563-7AFE-43BB-97B4-C4BE471612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016"/>
                <a:ext cx="518" cy="384"/>
                <a:chOff x="0" y="2016"/>
                <a:chExt cx="518" cy="384"/>
              </a:xfrm>
            </p:grpSpPr>
            <p:sp>
              <p:nvSpPr>
                <p:cNvPr id="36973" name="Rectangle 83">
                  <a:extLst>
                    <a:ext uri="{FF2B5EF4-FFF2-40B4-BE49-F238E27FC236}">
                      <a16:creationId xmlns:a16="http://schemas.microsoft.com/office/drawing/2014/main" id="{870D95B9-4B4F-406F-8761-37F7766D7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016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5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74" name="Rectangle 84">
                  <a:extLst>
                    <a:ext uri="{FF2B5EF4-FFF2-40B4-BE49-F238E27FC236}">
                      <a16:creationId xmlns:a16="http://schemas.microsoft.com/office/drawing/2014/main" id="{F43E1E86-28AA-46C9-9006-2428025F6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016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1" name="Group 85">
                <a:extLst>
                  <a:ext uri="{FF2B5EF4-FFF2-40B4-BE49-F238E27FC236}">
                    <a16:creationId xmlns:a16="http://schemas.microsoft.com/office/drawing/2014/main" id="{C7FF9FF5-4DF5-439E-9C45-36D1A980AF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2016"/>
                <a:ext cx="662" cy="384"/>
                <a:chOff x="518" y="2016"/>
                <a:chExt cx="662" cy="384"/>
              </a:xfrm>
            </p:grpSpPr>
            <p:sp>
              <p:nvSpPr>
                <p:cNvPr id="36971" name="Rectangle 86">
                  <a:extLst>
                    <a:ext uri="{FF2B5EF4-FFF2-40B4-BE49-F238E27FC236}">
                      <a16:creationId xmlns:a16="http://schemas.microsoft.com/office/drawing/2014/main" id="{639F2BB0-A1C9-4BE9-9856-F6E348EC81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016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应用统计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72" name="Rectangle 87">
                  <a:extLst>
                    <a:ext uri="{FF2B5EF4-FFF2-40B4-BE49-F238E27FC236}">
                      <a16:creationId xmlns:a16="http://schemas.microsoft.com/office/drawing/2014/main" id="{42DAE8C3-D2A6-4ACB-81B1-4FA6AACA2E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016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2" name="Group 88">
                <a:extLst>
                  <a:ext uri="{FF2B5EF4-FFF2-40B4-BE49-F238E27FC236}">
                    <a16:creationId xmlns:a16="http://schemas.microsoft.com/office/drawing/2014/main" id="{FE5E788D-C021-483D-AFE3-BFDF2BCF72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2016"/>
                <a:ext cx="446" cy="384"/>
                <a:chOff x="1180" y="2016"/>
                <a:chExt cx="446" cy="384"/>
              </a:xfrm>
            </p:grpSpPr>
            <p:sp>
              <p:nvSpPr>
                <p:cNvPr id="36969" name="Rectangle 89">
                  <a:extLst>
                    <a:ext uri="{FF2B5EF4-FFF2-40B4-BE49-F238E27FC236}">
                      <a16:creationId xmlns:a16="http://schemas.microsoft.com/office/drawing/2014/main" id="{BC046DDD-D037-4B44-A032-393683773A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2016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70" name="Rectangle 90">
                  <a:extLst>
                    <a:ext uri="{FF2B5EF4-FFF2-40B4-BE49-F238E27FC236}">
                      <a16:creationId xmlns:a16="http://schemas.microsoft.com/office/drawing/2014/main" id="{FC039966-9508-4C65-B063-65FC1FE565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2016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3" name="Group 91">
                <a:extLst>
                  <a:ext uri="{FF2B5EF4-FFF2-40B4-BE49-F238E27FC236}">
                    <a16:creationId xmlns:a16="http://schemas.microsoft.com/office/drawing/2014/main" id="{2696B67F-944E-437A-BE8D-0DF01A389D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2016"/>
                <a:ext cx="878" cy="384"/>
                <a:chOff x="1626" y="2016"/>
                <a:chExt cx="878" cy="384"/>
              </a:xfrm>
            </p:grpSpPr>
            <p:sp>
              <p:nvSpPr>
                <p:cNvPr id="36967" name="Rectangle 92">
                  <a:extLst>
                    <a:ext uri="{FF2B5EF4-FFF2-40B4-BE49-F238E27FC236}">
                      <a16:creationId xmlns:a16="http://schemas.microsoft.com/office/drawing/2014/main" id="{CD42BB4A-7466-4FF9-8250-72F0418475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2016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数学；运筹学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68" name="Rectangle 93">
                  <a:extLst>
                    <a:ext uri="{FF2B5EF4-FFF2-40B4-BE49-F238E27FC236}">
                      <a16:creationId xmlns:a16="http://schemas.microsoft.com/office/drawing/2014/main" id="{3882B1D8-E2D6-436C-A72C-BF7E313A1A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2016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4" name="Group 94">
                <a:extLst>
                  <a:ext uri="{FF2B5EF4-FFF2-40B4-BE49-F238E27FC236}">
                    <a16:creationId xmlns:a16="http://schemas.microsoft.com/office/drawing/2014/main" id="{1F1DC609-8039-4BB1-AB20-457B97C7A9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2016"/>
                <a:ext cx="950" cy="384"/>
                <a:chOff x="2504" y="2016"/>
                <a:chExt cx="950" cy="384"/>
              </a:xfrm>
            </p:grpSpPr>
            <p:sp>
              <p:nvSpPr>
                <p:cNvPr id="36965" name="Rectangle 95">
                  <a:extLst>
                    <a:ext uri="{FF2B5EF4-FFF2-40B4-BE49-F238E27FC236}">
                      <a16:creationId xmlns:a16="http://schemas.microsoft.com/office/drawing/2014/main" id="{CADE21FB-88DD-4D72-BF59-911B805EA7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2016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微积分；线性代数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66" name="Rectangle 96">
                  <a:extLst>
                    <a:ext uri="{FF2B5EF4-FFF2-40B4-BE49-F238E27FC236}">
                      <a16:creationId xmlns:a16="http://schemas.microsoft.com/office/drawing/2014/main" id="{8EF2A243-91A7-4217-873C-795341140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2016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5" name="Group 97">
                <a:extLst>
                  <a:ext uri="{FF2B5EF4-FFF2-40B4-BE49-F238E27FC236}">
                    <a16:creationId xmlns:a16="http://schemas.microsoft.com/office/drawing/2014/main" id="{04DAB6C1-F37D-4D97-AB16-EB31E3BC21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00"/>
                <a:ext cx="518" cy="384"/>
                <a:chOff x="0" y="2400"/>
                <a:chExt cx="518" cy="384"/>
              </a:xfrm>
            </p:grpSpPr>
            <p:sp>
              <p:nvSpPr>
                <p:cNvPr id="36963" name="Rectangle 98">
                  <a:extLst>
                    <a:ext uri="{FF2B5EF4-FFF2-40B4-BE49-F238E27FC236}">
                      <a16:creationId xmlns:a16="http://schemas.microsoft.com/office/drawing/2014/main" id="{C651FA81-0722-4154-9E33-F736326E58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400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6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64" name="Rectangle 99">
                  <a:extLst>
                    <a:ext uri="{FF2B5EF4-FFF2-40B4-BE49-F238E27FC236}">
                      <a16:creationId xmlns:a16="http://schemas.microsoft.com/office/drawing/2014/main" id="{5026B222-3CC3-4D67-8804-759012063A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40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6" name="Group 100">
                <a:extLst>
                  <a:ext uri="{FF2B5EF4-FFF2-40B4-BE49-F238E27FC236}">
                    <a16:creationId xmlns:a16="http://schemas.microsoft.com/office/drawing/2014/main" id="{CAAB6ED8-58D1-47DC-B1D4-C4001CD9B4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2400"/>
                <a:ext cx="662" cy="384"/>
                <a:chOff x="518" y="2400"/>
                <a:chExt cx="662" cy="384"/>
              </a:xfrm>
            </p:grpSpPr>
            <p:sp>
              <p:nvSpPr>
                <p:cNvPr id="36961" name="Rectangle 101">
                  <a:extLst>
                    <a:ext uri="{FF2B5EF4-FFF2-40B4-BE49-F238E27FC236}">
                      <a16:creationId xmlns:a16="http://schemas.microsoft.com/office/drawing/2014/main" id="{156051DA-3994-4A63-B331-506DA4AC1D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400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计算机模拟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62" name="Rectangle 102">
                  <a:extLst>
                    <a:ext uri="{FF2B5EF4-FFF2-40B4-BE49-F238E27FC236}">
                      <a16:creationId xmlns:a16="http://schemas.microsoft.com/office/drawing/2014/main" id="{489BFAB5-187E-4BCE-A85E-60DA5FCA12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400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7" name="Group 103">
                <a:extLst>
                  <a:ext uri="{FF2B5EF4-FFF2-40B4-BE49-F238E27FC236}">
                    <a16:creationId xmlns:a16="http://schemas.microsoft.com/office/drawing/2014/main" id="{8F76C34D-DAAA-45E2-8946-D1CB24C640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2400"/>
                <a:ext cx="446" cy="384"/>
                <a:chOff x="1180" y="2400"/>
                <a:chExt cx="446" cy="384"/>
              </a:xfrm>
            </p:grpSpPr>
            <p:sp>
              <p:nvSpPr>
                <p:cNvPr id="36959" name="Rectangle 104">
                  <a:extLst>
                    <a:ext uri="{FF2B5EF4-FFF2-40B4-BE49-F238E27FC236}">
                      <a16:creationId xmlns:a16="http://schemas.microsoft.com/office/drawing/2014/main" id="{468E10CE-B071-4794-9EEC-029958E8AF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2400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60" name="Rectangle 105">
                  <a:extLst>
                    <a:ext uri="{FF2B5EF4-FFF2-40B4-BE49-F238E27FC236}">
                      <a16:creationId xmlns:a16="http://schemas.microsoft.com/office/drawing/2014/main" id="{6C74F820-16B0-4F0B-8C1A-6C04E6B517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2400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8" name="Group 106">
                <a:extLst>
                  <a:ext uri="{FF2B5EF4-FFF2-40B4-BE49-F238E27FC236}">
                    <a16:creationId xmlns:a16="http://schemas.microsoft.com/office/drawing/2014/main" id="{399BEC88-4C5E-43C8-B47C-1872C78EE9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2400"/>
                <a:ext cx="878" cy="384"/>
                <a:chOff x="1626" y="2400"/>
                <a:chExt cx="878" cy="384"/>
              </a:xfrm>
            </p:grpSpPr>
            <p:sp>
              <p:nvSpPr>
                <p:cNvPr id="36957" name="Rectangle 107">
                  <a:extLst>
                    <a:ext uri="{FF2B5EF4-FFF2-40B4-BE49-F238E27FC236}">
                      <a16:creationId xmlns:a16="http://schemas.microsoft.com/office/drawing/2014/main" id="{62E580AC-B887-4B9E-9EC4-AF2870AED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2400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计算机；运筹学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58" name="Rectangle 108">
                  <a:extLst>
                    <a:ext uri="{FF2B5EF4-FFF2-40B4-BE49-F238E27FC236}">
                      <a16:creationId xmlns:a16="http://schemas.microsoft.com/office/drawing/2014/main" id="{84E48D7A-390D-4C4F-B940-A2205F6CFC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2400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09" name="Group 109">
                <a:extLst>
                  <a:ext uri="{FF2B5EF4-FFF2-40B4-BE49-F238E27FC236}">
                    <a16:creationId xmlns:a16="http://schemas.microsoft.com/office/drawing/2014/main" id="{6E42DF5B-0BB4-46ED-8715-08EAD2DEDD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2400"/>
                <a:ext cx="950" cy="384"/>
                <a:chOff x="2504" y="2400"/>
                <a:chExt cx="950" cy="384"/>
              </a:xfrm>
            </p:grpSpPr>
            <p:sp>
              <p:nvSpPr>
                <p:cNvPr id="36955" name="Rectangle 110">
                  <a:extLst>
                    <a:ext uri="{FF2B5EF4-FFF2-40B4-BE49-F238E27FC236}">
                      <a16:creationId xmlns:a16="http://schemas.microsoft.com/office/drawing/2014/main" id="{6338DB39-46FB-42CD-85C8-DD0FD3DBEE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2400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计算机编程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56" name="Rectangle 111">
                  <a:extLst>
                    <a:ext uri="{FF2B5EF4-FFF2-40B4-BE49-F238E27FC236}">
                      <a16:creationId xmlns:a16="http://schemas.microsoft.com/office/drawing/2014/main" id="{93E97F0D-4B7C-4890-AB32-3C65636CF0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2400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0" name="Group 112">
                <a:extLst>
                  <a:ext uri="{FF2B5EF4-FFF2-40B4-BE49-F238E27FC236}">
                    <a16:creationId xmlns:a16="http://schemas.microsoft.com/office/drawing/2014/main" id="{1D98399D-B532-4AC5-B908-288B05AF8A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784"/>
                <a:ext cx="518" cy="384"/>
                <a:chOff x="0" y="2784"/>
                <a:chExt cx="518" cy="384"/>
              </a:xfrm>
            </p:grpSpPr>
            <p:sp>
              <p:nvSpPr>
                <p:cNvPr id="36953" name="Rectangle 113">
                  <a:extLst>
                    <a:ext uri="{FF2B5EF4-FFF2-40B4-BE49-F238E27FC236}">
                      <a16:creationId xmlns:a16="http://schemas.microsoft.com/office/drawing/2014/main" id="{EB633F90-35A9-4D75-B1D3-9679C3ABFA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784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7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54" name="Rectangle 114">
                  <a:extLst>
                    <a:ext uri="{FF2B5EF4-FFF2-40B4-BE49-F238E27FC236}">
                      <a16:creationId xmlns:a16="http://schemas.microsoft.com/office/drawing/2014/main" id="{EDDDE518-A631-4C11-85C3-7305DD052A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78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1" name="Group 115">
                <a:extLst>
                  <a:ext uri="{FF2B5EF4-FFF2-40B4-BE49-F238E27FC236}">
                    <a16:creationId xmlns:a16="http://schemas.microsoft.com/office/drawing/2014/main" id="{2E1922A6-0BA4-43E6-902F-3DAB9E17A1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2784"/>
                <a:ext cx="662" cy="384"/>
                <a:chOff x="518" y="2784"/>
                <a:chExt cx="662" cy="384"/>
              </a:xfrm>
            </p:grpSpPr>
            <p:sp>
              <p:nvSpPr>
                <p:cNvPr id="36951" name="Rectangle 116">
                  <a:extLst>
                    <a:ext uri="{FF2B5EF4-FFF2-40B4-BE49-F238E27FC236}">
                      <a16:creationId xmlns:a16="http://schemas.microsoft.com/office/drawing/2014/main" id="{4A48DCF1-D541-4CBB-A66F-00B352591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784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计算机编程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52" name="Rectangle 117">
                  <a:extLst>
                    <a:ext uri="{FF2B5EF4-FFF2-40B4-BE49-F238E27FC236}">
                      <a16:creationId xmlns:a16="http://schemas.microsoft.com/office/drawing/2014/main" id="{AE128219-DC47-4E17-A805-C13B5C41CB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784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2" name="Group 118">
                <a:extLst>
                  <a:ext uri="{FF2B5EF4-FFF2-40B4-BE49-F238E27FC236}">
                    <a16:creationId xmlns:a16="http://schemas.microsoft.com/office/drawing/2014/main" id="{87DF1033-3651-4C1B-BB1C-07B325A6A3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2784"/>
                <a:ext cx="446" cy="384"/>
                <a:chOff x="1180" y="2784"/>
                <a:chExt cx="446" cy="384"/>
              </a:xfrm>
            </p:grpSpPr>
            <p:sp>
              <p:nvSpPr>
                <p:cNvPr id="36949" name="Rectangle 119">
                  <a:extLst>
                    <a:ext uri="{FF2B5EF4-FFF2-40B4-BE49-F238E27FC236}">
                      <a16:creationId xmlns:a16="http://schemas.microsoft.com/office/drawing/2014/main" id="{225C01E7-DCE0-4A6E-95C0-74CC6DA852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2784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2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50" name="Rectangle 120">
                  <a:extLst>
                    <a:ext uri="{FF2B5EF4-FFF2-40B4-BE49-F238E27FC236}">
                      <a16:creationId xmlns:a16="http://schemas.microsoft.com/office/drawing/2014/main" id="{BAE9B48A-F1CA-4FF6-B260-6B939DDCA2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2784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3" name="Group 121">
                <a:extLst>
                  <a:ext uri="{FF2B5EF4-FFF2-40B4-BE49-F238E27FC236}">
                    <a16:creationId xmlns:a16="http://schemas.microsoft.com/office/drawing/2014/main" id="{799E5F3D-5548-478E-9DF3-50EF127C7A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2784"/>
                <a:ext cx="878" cy="384"/>
                <a:chOff x="1626" y="2784"/>
                <a:chExt cx="878" cy="384"/>
              </a:xfrm>
            </p:grpSpPr>
            <p:sp>
              <p:nvSpPr>
                <p:cNvPr id="36947" name="Rectangle 122">
                  <a:extLst>
                    <a:ext uri="{FF2B5EF4-FFF2-40B4-BE49-F238E27FC236}">
                      <a16:creationId xmlns:a16="http://schemas.microsoft.com/office/drawing/2014/main" id="{88346448-A8DF-4325-8383-EB9E45D2B5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2784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48" name="Rectangle 123">
                  <a:extLst>
                    <a:ext uri="{FF2B5EF4-FFF2-40B4-BE49-F238E27FC236}">
                      <a16:creationId xmlns:a16="http://schemas.microsoft.com/office/drawing/2014/main" id="{6A9BB794-F035-4115-B14B-10EAA5D08A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2784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4" name="Group 124">
                <a:extLst>
                  <a:ext uri="{FF2B5EF4-FFF2-40B4-BE49-F238E27FC236}">
                    <a16:creationId xmlns:a16="http://schemas.microsoft.com/office/drawing/2014/main" id="{A9D9A604-5643-4679-88B9-44023B32F0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2784"/>
                <a:ext cx="950" cy="384"/>
                <a:chOff x="2504" y="2784"/>
                <a:chExt cx="950" cy="384"/>
              </a:xfrm>
            </p:grpSpPr>
            <p:sp>
              <p:nvSpPr>
                <p:cNvPr id="36945" name="Rectangle 125">
                  <a:extLst>
                    <a:ext uri="{FF2B5EF4-FFF2-40B4-BE49-F238E27FC236}">
                      <a16:creationId xmlns:a16="http://schemas.microsoft.com/office/drawing/2014/main" id="{DB8B6001-9327-483D-A6C2-1D9B07D44F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2784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 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46" name="Rectangle 126">
                  <a:extLst>
                    <a:ext uri="{FF2B5EF4-FFF2-40B4-BE49-F238E27FC236}">
                      <a16:creationId xmlns:a16="http://schemas.microsoft.com/office/drawing/2014/main" id="{874CAEA4-1534-4E42-B941-8FF962BAC0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2784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5" name="Group 127">
                <a:extLst>
                  <a:ext uri="{FF2B5EF4-FFF2-40B4-BE49-F238E27FC236}">
                    <a16:creationId xmlns:a16="http://schemas.microsoft.com/office/drawing/2014/main" id="{97185046-CB13-42AA-AF22-0441D81025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168"/>
                <a:ext cx="518" cy="384"/>
                <a:chOff x="0" y="3168"/>
                <a:chExt cx="518" cy="384"/>
              </a:xfrm>
            </p:grpSpPr>
            <p:sp>
              <p:nvSpPr>
                <p:cNvPr id="36943" name="Rectangle 128">
                  <a:extLst>
                    <a:ext uri="{FF2B5EF4-FFF2-40B4-BE49-F238E27FC236}">
                      <a16:creationId xmlns:a16="http://schemas.microsoft.com/office/drawing/2014/main" id="{801A9054-62B4-4DFC-B9CB-F11B21ADAC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168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8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44" name="Rectangle 129">
                  <a:extLst>
                    <a:ext uri="{FF2B5EF4-FFF2-40B4-BE49-F238E27FC236}">
                      <a16:creationId xmlns:a16="http://schemas.microsoft.com/office/drawing/2014/main" id="{3365D757-123F-421B-B698-08931D2415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68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6" name="Group 130">
                <a:extLst>
                  <a:ext uri="{FF2B5EF4-FFF2-40B4-BE49-F238E27FC236}">
                    <a16:creationId xmlns:a16="http://schemas.microsoft.com/office/drawing/2014/main" id="{E4FB13C9-1A7D-497B-A66B-47F97B023C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3168"/>
                <a:ext cx="662" cy="384"/>
                <a:chOff x="518" y="3168"/>
                <a:chExt cx="662" cy="384"/>
              </a:xfrm>
            </p:grpSpPr>
            <p:sp>
              <p:nvSpPr>
                <p:cNvPr id="36941" name="Rectangle 131">
                  <a:extLst>
                    <a:ext uri="{FF2B5EF4-FFF2-40B4-BE49-F238E27FC236}">
                      <a16:creationId xmlns:a16="http://schemas.microsoft.com/office/drawing/2014/main" id="{B91BFD2F-773F-45F2-9AEB-2F0BC67134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3168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预测理论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42" name="Rectangle 132">
                  <a:extLst>
                    <a:ext uri="{FF2B5EF4-FFF2-40B4-BE49-F238E27FC236}">
                      <a16:creationId xmlns:a16="http://schemas.microsoft.com/office/drawing/2014/main" id="{A0E1B608-DE7C-420B-96D6-08857D9489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3168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7" name="Group 133">
                <a:extLst>
                  <a:ext uri="{FF2B5EF4-FFF2-40B4-BE49-F238E27FC236}">
                    <a16:creationId xmlns:a16="http://schemas.microsoft.com/office/drawing/2014/main" id="{E099C636-B6EC-4DBA-9E31-AB3C080209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3168"/>
                <a:ext cx="446" cy="384"/>
                <a:chOff x="1180" y="3168"/>
                <a:chExt cx="446" cy="384"/>
              </a:xfrm>
            </p:grpSpPr>
            <p:sp>
              <p:nvSpPr>
                <p:cNvPr id="36939" name="Rectangle 134">
                  <a:extLst>
                    <a:ext uri="{FF2B5EF4-FFF2-40B4-BE49-F238E27FC236}">
                      <a16:creationId xmlns:a16="http://schemas.microsoft.com/office/drawing/2014/main" id="{2EA34506-F3E4-401B-9F3E-5365DE7609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3168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2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40" name="Rectangle 135">
                  <a:extLst>
                    <a:ext uri="{FF2B5EF4-FFF2-40B4-BE49-F238E27FC236}">
                      <a16:creationId xmlns:a16="http://schemas.microsoft.com/office/drawing/2014/main" id="{5AE9C107-73FC-4FD3-8C56-8D37C7DA88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3168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8" name="Group 136">
                <a:extLst>
                  <a:ext uri="{FF2B5EF4-FFF2-40B4-BE49-F238E27FC236}">
                    <a16:creationId xmlns:a16="http://schemas.microsoft.com/office/drawing/2014/main" id="{0E3FAE85-BF58-46D5-84A7-DD44595916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3168"/>
                <a:ext cx="878" cy="384"/>
                <a:chOff x="1626" y="3168"/>
                <a:chExt cx="878" cy="384"/>
              </a:xfrm>
            </p:grpSpPr>
            <p:sp>
              <p:nvSpPr>
                <p:cNvPr id="36937" name="Rectangle 137">
                  <a:extLst>
                    <a:ext uri="{FF2B5EF4-FFF2-40B4-BE49-F238E27FC236}">
                      <a16:creationId xmlns:a16="http://schemas.microsoft.com/office/drawing/2014/main" id="{1D1960E7-3684-4369-B247-A74B8F753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3168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运筹学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38" name="Rectangle 138">
                  <a:extLst>
                    <a:ext uri="{FF2B5EF4-FFF2-40B4-BE49-F238E27FC236}">
                      <a16:creationId xmlns:a16="http://schemas.microsoft.com/office/drawing/2014/main" id="{532A1571-54A0-42D0-B110-587E61CA23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3168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19" name="Group 139">
                <a:extLst>
                  <a:ext uri="{FF2B5EF4-FFF2-40B4-BE49-F238E27FC236}">
                    <a16:creationId xmlns:a16="http://schemas.microsoft.com/office/drawing/2014/main" id="{8D2E44BE-A0D9-4996-B0F7-1D1EC9CF5B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3168"/>
                <a:ext cx="950" cy="384"/>
                <a:chOff x="2504" y="3168"/>
                <a:chExt cx="950" cy="384"/>
              </a:xfrm>
            </p:grpSpPr>
            <p:sp>
              <p:nvSpPr>
                <p:cNvPr id="36935" name="Rectangle 140">
                  <a:extLst>
                    <a:ext uri="{FF2B5EF4-FFF2-40B4-BE49-F238E27FC236}">
                      <a16:creationId xmlns:a16="http://schemas.microsoft.com/office/drawing/2014/main" id="{7CD85E57-A4D2-49A5-A07E-2042289315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3168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应用统计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36" name="Rectangle 141">
                  <a:extLst>
                    <a:ext uri="{FF2B5EF4-FFF2-40B4-BE49-F238E27FC236}">
                      <a16:creationId xmlns:a16="http://schemas.microsoft.com/office/drawing/2014/main" id="{B429B1B6-4A7F-47B4-BFDB-E6936556CF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3168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20" name="Group 142">
                <a:extLst>
                  <a:ext uri="{FF2B5EF4-FFF2-40B4-BE49-F238E27FC236}">
                    <a16:creationId xmlns:a16="http://schemas.microsoft.com/office/drawing/2014/main" id="{44EE83AF-2806-4D9B-91D1-F07ECFF60A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552"/>
                <a:ext cx="518" cy="384"/>
                <a:chOff x="0" y="3552"/>
                <a:chExt cx="518" cy="384"/>
              </a:xfrm>
            </p:grpSpPr>
            <p:sp>
              <p:nvSpPr>
                <p:cNvPr id="36933" name="Rectangle 143">
                  <a:extLst>
                    <a:ext uri="{FF2B5EF4-FFF2-40B4-BE49-F238E27FC236}">
                      <a16:creationId xmlns:a16="http://schemas.microsoft.com/office/drawing/2014/main" id="{B509B293-4AE1-4A7F-A747-EB32243A9C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552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9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34" name="Rectangle 144">
                  <a:extLst>
                    <a:ext uri="{FF2B5EF4-FFF2-40B4-BE49-F238E27FC236}">
                      <a16:creationId xmlns:a16="http://schemas.microsoft.com/office/drawing/2014/main" id="{8D1EDE8F-03C5-4609-BDBE-8C4A999113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552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21" name="Group 145">
                <a:extLst>
                  <a:ext uri="{FF2B5EF4-FFF2-40B4-BE49-F238E27FC236}">
                    <a16:creationId xmlns:a16="http://schemas.microsoft.com/office/drawing/2014/main" id="{7F432C23-A3A3-42F2-B775-13C8185D14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" y="3552"/>
                <a:ext cx="662" cy="384"/>
                <a:chOff x="518" y="3552"/>
                <a:chExt cx="662" cy="384"/>
              </a:xfrm>
            </p:grpSpPr>
            <p:sp>
              <p:nvSpPr>
                <p:cNvPr id="36931" name="Rectangle 146">
                  <a:extLst>
                    <a:ext uri="{FF2B5EF4-FFF2-40B4-BE49-F238E27FC236}">
                      <a16:creationId xmlns:a16="http://schemas.microsoft.com/office/drawing/2014/main" id="{9F6D2D51-3784-4F00-8B32-81FA4FF4CD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3552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数学实验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32" name="Rectangle 147">
                  <a:extLst>
                    <a:ext uri="{FF2B5EF4-FFF2-40B4-BE49-F238E27FC236}">
                      <a16:creationId xmlns:a16="http://schemas.microsoft.com/office/drawing/2014/main" id="{BBB86972-4728-4C59-BACC-57435C824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3552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22" name="Group 148">
                <a:extLst>
                  <a:ext uri="{FF2B5EF4-FFF2-40B4-BE49-F238E27FC236}">
                    <a16:creationId xmlns:a16="http://schemas.microsoft.com/office/drawing/2014/main" id="{A9A92DF2-563B-469B-BBF6-F47659186A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0" y="3552"/>
                <a:ext cx="446" cy="384"/>
                <a:chOff x="1180" y="3552"/>
                <a:chExt cx="446" cy="384"/>
              </a:xfrm>
            </p:grpSpPr>
            <p:sp>
              <p:nvSpPr>
                <p:cNvPr id="36929" name="Rectangle 149">
                  <a:extLst>
                    <a:ext uri="{FF2B5EF4-FFF2-40B4-BE49-F238E27FC236}">
                      <a16:creationId xmlns:a16="http://schemas.microsoft.com/office/drawing/2014/main" id="{FF501D56-DE85-4B8B-B1FB-B2DE8BF3E3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3552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30" name="Rectangle 150">
                  <a:extLst>
                    <a:ext uri="{FF2B5EF4-FFF2-40B4-BE49-F238E27FC236}">
                      <a16:creationId xmlns:a16="http://schemas.microsoft.com/office/drawing/2014/main" id="{CA5B20BC-90E9-40DE-98A4-98E85E90D8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3552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23" name="Group 151">
                <a:extLst>
                  <a:ext uri="{FF2B5EF4-FFF2-40B4-BE49-F238E27FC236}">
                    <a16:creationId xmlns:a16="http://schemas.microsoft.com/office/drawing/2014/main" id="{4BFCDB1C-7D0F-4C20-88A2-D53B269C13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6" y="3552"/>
                <a:ext cx="878" cy="384"/>
                <a:chOff x="1626" y="3552"/>
                <a:chExt cx="878" cy="384"/>
              </a:xfrm>
            </p:grpSpPr>
            <p:sp>
              <p:nvSpPr>
                <p:cNvPr id="36927" name="Rectangle 152">
                  <a:extLst>
                    <a:ext uri="{FF2B5EF4-FFF2-40B4-BE49-F238E27FC236}">
                      <a16:creationId xmlns:a16="http://schemas.microsoft.com/office/drawing/2014/main" id="{2E75AAA3-DAF9-45F3-ACDB-335B418700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9" y="3552"/>
                  <a:ext cx="7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运筹学；计算机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28" name="Rectangle 153">
                  <a:extLst>
                    <a:ext uri="{FF2B5EF4-FFF2-40B4-BE49-F238E27FC236}">
                      <a16:creationId xmlns:a16="http://schemas.microsoft.com/office/drawing/2014/main" id="{FFBD3E09-8F5F-4721-A90B-06AFD9E70E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3552"/>
                  <a:ext cx="8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6924" name="Group 154">
                <a:extLst>
                  <a:ext uri="{FF2B5EF4-FFF2-40B4-BE49-F238E27FC236}">
                    <a16:creationId xmlns:a16="http://schemas.microsoft.com/office/drawing/2014/main" id="{5F0E4726-E002-4E44-9DAC-543C05A54E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4" y="3552"/>
                <a:ext cx="950" cy="384"/>
                <a:chOff x="2504" y="3552"/>
                <a:chExt cx="950" cy="384"/>
              </a:xfrm>
            </p:grpSpPr>
            <p:sp>
              <p:nvSpPr>
                <p:cNvPr id="36925" name="Rectangle 155">
                  <a:extLst>
                    <a:ext uri="{FF2B5EF4-FFF2-40B4-BE49-F238E27FC236}">
                      <a16:creationId xmlns:a16="http://schemas.microsoft.com/office/drawing/2014/main" id="{1A47F882-FC5B-4A23-946D-7A6012B8D4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3552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微积分；线性代数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6926" name="Rectangle 156">
                  <a:extLst>
                    <a:ext uri="{FF2B5EF4-FFF2-40B4-BE49-F238E27FC236}">
                      <a16:creationId xmlns:a16="http://schemas.microsoft.com/office/drawing/2014/main" id="{3CADDA91-FE07-4528-BD08-CA7F9CE118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3552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36874" name="Rectangle 157">
              <a:extLst>
                <a:ext uri="{FF2B5EF4-FFF2-40B4-BE49-F238E27FC236}">
                  <a16:creationId xmlns:a16="http://schemas.microsoft.com/office/drawing/2014/main" id="{6BAB3D98-2C94-4E6E-82DF-8F73DD146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460" cy="3942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0726" name="Text Box 158">
            <a:extLst>
              <a:ext uri="{FF2B5EF4-FFF2-40B4-BE49-F238E27FC236}">
                <a16:creationId xmlns:a16="http://schemas.microsoft.com/office/drawing/2014/main" id="{CE747D9F-2A7D-4AE9-8AC9-500C5634D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970588"/>
            <a:ext cx="8534400" cy="592137"/>
          </a:xfrm>
          <a:prstGeom prst="rect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选修课程最少，且学分尽量多，应学习哪些课程 ？</a:t>
            </a:r>
            <a:r>
              <a:rPr lang="zh-CN" altLang="en-US" sz="2800" b="1">
                <a:solidFill>
                  <a:srgbClr val="FF0000"/>
                </a:solidFill>
              </a:rPr>
              <a:t>  </a:t>
            </a:r>
          </a:p>
        </p:txBody>
      </p:sp>
      <p:graphicFrame>
        <p:nvGraphicFramePr>
          <p:cNvPr id="36871" name="Object 159">
            <a:extLst>
              <a:ext uri="{FF2B5EF4-FFF2-40B4-BE49-F238E27FC236}">
                <a16:creationId xmlns:a16="http://schemas.microsoft.com/office/drawing/2014/main" id="{0218783A-A58A-4942-B900-41924154D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476250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6" name="Clip" r:id="rId3" imgW="761744" imgH="434194" progId="MS_ClipArt_Gallery.2">
                  <p:embed/>
                </p:oleObj>
              </mc:Choice>
              <mc:Fallback>
                <p:oleObj name="Clip" r:id="rId3" imgW="761744" imgH="434194" progId="MS_ClipArt_Gallery.2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76250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" name="Rectangle 3">
            <a:extLst>
              <a:ext uri="{FF2B5EF4-FFF2-40B4-BE49-F238E27FC236}">
                <a16:creationId xmlns:a16="http://schemas.microsoft.com/office/drawing/2014/main" id="{459D9E84-7FC4-421B-B37E-C3EE0B7EA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463" y="404813"/>
            <a:ext cx="2798762" cy="576262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多目标规划</a:t>
            </a:r>
            <a:endParaRPr lang="zh-CN" altLang="en-US" sz="320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55300" grpId="0" animBg="1" autoUpdateAnimBg="0"/>
      <p:bldP spid="30726" grpId="0" animBg="1"/>
      <p:bldP spid="1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C4A1C5C-5BEB-4912-8C01-CC35726D9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"/>
            <a:ext cx="25146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0-1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规划模型</a:t>
            </a:r>
            <a:r>
              <a:rPr lang="zh-CN" altLang="en-US" sz="3200" b="1">
                <a:latin typeface="宋体" panose="02010600030101010101" pitchFamily="2" charset="-122"/>
              </a:rPr>
              <a:t> </a:t>
            </a:r>
            <a:endParaRPr lang="zh-CN" altLang="en-US" sz="3200">
              <a:solidFill>
                <a:schemeClr val="tx2"/>
              </a:solidFill>
            </a:endParaRPr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F2ED4C8D-0E7C-46F1-82E1-6ADED3B15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90538"/>
            <a:ext cx="1676400" cy="51911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决策变量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56324" name="Text Box 4">
            <a:extLst>
              <a:ext uri="{FF2B5EF4-FFF2-40B4-BE49-F238E27FC236}">
                <a16:creationId xmlns:a16="http://schemas.microsoft.com/office/drawing/2014/main" id="{A5741941-E6DA-425B-B25F-BAB735019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319338"/>
            <a:ext cx="1676400" cy="51911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目标函数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56325" name="Text Box 5">
            <a:extLst>
              <a:ext uri="{FF2B5EF4-FFF2-40B4-BE49-F238E27FC236}">
                <a16:creationId xmlns:a16="http://schemas.microsoft.com/office/drawing/2014/main" id="{CA55FBE5-8E09-42E6-AB82-7FC47CAC8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125538"/>
            <a:ext cx="324961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30000"/>
              <a:t>i</a:t>
            </a:r>
            <a:r>
              <a:rPr lang="en-US" altLang="zh-CN" sz="2800" b="1"/>
              <a:t>=1 ~</a:t>
            </a:r>
            <a:r>
              <a:rPr lang="zh-CN" altLang="en-US" sz="2800" b="1">
                <a:latin typeface="宋体" panose="02010600030101010101" pitchFamily="2" charset="-122"/>
              </a:rPr>
              <a:t>选修课号</a:t>
            </a:r>
            <a:r>
              <a:rPr lang="en-US" altLang="zh-CN" sz="2800" b="1" i="1"/>
              <a:t>i </a:t>
            </a:r>
            <a:r>
              <a:rPr lang="zh-CN" altLang="en-US" sz="2800" b="1">
                <a:latin typeface="宋体" panose="02010600030101010101" pitchFamily="2" charset="-122"/>
              </a:rPr>
              <a:t>的课程（</a:t>
            </a:r>
            <a:r>
              <a:rPr lang="en-US" altLang="zh-CN" sz="2800" b="1" i="1"/>
              <a:t>x</a:t>
            </a:r>
            <a:r>
              <a:rPr lang="en-US" altLang="zh-CN" sz="2800" b="1" i="1" baseline="-30000"/>
              <a:t>i</a:t>
            </a:r>
            <a:r>
              <a:rPr lang="en-US" altLang="zh-CN" sz="2800" b="1"/>
              <a:t>=0 ~</a:t>
            </a:r>
            <a:r>
              <a:rPr lang="zh-CN" altLang="en-US" sz="2800" b="1">
                <a:latin typeface="宋体" panose="02010600030101010101" pitchFamily="2" charset="-122"/>
              </a:rPr>
              <a:t>不选）</a:t>
            </a:r>
            <a:r>
              <a:rPr lang="zh-CN" altLang="en-US" sz="2800" b="1"/>
              <a:t> </a:t>
            </a:r>
          </a:p>
        </p:txBody>
      </p:sp>
      <p:graphicFrame>
        <p:nvGraphicFramePr>
          <p:cNvPr id="56326" name="Object 6">
            <a:extLst>
              <a:ext uri="{FF2B5EF4-FFF2-40B4-BE49-F238E27FC236}">
                <a16:creationId xmlns:a16="http://schemas.microsoft.com/office/drawing/2014/main" id="{E390358B-91A4-454E-86FA-42DC495462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1063" y="3614738"/>
          <a:ext cx="2632075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6" name="公式" r:id="rId3" imgW="990170" imgH="431613" progId="Equation.3">
                  <p:embed/>
                </p:oleObj>
              </mc:Choice>
              <mc:Fallback>
                <p:oleObj name="公式" r:id="rId3" imgW="990170" imgH="4316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3614738"/>
                        <a:ext cx="2632075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Text Box 7">
            <a:extLst>
              <a:ext uri="{FF2B5EF4-FFF2-40B4-BE49-F238E27FC236}">
                <a16:creationId xmlns:a16="http://schemas.microsoft.com/office/drawing/2014/main" id="{CE375473-E40A-4CB9-AA46-CE69000D1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928938"/>
            <a:ext cx="3124200" cy="6048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选修课程总数最少 </a:t>
            </a:r>
          </a:p>
        </p:txBody>
      </p:sp>
      <p:sp>
        <p:nvSpPr>
          <p:cNvPr id="56328" name="Text Box 8">
            <a:extLst>
              <a:ext uri="{FF2B5EF4-FFF2-40B4-BE49-F238E27FC236}">
                <a16:creationId xmlns:a16="http://schemas.microsoft.com/office/drawing/2014/main" id="{F84BB5D3-6D3A-4589-8D9E-96610659B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410200"/>
            <a:ext cx="16764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约束条件</a:t>
            </a:r>
          </a:p>
        </p:txBody>
      </p:sp>
      <p:sp>
        <p:nvSpPr>
          <p:cNvPr id="56329" name="Text Box 9">
            <a:extLst>
              <a:ext uri="{FF2B5EF4-FFF2-40B4-BE49-F238E27FC236}">
                <a16:creationId xmlns:a16="http://schemas.microsoft.com/office/drawing/2014/main" id="{3E072DB7-14CB-4DFB-9C1E-6EBD0D440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953000"/>
            <a:ext cx="2952750" cy="16303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最少</a:t>
            </a:r>
            <a:r>
              <a:rPr lang="en-US" altLang="zh-CN" sz="2800" b="1"/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门数学课，</a:t>
            </a:r>
            <a:r>
              <a:rPr lang="en-US" altLang="zh-CN" sz="2800" b="1"/>
              <a:t>3</a:t>
            </a:r>
            <a:r>
              <a:rPr lang="zh-CN" altLang="en-US" sz="2800" b="1">
                <a:latin typeface="宋体" panose="02010600030101010101" pitchFamily="2" charset="-122"/>
              </a:rPr>
              <a:t>门运筹学课，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门计算机课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/>
          </a:p>
        </p:txBody>
      </p:sp>
      <p:graphicFrame>
        <p:nvGraphicFramePr>
          <p:cNvPr id="56330" name="Object 10">
            <a:extLst>
              <a:ext uri="{FF2B5EF4-FFF2-40B4-BE49-F238E27FC236}">
                <a16:creationId xmlns:a16="http://schemas.microsoft.com/office/drawing/2014/main" id="{9F2F5197-1D7A-4E53-A000-9234336A1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4800600"/>
          <a:ext cx="3429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7" r:id="rId5" imgW="1574800" imgH="228600" progId="Equation.3">
                  <p:embed/>
                </p:oleObj>
              </mc:Choice>
              <mc:Fallback>
                <p:oleObj r:id="rId5" imgW="15748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800600"/>
                        <a:ext cx="34290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11">
            <a:extLst>
              <a:ext uri="{FF2B5EF4-FFF2-40B4-BE49-F238E27FC236}">
                <a16:creationId xmlns:a16="http://schemas.microsoft.com/office/drawing/2014/main" id="{961E9981-E269-47DB-94BC-C4CA67DFD3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5410200"/>
          <a:ext cx="3581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8" r:id="rId7" imgW="1562100" imgH="228600" progId="Equation.3">
                  <p:embed/>
                </p:oleObj>
              </mc:Choice>
              <mc:Fallback>
                <p:oleObj r:id="rId7" imgW="15621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410200"/>
                        <a:ext cx="35814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2">
            <a:extLst>
              <a:ext uri="{FF2B5EF4-FFF2-40B4-BE49-F238E27FC236}">
                <a16:creationId xmlns:a16="http://schemas.microsoft.com/office/drawing/2014/main" id="{C481A5FF-1932-4599-B921-DF2A598CE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5992813"/>
          <a:ext cx="29718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9" r:id="rId9" imgW="1308100" imgH="228600" progId="Equation.3">
                  <p:embed/>
                </p:oleObj>
              </mc:Choice>
              <mc:Fallback>
                <p:oleObj r:id="rId9" imgW="13081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992813"/>
                        <a:ext cx="29718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>
            <a:extLst>
              <a:ext uri="{FF2B5EF4-FFF2-40B4-BE49-F238E27FC236}">
                <a16:creationId xmlns:a16="http://schemas.microsoft.com/office/drawing/2014/main" id="{6D06CF50-4E0F-40BA-9A35-1E39750A289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069975"/>
            <a:ext cx="4911725" cy="3806825"/>
            <a:chOff x="336" y="480"/>
            <a:chExt cx="3094" cy="2398"/>
          </a:xfrm>
        </p:grpSpPr>
        <p:grpSp>
          <p:nvGrpSpPr>
            <p:cNvPr id="37902" name="Group 14">
              <a:extLst>
                <a:ext uri="{FF2B5EF4-FFF2-40B4-BE49-F238E27FC236}">
                  <a16:creationId xmlns:a16="http://schemas.microsoft.com/office/drawing/2014/main" id="{01F69681-3CD5-4697-BF49-927538545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480"/>
              <a:ext cx="531" cy="294"/>
              <a:chOff x="0" y="0"/>
              <a:chExt cx="518" cy="480"/>
            </a:xfrm>
          </p:grpSpPr>
          <p:sp>
            <p:nvSpPr>
              <p:cNvPr id="37990" name="Rectangle 15">
                <a:extLst>
                  <a:ext uri="{FF2B5EF4-FFF2-40B4-BE49-F238E27FC236}">
                    <a16:creationId xmlns:a16="http://schemas.microsoft.com/office/drawing/2014/main" id="{80EA40FB-DA52-484E-B3F5-3C1E021CF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0"/>
                <a:ext cx="432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课号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91" name="Rectangle 16">
                <a:extLst>
                  <a:ext uri="{FF2B5EF4-FFF2-40B4-BE49-F238E27FC236}">
                    <a16:creationId xmlns:a16="http://schemas.microsoft.com/office/drawing/2014/main" id="{D45B28F1-492E-49A3-8F02-4F267892A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18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03" name="Group 17">
              <a:extLst>
                <a:ext uri="{FF2B5EF4-FFF2-40B4-BE49-F238E27FC236}">
                  <a16:creationId xmlns:a16="http://schemas.microsoft.com/office/drawing/2014/main" id="{1052349F-E98C-4A29-9EEB-4FB41BF45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482"/>
              <a:ext cx="1102" cy="292"/>
              <a:chOff x="518" y="0"/>
              <a:chExt cx="662" cy="480"/>
            </a:xfrm>
          </p:grpSpPr>
          <p:sp>
            <p:nvSpPr>
              <p:cNvPr id="37988" name="Rectangle 18">
                <a:extLst>
                  <a:ext uri="{FF2B5EF4-FFF2-40B4-BE49-F238E27FC236}">
                    <a16:creationId xmlns:a16="http://schemas.microsoft.com/office/drawing/2014/main" id="{6E02CBB2-58CA-4776-951D-13AAA3941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0"/>
                <a:ext cx="576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课名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89" name="Rectangle 19">
                <a:extLst>
                  <a:ext uri="{FF2B5EF4-FFF2-40B4-BE49-F238E27FC236}">
                    <a16:creationId xmlns:a16="http://schemas.microsoft.com/office/drawing/2014/main" id="{D3770BEF-6AE3-4F58-B63E-4BE3ED5B7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0"/>
                <a:ext cx="662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04" name="Group 20">
              <a:extLst>
                <a:ext uri="{FF2B5EF4-FFF2-40B4-BE49-F238E27FC236}">
                  <a16:creationId xmlns:a16="http://schemas.microsoft.com/office/drawing/2014/main" id="{3964A196-9B6A-4419-BFB6-AFEEFA1671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482"/>
              <a:ext cx="1462" cy="292"/>
              <a:chOff x="1626" y="0"/>
              <a:chExt cx="878" cy="480"/>
            </a:xfrm>
          </p:grpSpPr>
          <p:sp>
            <p:nvSpPr>
              <p:cNvPr id="37986" name="Rectangle 21">
                <a:extLst>
                  <a:ext uri="{FF2B5EF4-FFF2-40B4-BE49-F238E27FC236}">
                    <a16:creationId xmlns:a16="http://schemas.microsoft.com/office/drawing/2014/main" id="{3E6F4D3A-612A-47A8-955F-4CDE19744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0"/>
                <a:ext cx="792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所属类别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87" name="Rectangle 22">
                <a:extLst>
                  <a:ext uri="{FF2B5EF4-FFF2-40B4-BE49-F238E27FC236}">
                    <a16:creationId xmlns:a16="http://schemas.microsoft.com/office/drawing/2014/main" id="{9B788E2B-5C40-4D75-B383-5E4C810FAC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0"/>
                <a:ext cx="878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05" name="Group 23">
              <a:extLst>
                <a:ext uri="{FF2B5EF4-FFF2-40B4-BE49-F238E27FC236}">
                  <a16:creationId xmlns:a16="http://schemas.microsoft.com/office/drawing/2014/main" id="{3278858C-9028-4008-86CD-4EF66924CB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773"/>
              <a:ext cx="531" cy="235"/>
              <a:chOff x="0" y="480"/>
              <a:chExt cx="518" cy="384"/>
            </a:xfrm>
          </p:grpSpPr>
          <p:sp>
            <p:nvSpPr>
              <p:cNvPr id="37984" name="Rectangle 24">
                <a:extLst>
                  <a:ext uri="{FF2B5EF4-FFF2-40B4-BE49-F238E27FC236}">
                    <a16:creationId xmlns:a16="http://schemas.microsoft.com/office/drawing/2014/main" id="{04EC36EB-D230-4919-9687-76D2177B8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480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85" name="Rectangle 25">
                <a:extLst>
                  <a:ext uri="{FF2B5EF4-FFF2-40B4-BE49-F238E27FC236}">
                    <a16:creationId xmlns:a16="http://schemas.microsoft.com/office/drawing/2014/main" id="{A1D81D7E-E1A4-47BF-9F38-2A9B5EF85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80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06" name="Group 26">
              <a:extLst>
                <a:ext uri="{FF2B5EF4-FFF2-40B4-BE49-F238E27FC236}">
                  <a16:creationId xmlns:a16="http://schemas.microsoft.com/office/drawing/2014/main" id="{A9406E88-41E6-4658-977E-7A149126E3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774"/>
              <a:ext cx="1102" cy="234"/>
              <a:chOff x="518" y="480"/>
              <a:chExt cx="662" cy="384"/>
            </a:xfrm>
          </p:grpSpPr>
          <p:sp>
            <p:nvSpPr>
              <p:cNvPr id="37982" name="Rectangle 27">
                <a:extLst>
                  <a:ext uri="{FF2B5EF4-FFF2-40B4-BE49-F238E27FC236}">
                    <a16:creationId xmlns:a16="http://schemas.microsoft.com/office/drawing/2014/main" id="{A51E08A4-9368-429E-94DE-1C0EF1113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480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微积分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83" name="Rectangle 28">
                <a:extLst>
                  <a:ext uri="{FF2B5EF4-FFF2-40B4-BE49-F238E27FC236}">
                    <a16:creationId xmlns:a16="http://schemas.microsoft.com/office/drawing/2014/main" id="{01F06A0A-955A-4556-A538-5222CB693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480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07" name="Group 29">
              <a:extLst>
                <a:ext uri="{FF2B5EF4-FFF2-40B4-BE49-F238E27FC236}">
                  <a16:creationId xmlns:a16="http://schemas.microsoft.com/office/drawing/2014/main" id="{ADE0A592-9892-414E-B42C-84C65916E4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774"/>
              <a:ext cx="1462" cy="234"/>
              <a:chOff x="1626" y="480"/>
              <a:chExt cx="878" cy="384"/>
            </a:xfrm>
          </p:grpSpPr>
          <p:sp>
            <p:nvSpPr>
              <p:cNvPr id="37980" name="Rectangle 30">
                <a:extLst>
                  <a:ext uri="{FF2B5EF4-FFF2-40B4-BE49-F238E27FC236}">
                    <a16:creationId xmlns:a16="http://schemas.microsoft.com/office/drawing/2014/main" id="{2FF039A8-A0A8-48B0-9538-E2930278E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480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数学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81" name="Rectangle 31">
                <a:extLst>
                  <a:ext uri="{FF2B5EF4-FFF2-40B4-BE49-F238E27FC236}">
                    <a16:creationId xmlns:a16="http://schemas.microsoft.com/office/drawing/2014/main" id="{DD81A646-ACAE-4E4A-AE95-93CD765C5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480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08" name="Group 32">
              <a:extLst>
                <a:ext uri="{FF2B5EF4-FFF2-40B4-BE49-F238E27FC236}">
                  <a16:creationId xmlns:a16="http://schemas.microsoft.com/office/drawing/2014/main" id="{00C4627F-D907-488E-BCB6-8766FEDDC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007"/>
              <a:ext cx="531" cy="235"/>
              <a:chOff x="0" y="864"/>
              <a:chExt cx="518" cy="384"/>
            </a:xfrm>
          </p:grpSpPr>
          <p:sp>
            <p:nvSpPr>
              <p:cNvPr id="37978" name="Rectangle 33">
                <a:extLst>
                  <a:ext uri="{FF2B5EF4-FFF2-40B4-BE49-F238E27FC236}">
                    <a16:creationId xmlns:a16="http://schemas.microsoft.com/office/drawing/2014/main" id="{5D4B0629-D209-40C7-BC3A-155E04472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864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79" name="Rectangle 34">
                <a:extLst>
                  <a:ext uri="{FF2B5EF4-FFF2-40B4-BE49-F238E27FC236}">
                    <a16:creationId xmlns:a16="http://schemas.microsoft.com/office/drawing/2014/main" id="{1D727156-616A-423F-B936-3A683B5D7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64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09" name="Group 35">
              <a:extLst>
                <a:ext uri="{FF2B5EF4-FFF2-40B4-BE49-F238E27FC236}">
                  <a16:creationId xmlns:a16="http://schemas.microsoft.com/office/drawing/2014/main" id="{7A6779C6-2F6D-4592-A031-FA76F6F3B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1008"/>
              <a:ext cx="1102" cy="234"/>
              <a:chOff x="518" y="864"/>
              <a:chExt cx="662" cy="384"/>
            </a:xfrm>
          </p:grpSpPr>
          <p:sp>
            <p:nvSpPr>
              <p:cNvPr id="37976" name="Rectangle 36">
                <a:extLst>
                  <a:ext uri="{FF2B5EF4-FFF2-40B4-BE49-F238E27FC236}">
                    <a16:creationId xmlns:a16="http://schemas.microsoft.com/office/drawing/2014/main" id="{9EC94C2C-08D3-4C10-B6F4-9A5504DE9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864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线性代数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77" name="Rectangle 37">
                <a:extLst>
                  <a:ext uri="{FF2B5EF4-FFF2-40B4-BE49-F238E27FC236}">
                    <a16:creationId xmlns:a16="http://schemas.microsoft.com/office/drawing/2014/main" id="{542A2AE7-8822-410C-8336-A77CC0CCD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864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0" name="Group 38">
              <a:extLst>
                <a:ext uri="{FF2B5EF4-FFF2-40B4-BE49-F238E27FC236}">
                  <a16:creationId xmlns:a16="http://schemas.microsoft.com/office/drawing/2014/main" id="{AC399A9B-F3DA-4947-B5E6-BA1AAFCA22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008"/>
              <a:ext cx="1462" cy="234"/>
              <a:chOff x="1626" y="864"/>
              <a:chExt cx="878" cy="384"/>
            </a:xfrm>
          </p:grpSpPr>
          <p:sp>
            <p:nvSpPr>
              <p:cNvPr id="37974" name="Rectangle 39">
                <a:extLst>
                  <a:ext uri="{FF2B5EF4-FFF2-40B4-BE49-F238E27FC236}">
                    <a16:creationId xmlns:a16="http://schemas.microsoft.com/office/drawing/2014/main" id="{5A66EBA3-A6A6-49CA-87B1-54D573A2E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864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数学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75" name="Rectangle 40">
                <a:extLst>
                  <a:ext uri="{FF2B5EF4-FFF2-40B4-BE49-F238E27FC236}">
                    <a16:creationId xmlns:a16="http://schemas.microsoft.com/office/drawing/2014/main" id="{6D48393B-B7EF-4CC8-8A98-B70FB1AB4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864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1" name="Group 41">
              <a:extLst>
                <a:ext uri="{FF2B5EF4-FFF2-40B4-BE49-F238E27FC236}">
                  <a16:creationId xmlns:a16="http://schemas.microsoft.com/office/drawing/2014/main" id="{4E7DF515-2B29-4F31-8FB7-83A2FE01E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241"/>
              <a:ext cx="531" cy="234"/>
              <a:chOff x="0" y="1248"/>
              <a:chExt cx="518" cy="384"/>
            </a:xfrm>
          </p:grpSpPr>
          <p:sp>
            <p:nvSpPr>
              <p:cNvPr id="37972" name="Rectangle 42">
                <a:extLst>
                  <a:ext uri="{FF2B5EF4-FFF2-40B4-BE49-F238E27FC236}">
                    <a16:creationId xmlns:a16="http://schemas.microsoft.com/office/drawing/2014/main" id="{04A279A2-3063-4DDC-B264-A28F37D92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248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73" name="Rectangle 43">
                <a:extLst>
                  <a:ext uri="{FF2B5EF4-FFF2-40B4-BE49-F238E27FC236}">
                    <a16:creationId xmlns:a16="http://schemas.microsoft.com/office/drawing/2014/main" id="{8CB1CF94-AB0C-478D-86E6-00E894EDC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48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2" name="Group 44">
              <a:extLst>
                <a:ext uri="{FF2B5EF4-FFF2-40B4-BE49-F238E27FC236}">
                  <a16:creationId xmlns:a16="http://schemas.microsoft.com/office/drawing/2014/main" id="{7378204A-8483-4FC0-9DA4-E188C442BF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1242"/>
              <a:ext cx="1102" cy="233"/>
              <a:chOff x="518" y="1248"/>
              <a:chExt cx="662" cy="384"/>
            </a:xfrm>
          </p:grpSpPr>
          <p:sp>
            <p:nvSpPr>
              <p:cNvPr id="37970" name="Rectangle 45">
                <a:extLst>
                  <a:ext uri="{FF2B5EF4-FFF2-40B4-BE49-F238E27FC236}">
                    <a16:creationId xmlns:a16="http://schemas.microsoft.com/office/drawing/2014/main" id="{736CDA2B-14E4-44F5-910F-1D863BAA0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1248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最优化方法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71" name="Rectangle 46">
                <a:extLst>
                  <a:ext uri="{FF2B5EF4-FFF2-40B4-BE49-F238E27FC236}">
                    <a16:creationId xmlns:a16="http://schemas.microsoft.com/office/drawing/2014/main" id="{C44F2117-588D-441B-A22F-F52A4B0E1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1248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3" name="Group 47">
              <a:extLst>
                <a:ext uri="{FF2B5EF4-FFF2-40B4-BE49-F238E27FC236}">
                  <a16:creationId xmlns:a16="http://schemas.microsoft.com/office/drawing/2014/main" id="{6E5AAEC7-67D6-479E-BD5A-9F7046F71C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242"/>
              <a:ext cx="1462" cy="233"/>
              <a:chOff x="1626" y="1248"/>
              <a:chExt cx="878" cy="384"/>
            </a:xfrm>
          </p:grpSpPr>
          <p:sp>
            <p:nvSpPr>
              <p:cNvPr id="37968" name="Rectangle 48">
                <a:extLst>
                  <a:ext uri="{FF2B5EF4-FFF2-40B4-BE49-F238E27FC236}">
                    <a16:creationId xmlns:a16="http://schemas.microsoft.com/office/drawing/2014/main" id="{9CAFF08B-7DCD-4D4F-B58C-A52977A82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1248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数学；运筹学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69" name="Rectangle 49">
                <a:extLst>
                  <a:ext uri="{FF2B5EF4-FFF2-40B4-BE49-F238E27FC236}">
                    <a16:creationId xmlns:a16="http://schemas.microsoft.com/office/drawing/2014/main" id="{3102DF18-5FCB-4979-BF21-7DDE7C15E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1248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4" name="Group 50">
              <a:extLst>
                <a:ext uri="{FF2B5EF4-FFF2-40B4-BE49-F238E27FC236}">
                  <a16:creationId xmlns:a16="http://schemas.microsoft.com/office/drawing/2014/main" id="{833D10A9-01C5-4212-A98D-833082D20F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474"/>
              <a:ext cx="531" cy="235"/>
              <a:chOff x="0" y="1632"/>
              <a:chExt cx="518" cy="384"/>
            </a:xfrm>
          </p:grpSpPr>
          <p:sp>
            <p:nvSpPr>
              <p:cNvPr id="37966" name="Rectangle 51">
                <a:extLst>
                  <a:ext uri="{FF2B5EF4-FFF2-40B4-BE49-F238E27FC236}">
                    <a16:creationId xmlns:a16="http://schemas.microsoft.com/office/drawing/2014/main" id="{980E3D0D-5C32-48F5-8EA0-FEA7CAA9A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632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67" name="Rectangle 52">
                <a:extLst>
                  <a:ext uri="{FF2B5EF4-FFF2-40B4-BE49-F238E27FC236}">
                    <a16:creationId xmlns:a16="http://schemas.microsoft.com/office/drawing/2014/main" id="{E8DF411A-7384-4575-95A9-343AA18B1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632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5" name="Group 53">
              <a:extLst>
                <a:ext uri="{FF2B5EF4-FFF2-40B4-BE49-F238E27FC236}">
                  <a16:creationId xmlns:a16="http://schemas.microsoft.com/office/drawing/2014/main" id="{1F9F9DFC-1645-4B6E-8767-5FCD9C0BBE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1475"/>
              <a:ext cx="1102" cy="234"/>
              <a:chOff x="518" y="1632"/>
              <a:chExt cx="662" cy="384"/>
            </a:xfrm>
          </p:grpSpPr>
          <p:sp>
            <p:nvSpPr>
              <p:cNvPr id="37964" name="Rectangle 54">
                <a:extLst>
                  <a:ext uri="{FF2B5EF4-FFF2-40B4-BE49-F238E27FC236}">
                    <a16:creationId xmlns:a16="http://schemas.microsoft.com/office/drawing/2014/main" id="{E322AC83-48C4-4677-BE83-DC148BFD7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1632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数据结构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65" name="Rectangle 55">
                <a:extLst>
                  <a:ext uri="{FF2B5EF4-FFF2-40B4-BE49-F238E27FC236}">
                    <a16:creationId xmlns:a16="http://schemas.microsoft.com/office/drawing/2014/main" id="{4A03BB09-4853-4A58-A669-6913EB8FC4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1632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6" name="Group 56">
              <a:extLst>
                <a:ext uri="{FF2B5EF4-FFF2-40B4-BE49-F238E27FC236}">
                  <a16:creationId xmlns:a16="http://schemas.microsoft.com/office/drawing/2014/main" id="{C60C0DCE-BA72-46FE-8046-A2FC575627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475"/>
              <a:ext cx="1462" cy="234"/>
              <a:chOff x="1626" y="1632"/>
              <a:chExt cx="878" cy="384"/>
            </a:xfrm>
          </p:grpSpPr>
          <p:sp>
            <p:nvSpPr>
              <p:cNvPr id="37962" name="Rectangle 57">
                <a:extLst>
                  <a:ext uri="{FF2B5EF4-FFF2-40B4-BE49-F238E27FC236}">
                    <a16:creationId xmlns:a16="http://schemas.microsoft.com/office/drawing/2014/main" id="{A7481CAA-FFC5-43C2-B388-7C159EBA3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1632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数学；计算机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63" name="Rectangle 58">
                <a:extLst>
                  <a:ext uri="{FF2B5EF4-FFF2-40B4-BE49-F238E27FC236}">
                    <a16:creationId xmlns:a16="http://schemas.microsoft.com/office/drawing/2014/main" id="{7FF99D2E-52A0-430F-8E94-4DED48DCC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1632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7" name="Group 59">
              <a:extLst>
                <a:ext uri="{FF2B5EF4-FFF2-40B4-BE49-F238E27FC236}">
                  <a16:creationId xmlns:a16="http://schemas.microsoft.com/office/drawing/2014/main" id="{EB5A02F8-54BA-4947-BB9E-65435A751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708"/>
              <a:ext cx="531" cy="235"/>
              <a:chOff x="0" y="2016"/>
              <a:chExt cx="518" cy="384"/>
            </a:xfrm>
          </p:grpSpPr>
          <p:sp>
            <p:nvSpPr>
              <p:cNvPr id="37960" name="Rectangle 60">
                <a:extLst>
                  <a:ext uri="{FF2B5EF4-FFF2-40B4-BE49-F238E27FC236}">
                    <a16:creationId xmlns:a16="http://schemas.microsoft.com/office/drawing/2014/main" id="{152C2471-32AC-4862-B7AA-44A37E2C9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016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5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61" name="Rectangle 61">
                <a:extLst>
                  <a:ext uri="{FF2B5EF4-FFF2-40B4-BE49-F238E27FC236}">
                    <a16:creationId xmlns:a16="http://schemas.microsoft.com/office/drawing/2014/main" id="{9C74B5F8-4329-4F12-99DC-C4467AAC9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016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8" name="Group 62">
              <a:extLst>
                <a:ext uri="{FF2B5EF4-FFF2-40B4-BE49-F238E27FC236}">
                  <a16:creationId xmlns:a16="http://schemas.microsoft.com/office/drawing/2014/main" id="{0E93AE16-ACBA-4EE1-B85B-81515BBD57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1709"/>
              <a:ext cx="1102" cy="234"/>
              <a:chOff x="518" y="2016"/>
              <a:chExt cx="662" cy="384"/>
            </a:xfrm>
          </p:grpSpPr>
          <p:sp>
            <p:nvSpPr>
              <p:cNvPr id="37958" name="Rectangle 63">
                <a:extLst>
                  <a:ext uri="{FF2B5EF4-FFF2-40B4-BE49-F238E27FC236}">
                    <a16:creationId xmlns:a16="http://schemas.microsoft.com/office/drawing/2014/main" id="{113AC531-C03E-4445-8034-1651FED59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2016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应用统计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59" name="Rectangle 64">
                <a:extLst>
                  <a:ext uri="{FF2B5EF4-FFF2-40B4-BE49-F238E27FC236}">
                    <a16:creationId xmlns:a16="http://schemas.microsoft.com/office/drawing/2014/main" id="{5F1E05EA-64EF-4924-8F83-0A8AABE4F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2016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19" name="Group 65">
              <a:extLst>
                <a:ext uri="{FF2B5EF4-FFF2-40B4-BE49-F238E27FC236}">
                  <a16:creationId xmlns:a16="http://schemas.microsoft.com/office/drawing/2014/main" id="{3B10A354-1F2D-42E5-A279-AB28C86F98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709"/>
              <a:ext cx="1462" cy="234"/>
              <a:chOff x="1626" y="2016"/>
              <a:chExt cx="878" cy="384"/>
            </a:xfrm>
          </p:grpSpPr>
          <p:sp>
            <p:nvSpPr>
              <p:cNvPr id="37956" name="Rectangle 66">
                <a:extLst>
                  <a:ext uri="{FF2B5EF4-FFF2-40B4-BE49-F238E27FC236}">
                    <a16:creationId xmlns:a16="http://schemas.microsoft.com/office/drawing/2014/main" id="{C9BC28B3-9E9F-4BDC-AFDA-2955977E0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2016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数学；运筹学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57" name="Rectangle 67">
                <a:extLst>
                  <a:ext uri="{FF2B5EF4-FFF2-40B4-BE49-F238E27FC236}">
                    <a16:creationId xmlns:a16="http://schemas.microsoft.com/office/drawing/2014/main" id="{836CCCDC-8E9E-4800-827A-2A27BACE2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2016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0" name="Group 68">
              <a:extLst>
                <a:ext uri="{FF2B5EF4-FFF2-40B4-BE49-F238E27FC236}">
                  <a16:creationId xmlns:a16="http://schemas.microsoft.com/office/drawing/2014/main" id="{CCA44CA9-A488-49E1-BA9B-B2A4CE144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942"/>
              <a:ext cx="531" cy="235"/>
              <a:chOff x="0" y="2400"/>
              <a:chExt cx="518" cy="384"/>
            </a:xfrm>
          </p:grpSpPr>
          <p:sp>
            <p:nvSpPr>
              <p:cNvPr id="37954" name="Rectangle 69">
                <a:extLst>
                  <a:ext uri="{FF2B5EF4-FFF2-40B4-BE49-F238E27FC236}">
                    <a16:creationId xmlns:a16="http://schemas.microsoft.com/office/drawing/2014/main" id="{6764AD60-DA0F-48EE-9767-72795F05B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400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6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55" name="Rectangle 70">
                <a:extLst>
                  <a:ext uri="{FF2B5EF4-FFF2-40B4-BE49-F238E27FC236}">
                    <a16:creationId xmlns:a16="http://schemas.microsoft.com/office/drawing/2014/main" id="{C51D79E9-584D-41A1-8566-E15896518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400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1" name="Group 71">
              <a:extLst>
                <a:ext uri="{FF2B5EF4-FFF2-40B4-BE49-F238E27FC236}">
                  <a16:creationId xmlns:a16="http://schemas.microsoft.com/office/drawing/2014/main" id="{077D2046-0C3A-4D11-AC92-D07A1045F8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1943"/>
              <a:ext cx="1102" cy="234"/>
              <a:chOff x="518" y="2400"/>
              <a:chExt cx="662" cy="384"/>
            </a:xfrm>
          </p:grpSpPr>
          <p:sp>
            <p:nvSpPr>
              <p:cNvPr id="37952" name="Rectangle 72">
                <a:extLst>
                  <a:ext uri="{FF2B5EF4-FFF2-40B4-BE49-F238E27FC236}">
                    <a16:creationId xmlns:a16="http://schemas.microsoft.com/office/drawing/2014/main" id="{3068BCFC-0774-417E-AF8F-12CBE9E9C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2400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计算机模拟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53" name="Rectangle 73">
                <a:extLst>
                  <a:ext uri="{FF2B5EF4-FFF2-40B4-BE49-F238E27FC236}">
                    <a16:creationId xmlns:a16="http://schemas.microsoft.com/office/drawing/2014/main" id="{44B1B4AA-5BA6-4AE3-951D-F69E9E9F6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2400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2" name="Group 74">
              <a:extLst>
                <a:ext uri="{FF2B5EF4-FFF2-40B4-BE49-F238E27FC236}">
                  <a16:creationId xmlns:a16="http://schemas.microsoft.com/office/drawing/2014/main" id="{8F9E2120-4809-4E44-A988-F446BE25FA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943"/>
              <a:ext cx="1462" cy="234"/>
              <a:chOff x="1626" y="2400"/>
              <a:chExt cx="878" cy="384"/>
            </a:xfrm>
          </p:grpSpPr>
          <p:sp>
            <p:nvSpPr>
              <p:cNvPr id="37950" name="Rectangle 75">
                <a:extLst>
                  <a:ext uri="{FF2B5EF4-FFF2-40B4-BE49-F238E27FC236}">
                    <a16:creationId xmlns:a16="http://schemas.microsoft.com/office/drawing/2014/main" id="{E4392C59-BAD3-4983-811B-DC088E614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2400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计算机；运筹学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51" name="Rectangle 76">
                <a:extLst>
                  <a:ext uri="{FF2B5EF4-FFF2-40B4-BE49-F238E27FC236}">
                    <a16:creationId xmlns:a16="http://schemas.microsoft.com/office/drawing/2014/main" id="{74041491-1D16-40E5-B613-03380D789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2400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3" name="Group 77">
              <a:extLst>
                <a:ext uri="{FF2B5EF4-FFF2-40B4-BE49-F238E27FC236}">
                  <a16:creationId xmlns:a16="http://schemas.microsoft.com/office/drawing/2014/main" id="{390DCA3C-6858-4EDE-A3F3-9CE26895BD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176"/>
              <a:ext cx="531" cy="234"/>
              <a:chOff x="0" y="2784"/>
              <a:chExt cx="518" cy="384"/>
            </a:xfrm>
          </p:grpSpPr>
          <p:sp>
            <p:nvSpPr>
              <p:cNvPr id="37948" name="Rectangle 78">
                <a:extLst>
                  <a:ext uri="{FF2B5EF4-FFF2-40B4-BE49-F238E27FC236}">
                    <a16:creationId xmlns:a16="http://schemas.microsoft.com/office/drawing/2014/main" id="{C1C120A6-F84C-457C-BA63-D05DDA2CA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784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7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49" name="Rectangle 79">
                <a:extLst>
                  <a:ext uri="{FF2B5EF4-FFF2-40B4-BE49-F238E27FC236}">
                    <a16:creationId xmlns:a16="http://schemas.microsoft.com/office/drawing/2014/main" id="{4285C844-4A6F-45B0-BDCD-6E76BFF6A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4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4" name="Group 80">
              <a:extLst>
                <a:ext uri="{FF2B5EF4-FFF2-40B4-BE49-F238E27FC236}">
                  <a16:creationId xmlns:a16="http://schemas.microsoft.com/office/drawing/2014/main" id="{F4DA5814-3D21-4688-A1E4-B44B160230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2177"/>
              <a:ext cx="1102" cy="233"/>
              <a:chOff x="518" y="2784"/>
              <a:chExt cx="662" cy="384"/>
            </a:xfrm>
          </p:grpSpPr>
          <p:sp>
            <p:nvSpPr>
              <p:cNvPr id="37946" name="Rectangle 81">
                <a:extLst>
                  <a:ext uri="{FF2B5EF4-FFF2-40B4-BE49-F238E27FC236}">
                    <a16:creationId xmlns:a16="http://schemas.microsoft.com/office/drawing/2014/main" id="{9D2DD3B2-5987-4BC9-AF43-44FBF56A4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2784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计算机编程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47" name="Rectangle 82">
                <a:extLst>
                  <a:ext uri="{FF2B5EF4-FFF2-40B4-BE49-F238E27FC236}">
                    <a16:creationId xmlns:a16="http://schemas.microsoft.com/office/drawing/2014/main" id="{6E84604A-36F2-413A-B093-ADDCCD8BE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2784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5" name="Group 83">
              <a:extLst>
                <a:ext uri="{FF2B5EF4-FFF2-40B4-BE49-F238E27FC236}">
                  <a16:creationId xmlns:a16="http://schemas.microsoft.com/office/drawing/2014/main" id="{44658279-2D9F-436C-9DEF-BCAB4086DB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177"/>
              <a:ext cx="1462" cy="233"/>
              <a:chOff x="1626" y="2784"/>
              <a:chExt cx="878" cy="384"/>
            </a:xfrm>
          </p:grpSpPr>
          <p:sp>
            <p:nvSpPr>
              <p:cNvPr id="37944" name="Rectangle 84">
                <a:extLst>
                  <a:ext uri="{FF2B5EF4-FFF2-40B4-BE49-F238E27FC236}">
                    <a16:creationId xmlns:a16="http://schemas.microsoft.com/office/drawing/2014/main" id="{F976B383-3566-422E-BA79-57FD77542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2784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计算机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45" name="Rectangle 85">
                <a:extLst>
                  <a:ext uri="{FF2B5EF4-FFF2-40B4-BE49-F238E27FC236}">
                    <a16:creationId xmlns:a16="http://schemas.microsoft.com/office/drawing/2014/main" id="{971BDB0C-B44B-4F77-AC36-3B4C26BAF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2784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6" name="Group 86">
              <a:extLst>
                <a:ext uri="{FF2B5EF4-FFF2-40B4-BE49-F238E27FC236}">
                  <a16:creationId xmlns:a16="http://schemas.microsoft.com/office/drawing/2014/main" id="{0656C195-0E5D-4C84-A5B1-BF92C72B5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409"/>
              <a:ext cx="531" cy="235"/>
              <a:chOff x="0" y="3168"/>
              <a:chExt cx="518" cy="384"/>
            </a:xfrm>
          </p:grpSpPr>
          <p:sp>
            <p:nvSpPr>
              <p:cNvPr id="37942" name="Rectangle 87">
                <a:extLst>
                  <a:ext uri="{FF2B5EF4-FFF2-40B4-BE49-F238E27FC236}">
                    <a16:creationId xmlns:a16="http://schemas.microsoft.com/office/drawing/2014/main" id="{532B4BC4-D61E-463F-BCA2-F639FEB8D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168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8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43" name="Rectangle 88">
                <a:extLst>
                  <a:ext uri="{FF2B5EF4-FFF2-40B4-BE49-F238E27FC236}">
                    <a16:creationId xmlns:a16="http://schemas.microsoft.com/office/drawing/2014/main" id="{C570FB4D-BDA8-4B23-9D77-457350BAE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168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7" name="Group 89">
              <a:extLst>
                <a:ext uri="{FF2B5EF4-FFF2-40B4-BE49-F238E27FC236}">
                  <a16:creationId xmlns:a16="http://schemas.microsoft.com/office/drawing/2014/main" id="{AF4BF444-62AB-48ED-965D-DE0A149C44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2410"/>
              <a:ext cx="1102" cy="234"/>
              <a:chOff x="518" y="3168"/>
              <a:chExt cx="662" cy="384"/>
            </a:xfrm>
          </p:grpSpPr>
          <p:sp>
            <p:nvSpPr>
              <p:cNvPr id="37940" name="Rectangle 90">
                <a:extLst>
                  <a:ext uri="{FF2B5EF4-FFF2-40B4-BE49-F238E27FC236}">
                    <a16:creationId xmlns:a16="http://schemas.microsoft.com/office/drawing/2014/main" id="{5AE0651D-608C-44BB-B8D9-ABB5A53A8D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3168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预测理论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41" name="Rectangle 91">
                <a:extLst>
                  <a:ext uri="{FF2B5EF4-FFF2-40B4-BE49-F238E27FC236}">
                    <a16:creationId xmlns:a16="http://schemas.microsoft.com/office/drawing/2014/main" id="{8B7B7C74-B1D0-4DF5-A150-5007F22D2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3168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8" name="Group 92">
              <a:extLst>
                <a:ext uri="{FF2B5EF4-FFF2-40B4-BE49-F238E27FC236}">
                  <a16:creationId xmlns:a16="http://schemas.microsoft.com/office/drawing/2014/main" id="{FD2105DB-B854-46D3-850B-4F8ED49C8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410"/>
              <a:ext cx="1462" cy="234"/>
              <a:chOff x="1626" y="3168"/>
              <a:chExt cx="878" cy="384"/>
            </a:xfrm>
          </p:grpSpPr>
          <p:sp>
            <p:nvSpPr>
              <p:cNvPr id="37938" name="Rectangle 93">
                <a:extLst>
                  <a:ext uri="{FF2B5EF4-FFF2-40B4-BE49-F238E27FC236}">
                    <a16:creationId xmlns:a16="http://schemas.microsoft.com/office/drawing/2014/main" id="{9AB2D5D3-BF0E-478C-A7C1-9DD9AE315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3168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运筹学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39" name="Rectangle 94">
                <a:extLst>
                  <a:ext uri="{FF2B5EF4-FFF2-40B4-BE49-F238E27FC236}">
                    <a16:creationId xmlns:a16="http://schemas.microsoft.com/office/drawing/2014/main" id="{F7F1CB2C-988C-4E4D-8B12-59CE9155C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3168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29" name="Group 95">
              <a:extLst>
                <a:ext uri="{FF2B5EF4-FFF2-40B4-BE49-F238E27FC236}">
                  <a16:creationId xmlns:a16="http://schemas.microsoft.com/office/drawing/2014/main" id="{F4073FCC-18AE-4849-9959-505A023CAE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643"/>
              <a:ext cx="531" cy="235"/>
              <a:chOff x="0" y="3552"/>
              <a:chExt cx="518" cy="384"/>
            </a:xfrm>
          </p:grpSpPr>
          <p:sp>
            <p:nvSpPr>
              <p:cNvPr id="37936" name="Rectangle 96">
                <a:extLst>
                  <a:ext uri="{FF2B5EF4-FFF2-40B4-BE49-F238E27FC236}">
                    <a16:creationId xmlns:a16="http://schemas.microsoft.com/office/drawing/2014/main" id="{E5C9CE4B-EE32-4E14-8BC5-93CB9A6B5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552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9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37" name="Rectangle 97">
                <a:extLst>
                  <a:ext uri="{FF2B5EF4-FFF2-40B4-BE49-F238E27FC236}">
                    <a16:creationId xmlns:a16="http://schemas.microsoft.com/office/drawing/2014/main" id="{724D284C-55B9-4F4C-8DF1-C23D637FA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552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30" name="Group 98">
              <a:extLst>
                <a:ext uri="{FF2B5EF4-FFF2-40B4-BE49-F238E27FC236}">
                  <a16:creationId xmlns:a16="http://schemas.microsoft.com/office/drawing/2014/main" id="{7E54B501-3E93-4CB6-8505-4FB2E7B2EF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2644"/>
              <a:ext cx="1102" cy="234"/>
              <a:chOff x="518" y="3552"/>
              <a:chExt cx="662" cy="384"/>
            </a:xfrm>
          </p:grpSpPr>
          <p:sp>
            <p:nvSpPr>
              <p:cNvPr id="37934" name="Rectangle 99">
                <a:extLst>
                  <a:ext uri="{FF2B5EF4-FFF2-40B4-BE49-F238E27FC236}">
                    <a16:creationId xmlns:a16="http://schemas.microsoft.com/office/drawing/2014/main" id="{66C4527C-420E-48F9-B13D-98C4445279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3552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数学实验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35" name="Rectangle 100">
                <a:extLst>
                  <a:ext uri="{FF2B5EF4-FFF2-40B4-BE49-F238E27FC236}">
                    <a16:creationId xmlns:a16="http://schemas.microsoft.com/office/drawing/2014/main" id="{DC1D6B24-9EEA-449A-9066-6AC4B4036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3552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931" name="Group 101">
              <a:extLst>
                <a:ext uri="{FF2B5EF4-FFF2-40B4-BE49-F238E27FC236}">
                  <a16:creationId xmlns:a16="http://schemas.microsoft.com/office/drawing/2014/main" id="{CE08B3EC-8807-4B43-8AFD-2988973B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644"/>
              <a:ext cx="1462" cy="234"/>
              <a:chOff x="1626" y="3552"/>
              <a:chExt cx="878" cy="384"/>
            </a:xfrm>
          </p:grpSpPr>
          <p:sp>
            <p:nvSpPr>
              <p:cNvPr id="37932" name="Rectangle 102">
                <a:extLst>
                  <a:ext uri="{FF2B5EF4-FFF2-40B4-BE49-F238E27FC236}">
                    <a16:creationId xmlns:a16="http://schemas.microsoft.com/office/drawing/2014/main" id="{0BA9CEFE-9247-43C7-ADEC-DDB59A1D9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9" y="3552"/>
                <a:ext cx="79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运筹学；计算机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37933" name="Rectangle 103">
                <a:extLst>
                  <a:ext uri="{FF2B5EF4-FFF2-40B4-BE49-F238E27FC236}">
                    <a16:creationId xmlns:a16="http://schemas.microsoft.com/office/drawing/2014/main" id="{C1AF6277-4989-4179-AF0B-B17E58605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" y="3552"/>
                <a:ext cx="87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nimBg="1" autoUpdateAnimBg="0"/>
      <p:bldP spid="56324" grpId="0" animBg="1" autoUpdateAnimBg="0"/>
      <p:bldP spid="56325" grpId="0" animBg="1" autoUpdateAnimBg="0"/>
      <p:bldP spid="56327" grpId="0" animBg="1"/>
      <p:bldP spid="56328" grpId="0" animBg="1" autoUpdateAnimBg="0"/>
      <p:bldP spid="563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extLst>
              <a:ext uri="{FF2B5EF4-FFF2-40B4-BE49-F238E27FC236}">
                <a16:creationId xmlns:a16="http://schemas.microsoft.com/office/drawing/2014/main" id="{D4644A55-ADC8-41D9-A6DB-10F4D0492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0810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先修课程要求</a:t>
            </a:r>
          </a:p>
        </p:txBody>
      </p:sp>
      <p:graphicFrame>
        <p:nvGraphicFramePr>
          <p:cNvPr id="57347" name="Object 3">
            <a:extLst>
              <a:ext uri="{FF2B5EF4-FFF2-40B4-BE49-F238E27FC236}">
                <a16:creationId xmlns:a16="http://schemas.microsoft.com/office/drawing/2014/main" id="{ECCBCCA4-FE77-469B-BD61-47F514EEB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3657600"/>
          <a:ext cx="1143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9" r:id="rId3" imgW="482391" imgH="228501" progId="Equation.3">
                  <p:embed/>
                </p:oleObj>
              </mc:Choice>
              <mc:Fallback>
                <p:oleObj r:id="rId3" imgW="482391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657600"/>
                        <a:ext cx="11430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8" name="Object 4">
            <a:extLst>
              <a:ext uri="{FF2B5EF4-FFF2-40B4-BE49-F238E27FC236}">
                <a16:creationId xmlns:a16="http://schemas.microsoft.com/office/drawing/2014/main" id="{0682F377-57D8-403B-A2F1-7B0F15968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4294188"/>
          <a:ext cx="2514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0" r:id="rId5" imgW="1066800" imgH="228600" progId="Equation.3">
                  <p:embed/>
                </p:oleObj>
              </mc:Choice>
              <mc:Fallback>
                <p:oleObj r:id="rId5" imgW="10668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294188"/>
                        <a:ext cx="25146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>
            <a:extLst>
              <a:ext uri="{FF2B5EF4-FFF2-40B4-BE49-F238E27FC236}">
                <a16:creationId xmlns:a16="http://schemas.microsoft.com/office/drawing/2014/main" id="{20B4ADBA-40E8-4CD0-908A-8861802FE7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4803775"/>
          <a:ext cx="1676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1" r:id="rId7" imgW="711200" imgH="228600" progId="Equation.3">
                  <p:embed/>
                </p:oleObj>
              </mc:Choice>
              <mc:Fallback>
                <p:oleObj r:id="rId7" imgW="711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803775"/>
                        <a:ext cx="16764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>
            <a:extLst>
              <a:ext uri="{FF2B5EF4-FFF2-40B4-BE49-F238E27FC236}">
                <a16:creationId xmlns:a16="http://schemas.microsoft.com/office/drawing/2014/main" id="{8BC1F802-D059-4748-8BCC-754D768D8D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5386388"/>
          <a:ext cx="16764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2" r:id="rId9" imgW="698500" imgH="228600" progId="Equation.3">
                  <p:embed/>
                </p:oleObj>
              </mc:Choice>
              <mc:Fallback>
                <p:oleObj r:id="rId9" imgW="6985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386388"/>
                        <a:ext cx="16764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7">
            <a:extLst>
              <a:ext uri="{FF2B5EF4-FFF2-40B4-BE49-F238E27FC236}">
                <a16:creationId xmlns:a16="http://schemas.microsoft.com/office/drawing/2014/main" id="{7A9DCBF5-DF05-487D-B5A4-F88C49D3D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6019800"/>
          <a:ext cx="2514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3" r:id="rId11" imgW="1054100" imgH="228600" progId="Equation.3">
                  <p:embed/>
                </p:oleObj>
              </mc:Choice>
              <mc:Fallback>
                <p:oleObj r:id="rId11" imgW="10541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6019800"/>
                        <a:ext cx="25146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Text Box 8">
            <a:extLst>
              <a:ext uri="{FF2B5EF4-FFF2-40B4-BE49-F238E27FC236}">
                <a16:creationId xmlns:a16="http://schemas.microsoft.com/office/drawing/2014/main" id="{3AAF81E9-82D9-429B-AFF9-6839F56B6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410200"/>
            <a:ext cx="5486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最优解：</a:t>
            </a:r>
            <a:r>
              <a:rPr lang="zh-CN" altLang="en-US" sz="2800" b="1" i="1"/>
              <a:t>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1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2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3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6</a:t>
            </a:r>
            <a:r>
              <a:rPr lang="en-US" altLang="zh-CN" sz="2800" b="1">
                <a:solidFill>
                  <a:srgbClr val="FF3300"/>
                </a:solidFill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7</a:t>
            </a:r>
            <a:r>
              <a:rPr lang="en-US" altLang="zh-CN" sz="2800" b="1">
                <a:solidFill>
                  <a:srgbClr val="FF3300"/>
                </a:solidFill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9</a:t>
            </a:r>
            <a:r>
              <a:rPr lang="en-US" altLang="zh-CN" sz="2800" b="1">
                <a:solidFill>
                  <a:srgbClr val="FF3300"/>
                </a:solidFill>
              </a:rPr>
              <a:t> =1</a:t>
            </a:r>
            <a:r>
              <a:rPr lang="en-US" altLang="zh-CN" sz="2800" b="1"/>
              <a:t>, </a:t>
            </a:r>
            <a:r>
              <a:rPr lang="zh-CN" altLang="en-US" sz="2800" b="1">
                <a:latin typeface="宋体" panose="02010600030101010101" pitchFamily="2" charset="-122"/>
              </a:rPr>
              <a:t>其他为</a:t>
            </a:r>
            <a:r>
              <a:rPr lang="en-US" altLang="zh-CN" sz="2800" b="1"/>
              <a:t>0</a:t>
            </a:r>
            <a:r>
              <a:rPr lang="zh-CN" altLang="en-US" sz="2800" b="1"/>
              <a:t>；</a:t>
            </a:r>
            <a:r>
              <a:rPr lang="en-US" altLang="zh-CN" sz="2800" b="1"/>
              <a:t>6</a:t>
            </a:r>
            <a:r>
              <a:rPr lang="zh-CN" altLang="en-US" sz="2800" b="1">
                <a:latin typeface="宋体" panose="02010600030101010101" pitchFamily="2" charset="-122"/>
              </a:rPr>
              <a:t>门课程，总学分</a:t>
            </a:r>
            <a:r>
              <a:rPr lang="en-US" altLang="zh-CN" sz="2800" b="1"/>
              <a:t>21. 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F069248-0A35-49A8-9E88-FCB17175AE85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895600"/>
            <a:ext cx="2590800" cy="708025"/>
            <a:chOff x="3792" y="1824"/>
            <a:chExt cx="1632" cy="446"/>
          </a:xfrm>
        </p:grpSpPr>
        <p:graphicFrame>
          <p:nvGraphicFramePr>
            <p:cNvPr id="39029" name="Object 10">
              <a:extLst>
                <a:ext uri="{FF2B5EF4-FFF2-40B4-BE49-F238E27FC236}">
                  <a16:creationId xmlns:a16="http://schemas.microsoft.com/office/drawing/2014/main" id="{30B4C1E0-0B3E-4970-B893-70B087BEF5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1920"/>
            <a:ext cx="1632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4" r:id="rId13" imgW="1066800" imgH="228600" progId="Equation.3">
                    <p:embed/>
                  </p:oleObj>
                </mc:Choice>
                <mc:Fallback>
                  <p:oleObj r:id="rId13" imgW="10668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920"/>
                          <a:ext cx="1632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30" name="AutoShape 11">
              <a:extLst>
                <a:ext uri="{FF2B5EF4-FFF2-40B4-BE49-F238E27FC236}">
                  <a16:creationId xmlns:a16="http://schemas.microsoft.com/office/drawing/2014/main" id="{19B18D48-31D2-4165-B570-20CC88FB5D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12" y="1776"/>
              <a:ext cx="144" cy="240"/>
            </a:xfrm>
            <a:prstGeom prst="leftRightArrow">
              <a:avLst>
                <a:gd name="adj1" fmla="val 50000"/>
                <a:gd name="adj2" fmla="val 2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8922" name="Rectangle 12">
            <a:extLst>
              <a:ext uri="{FF2B5EF4-FFF2-40B4-BE49-F238E27FC236}">
                <a16:creationId xmlns:a16="http://schemas.microsoft.com/office/drawing/2014/main" id="{38D645D5-0CA0-426E-B7E4-32D2EC35E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"/>
            <a:ext cx="25146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0-1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规划模型</a:t>
            </a:r>
            <a:r>
              <a:rPr lang="zh-CN" altLang="en-US" sz="3200" b="1">
                <a:latin typeface="宋体" panose="02010600030101010101" pitchFamily="2" charset="-122"/>
              </a:rPr>
              <a:t> </a:t>
            </a:r>
            <a:endParaRPr lang="zh-CN" altLang="en-US" sz="3200">
              <a:solidFill>
                <a:schemeClr val="tx2"/>
              </a:solidFill>
            </a:endParaRPr>
          </a:p>
        </p:txBody>
      </p:sp>
      <p:sp>
        <p:nvSpPr>
          <p:cNvPr id="57357" name="Text Box 13">
            <a:extLst>
              <a:ext uri="{FF2B5EF4-FFF2-40B4-BE49-F238E27FC236}">
                <a16:creationId xmlns:a16="http://schemas.microsoft.com/office/drawing/2014/main" id="{4EDB956B-552B-45E8-B2E9-52CC588D2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33400"/>
            <a:ext cx="16764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约束条件</a:t>
            </a:r>
          </a:p>
        </p:txBody>
      </p:sp>
      <p:sp>
        <p:nvSpPr>
          <p:cNvPr id="57358" name="Text Box 14">
            <a:extLst>
              <a:ext uri="{FF2B5EF4-FFF2-40B4-BE49-F238E27FC236}">
                <a16:creationId xmlns:a16="http://schemas.microsoft.com/office/drawing/2014/main" id="{AD8062E1-C753-469B-86C7-712EF999E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6144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=1</a:t>
            </a:r>
            <a:r>
              <a:rPr lang="zh-CN" altLang="en-US" sz="2800" b="1"/>
              <a:t>必有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 </a:t>
            </a:r>
            <a:r>
              <a:rPr lang="en-US" altLang="zh-CN" sz="2800" b="1"/>
              <a:t>=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 </a:t>
            </a:r>
            <a:r>
              <a:rPr lang="en-US" altLang="zh-CN" sz="2800" b="1"/>
              <a:t>=1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7C9F9241-9312-4F30-B9F5-CF12CF85872E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133600"/>
            <a:ext cx="2362200" cy="714375"/>
            <a:chOff x="3840" y="1344"/>
            <a:chExt cx="1488" cy="450"/>
          </a:xfrm>
        </p:grpSpPr>
        <p:graphicFrame>
          <p:nvGraphicFramePr>
            <p:cNvPr id="39027" name="Object 16">
              <a:extLst>
                <a:ext uri="{FF2B5EF4-FFF2-40B4-BE49-F238E27FC236}">
                  <a16:creationId xmlns:a16="http://schemas.microsoft.com/office/drawing/2014/main" id="{F6193311-48FF-446C-8781-727BCF06E4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" y="1440"/>
            <a:ext cx="1488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5" r:id="rId15" imgW="965200" imgH="228600" progId="Equation.3">
                    <p:embed/>
                  </p:oleObj>
                </mc:Choice>
                <mc:Fallback>
                  <p:oleObj r:id="rId15" imgW="96520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40"/>
                          <a:ext cx="1488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28" name="AutoShape 17">
              <a:extLst>
                <a:ext uri="{FF2B5EF4-FFF2-40B4-BE49-F238E27FC236}">
                  <a16:creationId xmlns:a16="http://schemas.microsoft.com/office/drawing/2014/main" id="{EAF39300-CE1D-4C2D-A9C7-71B6C135D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44"/>
              <a:ext cx="306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AB8999C5-3663-4099-BBCF-95F60A88A8F5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3657600"/>
            <a:ext cx="1828800" cy="538163"/>
            <a:chOff x="4560" y="2304"/>
            <a:chExt cx="1152" cy="339"/>
          </a:xfrm>
        </p:grpSpPr>
        <p:graphicFrame>
          <p:nvGraphicFramePr>
            <p:cNvPr id="39025" name="Object 19">
              <a:extLst>
                <a:ext uri="{FF2B5EF4-FFF2-40B4-BE49-F238E27FC236}">
                  <a16:creationId xmlns:a16="http://schemas.microsoft.com/office/drawing/2014/main" id="{67863497-1329-40EC-AB3F-2319EC2CDE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8" y="2304"/>
            <a:ext cx="1004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6" name="Equation" r:id="rId17" imgW="672808" imgH="228501" progId="Equation.3">
                    <p:embed/>
                  </p:oleObj>
                </mc:Choice>
                <mc:Fallback>
                  <p:oleObj name="Equation" r:id="rId17" imgW="672808" imgH="228501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8" y="2304"/>
                          <a:ext cx="1004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26" name="AutoShape 20">
              <a:extLst>
                <a:ext uri="{FF2B5EF4-FFF2-40B4-BE49-F238E27FC236}">
                  <a16:creationId xmlns:a16="http://schemas.microsoft.com/office/drawing/2014/main" id="{66CF28DD-DE78-4110-9E74-4ABA14433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352"/>
              <a:ext cx="96" cy="258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7365" name="Text Box 21">
            <a:extLst>
              <a:ext uri="{FF2B5EF4-FFF2-40B4-BE49-F238E27FC236}">
                <a16:creationId xmlns:a16="http://schemas.microsoft.com/office/drawing/2014/main" id="{7900494F-7992-43EF-A8AE-FBDC9C78A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967288"/>
            <a:ext cx="3690938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模型求解（</a:t>
            </a:r>
            <a:r>
              <a:rPr lang="en-US" altLang="zh-CN" sz="2800" b="1"/>
              <a:t>LINGO</a:t>
            </a:r>
            <a:r>
              <a:rPr lang="zh-CN" altLang="en-US" sz="2800" b="1"/>
              <a:t>）</a:t>
            </a:r>
          </a:p>
        </p:txBody>
      </p:sp>
      <p:grpSp>
        <p:nvGrpSpPr>
          <p:cNvPr id="5" name="Group 22">
            <a:extLst>
              <a:ext uri="{FF2B5EF4-FFF2-40B4-BE49-F238E27FC236}">
                <a16:creationId xmlns:a16="http://schemas.microsoft.com/office/drawing/2014/main" id="{824B0F02-24FC-45C9-969F-1330C53596AE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484313"/>
            <a:ext cx="457200" cy="3444875"/>
            <a:chOff x="144" y="720"/>
            <a:chExt cx="288" cy="2170"/>
          </a:xfrm>
        </p:grpSpPr>
        <p:sp>
          <p:nvSpPr>
            <p:cNvPr id="39022" name="Text Box 23">
              <a:extLst>
                <a:ext uri="{FF2B5EF4-FFF2-40B4-BE49-F238E27FC236}">
                  <a16:creationId xmlns:a16="http://schemas.microsoft.com/office/drawing/2014/main" id="{F04D7B26-81C1-48D5-80A3-41DAB5F57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720"/>
              <a:ext cx="288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  </a:t>
              </a:r>
            </a:p>
          </p:txBody>
        </p:sp>
        <p:sp>
          <p:nvSpPr>
            <p:cNvPr id="39023" name="Text Box 24">
              <a:extLst>
                <a:ext uri="{FF2B5EF4-FFF2-40B4-BE49-F238E27FC236}">
                  <a16:creationId xmlns:a16="http://schemas.microsoft.com/office/drawing/2014/main" id="{22238403-1555-4DAF-9F5B-774FAC607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72"/>
              <a:ext cx="28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  </a:t>
              </a:r>
            </a:p>
          </p:txBody>
        </p:sp>
        <p:sp>
          <p:nvSpPr>
            <p:cNvPr id="39024" name="Text Box 25">
              <a:extLst>
                <a:ext uri="{FF2B5EF4-FFF2-40B4-BE49-F238E27FC236}">
                  <a16:creationId xmlns:a16="http://schemas.microsoft.com/office/drawing/2014/main" id="{02815E88-A1E3-4336-BB54-4D5AA465A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60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 </a:t>
              </a:r>
            </a:p>
          </p:txBody>
        </p:sp>
      </p:grpSp>
      <p:grpSp>
        <p:nvGrpSpPr>
          <p:cNvPr id="6" name="Group 26">
            <a:extLst>
              <a:ext uri="{FF2B5EF4-FFF2-40B4-BE49-F238E27FC236}">
                <a16:creationId xmlns:a16="http://schemas.microsoft.com/office/drawing/2014/main" id="{3A77AB3C-4D3F-4EBA-86EA-997F5DE19CFA}"/>
              </a:ext>
            </a:extLst>
          </p:cNvPr>
          <p:cNvGrpSpPr>
            <a:grpSpLocks/>
          </p:cNvGrpSpPr>
          <p:nvPr/>
        </p:nvGrpSpPr>
        <p:grpSpPr bwMode="auto">
          <a:xfrm>
            <a:off x="80963" y="1062038"/>
            <a:ext cx="5329237" cy="3814762"/>
            <a:chOff x="51" y="475"/>
            <a:chExt cx="3357" cy="2403"/>
          </a:xfrm>
        </p:grpSpPr>
        <p:grpSp>
          <p:nvGrpSpPr>
            <p:cNvPr id="38930" name="Group 27">
              <a:extLst>
                <a:ext uri="{FF2B5EF4-FFF2-40B4-BE49-F238E27FC236}">
                  <a16:creationId xmlns:a16="http://schemas.microsoft.com/office/drawing/2014/main" id="{EA866768-C7A8-40BB-A9E7-BEB31E0002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" y="475"/>
              <a:ext cx="3357" cy="2403"/>
              <a:chOff x="960" y="475"/>
              <a:chExt cx="3357" cy="2403"/>
            </a:xfrm>
          </p:grpSpPr>
          <p:grpSp>
            <p:nvGrpSpPr>
              <p:cNvPr id="38932" name="Group 28">
                <a:extLst>
                  <a:ext uri="{FF2B5EF4-FFF2-40B4-BE49-F238E27FC236}">
                    <a16:creationId xmlns:a16="http://schemas.microsoft.com/office/drawing/2014/main" id="{0176F79A-C0D8-42DF-859F-922BA83B72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75"/>
                <a:ext cx="670" cy="299"/>
                <a:chOff x="0" y="0"/>
                <a:chExt cx="518" cy="480"/>
              </a:xfrm>
            </p:grpSpPr>
            <p:sp>
              <p:nvSpPr>
                <p:cNvPr id="39020" name="Rectangle 29">
                  <a:extLst>
                    <a:ext uri="{FF2B5EF4-FFF2-40B4-BE49-F238E27FC236}">
                      <a16:creationId xmlns:a16="http://schemas.microsoft.com/office/drawing/2014/main" id="{D9A8C591-DFAF-46A2-94C7-4F4DA0443A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3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课号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21" name="Rectangle 30">
                  <a:extLst>
                    <a:ext uri="{FF2B5EF4-FFF2-40B4-BE49-F238E27FC236}">
                      <a16:creationId xmlns:a16="http://schemas.microsoft.com/office/drawing/2014/main" id="{B9084E7B-D9A2-41E8-AF0E-F2D05BE977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1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3" name="Group 31">
                <a:extLst>
                  <a:ext uri="{FF2B5EF4-FFF2-40B4-BE49-F238E27FC236}">
                    <a16:creationId xmlns:a16="http://schemas.microsoft.com/office/drawing/2014/main" id="{88552FA7-6FAB-4AD4-95CE-A5299A4B81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482"/>
                <a:ext cx="1102" cy="292"/>
                <a:chOff x="518" y="0"/>
                <a:chExt cx="662" cy="480"/>
              </a:xfrm>
            </p:grpSpPr>
            <p:sp>
              <p:nvSpPr>
                <p:cNvPr id="39018" name="Rectangle 32">
                  <a:extLst>
                    <a:ext uri="{FF2B5EF4-FFF2-40B4-BE49-F238E27FC236}">
                      <a16:creationId xmlns:a16="http://schemas.microsoft.com/office/drawing/2014/main" id="{55E4123D-982A-4564-A9A1-A448215BAD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0"/>
                  <a:ext cx="576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课名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19" name="Rectangle 33">
                  <a:extLst>
                    <a:ext uri="{FF2B5EF4-FFF2-40B4-BE49-F238E27FC236}">
                      <a16:creationId xmlns:a16="http://schemas.microsoft.com/office/drawing/2014/main" id="{19B08F72-485E-4BBC-83FF-CDBC586DDB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0"/>
                  <a:ext cx="66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4" name="Group 34">
                <a:extLst>
                  <a:ext uri="{FF2B5EF4-FFF2-40B4-BE49-F238E27FC236}">
                    <a16:creationId xmlns:a16="http://schemas.microsoft.com/office/drawing/2014/main" id="{51D6C45D-22A3-421C-B958-3A89EA4F98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482"/>
                <a:ext cx="1581" cy="292"/>
                <a:chOff x="2504" y="0"/>
                <a:chExt cx="950" cy="480"/>
              </a:xfrm>
            </p:grpSpPr>
            <p:sp>
              <p:nvSpPr>
                <p:cNvPr id="39016" name="Rectangle 35">
                  <a:extLst>
                    <a:ext uri="{FF2B5EF4-FFF2-40B4-BE49-F238E27FC236}">
                      <a16:creationId xmlns:a16="http://schemas.microsoft.com/office/drawing/2014/main" id="{3AAE4AD5-592E-4701-854E-8DA6323E5A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0"/>
                  <a:ext cx="864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先修课要求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17" name="Rectangle 36">
                  <a:extLst>
                    <a:ext uri="{FF2B5EF4-FFF2-40B4-BE49-F238E27FC236}">
                      <a16:creationId xmlns:a16="http://schemas.microsoft.com/office/drawing/2014/main" id="{A5CDEE9C-D1B9-4C82-815F-83BA5A530D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0"/>
                  <a:ext cx="950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5" name="Group 37">
                <a:extLst>
                  <a:ext uri="{FF2B5EF4-FFF2-40B4-BE49-F238E27FC236}">
                    <a16:creationId xmlns:a16="http://schemas.microsoft.com/office/drawing/2014/main" id="{3B6C0949-710A-4D81-907B-B7C71C46D6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768"/>
                <a:ext cx="670" cy="240"/>
                <a:chOff x="0" y="480"/>
                <a:chExt cx="518" cy="384"/>
              </a:xfrm>
            </p:grpSpPr>
            <p:sp>
              <p:nvSpPr>
                <p:cNvPr id="39014" name="Rectangle 38">
                  <a:extLst>
                    <a:ext uri="{FF2B5EF4-FFF2-40B4-BE49-F238E27FC236}">
                      <a16:creationId xmlns:a16="http://schemas.microsoft.com/office/drawing/2014/main" id="{2463BBEA-7FF2-458A-BBA8-D60316CCB1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80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1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15" name="Rectangle 39">
                  <a:extLst>
                    <a:ext uri="{FF2B5EF4-FFF2-40B4-BE49-F238E27FC236}">
                      <a16:creationId xmlns:a16="http://schemas.microsoft.com/office/drawing/2014/main" id="{1640861A-6205-4ED8-B291-11D177D59E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8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6" name="Group 40">
                <a:extLst>
                  <a:ext uri="{FF2B5EF4-FFF2-40B4-BE49-F238E27FC236}">
                    <a16:creationId xmlns:a16="http://schemas.microsoft.com/office/drawing/2014/main" id="{302BEEB3-C257-4986-B859-4CBE73F6DE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774"/>
                <a:ext cx="1102" cy="234"/>
                <a:chOff x="518" y="480"/>
                <a:chExt cx="662" cy="384"/>
              </a:xfrm>
            </p:grpSpPr>
            <p:sp>
              <p:nvSpPr>
                <p:cNvPr id="39012" name="Rectangle 41">
                  <a:extLst>
                    <a:ext uri="{FF2B5EF4-FFF2-40B4-BE49-F238E27FC236}">
                      <a16:creationId xmlns:a16="http://schemas.microsoft.com/office/drawing/2014/main" id="{7BFD61D9-9D8A-4128-87A3-BD1D6E8D18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480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13" name="Rectangle 42">
                  <a:extLst>
                    <a:ext uri="{FF2B5EF4-FFF2-40B4-BE49-F238E27FC236}">
                      <a16:creationId xmlns:a16="http://schemas.microsoft.com/office/drawing/2014/main" id="{3DBA16F6-FAEF-49D1-9863-BC3A452972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480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7" name="Group 43">
                <a:extLst>
                  <a:ext uri="{FF2B5EF4-FFF2-40B4-BE49-F238E27FC236}">
                    <a16:creationId xmlns:a16="http://schemas.microsoft.com/office/drawing/2014/main" id="{ECE41028-450E-41BB-AFF0-3CDF649674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774"/>
                <a:ext cx="1581" cy="234"/>
                <a:chOff x="2504" y="480"/>
                <a:chExt cx="950" cy="384"/>
              </a:xfrm>
            </p:grpSpPr>
            <p:sp>
              <p:nvSpPr>
                <p:cNvPr id="39010" name="Rectangle 44">
                  <a:extLst>
                    <a:ext uri="{FF2B5EF4-FFF2-40B4-BE49-F238E27FC236}">
                      <a16:creationId xmlns:a16="http://schemas.microsoft.com/office/drawing/2014/main" id="{7D23A59A-7199-40CC-8D74-3DF6B2B997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480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 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11" name="Rectangle 45">
                  <a:extLst>
                    <a:ext uri="{FF2B5EF4-FFF2-40B4-BE49-F238E27FC236}">
                      <a16:creationId xmlns:a16="http://schemas.microsoft.com/office/drawing/2014/main" id="{33BA13F7-25EB-4A8C-8646-7079CC80EF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480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8" name="Group 46">
                <a:extLst>
                  <a:ext uri="{FF2B5EF4-FFF2-40B4-BE49-F238E27FC236}">
                    <a16:creationId xmlns:a16="http://schemas.microsoft.com/office/drawing/2014/main" id="{BC72BDDF-995F-4DB7-BBA9-D8EBC582F5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1002"/>
                <a:ext cx="670" cy="240"/>
                <a:chOff x="0" y="864"/>
                <a:chExt cx="518" cy="384"/>
              </a:xfrm>
            </p:grpSpPr>
            <p:sp>
              <p:nvSpPr>
                <p:cNvPr id="39008" name="Rectangle 47">
                  <a:extLst>
                    <a:ext uri="{FF2B5EF4-FFF2-40B4-BE49-F238E27FC236}">
                      <a16:creationId xmlns:a16="http://schemas.microsoft.com/office/drawing/2014/main" id="{3209731D-CC65-4E5D-8E96-B97416CFC5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864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2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09" name="Rectangle 48">
                  <a:extLst>
                    <a:ext uri="{FF2B5EF4-FFF2-40B4-BE49-F238E27FC236}">
                      <a16:creationId xmlns:a16="http://schemas.microsoft.com/office/drawing/2014/main" id="{F9FA6001-3190-476F-8490-E1B718C2A1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6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9" name="Group 49">
                <a:extLst>
                  <a:ext uri="{FF2B5EF4-FFF2-40B4-BE49-F238E27FC236}">
                    <a16:creationId xmlns:a16="http://schemas.microsoft.com/office/drawing/2014/main" id="{F99EB4EA-3C06-4AF7-86AA-39F49421A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1008"/>
                <a:ext cx="1102" cy="234"/>
                <a:chOff x="518" y="864"/>
                <a:chExt cx="662" cy="384"/>
              </a:xfrm>
            </p:grpSpPr>
            <p:sp>
              <p:nvSpPr>
                <p:cNvPr id="39006" name="Rectangle 50">
                  <a:extLst>
                    <a:ext uri="{FF2B5EF4-FFF2-40B4-BE49-F238E27FC236}">
                      <a16:creationId xmlns:a16="http://schemas.microsoft.com/office/drawing/2014/main" id="{BB4777A8-215E-4F82-8597-BDCC27AC66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864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07" name="Rectangle 51">
                  <a:extLst>
                    <a:ext uri="{FF2B5EF4-FFF2-40B4-BE49-F238E27FC236}">
                      <a16:creationId xmlns:a16="http://schemas.microsoft.com/office/drawing/2014/main" id="{F38823E6-C558-406C-A8AC-00ACFBD4D0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864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0" name="Group 52">
                <a:extLst>
                  <a:ext uri="{FF2B5EF4-FFF2-40B4-BE49-F238E27FC236}">
                    <a16:creationId xmlns:a16="http://schemas.microsoft.com/office/drawing/2014/main" id="{D757E966-9690-4CF4-9FB0-D2591AD2D8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1008"/>
                <a:ext cx="1581" cy="234"/>
                <a:chOff x="2504" y="864"/>
                <a:chExt cx="950" cy="384"/>
              </a:xfrm>
            </p:grpSpPr>
            <p:sp>
              <p:nvSpPr>
                <p:cNvPr id="39004" name="Rectangle 53">
                  <a:extLst>
                    <a:ext uri="{FF2B5EF4-FFF2-40B4-BE49-F238E27FC236}">
                      <a16:creationId xmlns:a16="http://schemas.microsoft.com/office/drawing/2014/main" id="{1C6BF96F-F8D6-48D3-A473-32CF9EF65D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864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 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05" name="Rectangle 54">
                  <a:extLst>
                    <a:ext uri="{FF2B5EF4-FFF2-40B4-BE49-F238E27FC236}">
                      <a16:creationId xmlns:a16="http://schemas.microsoft.com/office/drawing/2014/main" id="{C618D112-91B8-431A-9AF6-DB1923F18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864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1" name="Group 55">
                <a:extLst>
                  <a:ext uri="{FF2B5EF4-FFF2-40B4-BE49-F238E27FC236}">
                    <a16:creationId xmlns:a16="http://schemas.microsoft.com/office/drawing/2014/main" id="{73E822B4-D250-4402-BAA1-B78075C43B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1236"/>
                <a:ext cx="670" cy="239"/>
                <a:chOff x="0" y="1248"/>
                <a:chExt cx="518" cy="384"/>
              </a:xfrm>
            </p:grpSpPr>
            <p:sp>
              <p:nvSpPr>
                <p:cNvPr id="39002" name="Rectangle 56">
                  <a:extLst>
                    <a:ext uri="{FF2B5EF4-FFF2-40B4-BE49-F238E27FC236}">
                      <a16:creationId xmlns:a16="http://schemas.microsoft.com/office/drawing/2014/main" id="{7444271D-14C2-4D10-96C4-FF92AB9445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248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03" name="Rectangle 57">
                  <a:extLst>
                    <a:ext uri="{FF2B5EF4-FFF2-40B4-BE49-F238E27FC236}">
                      <a16:creationId xmlns:a16="http://schemas.microsoft.com/office/drawing/2014/main" id="{D2D9B642-E3C9-48B3-B174-98A925FE08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48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2" name="Group 58">
                <a:extLst>
                  <a:ext uri="{FF2B5EF4-FFF2-40B4-BE49-F238E27FC236}">
                    <a16:creationId xmlns:a16="http://schemas.microsoft.com/office/drawing/2014/main" id="{BF0F82FE-09EB-493A-ADAE-1557A7B4AF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1242"/>
                <a:ext cx="1102" cy="233"/>
                <a:chOff x="518" y="1248"/>
                <a:chExt cx="662" cy="384"/>
              </a:xfrm>
            </p:grpSpPr>
            <p:sp>
              <p:nvSpPr>
                <p:cNvPr id="39000" name="Rectangle 59">
                  <a:extLst>
                    <a:ext uri="{FF2B5EF4-FFF2-40B4-BE49-F238E27FC236}">
                      <a16:creationId xmlns:a16="http://schemas.microsoft.com/office/drawing/2014/main" id="{F0BD53F9-5D04-4E65-A65E-FF6A4928FB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1248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最优化方法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9001" name="Rectangle 60">
                  <a:extLst>
                    <a:ext uri="{FF2B5EF4-FFF2-40B4-BE49-F238E27FC236}">
                      <a16:creationId xmlns:a16="http://schemas.microsoft.com/office/drawing/2014/main" id="{87FF6EE4-B01D-4264-AA39-A87066B925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1248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3" name="Group 61">
                <a:extLst>
                  <a:ext uri="{FF2B5EF4-FFF2-40B4-BE49-F238E27FC236}">
                    <a16:creationId xmlns:a16="http://schemas.microsoft.com/office/drawing/2014/main" id="{C843B25C-2CF8-4D36-9E8C-49B07BE60F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1242"/>
                <a:ext cx="1581" cy="233"/>
                <a:chOff x="2504" y="1248"/>
                <a:chExt cx="950" cy="384"/>
              </a:xfrm>
            </p:grpSpPr>
            <p:sp>
              <p:nvSpPr>
                <p:cNvPr id="38998" name="Rectangle 62">
                  <a:extLst>
                    <a:ext uri="{FF2B5EF4-FFF2-40B4-BE49-F238E27FC236}">
                      <a16:creationId xmlns:a16="http://schemas.microsoft.com/office/drawing/2014/main" id="{5800D032-45F2-4456-AE7F-39D43AC977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1248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微积分；线性代数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99" name="Rectangle 63">
                  <a:extLst>
                    <a:ext uri="{FF2B5EF4-FFF2-40B4-BE49-F238E27FC236}">
                      <a16:creationId xmlns:a16="http://schemas.microsoft.com/office/drawing/2014/main" id="{447CD91F-42E7-4BAF-8DCA-1289744ACF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1248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4" name="Group 64">
                <a:extLst>
                  <a:ext uri="{FF2B5EF4-FFF2-40B4-BE49-F238E27FC236}">
                    <a16:creationId xmlns:a16="http://schemas.microsoft.com/office/drawing/2014/main" id="{EF7AE5D5-E4AB-4584-BB4A-1C86F5A484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1469"/>
                <a:ext cx="670" cy="240"/>
                <a:chOff x="0" y="1632"/>
                <a:chExt cx="518" cy="384"/>
              </a:xfrm>
            </p:grpSpPr>
            <p:sp>
              <p:nvSpPr>
                <p:cNvPr id="38996" name="Rectangle 65">
                  <a:extLst>
                    <a:ext uri="{FF2B5EF4-FFF2-40B4-BE49-F238E27FC236}">
                      <a16:creationId xmlns:a16="http://schemas.microsoft.com/office/drawing/2014/main" id="{849CC083-3A02-4B60-8D59-86D859945F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632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97" name="Rectangle 66">
                  <a:extLst>
                    <a:ext uri="{FF2B5EF4-FFF2-40B4-BE49-F238E27FC236}">
                      <a16:creationId xmlns:a16="http://schemas.microsoft.com/office/drawing/2014/main" id="{C0C675FD-A2D1-4C74-86B3-2D7E5732B9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32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5" name="Group 67">
                <a:extLst>
                  <a:ext uri="{FF2B5EF4-FFF2-40B4-BE49-F238E27FC236}">
                    <a16:creationId xmlns:a16="http://schemas.microsoft.com/office/drawing/2014/main" id="{05B2A634-A765-4CC4-85A5-74B380E15C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1475"/>
                <a:ext cx="1102" cy="234"/>
                <a:chOff x="518" y="1632"/>
                <a:chExt cx="662" cy="384"/>
              </a:xfrm>
            </p:grpSpPr>
            <p:sp>
              <p:nvSpPr>
                <p:cNvPr id="38994" name="Rectangle 68">
                  <a:extLst>
                    <a:ext uri="{FF2B5EF4-FFF2-40B4-BE49-F238E27FC236}">
                      <a16:creationId xmlns:a16="http://schemas.microsoft.com/office/drawing/2014/main" id="{7DD67778-BB37-4A26-A8E2-8354943A9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1632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数据结构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95" name="Rectangle 69">
                  <a:extLst>
                    <a:ext uri="{FF2B5EF4-FFF2-40B4-BE49-F238E27FC236}">
                      <a16:creationId xmlns:a16="http://schemas.microsoft.com/office/drawing/2014/main" id="{78A444A7-146B-417A-B84D-BADC0E4AB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1632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6" name="Group 70">
                <a:extLst>
                  <a:ext uri="{FF2B5EF4-FFF2-40B4-BE49-F238E27FC236}">
                    <a16:creationId xmlns:a16="http://schemas.microsoft.com/office/drawing/2014/main" id="{6FDA8D9B-42F8-4931-8118-A93D4DC078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1475"/>
                <a:ext cx="1581" cy="234"/>
                <a:chOff x="2504" y="1632"/>
                <a:chExt cx="950" cy="384"/>
              </a:xfrm>
            </p:grpSpPr>
            <p:sp>
              <p:nvSpPr>
                <p:cNvPr id="38992" name="Rectangle 71">
                  <a:extLst>
                    <a:ext uri="{FF2B5EF4-FFF2-40B4-BE49-F238E27FC236}">
                      <a16:creationId xmlns:a16="http://schemas.microsoft.com/office/drawing/2014/main" id="{545A3534-EE70-44DA-BDD2-E43136760D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1632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计算机编程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93" name="Rectangle 72">
                  <a:extLst>
                    <a:ext uri="{FF2B5EF4-FFF2-40B4-BE49-F238E27FC236}">
                      <a16:creationId xmlns:a16="http://schemas.microsoft.com/office/drawing/2014/main" id="{390E120D-2264-4199-9748-C42390D688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1632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7" name="Group 73">
                <a:extLst>
                  <a:ext uri="{FF2B5EF4-FFF2-40B4-BE49-F238E27FC236}">
                    <a16:creationId xmlns:a16="http://schemas.microsoft.com/office/drawing/2014/main" id="{01D86E41-A303-4266-AA8C-57EDB0372F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1703"/>
                <a:ext cx="670" cy="240"/>
                <a:chOff x="0" y="2016"/>
                <a:chExt cx="518" cy="384"/>
              </a:xfrm>
            </p:grpSpPr>
            <p:sp>
              <p:nvSpPr>
                <p:cNvPr id="38990" name="Rectangle 74">
                  <a:extLst>
                    <a:ext uri="{FF2B5EF4-FFF2-40B4-BE49-F238E27FC236}">
                      <a16:creationId xmlns:a16="http://schemas.microsoft.com/office/drawing/2014/main" id="{EADB64A8-F911-449E-A9FE-98164B674D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016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5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91" name="Rectangle 75">
                  <a:extLst>
                    <a:ext uri="{FF2B5EF4-FFF2-40B4-BE49-F238E27FC236}">
                      <a16:creationId xmlns:a16="http://schemas.microsoft.com/office/drawing/2014/main" id="{6CC5BFEC-508C-45EC-9E0A-F704B9D681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016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8" name="Group 76">
                <a:extLst>
                  <a:ext uri="{FF2B5EF4-FFF2-40B4-BE49-F238E27FC236}">
                    <a16:creationId xmlns:a16="http://schemas.microsoft.com/office/drawing/2014/main" id="{D3DE881D-1237-4CF2-A5CE-D76DEB9E02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1709"/>
                <a:ext cx="1102" cy="234"/>
                <a:chOff x="518" y="2016"/>
                <a:chExt cx="662" cy="384"/>
              </a:xfrm>
            </p:grpSpPr>
            <p:sp>
              <p:nvSpPr>
                <p:cNvPr id="38988" name="Rectangle 77">
                  <a:extLst>
                    <a:ext uri="{FF2B5EF4-FFF2-40B4-BE49-F238E27FC236}">
                      <a16:creationId xmlns:a16="http://schemas.microsoft.com/office/drawing/2014/main" id="{78047F52-40C5-4757-BF8D-D96C408671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016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应用统计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89" name="Rectangle 78">
                  <a:extLst>
                    <a:ext uri="{FF2B5EF4-FFF2-40B4-BE49-F238E27FC236}">
                      <a16:creationId xmlns:a16="http://schemas.microsoft.com/office/drawing/2014/main" id="{DFA63BA9-5C95-4C22-8833-162EB533D0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016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49" name="Group 79">
                <a:extLst>
                  <a:ext uri="{FF2B5EF4-FFF2-40B4-BE49-F238E27FC236}">
                    <a16:creationId xmlns:a16="http://schemas.microsoft.com/office/drawing/2014/main" id="{E71C2DA5-2A9F-4CFA-AD04-5D1C76F118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1709"/>
                <a:ext cx="1581" cy="234"/>
                <a:chOff x="2504" y="2016"/>
                <a:chExt cx="950" cy="384"/>
              </a:xfrm>
            </p:grpSpPr>
            <p:sp>
              <p:nvSpPr>
                <p:cNvPr id="38986" name="Rectangle 80">
                  <a:extLst>
                    <a:ext uri="{FF2B5EF4-FFF2-40B4-BE49-F238E27FC236}">
                      <a16:creationId xmlns:a16="http://schemas.microsoft.com/office/drawing/2014/main" id="{1A91BC04-25FE-4518-9C00-67E7D4C1CF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2016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微积分；线性代数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87" name="Rectangle 81">
                  <a:extLst>
                    <a:ext uri="{FF2B5EF4-FFF2-40B4-BE49-F238E27FC236}">
                      <a16:creationId xmlns:a16="http://schemas.microsoft.com/office/drawing/2014/main" id="{9982A2F4-EC27-4B14-BD23-E36B18DB19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2016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0" name="Group 82">
                <a:extLst>
                  <a:ext uri="{FF2B5EF4-FFF2-40B4-BE49-F238E27FC236}">
                    <a16:creationId xmlns:a16="http://schemas.microsoft.com/office/drawing/2014/main" id="{959346E1-71BD-404C-B69C-C15E627F70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1937"/>
                <a:ext cx="670" cy="240"/>
                <a:chOff x="0" y="2400"/>
                <a:chExt cx="518" cy="384"/>
              </a:xfrm>
            </p:grpSpPr>
            <p:sp>
              <p:nvSpPr>
                <p:cNvPr id="38984" name="Rectangle 83">
                  <a:extLst>
                    <a:ext uri="{FF2B5EF4-FFF2-40B4-BE49-F238E27FC236}">
                      <a16:creationId xmlns:a16="http://schemas.microsoft.com/office/drawing/2014/main" id="{A46B5207-F8D8-4F0B-9FE4-CB0E6275C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400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6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85" name="Rectangle 84">
                  <a:extLst>
                    <a:ext uri="{FF2B5EF4-FFF2-40B4-BE49-F238E27FC236}">
                      <a16:creationId xmlns:a16="http://schemas.microsoft.com/office/drawing/2014/main" id="{BD5D5336-5226-415C-9380-51281B090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40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1" name="Group 85">
                <a:extLst>
                  <a:ext uri="{FF2B5EF4-FFF2-40B4-BE49-F238E27FC236}">
                    <a16:creationId xmlns:a16="http://schemas.microsoft.com/office/drawing/2014/main" id="{2E40FDFB-334A-4AE8-83BF-8B140602CF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1943"/>
                <a:ext cx="1102" cy="234"/>
                <a:chOff x="518" y="2400"/>
                <a:chExt cx="662" cy="384"/>
              </a:xfrm>
            </p:grpSpPr>
            <p:sp>
              <p:nvSpPr>
                <p:cNvPr id="38982" name="Rectangle 86">
                  <a:extLst>
                    <a:ext uri="{FF2B5EF4-FFF2-40B4-BE49-F238E27FC236}">
                      <a16:creationId xmlns:a16="http://schemas.microsoft.com/office/drawing/2014/main" id="{AC24EB34-DE7B-4DF7-8AF1-70FD7006A9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400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计算机模拟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83" name="Rectangle 87">
                  <a:extLst>
                    <a:ext uri="{FF2B5EF4-FFF2-40B4-BE49-F238E27FC236}">
                      <a16:creationId xmlns:a16="http://schemas.microsoft.com/office/drawing/2014/main" id="{60DFD120-224D-4BA5-8249-E3267BC60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400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2" name="Group 88">
                <a:extLst>
                  <a:ext uri="{FF2B5EF4-FFF2-40B4-BE49-F238E27FC236}">
                    <a16:creationId xmlns:a16="http://schemas.microsoft.com/office/drawing/2014/main" id="{4A240C4C-EC4C-4290-9164-CEF1797DFC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1943"/>
                <a:ext cx="1581" cy="234"/>
                <a:chOff x="2504" y="2400"/>
                <a:chExt cx="950" cy="384"/>
              </a:xfrm>
            </p:grpSpPr>
            <p:sp>
              <p:nvSpPr>
                <p:cNvPr id="38980" name="Rectangle 89">
                  <a:extLst>
                    <a:ext uri="{FF2B5EF4-FFF2-40B4-BE49-F238E27FC236}">
                      <a16:creationId xmlns:a16="http://schemas.microsoft.com/office/drawing/2014/main" id="{625424E0-A858-4BC7-B6A2-F6579D4C92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2400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计算机编程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81" name="Rectangle 90">
                  <a:extLst>
                    <a:ext uri="{FF2B5EF4-FFF2-40B4-BE49-F238E27FC236}">
                      <a16:creationId xmlns:a16="http://schemas.microsoft.com/office/drawing/2014/main" id="{F03238B2-8B72-4404-B7EB-C93FA87B05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2400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3" name="Group 91">
                <a:extLst>
                  <a:ext uri="{FF2B5EF4-FFF2-40B4-BE49-F238E27FC236}">
                    <a16:creationId xmlns:a16="http://schemas.microsoft.com/office/drawing/2014/main" id="{3C538BB6-3225-4825-B1FA-40D45EC471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171"/>
                <a:ext cx="670" cy="239"/>
                <a:chOff x="0" y="2784"/>
                <a:chExt cx="518" cy="384"/>
              </a:xfrm>
            </p:grpSpPr>
            <p:sp>
              <p:nvSpPr>
                <p:cNvPr id="38978" name="Rectangle 92">
                  <a:extLst>
                    <a:ext uri="{FF2B5EF4-FFF2-40B4-BE49-F238E27FC236}">
                      <a16:creationId xmlns:a16="http://schemas.microsoft.com/office/drawing/2014/main" id="{51AB496A-E53D-452E-8BEB-3BCE2B9BBF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784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7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79" name="Rectangle 93">
                  <a:extLst>
                    <a:ext uri="{FF2B5EF4-FFF2-40B4-BE49-F238E27FC236}">
                      <a16:creationId xmlns:a16="http://schemas.microsoft.com/office/drawing/2014/main" id="{B3A90744-A353-4347-B9AC-75C0E2D55A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78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4" name="Group 94">
                <a:extLst>
                  <a:ext uri="{FF2B5EF4-FFF2-40B4-BE49-F238E27FC236}">
                    <a16:creationId xmlns:a16="http://schemas.microsoft.com/office/drawing/2014/main" id="{F3D59D70-43EB-41EA-9E21-45C0DA577A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2177"/>
                <a:ext cx="1102" cy="233"/>
                <a:chOff x="518" y="2784"/>
                <a:chExt cx="662" cy="384"/>
              </a:xfrm>
            </p:grpSpPr>
            <p:sp>
              <p:nvSpPr>
                <p:cNvPr id="38976" name="Rectangle 95">
                  <a:extLst>
                    <a:ext uri="{FF2B5EF4-FFF2-40B4-BE49-F238E27FC236}">
                      <a16:creationId xmlns:a16="http://schemas.microsoft.com/office/drawing/2014/main" id="{F8638E2E-B781-4729-94CE-906940C65A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784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计算机编程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77" name="Rectangle 96">
                  <a:extLst>
                    <a:ext uri="{FF2B5EF4-FFF2-40B4-BE49-F238E27FC236}">
                      <a16:creationId xmlns:a16="http://schemas.microsoft.com/office/drawing/2014/main" id="{2B6E10F3-7317-4B03-961A-124758D554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784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5" name="Group 97">
                <a:extLst>
                  <a:ext uri="{FF2B5EF4-FFF2-40B4-BE49-F238E27FC236}">
                    <a16:creationId xmlns:a16="http://schemas.microsoft.com/office/drawing/2014/main" id="{6C4F5587-04D9-4984-AA77-C7B5E99D89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2177"/>
                <a:ext cx="1581" cy="233"/>
                <a:chOff x="2504" y="2784"/>
                <a:chExt cx="950" cy="384"/>
              </a:xfrm>
            </p:grpSpPr>
            <p:sp>
              <p:nvSpPr>
                <p:cNvPr id="38974" name="Rectangle 98">
                  <a:extLst>
                    <a:ext uri="{FF2B5EF4-FFF2-40B4-BE49-F238E27FC236}">
                      <a16:creationId xmlns:a16="http://schemas.microsoft.com/office/drawing/2014/main" id="{B91D1921-04BF-42CF-9731-059161C925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2784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 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75" name="Rectangle 99">
                  <a:extLst>
                    <a:ext uri="{FF2B5EF4-FFF2-40B4-BE49-F238E27FC236}">
                      <a16:creationId xmlns:a16="http://schemas.microsoft.com/office/drawing/2014/main" id="{ADC16D00-F305-4F2A-88C0-E1AA246FA7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2784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6" name="Group 100">
                <a:extLst>
                  <a:ext uri="{FF2B5EF4-FFF2-40B4-BE49-F238E27FC236}">
                    <a16:creationId xmlns:a16="http://schemas.microsoft.com/office/drawing/2014/main" id="{5CDFE3D5-0EFC-4964-9B19-35DCE787E7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404"/>
                <a:ext cx="670" cy="240"/>
                <a:chOff x="0" y="3168"/>
                <a:chExt cx="518" cy="384"/>
              </a:xfrm>
            </p:grpSpPr>
            <p:sp>
              <p:nvSpPr>
                <p:cNvPr id="38972" name="Rectangle 101">
                  <a:extLst>
                    <a:ext uri="{FF2B5EF4-FFF2-40B4-BE49-F238E27FC236}">
                      <a16:creationId xmlns:a16="http://schemas.microsoft.com/office/drawing/2014/main" id="{08AEC6B4-2884-4C18-BA27-E21399165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168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8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73" name="Rectangle 102">
                  <a:extLst>
                    <a:ext uri="{FF2B5EF4-FFF2-40B4-BE49-F238E27FC236}">
                      <a16:creationId xmlns:a16="http://schemas.microsoft.com/office/drawing/2014/main" id="{215CA710-18E4-4C50-A535-EB75AF5597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68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7" name="Group 103">
                <a:extLst>
                  <a:ext uri="{FF2B5EF4-FFF2-40B4-BE49-F238E27FC236}">
                    <a16:creationId xmlns:a16="http://schemas.microsoft.com/office/drawing/2014/main" id="{9B48EB54-F1A4-4E2D-99C8-91E91B1A9E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2410"/>
                <a:ext cx="1102" cy="234"/>
                <a:chOff x="518" y="3168"/>
                <a:chExt cx="662" cy="384"/>
              </a:xfrm>
            </p:grpSpPr>
            <p:sp>
              <p:nvSpPr>
                <p:cNvPr id="38970" name="Rectangle 104">
                  <a:extLst>
                    <a:ext uri="{FF2B5EF4-FFF2-40B4-BE49-F238E27FC236}">
                      <a16:creationId xmlns:a16="http://schemas.microsoft.com/office/drawing/2014/main" id="{DC69CE48-5258-467F-A2FE-1B0CD228AD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3168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预测理论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71" name="Rectangle 105">
                  <a:extLst>
                    <a:ext uri="{FF2B5EF4-FFF2-40B4-BE49-F238E27FC236}">
                      <a16:creationId xmlns:a16="http://schemas.microsoft.com/office/drawing/2014/main" id="{E57DD93B-2681-4544-872C-D0420A9D7B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3168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8" name="Group 106">
                <a:extLst>
                  <a:ext uri="{FF2B5EF4-FFF2-40B4-BE49-F238E27FC236}">
                    <a16:creationId xmlns:a16="http://schemas.microsoft.com/office/drawing/2014/main" id="{2B066C54-C82F-4313-938F-1B688E1A0C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2410"/>
                <a:ext cx="1581" cy="234"/>
                <a:chOff x="2504" y="3168"/>
                <a:chExt cx="950" cy="384"/>
              </a:xfrm>
            </p:grpSpPr>
            <p:sp>
              <p:nvSpPr>
                <p:cNvPr id="38968" name="Rectangle 107">
                  <a:extLst>
                    <a:ext uri="{FF2B5EF4-FFF2-40B4-BE49-F238E27FC236}">
                      <a16:creationId xmlns:a16="http://schemas.microsoft.com/office/drawing/2014/main" id="{D8671B3C-DC14-4FF8-A323-4867B1A297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3168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应用统计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69" name="Rectangle 108">
                  <a:extLst>
                    <a:ext uri="{FF2B5EF4-FFF2-40B4-BE49-F238E27FC236}">
                      <a16:creationId xmlns:a16="http://schemas.microsoft.com/office/drawing/2014/main" id="{9AFBEC16-60E6-4914-8D84-2CCCA29DD1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3168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59" name="Group 109">
                <a:extLst>
                  <a:ext uri="{FF2B5EF4-FFF2-40B4-BE49-F238E27FC236}">
                    <a16:creationId xmlns:a16="http://schemas.microsoft.com/office/drawing/2014/main" id="{A14260AE-1501-4191-AC66-54BA5B7E7F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638"/>
                <a:ext cx="670" cy="240"/>
                <a:chOff x="0" y="3552"/>
                <a:chExt cx="518" cy="384"/>
              </a:xfrm>
            </p:grpSpPr>
            <p:sp>
              <p:nvSpPr>
                <p:cNvPr id="38966" name="Rectangle 110">
                  <a:extLst>
                    <a:ext uri="{FF2B5EF4-FFF2-40B4-BE49-F238E27FC236}">
                      <a16:creationId xmlns:a16="http://schemas.microsoft.com/office/drawing/2014/main" id="{689A141B-F2BB-4A8B-9221-3BAECF861C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552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9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67" name="Rectangle 111">
                  <a:extLst>
                    <a:ext uri="{FF2B5EF4-FFF2-40B4-BE49-F238E27FC236}">
                      <a16:creationId xmlns:a16="http://schemas.microsoft.com/office/drawing/2014/main" id="{DD057E50-4A43-4595-AC20-BB26880F88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552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60" name="Group 112">
                <a:extLst>
                  <a:ext uri="{FF2B5EF4-FFF2-40B4-BE49-F238E27FC236}">
                    <a16:creationId xmlns:a16="http://schemas.microsoft.com/office/drawing/2014/main" id="{3DC6758D-CB03-45D6-9AE5-F5C022FBC0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0" y="2644"/>
                <a:ext cx="1102" cy="234"/>
                <a:chOff x="518" y="3552"/>
                <a:chExt cx="662" cy="384"/>
              </a:xfrm>
            </p:grpSpPr>
            <p:sp>
              <p:nvSpPr>
                <p:cNvPr id="38964" name="Rectangle 113">
                  <a:extLst>
                    <a:ext uri="{FF2B5EF4-FFF2-40B4-BE49-F238E27FC236}">
                      <a16:creationId xmlns:a16="http://schemas.microsoft.com/office/drawing/2014/main" id="{1610D685-2C6F-4788-96B1-F90C58461B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3552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数学实验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65" name="Rectangle 114">
                  <a:extLst>
                    <a:ext uri="{FF2B5EF4-FFF2-40B4-BE49-F238E27FC236}">
                      <a16:creationId xmlns:a16="http://schemas.microsoft.com/office/drawing/2014/main" id="{56D8A750-7C11-4811-A278-64AA53A64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3552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61" name="Group 115">
                <a:extLst>
                  <a:ext uri="{FF2B5EF4-FFF2-40B4-BE49-F238E27FC236}">
                    <a16:creationId xmlns:a16="http://schemas.microsoft.com/office/drawing/2014/main" id="{DD1CE9C7-31DC-447E-80D0-58F0BE36E1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2644"/>
                <a:ext cx="1581" cy="234"/>
                <a:chOff x="2504" y="3552"/>
                <a:chExt cx="950" cy="384"/>
              </a:xfrm>
            </p:grpSpPr>
            <p:sp>
              <p:nvSpPr>
                <p:cNvPr id="38962" name="Rectangle 116">
                  <a:extLst>
                    <a:ext uri="{FF2B5EF4-FFF2-40B4-BE49-F238E27FC236}">
                      <a16:creationId xmlns:a16="http://schemas.microsoft.com/office/drawing/2014/main" id="{386AB90D-2753-4F76-8907-57EF0E9CCB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7" y="3552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微积分；线性代数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38963" name="Rectangle 117">
                  <a:extLst>
                    <a:ext uri="{FF2B5EF4-FFF2-40B4-BE49-F238E27FC236}">
                      <a16:creationId xmlns:a16="http://schemas.microsoft.com/office/drawing/2014/main" id="{6DF66E23-244D-4F12-8914-ABDA25EB11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4" y="3552"/>
                  <a:ext cx="95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38931" name="Line 118">
              <a:extLst>
                <a:ext uri="{FF2B5EF4-FFF2-40B4-BE49-F238E27FC236}">
                  <a16:creationId xmlns:a16="http://schemas.microsoft.com/office/drawing/2014/main" id="{01542F0D-0BC4-4392-B03E-10DCA949A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48"/>
              <a:ext cx="2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nimBg="1" autoUpdateAnimBg="0"/>
      <p:bldP spid="57352" grpId="0" animBg="1" autoUpdateAnimBg="0"/>
      <p:bldP spid="57357" grpId="0" animBg="1" autoUpdateAnimBg="0"/>
      <p:bldP spid="57358" grpId="0" animBg="1" autoUpdateAnimBg="0"/>
      <p:bldP spid="57365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AC984B1B-DDB4-48B3-AA5A-4659354CC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071563"/>
            <a:ext cx="17526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学分最多</a:t>
            </a:r>
          </a:p>
        </p:txBody>
      </p:sp>
      <p:sp>
        <p:nvSpPr>
          <p:cNvPr id="58371" name="Text Box 3">
            <a:extLst>
              <a:ext uri="{FF2B5EF4-FFF2-40B4-BE49-F238E27FC236}">
                <a16:creationId xmlns:a16="http://schemas.microsoft.com/office/drawing/2014/main" id="{0C4C3D1C-178E-42BA-AEA2-F49D7DD66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00438"/>
            <a:ext cx="719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多目标优化的处理方法：化成单目标优化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58372" name="Text Box 4">
            <a:extLst>
              <a:ext uri="{FF2B5EF4-FFF2-40B4-BE49-F238E27FC236}">
                <a16:creationId xmlns:a16="http://schemas.microsoft.com/office/drawing/2014/main" id="{AAFCB567-18A6-48C0-957D-12FB4B29D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00363"/>
            <a:ext cx="403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两目标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多目标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规划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58373" name="Object 5">
            <a:extLst>
              <a:ext uri="{FF2B5EF4-FFF2-40B4-BE49-F238E27FC236}">
                <a16:creationId xmlns:a16="http://schemas.microsoft.com/office/drawing/2014/main" id="{DC738DDF-972D-4843-8E72-80103B4E1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0650" y="1681163"/>
          <a:ext cx="47974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公式" r:id="rId3" imgW="2286000" imgH="457200" progId="Equation.3">
                  <p:embed/>
                </p:oleObj>
              </mc:Choice>
              <mc:Fallback>
                <p:oleObj name="公式" r:id="rId3" imgW="22860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1681163"/>
                        <a:ext cx="479742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6">
            <a:extLst>
              <a:ext uri="{FF2B5EF4-FFF2-40B4-BE49-F238E27FC236}">
                <a16:creationId xmlns:a16="http://schemas.microsoft.com/office/drawing/2014/main" id="{6B4F3D89-651C-423C-964A-26F5B8B36F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1463" y="2976563"/>
          <a:ext cx="22748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9" name="公式" r:id="rId5" imgW="850531" imgH="203112" progId="Equation.3">
                  <p:embed/>
                </p:oleObj>
              </mc:Choice>
              <mc:Fallback>
                <p:oleObj name="公式" r:id="rId5" imgW="850531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63" y="2976563"/>
                        <a:ext cx="2274887" cy="5334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7">
            <a:extLst>
              <a:ext uri="{FF2B5EF4-FFF2-40B4-BE49-F238E27FC236}">
                <a16:creationId xmlns:a16="http://schemas.microsoft.com/office/drawing/2014/main" id="{6531EBF4-379A-4ED0-BE41-83F3CFA60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07988"/>
            <a:ext cx="8839200" cy="5826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讨论：选修课程最少，学分尽量多，应学习哪些课程？  </a:t>
            </a:r>
          </a:p>
        </p:txBody>
      </p:sp>
      <p:graphicFrame>
        <p:nvGraphicFramePr>
          <p:cNvPr id="58376" name="Object 8">
            <a:extLst>
              <a:ext uri="{FF2B5EF4-FFF2-40B4-BE49-F238E27FC236}">
                <a16:creationId xmlns:a16="http://schemas.microsoft.com/office/drawing/2014/main" id="{B57D1DB0-0547-4911-85AF-1D54D40E7B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875" y="1681163"/>
          <a:ext cx="2633663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0" name="公式" r:id="rId7" imgW="990170" imgH="431613" progId="Equation.3">
                  <p:embed/>
                </p:oleObj>
              </mc:Choice>
              <mc:Fallback>
                <p:oleObj name="公式" r:id="rId7" imgW="990170" imgH="4316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1681163"/>
                        <a:ext cx="2633663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Text Box 9">
            <a:extLst>
              <a:ext uri="{FF2B5EF4-FFF2-40B4-BE49-F238E27FC236}">
                <a16:creationId xmlns:a16="http://schemas.microsoft.com/office/drawing/2014/main" id="{A689427A-5A43-4DFD-9BCD-FD29DEE44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071563"/>
            <a:ext cx="1676400" cy="604837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课程最少 </a:t>
            </a:r>
          </a:p>
        </p:txBody>
      </p:sp>
      <p:sp>
        <p:nvSpPr>
          <p:cNvPr id="58378" name="Text Box 10">
            <a:extLst>
              <a:ext uri="{FF2B5EF4-FFF2-40B4-BE49-F238E27FC236}">
                <a16:creationId xmlns:a16="http://schemas.microsoft.com/office/drawing/2014/main" id="{12CE4055-38C0-4057-A379-8CB8DD46D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249863"/>
            <a:ext cx="3429000" cy="1117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以</a:t>
            </a:r>
            <a:r>
              <a:rPr lang="zh-CN" altLang="en-US" sz="2800" b="1">
                <a:latin typeface="宋体" panose="02010600030101010101" pitchFamily="2" charset="-122"/>
              </a:rPr>
              <a:t>学分最多为目标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不管课程多少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58379" name="Text Box 11">
            <a:extLst>
              <a:ext uri="{FF2B5EF4-FFF2-40B4-BE49-F238E27FC236}">
                <a16:creationId xmlns:a16="http://schemas.microsoft.com/office/drawing/2014/main" id="{667268D1-6559-4B97-A9BB-99E2BBC64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05263"/>
            <a:ext cx="3579812" cy="11176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以课程最少</a:t>
            </a:r>
            <a:r>
              <a:rPr lang="zh-CN" altLang="en-US" sz="2800" b="1">
                <a:latin typeface="宋体" panose="02010600030101010101" pitchFamily="2" charset="-122"/>
              </a:rPr>
              <a:t>为目标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不管学分多少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9948" name="Text Box 12">
            <a:extLst>
              <a:ext uri="{FF2B5EF4-FFF2-40B4-BE49-F238E27FC236}">
                <a16:creationId xmlns:a16="http://schemas.microsoft.com/office/drawing/2014/main" id="{5A6770D0-409D-4189-8B5B-AAD895EF4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122738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/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45566BB2-25AE-472A-915B-429E10D52D68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4005263"/>
            <a:ext cx="3276600" cy="1117600"/>
            <a:chOff x="2784" y="2592"/>
            <a:chExt cx="2064" cy="704"/>
          </a:xfrm>
        </p:grpSpPr>
        <p:sp>
          <p:nvSpPr>
            <p:cNvPr id="39953" name="Text Box 14">
              <a:extLst>
                <a:ext uri="{FF2B5EF4-FFF2-40B4-BE49-F238E27FC236}">
                  <a16:creationId xmlns:a16="http://schemas.microsoft.com/office/drawing/2014/main" id="{B6E4C413-C355-48B7-B214-0E5F61226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592"/>
              <a:ext cx="1872" cy="704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最优解如上，</a:t>
              </a:r>
              <a:r>
                <a:rPr lang="en-US" altLang="zh-CN" sz="2800" b="1"/>
                <a:t>6</a:t>
              </a:r>
              <a:r>
                <a:rPr lang="zh-CN" altLang="en-US" sz="2800" b="1">
                  <a:latin typeface="宋体" panose="02010600030101010101" pitchFamily="2" charset="-122"/>
                </a:rPr>
                <a:t>门课程，总学分</a:t>
              </a:r>
              <a:r>
                <a:rPr lang="en-US" altLang="zh-CN" sz="2800" b="1"/>
                <a:t>21 .</a:t>
              </a:r>
            </a:p>
          </p:txBody>
        </p:sp>
        <p:sp>
          <p:nvSpPr>
            <p:cNvPr id="39954" name="AutoShape 15">
              <a:extLst>
                <a:ext uri="{FF2B5EF4-FFF2-40B4-BE49-F238E27FC236}">
                  <a16:creationId xmlns:a16="http://schemas.microsoft.com/office/drawing/2014/main" id="{56664339-CF20-4F0C-9AEB-8C201BA0D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832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B5FE5046-0A74-4B1D-85F0-648DEF8CDAC0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5224463"/>
            <a:ext cx="3352800" cy="1117600"/>
            <a:chOff x="2736" y="3360"/>
            <a:chExt cx="2112" cy="704"/>
          </a:xfrm>
        </p:grpSpPr>
        <p:sp>
          <p:nvSpPr>
            <p:cNvPr id="39951" name="Text Box 17">
              <a:extLst>
                <a:ext uri="{FF2B5EF4-FFF2-40B4-BE49-F238E27FC236}">
                  <a16:creationId xmlns:a16="http://schemas.microsoft.com/office/drawing/2014/main" id="{6A213CBA-58C3-43A5-A722-071C3C4CE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360"/>
              <a:ext cx="1920" cy="704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最优解显然是选修所有</a:t>
              </a:r>
              <a:r>
                <a:rPr lang="en-US" altLang="zh-CN" sz="2800" b="1"/>
                <a:t>9</a:t>
              </a:r>
              <a:r>
                <a:rPr lang="zh-CN" altLang="en-US" sz="2800" b="1">
                  <a:latin typeface="宋体" panose="02010600030101010101" pitchFamily="2" charset="-122"/>
                </a:rPr>
                <a:t>门课程</a:t>
              </a:r>
              <a:r>
                <a:rPr lang="zh-CN" altLang="en-US" sz="2800" b="1"/>
                <a:t> </a:t>
              </a:r>
              <a:r>
                <a:rPr lang="en-US" altLang="zh-CN" sz="2800" b="1"/>
                <a:t>.</a:t>
              </a:r>
            </a:p>
          </p:txBody>
        </p:sp>
        <p:sp>
          <p:nvSpPr>
            <p:cNvPr id="39952" name="AutoShape 18">
              <a:extLst>
                <a:ext uri="{FF2B5EF4-FFF2-40B4-BE49-F238E27FC236}">
                  <a16:creationId xmlns:a16="http://schemas.microsoft.com/office/drawing/2014/main" id="{BDBDEC66-05C6-4746-A58F-A67A1CBAC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534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 autoUpdateAnimBg="0"/>
      <p:bldP spid="58371" grpId="0"/>
      <p:bldP spid="58372" grpId="0" animBg="1" autoUpdateAnimBg="0"/>
      <p:bldP spid="58377" grpId="0" animBg="1" autoUpdateAnimBg="0"/>
      <p:bldP spid="58378" grpId="0" animBg="1" autoUpdateAnimBg="0"/>
      <p:bldP spid="58379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A5F2D7B1-0892-46AA-91F2-07E982D99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0850"/>
            <a:ext cx="2438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多目标规划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584D9B3F-9859-4B67-A8B4-EFCDDAEFA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36650"/>
            <a:ext cx="375126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在</a:t>
            </a:r>
            <a:r>
              <a:rPr lang="zh-CN" altLang="en-US" sz="2800" b="1">
                <a:latin typeface="宋体" panose="02010600030101010101" pitchFamily="2" charset="-122"/>
              </a:rPr>
              <a:t>课程最少的前提下</a:t>
            </a:r>
            <a:r>
              <a:rPr lang="zh-CN" altLang="en-US" sz="2800" b="1"/>
              <a:t>以</a:t>
            </a:r>
            <a:r>
              <a:rPr lang="zh-CN" altLang="en-US" sz="2800" b="1">
                <a:latin typeface="宋体" panose="02010600030101010101" pitchFamily="2" charset="-122"/>
              </a:rPr>
              <a:t>学分最多为目标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A682CC19-9CA0-4BEC-A8F9-CB0FB559B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432050"/>
            <a:ext cx="41910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最优解：</a:t>
            </a:r>
            <a:r>
              <a:rPr lang="zh-CN" altLang="en-US" sz="2800" b="1" i="1"/>
              <a:t>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1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2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3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5</a:t>
            </a:r>
            <a:r>
              <a:rPr lang="en-US" altLang="zh-CN" sz="2800" b="1">
                <a:solidFill>
                  <a:srgbClr val="FF3300"/>
                </a:solidFill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7</a:t>
            </a:r>
            <a:r>
              <a:rPr lang="en-US" altLang="zh-CN" sz="2800" b="1">
                <a:solidFill>
                  <a:srgbClr val="FF3300"/>
                </a:solidFill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9</a:t>
            </a:r>
            <a:r>
              <a:rPr lang="en-US" altLang="zh-CN" sz="2800" b="1">
                <a:solidFill>
                  <a:srgbClr val="FF3300"/>
                </a:solidFill>
              </a:rPr>
              <a:t> =1</a:t>
            </a:r>
            <a:r>
              <a:rPr lang="en-US" altLang="zh-CN" sz="2800" b="1"/>
              <a:t>,  </a:t>
            </a:r>
            <a:r>
              <a:rPr lang="zh-CN" altLang="en-US" sz="2800" b="1">
                <a:latin typeface="宋体" panose="02010600030101010101" pitchFamily="2" charset="-122"/>
              </a:rPr>
              <a:t>其他为</a:t>
            </a:r>
            <a:r>
              <a:rPr lang="en-US" altLang="zh-CN" sz="2800" b="1"/>
              <a:t>0</a:t>
            </a:r>
            <a:r>
              <a:rPr lang="zh-CN" altLang="en-US" sz="2800" b="1"/>
              <a:t>；</a:t>
            </a:r>
            <a:r>
              <a:rPr lang="zh-CN" altLang="en-US" sz="2800" b="1">
                <a:latin typeface="宋体" panose="02010600030101010101" pitchFamily="2" charset="-122"/>
              </a:rPr>
              <a:t>总学分由</a:t>
            </a:r>
            <a:r>
              <a:rPr lang="en-US" altLang="zh-CN" sz="2800" b="1"/>
              <a:t>21</a:t>
            </a:r>
            <a:r>
              <a:rPr lang="zh-CN" altLang="en-US" sz="2800" b="1"/>
              <a:t>增至</a:t>
            </a:r>
            <a:r>
              <a:rPr lang="en-US" altLang="zh-CN" sz="2800" b="1"/>
              <a:t>22.</a:t>
            </a:r>
          </a:p>
        </p:txBody>
      </p:sp>
      <p:sp>
        <p:nvSpPr>
          <p:cNvPr id="59397" name="Text Box 5">
            <a:extLst>
              <a:ext uri="{FF2B5EF4-FFF2-40B4-BE49-F238E27FC236}">
                <a16:creationId xmlns:a16="http://schemas.microsoft.com/office/drawing/2014/main" id="{1FD8B0B4-FFE3-470B-B02F-4C3F7033C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184650"/>
            <a:ext cx="4011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注意：最优解不唯一！</a:t>
            </a:r>
            <a:endParaRPr lang="zh-CN" altLang="en-US" sz="2800" b="1">
              <a:solidFill>
                <a:srgbClr val="FF3300"/>
              </a:solidFill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E5C17089-AA20-4568-BE16-02B7E416084F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2432050"/>
            <a:ext cx="4297362" cy="3825875"/>
            <a:chOff x="221" y="1488"/>
            <a:chExt cx="2707" cy="2410"/>
          </a:xfrm>
        </p:grpSpPr>
        <p:grpSp>
          <p:nvGrpSpPr>
            <p:cNvPr id="40980" name="Group 7">
              <a:extLst>
                <a:ext uri="{FF2B5EF4-FFF2-40B4-BE49-F238E27FC236}">
                  <a16:creationId xmlns:a16="http://schemas.microsoft.com/office/drawing/2014/main" id="{9066CD13-B6B0-43B1-B31B-9F64A1B64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1488"/>
              <a:ext cx="2707" cy="2396"/>
              <a:chOff x="221" y="1536"/>
              <a:chExt cx="2707" cy="2396"/>
            </a:xfrm>
          </p:grpSpPr>
          <p:grpSp>
            <p:nvGrpSpPr>
              <p:cNvPr id="40984" name="Group 8">
                <a:extLst>
                  <a:ext uri="{FF2B5EF4-FFF2-40B4-BE49-F238E27FC236}">
                    <a16:creationId xmlns:a16="http://schemas.microsoft.com/office/drawing/2014/main" id="{F13AB27C-24D1-4F65-BB72-5980B14C19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1536"/>
                <a:ext cx="862" cy="292"/>
                <a:chOff x="0" y="0"/>
                <a:chExt cx="518" cy="480"/>
              </a:xfrm>
            </p:grpSpPr>
            <p:sp>
              <p:nvSpPr>
                <p:cNvPr id="41072" name="Rectangle 9">
                  <a:extLst>
                    <a:ext uri="{FF2B5EF4-FFF2-40B4-BE49-F238E27FC236}">
                      <a16:creationId xmlns:a16="http://schemas.microsoft.com/office/drawing/2014/main" id="{1D6D2399-2C29-4749-B9C4-09425C1E4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3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课号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73" name="Rectangle 10">
                  <a:extLst>
                    <a:ext uri="{FF2B5EF4-FFF2-40B4-BE49-F238E27FC236}">
                      <a16:creationId xmlns:a16="http://schemas.microsoft.com/office/drawing/2014/main" id="{5CAB010A-6FEC-4061-BAB9-A56DBA0B67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1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85" name="Group 11">
                <a:extLst>
                  <a:ext uri="{FF2B5EF4-FFF2-40B4-BE49-F238E27FC236}">
                    <a16:creationId xmlns:a16="http://schemas.microsoft.com/office/drawing/2014/main" id="{37FC693F-9748-4C75-AF12-75AE9953B9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1536"/>
                <a:ext cx="1102" cy="292"/>
                <a:chOff x="518" y="0"/>
                <a:chExt cx="662" cy="480"/>
              </a:xfrm>
            </p:grpSpPr>
            <p:sp>
              <p:nvSpPr>
                <p:cNvPr id="41070" name="Rectangle 12">
                  <a:extLst>
                    <a:ext uri="{FF2B5EF4-FFF2-40B4-BE49-F238E27FC236}">
                      <a16:creationId xmlns:a16="http://schemas.microsoft.com/office/drawing/2014/main" id="{A435EAE9-84F4-4D66-9117-9DDFE883F4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0"/>
                  <a:ext cx="576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课名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71" name="Rectangle 13">
                  <a:extLst>
                    <a:ext uri="{FF2B5EF4-FFF2-40B4-BE49-F238E27FC236}">
                      <a16:creationId xmlns:a16="http://schemas.microsoft.com/office/drawing/2014/main" id="{8D147C38-F4BE-45C5-828D-59536DB568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0"/>
                  <a:ext cx="66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86" name="Group 14">
                <a:extLst>
                  <a:ext uri="{FF2B5EF4-FFF2-40B4-BE49-F238E27FC236}">
                    <a16:creationId xmlns:a16="http://schemas.microsoft.com/office/drawing/2014/main" id="{1566A177-D0E7-4045-92F9-F1CA9C461D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1536"/>
                <a:ext cx="743" cy="292"/>
                <a:chOff x="1180" y="0"/>
                <a:chExt cx="446" cy="480"/>
              </a:xfrm>
            </p:grpSpPr>
            <p:sp>
              <p:nvSpPr>
                <p:cNvPr id="41068" name="Rectangle 15">
                  <a:extLst>
                    <a:ext uri="{FF2B5EF4-FFF2-40B4-BE49-F238E27FC236}">
                      <a16:creationId xmlns:a16="http://schemas.microsoft.com/office/drawing/2014/main" id="{57A08F07-550B-4280-BFCA-FFA5DBD42F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0"/>
                  <a:ext cx="3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学分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69" name="Rectangle 16">
                  <a:extLst>
                    <a:ext uri="{FF2B5EF4-FFF2-40B4-BE49-F238E27FC236}">
                      <a16:creationId xmlns:a16="http://schemas.microsoft.com/office/drawing/2014/main" id="{9D339B23-9A34-4BBA-B188-6BBAFE56A5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0"/>
                  <a:ext cx="44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87" name="Group 17">
                <a:extLst>
                  <a:ext uri="{FF2B5EF4-FFF2-40B4-BE49-F238E27FC236}">
                    <a16:creationId xmlns:a16="http://schemas.microsoft.com/office/drawing/2014/main" id="{1D4C7403-7600-47E2-ADD1-AD4C8C676A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1828"/>
                <a:ext cx="862" cy="234"/>
                <a:chOff x="0" y="480"/>
                <a:chExt cx="518" cy="384"/>
              </a:xfrm>
            </p:grpSpPr>
            <p:sp>
              <p:nvSpPr>
                <p:cNvPr id="41066" name="Rectangle 18">
                  <a:extLst>
                    <a:ext uri="{FF2B5EF4-FFF2-40B4-BE49-F238E27FC236}">
                      <a16:creationId xmlns:a16="http://schemas.microsoft.com/office/drawing/2014/main" id="{4F4F2CCD-27AB-4F90-AEE4-3FBA4A5CD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80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1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67" name="Rectangle 19">
                  <a:extLst>
                    <a:ext uri="{FF2B5EF4-FFF2-40B4-BE49-F238E27FC236}">
                      <a16:creationId xmlns:a16="http://schemas.microsoft.com/office/drawing/2014/main" id="{2C1F1B82-FF4F-4B54-97C9-9B251FEFA8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8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88" name="Group 20">
                <a:extLst>
                  <a:ext uri="{FF2B5EF4-FFF2-40B4-BE49-F238E27FC236}">
                    <a16:creationId xmlns:a16="http://schemas.microsoft.com/office/drawing/2014/main" id="{5149193A-A0F3-41DA-97C1-94B560EF1D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1828"/>
                <a:ext cx="1102" cy="234"/>
                <a:chOff x="518" y="480"/>
                <a:chExt cx="662" cy="384"/>
              </a:xfrm>
            </p:grpSpPr>
            <p:sp>
              <p:nvSpPr>
                <p:cNvPr id="41064" name="Rectangle 21">
                  <a:extLst>
                    <a:ext uri="{FF2B5EF4-FFF2-40B4-BE49-F238E27FC236}">
                      <a16:creationId xmlns:a16="http://schemas.microsoft.com/office/drawing/2014/main" id="{73431F49-E4E1-460B-A687-77B01C3EA4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480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微积分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65" name="Rectangle 22">
                  <a:extLst>
                    <a:ext uri="{FF2B5EF4-FFF2-40B4-BE49-F238E27FC236}">
                      <a16:creationId xmlns:a16="http://schemas.microsoft.com/office/drawing/2014/main" id="{9C945D12-EA96-460F-80A8-1021C0CFA4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480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89" name="Group 23">
                <a:extLst>
                  <a:ext uri="{FF2B5EF4-FFF2-40B4-BE49-F238E27FC236}">
                    <a16:creationId xmlns:a16="http://schemas.microsoft.com/office/drawing/2014/main" id="{10CF8525-8997-42AD-9699-D2AEDD499A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1828"/>
                <a:ext cx="743" cy="234"/>
                <a:chOff x="1180" y="480"/>
                <a:chExt cx="446" cy="384"/>
              </a:xfrm>
            </p:grpSpPr>
            <p:sp>
              <p:nvSpPr>
                <p:cNvPr id="41062" name="Rectangle 24">
                  <a:extLst>
                    <a:ext uri="{FF2B5EF4-FFF2-40B4-BE49-F238E27FC236}">
                      <a16:creationId xmlns:a16="http://schemas.microsoft.com/office/drawing/2014/main" id="{D3BDD795-7D0E-459D-95EF-7E56B487BA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480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5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63" name="Rectangle 25">
                  <a:extLst>
                    <a:ext uri="{FF2B5EF4-FFF2-40B4-BE49-F238E27FC236}">
                      <a16:creationId xmlns:a16="http://schemas.microsoft.com/office/drawing/2014/main" id="{A5FCDC89-E3F6-42F3-8348-61F50D1A9C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480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90" name="Group 26">
                <a:extLst>
                  <a:ext uri="{FF2B5EF4-FFF2-40B4-BE49-F238E27FC236}">
                    <a16:creationId xmlns:a16="http://schemas.microsoft.com/office/drawing/2014/main" id="{554128AC-6D80-4F5E-BC4F-F849D49448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2062"/>
                <a:ext cx="862" cy="234"/>
                <a:chOff x="0" y="864"/>
                <a:chExt cx="518" cy="384"/>
              </a:xfrm>
            </p:grpSpPr>
            <p:sp>
              <p:nvSpPr>
                <p:cNvPr id="41060" name="Rectangle 27">
                  <a:extLst>
                    <a:ext uri="{FF2B5EF4-FFF2-40B4-BE49-F238E27FC236}">
                      <a16:creationId xmlns:a16="http://schemas.microsoft.com/office/drawing/2014/main" id="{8CCA03CA-FC90-48B2-9B73-44BFF89873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864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2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61" name="Rectangle 28">
                  <a:extLst>
                    <a:ext uri="{FF2B5EF4-FFF2-40B4-BE49-F238E27FC236}">
                      <a16:creationId xmlns:a16="http://schemas.microsoft.com/office/drawing/2014/main" id="{504FEDD3-5445-461A-BD75-274C6F9C36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6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91" name="Group 29">
                <a:extLst>
                  <a:ext uri="{FF2B5EF4-FFF2-40B4-BE49-F238E27FC236}">
                    <a16:creationId xmlns:a16="http://schemas.microsoft.com/office/drawing/2014/main" id="{420B688D-B190-4B05-973B-4C4282DCF5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2062"/>
                <a:ext cx="1102" cy="234"/>
                <a:chOff x="518" y="864"/>
                <a:chExt cx="662" cy="384"/>
              </a:xfrm>
            </p:grpSpPr>
            <p:sp>
              <p:nvSpPr>
                <p:cNvPr id="41058" name="Rectangle 30">
                  <a:extLst>
                    <a:ext uri="{FF2B5EF4-FFF2-40B4-BE49-F238E27FC236}">
                      <a16:creationId xmlns:a16="http://schemas.microsoft.com/office/drawing/2014/main" id="{64E72F22-0935-42C8-BC0C-40EAB20001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864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线性代数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59" name="Rectangle 31">
                  <a:extLst>
                    <a:ext uri="{FF2B5EF4-FFF2-40B4-BE49-F238E27FC236}">
                      <a16:creationId xmlns:a16="http://schemas.microsoft.com/office/drawing/2014/main" id="{773E4246-710D-40A8-881A-14E2C76BA5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864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92" name="Group 32">
                <a:extLst>
                  <a:ext uri="{FF2B5EF4-FFF2-40B4-BE49-F238E27FC236}">
                    <a16:creationId xmlns:a16="http://schemas.microsoft.com/office/drawing/2014/main" id="{10A5CD97-C30E-4DA9-9511-7A884E3663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2062"/>
                <a:ext cx="743" cy="234"/>
                <a:chOff x="1180" y="864"/>
                <a:chExt cx="446" cy="384"/>
              </a:xfrm>
            </p:grpSpPr>
            <p:sp>
              <p:nvSpPr>
                <p:cNvPr id="41056" name="Rectangle 33">
                  <a:extLst>
                    <a:ext uri="{FF2B5EF4-FFF2-40B4-BE49-F238E27FC236}">
                      <a16:creationId xmlns:a16="http://schemas.microsoft.com/office/drawing/2014/main" id="{2AB438BF-7557-44A3-91F6-7544FAE09F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864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57" name="Rectangle 34">
                  <a:extLst>
                    <a:ext uri="{FF2B5EF4-FFF2-40B4-BE49-F238E27FC236}">
                      <a16:creationId xmlns:a16="http://schemas.microsoft.com/office/drawing/2014/main" id="{92AB19AD-AF00-4B93-980F-83CA18D616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864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93" name="Group 35">
                <a:extLst>
                  <a:ext uri="{FF2B5EF4-FFF2-40B4-BE49-F238E27FC236}">
                    <a16:creationId xmlns:a16="http://schemas.microsoft.com/office/drawing/2014/main" id="{771D376D-689B-47A1-8491-76947A8F85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2296"/>
                <a:ext cx="862" cy="233"/>
                <a:chOff x="0" y="1248"/>
                <a:chExt cx="518" cy="384"/>
              </a:xfrm>
            </p:grpSpPr>
            <p:sp>
              <p:nvSpPr>
                <p:cNvPr id="41054" name="Rectangle 36">
                  <a:extLst>
                    <a:ext uri="{FF2B5EF4-FFF2-40B4-BE49-F238E27FC236}">
                      <a16:creationId xmlns:a16="http://schemas.microsoft.com/office/drawing/2014/main" id="{269A575B-118A-491B-894A-6A728E5E9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248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55" name="Rectangle 37">
                  <a:extLst>
                    <a:ext uri="{FF2B5EF4-FFF2-40B4-BE49-F238E27FC236}">
                      <a16:creationId xmlns:a16="http://schemas.microsoft.com/office/drawing/2014/main" id="{0870B1B3-5D96-4EAC-95E9-ABD23DEA8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48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" name="Group 38">
                <a:extLst>
                  <a:ext uri="{FF2B5EF4-FFF2-40B4-BE49-F238E27FC236}">
                    <a16:creationId xmlns:a16="http://schemas.microsoft.com/office/drawing/2014/main" id="{15905E2F-8A20-4DDC-B447-735D92EC8F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2296"/>
                <a:ext cx="1102" cy="233"/>
                <a:chOff x="518" y="1248"/>
                <a:chExt cx="662" cy="384"/>
              </a:xfrm>
            </p:grpSpPr>
            <p:sp>
              <p:nvSpPr>
                <p:cNvPr id="41052" name="Rectangle 39">
                  <a:extLst>
                    <a:ext uri="{FF2B5EF4-FFF2-40B4-BE49-F238E27FC236}">
                      <a16:creationId xmlns:a16="http://schemas.microsoft.com/office/drawing/2014/main" id="{59B794F7-4555-4883-BAFC-34A2CC7CCF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1248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最优化方法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53" name="Rectangle 40">
                  <a:extLst>
                    <a:ext uri="{FF2B5EF4-FFF2-40B4-BE49-F238E27FC236}">
                      <a16:creationId xmlns:a16="http://schemas.microsoft.com/office/drawing/2014/main" id="{6440EAF3-6A64-4DAA-B809-08B43C1D77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1248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" name="Group 41">
                <a:extLst>
                  <a:ext uri="{FF2B5EF4-FFF2-40B4-BE49-F238E27FC236}">
                    <a16:creationId xmlns:a16="http://schemas.microsoft.com/office/drawing/2014/main" id="{1812265F-11BD-4A93-95A1-11B563578D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2296"/>
                <a:ext cx="743" cy="233"/>
                <a:chOff x="1180" y="1248"/>
                <a:chExt cx="446" cy="384"/>
              </a:xfrm>
            </p:grpSpPr>
            <p:sp>
              <p:nvSpPr>
                <p:cNvPr id="41050" name="Rectangle 42">
                  <a:extLst>
                    <a:ext uri="{FF2B5EF4-FFF2-40B4-BE49-F238E27FC236}">
                      <a16:creationId xmlns:a16="http://schemas.microsoft.com/office/drawing/2014/main" id="{A999D133-70F8-4098-8834-C596A3E2B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1248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51" name="Rectangle 43">
                  <a:extLst>
                    <a:ext uri="{FF2B5EF4-FFF2-40B4-BE49-F238E27FC236}">
                      <a16:creationId xmlns:a16="http://schemas.microsoft.com/office/drawing/2014/main" id="{80E67FE0-D38B-4BAD-A38D-22DA5011AB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1248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96" name="Group 44">
                <a:extLst>
                  <a:ext uri="{FF2B5EF4-FFF2-40B4-BE49-F238E27FC236}">
                    <a16:creationId xmlns:a16="http://schemas.microsoft.com/office/drawing/2014/main" id="{239113AA-3C9F-4391-B17E-F09E47D145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2529"/>
                <a:ext cx="862" cy="234"/>
                <a:chOff x="0" y="1632"/>
                <a:chExt cx="518" cy="384"/>
              </a:xfrm>
            </p:grpSpPr>
            <p:sp>
              <p:nvSpPr>
                <p:cNvPr id="41048" name="Rectangle 45">
                  <a:extLst>
                    <a:ext uri="{FF2B5EF4-FFF2-40B4-BE49-F238E27FC236}">
                      <a16:creationId xmlns:a16="http://schemas.microsoft.com/office/drawing/2014/main" id="{BA88BD94-65BF-4E04-A294-C62FC8607C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632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49" name="Rectangle 46">
                  <a:extLst>
                    <a:ext uri="{FF2B5EF4-FFF2-40B4-BE49-F238E27FC236}">
                      <a16:creationId xmlns:a16="http://schemas.microsoft.com/office/drawing/2014/main" id="{18D01A49-59E9-4177-838F-9CA45C660B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32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97" name="Group 47">
                <a:extLst>
                  <a:ext uri="{FF2B5EF4-FFF2-40B4-BE49-F238E27FC236}">
                    <a16:creationId xmlns:a16="http://schemas.microsoft.com/office/drawing/2014/main" id="{6A68726E-ADF6-4AC8-A37B-BF4997210E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2529"/>
                <a:ext cx="1102" cy="234"/>
                <a:chOff x="518" y="1632"/>
                <a:chExt cx="662" cy="384"/>
              </a:xfrm>
            </p:grpSpPr>
            <p:sp>
              <p:nvSpPr>
                <p:cNvPr id="41046" name="Rectangle 48">
                  <a:extLst>
                    <a:ext uri="{FF2B5EF4-FFF2-40B4-BE49-F238E27FC236}">
                      <a16:creationId xmlns:a16="http://schemas.microsoft.com/office/drawing/2014/main" id="{53BF435F-9C03-4D5A-A09E-EF8566931B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1632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数据结构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47" name="Rectangle 49">
                  <a:extLst>
                    <a:ext uri="{FF2B5EF4-FFF2-40B4-BE49-F238E27FC236}">
                      <a16:creationId xmlns:a16="http://schemas.microsoft.com/office/drawing/2014/main" id="{4A2D6D07-8CE8-4F97-81FB-11C90C3A5C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1632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98" name="Group 50">
                <a:extLst>
                  <a:ext uri="{FF2B5EF4-FFF2-40B4-BE49-F238E27FC236}">
                    <a16:creationId xmlns:a16="http://schemas.microsoft.com/office/drawing/2014/main" id="{FDD0DA7A-45EC-4FBE-AA0E-D63EF29E98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2529"/>
                <a:ext cx="743" cy="234"/>
                <a:chOff x="1180" y="1632"/>
                <a:chExt cx="446" cy="384"/>
              </a:xfrm>
            </p:grpSpPr>
            <p:sp>
              <p:nvSpPr>
                <p:cNvPr id="41044" name="Rectangle 51">
                  <a:extLst>
                    <a:ext uri="{FF2B5EF4-FFF2-40B4-BE49-F238E27FC236}">
                      <a16:creationId xmlns:a16="http://schemas.microsoft.com/office/drawing/2014/main" id="{BDCFFDF8-6BE3-416E-9B29-1BF9058846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1632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45" name="Rectangle 52">
                  <a:extLst>
                    <a:ext uri="{FF2B5EF4-FFF2-40B4-BE49-F238E27FC236}">
                      <a16:creationId xmlns:a16="http://schemas.microsoft.com/office/drawing/2014/main" id="{3C20E0EC-A0B7-4DB6-B749-5E9B1D3F4E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1632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0999" name="Group 53">
                <a:extLst>
                  <a:ext uri="{FF2B5EF4-FFF2-40B4-BE49-F238E27FC236}">
                    <a16:creationId xmlns:a16="http://schemas.microsoft.com/office/drawing/2014/main" id="{D74E4DC5-B1DA-471E-8B9D-879F2BD935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2763"/>
                <a:ext cx="862" cy="234"/>
                <a:chOff x="0" y="2016"/>
                <a:chExt cx="518" cy="384"/>
              </a:xfrm>
            </p:grpSpPr>
            <p:sp>
              <p:nvSpPr>
                <p:cNvPr id="41042" name="Rectangle 54">
                  <a:extLst>
                    <a:ext uri="{FF2B5EF4-FFF2-40B4-BE49-F238E27FC236}">
                      <a16:creationId xmlns:a16="http://schemas.microsoft.com/office/drawing/2014/main" id="{BAFB2D8F-ACEE-4C75-A735-6AC3BA6D1E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016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5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43" name="Rectangle 55">
                  <a:extLst>
                    <a:ext uri="{FF2B5EF4-FFF2-40B4-BE49-F238E27FC236}">
                      <a16:creationId xmlns:a16="http://schemas.microsoft.com/office/drawing/2014/main" id="{381BD7FE-9D20-4F3D-8366-5B548A667A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016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0" name="Group 56">
                <a:extLst>
                  <a:ext uri="{FF2B5EF4-FFF2-40B4-BE49-F238E27FC236}">
                    <a16:creationId xmlns:a16="http://schemas.microsoft.com/office/drawing/2014/main" id="{5B742851-54C7-448A-BF6B-A04BB47065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2763"/>
                <a:ext cx="1102" cy="234"/>
                <a:chOff x="518" y="2016"/>
                <a:chExt cx="662" cy="384"/>
              </a:xfrm>
            </p:grpSpPr>
            <p:sp>
              <p:nvSpPr>
                <p:cNvPr id="41040" name="Rectangle 57">
                  <a:extLst>
                    <a:ext uri="{FF2B5EF4-FFF2-40B4-BE49-F238E27FC236}">
                      <a16:creationId xmlns:a16="http://schemas.microsoft.com/office/drawing/2014/main" id="{70016374-D65F-4913-810A-A450229B44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016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应用统计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41" name="Rectangle 58">
                  <a:extLst>
                    <a:ext uri="{FF2B5EF4-FFF2-40B4-BE49-F238E27FC236}">
                      <a16:creationId xmlns:a16="http://schemas.microsoft.com/office/drawing/2014/main" id="{4665E7A6-5A17-4160-9337-29E6D0A74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016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1" name="Group 59">
                <a:extLst>
                  <a:ext uri="{FF2B5EF4-FFF2-40B4-BE49-F238E27FC236}">
                    <a16:creationId xmlns:a16="http://schemas.microsoft.com/office/drawing/2014/main" id="{858ABF84-0C4F-4394-86DB-F69E2B677C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2763"/>
                <a:ext cx="743" cy="234"/>
                <a:chOff x="1180" y="2016"/>
                <a:chExt cx="446" cy="384"/>
              </a:xfrm>
            </p:grpSpPr>
            <p:sp>
              <p:nvSpPr>
                <p:cNvPr id="41038" name="Rectangle 60">
                  <a:extLst>
                    <a:ext uri="{FF2B5EF4-FFF2-40B4-BE49-F238E27FC236}">
                      <a16:creationId xmlns:a16="http://schemas.microsoft.com/office/drawing/2014/main" id="{980F4561-D4A4-465D-845E-FD2F10CF9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2016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4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39" name="Rectangle 61">
                  <a:extLst>
                    <a:ext uri="{FF2B5EF4-FFF2-40B4-BE49-F238E27FC236}">
                      <a16:creationId xmlns:a16="http://schemas.microsoft.com/office/drawing/2014/main" id="{F8A2C930-33A6-48A1-9FDB-C115B2960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2016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2" name="Group 62">
                <a:extLst>
                  <a:ext uri="{FF2B5EF4-FFF2-40B4-BE49-F238E27FC236}">
                    <a16:creationId xmlns:a16="http://schemas.microsoft.com/office/drawing/2014/main" id="{8F8A6353-4364-4600-9050-9F7F365315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2997"/>
                <a:ext cx="862" cy="234"/>
                <a:chOff x="0" y="2400"/>
                <a:chExt cx="518" cy="384"/>
              </a:xfrm>
            </p:grpSpPr>
            <p:sp>
              <p:nvSpPr>
                <p:cNvPr id="41036" name="Rectangle 63">
                  <a:extLst>
                    <a:ext uri="{FF2B5EF4-FFF2-40B4-BE49-F238E27FC236}">
                      <a16:creationId xmlns:a16="http://schemas.microsoft.com/office/drawing/2014/main" id="{6FD63558-C293-4906-895C-5ACA461C97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400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6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37" name="Rectangle 64">
                  <a:extLst>
                    <a:ext uri="{FF2B5EF4-FFF2-40B4-BE49-F238E27FC236}">
                      <a16:creationId xmlns:a16="http://schemas.microsoft.com/office/drawing/2014/main" id="{7D3AFE03-DF74-4560-BCBC-2251A47355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40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3" name="Group 65">
                <a:extLst>
                  <a:ext uri="{FF2B5EF4-FFF2-40B4-BE49-F238E27FC236}">
                    <a16:creationId xmlns:a16="http://schemas.microsoft.com/office/drawing/2014/main" id="{3F81486E-F9BD-40BE-A7B7-980B6346BF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2997"/>
                <a:ext cx="1102" cy="234"/>
                <a:chOff x="518" y="2400"/>
                <a:chExt cx="662" cy="384"/>
              </a:xfrm>
            </p:grpSpPr>
            <p:sp>
              <p:nvSpPr>
                <p:cNvPr id="41034" name="Rectangle 66">
                  <a:extLst>
                    <a:ext uri="{FF2B5EF4-FFF2-40B4-BE49-F238E27FC236}">
                      <a16:creationId xmlns:a16="http://schemas.microsoft.com/office/drawing/2014/main" id="{E46A8D0B-122F-48F9-804E-FF894FB221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400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计算机模拟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35" name="Rectangle 67">
                  <a:extLst>
                    <a:ext uri="{FF2B5EF4-FFF2-40B4-BE49-F238E27FC236}">
                      <a16:creationId xmlns:a16="http://schemas.microsoft.com/office/drawing/2014/main" id="{36977E16-1B9E-41E2-8511-6F6AB04E81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400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4" name="Group 68">
                <a:extLst>
                  <a:ext uri="{FF2B5EF4-FFF2-40B4-BE49-F238E27FC236}">
                    <a16:creationId xmlns:a16="http://schemas.microsoft.com/office/drawing/2014/main" id="{9418BDA1-A5AB-46F3-BEAA-5F0B552DE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2997"/>
                <a:ext cx="743" cy="234"/>
                <a:chOff x="1180" y="2400"/>
                <a:chExt cx="446" cy="384"/>
              </a:xfrm>
            </p:grpSpPr>
            <p:sp>
              <p:nvSpPr>
                <p:cNvPr id="41032" name="Rectangle 69">
                  <a:extLst>
                    <a:ext uri="{FF2B5EF4-FFF2-40B4-BE49-F238E27FC236}">
                      <a16:creationId xmlns:a16="http://schemas.microsoft.com/office/drawing/2014/main" id="{4503434F-7475-48CA-9F54-5FC9BC395A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2400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33" name="Rectangle 70">
                  <a:extLst>
                    <a:ext uri="{FF2B5EF4-FFF2-40B4-BE49-F238E27FC236}">
                      <a16:creationId xmlns:a16="http://schemas.microsoft.com/office/drawing/2014/main" id="{01C8A34E-EA89-4447-85BC-B5CB13DCA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2400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5" name="Group 71">
                <a:extLst>
                  <a:ext uri="{FF2B5EF4-FFF2-40B4-BE49-F238E27FC236}">
                    <a16:creationId xmlns:a16="http://schemas.microsoft.com/office/drawing/2014/main" id="{9A15529D-53C9-4580-8E91-4ABE769CAD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3231"/>
                <a:ext cx="862" cy="233"/>
                <a:chOff x="0" y="2784"/>
                <a:chExt cx="518" cy="384"/>
              </a:xfrm>
            </p:grpSpPr>
            <p:sp>
              <p:nvSpPr>
                <p:cNvPr id="41030" name="Rectangle 72">
                  <a:extLst>
                    <a:ext uri="{FF2B5EF4-FFF2-40B4-BE49-F238E27FC236}">
                      <a16:creationId xmlns:a16="http://schemas.microsoft.com/office/drawing/2014/main" id="{7F6E4DE0-47AF-4874-97EA-C630443628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784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7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31" name="Rectangle 73">
                  <a:extLst>
                    <a:ext uri="{FF2B5EF4-FFF2-40B4-BE49-F238E27FC236}">
                      <a16:creationId xmlns:a16="http://schemas.microsoft.com/office/drawing/2014/main" id="{684B685C-C35C-40F7-B884-D610254A0B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78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6" name="Group 74">
                <a:extLst>
                  <a:ext uri="{FF2B5EF4-FFF2-40B4-BE49-F238E27FC236}">
                    <a16:creationId xmlns:a16="http://schemas.microsoft.com/office/drawing/2014/main" id="{81CAD594-5179-4027-A93F-0E40031386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3231"/>
                <a:ext cx="1102" cy="233"/>
                <a:chOff x="518" y="2784"/>
                <a:chExt cx="662" cy="384"/>
              </a:xfrm>
            </p:grpSpPr>
            <p:sp>
              <p:nvSpPr>
                <p:cNvPr id="41028" name="Rectangle 75">
                  <a:extLst>
                    <a:ext uri="{FF2B5EF4-FFF2-40B4-BE49-F238E27FC236}">
                      <a16:creationId xmlns:a16="http://schemas.microsoft.com/office/drawing/2014/main" id="{6CD05149-38FD-4AC4-93A1-6237866D6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2784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计算机编程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29" name="Rectangle 76">
                  <a:extLst>
                    <a:ext uri="{FF2B5EF4-FFF2-40B4-BE49-F238E27FC236}">
                      <a16:creationId xmlns:a16="http://schemas.microsoft.com/office/drawing/2014/main" id="{70805A55-2F7F-466F-B41D-8B8E5347C1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784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7" name="Group 77">
                <a:extLst>
                  <a:ext uri="{FF2B5EF4-FFF2-40B4-BE49-F238E27FC236}">
                    <a16:creationId xmlns:a16="http://schemas.microsoft.com/office/drawing/2014/main" id="{130B88D9-BCBE-4315-BF10-5E69867864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3231"/>
                <a:ext cx="743" cy="233"/>
                <a:chOff x="1180" y="2784"/>
                <a:chExt cx="446" cy="384"/>
              </a:xfrm>
            </p:grpSpPr>
            <p:sp>
              <p:nvSpPr>
                <p:cNvPr id="41026" name="Rectangle 78">
                  <a:extLst>
                    <a:ext uri="{FF2B5EF4-FFF2-40B4-BE49-F238E27FC236}">
                      <a16:creationId xmlns:a16="http://schemas.microsoft.com/office/drawing/2014/main" id="{C26DEA0E-BA66-402E-B9FD-37D4F6427D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2784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2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27" name="Rectangle 79">
                  <a:extLst>
                    <a:ext uri="{FF2B5EF4-FFF2-40B4-BE49-F238E27FC236}">
                      <a16:creationId xmlns:a16="http://schemas.microsoft.com/office/drawing/2014/main" id="{ACEB381A-1CB4-4603-AF4B-AA5347B20D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2784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8" name="Group 80">
                <a:extLst>
                  <a:ext uri="{FF2B5EF4-FFF2-40B4-BE49-F238E27FC236}">
                    <a16:creationId xmlns:a16="http://schemas.microsoft.com/office/drawing/2014/main" id="{149241A8-9515-4684-BA05-25CF691605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3464"/>
                <a:ext cx="862" cy="234"/>
                <a:chOff x="0" y="3168"/>
                <a:chExt cx="518" cy="384"/>
              </a:xfrm>
            </p:grpSpPr>
            <p:sp>
              <p:nvSpPr>
                <p:cNvPr id="41024" name="Rectangle 81">
                  <a:extLst>
                    <a:ext uri="{FF2B5EF4-FFF2-40B4-BE49-F238E27FC236}">
                      <a16:creationId xmlns:a16="http://schemas.microsoft.com/office/drawing/2014/main" id="{80E06A00-898D-45E0-9513-AFF1432710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168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8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25" name="Rectangle 82">
                  <a:extLst>
                    <a:ext uri="{FF2B5EF4-FFF2-40B4-BE49-F238E27FC236}">
                      <a16:creationId xmlns:a16="http://schemas.microsoft.com/office/drawing/2014/main" id="{D7742937-4C9C-445F-83EC-F008E26385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68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09" name="Group 83">
                <a:extLst>
                  <a:ext uri="{FF2B5EF4-FFF2-40B4-BE49-F238E27FC236}">
                    <a16:creationId xmlns:a16="http://schemas.microsoft.com/office/drawing/2014/main" id="{022B49A8-FEC4-4EAA-AD63-993D74234B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3464"/>
                <a:ext cx="1102" cy="234"/>
                <a:chOff x="518" y="3168"/>
                <a:chExt cx="662" cy="384"/>
              </a:xfrm>
            </p:grpSpPr>
            <p:sp>
              <p:nvSpPr>
                <p:cNvPr id="41022" name="Rectangle 84">
                  <a:extLst>
                    <a:ext uri="{FF2B5EF4-FFF2-40B4-BE49-F238E27FC236}">
                      <a16:creationId xmlns:a16="http://schemas.microsoft.com/office/drawing/2014/main" id="{4F6F61B5-7DF8-44A4-970E-5686EEB09F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3168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预测理论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23" name="Rectangle 85">
                  <a:extLst>
                    <a:ext uri="{FF2B5EF4-FFF2-40B4-BE49-F238E27FC236}">
                      <a16:creationId xmlns:a16="http://schemas.microsoft.com/office/drawing/2014/main" id="{F6EFFEC3-7212-45DC-B29D-45F668245B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3168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10" name="Group 86">
                <a:extLst>
                  <a:ext uri="{FF2B5EF4-FFF2-40B4-BE49-F238E27FC236}">
                    <a16:creationId xmlns:a16="http://schemas.microsoft.com/office/drawing/2014/main" id="{35BE9538-B53B-40A8-BE44-2D9C2FB9FD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3464"/>
                <a:ext cx="743" cy="234"/>
                <a:chOff x="1180" y="3168"/>
                <a:chExt cx="446" cy="384"/>
              </a:xfrm>
            </p:grpSpPr>
            <p:sp>
              <p:nvSpPr>
                <p:cNvPr id="41020" name="Rectangle 87">
                  <a:extLst>
                    <a:ext uri="{FF2B5EF4-FFF2-40B4-BE49-F238E27FC236}">
                      <a16:creationId xmlns:a16="http://schemas.microsoft.com/office/drawing/2014/main" id="{E97A3DF9-C99F-462F-B8AF-3835E0D8A7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3168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2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21" name="Rectangle 88">
                  <a:extLst>
                    <a:ext uri="{FF2B5EF4-FFF2-40B4-BE49-F238E27FC236}">
                      <a16:creationId xmlns:a16="http://schemas.microsoft.com/office/drawing/2014/main" id="{7BAD8136-8AB7-49E9-9CF0-BAA6203418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3168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11" name="Group 89">
                <a:extLst>
                  <a:ext uri="{FF2B5EF4-FFF2-40B4-BE49-F238E27FC236}">
                    <a16:creationId xmlns:a16="http://schemas.microsoft.com/office/drawing/2014/main" id="{BF2E75AD-B0A5-4557-BEF0-4DA1D5AEA5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" y="3698"/>
                <a:ext cx="862" cy="234"/>
                <a:chOff x="0" y="3552"/>
                <a:chExt cx="518" cy="384"/>
              </a:xfrm>
            </p:grpSpPr>
            <p:sp>
              <p:nvSpPr>
                <p:cNvPr id="41018" name="Rectangle 90">
                  <a:extLst>
                    <a:ext uri="{FF2B5EF4-FFF2-40B4-BE49-F238E27FC236}">
                      <a16:creationId xmlns:a16="http://schemas.microsoft.com/office/drawing/2014/main" id="{41AECECA-AC58-44B8-B0C3-14363C4FA7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552"/>
                  <a:ext cx="43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9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19" name="Rectangle 91">
                  <a:extLst>
                    <a:ext uri="{FF2B5EF4-FFF2-40B4-BE49-F238E27FC236}">
                      <a16:creationId xmlns:a16="http://schemas.microsoft.com/office/drawing/2014/main" id="{DED0BF88-5F4A-411A-AD13-05FCCAEE6A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552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12" name="Group 92">
                <a:extLst>
                  <a:ext uri="{FF2B5EF4-FFF2-40B4-BE49-F238E27FC236}">
                    <a16:creationId xmlns:a16="http://schemas.microsoft.com/office/drawing/2014/main" id="{BE139DF1-C470-4419-8768-02D5D2C588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3698"/>
                <a:ext cx="1102" cy="234"/>
                <a:chOff x="518" y="3552"/>
                <a:chExt cx="662" cy="384"/>
              </a:xfrm>
            </p:grpSpPr>
            <p:sp>
              <p:nvSpPr>
                <p:cNvPr id="41016" name="Rectangle 93">
                  <a:extLst>
                    <a:ext uri="{FF2B5EF4-FFF2-40B4-BE49-F238E27FC236}">
                      <a16:creationId xmlns:a16="http://schemas.microsoft.com/office/drawing/2014/main" id="{AEA902B9-16B6-49A7-9E65-369B46FF98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1" y="3552"/>
                  <a:ext cx="57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/>
                    <a:t>数学实验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17" name="Rectangle 94">
                  <a:extLst>
                    <a:ext uri="{FF2B5EF4-FFF2-40B4-BE49-F238E27FC236}">
                      <a16:creationId xmlns:a16="http://schemas.microsoft.com/office/drawing/2014/main" id="{57252E2C-5E11-4EAC-ACD2-5BF6A6AB0E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3552"/>
                  <a:ext cx="6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1013" name="Group 95">
                <a:extLst>
                  <a:ext uri="{FF2B5EF4-FFF2-40B4-BE49-F238E27FC236}">
                    <a16:creationId xmlns:a16="http://schemas.microsoft.com/office/drawing/2014/main" id="{A49AB9D4-1323-457F-9BF8-5E102AC4D2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5" y="3698"/>
                <a:ext cx="743" cy="234"/>
                <a:chOff x="1180" y="3552"/>
                <a:chExt cx="446" cy="384"/>
              </a:xfrm>
            </p:grpSpPr>
            <p:sp>
              <p:nvSpPr>
                <p:cNvPr id="41014" name="Rectangle 96">
                  <a:extLst>
                    <a:ext uri="{FF2B5EF4-FFF2-40B4-BE49-F238E27FC236}">
                      <a16:creationId xmlns:a16="http://schemas.microsoft.com/office/drawing/2014/main" id="{21FA6E1D-7EAD-477B-AA4F-8263FFA3C7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3" y="3552"/>
                  <a:ext cx="36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l"/>
                    </a:tabLs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/>
                    <a:t>3</a:t>
                  </a:r>
                </a:p>
                <a:p>
                  <a:pPr algn="ctr"/>
                  <a:endParaRPr lang="en-US" altLang="zh-CN" sz="2000" b="1"/>
                </a:p>
              </p:txBody>
            </p:sp>
            <p:sp>
              <p:nvSpPr>
                <p:cNvPr id="41015" name="Rectangle 97">
                  <a:extLst>
                    <a:ext uri="{FF2B5EF4-FFF2-40B4-BE49-F238E27FC236}">
                      <a16:creationId xmlns:a16="http://schemas.microsoft.com/office/drawing/2014/main" id="{1FCE4C62-A1CF-4A31-B58E-CA5DDCD7B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0" y="3552"/>
                  <a:ext cx="44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40981" name="Text Box 98">
              <a:extLst>
                <a:ext uri="{FF2B5EF4-FFF2-40B4-BE49-F238E27FC236}">
                  <a16:creationId xmlns:a16="http://schemas.microsoft.com/office/drawing/2014/main" id="{015AC99B-F0CB-4CB1-A902-4F150105D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ym typeface="Symbol" panose="05050102010706020507" pitchFamily="18" charset="2"/>
                </a:rPr>
                <a:t>   </a:t>
              </a:r>
            </a:p>
          </p:txBody>
        </p:sp>
        <p:sp>
          <p:nvSpPr>
            <p:cNvPr id="40982" name="Text Box 99">
              <a:extLst>
                <a:ext uri="{FF2B5EF4-FFF2-40B4-BE49-F238E27FC236}">
                  <a16:creationId xmlns:a16="http://schemas.microsoft.com/office/drawing/2014/main" id="{170F9083-68D1-424F-B13B-C63E3458B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880"/>
              <a:ext cx="28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ym typeface="Symbol" panose="05050102010706020507" pitchFamily="18" charset="2"/>
                </a:rPr>
                <a:t>   </a:t>
              </a:r>
            </a:p>
          </p:txBody>
        </p:sp>
        <p:sp>
          <p:nvSpPr>
            <p:cNvPr id="40983" name="Text Box 100">
              <a:extLst>
                <a:ext uri="{FF2B5EF4-FFF2-40B4-BE49-F238E27FC236}">
                  <a16:creationId xmlns:a16="http://schemas.microsoft.com/office/drawing/2014/main" id="{B589D0A5-CD23-4F61-B7CB-AFEC53F1A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1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ym typeface="Symbol" panose="05050102010706020507" pitchFamily="18" charset="2"/>
                </a:rPr>
                <a:t>  </a:t>
              </a:r>
            </a:p>
          </p:txBody>
        </p:sp>
      </p:grpSp>
      <p:grpSp>
        <p:nvGrpSpPr>
          <p:cNvPr id="40994" name="Group 101">
            <a:extLst>
              <a:ext uri="{FF2B5EF4-FFF2-40B4-BE49-F238E27FC236}">
                <a16:creationId xmlns:a16="http://schemas.microsoft.com/office/drawing/2014/main" id="{C1795B88-4C71-45D0-9835-E2CBD1C14936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813050"/>
            <a:ext cx="457200" cy="3429000"/>
            <a:chOff x="720" y="1728"/>
            <a:chExt cx="288" cy="2160"/>
          </a:xfrm>
        </p:grpSpPr>
        <p:sp>
          <p:nvSpPr>
            <p:cNvPr id="40976" name="Text Box 102">
              <a:extLst>
                <a:ext uri="{FF2B5EF4-FFF2-40B4-BE49-F238E27FC236}">
                  <a16:creationId xmlns:a16="http://schemas.microsoft.com/office/drawing/2014/main" id="{B19F5313-36F2-45F6-9DB8-ADFE5F187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728"/>
              <a:ext cx="288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  </a:t>
              </a:r>
            </a:p>
          </p:txBody>
        </p:sp>
        <p:sp>
          <p:nvSpPr>
            <p:cNvPr id="40977" name="Text Box 103">
              <a:extLst>
                <a:ext uri="{FF2B5EF4-FFF2-40B4-BE49-F238E27FC236}">
                  <a16:creationId xmlns:a16="http://schemas.microsoft.com/office/drawing/2014/main" id="{D6E3A3AE-D563-42C9-9AAF-0CC835C01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1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 </a:t>
              </a:r>
            </a:p>
          </p:txBody>
        </p:sp>
        <p:sp>
          <p:nvSpPr>
            <p:cNvPr id="40978" name="Text Box 104">
              <a:extLst>
                <a:ext uri="{FF2B5EF4-FFF2-40B4-BE49-F238E27FC236}">
                  <a16:creationId xmlns:a16="http://schemas.microsoft.com/office/drawing/2014/main" id="{1574C89C-D141-4182-8B43-B7C8DBFA3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6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 </a:t>
              </a:r>
            </a:p>
          </p:txBody>
        </p:sp>
        <p:sp>
          <p:nvSpPr>
            <p:cNvPr id="40979" name="Text Box 105">
              <a:extLst>
                <a:ext uri="{FF2B5EF4-FFF2-40B4-BE49-F238E27FC236}">
                  <a16:creationId xmlns:a16="http://schemas.microsoft.com/office/drawing/2014/main" id="{44BCFCF6-CAE4-4913-8561-BC359C24B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6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 </a:t>
              </a:r>
            </a:p>
          </p:txBody>
        </p:sp>
      </p:grpSp>
      <p:sp>
        <p:nvSpPr>
          <p:cNvPr id="59498" name="Text Box 106">
            <a:extLst>
              <a:ext uri="{FF2B5EF4-FFF2-40B4-BE49-F238E27FC236}">
                <a16:creationId xmlns:a16="http://schemas.microsoft.com/office/drawing/2014/main" id="{E5FE4E17-8992-4D93-ADE8-91D943403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403850"/>
            <a:ext cx="3581400" cy="1073150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/>
              <a:t>LINGO</a:t>
            </a:r>
            <a:r>
              <a:rPr lang="zh-CN" altLang="en-US" sz="2800" b="1"/>
              <a:t>不能告诉优化问题的解是否唯一</a:t>
            </a:r>
            <a:r>
              <a:rPr lang="en-US" altLang="zh-CN" sz="2800" b="1"/>
              <a:t>.</a:t>
            </a:r>
          </a:p>
        </p:txBody>
      </p:sp>
      <p:sp>
        <p:nvSpPr>
          <p:cNvPr id="59499" name="Text Box 107">
            <a:extLst>
              <a:ext uri="{FF2B5EF4-FFF2-40B4-BE49-F238E27FC236}">
                <a16:creationId xmlns:a16="http://schemas.microsoft.com/office/drawing/2014/main" id="{65055732-E57C-4E63-9979-6BF71326A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79425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可将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9</a:t>
            </a:r>
            <a:r>
              <a:rPr lang="en-US" altLang="zh-CN" sz="2800" b="1">
                <a:solidFill>
                  <a:srgbClr val="FF3300"/>
                </a:solidFill>
              </a:rPr>
              <a:t> =1 </a:t>
            </a:r>
            <a:r>
              <a:rPr lang="zh-CN" altLang="en-US" sz="2800" b="1"/>
              <a:t>易为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6</a:t>
            </a:r>
            <a:r>
              <a:rPr lang="en-US" altLang="zh-CN" sz="2800" b="1">
                <a:solidFill>
                  <a:srgbClr val="FF3300"/>
                </a:solidFill>
              </a:rPr>
              <a:t> =1</a:t>
            </a:r>
          </a:p>
        </p:txBody>
      </p:sp>
      <p:grpSp>
        <p:nvGrpSpPr>
          <p:cNvPr id="40995" name="Group 108">
            <a:extLst>
              <a:ext uri="{FF2B5EF4-FFF2-40B4-BE49-F238E27FC236}">
                <a16:creationId xmlns:a16="http://schemas.microsoft.com/office/drawing/2014/main" id="{58CD8B26-E50C-45E1-A12A-9B6DD12D47D7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984250"/>
            <a:ext cx="4621213" cy="1312863"/>
            <a:chOff x="2736" y="480"/>
            <a:chExt cx="2592" cy="827"/>
          </a:xfrm>
        </p:grpSpPr>
        <p:grpSp>
          <p:nvGrpSpPr>
            <p:cNvPr id="40972" name="Group 109">
              <a:extLst>
                <a:ext uri="{FF2B5EF4-FFF2-40B4-BE49-F238E27FC236}">
                  <a16:creationId xmlns:a16="http://schemas.microsoft.com/office/drawing/2014/main" id="{5ECE8F67-08AB-47C7-963D-4261BE6E4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480"/>
              <a:ext cx="2400" cy="827"/>
              <a:chOff x="2928" y="480"/>
              <a:chExt cx="2400" cy="827"/>
            </a:xfrm>
          </p:grpSpPr>
          <p:sp>
            <p:nvSpPr>
              <p:cNvPr id="40974" name="Text Box 110">
                <a:extLst>
                  <a:ext uri="{FF2B5EF4-FFF2-40B4-BE49-F238E27FC236}">
                    <a16:creationId xmlns:a16="http://schemas.microsoft.com/office/drawing/2014/main" id="{8ABBA144-19CE-400C-ACD5-3D360C0790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576"/>
                <a:ext cx="2400" cy="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>
                    <a:latin typeface="宋体" panose="02010600030101010101" pitchFamily="2" charset="-122"/>
                  </a:rPr>
                  <a:t>增加约束           ，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>
                    <a:latin typeface="宋体" panose="02010600030101010101" pitchFamily="2" charset="-122"/>
                  </a:rPr>
                  <a:t>以学分最多为目标求解</a:t>
                </a:r>
                <a:r>
                  <a:rPr lang="en-US" altLang="zh-CN" sz="2800" b="1">
                    <a:latin typeface="宋体" panose="02010600030101010101" pitchFamily="2" charset="-122"/>
                  </a:rPr>
                  <a:t>.</a:t>
                </a:r>
              </a:p>
            </p:txBody>
          </p:sp>
          <p:graphicFrame>
            <p:nvGraphicFramePr>
              <p:cNvPr id="40975" name="Object 111">
                <a:extLst>
                  <a:ext uri="{FF2B5EF4-FFF2-40B4-BE49-F238E27FC236}">
                    <a16:creationId xmlns:a16="http://schemas.microsoft.com/office/drawing/2014/main" id="{EF7693EC-5877-4EFF-B5CE-4AC5E645692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0" y="480"/>
              <a:ext cx="842" cy="5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76" name="Equation" r:id="rId3" imgW="571252" imgH="431613" progId="Equation.3">
                      <p:embed/>
                    </p:oleObj>
                  </mc:Choice>
                  <mc:Fallback>
                    <p:oleObj name="Equation" r:id="rId3" imgW="571252" imgH="431613" progId="Equation.3">
                      <p:embed/>
                      <p:pic>
                        <p:nvPicPr>
                          <p:cNvPr id="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480"/>
                            <a:ext cx="842" cy="5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973" name="AutoShape 112">
              <a:extLst>
                <a:ext uri="{FF2B5EF4-FFF2-40B4-BE49-F238E27FC236}">
                  <a16:creationId xmlns:a16="http://schemas.microsoft.com/office/drawing/2014/main" id="{35520F97-4F1A-4C8E-86FB-9B11C8835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816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40971" name="Object 113">
            <a:extLst>
              <a:ext uri="{FF2B5EF4-FFF2-40B4-BE49-F238E27FC236}">
                <a16:creationId xmlns:a16="http://schemas.microsoft.com/office/drawing/2014/main" id="{5B12E0FF-1BFC-4BA6-877A-66F878D166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74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7" name="Clip" r:id="rId5" imgW="761744" imgH="434194" progId="MS_ClipArt_Gallery.2">
                  <p:embed/>
                </p:oleObj>
              </mc:Choice>
              <mc:Fallback>
                <p:oleObj name="Clip" r:id="rId5" imgW="761744" imgH="434194" progId="MS_ClipArt_Gallery.2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74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5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nimBg="1" autoUpdateAnimBg="0"/>
      <p:bldP spid="59396" grpId="0" animBg="1" autoUpdateAnimBg="0"/>
      <p:bldP spid="59397" grpId="0" animBg="1" autoUpdateAnimBg="0"/>
      <p:bldP spid="59498" grpId="0" animBg="1"/>
      <p:bldP spid="59499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>
            <a:extLst>
              <a:ext uri="{FF2B5EF4-FFF2-40B4-BE49-F238E27FC236}">
                <a16:creationId xmlns:a16="http://schemas.microsoft.com/office/drawing/2014/main" id="{BF8B871F-10C7-4B4F-BFC7-128BAA8BC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"/>
            <a:ext cx="2438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多目标规划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60419" name="Text Box 3">
            <a:extLst>
              <a:ext uri="{FF2B5EF4-FFF2-40B4-BE49-F238E27FC236}">
                <a16:creationId xmlns:a16="http://schemas.microsoft.com/office/drawing/2014/main" id="{E0CE602B-F83B-4D83-A253-8935BDF7B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7288"/>
            <a:ext cx="8283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对学分数和课程数加权形成一个目标，如三七开</a:t>
            </a:r>
            <a:r>
              <a:rPr lang="en-US" altLang="zh-CN" sz="2800" b="1"/>
              <a:t>. </a:t>
            </a:r>
          </a:p>
        </p:txBody>
      </p:sp>
      <p:graphicFrame>
        <p:nvGraphicFramePr>
          <p:cNvPr id="60420" name="Object 4">
            <a:extLst>
              <a:ext uri="{FF2B5EF4-FFF2-40B4-BE49-F238E27FC236}">
                <a16:creationId xmlns:a16="http://schemas.microsoft.com/office/drawing/2014/main" id="{F878C74D-A089-4755-9675-C5089E0719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1875" y="3124200"/>
          <a:ext cx="39973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5" name="Equation" r:id="rId3" imgW="1905000" imgH="457200" progId="Equation.3">
                  <p:embed/>
                </p:oleObj>
              </mc:Choice>
              <mc:Fallback>
                <p:oleObj name="Equation" r:id="rId3" imgW="19050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3124200"/>
                        <a:ext cx="399732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5">
            <a:extLst>
              <a:ext uri="{FF2B5EF4-FFF2-40B4-BE49-F238E27FC236}">
                <a16:creationId xmlns:a16="http://schemas.microsoft.com/office/drawing/2014/main" id="{4450306C-746D-4590-89F1-7352A6C18D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1905000"/>
          <a:ext cx="161925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6" name="公式" r:id="rId5" imgW="609336" imgH="431613" progId="Equation.3">
                  <p:embed/>
                </p:oleObj>
              </mc:Choice>
              <mc:Fallback>
                <p:oleObj name="公式" r:id="rId5" imgW="609336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1905000"/>
                        <a:ext cx="1619250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Text Box 6">
            <a:extLst>
              <a:ext uri="{FF2B5EF4-FFF2-40B4-BE49-F238E27FC236}">
                <a16:creationId xmlns:a16="http://schemas.microsoft.com/office/drawing/2014/main" id="{C5856962-050D-4D94-A7AA-AFB67EF1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572000"/>
            <a:ext cx="41910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最优解：</a:t>
            </a:r>
            <a:r>
              <a:rPr lang="zh-CN" altLang="en-US" sz="2800" b="1" i="1"/>
              <a:t>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1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2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3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4</a:t>
            </a:r>
            <a:r>
              <a:rPr lang="en-US" altLang="zh-CN" sz="2800" b="1">
                <a:solidFill>
                  <a:srgbClr val="FF3300"/>
                </a:solidFill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5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6 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7</a:t>
            </a:r>
            <a:r>
              <a:rPr lang="en-US" altLang="zh-CN" sz="2800" b="1">
                <a:solidFill>
                  <a:srgbClr val="FF3300"/>
                </a:solidFill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</a:rPr>
              <a:t>9</a:t>
            </a:r>
            <a:r>
              <a:rPr lang="en-US" altLang="zh-CN" sz="2800" b="1">
                <a:solidFill>
                  <a:srgbClr val="FF3300"/>
                </a:solidFill>
              </a:rPr>
              <a:t> =1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宋体" panose="02010600030101010101" pitchFamily="2" charset="-122"/>
              </a:rPr>
              <a:t>其他为</a:t>
            </a:r>
            <a:r>
              <a:rPr lang="en-US" altLang="zh-CN" sz="2800" b="1"/>
              <a:t>0</a:t>
            </a:r>
            <a:r>
              <a:rPr lang="zh-CN" altLang="en-US" sz="2800" b="1"/>
              <a:t>；</a:t>
            </a:r>
            <a:r>
              <a:rPr lang="zh-CN" altLang="en-US" sz="2800" b="1">
                <a:latin typeface="宋体" panose="02010600030101010101" pitchFamily="2" charset="-122"/>
              </a:rPr>
              <a:t>总学分</a:t>
            </a:r>
            <a:r>
              <a:rPr lang="en-US" altLang="zh-CN" sz="2800" b="1"/>
              <a:t>28.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397AA5E4-AC41-43BB-93BB-0EA7086BB54B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2574925"/>
            <a:ext cx="4297362" cy="3803650"/>
            <a:chOff x="221" y="1536"/>
            <a:chExt cx="2707" cy="2396"/>
          </a:xfrm>
        </p:grpSpPr>
        <p:grpSp>
          <p:nvGrpSpPr>
            <p:cNvPr id="42001" name="Group 8">
              <a:extLst>
                <a:ext uri="{FF2B5EF4-FFF2-40B4-BE49-F238E27FC236}">
                  <a16:creationId xmlns:a16="http://schemas.microsoft.com/office/drawing/2014/main" id="{5DE12988-FDB8-48DF-8211-68BD726A56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1536"/>
              <a:ext cx="862" cy="292"/>
              <a:chOff x="0" y="0"/>
              <a:chExt cx="518" cy="480"/>
            </a:xfrm>
          </p:grpSpPr>
          <p:sp>
            <p:nvSpPr>
              <p:cNvPr id="42089" name="Rectangle 9">
                <a:extLst>
                  <a:ext uri="{FF2B5EF4-FFF2-40B4-BE49-F238E27FC236}">
                    <a16:creationId xmlns:a16="http://schemas.microsoft.com/office/drawing/2014/main" id="{00BACA7E-AB8A-45E6-8DBE-01ED6AC8F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0"/>
                <a:ext cx="432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课号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90" name="Rectangle 10">
                <a:extLst>
                  <a:ext uri="{FF2B5EF4-FFF2-40B4-BE49-F238E27FC236}">
                    <a16:creationId xmlns:a16="http://schemas.microsoft.com/office/drawing/2014/main" id="{96498DA4-FCE3-420B-AA19-AD090DA2E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18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02" name="Group 11">
              <a:extLst>
                <a:ext uri="{FF2B5EF4-FFF2-40B4-BE49-F238E27FC236}">
                  <a16:creationId xmlns:a16="http://schemas.microsoft.com/office/drawing/2014/main" id="{D0F7D9C9-C67E-46E6-A194-4E8959C27B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1536"/>
              <a:ext cx="1102" cy="292"/>
              <a:chOff x="518" y="0"/>
              <a:chExt cx="662" cy="480"/>
            </a:xfrm>
          </p:grpSpPr>
          <p:sp>
            <p:nvSpPr>
              <p:cNvPr id="42087" name="Rectangle 12">
                <a:extLst>
                  <a:ext uri="{FF2B5EF4-FFF2-40B4-BE49-F238E27FC236}">
                    <a16:creationId xmlns:a16="http://schemas.microsoft.com/office/drawing/2014/main" id="{4D2A5CC8-D62E-4460-99FE-34FCC235B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0"/>
                <a:ext cx="576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课名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88" name="Rectangle 13">
                <a:extLst>
                  <a:ext uri="{FF2B5EF4-FFF2-40B4-BE49-F238E27FC236}">
                    <a16:creationId xmlns:a16="http://schemas.microsoft.com/office/drawing/2014/main" id="{A9B4F53F-922A-44BD-A1A5-4794AA259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0"/>
                <a:ext cx="662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03" name="Group 14">
              <a:extLst>
                <a:ext uri="{FF2B5EF4-FFF2-40B4-BE49-F238E27FC236}">
                  <a16:creationId xmlns:a16="http://schemas.microsoft.com/office/drawing/2014/main" id="{14C08991-5877-437F-8CDA-2AD9A68571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1536"/>
              <a:ext cx="743" cy="292"/>
              <a:chOff x="1180" y="0"/>
              <a:chExt cx="446" cy="480"/>
            </a:xfrm>
          </p:grpSpPr>
          <p:sp>
            <p:nvSpPr>
              <p:cNvPr id="42085" name="Rectangle 15">
                <a:extLst>
                  <a:ext uri="{FF2B5EF4-FFF2-40B4-BE49-F238E27FC236}">
                    <a16:creationId xmlns:a16="http://schemas.microsoft.com/office/drawing/2014/main" id="{524BEC56-CE86-4A3F-B1A6-FFE8116D1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0"/>
                <a:ext cx="360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学分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86" name="Rectangle 16">
                <a:extLst>
                  <a:ext uri="{FF2B5EF4-FFF2-40B4-BE49-F238E27FC236}">
                    <a16:creationId xmlns:a16="http://schemas.microsoft.com/office/drawing/2014/main" id="{90F4C019-5322-472A-B574-813AE914B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0"/>
                <a:ext cx="446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04" name="Group 17">
              <a:extLst>
                <a:ext uri="{FF2B5EF4-FFF2-40B4-BE49-F238E27FC236}">
                  <a16:creationId xmlns:a16="http://schemas.microsoft.com/office/drawing/2014/main" id="{C8FD865B-99C5-4C42-B102-71B91612D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1828"/>
              <a:ext cx="862" cy="234"/>
              <a:chOff x="0" y="480"/>
              <a:chExt cx="518" cy="384"/>
            </a:xfrm>
          </p:grpSpPr>
          <p:sp>
            <p:nvSpPr>
              <p:cNvPr id="42083" name="Rectangle 18">
                <a:extLst>
                  <a:ext uri="{FF2B5EF4-FFF2-40B4-BE49-F238E27FC236}">
                    <a16:creationId xmlns:a16="http://schemas.microsoft.com/office/drawing/2014/main" id="{00FE029E-3B22-4E8E-8028-AC08A1043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480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84" name="Rectangle 19">
                <a:extLst>
                  <a:ext uri="{FF2B5EF4-FFF2-40B4-BE49-F238E27FC236}">
                    <a16:creationId xmlns:a16="http://schemas.microsoft.com/office/drawing/2014/main" id="{3B342A1D-AE0D-44F4-A897-18E931498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80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05" name="Group 20">
              <a:extLst>
                <a:ext uri="{FF2B5EF4-FFF2-40B4-BE49-F238E27FC236}">
                  <a16:creationId xmlns:a16="http://schemas.microsoft.com/office/drawing/2014/main" id="{D5DDFE41-AE24-4D4B-A287-5943A7A917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1828"/>
              <a:ext cx="1102" cy="234"/>
              <a:chOff x="518" y="480"/>
              <a:chExt cx="662" cy="384"/>
            </a:xfrm>
          </p:grpSpPr>
          <p:sp>
            <p:nvSpPr>
              <p:cNvPr id="42081" name="Rectangle 21">
                <a:extLst>
                  <a:ext uri="{FF2B5EF4-FFF2-40B4-BE49-F238E27FC236}">
                    <a16:creationId xmlns:a16="http://schemas.microsoft.com/office/drawing/2014/main" id="{56E90824-B1CA-4227-A910-4BECF3379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480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微积分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82" name="Rectangle 22">
                <a:extLst>
                  <a:ext uri="{FF2B5EF4-FFF2-40B4-BE49-F238E27FC236}">
                    <a16:creationId xmlns:a16="http://schemas.microsoft.com/office/drawing/2014/main" id="{78280515-EA6E-4400-A4F5-AFC7F5AF7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480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06" name="Group 23">
              <a:extLst>
                <a:ext uri="{FF2B5EF4-FFF2-40B4-BE49-F238E27FC236}">
                  <a16:creationId xmlns:a16="http://schemas.microsoft.com/office/drawing/2014/main" id="{0A87691B-7692-4F6D-96DB-D5860D25B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1828"/>
              <a:ext cx="743" cy="234"/>
              <a:chOff x="1180" y="480"/>
              <a:chExt cx="446" cy="384"/>
            </a:xfrm>
          </p:grpSpPr>
          <p:sp>
            <p:nvSpPr>
              <p:cNvPr id="42079" name="Rectangle 24">
                <a:extLst>
                  <a:ext uri="{FF2B5EF4-FFF2-40B4-BE49-F238E27FC236}">
                    <a16:creationId xmlns:a16="http://schemas.microsoft.com/office/drawing/2014/main" id="{C44FB7C9-C866-428C-9C90-94DDFFEA8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480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5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80" name="Rectangle 25">
                <a:extLst>
                  <a:ext uri="{FF2B5EF4-FFF2-40B4-BE49-F238E27FC236}">
                    <a16:creationId xmlns:a16="http://schemas.microsoft.com/office/drawing/2014/main" id="{FE51B0EE-AB61-448D-92FA-088F36D70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480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07" name="Group 26">
              <a:extLst>
                <a:ext uri="{FF2B5EF4-FFF2-40B4-BE49-F238E27FC236}">
                  <a16:creationId xmlns:a16="http://schemas.microsoft.com/office/drawing/2014/main" id="{78F685F6-EB7C-4199-B832-F0B48B5E6B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2062"/>
              <a:ext cx="862" cy="234"/>
              <a:chOff x="0" y="864"/>
              <a:chExt cx="518" cy="384"/>
            </a:xfrm>
          </p:grpSpPr>
          <p:sp>
            <p:nvSpPr>
              <p:cNvPr id="42077" name="Rectangle 27">
                <a:extLst>
                  <a:ext uri="{FF2B5EF4-FFF2-40B4-BE49-F238E27FC236}">
                    <a16:creationId xmlns:a16="http://schemas.microsoft.com/office/drawing/2014/main" id="{2AB86DC7-AF7E-4275-BD15-D3F753B9C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864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78" name="Rectangle 28">
                <a:extLst>
                  <a:ext uri="{FF2B5EF4-FFF2-40B4-BE49-F238E27FC236}">
                    <a16:creationId xmlns:a16="http://schemas.microsoft.com/office/drawing/2014/main" id="{E718752F-33FE-41D1-BA58-33663664D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64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08" name="Group 29">
              <a:extLst>
                <a:ext uri="{FF2B5EF4-FFF2-40B4-BE49-F238E27FC236}">
                  <a16:creationId xmlns:a16="http://schemas.microsoft.com/office/drawing/2014/main" id="{F3D63F03-3782-49A6-8C6F-2F2C9D438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2062"/>
              <a:ext cx="1102" cy="234"/>
              <a:chOff x="518" y="864"/>
              <a:chExt cx="662" cy="384"/>
            </a:xfrm>
          </p:grpSpPr>
          <p:sp>
            <p:nvSpPr>
              <p:cNvPr id="42075" name="Rectangle 30">
                <a:extLst>
                  <a:ext uri="{FF2B5EF4-FFF2-40B4-BE49-F238E27FC236}">
                    <a16:creationId xmlns:a16="http://schemas.microsoft.com/office/drawing/2014/main" id="{D78C8B60-7267-4927-83B8-86DDC5631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864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线性代数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76" name="Rectangle 31">
                <a:extLst>
                  <a:ext uri="{FF2B5EF4-FFF2-40B4-BE49-F238E27FC236}">
                    <a16:creationId xmlns:a16="http://schemas.microsoft.com/office/drawing/2014/main" id="{9EC4A6AD-11E0-4545-87E4-CF356E6BB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864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09" name="Group 32">
              <a:extLst>
                <a:ext uri="{FF2B5EF4-FFF2-40B4-BE49-F238E27FC236}">
                  <a16:creationId xmlns:a16="http://schemas.microsoft.com/office/drawing/2014/main" id="{6B107723-DFFA-46AA-8D68-F4D0E3B7B6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2062"/>
              <a:ext cx="743" cy="234"/>
              <a:chOff x="1180" y="864"/>
              <a:chExt cx="446" cy="384"/>
            </a:xfrm>
          </p:grpSpPr>
          <p:sp>
            <p:nvSpPr>
              <p:cNvPr id="42073" name="Rectangle 33">
                <a:extLst>
                  <a:ext uri="{FF2B5EF4-FFF2-40B4-BE49-F238E27FC236}">
                    <a16:creationId xmlns:a16="http://schemas.microsoft.com/office/drawing/2014/main" id="{2B3EA9FB-1D2D-40FE-87B4-A3AFF9A67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864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74" name="Rectangle 34">
                <a:extLst>
                  <a:ext uri="{FF2B5EF4-FFF2-40B4-BE49-F238E27FC236}">
                    <a16:creationId xmlns:a16="http://schemas.microsoft.com/office/drawing/2014/main" id="{266526C8-60A8-447F-BDBE-F52CD3A45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864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0" name="Group 35">
              <a:extLst>
                <a:ext uri="{FF2B5EF4-FFF2-40B4-BE49-F238E27FC236}">
                  <a16:creationId xmlns:a16="http://schemas.microsoft.com/office/drawing/2014/main" id="{110656D4-0A9B-49D1-81F8-DFF76B4762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2296"/>
              <a:ext cx="862" cy="233"/>
              <a:chOff x="0" y="1248"/>
              <a:chExt cx="518" cy="384"/>
            </a:xfrm>
          </p:grpSpPr>
          <p:sp>
            <p:nvSpPr>
              <p:cNvPr id="42071" name="Rectangle 36">
                <a:extLst>
                  <a:ext uri="{FF2B5EF4-FFF2-40B4-BE49-F238E27FC236}">
                    <a16:creationId xmlns:a16="http://schemas.microsoft.com/office/drawing/2014/main" id="{A0D0674C-5A20-4B9A-A312-A8A9CC2A0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248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72" name="Rectangle 37">
                <a:extLst>
                  <a:ext uri="{FF2B5EF4-FFF2-40B4-BE49-F238E27FC236}">
                    <a16:creationId xmlns:a16="http://schemas.microsoft.com/office/drawing/2014/main" id="{0537676B-554E-4F81-9BDC-30B92AE95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48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1" name="Group 38">
              <a:extLst>
                <a:ext uri="{FF2B5EF4-FFF2-40B4-BE49-F238E27FC236}">
                  <a16:creationId xmlns:a16="http://schemas.microsoft.com/office/drawing/2014/main" id="{661C450C-B971-48DE-9E27-3A8C30E3B2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2296"/>
              <a:ext cx="1102" cy="233"/>
              <a:chOff x="518" y="1248"/>
              <a:chExt cx="662" cy="384"/>
            </a:xfrm>
          </p:grpSpPr>
          <p:sp>
            <p:nvSpPr>
              <p:cNvPr id="42069" name="Rectangle 39">
                <a:extLst>
                  <a:ext uri="{FF2B5EF4-FFF2-40B4-BE49-F238E27FC236}">
                    <a16:creationId xmlns:a16="http://schemas.microsoft.com/office/drawing/2014/main" id="{9D78134E-72CF-4883-8299-84BABC04E4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1248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最优化方法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70" name="Rectangle 40">
                <a:extLst>
                  <a:ext uri="{FF2B5EF4-FFF2-40B4-BE49-F238E27FC236}">
                    <a16:creationId xmlns:a16="http://schemas.microsoft.com/office/drawing/2014/main" id="{62EC5709-B68F-4436-A9A9-0B9740A5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1248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2" name="Group 41">
              <a:extLst>
                <a:ext uri="{FF2B5EF4-FFF2-40B4-BE49-F238E27FC236}">
                  <a16:creationId xmlns:a16="http://schemas.microsoft.com/office/drawing/2014/main" id="{815CFA40-66D5-408D-A723-7BE7BFE7FD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2296"/>
              <a:ext cx="743" cy="233"/>
              <a:chOff x="1180" y="1248"/>
              <a:chExt cx="446" cy="384"/>
            </a:xfrm>
          </p:grpSpPr>
          <p:sp>
            <p:nvSpPr>
              <p:cNvPr id="42067" name="Rectangle 42">
                <a:extLst>
                  <a:ext uri="{FF2B5EF4-FFF2-40B4-BE49-F238E27FC236}">
                    <a16:creationId xmlns:a16="http://schemas.microsoft.com/office/drawing/2014/main" id="{20166248-123C-4759-90E0-D0476DC16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1248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68" name="Rectangle 43">
                <a:extLst>
                  <a:ext uri="{FF2B5EF4-FFF2-40B4-BE49-F238E27FC236}">
                    <a16:creationId xmlns:a16="http://schemas.microsoft.com/office/drawing/2014/main" id="{264E0697-4AAB-4935-8AA5-D3BE3B064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1248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3" name="Group 44">
              <a:extLst>
                <a:ext uri="{FF2B5EF4-FFF2-40B4-BE49-F238E27FC236}">
                  <a16:creationId xmlns:a16="http://schemas.microsoft.com/office/drawing/2014/main" id="{43E7CDA6-837A-45D5-8057-BD5688079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2529"/>
              <a:ext cx="862" cy="234"/>
              <a:chOff x="0" y="1632"/>
              <a:chExt cx="518" cy="384"/>
            </a:xfrm>
          </p:grpSpPr>
          <p:sp>
            <p:nvSpPr>
              <p:cNvPr id="42065" name="Rectangle 45">
                <a:extLst>
                  <a:ext uri="{FF2B5EF4-FFF2-40B4-BE49-F238E27FC236}">
                    <a16:creationId xmlns:a16="http://schemas.microsoft.com/office/drawing/2014/main" id="{950BE3FB-1C1B-4BB1-92D5-04DBD9A61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632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66" name="Rectangle 46">
                <a:extLst>
                  <a:ext uri="{FF2B5EF4-FFF2-40B4-BE49-F238E27FC236}">
                    <a16:creationId xmlns:a16="http://schemas.microsoft.com/office/drawing/2014/main" id="{664B1489-8DA5-41E4-B448-51784DAD1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632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4" name="Group 47">
              <a:extLst>
                <a:ext uri="{FF2B5EF4-FFF2-40B4-BE49-F238E27FC236}">
                  <a16:creationId xmlns:a16="http://schemas.microsoft.com/office/drawing/2014/main" id="{AA633BFB-18F0-4B81-8BF1-7F722D4A58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2529"/>
              <a:ext cx="1102" cy="234"/>
              <a:chOff x="518" y="1632"/>
              <a:chExt cx="662" cy="384"/>
            </a:xfrm>
          </p:grpSpPr>
          <p:sp>
            <p:nvSpPr>
              <p:cNvPr id="42063" name="Rectangle 48">
                <a:extLst>
                  <a:ext uri="{FF2B5EF4-FFF2-40B4-BE49-F238E27FC236}">
                    <a16:creationId xmlns:a16="http://schemas.microsoft.com/office/drawing/2014/main" id="{A102A3A1-813E-4D48-B63F-AF26B2AA6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1632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数据结构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64" name="Rectangle 49">
                <a:extLst>
                  <a:ext uri="{FF2B5EF4-FFF2-40B4-BE49-F238E27FC236}">
                    <a16:creationId xmlns:a16="http://schemas.microsoft.com/office/drawing/2014/main" id="{E81CF963-487D-4336-8529-AA2A4C988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1632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5" name="Group 50">
              <a:extLst>
                <a:ext uri="{FF2B5EF4-FFF2-40B4-BE49-F238E27FC236}">
                  <a16:creationId xmlns:a16="http://schemas.microsoft.com/office/drawing/2014/main" id="{CDB3AF93-ADAF-4490-8520-1DDF973F7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2529"/>
              <a:ext cx="743" cy="234"/>
              <a:chOff x="1180" y="1632"/>
              <a:chExt cx="446" cy="384"/>
            </a:xfrm>
          </p:grpSpPr>
          <p:sp>
            <p:nvSpPr>
              <p:cNvPr id="42061" name="Rectangle 51">
                <a:extLst>
                  <a:ext uri="{FF2B5EF4-FFF2-40B4-BE49-F238E27FC236}">
                    <a16:creationId xmlns:a16="http://schemas.microsoft.com/office/drawing/2014/main" id="{65C70372-4C43-4D40-AB49-032CD68B9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1632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62" name="Rectangle 52">
                <a:extLst>
                  <a:ext uri="{FF2B5EF4-FFF2-40B4-BE49-F238E27FC236}">
                    <a16:creationId xmlns:a16="http://schemas.microsoft.com/office/drawing/2014/main" id="{BBB7FCCD-AF47-40D4-BB4B-E5DEF6723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1632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6" name="Group 53">
              <a:extLst>
                <a:ext uri="{FF2B5EF4-FFF2-40B4-BE49-F238E27FC236}">
                  <a16:creationId xmlns:a16="http://schemas.microsoft.com/office/drawing/2014/main" id="{E0D686F6-F89A-4FCF-99DA-37BE7C7802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2763"/>
              <a:ext cx="862" cy="234"/>
              <a:chOff x="0" y="2016"/>
              <a:chExt cx="518" cy="384"/>
            </a:xfrm>
          </p:grpSpPr>
          <p:sp>
            <p:nvSpPr>
              <p:cNvPr id="42059" name="Rectangle 54">
                <a:extLst>
                  <a:ext uri="{FF2B5EF4-FFF2-40B4-BE49-F238E27FC236}">
                    <a16:creationId xmlns:a16="http://schemas.microsoft.com/office/drawing/2014/main" id="{AF8F015D-4D52-42A4-BDA2-7E411253F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016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5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60" name="Rectangle 55">
                <a:extLst>
                  <a:ext uri="{FF2B5EF4-FFF2-40B4-BE49-F238E27FC236}">
                    <a16:creationId xmlns:a16="http://schemas.microsoft.com/office/drawing/2014/main" id="{298167BE-FF2A-44C8-B80A-430DAAB0B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016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7" name="Group 56">
              <a:extLst>
                <a:ext uri="{FF2B5EF4-FFF2-40B4-BE49-F238E27FC236}">
                  <a16:creationId xmlns:a16="http://schemas.microsoft.com/office/drawing/2014/main" id="{2BEA59E8-1051-4A71-B74A-E99201F088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2763"/>
              <a:ext cx="1102" cy="234"/>
              <a:chOff x="518" y="2016"/>
              <a:chExt cx="662" cy="384"/>
            </a:xfrm>
          </p:grpSpPr>
          <p:sp>
            <p:nvSpPr>
              <p:cNvPr id="42057" name="Rectangle 57">
                <a:extLst>
                  <a:ext uri="{FF2B5EF4-FFF2-40B4-BE49-F238E27FC236}">
                    <a16:creationId xmlns:a16="http://schemas.microsoft.com/office/drawing/2014/main" id="{8C1813E4-30E3-45DF-8BA2-997DE3C27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2016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应用统计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58" name="Rectangle 58">
                <a:extLst>
                  <a:ext uri="{FF2B5EF4-FFF2-40B4-BE49-F238E27FC236}">
                    <a16:creationId xmlns:a16="http://schemas.microsoft.com/office/drawing/2014/main" id="{13DFB93B-7A14-4057-B6BE-E59A5FD44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2016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8" name="Group 59">
              <a:extLst>
                <a:ext uri="{FF2B5EF4-FFF2-40B4-BE49-F238E27FC236}">
                  <a16:creationId xmlns:a16="http://schemas.microsoft.com/office/drawing/2014/main" id="{29D8CF4A-0E3F-44E1-B0BF-D05FB20FC4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2763"/>
              <a:ext cx="743" cy="234"/>
              <a:chOff x="1180" y="2016"/>
              <a:chExt cx="446" cy="384"/>
            </a:xfrm>
          </p:grpSpPr>
          <p:sp>
            <p:nvSpPr>
              <p:cNvPr id="42055" name="Rectangle 60">
                <a:extLst>
                  <a:ext uri="{FF2B5EF4-FFF2-40B4-BE49-F238E27FC236}">
                    <a16:creationId xmlns:a16="http://schemas.microsoft.com/office/drawing/2014/main" id="{34A4F5D4-A403-45BB-86EA-54EAFC3A0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2016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56" name="Rectangle 61">
                <a:extLst>
                  <a:ext uri="{FF2B5EF4-FFF2-40B4-BE49-F238E27FC236}">
                    <a16:creationId xmlns:a16="http://schemas.microsoft.com/office/drawing/2014/main" id="{1546E772-63E3-406A-83CD-71A5CF08F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2016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19" name="Group 62">
              <a:extLst>
                <a:ext uri="{FF2B5EF4-FFF2-40B4-BE49-F238E27FC236}">
                  <a16:creationId xmlns:a16="http://schemas.microsoft.com/office/drawing/2014/main" id="{9CE95059-F001-456E-B722-8FA14E90AD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2997"/>
              <a:ext cx="862" cy="234"/>
              <a:chOff x="0" y="2400"/>
              <a:chExt cx="518" cy="384"/>
            </a:xfrm>
          </p:grpSpPr>
          <p:sp>
            <p:nvSpPr>
              <p:cNvPr id="42053" name="Rectangle 63">
                <a:extLst>
                  <a:ext uri="{FF2B5EF4-FFF2-40B4-BE49-F238E27FC236}">
                    <a16:creationId xmlns:a16="http://schemas.microsoft.com/office/drawing/2014/main" id="{97B3D91E-01B4-408B-A3CA-62A0E3C85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400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6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54" name="Rectangle 64">
                <a:extLst>
                  <a:ext uri="{FF2B5EF4-FFF2-40B4-BE49-F238E27FC236}">
                    <a16:creationId xmlns:a16="http://schemas.microsoft.com/office/drawing/2014/main" id="{7E39C812-371F-4F71-8606-551CD41DB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400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0" name="Group 65">
              <a:extLst>
                <a:ext uri="{FF2B5EF4-FFF2-40B4-BE49-F238E27FC236}">
                  <a16:creationId xmlns:a16="http://schemas.microsoft.com/office/drawing/2014/main" id="{867D5229-0B05-4E61-9478-54D3EFD1F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2997"/>
              <a:ext cx="1102" cy="234"/>
              <a:chOff x="518" y="2400"/>
              <a:chExt cx="662" cy="384"/>
            </a:xfrm>
          </p:grpSpPr>
          <p:sp>
            <p:nvSpPr>
              <p:cNvPr id="42051" name="Rectangle 66">
                <a:extLst>
                  <a:ext uri="{FF2B5EF4-FFF2-40B4-BE49-F238E27FC236}">
                    <a16:creationId xmlns:a16="http://schemas.microsoft.com/office/drawing/2014/main" id="{A5562273-1BA4-4FF5-9102-BAC5C4CC0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2400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计算机模拟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52" name="Rectangle 67">
                <a:extLst>
                  <a:ext uri="{FF2B5EF4-FFF2-40B4-BE49-F238E27FC236}">
                    <a16:creationId xmlns:a16="http://schemas.microsoft.com/office/drawing/2014/main" id="{429A1999-A16E-4334-98F6-A9D1A795E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2400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1" name="Group 68">
              <a:extLst>
                <a:ext uri="{FF2B5EF4-FFF2-40B4-BE49-F238E27FC236}">
                  <a16:creationId xmlns:a16="http://schemas.microsoft.com/office/drawing/2014/main" id="{BEF8FE61-2FCA-44A6-96BB-1EDC6C8196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2997"/>
              <a:ext cx="743" cy="234"/>
              <a:chOff x="1180" y="2400"/>
              <a:chExt cx="446" cy="384"/>
            </a:xfrm>
          </p:grpSpPr>
          <p:sp>
            <p:nvSpPr>
              <p:cNvPr id="42049" name="Rectangle 69">
                <a:extLst>
                  <a:ext uri="{FF2B5EF4-FFF2-40B4-BE49-F238E27FC236}">
                    <a16:creationId xmlns:a16="http://schemas.microsoft.com/office/drawing/2014/main" id="{652D855D-CDFF-40A3-B7B6-884F053B56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2400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50" name="Rectangle 70">
                <a:extLst>
                  <a:ext uri="{FF2B5EF4-FFF2-40B4-BE49-F238E27FC236}">
                    <a16:creationId xmlns:a16="http://schemas.microsoft.com/office/drawing/2014/main" id="{31D94E50-F39C-41C7-A985-F04D19CF8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2400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2" name="Group 71">
              <a:extLst>
                <a:ext uri="{FF2B5EF4-FFF2-40B4-BE49-F238E27FC236}">
                  <a16:creationId xmlns:a16="http://schemas.microsoft.com/office/drawing/2014/main" id="{C55DC55A-627D-4793-9679-30206232E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3231"/>
              <a:ext cx="862" cy="233"/>
              <a:chOff x="0" y="2784"/>
              <a:chExt cx="518" cy="384"/>
            </a:xfrm>
          </p:grpSpPr>
          <p:sp>
            <p:nvSpPr>
              <p:cNvPr id="42047" name="Rectangle 72">
                <a:extLst>
                  <a:ext uri="{FF2B5EF4-FFF2-40B4-BE49-F238E27FC236}">
                    <a16:creationId xmlns:a16="http://schemas.microsoft.com/office/drawing/2014/main" id="{D17493A3-2650-4DE1-A0BC-0EF4C5B12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784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7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48" name="Rectangle 73">
                <a:extLst>
                  <a:ext uri="{FF2B5EF4-FFF2-40B4-BE49-F238E27FC236}">
                    <a16:creationId xmlns:a16="http://schemas.microsoft.com/office/drawing/2014/main" id="{F8AA4A5E-435E-4235-97C5-B8A81CD16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4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3" name="Group 74">
              <a:extLst>
                <a:ext uri="{FF2B5EF4-FFF2-40B4-BE49-F238E27FC236}">
                  <a16:creationId xmlns:a16="http://schemas.microsoft.com/office/drawing/2014/main" id="{625B8150-0A26-420A-A126-E8FBDC2008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3231"/>
              <a:ext cx="1102" cy="233"/>
              <a:chOff x="518" y="2784"/>
              <a:chExt cx="662" cy="384"/>
            </a:xfrm>
          </p:grpSpPr>
          <p:sp>
            <p:nvSpPr>
              <p:cNvPr id="42045" name="Rectangle 75">
                <a:extLst>
                  <a:ext uri="{FF2B5EF4-FFF2-40B4-BE49-F238E27FC236}">
                    <a16:creationId xmlns:a16="http://schemas.microsoft.com/office/drawing/2014/main" id="{5FE58721-0D89-42D7-88E7-68F52467F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2784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计算机编程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46" name="Rectangle 76">
                <a:extLst>
                  <a:ext uri="{FF2B5EF4-FFF2-40B4-BE49-F238E27FC236}">
                    <a16:creationId xmlns:a16="http://schemas.microsoft.com/office/drawing/2014/main" id="{41EADC22-CFC6-482C-83A4-7FDEB0DDE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2784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4" name="Group 77">
              <a:extLst>
                <a:ext uri="{FF2B5EF4-FFF2-40B4-BE49-F238E27FC236}">
                  <a16:creationId xmlns:a16="http://schemas.microsoft.com/office/drawing/2014/main" id="{3A67E074-7205-403C-808F-FC5630E066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3231"/>
              <a:ext cx="743" cy="233"/>
              <a:chOff x="1180" y="2784"/>
              <a:chExt cx="446" cy="384"/>
            </a:xfrm>
          </p:grpSpPr>
          <p:sp>
            <p:nvSpPr>
              <p:cNvPr id="42043" name="Rectangle 78">
                <a:extLst>
                  <a:ext uri="{FF2B5EF4-FFF2-40B4-BE49-F238E27FC236}">
                    <a16:creationId xmlns:a16="http://schemas.microsoft.com/office/drawing/2014/main" id="{BBCAE249-B329-4CDE-BBD6-6AE720C33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2784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44" name="Rectangle 79">
                <a:extLst>
                  <a:ext uri="{FF2B5EF4-FFF2-40B4-BE49-F238E27FC236}">
                    <a16:creationId xmlns:a16="http://schemas.microsoft.com/office/drawing/2014/main" id="{A50530F3-210D-404A-A1AA-6187C1944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2784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5" name="Group 80">
              <a:extLst>
                <a:ext uri="{FF2B5EF4-FFF2-40B4-BE49-F238E27FC236}">
                  <a16:creationId xmlns:a16="http://schemas.microsoft.com/office/drawing/2014/main" id="{337431EF-6992-44D5-AC9E-DFD78DDD89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3464"/>
              <a:ext cx="862" cy="234"/>
              <a:chOff x="0" y="3168"/>
              <a:chExt cx="518" cy="384"/>
            </a:xfrm>
          </p:grpSpPr>
          <p:sp>
            <p:nvSpPr>
              <p:cNvPr id="42041" name="Rectangle 81">
                <a:extLst>
                  <a:ext uri="{FF2B5EF4-FFF2-40B4-BE49-F238E27FC236}">
                    <a16:creationId xmlns:a16="http://schemas.microsoft.com/office/drawing/2014/main" id="{47ED5423-EBE5-4A5A-9A90-C5F649DE3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168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8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42" name="Rectangle 82">
                <a:extLst>
                  <a:ext uri="{FF2B5EF4-FFF2-40B4-BE49-F238E27FC236}">
                    <a16:creationId xmlns:a16="http://schemas.microsoft.com/office/drawing/2014/main" id="{260276FD-D03B-41CA-A440-66D967232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168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6" name="Group 83">
              <a:extLst>
                <a:ext uri="{FF2B5EF4-FFF2-40B4-BE49-F238E27FC236}">
                  <a16:creationId xmlns:a16="http://schemas.microsoft.com/office/drawing/2014/main" id="{AE346AA3-04AE-4B8F-8BA2-21302AEBA0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3464"/>
              <a:ext cx="1102" cy="234"/>
              <a:chOff x="518" y="3168"/>
              <a:chExt cx="662" cy="384"/>
            </a:xfrm>
          </p:grpSpPr>
          <p:sp>
            <p:nvSpPr>
              <p:cNvPr id="42039" name="Rectangle 84">
                <a:extLst>
                  <a:ext uri="{FF2B5EF4-FFF2-40B4-BE49-F238E27FC236}">
                    <a16:creationId xmlns:a16="http://schemas.microsoft.com/office/drawing/2014/main" id="{1CC3FE82-3836-4690-8CAE-7948DBD0E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3168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预测理论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40" name="Rectangle 85">
                <a:extLst>
                  <a:ext uri="{FF2B5EF4-FFF2-40B4-BE49-F238E27FC236}">
                    <a16:creationId xmlns:a16="http://schemas.microsoft.com/office/drawing/2014/main" id="{F8CDAFA5-6D0D-41CA-9D99-E094BF6BFD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3168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7" name="Group 86">
              <a:extLst>
                <a:ext uri="{FF2B5EF4-FFF2-40B4-BE49-F238E27FC236}">
                  <a16:creationId xmlns:a16="http://schemas.microsoft.com/office/drawing/2014/main" id="{894880EF-95C2-44BA-95BC-E25E83D32B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3464"/>
              <a:ext cx="743" cy="234"/>
              <a:chOff x="1180" y="3168"/>
              <a:chExt cx="446" cy="384"/>
            </a:xfrm>
          </p:grpSpPr>
          <p:sp>
            <p:nvSpPr>
              <p:cNvPr id="42037" name="Rectangle 87">
                <a:extLst>
                  <a:ext uri="{FF2B5EF4-FFF2-40B4-BE49-F238E27FC236}">
                    <a16:creationId xmlns:a16="http://schemas.microsoft.com/office/drawing/2014/main" id="{AC06F1BD-1C40-446F-81AB-D241AF312E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3168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38" name="Rectangle 88">
                <a:extLst>
                  <a:ext uri="{FF2B5EF4-FFF2-40B4-BE49-F238E27FC236}">
                    <a16:creationId xmlns:a16="http://schemas.microsoft.com/office/drawing/2014/main" id="{59016E38-2DF4-4B39-A639-293B876DF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3168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8" name="Group 89">
              <a:extLst>
                <a:ext uri="{FF2B5EF4-FFF2-40B4-BE49-F238E27FC236}">
                  <a16:creationId xmlns:a16="http://schemas.microsoft.com/office/drawing/2014/main" id="{C2633B74-4F0D-4C99-ABD5-89EF155A7B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" y="3698"/>
              <a:ext cx="862" cy="234"/>
              <a:chOff x="0" y="3552"/>
              <a:chExt cx="518" cy="384"/>
            </a:xfrm>
          </p:grpSpPr>
          <p:sp>
            <p:nvSpPr>
              <p:cNvPr id="42035" name="Rectangle 90">
                <a:extLst>
                  <a:ext uri="{FF2B5EF4-FFF2-40B4-BE49-F238E27FC236}">
                    <a16:creationId xmlns:a16="http://schemas.microsoft.com/office/drawing/2014/main" id="{D2B9FC40-9324-4D5A-94A0-494F0D38F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552"/>
                <a:ext cx="43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9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36" name="Rectangle 91">
                <a:extLst>
                  <a:ext uri="{FF2B5EF4-FFF2-40B4-BE49-F238E27FC236}">
                    <a16:creationId xmlns:a16="http://schemas.microsoft.com/office/drawing/2014/main" id="{903C8E25-8198-444F-AD6F-16F13B63B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552"/>
                <a:ext cx="51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29" name="Group 92">
              <a:extLst>
                <a:ext uri="{FF2B5EF4-FFF2-40B4-BE49-F238E27FC236}">
                  <a16:creationId xmlns:a16="http://schemas.microsoft.com/office/drawing/2014/main" id="{69F191F0-FAA3-411D-8F87-2579969D47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3" y="3698"/>
              <a:ext cx="1102" cy="234"/>
              <a:chOff x="518" y="3552"/>
              <a:chExt cx="662" cy="384"/>
            </a:xfrm>
          </p:grpSpPr>
          <p:sp>
            <p:nvSpPr>
              <p:cNvPr id="42033" name="Rectangle 93">
                <a:extLst>
                  <a:ext uri="{FF2B5EF4-FFF2-40B4-BE49-F238E27FC236}">
                    <a16:creationId xmlns:a16="http://schemas.microsoft.com/office/drawing/2014/main" id="{CB59FD84-E448-44B3-9B75-AD152F155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3552"/>
                <a:ext cx="57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数学实验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34" name="Rectangle 94">
                <a:extLst>
                  <a:ext uri="{FF2B5EF4-FFF2-40B4-BE49-F238E27FC236}">
                    <a16:creationId xmlns:a16="http://schemas.microsoft.com/office/drawing/2014/main" id="{316937B4-78C0-4B8B-9CBA-8957C98D1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3552"/>
                <a:ext cx="66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2030" name="Group 95">
              <a:extLst>
                <a:ext uri="{FF2B5EF4-FFF2-40B4-BE49-F238E27FC236}">
                  <a16:creationId xmlns:a16="http://schemas.microsoft.com/office/drawing/2014/main" id="{E20248F7-AAAE-496B-BD0C-A3B594F25C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5" y="3698"/>
              <a:ext cx="743" cy="234"/>
              <a:chOff x="1180" y="3552"/>
              <a:chExt cx="446" cy="384"/>
            </a:xfrm>
          </p:grpSpPr>
          <p:sp>
            <p:nvSpPr>
              <p:cNvPr id="42031" name="Rectangle 96">
                <a:extLst>
                  <a:ext uri="{FF2B5EF4-FFF2-40B4-BE49-F238E27FC236}">
                    <a16:creationId xmlns:a16="http://schemas.microsoft.com/office/drawing/2014/main" id="{CEA10F74-E8AE-4EC9-9203-E85C6A980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3552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42032" name="Rectangle 97">
                <a:extLst>
                  <a:ext uri="{FF2B5EF4-FFF2-40B4-BE49-F238E27FC236}">
                    <a16:creationId xmlns:a16="http://schemas.microsoft.com/office/drawing/2014/main" id="{700735C7-20D9-4DC1-A7BC-C8BC87A9B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3552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41985" name="Group 98">
            <a:extLst>
              <a:ext uri="{FF2B5EF4-FFF2-40B4-BE49-F238E27FC236}">
                <a16:creationId xmlns:a16="http://schemas.microsoft.com/office/drawing/2014/main" id="{12088DFC-293C-4864-9166-5EB0239F7B11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971800"/>
            <a:ext cx="457200" cy="3429000"/>
            <a:chOff x="720" y="1872"/>
            <a:chExt cx="288" cy="2160"/>
          </a:xfrm>
        </p:grpSpPr>
        <p:sp>
          <p:nvSpPr>
            <p:cNvPr id="41997" name="Text Box 99">
              <a:extLst>
                <a:ext uri="{FF2B5EF4-FFF2-40B4-BE49-F238E27FC236}">
                  <a16:creationId xmlns:a16="http://schemas.microsoft.com/office/drawing/2014/main" id="{8A04A8EF-4804-4A5C-BD11-75EFE1DB4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872"/>
              <a:ext cx="288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  </a:t>
              </a:r>
            </a:p>
          </p:txBody>
        </p:sp>
        <p:sp>
          <p:nvSpPr>
            <p:cNvPr id="41998" name="Text Box 100">
              <a:extLst>
                <a:ext uri="{FF2B5EF4-FFF2-40B4-BE49-F238E27FC236}">
                  <a16:creationId xmlns:a16="http://schemas.microsoft.com/office/drawing/2014/main" id="{9B2AC686-1B89-41CB-9CA6-BE4168D2E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7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 </a:t>
              </a:r>
            </a:p>
          </p:txBody>
        </p:sp>
        <p:sp>
          <p:nvSpPr>
            <p:cNvPr id="41999" name="Text Box 101">
              <a:extLst>
                <a:ext uri="{FF2B5EF4-FFF2-40B4-BE49-F238E27FC236}">
                  <a16:creationId xmlns:a16="http://schemas.microsoft.com/office/drawing/2014/main" id="{938A9C87-807C-4DCD-B989-BB588C3F3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784"/>
              <a:ext cx="288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  </a:t>
              </a:r>
            </a:p>
          </p:txBody>
        </p:sp>
        <p:sp>
          <p:nvSpPr>
            <p:cNvPr id="42000" name="Text Box 102">
              <a:extLst>
                <a:ext uri="{FF2B5EF4-FFF2-40B4-BE49-F238E27FC236}">
                  <a16:creationId xmlns:a16="http://schemas.microsoft.com/office/drawing/2014/main" id="{DC89FA2F-3059-4FFA-8992-CC0D013B7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anose="05050102010706020507" pitchFamily="18" charset="2"/>
                </a:rPr>
                <a:t>  </a:t>
              </a:r>
            </a:p>
          </p:txBody>
        </p:sp>
      </p:grpSp>
      <p:grpSp>
        <p:nvGrpSpPr>
          <p:cNvPr id="3" name="Group 106">
            <a:extLst>
              <a:ext uri="{FF2B5EF4-FFF2-40B4-BE49-F238E27FC236}">
                <a16:creationId xmlns:a16="http://schemas.microsoft.com/office/drawing/2014/main" id="{BA841F59-D466-4688-8AFE-5263C579605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828800"/>
            <a:ext cx="6029325" cy="520700"/>
            <a:chOff x="432" y="1152"/>
            <a:chExt cx="3695" cy="352"/>
          </a:xfrm>
        </p:grpSpPr>
        <p:graphicFrame>
          <p:nvGraphicFramePr>
            <p:cNvPr id="41995" name="Object 104">
              <a:extLst>
                <a:ext uri="{FF2B5EF4-FFF2-40B4-BE49-F238E27FC236}">
                  <a16:creationId xmlns:a16="http://schemas.microsoft.com/office/drawing/2014/main" id="{B1625CF9-0426-484D-8451-A438DA72D0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1" y="1152"/>
            <a:ext cx="345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97" name="公式" r:id="rId7" imgW="2145369" imgH="215806" progId="Equation.3">
                    <p:embed/>
                  </p:oleObj>
                </mc:Choice>
                <mc:Fallback>
                  <p:oleObj name="公式" r:id="rId7" imgW="2145369" imgH="215806" progId="Equation.3">
                    <p:embed/>
                    <p:pic>
                      <p:nvPicPr>
                        <p:cNvPr id="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" y="1152"/>
                          <a:ext cx="3456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6" name="AutoShape 105">
              <a:extLst>
                <a:ext uri="{FF2B5EF4-FFF2-40B4-BE49-F238E27FC236}">
                  <a16:creationId xmlns:a16="http://schemas.microsoft.com/office/drawing/2014/main" id="{0500ACB2-BF74-4A60-9AFA-ACC90E8E6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152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41994" name="Object 107">
            <a:extLst>
              <a:ext uri="{FF2B5EF4-FFF2-40B4-BE49-F238E27FC236}">
                <a16:creationId xmlns:a16="http://schemas.microsoft.com/office/drawing/2014/main" id="{BCCE5484-136F-4022-9028-67CADD6F96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8" name="Clip" r:id="rId9" imgW="761744" imgH="434194" progId="MS_ClipArt_Gallery.2">
                  <p:embed/>
                </p:oleObj>
              </mc:Choice>
              <mc:Fallback>
                <p:oleObj name="Clip" r:id="rId9" imgW="761744" imgH="434194" progId="MS_ClipArt_Gallery.2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animBg="1" autoUpdateAnimBg="0"/>
      <p:bldP spid="60422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4">
            <a:extLst>
              <a:ext uri="{FF2B5EF4-FFF2-40B4-BE49-F238E27FC236}">
                <a16:creationId xmlns:a16="http://schemas.microsoft.com/office/drawing/2014/main" id="{A7DED1BE-CEBC-411E-BC93-BF2010A14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002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 sz="1800">
              <a:latin typeface="Arial" panose="020B0604020202020204" pitchFamily="34" charset="0"/>
            </a:endParaRPr>
          </a:p>
        </p:txBody>
      </p:sp>
      <p:sp>
        <p:nvSpPr>
          <p:cNvPr id="105477" name="Text Box 5">
            <a:extLst>
              <a:ext uri="{FF2B5EF4-FFF2-40B4-BE49-F238E27FC236}">
                <a16:creationId xmlns:a16="http://schemas.microsoft.com/office/drawing/2014/main" id="{7D358CD7-686B-4302-B279-D9CE5D0D4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49275"/>
            <a:ext cx="7508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b="1">
                <a:solidFill>
                  <a:srgbClr val="0000FF"/>
                </a:solidFill>
                <a:latin typeface="Arial" panose="020B0604020202020204" pitchFamily="34" charset="0"/>
              </a:rPr>
              <a:t>例</a:t>
            </a:r>
            <a:r>
              <a:rPr kumimoji="0" lang="en-US" altLang="zh-CN" sz="3200" b="1">
                <a:solidFill>
                  <a:srgbClr val="0000FF"/>
                </a:solidFill>
                <a:latin typeface="Arial" panose="020B0604020202020204" pitchFamily="34" charset="0"/>
              </a:rPr>
              <a:t>3    </a:t>
            </a:r>
            <a:r>
              <a:rPr kumimoji="0" lang="zh-CN" altLang="en-US" sz="3200" b="1">
                <a:solidFill>
                  <a:srgbClr val="0000FF"/>
                </a:solidFill>
                <a:latin typeface="Arial" panose="020B0604020202020204" pitchFamily="34" charset="0"/>
              </a:rPr>
              <a:t>多目标的生产计划</a:t>
            </a:r>
          </a:p>
        </p:txBody>
      </p:sp>
      <p:graphicFrame>
        <p:nvGraphicFramePr>
          <p:cNvPr id="105488" name="Object 16">
            <a:extLst>
              <a:ext uri="{FF2B5EF4-FFF2-40B4-BE49-F238E27FC236}">
                <a16:creationId xmlns:a16="http://schemas.microsoft.com/office/drawing/2014/main" id="{1260DE71-8447-40CD-AC82-D7BAD07313AA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684213" y="1412875"/>
          <a:ext cx="7848600" cy="504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文档" r:id="rId3" imgW="6761335" imgH="3721844" progId="Word.Document.8">
                  <p:embed/>
                </p:oleObj>
              </mc:Choice>
              <mc:Fallback>
                <p:oleObj name="文档" r:id="rId3" imgW="6761335" imgH="3721844" progId="Word.Document.8">
                  <p:embed/>
                  <p:pic>
                    <p:nvPicPr>
                      <p:cNvPr id="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412875"/>
                        <a:ext cx="7848600" cy="504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9" name="AutoShape 5">
            <a:extLst>
              <a:ext uri="{FF2B5EF4-FFF2-40B4-BE49-F238E27FC236}">
                <a16:creationId xmlns:a16="http://schemas.microsoft.com/office/drawing/2014/main" id="{7FBF5DFF-AB0F-4F6F-AE3B-4DCDE741D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437063"/>
            <a:ext cx="1366838" cy="1584325"/>
          </a:xfrm>
          <a:prstGeom prst="wedgeRectCallout">
            <a:avLst>
              <a:gd name="adj1" fmla="val -116782"/>
              <a:gd name="adj2" fmla="val -1152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 b="1">
              <a:latin typeface="Tahoma" panose="020B0604030504040204" pitchFamily="34" charset="0"/>
            </a:endParaRPr>
          </a:p>
          <a:p>
            <a:pPr algn="ctr" eaLnBrk="1" hangingPunct="1"/>
            <a:r>
              <a:rPr lang="en-US" altLang="zh-CN" sz="2000" b="1">
                <a:latin typeface="Tahoma" panose="020B0604030504040204" pitchFamily="34" charset="0"/>
              </a:rPr>
              <a:t>X1=3</a:t>
            </a:r>
          </a:p>
          <a:p>
            <a:pPr algn="ctr" eaLnBrk="1" hangingPunct="1"/>
            <a:r>
              <a:rPr lang="en-US" altLang="zh-CN" sz="2000" b="1">
                <a:latin typeface="Tahoma" panose="020B0604030504040204" pitchFamily="34" charset="0"/>
              </a:rPr>
              <a:t>X2=3</a:t>
            </a:r>
          </a:p>
          <a:p>
            <a:pPr algn="ctr" eaLnBrk="1" hangingPunct="1"/>
            <a:r>
              <a:rPr lang="en-US" altLang="zh-CN" sz="2000" b="1">
                <a:latin typeface="Tahoma" panose="020B0604030504040204" pitchFamily="34" charset="0"/>
              </a:rPr>
              <a:t>Z=15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/>
      <p:bldP spid="6758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26464406-FC5E-465C-A7E1-323A95D8A43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18488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多目标：</a:t>
            </a:r>
          </a:p>
          <a:p>
            <a:pPr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1</a:t>
            </a:r>
            <a:r>
              <a:rPr lang="zh-CN" altLang="en-US"/>
              <a:t>、利润指标大于</a:t>
            </a:r>
            <a:r>
              <a:rPr lang="en-US" altLang="zh-CN"/>
              <a:t>15</a:t>
            </a:r>
          </a:p>
          <a:p>
            <a:pPr>
              <a:buFontTx/>
              <a:buNone/>
            </a:pPr>
            <a:r>
              <a:rPr lang="en-US" altLang="zh-CN"/>
              <a:t>   2</a:t>
            </a:r>
            <a:r>
              <a:rPr lang="zh-CN" altLang="en-US"/>
              <a:t>、市场要求：两种产品的比例接近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2</a:t>
            </a:r>
          </a:p>
          <a:p>
            <a:pPr>
              <a:buFontTx/>
              <a:buNone/>
            </a:pPr>
            <a:r>
              <a:rPr lang="en-US" altLang="zh-CN"/>
              <a:t>   3</a:t>
            </a:r>
            <a:r>
              <a:rPr lang="zh-CN" altLang="en-US"/>
              <a:t>、设备</a:t>
            </a:r>
            <a:r>
              <a:rPr lang="en-US" altLang="zh-CN"/>
              <a:t>A</a:t>
            </a:r>
            <a:r>
              <a:rPr lang="zh-CN" altLang="en-US"/>
              <a:t>不可以超时使用</a:t>
            </a:r>
          </a:p>
          <a:p>
            <a:pPr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4</a:t>
            </a:r>
            <a:r>
              <a:rPr lang="zh-CN" altLang="en-US"/>
              <a:t>、设备</a:t>
            </a:r>
            <a:r>
              <a:rPr lang="en-US" altLang="zh-CN"/>
              <a:t>B</a:t>
            </a:r>
            <a:r>
              <a:rPr lang="zh-CN" altLang="en-US"/>
              <a:t>尽量不加班，设备</a:t>
            </a:r>
            <a:r>
              <a:rPr lang="en-US" altLang="zh-CN"/>
              <a:t>C</a:t>
            </a:r>
            <a:r>
              <a:rPr lang="zh-CN" altLang="en-US"/>
              <a:t>可适当加班</a:t>
            </a:r>
          </a:p>
          <a:p>
            <a:pPr>
              <a:buFontTx/>
              <a:buNone/>
            </a:pPr>
            <a:r>
              <a:rPr lang="zh-CN" altLang="en-US"/>
              <a:t>        其重要性为 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1</a:t>
            </a:r>
          </a:p>
        </p:txBody>
      </p:sp>
      <p:sp>
        <p:nvSpPr>
          <p:cNvPr id="68611" name="AutoShape 3">
            <a:extLst>
              <a:ext uri="{FF2B5EF4-FFF2-40B4-BE49-F238E27FC236}">
                <a16:creationId xmlns:a16="http://schemas.microsoft.com/office/drawing/2014/main" id="{BB554EB7-2C3E-4CBD-91D7-6E80893F5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557338"/>
            <a:ext cx="1800225" cy="576262"/>
          </a:xfrm>
          <a:prstGeom prst="wedgeRectCallout">
            <a:avLst>
              <a:gd name="adj1" fmla="val -50880"/>
              <a:gd name="adj2" fmla="val 11253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一级目标</a:t>
            </a:r>
          </a:p>
        </p:txBody>
      </p:sp>
      <p:sp>
        <p:nvSpPr>
          <p:cNvPr id="68612" name="AutoShape 4">
            <a:extLst>
              <a:ext uri="{FF2B5EF4-FFF2-40B4-BE49-F238E27FC236}">
                <a16:creationId xmlns:a16="http://schemas.microsoft.com/office/drawing/2014/main" id="{ADD0D00F-5163-4C76-B923-BD1AF82B6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844675"/>
            <a:ext cx="1800225" cy="576263"/>
          </a:xfrm>
          <a:prstGeom prst="wedgeRectCallout">
            <a:avLst>
              <a:gd name="adj1" fmla="val -74954"/>
              <a:gd name="adj2" fmla="val 11501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二级目标</a:t>
            </a:r>
          </a:p>
        </p:txBody>
      </p:sp>
      <p:sp>
        <p:nvSpPr>
          <p:cNvPr id="68613" name="AutoShape 5">
            <a:extLst>
              <a:ext uri="{FF2B5EF4-FFF2-40B4-BE49-F238E27FC236}">
                <a16:creationId xmlns:a16="http://schemas.microsoft.com/office/drawing/2014/main" id="{76729CE8-D5C1-4658-B137-08753EBEF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852738"/>
            <a:ext cx="1800225" cy="576262"/>
          </a:xfrm>
          <a:prstGeom prst="wedgeRectCallout">
            <a:avLst>
              <a:gd name="adj1" fmla="val -65343"/>
              <a:gd name="adj2" fmla="val 9214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硬性目标</a:t>
            </a:r>
          </a:p>
        </p:txBody>
      </p:sp>
      <p:sp>
        <p:nvSpPr>
          <p:cNvPr id="68614" name="AutoShape 6">
            <a:extLst>
              <a:ext uri="{FF2B5EF4-FFF2-40B4-BE49-F238E27FC236}">
                <a16:creationId xmlns:a16="http://schemas.microsoft.com/office/drawing/2014/main" id="{FBF40112-18F3-4299-8A9E-BBBC6A7D6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933825"/>
            <a:ext cx="1800225" cy="576263"/>
          </a:xfrm>
          <a:prstGeom prst="wedgeRectCallout">
            <a:avLst>
              <a:gd name="adj1" fmla="val -60495"/>
              <a:gd name="adj2" fmla="val 10757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三级目标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build="p"/>
      <p:bldP spid="68611" grpId="0" animBg="1"/>
      <p:bldP spid="68612" grpId="0" animBg="1"/>
      <p:bldP spid="68613" grpId="0" animBg="1"/>
      <p:bldP spid="686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5313EB09-52FF-440B-8F8A-448F35C1F1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18488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/>
              <a:t>解决思路：</a:t>
            </a:r>
          </a:p>
          <a:p>
            <a:pPr>
              <a:buFontTx/>
              <a:buNone/>
            </a:pPr>
            <a:r>
              <a:rPr lang="zh-CN" altLang="en-US" b="1"/>
              <a:t>   </a:t>
            </a:r>
            <a:r>
              <a:rPr lang="en-US" altLang="zh-CN" b="1"/>
              <a:t>1</a:t>
            </a:r>
            <a:r>
              <a:rPr lang="zh-CN" altLang="en-US" b="1"/>
              <a:t>、引入与目标值的偏差变量构成目标约束</a:t>
            </a:r>
          </a:p>
          <a:p>
            <a:pPr>
              <a:buFontTx/>
              <a:buNone/>
            </a:pPr>
            <a:r>
              <a:rPr lang="en-US" altLang="zh-CN" b="1"/>
              <a:t>   2</a:t>
            </a:r>
            <a:r>
              <a:rPr lang="zh-CN" altLang="en-US" b="1"/>
              <a:t>、根据目标重要性的不同，区分层次差别</a:t>
            </a:r>
          </a:p>
          <a:p>
            <a:pPr>
              <a:buFontTx/>
              <a:buNone/>
            </a:pPr>
            <a:r>
              <a:rPr lang="zh-CN" altLang="en-US" b="1"/>
              <a:t>   </a:t>
            </a:r>
            <a:r>
              <a:rPr lang="en-US" altLang="zh-CN" b="1"/>
              <a:t>3</a:t>
            </a:r>
            <a:r>
              <a:rPr lang="zh-CN" altLang="en-US" b="1"/>
              <a:t>、</a:t>
            </a:r>
            <a:r>
              <a:rPr lang="zh-CN" altLang="en-US" b="1">
                <a:solidFill>
                  <a:srgbClr val="FF0000"/>
                </a:solidFill>
              </a:rPr>
              <a:t>要求尽量接近目标，即偏差量最小</a:t>
            </a:r>
          </a:p>
          <a:p>
            <a:pPr>
              <a:buFontTx/>
              <a:buNone/>
            </a:pPr>
            <a:r>
              <a:rPr lang="zh-CN" altLang="en-US" b="1"/>
              <a:t>   </a:t>
            </a:r>
            <a:r>
              <a:rPr lang="en-US" altLang="zh-CN" b="1"/>
              <a:t>4</a:t>
            </a:r>
            <a:r>
              <a:rPr lang="zh-CN" altLang="en-US" b="1"/>
              <a:t>、</a:t>
            </a:r>
            <a:r>
              <a:rPr lang="zh-CN" altLang="en-US" b="1">
                <a:solidFill>
                  <a:srgbClr val="FF0000"/>
                </a:solidFill>
              </a:rPr>
              <a:t>不求“最优解”，但求“满意解”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622599DA-721B-47BA-AA81-0DF8974A69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47813" y="476250"/>
            <a:ext cx="655320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zh-CN" altLang="en-US" b="1">
                <a:solidFill>
                  <a:schemeClr val="tx2"/>
                </a:solidFill>
              </a:rPr>
              <a:t>设置偏差变量，统一目标与约束</a:t>
            </a:r>
            <a:r>
              <a:rPr lang="zh-CN" altLang="en-US"/>
              <a:t>           </a:t>
            </a:r>
          </a:p>
        </p:txBody>
      </p:sp>
      <p:graphicFrame>
        <p:nvGraphicFramePr>
          <p:cNvPr id="70659" name="Object 3">
            <a:extLst>
              <a:ext uri="{FF2B5EF4-FFF2-40B4-BE49-F238E27FC236}">
                <a16:creationId xmlns:a16="http://schemas.microsoft.com/office/drawing/2014/main" id="{FBB93675-0793-4ECA-84AA-62306F1920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341438"/>
          <a:ext cx="40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7" name="公式" r:id="rId3" imgW="190417" imgH="203112" progId="Equation.3">
                  <p:embed/>
                </p:oleObj>
              </mc:Choice>
              <mc:Fallback>
                <p:oleObj name="公式" r:id="rId3" imgW="190417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341438"/>
                        <a:ext cx="406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>
            <a:extLst>
              <a:ext uri="{FF2B5EF4-FFF2-40B4-BE49-F238E27FC236}">
                <a16:creationId xmlns:a16="http://schemas.microsoft.com/office/drawing/2014/main" id="{E3BA98CC-5E00-42E3-ACBD-9E5D203E15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844675"/>
          <a:ext cx="40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8" name="公式" r:id="rId5" imgW="190417" imgH="203112" progId="Equation.3">
                  <p:embed/>
                </p:oleObj>
              </mc:Choice>
              <mc:Fallback>
                <p:oleObj name="公式" r:id="rId5" imgW="190417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844675"/>
                        <a:ext cx="406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" name="Rectangle 5">
            <a:extLst>
              <a:ext uri="{FF2B5EF4-FFF2-40B4-BE49-F238E27FC236}">
                <a16:creationId xmlns:a16="http://schemas.microsoft.com/office/drawing/2014/main" id="{718CB780-62FF-4493-8B06-674157B1F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412875"/>
            <a:ext cx="508635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b="1"/>
              <a:t>正偏差：超出目标的部分</a:t>
            </a:r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id="{7CC04A92-757A-424F-A142-12203D2B4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16113"/>
            <a:ext cx="508635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b="1"/>
              <a:t>负偏差：未达到目标的部分</a:t>
            </a:r>
          </a:p>
        </p:txBody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D62FF6B2-2E42-4733-B9E1-B77952509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420938"/>
            <a:ext cx="65532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b="1"/>
              <a:t>紧约束列为约束条件，松约束列入各级目标</a:t>
            </a:r>
          </a:p>
        </p:txBody>
      </p:sp>
      <p:graphicFrame>
        <p:nvGraphicFramePr>
          <p:cNvPr id="70664" name="Object 8">
            <a:extLst>
              <a:ext uri="{FF2B5EF4-FFF2-40B4-BE49-F238E27FC236}">
                <a16:creationId xmlns:a16="http://schemas.microsoft.com/office/drawing/2014/main" id="{D647BE93-D4AE-4448-AC1D-E81E19FBD7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3429000"/>
          <a:ext cx="23050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9" name="公式" r:id="rId7" imgW="1015559" imgH="266584" progId="Equation.3">
                  <p:embed/>
                </p:oleObj>
              </mc:Choice>
              <mc:Fallback>
                <p:oleObj name="公式" r:id="rId7" imgW="1015559" imgH="26658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429000"/>
                        <a:ext cx="23050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9">
            <a:extLst>
              <a:ext uri="{FF2B5EF4-FFF2-40B4-BE49-F238E27FC236}">
                <a16:creationId xmlns:a16="http://schemas.microsoft.com/office/drawing/2014/main" id="{E3558685-EBBE-4398-B82D-D67297673E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852738"/>
          <a:ext cx="31686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0" name="公式" r:id="rId9" imgW="1308100" imgH="228600" progId="Equation.3">
                  <p:embed/>
                </p:oleObj>
              </mc:Choice>
              <mc:Fallback>
                <p:oleObj name="公式" r:id="rId9" imgW="13081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852738"/>
                        <a:ext cx="3168650" cy="60325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6" name="Rectangle 10">
            <a:extLst>
              <a:ext uri="{FF2B5EF4-FFF2-40B4-BE49-F238E27FC236}">
                <a16:creationId xmlns:a16="http://schemas.microsoft.com/office/drawing/2014/main" id="{A8CC54B3-A303-4A9B-8778-34862CC6E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644900"/>
            <a:ext cx="65532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CN" b="1"/>
              <a:t>1</a:t>
            </a:r>
            <a:r>
              <a:rPr lang="zh-CN" altLang="en-US" b="1"/>
              <a:t>、</a:t>
            </a:r>
            <a:r>
              <a:rPr lang="en-US" altLang="zh-CN" b="1"/>
              <a:t>f(x) </a:t>
            </a:r>
            <a:r>
              <a:rPr lang="zh-CN" altLang="en-US" b="1"/>
              <a:t>尽可能接近目标：</a:t>
            </a:r>
          </a:p>
        </p:txBody>
      </p:sp>
      <p:sp>
        <p:nvSpPr>
          <p:cNvPr id="70667" name="Rectangle 11">
            <a:extLst>
              <a:ext uri="{FF2B5EF4-FFF2-40B4-BE49-F238E27FC236}">
                <a16:creationId xmlns:a16="http://schemas.microsoft.com/office/drawing/2014/main" id="{49DF2FE0-0EBA-4C29-A1A6-800E2369B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149725"/>
            <a:ext cx="42481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CN" b="1"/>
              <a:t>2</a:t>
            </a:r>
            <a:r>
              <a:rPr lang="zh-CN" altLang="en-US" b="1"/>
              <a:t>、</a:t>
            </a:r>
            <a:r>
              <a:rPr lang="en-US" altLang="zh-CN" b="1"/>
              <a:t>f(x) </a:t>
            </a:r>
            <a:r>
              <a:rPr lang="zh-CN" altLang="en-US" b="1"/>
              <a:t>尽量不少于目标：</a:t>
            </a:r>
          </a:p>
        </p:txBody>
      </p:sp>
      <p:graphicFrame>
        <p:nvGraphicFramePr>
          <p:cNvPr id="70668" name="Object 12">
            <a:extLst>
              <a:ext uri="{FF2B5EF4-FFF2-40B4-BE49-F238E27FC236}">
                <a16:creationId xmlns:a16="http://schemas.microsoft.com/office/drawing/2014/main" id="{6342C7BC-BCBA-4B8F-BC50-665565AED7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3933825"/>
          <a:ext cx="15271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1" name="公式" r:id="rId11" imgW="672808" imgH="266584" progId="Equation.3">
                  <p:embed/>
                </p:oleObj>
              </mc:Choice>
              <mc:Fallback>
                <p:oleObj name="公式" r:id="rId11" imgW="672808" imgH="26658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933825"/>
                        <a:ext cx="15271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9" name="Rectangle 13">
            <a:extLst>
              <a:ext uri="{FF2B5EF4-FFF2-40B4-BE49-F238E27FC236}">
                <a16:creationId xmlns:a16="http://schemas.microsoft.com/office/drawing/2014/main" id="{1A6B6565-9946-41E9-9407-DCABD9CCE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652963"/>
            <a:ext cx="42481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CN" b="1"/>
              <a:t>3</a:t>
            </a:r>
            <a:r>
              <a:rPr lang="zh-CN" altLang="en-US" b="1"/>
              <a:t>、</a:t>
            </a:r>
            <a:r>
              <a:rPr lang="en-US" altLang="zh-CN" b="1"/>
              <a:t>f(x) </a:t>
            </a:r>
            <a:r>
              <a:rPr lang="zh-CN" altLang="en-US" b="1"/>
              <a:t>尽量不多于目标：</a:t>
            </a:r>
          </a:p>
        </p:txBody>
      </p:sp>
      <p:graphicFrame>
        <p:nvGraphicFramePr>
          <p:cNvPr id="70670" name="Object 14">
            <a:extLst>
              <a:ext uri="{FF2B5EF4-FFF2-40B4-BE49-F238E27FC236}">
                <a16:creationId xmlns:a16="http://schemas.microsoft.com/office/drawing/2014/main" id="{0D2CCC4A-D35B-4009-A05B-6AE56DD83E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508500"/>
          <a:ext cx="15271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2" name="公式" r:id="rId13" imgW="672808" imgH="266584" progId="Equation.3">
                  <p:embed/>
                </p:oleObj>
              </mc:Choice>
              <mc:Fallback>
                <p:oleObj name="公式" r:id="rId13" imgW="672808" imgH="26658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508500"/>
                        <a:ext cx="15271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1" name="Rectangle 15">
            <a:extLst>
              <a:ext uri="{FF2B5EF4-FFF2-40B4-BE49-F238E27FC236}">
                <a16:creationId xmlns:a16="http://schemas.microsoft.com/office/drawing/2014/main" id="{94B714B4-4024-4647-A53D-F0B43DB46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157788"/>
            <a:ext cx="42481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CN" b="1"/>
              <a:t>4</a:t>
            </a:r>
            <a:r>
              <a:rPr lang="zh-CN" altLang="en-US" b="1"/>
              <a:t>、</a:t>
            </a:r>
            <a:r>
              <a:rPr lang="en-US" altLang="zh-CN" b="1"/>
              <a:t>f(x) </a:t>
            </a:r>
            <a:r>
              <a:rPr lang="zh-CN" altLang="en-US" b="1"/>
              <a:t>越大越好：</a:t>
            </a:r>
          </a:p>
        </p:txBody>
      </p:sp>
      <p:graphicFrame>
        <p:nvGraphicFramePr>
          <p:cNvPr id="70672" name="Object 16">
            <a:extLst>
              <a:ext uri="{FF2B5EF4-FFF2-40B4-BE49-F238E27FC236}">
                <a16:creationId xmlns:a16="http://schemas.microsoft.com/office/drawing/2014/main" id="{26995AB0-6E79-4570-9F1E-C8D8F49C47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5013325"/>
          <a:ext cx="23050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3" name="公式" r:id="rId15" imgW="1015559" imgH="266584" progId="Equation.3">
                  <p:embed/>
                </p:oleObj>
              </mc:Choice>
              <mc:Fallback>
                <p:oleObj name="公式" r:id="rId15" imgW="1015559" imgH="26658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013325"/>
                        <a:ext cx="23050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3" name="Rectangle 17">
            <a:extLst>
              <a:ext uri="{FF2B5EF4-FFF2-40B4-BE49-F238E27FC236}">
                <a16:creationId xmlns:a16="http://schemas.microsoft.com/office/drawing/2014/main" id="{DEB7AE4F-0822-48B5-BBF2-626FD76B8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661025"/>
            <a:ext cx="42481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CN" b="1"/>
              <a:t>5</a:t>
            </a:r>
            <a:r>
              <a:rPr lang="zh-CN" altLang="en-US" b="1"/>
              <a:t>、</a:t>
            </a:r>
            <a:r>
              <a:rPr lang="en-US" altLang="zh-CN" b="1"/>
              <a:t>f(x) </a:t>
            </a:r>
            <a:r>
              <a:rPr lang="zh-CN" altLang="en-US" b="1"/>
              <a:t>越小越好：</a:t>
            </a:r>
          </a:p>
        </p:txBody>
      </p:sp>
      <p:graphicFrame>
        <p:nvGraphicFramePr>
          <p:cNvPr id="70674" name="Object 18">
            <a:extLst>
              <a:ext uri="{FF2B5EF4-FFF2-40B4-BE49-F238E27FC236}">
                <a16:creationId xmlns:a16="http://schemas.microsoft.com/office/drawing/2014/main" id="{2C21DF93-381A-4718-B684-6CB102E998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5516563"/>
          <a:ext cx="23050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4" name="公式" r:id="rId17" imgW="1015559" imgH="266584" progId="Equation.3">
                  <p:embed/>
                </p:oleObj>
              </mc:Choice>
              <mc:Fallback>
                <p:oleObj name="公式" r:id="rId17" imgW="1015559" imgH="26658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516563"/>
                        <a:ext cx="23050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  <p:bldP spid="70661" grpId="0"/>
      <p:bldP spid="70662" grpId="0"/>
      <p:bldP spid="70663" grpId="0"/>
      <p:bldP spid="70666" grpId="0"/>
      <p:bldP spid="70667" grpId="0"/>
      <p:bldP spid="70669" grpId="0"/>
      <p:bldP spid="70671" grpId="0"/>
      <p:bldP spid="7067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9D8787B1-8E58-40B5-87BD-692C0F64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268413"/>
            <a:ext cx="712946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二级目标：产品比例尽量保持  </a:t>
            </a:r>
            <a:r>
              <a:rPr lang="en-US" altLang="zh-CN" sz="2800" b="1">
                <a:solidFill>
                  <a:srgbClr val="0000FF"/>
                </a:solidFill>
              </a:rPr>
              <a:t>1</a:t>
            </a:r>
            <a:r>
              <a:rPr lang="zh-CN" altLang="en-US" sz="2800" b="1">
                <a:solidFill>
                  <a:srgbClr val="0000FF"/>
                </a:solidFill>
              </a:rPr>
              <a:t>：</a:t>
            </a:r>
            <a:r>
              <a:rPr lang="en-US" altLang="zh-CN" sz="2800" b="1">
                <a:solidFill>
                  <a:srgbClr val="0000FF"/>
                </a:solidFill>
              </a:rPr>
              <a:t>2</a:t>
            </a:r>
          </a:p>
        </p:txBody>
      </p:sp>
      <p:graphicFrame>
        <p:nvGraphicFramePr>
          <p:cNvPr id="72707" name="Object 3">
            <a:extLst>
              <a:ext uri="{FF2B5EF4-FFF2-40B4-BE49-F238E27FC236}">
                <a16:creationId xmlns:a16="http://schemas.microsoft.com/office/drawing/2014/main" id="{C0637147-FA80-4B16-BC44-769548023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1700213"/>
          <a:ext cx="3960812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6" name="公式" r:id="rId3" imgW="1511300" imgH="508000" progId="Equation.3">
                  <p:embed/>
                </p:oleObj>
              </mc:Choice>
              <mc:Fallback>
                <p:oleObj name="公式" r:id="rId3" imgW="15113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700213"/>
                        <a:ext cx="3960812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Rectangle 4">
            <a:extLst>
              <a:ext uri="{FF2B5EF4-FFF2-40B4-BE49-F238E27FC236}">
                <a16:creationId xmlns:a16="http://schemas.microsoft.com/office/drawing/2014/main" id="{FE559681-11A2-4778-8F3B-4C33E4EAB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997200"/>
            <a:ext cx="777716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三级目标：</a:t>
            </a:r>
            <a:r>
              <a:rPr lang="zh-CN" altLang="en-US" sz="2800" b="1">
                <a:solidFill>
                  <a:srgbClr val="3366FF"/>
                </a:solidFill>
              </a:rPr>
              <a:t>设备</a:t>
            </a:r>
            <a:r>
              <a:rPr lang="en-US" altLang="zh-CN" sz="2800" b="1">
                <a:solidFill>
                  <a:srgbClr val="3366FF"/>
                </a:solidFill>
              </a:rPr>
              <a:t>B</a:t>
            </a:r>
            <a:r>
              <a:rPr lang="zh-CN" altLang="en-US" sz="2800" b="1">
                <a:solidFill>
                  <a:srgbClr val="3366FF"/>
                </a:solidFill>
              </a:rPr>
              <a:t>既充分使用，又尽可能不加班</a:t>
            </a:r>
          </a:p>
        </p:txBody>
      </p:sp>
      <p:graphicFrame>
        <p:nvGraphicFramePr>
          <p:cNvPr id="72709" name="Object 5">
            <a:extLst>
              <a:ext uri="{FF2B5EF4-FFF2-40B4-BE49-F238E27FC236}">
                <a16:creationId xmlns:a16="http://schemas.microsoft.com/office/drawing/2014/main" id="{BC4FFD42-7532-4C36-84A8-F2729179C8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429000"/>
          <a:ext cx="324008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7" name="公式" r:id="rId5" imgW="1282700" imgH="520700" progId="Equation.3">
                  <p:embed/>
                </p:oleObj>
              </mc:Choice>
              <mc:Fallback>
                <p:oleObj name="公式" r:id="rId5" imgW="1282700" imgH="520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429000"/>
                        <a:ext cx="324008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Rectangle 6">
            <a:extLst>
              <a:ext uri="{FF2B5EF4-FFF2-40B4-BE49-F238E27FC236}">
                <a16:creationId xmlns:a16="http://schemas.microsoft.com/office/drawing/2014/main" id="{C1B21F2B-8B20-46FB-B88C-9B03D6768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868863"/>
            <a:ext cx="7777162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三级目标：</a:t>
            </a:r>
            <a:r>
              <a:rPr lang="zh-CN" altLang="en-US" sz="2800" b="1">
                <a:solidFill>
                  <a:srgbClr val="3366FF"/>
                </a:solidFill>
              </a:rPr>
              <a:t>设备</a:t>
            </a:r>
            <a:r>
              <a:rPr lang="en-US" altLang="zh-CN" sz="2800" b="1">
                <a:solidFill>
                  <a:srgbClr val="3366FF"/>
                </a:solidFill>
              </a:rPr>
              <a:t>C</a:t>
            </a:r>
            <a:r>
              <a:rPr lang="zh-CN" altLang="en-US" sz="2800" b="1">
                <a:solidFill>
                  <a:srgbClr val="3366FF"/>
                </a:solidFill>
              </a:rPr>
              <a:t>可适当加班，但要控制</a:t>
            </a:r>
          </a:p>
        </p:txBody>
      </p:sp>
      <p:graphicFrame>
        <p:nvGraphicFramePr>
          <p:cNvPr id="72711" name="Object 7">
            <a:extLst>
              <a:ext uri="{FF2B5EF4-FFF2-40B4-BE49-F238E27FC236}">
                <a16:creationId xmlns:a16="http://schemas.microsoft.com/office/drawing/2014/main" id="{3B81B6D4-416B-4117-BF6F-C895D787E0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5387975"/>
          <a:ext cx="3206750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8" name="公式" r:id="rId7" imgW="1270000" imgH="508000" progId="Equation.3">
                  <p:embed/>
                </p:oleObj>
              </mc:Choice>
              <mc:Fallback>
                <p:oleObj name="公式" r:id="rId7" imgW="1270000" imgH="508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5387975"/>
                        <a:ext cx="3206750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2" name="AutoShape 8">
            <a:extLst>
              <a:ext uri="{FF2B5EF4-FFF2-40B4-BE49-F238E27FC236}">
                <a16:creationId xmlns:a16="http://schemas.microsoft.com/office/drawing/2014/main" id="{1D05F02A-08E4-454A-AA87-0E1DFADFE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429000"/>
            <a:ext cx="1798637" cy="1079500"/>
          </a:xfrm>
          <a:prstGeom prst="cloudCallout">
            <a:avLst>
              <a:gd name="adj1" fmla="val -75861"/>
              <a:gd name="adj2" fmla="val 55296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重要性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8" grpId="0"/>
      <p:bldP spid="72710" grpId="0"/>
      <p:bldP spid="727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9BEEEA2-B6B2-4831-9633-902FB7658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49275"/>
            <a:ext cx="712946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3366FF"/>
                </a:solidFill>
              </a:rPr>
              <a:t>设置不同级别目标的权系数，得到目标模型</a:t>
            </a:r>
          </a:p>
        </p:txBody>
      </p:sp>
      <p:graphicFrame>
        <p:nvGraphicFramePr>
          <p:cNvPr id="73731" name="Object 3">
            <a:extLst>
              <a:ext uri="{FF2B5EF4-FFF2-40B4-BE49-F238E27FC236}">
                <a16:creationId xmlns:a16="http://schemas.microsoft.com/office/drawing/2014/main" id="{BF0F9FCE-2E4C-41CF-9ACF-4C58173275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484313"/>
          <a:ext cx="5226050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8" name="公式" r:id="rId3" imgW="1993900" imgH="520700" progId="Equation.3">
                  <p:embed/>
                </p:oleObj>
              </mc:Choice>
              <mc:Fallback>
                <p:oleObj name="公式" r:id="rId3" imgW="1993900" imgH="520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484313"/>
                        <a:ext cx="5226050" cy="133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2" name="Group 4">
            <a:extLst>
              <a:ext uri="{FF2B5EF4-FFF2-40B4-BE49-F238E27FC236}">
                <a16:creationId xmlns:a16="http://schemas.microsoft.com/office/drawing/2014/main" id="{81B9BD03-378A-4535-B3D6-11D08CB95E0D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997200"/>
            <a:ext cx="5608637" cy="3121025"/>
            <a:chOff x="1066" y="2115"/>
            <a:chExt cx="3533" cy="1966"/>
          </a:xfrm>
        </p:grpSpPr>
        <p:graphicFrame>
          <p:nvGraphicFramePr>
            <p:cNvPr id="48133" name="Object 5">
              <a:extLst>
                <a:ext uri="{FF2B5EF4-FFF2-40B4-BE49-F238E27FC236}">
                  <a16:creationId xmlns:a16="http://schemas.microsoft.com/office/drawing/2014/main" id="{05EC335F-628E-4A87-B386-156EED9097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2432"/>
            <a:ext cx="2631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9" name="公式" r:id="rId5" imgW="1638300" imgH="241300" progId="Equation.3">
                    <p:embed/>
                  </p:oleObj>
                </mc:Choice>
                <mc:Fallback>
                  <p:oleObj name="公式" r:id="rId5" imgW="1638300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432"/>
                          <a:ext cx="2631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4" name="Object 6">
              <a:extLst>
                <a:ext uri="{FF2B5EF4-FFF2-40B4-BE49-F238E27FC236}">
                  <a16:creationId xmlns:a16="http://schemas.microsoft.com/office/drawing/2014/main" id="{DBD5B866-FDA8-4657-B817-1390B7056E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2750"/>
            <a:ext cx="2495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0" name="公式" r:id="rId7" imgW="1511300" imgH="241300" progId="Equation.3">
                    <p:embed/>
                  </p:oleObj>
                </mc:Choice>
                <mc:Fallback>
                  <p:oleObj name="公式" r:id="rId7" imgW="15113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750"/>
                          <a:ext cx="2495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5" name="Object 7">
              <a:extLst>
                <a:ext uri="{FF2B5EF4-FFF2-40B4-BE49-F238E27FC236}">
                  <a16:creationId xmlns:a16="http://schemas.microsoft.com/office/drawing/2014/main" id="{E5B2A892-59FA-40F6-8654-0F56844E64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3067"/>
            <a:ext cx="2041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1" name="公式" r:id="rId9" imgW="1282700" imgH="254000" progId="Equation.3">
                    <p:embed/>
                  </p:oleObj>
                </mc:Choice>
                <mc:Fallback>
                  <p:oleObj name="公式" r:id="rId9" imgW="1282700" imgH="254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067"/>
                          <a:ext cx="2041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6" name="Object 8">
              <a:extLst>
                <a:ext uri="{FF2B5EF4-FFF2-40B4-BE49-F238E27FC236}">
                  <a16:creationId xmlns:a16="http://schemas.microsoft.com/office/drawing/2014/main" id="{A0D21568-3B19-4E13-A641-38003D6D84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3385"/>
            <a:ext cx="2020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2" name="公式" r:id="rId11" imgW="1269449" imgH="241195" progId="Equation.3">
                    <p:embed/>
                  </p:oleObj>
                </mc:Choice>
                <mc:Fallback>
                  <p:oleObj name="公式" r:id="rId11" imgW="1269449" imgH="24119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385"/>
                          <a:ext cx="2020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7" name="Object 9">
              <a:extLst>
                <a:ext uri="{FF2B5EF4-FFF2-40B4-BE49-F238E27FC236}">
                  <a16:creationId xmlns:a16="http://schemas.microsoft.com/office/drawing/2014/main" id="{3AC7393E-C0E2-4933-A9D5-12C7B661D5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9" y="3702"/>
            <a:ext cx="3090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3" name="公式" r:id="rId13" imgW="1943100" imgH="241300" progId="Equation.3">
                    <p:embed/>
                  </p:oleObj>
                </mc:Choice>
                <mc:Fallback>
                  <p:oleObj name="公式" r:id="rId13" imgW="19431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" y="3702"/>
                          <a:ext cx="3090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8" name="Object 10">
              <a:extLst>
                <a:ext uri="{FF2B5EF4-FFF2-40B4-BE49-F238E27FC236}">
                  <a16:creationId xmlns:a16="http://schemas.microsoft.com/office/drawing/2014/main" id="{DFCA46B2-3111-446F-8D2D-8801EBF587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2251"/>
            <a:ext cx="278" cy="1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4" name="公式" r:id="rId15" imgW="203112" imgH="926698" progId="Equation.3">
                    <p:embed/>
                  </p:oleObj>
                </mc:Choice>
                <mc:Fallback>
                  <p:oleObj name="公式" r:id="rId15" imgW="203112" imgH="926698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251"/>
                          <a:ext cx="278" cy="18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9" name="Object 11">
              <a:extLst>
                <a:ext uri="{FF2B5EF4-FFF2-40B4-BE49-F238E27FC236}">
                  <a16:creationId xmlns:a16="http://schemas.microsoft.com/office/drawing/2014/main" id="{65583F6A-4373-4AD9-8870-D7C219A20F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2115"/>
            <a:ext cx="1593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5" name="公式" r:id="rId17" imgW="965200" imgH="228600" progId="Equation.3">
                    <p:embed/>
                  </p:oleObj>
                </mc:Choice>
                <mc:Fallback>
                  <p:oleObj name="公式" r:id="rId17" imgW="9652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115"/>
                          <a:ext cx="1593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9215231F-58E0-4024-8FD6-EB717CFE55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92275" y="404813"/>
            <a:ext cx="7097713" cy="647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</a:rPr>
              <a:t>目标规划的一般形式</a:t>
            </a:r>
          </a:p>
        </p:txBody>
      </p:sp>
      <p:graphicFrame>
        <p:nvGraphicFramePr>
          <p:cNvPr id="74755" name="Object 3">
            <a:extLst>
              <a:ext uri="{FF2B5EF4-FFF2-40B4-BE49-F238E27FC236}">
                <a16:creationId xmlns:a16="http://schemas.microsoft.com/office/drawing/2014/main" id="{438BA068-78E1-4350-BF20-522B612F2281}"/>
              </a:ext>
            </a:extLst>
          </p:cNvPr>
          <p:cNvGraphicFramePr>
            <a:graphicFrameLocks noGrp="1" noChangeAspect="1"/>
          </p:cNvGraphicFramePr>
          <p:nvPr>
            <p:ph type="body" idx="4294967295"/>
          </p:nvPr>
        </p:nvGraphicFramePr>
        <p:xfrm>
          <a:off x="1547813" y="2205038"/>
          <a:ext cx="5597525" cy="37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2" name="文档" r:id="rId3" imgW="2867968" imgH="1903987" progId="Word.Document.8">
                  <p:embed/>
                </p:oleObj>
              </mc:Choice>
              <mc:Fallback>
                <p:oleObj name="文档" r:id="rId3" imgW="2867968" imgH="1903987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205038"/>
                        <a:ext cx="5597525" cy="371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AutoShape 4">
            <a:extLst>
              <a:ext uri="{FF2B5EF4-FFF2-40B4-BE49-F238E27FC236}">
                <a16:creationId xmlns:a16="http://schemas.microsoft.com/office/drawing/2014/main" id="{1A99D469-C6E1-41A0-9F25-B22CE61E5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557338"/>
            <a:ext cx="1871662" cy="503237"/>
          </a:xfrm>
          <a:prstGeom prst="wedgeRectCallout">
            <a:avLst>
              <a:gd name="adj1" fmla="val 3861"/>
              <a:gd name="adj2" fmla="val 11908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分级优先权</a:t>
            </a:r>
          </a:p>
        </p:txBody>
      </p:sp>
      <p:sp>
        <p:nvSpPr>
          <p:cNvPr id="74757" name="AutoShape 5">
            <a:extLst>
              <a:ext uri="{FF2B5EF4-FFF2-40B4-BE49-F238E27FC236}">
                <a16:creationId xmlns:a16="http://schemas.microsoft.com/office/drawing/2014/main" id="{AE278F17-A4DB-4494-AFEA-152B02D14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1557338"/>
            <a:ext cx="1439863" cy="503237"/>
          </a:xfrm>
          <a:prstGeom prst="wedgeRectCallout">
            <a:avLst>
              <a:gd name="adj1" fmla="val -60032"/>
              <a:gd name="adj2" fmla="val 1332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同级权系数</a:t>
            </a:r>
          </a:p>
        </p:txBody>
      </p:sp>
      <p:sp>
        <p:nvSpPr>
          <p:cNvPr id="74758" name="AutoShape 6">
            <a:extLst>
              <a:ext uri="{FF2B5EF4-FFF2-40B4-BE49-F238E27FC236}">
                <a16:creationId xmlns:a16="http://schemas.microsoft.com/office/drawing/2014/main" id="{9F1D555D-E71C-478D-BF9A-6C9F70B17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492375"/>
            <a:ext cx="1439863" cy="503238"/>
          </a:xfrm>
          <a:prstGeom prst="wedgeRectCallout">
            <a:avLst>
              <a:gd name="adj1" fmla="val -60032"/>
              <a:gd name="adj2" fmla="val 1332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系统紧约束</a:t>
            </a:r>
          </a:p>
        </p:txBody>
      </p:sp>
      <p:sp>
        <p:nvSpPr>
          <p:cNvPr id="74759" name="AutoShape 7">
            <a:extLst>
              <a:ext uri="{FF2B5EF4-FFF2-40B4-BE49-F238E27FC236}">
                <a16:creationId xmlns:a16="http://schemas.microsoft.com/office/drawing/2014/main" id="{9523EEA9-FCF2-47FB-87B9-9BD12C576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3429000"/>
            <a:ext cx="1439863" cy="503238"/>
          </a:xfrm>
          <a:prstGeom prst="wedgeRectCallout">
            <a:avLst>
              <a:gd name="adj1" fmla="val -65106"/>
              <a:gd name="adj2" fmla="val 11908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目标约束</a:t>
            </a:r>
          </a:p>
        </p:txBody>
      </p:sp>
      <p:sp>
        <p:nvSpPr>
          <p:cNvPr id="74760" name="AutoShape 8">
            <a:extLst>
              <a:ext uri="{FF2B5EF4-FFF2-40B4-BE49-F238E27FC236}">
                <a16:creationId xmlns:a16="http://schemas.microsoft.com/office/drawing/2014/main" id="{FA68B2B4-66CD-42DE-A11E-000A00968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5013325"/>
            <a:ext cx="1655763" cy="503238"/>
          </a:xfrm>
          <a:prstGeom prst="wedgeRectCallout">
            <a:avLst>
              <a:gd name="adj1" fmla="val -121046"/>
              <a:gd name="adj2" fmla="val -13454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预期目标值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nimBg="1"/>
      <p:bldP spid="74756" grpId="0" animBg="1"/>
      <p:bldP spid="74757" grpId="0" animBg="1"/>
      <p:bldP spid="74758" grpId="0" animBg="1"/>
      <p:bldP spid="74759" grpId="0" animBg="1"/>
      <p:bldP spid="7476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AutoShape 2">
            <a:extLst>
              <a:ext uri="{FF2B5EF4-FFF2-40B4-BE49-F238E27FC236}">
                <a16:creationId xmlns:a16="http://schemas.microsoft.com/office/drawing/2014/main" id="{1958751A-7A30-4BC7-B082-7695A0C18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773238"/>
            <a:ext cx="1944687" cy="1079500"/>
          </a:xfrm>
          <a:prstGeom prst="flowChartProcess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明确问题，列出</a:t>
            </a:r>
          </a:p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或修改目标优先</a:t>
            </a:r>
          </a:p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级与权系数</a:t>
            </a:r>
          </a:p>
        </p:txBody>
      </p:sp>
      <p:sp>
        <p:nvSpPr>
          <p:cNvPr id="50179" name="AutoShape 3">
            <a:extLst>
              <a:ext uri="{FF2B5EF4-FFF2-40B4-BE49-F238E27FC236}">
                <a16:creationId xmlns:a16="http://schemas.microsoft.com/office/drawing/2014/main" id="{5B8882F2-9C5F-42F2-93FC-A92F98DDD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773238"/>
            <a:ext cx="1584325" cy="1008062"/>
          </a:xfrm>
          <a:prstGeom prst="flowChartProcess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构造目标规划</a:t>
            </a:r>
          </a:p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模型</a:t>
            </a:r>
          </a:p>
        </p:txBody>
      </p:sp>
      <p:sp>
        <p:nvSpPr>
          <p:cNvPr id="50180" name="AutoShape 4">
            <a:extLst>
              <a:ext uri="{FF2B5EF4-FFF2-40B4-BE49-F238E27FC236}">
                <a16:creationId xmlns:a16="http://schemas.microsoft.com/office/drawing/2014/main" id="{61071069-D0D8-4F73-9859-B7E859012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773238"/>
            <a:ext cx="1584325" cy="1008062"/>
          </a:xfrm>
          <a:prstGeom prst="flowChartProcess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 求出满意解</a:t>
            </a:r>
          </a:p>
        </p:txBody>
      </p:sp>
      <p:sp>
        <p:nvSpPr>
          <p:cNvPr id="50181" name="AutoShape 5">
            <a:extLst>
              <a:ext uri="{FF2B5EF4-FFF2-40B4-BE49-F238E27FC236}">
                <a16:creationId xmlns:a16="http://schemas.microsoft.com/office/drawing/2014/main" id="{29891B65-CCA6-469B-BAF7-68FBFF127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429000"/>
            <a:ext cx="1584325" cy="1008063"/>
          </a:xfrm>
          <a:prstGeom prst="flowChartProcess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   分析目标</a:t>
            </a:r>
          </a:p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   完成情况</a:t>
            </a:r>
          </a:p>
        </p:txBody>
      </p:sp>
      <p:sp>
        <p:nvSpPr>
          <p:cNvPr id="50182" name="AutoShape 6">
            <a:extLst>
              <a:ext uri="{FF2B5EF4-FFF2-40B4-BE49-F238E27FC236}">
                <a16:creationId xmlns:a16="http://schemas.microsoft.com/office/drawing/2014/main" id="{513E8D04-74E1-4FD0-BDEE-B0A3D0E4D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429000"/>
            <a:ext cx="1871663" cy="1081088"/>
          </a:xfrm>
          <a:prstGeom prst="flowChartDecision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latin typeface="Tahoma" panose="020B0604030504040204" pitchFamily="34" charset="0"/>
              </a:rPr>
              <a:t>满意否？</a:t>
            </a:r>
          </a:p>
        </p:txBody>
      </p:sp>
      <p:sp>
        <p:nvSpPr>
          <p:cNvPr id="50183" name="AutoShape 7">
            <a:extLst>
              <a:ext uri="{FF2B5EF4-FFF2-40B4-BE49-F238E27FC236}">
                <a16:creationId xmlns:a16="http://schemas.microsoft.com/office/drawing/2014/main" id="{E586BD87-F6E3-4DAC-B33D-51B5EAC65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157788"/>
            <a:ext cx="1584325" cy="1008062"/>
          </a:xfrm>
          <a:prstGeom prst="flowChartProcess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   据此制定</a:t>
            </a:r>
          </a:p>
          <a:p>
            <a:pPr eaLnBrk="1" hangingPunct="1"/>
            <a:r>
              <a:rPr lang="zh-CN" altLang="en-US" sz="1800" b="1">
                <a:latin typeface="Tahoma" panose="020B0604030504040204" pitchFamily="34" charset="0"/>
              </a:rPr>
              <a:t>   决策方案</a:t>
            </a:r>
          </a:p>
        </p:txBody>
      </p:sp>
      <p:sp>
        <p:nvSpPr>
          <p:cNvPr id="50184" name="Line 8">
            <a:extLst>
              <a:ext uri="{FF2B5EF4-FFF2-40B4-BE49-F238E27FC236}">
                <a16:creationId xmlns:a16="http://schemas.microsoft.com/office/drawing/2014/main" id="{E5898E4B-9B9E-43AB-8054-265038C97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2276475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5" name="Line 9">
            <a:extLst>
              <a:ext uri="{FF2B5EF4-FFF2-40B4-BE49-F238E27FC236}">
                <a16:creationId xmlns:a16="http://schemas.microsoft.com/office/drawing/2014/main" id="{38E90834-7E0A-490E-8634-E8493AC78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2276475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6" name="Line 10">
            <a:extLst>
              <a:ext uri="{FF2B5EF4-FFF2-40B4-BE49-F238E27FC236}">
                <a16:creationId xmlns:a16="http://schemas.microsoft.com/office/drawing/2014/main" id="{34A6A472-7328-4750-A675-42CE32881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27813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7" name="Line 11">
            <a:extLst>
              <a:ext uri="{FF2B5EF4-FFF2-40B4-BE49-F238E27FC236}">
                <a16:creationId xmlns:a16="http://schemas.microsoft.com/office/drawing/2014/main" id="{964D82FB-8393-4D34-A948-FE14FAEE2B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5963" y="3933825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8" name="Line 12">
            <a:extLst>
              <a:ext uri="{FF2B5EF4-FFF2-40B4-BE49-F238E27FC236}">
                <a16:creationId xmlns:a16="http://schemas.microsoft.com/office/drawing/2014/main" id="{35CB23CC-1E63-4084-92F3-CBDE011AC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450850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9" name="Line 13">
            <a:extLst>
              <a:ext uri="{FF2B5EF4-FFF2-40B4-BE49-F238E27FC236}">
                <a16:creationId xmlns:a16="http://schemas.microsoft.com/office/drawing/2014/main" id="{4871DC75-5508-42C6-B6CE-2782B99084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3933825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0" name="Line 14">
            <a:extLst>
              <a:ext uri="{FF2B5EF4-FFF2-40B4-BE49-F238E27FC236}">
                <a16:creationId xmlns:a16="http://schemas.microsoft.com/office/drawing/2014/main" id="{3A20C302-7D78-41CE-BCB7-8450CA7ECF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538" y="2852738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1" name="Text Box 15">
            <a:extLst>
              <a:ext uri="{FF2B5EF4-FFF2-40B4-BE49-F238E27FC236}">
                <a16:creationId xmlns:a16="http://schemas.microsoft.com/office/drawing/2014/main" id="{094B1EE2-1452-4D5E-AABF-C155DB506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4652963"/>
            <a:ext cx="720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是</a:t>
            </a:r>
          </a:p>
        </p:txBody>
      </p:sp>
      <p:sp>
        <p:nvSpPr>
          <p:cNvPr id="50192" name="Text Box 16">
            <a:extLst>
              <a:ext uri="{FF2B5EF4-FFF2-40B4-BE49-F238E27FC236}">
                <a16:creationId xmlns:a16="http://schemas.microsoft.com/office/drawing/2014/main" id="{62F76FA6-77FB-40A1-B4DF-46C18D948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3500438"/>
            <a:ext cx="720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否</a:t>
            </a:r>
          </a:p>
        </p:txBody>
      </p:sp>
      <p:sp>
        <p:nvSpPr>
          <p:cNvPr id="50193" name="Text Box 17">
            <a:extLst>
              <a:ext uri="{FF2B5EF4-FFF2-40B4-BE49-F238E27FC236}">
                <a16:creationId xmlns:a16="http://schemas.microsoft.com/office/drawing/2014/main" id="{BA52A9A4-7F5F-417F-BDBA-7F14F9BE5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549275"/>
            <a:ext cx="4176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3366FF"/>
                </a:solidFill>
                <a:latin typeface="Tahoma" panose="020B0604030504040204" pitchFamily="34" charset="0"/>
              </a:rPr>
              <a:t>目标规划工作流程图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3">
            <a:extLst>
              <a:ext uri="{FF2B5EF4-FFF2-40B4-BE49-F238E27FC236}">
                <a16:creationId xmlns:a16="http://schemas.microsoft.com/office/drawing/2014/main" id="{A6B46160-5286-4F9E-96C6-68A598C1A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49275"/>
            <a:ext cx="7129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ea typeface="楷体_GB2312" pitchFamily="49" charset="-122"/>
              </a:rPr>
              <a:t>类似可以解决 </a:t>
            </a:r>
            <a:r>
              <a:rPr lang="en-US" altLang="zh-CN" sz="2800" b="1">
                <a:solidFill>
                  <a:srgbClr val="0000FF"/>
                </a:solidFill>
                <a:ea typeface="楷体_GB2312" pitchFamily="49" charset="-122"/>
              </a:rPr>
              <a:t>4.7 </a:t>
            </a:r>
            <a:r>
              <a:rPr lang="zh-CN" altLang="en-US" sz="2800" b="1">
                <a:solidFill>
                  <a:srgbClr val="0000FF"/>
                </a:solidFill>
                <a:ea typeface="楷体_GB2312" pitchFamily="49" charset="-122"/>
              </a:rPr>
              <a:t>节例</a:t>
            </a:r>
            <a:r>
              <a:rPr lang="en-US" altLang="zh-CN" sz="2800" b="1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FF"/>
                </a:solidFill>
                <a:ea typeface="楷体_GB2312" pitchFamily="49" charset="-122"/>
              </a:rPr>
              <a:t>：升级调薪</a:t>
            </a: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E6D0262B-F24C-4D37-A528-419407429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268413"/>
            <a:ext cx="7920037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问题：</a:t>
            </a:r>
            <a:r>
              <a:rPr lang="zh-CN" altLang="en-US" sz="2800" b="1"/>
              <a:t>年薪分  </a:t>
            </a:r>
            <a:r>
              <a:rPr lang="en-US" altLang="zh-CN" sz="2800" b="1"/>
              <a:t>20</a:t>
            </a:r>
            <a:r>
              <a:rPr lang="zh-CN" altLang="en-US" sz="2800" b="1"/>
              <a:t>，</a:t>
            </a:r>
            <a:r>
              <a:rPr lang="en-US" altLang="zh-CN" sz="2800" b="1"/>
              <a:t>15</a:t>
            </a:r>
            <a:r>
              <a:rPr lang="zh-CN" altLang="en-US" sz="2800" b="1"/>
              <a:t>，</a:t>
            </a:r>
            <a:r>
              <a:rPr lang="en-US" altLang="zh-CN" sz="2800" b="1"/>
              <a:t>10</a:t>
            </a:r>
            <a:r>
              <a:rPr lang="zh-CN" altLang="en-US" sz="2800" b="1"/>
              <a:t>万元三档，</a:t>
            </a:r>
          </a:p>
          <a:p>
            <a:pPr>
              <a:spcBef>
                <a:spcPct val="20000"/>
              </a:spcBef>
            </a:pPr>
            <a:r>
              <a:rPr lang="zh-CN" altLang="en-US" sz="2800" b="1"/>
              <a:t>            核定编制为  </a:t>
            </a:r>
            <a:r>
              <a:rPr lang="en-US" altLang="zh-CN" sz="2800" b="1"/>
              <a:t>12</a:t>
            </a:r>
            <a:r>
              <a:rPr lang="zh-CN" altLang="en-US" sz="2800" b="1"/>
              <a:t>，</a:t>
            </a:r>
            <a:r>
              <a:rPr lang="en-US" altLang="zh-CN" sz="2800" b="1"/>
              <a:t>15</a:t>
            </a:r>
            <a:r>
              <a:rPr lang="zh-CN" altLang="en-US" sz="2800" b="1"/>
              <a:t>，</a:t>
            </a:r>
            <a:r>
              <a:rPr lang="en-US" altLang="zh-CN" sz="2800" b="1"/>
              <a:t>15  </a:t>
            </a:r>
            <a:r>
              <a:rPr lang="zh-CN" altLang="en-US" sz="2800" b="1"/>
              <a:t>人</a:t>
            </a:r>
          </a:p>
          <a:p>
            <a:pPr>
              <a:spcBef>
                <a:spcPct val="20000"/>
              </a:spcBef>
            </a:pPr>
            <a:r>
              <a:rPr lang="en-US" altLang="zh-CN" sz="2800" b="1"/>
              <a:t>            </a:t>
            </a:r>
            <a:r>
              <a:rPr lang="zh-CN" altLang="en-US" sz="2800" b="1"/>
              <a:t>现有职工数    </a:t>
            </a:r>
            <a:r>
              <a:rPr lang="en-US" altLang="zh-CN" sz="2800" b="1"/>
              <a:t>9</a:t>
            </a:r>
            <a:r>
              <a:rPr lang="zh-CN" altLang="en-US" sz="2800" b="1"/>
              <a:t>，</a:t>
            </a:r>
            <a:r>
              <a:rPr lang="en-US" altLang="zh-CN" sz="2800" b="1"/>
              <a:t>12</a:t>
            </a:r>
            <a:r>
              <a:rPr lang="zh-CN" altLang="en-US" sz="2800" b="1"/>
              <a:t>，</a:t>
            </a:r>
            <a:r>
              <a:rPr lang="en-US" altLang="zh-CN" sz="2800" b="1"/>
              <a:t>15  </a:t>
            </a:r>
            <a:r>
              <a:rPr lang="zh-CN" altLang="en-US" sz="2800" b="1"/>
              <a:t>人，不越级提薪</a:t>
            </a:r>
          </a:p>
          <a:p>
            <a:pPr>
              <a:spcBef>
                <a:spcPct val="20000"/>
              </a:spcBef>
            </a:pPr>
            <a:r>
              <a:rPr lang="en-US" altLang="zh-CN" sz="2800" b="1"/>
              <a:t>1</a:t>
            </a:r>
            <a:r>
              <a:rPr lang="zh-CN" altLang="en-US" sz="2800" b="1"/>
              <a:t>）工资总额尽可能不超过</a:t>
            </a:r>
            <a:r>
              <a:rPr lang="en-US" altLang="zh-CN" sz="2800" b="1"/>
              <a:t>600</a:t>
            </a:r>
            <a:r>
              <a:rPr lang="zh-CN" altLang="en-US" sz="2800" b="1"/>
              <a:t>万</a:t>
            </a:r>
          </a:p>
          <a:p>
            <a:pPr>
              <a:spcBef>
                <a:spcPct val="20000"/>
              </a:spcBef>
            </a:pPr>
            <a:r>
              <a:rPr lang="en-US" altLang="zh-CN" sz="2800" b="1"/>
              <a:t>2</a:t>
            </a:r>
            <a:r>
              <a:rPr lang="zh-CN" altLang="en-US" sz="2800" b="1"/>
              <a:t>）每级尽可能不超过定编人数</a:t>
            </a:r>
          </a:p>
          <a:p>
            <a:pPr>
              <a:spcBef>
                <a:spcPct val="20000"/>
              </a:spcBef>
            </a:pPr>
            <a:r>
              <a:rPr lang="en-US" altLang="zh-CN" sz="2800" b="1"/>
              <a:t>3</a:t>
            </a:r>
            <a:r>
              <a:rPr lang="zh-CN" altLang="en-US" sz="2800" b="1"/>
              <a:t>）二三档的升级面尽可能达到现有人数的</a:t>
            </a:r>
            <a:r>
              <a:rPr lang="en-US" altLang="zh-CN" sz="2800" b="1"/>
              <a:t>20%</a:t>
            </a:r>
          </a:p>
          <a:p>
            <a:pPr>
              <a:spcBef>
                <a:spcPct val="20000"/>
              </a:spcBef>
            </a:pPr>
            <a:r>
              <a:rPr lang="en-US" altLang="zh-CN" sz="2800" b="1"/>
              <a:t>4</a:t>
            </a:r>
            <a:r>
              <a:rPr lang="zh-CN" altLang="en-US" sz="2800" b="1"/>
              <a:t>）三档不足的人数可录取新员工（尽可能多）</a:t>
            </a:r>
          </a:p>
          <a:p>
            <a:pPr>
              <a:spcBef>
                <a:spcPct val="20000"/>
              </a:spcBef>
            </a:pPr>
            <a:r>
              <a:rPr lang="zh-CN" altLang="en-US" sz="2800" b="1"/>
              <a:t>制定满意的调资方案。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91779E4-8AD0-4CD7-94EB-6C3469BF9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908050"/>
            <a:ext cx="7129462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一级目标：工资总额不超过</a:t>
            </a:r>
            <a:r>
              <a:rPr lang="en-US" altLang="zh-CN" sz="2800" b="1">
                <a:solidFill>
                  <a:srgbClr val="0000FF"/>
                </a:solidFill>
              </a:rPr>
              <a:t>600</a:t>
            </a:r>
            <a:r>
              <a:rPr lang="zh-CN" altLang="en-US" sz="2800" b="1">
                <a:solidFill>
                  <a:srgbClr val="0000FF"/>
                </a:solidFill>
              </a:rPr>
              <a:t>：</a:t>
            </a:r>
          </a:p>
        </p:txBody>
      </p:sp>
      <p:graphicFrame>
        <p:nvGraphicFramePr>
          <p:cNvPr id="89091" name="Object 3">
            <a:extLst>
              <a:ext uri="{FF2B5EF4-FFF2-40B4-BE49-F238E27FC236}">
                <a16:creationId xmlns:a16="http://schemas.microsoft.com/office/drawing/2014/main" id="{7B9ECAD5-85EB-4218-828C-85DA644F89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581525"/>
          <a:ext cx="16398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3" name="公式" r:id="rId3" imgW="672808" imgH="241195" progId="Equation.3">
                  <p:embed/>
                </p:oleObj>
              </mc:Choice>
              <mc:Fallback>
                <p:oleObj name="公式" r:id="rId3" imgW="672808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81525"/>
                        <a:ext cx="163988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2" name="Object 4">
            <a:extLst>
              <a:ext uri="{FF2B5EF4-FFF2-40B4-BE49-F238E27FC236}">
                <a16:creationId xmlns:a16="http://schemas.microsoft.com/office/drawing/2014/main" id="{D7CDD54D-4430-47D5-AA22-009633D173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644900"/>
          <a:ext cx="60007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公式" r:id="rId5" imgW="2463800" imgH="241300" progId="Equation.3">
                  <p:embed/>
                </p:oleObj>
              </mc:Choice>
              <mc:Fallback>
                <p:oleObj name="公式" r:id="rId5" imgW="24638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644900"/>
                        <a:ext cx="600075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>
            <a:extLst>
              <a:ext uri="{FF2B5EF4-FFF2-40B4-BE49-F238E27FC236}">
                <a16:creationId xmlns:a16="http://schemas.microsoft.com/office/drawing/2014/main" id="{9A777842-D61C-41FB-9F0C-00557AFB2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700213"/>
          <a:ext cx="6961187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5" name="公式" r:id="rId7" imgW="2857500" imgH="736600" progId="Equation.3">
                  <p:embed/>
                </p:oleObj>
              </mc:Choice>
              <mc:Fallback>
                <p:oleObj name="公式" r:id="rId7" imgW="2857500" imgH="736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700213"/>
                        <a:ext cx="6961187" cy="177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547626ED-8A27-48B4-93DB-034BD048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908050"/>
            <a:ext cx="7129462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二级目标：尽可能不超过编制数：</a:t>
            </a:r>
          </a:p>
        </p:txBody>
      </p:sp>
      <p:graphicFrame>
        <p:nvGraphicFramePr>
          <p:cNvPr id="90115" name="Object 3">
            <a:extLst>
              <a:ext uri="{FF2B5EF4-FFF2-40B4-BE49-F238E27FC236}">
                <a16:creationId xmlns:a16="http://schemas.microsoft.com/office/drawing/2014/main" id="{67BA8D91-AB0A-4F8C-846D-F79B5C2B54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292600"/>
          <a:ext cx="33718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5" name="公式" r:id="rId3" imgW="1384300" imgH="254000" progId="Equation.3">
                  <p:embed/>
                </p:oleObj>
              </mc:Choice>
              <mc:Fallback>
                <p:oleObj name="公式" r:id="rId3" imgW="1384300" imgH="254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292600"/>
                        <a:ext cx="337185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>
            <a:extLst>
              <a:ext uri="{FF2B5EF4-FFF2-40B4-BE49-F238E27FC236}">
                <a16:creationId xmlns:a16="http://schemas.microsoft.com/office/drawing/2014/main" id="{8B29C810-59A0-4F96-9A73-D6165FF33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628775"/>
          <a:ext cx="4422775" cy="235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6" name="公式" r:id="rId5" imgW="1816100" imgH="977900" progId="Equation.3">
                  <p:embed/>
                </p:oleObj>
              </mc:Choice>
              <mc:Fallback>
                <p:oleObj name="公式" r:id="rId5" imgW="1816100" imgH="977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628775"/>
                        <a:ext cx="4422775" cy="235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5CC3A822-DA36-4380-81F5-789E8EAD3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908050"/>
            <a:ext cx="7129462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三级目标：二三档升级尽可能达到</a:t>
            </a:r>
            <a:r>
              <a:rPr lang="en-US" altLang="zh-CN" sz="2800" b="1">
                <a:solidFill>
                  <a:srgbClr val="0000FF"/>
                </a:solidFill>
              </a:rPr>
              <a:t>20%</a:t>
            </a:r>
          </a:p>
        </p:txBody>
      </p:sp>
      <p:graphicFrame>
        <p:nvGraphicFramePr>
          <p:cNvPr id="91139" name="Object 3">
            <a:extLst>
              <a:ext uri="{FF2B5EF4-FFF2-40B4-BE49-F238E27FC236}">
                <a16:creationId xmlns:a16="http://schemas.microsoft.com/office/drawing/2014/main" id="{41A6F745-9A5D-4A24-817F-9F117EC168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708275"/>
          <a:ext cx="25050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2" name="公式" r:id="rId3" imgW="1028254" imgH="253890" progId="Equation.3">
                  <p:embed/>
                </p:oleObj>
              </mc:Choice>
              <mc:Fallback>
                <p:oleObj name="公式" r:id="rId3" imgW="1028254" imgH="2538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08275"/>
                        <a:ext cx="250507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0" name="Object 4">
            <a:extLst>
              <a:ext uri="{FF2B5EF4-FFF2-40B4-BE49-F238E27FC236}">
                <a16:creationId xmlns:a16="http://schemas.microsoft.com/office/drawing/2014/main" id="{F10F8B51-E81E-487F-948D-7BF0C52498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484313"/>
          <a:ext cx="337026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3" name="公式" r:id="rId5" imgW="1384300" imgH="495300" progId="Equation.3">
                  <p:embed/>
                </p:oleObj>
              </mc:Choice>
              <mc:Fallback>
                <p:oleObj name="公式" r:id="rId5" imgW="1384300" imgH="495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84313"/>
                        <a:ext cx="3370262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1" name="Rectangle 5">
            <a:extLst>
              <a:ext uri="{FF2B5EF4-FFF2-40B4-BE49-F238E27FC236}">
                <a16:creationId xmlns:a16="http://schemas.microsoft.com/office/drawing/2014/main" id="{2EFD212A-7530-4E33-B41B-F55004B30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573463"/>
            <a:ext cx="712946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四级目标：尽可能多录取新员工</a:t>
            </a:r>
          </a:p>
        </p:txBody>
      </p:sp>
      <p:graphicFrame>
        <p:nvGraphicFramePr>
          <p:cNvPr id="91142" name="Object 6">
            <a:extLst>
              <a:ext uri="{FF2B5EF4-FFF2-40B4-BE49-F238E27FC236}">
                <a16:creationId xmlns:a16="http://schemas.microsoft.com/office/drawing/2014/main" id="{E0956721-21C0-4D5E-8E5B-BD9B45DBE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4292600"/>
          <a:ext cx="170021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4" name="公式" r:id="rId7" imgW="698500" imgH="228600" progId="Equation.3">
                  <p:embed/>
                </p:oleObj>
              </mc:Choice>
              <mc:Fallback>
                <p:oleObj name="公式" r:id="rId7" imgW="6985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292600"/>
                        <a:ext cx="170021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/>
      <p:bldP spid="9114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4B287C01-96FA-495E-AFEB-0CF3828E5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620713"/>
            <a:ext cx="712946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3366FF"/>
                </a:solidFill>
              </a:rPr>
              <a:t>设置不同级别目标的权系数，得到目标模型</a:t>
            </a:r>
          </a:p>
        </p:txBody>
      </p:sp>
      <p:graphicFrame>
        <p:nvGraphicFramePr>
          <p:cNvPr id="86019" name="Object 3">
            <a:extLst>
              <a:ext uri="{FF2B5EF4-FFF2-40B4-BE49-F238E27FC236}">
                <a16:creationId xmlns:a16="http://schemas.microsoft.com/office/drawing/2014/main" id="{2E69CD87-ED79-4F7E-A88E-84865E4728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196975"/>
          <a:ext cx="6091237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1" name="公式" r:id="rId3" imgW="2324100" imgH="520700" progId="Equation.3">
                  <p:embed/>
                </p:oleObj>
              </mc:Choice>
              <mc:Fallback>
                <p:oleObj name="公式" r:id="rId3" imgW="2324100" imgH="520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196975"/>
                        <a:ext cx="6091237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>
            <a:extLst>
              <a:ext uri="{FF2B5EF4-FFF2-40B4-BE49-F238E27FC236}">
                <a16:creationId xmlns:a16="http://schemas.microsoft.com/office/drawing/2014/main" id="{DAA718FF-BAF5-4883-B062-460530222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661025"/>
          <a:ext cx="60261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2" name="公式" r:id="rId5" imgW="2387600" imgH="254000" progId="Equation.3">
                  <p:embed/>
                </p:oleObj>
              </mc:Choice>
              <mc:Fallback>
                <p:oleObj name="公式" r:id="rId5" imgW="23876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661025"/>
                        <a:ext cx="60261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6" name="Object 10">
            <a:extLst>
              <a:ext uri="{FF2B5EF4-FFF2-40B4-BE49-F238E27FC236}">
                <a16:creationId xmlns:a16="http://schemas.microsoft.com/office/drawing/2014/main" id="{94A4DF4A-FA8A-4EBD-A035-36B7FBFE5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492375"/>
          <a:ext cx="441325" cy="360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3" name="公式" r:id="rId7" imgW="203112" imgH="926698" progId="Equation.3">
                  <p:embed/>
                </p:oleObj>
              </mc:Choice>
              <mc:Fallback>
                <p:oleObj name="公式" r:id="rId7" imgW="203112" imgH="92669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92375"/>
                        <a:ext cx="441325" cy="360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8" name="Object 12">
            <a:extLst>
              <a:ext uri="{FF2B5EF4-FFF2-40B4-BE49-F238E27FC236}">
                <a16:creationId xmlns:a16="http://schemas.microsoft.com/office/drawing/2014/main" id="{A8BDCE63-6452-41E2-B8BD-FDBC8EF87E9C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908175" y="2565400"/>
          <a:ext cx="58340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4" name="公式" r:id="rId9" imgW="2463800" imgH="241300" progId="Equation.3">
                  <p:embed/>
                </p:oleObj>
              </mc:Choice>
              <mc:Fallback>
                <p:oleObj name="公式" r:id="rId9" imgW="2463800" imgH="241300" progId="Equation.3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565400"/>
                        <a:ext cx="58340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0" name="Object 14">
            <a:extLst>
              <a:ext uri="{FF2B5EF4-FFF2-40B4-BE49-F238E27FC236}">
                <a16:creationId xmlns:a16="http://schemas.microsoft.com/office/drawing/2014/main" id="{37371987-26EE-4880-96EC-CFD4F0DF3341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908175" y="3213100"/>
          <a:ext cx="4681538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5" name="公式" r:id="rId11" imgW="1816100" imgH="749300" progId="Equation.3">
                  <p:embed/>
                </p:oleObj>
              </mc:Choice>
              <mc:Fallback>
                <p:oleObj name="公式" r:id="rId11" imgW="1816100" imgH="749300" progId="Equation.3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213100"/>
                        <a:ext cx="4681538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3" name="Object 17">
            <a:extLst>
              <a:ext uri="{FF2B5EF4-FFF2-40B4-BE49-F238E27FC236}">
                <a16:creationId xmlns:a16="http://schemas.microsoft.com/office/drawing/2014/main" id="{1020490B-D492-4B05-AC80-2A490D0FBEB0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908175" y="4581525"/>
          <a:ext cx="34575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6" name="公式" r:id="rId13" imgW="1384300" imgH="495300" progId="Equation.3">
                  <p:embed/>
                </p:oleObj>
              </mc:Choice>
              <mc:Fallback>
                <p:oleObj name="公式" r:id="rId13" imgW="1384300" imgH="495300" progId="Equation.3">
                  <p:embed/>
                  <p:pic>
                    <p:nvPicPr>
                      <p:cNvPr id="0" name="Object 1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81525"/>
                        <a:ext cx="34575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>
            <a:extLst>
              <a:ext uri="{FF2B5EF4-FFF2-40B4-BE49-F238E27FC236}">
                <a16:creationId xmlns:a16="http://schemas.microsoft.com/office/drawing/2014/main" id="{FA8A1E8D-D3B5-4EA6-9159-6BFA448FF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276475"/>
            <a:ext cx="64087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生产中通过切割、剪裁、冲压等手段，将原材料加工成规定大小的成材</a:t>
            </a:r>
            <a:r>
              <a:rPr lang="en-US" altLang="zh-CN" sz="2800" b="1"/>
              <a:t>.</a:t>
            </a:r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A7E17281-74E3-408D-9CDD-C79BE033A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765175"/>
            <a:ext cx="7129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4.6   </a:t>
            </a:r>
            <a:r>
              <a:rPr lang="zh-CN" altLang="en-US" sz="3200" b="1">
                <a:ea typeface="楷体_GB2312" pitchFamily="49" charset="-122"/>
              </a:rPr>
              <a:t>下料问题 </a:t>
            </a:r>
            <a:r>
              <a:rPr lang="en-US" altLang="zh-CN" sz="3200" b="1">
                <a:ea typeface="楷体_GB2312" pitchFamily="49" charset="-122"/>
              </a:rPr>
              <a:t>—— </a:t>
            </a:r>
            <a:r>
              <a:rPr lang="zh-CN" altLang="en-US" sz="3200" b="1">
                <a:ea typeface="楷体_GB2312" pitchFamily="49" charset="-122"/>
              </a:rPr>
              <a:t>方案选择模型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7CD7642A-23C8-4F0F-9273-FE2BA25BF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628775"/>
            <a:ext cx="59055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原料下料问题 </a:t>
            </a:r>
            <a:r>
              <a:rPr lang="en-US" altLang="zh-CN" sz="2800" b="1">
                <a:ea typeface="楷体_GB2312" pitchFamily="49" charset="-122"/>
              </a:rPr>
              <a:t>—— 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模式选择</a:t>
            </a: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A3177284-9AF4-4B31-AFC8-66F815B14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16338"/>
            <a:ext cx="60483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优化问题</a:t>
            </a:r>
            <a:r>
              <a:rPr lang="en-US" altLang="zh-CN" sz="2800" b="1"/>
              <a:t>:  </a:t>
            </a:r>
            <a:r>
              <a:rPr lang="zh-CN" altLang="en-US" sz="2800" b="1"/>
              <a:t>按照工艺要求，确定下料方案，使所用材料最省，或利润最大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nimBg="1" autoUpdateAnimBg="0"/>
      <p:bldP spid="48132" grpId="0" animBg="1" autoUpdateAnimBg="0"/>
      <p:bldP spid="72709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>
            <a:extLst>
              <a:ext uri="{FF2B5EF4-FFF2-40B4-BE49-F238E27FC236}">
                <a16:creationId xmlns:a16="http://schemas.microsoft.com/office/drawing/2014/main" id="{01868CA0-800F-408C-A903-AE008DE84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30600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问题</a:t>
            </a:r>
            <a:r>
              <a:rPr lang="en-US" altLang="zh-CN" sz="2800" b="1"/>
              <a:t>1.  </a:t>
            </a:r>
            <a:r>
              <a:rPr lang="zh-CN" altLang="en-US" sz="2800" b="1"/>
              <a:t>如何下料最节省 </a:t>
            </a:r>
            <a:r>
              <a:rPr lang="en-US" altLang="zh-CN" sz="2800" b="1"/>
              <a:t>? 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67C6AEB-D894-45A6-AEA0-A890D77942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762000" y="457200"/>
            <a:ext cx="6762750" cy="533400"/>
          </a:xfrm>
          <a:prstGeom prst="rect">
            <a:avLst/>
          </a:prstGeom>
          <a:solidFill>
            <a:srgbClr val="FFCC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ea typeface="楷体_GB2312" pitchFamily="49" charset="-122"/>
              </a:rPr>
              <a:t>1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钢管下料 </a:t>
            </a:r>
            <a:r>
              <a:rPr lang="en-US" altLang="zh-CN" sz="32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模式选择</a:t>
            </a:r>
            <a:r>
              <a:rPr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</a:p>
        </p:txBody>
      </p:sp>
      <p:sp>
        <p:nvSpPr>
          <p:cNvPr id="73732" name="Text Box 4">
            <a:extLst>
              <a:ext uri="{FF2B5EF4-FFF2-40B4-BE49-F238E27FC236}">
                <a16:creationId xmlns:a16="http://schemas.microsoft.com/office/drawing/2014/main" id="{4119F63F-F198-4C24-A98E-00D43E1A7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368800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问题</a:t>
            </a:r>
            <a:r>
              <a:rPr lang="en-US" altLang="zh-CN" sz="2800" b="1"/>
              <a:t>2.  </a:t>
            </a:r>
            <a:r>
              <a:rPr lang="zh-CN" altLang="en-US" sz="2800" b="1"/>
              <a:t>客户增加需求：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3C3C8B2C-0396-4C25-96AD-BCDE7B98E23F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244600"/>
            <a:ext cx="7696200" cy="747713"/>
            <a:chOff x="576" y="624"/>
            <a:chExt cx="4848" cy="471"/>
          </a:xfrm>
        </p:grpSpPr>
        <p:sp>
          <p:nvSpPr>
            <p:cNvPr id="57367" name="Text Box 6">
              <a:extLst>
                <a:ext uri="{FF2B5EF4-FFF2-40B4-BE49-F238E27FC236}">
                  <a16:creationId xmlns:a16="http://schemas.microsoft.com/office/drawing/2014/main" id="{539332CD-B872-4D1E-B83D-F3B779381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768"/>
              <a:ext cx="2064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原料钢管</a:t>
              </a:r>
              <a:r>
                <a:rPr lang="en-US" altLang="zh-CN" sz="2800" b="1">
                  <a:latin typeface="宋体" panose="02010600030101010101" pitchFamily="2" charset="-122"/>
                </a:rPr>
                <a:t>:</a:t>
              </a:r>
              <a:r>
                <a:rPr lang="zh-CN" altLang="en-US" sz="2800" b="1">
                  <a:latin typeface="宋体" panose="02010600030101010101" pitchFamily="2" charset="-122"/>
                </a:rPr>
                <a:t>每根</a:t>
              </a:r>
              <a:r>
                <a:rPr lang="en-US" altLang="zh-CN" sz="2800" b="1"/>
                <a:t>19m</a:t>
              </a:r>
              <a:r>
                <a:rPr lang="zh-CN" altLang="en-US" sz="2800" b="1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57368" name="AutoShape 7">
              <a:extLst>
                <a:ext uri="{FF2B5EF4-FFF2-40B4-BE49-F238E27FC236}">
                  <a16:creationId xmlns:a16="http://schemas.microsoft.com/office/drawing/2014/main" id="{2C06811F-7EDC-420D-B337-9AE38C59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624"/>
              <a:ext cx="4848" cy="4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4DD42C93-4CEF-4366-8763-3C0F5754289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463800"/>
            <a:ext cx="1676400" cy="747713"/>
            <a:chOff x="576" y="1456"/>
            <a:chExt cx="1056" cy="471"/>
          </a:xfrm>
        </p:grpSpPr>
        <p:sp>
          <p:nvSpPr>
            <p:cNvPr id="57365" name="AutoShape 9">
              <a:extLst>
                <a:ext uri="{FF2B5EF4-FFF2-40B4-BE49-F238E27FC236}">
                  <a16:creationId xmlns:a16="http://schemas.microsoft.com/office/drawing/2014/main" id="{49008CAD-5999-4EF6-B615-E47E45D15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456"/>
              <a:ext cx="1056" cy="4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66" name="Text Box 10">
              <a:extLst>
                <a:ext uri="{FF2B5EF4-FFF2-40B4-BE49-F238E27FC236}">
                  <a16:creationId xmlns:a16="http://schemas.microsoft.com/office/drawing/2014/main" id="{B12325DF-EADE-46DA-9FEB-EAF33E483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600"/>
              <a:ext cx="912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50</a:t>
              </a:r>
              <a:r>
                <a:rPr lang="zh-CN" altLang="en-US" sz="2800" b="1">
                  <a:latin typeface="宋体" panose="02010600030101010101" pitchFamily="2" charset="-122"/>
                </a:rPr>
                <a:t>根</a:t>
              </a:r>
              <a:r>
                <a:rPr lang="en-US" altLang="zh-CN" sz="2800" b="1"/>
                <a:t>4m</a:t>
              </a:r>
              <a:endParaRPr lang="zh-CN" altLang="en-US" sz="2800" b="1"/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B22A7CFF-E3E1-4104-AAFA-9D5CD044C9DC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463800"/>
            <a:ext cx="2286000" cy="747713"/>
            <a:chOff x="1632" y="1392"/>
            <a:chExt cx="1440" cy="471"/>
          </a:xfrm>
        </p:grpSpPr>
        <p:sp>
          <p:nvSpPr>
            <p:cNvPr id="57363" name="AutoShape 12">
              <a:extLst>
                <a:ext uri="{FF2B5EF4-FFF2-40B4-BE49-F238E27FC236}">
                  <a16:creationId xmlns:a16="http://schemas.microsoft.com/office/drawing/2014/main" id="{9FEF6E7A-8A69-439D-9632-9D5569DE3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392"/>
              <a:ext cx="1440" cy="4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64" name="Text Box 13">
              <a:extLst>
                <a:ext uri="{FF2B5EF4-FFF2-40B4-BE49-F238E27FC236}">
                  <a16:creationId xmlns:a16="http://schemas.microsoft.com/office/drawing/2014/main" id="{617FE27D-5E8B-4E8C-AEAB-A8FAF62D9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536"/>
              <a:ext cx="912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20</a:t>
              </a:r>
              <a:r>
                <a:rPr lang="zh-CN" altLang="en-US" sz="2800" b="1">
                  <a:latin typeface="宋体" panose="02010600030101010101" pitchFamily="2" charset="-122"/>
                </a:rPr>
                <a:t>根</a:t>
              </a:r>
              <a:r>
                <a:rPr lang="en-US" altLang="zh-CN" sz="2800" b="1"/>
                <a:t>6m</a:t>
              </a:r>
              <a:endParaRPr lang="zh-CN" altLang="en-US" sz="2800" b="1"/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4F7DEA10-505C-48CC-A374-327356EFB404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463800"/>
            <a:ext cx="3124200" cy="671513"/>
            <a:chOff x="3408" y="1456"/>
            <a:chExt cx="1968" cy="423"/>
          </a:xfrm>
        </p:grpSpPr>
        <p:sp>
          <p:nvSpPr>
            <p:cNvPr id="57361" name="AutoShape 15">
              <a:extLst>
                <a:ext uri="{FF2B5EF4-FFF2-40B4-BE49-F238E27FC236}">
                  <a16:creationId xmlns:a16="http://schemas.microsoft.com/office/drawing/2014/main" id="{71AD2F61-3DF5-4E2A-A695-8B2D31521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56"/>
              <a:ext cx="1968" cy="4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62" name="Text Box 16">
              <a:extLst>
                <a:ext uri="{FF2B5EF4-FFF2-40B4-BE49-F238E27FC236}">
                  <a16:creationId xmlns:a16="http://schemas.microsoft.com/office/drawing/2014/main" id="{3ADF631E-A689-46C2-B0F4-FCDC47619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552"/>
              <a:ext cx="960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15</a:t>
              </a:r>
              <a:r>
                <a:rPr lang="zh-CN" altLang="en-US" sz="2800" b="1">
                  <a:latin typeface="宋体" panose="02010600030101010101" pitchFamily="2" charset="-122"/>
                </a:rPr>
                <a:t>根</a:t>
              </a:r>
              <a:r>
                <a:rPr lang="en-US" altLang="zh-CN" sz="2800" b="1"/>
                <a:t>8m</a:t>
              </a:r>
              <a:endParaRPr lang="zh-CN" altLang="en-US" sz="2800" b="1"/>
            </a:p>
          </p:txBody>
        </p:sp>
      </p:grpSp>
      <p:grpSp>
        <p:nvGrpSpPr>
          <p:cNvPr id="6" name="Group 17">
            <a:extLst>
              <a:ext uri="{FF2B5EF4-FFF2-40B4-BE49-F238E27FC236}">
                <a16:creationId xmlns:a16="http://schemas.microsoft.com/office/drawing/2014/main" id="{47A1CAFD-5DBD-4BDF-974F-840EFB943F7A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625600"/>
            <a:ext cx="2133600" cy="519113"/>
            <a:chOff x="624" y="864"/>
            <a:chExt cx="1344" cy="327"/>
          </a:xfrm>
        </p:grpSpPr>
        <p:sp>
          <p:nvSpPr>
            <p:cNvPr id="57359" name="AutoShape 18">
              <a:extLst>
                <a:ext uri="{FF2B5EF4-FFF2-40B4-BE49-F238E27FC236}">
                  <a16:creationId xmlns:a16="http://schemas.microsoft.com/office/drawing/2014/main" id="{6D2FE9C3-13CC-423E-A383-AF493735B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912"/>
              <a:ext cx="288" cy="24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60" name="Text Box 19">
              <a:extLst>
                <a:ext uri="{FF2B5EF4-FFF2-40B4-BE49-F238E27FC236}">
                  <a16:creationId xmlns:a16="http://schemas.microsoft.com/office/drawing/2014/main" id="{9D09CF1E-DED0-4659-B573-FB87D22EF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864"/>
              <a:ext cx="1056" cy="327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客户需求</a:t>
              </a:r>
            </a:p>
          </p:txBody>
        </p:sp>
      </p:grpSp>
      <p:sp>
        <p:nvSpPr>
          <p:cNvPr id="73748" name="Text Box 20">
            <a:extLst>
              <a:ext uri="{FF2B5EF4-FFF2-40B4-BE49-F238E27FC236}">
                <a16:creationId xmlns:a16="http://schemas.microsoft.com/office/drawing/2014/main" id="{BB726B7B-7E40-44EC-8149-59D1CB6BB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5306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节省的标准是什么？</a:t>
            </a:r>
          </a:p>
        </p:txBody>
      </p:sp>
      <p:sp>
        <p:nvSpPr>
          <p:cNvPr id="73749" name="Text Box 21">
            <a:extLst>
              <a:ext uri="{FF2B5EF4-FFF2-40B4-BE49-F238E27FC236}">
                <a16:creationId xmlns:a16="http://schemas.microsoft.com/office/drawing/2014/main" id="{DC7DD3D9-9571-42CE-BB7D-894CB7C11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084763"/>
            <a:ext cx="842486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由于采用不同</a:t>
            </a:r>
            <a:r>
              <a:rPr lang="zh-CN" altLang="en-US" sz="2800" b="1">
                <a:solidFill>
                  <a:srgbClr val="FF0000"/>
                </a:solidFill>
              </a:rPr>
              <a:t>切割模式</a:t>
            </a:r>
            <a:r>
              <a:rPr lang="zh-CN" altLang="en-US" sz="2800" b="1"/>
              <a:t>太多</a:t>
            </a:r>
            <a:r>
              <a:rPr lang="en-US" altLang="zh-CN" sz="2800" b="1"/>
              <a:t>, </a:t>
            </a:r>
            <a:r>
              <a:rPr lang="zh-CN" altLang="en-US" sz="2800" b="1"/>
              <a:t>会增加生产和管理成本</a:t>
            </a:r>
            <a:r>
              <a:rPr lang="en-US" altLang="zh-CN" sz="2800" b="1"/>
              <a:t>,</a:t>
            </a:r>
            <a:r>
              <a:rPr lang="zh-CN" altLang="en-US" sz="2800" b="1"/>
              <a:t>规定切割模式不能超过</a:t>
            </a:r>
            <a:r>
              <a:rPr lang="en-US" altLang="zh-CN" sz="2800" b="1"/>
              <a:t>3</a:t>
            </a:r>
            <a:r>
              <a:rPr lang="zh-CN" altLang="en-US" sz="2800" b="1"/>
              <a:t>种</a:t>
            </a:r>
            <a:r>
              <a:rPr lang="en-US" altLang="zh-CN" sz="2800" b="1"/>
              <a:t>.  </a:t>
            </a:r>
            <a:r>
              <a:rPr lang="zh-CN" altLang="en-US" sz="2800" b="1"/>
              <a:t>如何下料最节省？</a:t>
            </a:r>
          </a:p>
        </p:txBody>
      </p:sp>
      <p:grpSp>
        <p:nvGrpSpPr>
          <p:cNvPr id="7" name="Group 22">
            <a:extLst>
              <a:ext uri="{FF2B5EF4-FFF2-40B4-BE49-F238E27FC236}">
                <a16:creationId xmlns:a16="http://schemas.microsoft.com/office/drawing/2014/main" id="{BAAF12E7-B1FA-4B61-A7C7-C621C85D77E4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4365625"/>
            <a:ext cx="3657600" cy="519113"/>
            <a:chOff x="2304" y="2656"/>
            <a:chExt cx="2304" cy="327"/>
          </a:xfrm>
        </p:grpSpPr>
        <p:sp>
          <p:nvSpPr>
            <p:cNvPr id="57357" name="AutoShape 23">
              <a:extLst>
                <a:ext uri="{FF2B5EF4-FFF2-40B4-BE49-F238E27FC236}">
                  <a16:creationId xmlns:a16="http://schemas.microsoft.com/office/drawing/2014/main" id="{53593364-592B-4329-91BD-E41086982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800"/>
              <a:ext cx="1248" cy="4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58" name="Text Box 24">
              <a:extLst>
                <a:ext uri="{FF2B5EF4-FFF2-40B4-BE49-F238E27FC236}">
                  <a16:creationId xmlns:a16="http://schemas.microsoft.com/office/drawing/2014/main" id="{A1085922-DA1F-4098-AED8-A81536F4A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656"/>
              <a:ext cx="912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10</a:t>
              </a:r>
              <a:r>
                <a:rPr lang="zh-CN" altLang="en-US" sz="2800" b="1">
                  <a:latin typeface="宋体" panose="02010600030101010101" pitchFamily="2" charset="-122"/>
                </a:rPr>
                <a:t>根</a:t>
              </a:r>
              <a:r>
                <a:rPr lang="en-US" altLang="zh-CN" sz="2800" b="1"/>
                <a:t>5m</a:t>
              </a:r>
              <a:endParaRPr lang="zh-CN" altLang="en-US" sz="28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7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nimBg="1" autoUpdateAnimBg="0"/>
      <p:bldP spid="73732" grpId="0" animBg="1" autoUpdateAnimBg="0"/>
      <p:bldP spid="73748" grpId="0" animBg="1" autoUpdateAnimBg="0"/>
      <p:bldP spid="73749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>
            <a:extLst>
              <a:ext uri="{FF2B5EF4-FFF2-40B4-BE49-F238E27FC236}">
                <a16:creationId xmlns:a16="http://schemas.microsoft.com/office/drawing/2014/main" id="{EA7918BB-90D4-47AC-A228-4C477A7D0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233488"/>
            <a:ext cx="9096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按照客户需要在一根原料钢管上安排切割的一种组合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如</a:t>
            </a:r>
            <a:r>
              <a:rPr lang="en-US" altLang="zh-CN" sz="2800" b="1">
                <a:latin typeface="宋体" panose="02010600030101010101" pitchFamily="2" charset="-122"/>
              </a:rPr>
              <a:t>:</a:t>
            </a:r>
            <a:r>
              <a:rPr lang="en-US" altLang="zh-CN" sz="2800" b="1"/>
              <a:t> 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3C9DBAF6-9EAF-4446-BDFF-F5B44980AF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876800" y="519113"/>
            <a:ext cx="1676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切割模式</a:t>
            </a:r>
            <a:endParaRPr lang="zh-CN" altLang="en-US" sz="28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CB3903A-EB1B-45F0-9C51-838D66A35A9F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995488"/>
            <a:ext cx="8534400" cy="990600"/>
            <a:chOff x="240" y="1152"/>
            <a:chExt cx="5376" cy="624"/>
          </a:xfrm>
        </p:grpSpPr>
        <p:sp>
          <p:nvSpPr>
            <p:cNvPr id="58391" name="Text Box 5">
              <a:extLst>
                <a:ext uri="{FF2B5EF4-FFF2-40B4-BE49-F238E27FC236}">
                  <a16:creationId xmlns:a16="http://schemas.microsoft.com/office/drawing/2014/main" id="{DFBAC37B-A126-4A57-8B0F-B5ACA9646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440"/>
              <a:ext cx="912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余料</a:t>
              </a:r>
              <a:r>
                <a:rPr lang="en-US" altLang="zh-CN" sz="2800" b="1">
                  <a:latin typeface="宋体" panose="02010600030101010101" pitchFamily="2" charset="-122"/>
                </a:rPr>
                <a:t>1</a:t>
              </a:r>
              <a:r>
                <a:rPr lang="en-US" altLang="zh-CN" sz="2800" b="1"/>
                <a:t>m</a:t>
              </a:r>
              <a:r>
                <a:rPr lang="zh-CN" altLang="en-US" sz="2800" b="1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58392" name="AutoShape 6">
              <a:extLst>
                <a:ext uri="{FF2B5EF4-FFF2-40B4-BE49-F238E27FC236}">
                  <a16:creationId xmlns:a16="http://schemas.microsoft.com/office/drawing/2014/main" id="{44D28DCF-7446-4B0E-B8D6-C6FA42111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296"/>
              <a:ext cx="4848" cy="4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393" name="Text Box 7">
              <a:extLst>
                <a:ext uri="{FF2B5EF4-FFF2-40B4-BE49-F238E27FC236}">
                  <a16:creationId xmlns:a16="http://schemas.microsoft.com/office/drawing/2014/main" id="{EF438E94-81F5-4B92-829E-E0E7B3965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440"/>
              <a:ext cx="816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 4m</a:t>
              </a:r>
              <a:endParaRPr lang="zh-CN" altLang="en-US" sz="2800" b="1"/>
            </a:p>
          </p:txBody>
        </p:sp>
        <p:sp>
          <p:nvSpPr>
            <p:cNvPr id="58394" name="Text Box 8">
              <a:extLst>
                <a:ext uri="{FF2B5EF4-FFF2-40B4-BE49-F238E27FC236}">
                  <a16:creationId xmlns:a16="http://schemas.microsoft.com/office/drawing/2014/main" id="{BF10705F-1C2A-4F3A-AF1F-B10761BB6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440"/>
              <a:ext cx="864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  6m</a:t>
              </a:r>
              <a:endParaRPr lang="zh-CN" altLang="en-US" sz="2800" b="1"/>
            </a:p>
          </p:txBody>
        </p:sp>
        <p:sp>
          <p:nvSpPr>
            <p:cNvPr id="58395" name="Text Box 9">
              <a:extLst>
                <a:ext uri="{FF2B5EF4-FFF2-40B4-BE49-F238E27FC236}">
                  <a16:creationId xmlns:a16="http://schemas.microsoft.com/office/drawing/2014/main" id="{CB1A08AB-E97F-4668-AED2-C38F2E7DF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449"/>
              <a:ext cx="864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 8m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58396" name="Line 10">
              <a:extLst>
                <a:ext uri="{FF2B5EF4-FFF2-40B4-BE49-F238E27FC236}">
                  <a16:creationId xmlns:a16="http://schemas.microsoft.com/office/drawing/2014/main" id="{B84FEE25-8A80-49D0-B073-014E34F2D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1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7" name="Line 11">
              <a:extLst>
                <a:ext uri="{FF2B5EF4-FFF2-40B4-BE49-F238E27FC236}">
                  <a16:creationId xmlns:a16="http://schemas.microsoft.com/office/drawing/2014/main" id="{6A6564D2-AE49-4369-9E1A-6CEE181F8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1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8" name="Line 12">
              <a:extLst>
                <a:ext uri="{FF2B5EF4-FFF2-40B4-BE49-F238E27FC236}">
                  <a16:creationId xmlns:a16="http://schemas.microsoft.com/office/drawing/2014/main" id="{3A9D5FEC-07BF-4EFF-8DD7-9E0E9FD75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1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AD0FA968-124E-487B-B59E-CE684ACDAE2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138488"/>
            <a:ext cx="8534400" cy="990600"/>
            <a:chOff x="240" y="1872"/>
            <a:chExt cx="5376" cy="624"/>
          </a:xfrm>
        </p:grpSpPr>
        <p:sp>
          <p:nvSpPr>
            <p:cNvPr id="58383" name="Text Box 14">
              <a:extLst>
                <a:ext uri="{FF2B5EF4-FFF2-40B4-BE49-F238E27FC236}">
                  <a16:creationId xmlns:a16="http://schemas.microsoft.com/office/drawing/2014/main" id="{9495EDEC-1162-4CFF-ABE9-B8B2024A9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160"/>
              <a:ext cx="912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余料</a:t>
              </a:r>
              <a:r>
                <a:rPr lang="en-US" altLang="zh-CN" sz="2800" b="1"/>
                <a:t>3m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58384" name="AutoShape 15">
              <a:extLst>
                <a:ext uri="{FF2B5EF4-FFF2-40B4-BE49-F238E27FC236}">
                  <a16:creationId xmlns:a16="http://schemas.microsoft.com/office/drawing/2014/main" id="{445A3A55-6B20-4373-AD8C-068E5DF5D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016"/>
              <a:ext cx="4848" cy="4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385" name="Text Box 16">
              <a:extLst>
                <a:ext uri="{FF2B5EF4-FFF2-40B4-BE49-F238E27FC236}">
                  <a16:creationId xmlns:a16="http://schemas.microsoft.com/office/drawing/2014/main" id="{29DF0D15-2789-4702-86FF-9871368C4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160"/>
              <a:ext cx="816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4m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58386" name="Text Box 17">
              <a:extLst>
                <a:ext uri="{FF2B5EF4-FFF2-40B4-BE49-F238E27FC236}">
                  <a16:creationId xmlns:a16="http://schemas.microsoft.com/office/drawing/2014/main" id="{E007F6BB-2D72-4E47-B958-43217D4A6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160"/>
              <a:ext cx="816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 6m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58387" name="Text Box 18">
              <a:extLst>
                <a:ext uri="{FF2B5EF4-FFF2-40B4-BE49-F238E27FC236}">
                  <a16:creationId xmlns:a16="http://schemas.microsoft.com/office/drawing/2014/main" id="{38531CD8-F5F2-436B-962E-6E14FDC9A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169"/>
              <a:ext cx="816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6m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58388" name="Line 19">
              <a:extLst>
                <a:ext uri="{FF2B5EF4-FFF2-40B4-BE49-F238E27FC236}">
                  <a16:creationId xmlns:a16="http://schemas.microsoft.com/office/drawing/2014/main" id="{B9BD70DB-EB72-4E6C-B9DF-8DDBBED08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87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Line 20">
              <a:extLst>
                <a:ext uri="{FF2B5EF4-FFF2-40B4-BE49-F238E27FC236}">
                  <a16:creationId xmlns:a16="http://schemas.microsoft.com/office/drawing/2014/main" id="{F52FDF3C-5246-45EB-931D-D939774A8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87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Line 21">
              <a:extLst>
                <a:ext uri="{FF2B5EF4-FFF2-40B4-BE49-F238E27FC236}">
                  <a16:creationId xmlns:a16="http://schemas.microsoft.com/office/drawing/2014/main" id="{30BCA793-ADE4-46DF-92CB-0547C72E8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87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774" name="Text Box 22">
            <a:extLst>
              <a:ext uri="{FF2B5EF4-FFF2-40B4-BE49-F238E27FC236}">
                <a16:creationId xmlns:a16="http://schemas.microsoft.com/office/drawing/2014/main" id="{C97B9616-BC17-43C5-83E3-56DA974C9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729288"/>
            <a:ext cx="845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合理切割模式</a:t>
            </a:r>
            <a:r>
              <a:rPr lang="zh-CN" altLang="en-US" sz="2800" b="1">
                <a:latin typeface="宋体" panose="02010600030101010101" pitchFamily="2" charset="-122"/>
              </a:rPr>
              <a:t>的余料应小于客户需要钢管的最小尺寸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A4EF9BC7-032F-4FA9-9140-2A4E3A7A2F8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357688"/>
            <a:ext cx="8534400" cy="976312"/>
            <a:chOff x="240" y="2640"/>
            <a:chExt cx="5376" cy="615"/>
          </a:xfrm>
        </p:grpSpPr>
        <p:sp>
          <p:nvSpPr>
            <p:cNvPr id="58377" name="Text Box 24">
              <a:extLst>
                <a:ext uri="{FF2B5EF4-FFF2-40B4-BE49-F238E27FC236}">
                  <a16:creationId xmlns:a16="http://schemas.microsoft.com/office/drawing/2014/main" id="{39772F0E-1A4D-411A-A114-FA5720674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928"/>
              <a:ext cx="912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余料</a:t>
              </a:r>
              <a:r>
                <a:rPr lang="en-US" altLang="zh-CN" sz="2800" b="1"/>
                <a:t>3m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58378" name="AutoShape 25">
              <a:extLst>
                <a:ext uri="{FF2B5EF4-FFF2-40B4-BE49-F238E27FC236}">
                  <a16:creationId xmlns:a16="http://schemas.microsoft.com/office/drawing/2014/main" id="{A9BF34C4-D6A2-4940-B531-8A0BB93B5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784"/>
              <a:ext cx="4848" cy="4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379" name="Text Box 26">
              <a:extLst>
                <a:ext uri="{FF2B5EF4-FFF2-40B4-BE49-F238E27FC236}">
                  <a16:creationId xmlns:a16="http://schemas.microsoft.com/office/drawing/2014/main" id="{E52BC127-A0E6-4E4D-91A4-6258C3791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928"/>
              <a:ext cx="816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8m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58380" name="Text Box 27">
              <a:extLst>
                <a:ext uri="{FF2B5EF4-FFF2-40B4-BE49-F238E27FC236}">
                  <a16:creationId xmlns:a16="http://schemas.microsoft.com/office/drawing/2014/main" id="{3D0195A0-6D17-4888-AE2D-8ACC47571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880"/>
              <a:ext cx="816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8m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58381" name="Line 28">
              <a:extLst>
                <a:ext uri="{FF2B5EF4-FFF2-40B4-BE49-F238E27FC236}">
                  <a16:creationId xmlns:a16="http://schemas.microsoft.com/office/drawing/2014/main" id="{ACD0906F-CD4E-4A3B-933D-A51604530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64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Line 29">
              <a:extLst>
                <a:ext uri="{FF2B5EF4-FFF2-40B4-BE49-F238E27FC236}">
                  <a16:creationId xmlns:a16="http://schemas.microsoft.com/office/drawing/2014/main" id="{E2166CE4-40E2-47D2-8E09-5AB3A44E2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64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376" name="Rectangle 30">
            <a:extLst>
              <a:ext uri="{FF2B5EF4-FFF2-40B4-BE49-F238E27FC236}">
                <a16:creationId xmlns:a16="http://schemas.microsoft.com/office/drawing/2014/main" id="{BFA145FC-AD0E-4C5B-861D-C2AD1D672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95288"/>
            <a:ext cx="27432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钢管下料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4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55" grpId="0"/>
      <p:bldP spid="7477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>
            <a:extLst>
              <a:ext uri="{FF2B5EF4-FFF2-40B4-BE49-F238E27FC236}">
                <a16:creationId xmlns:a16="http://schemas.microsoft.com/office/drawing/2014/main" id="{3CA88DFC-FD3E-43A8-B828-5686DCF9D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005263"/>
            <a:ext cx="8077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为满足客户需要，按照哪些种合理模式切割，每种模式切割多少根原料钢管，最为节省？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90E57982-D36B-40FD-80BD-D13F4C3A44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267200" y="381000"/>
            <a:ext cx="26670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合理切割模式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F6BD2912-DC3F-4D94-9055-6BCAB4A68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5824538"/>
            <a:ext cx="4751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2. </a:t>
            </a:r>
            <a:r>
              <a:rPr lang="zh-CN" altLang="en-US" sz="2800" b="1"/>
              <a:t>所用原料钢管</a:t>
            </a:r>
            <a:r>
              <a:rPr lang="zh-CN" altLang="en-US" sz="2800" b="1">
                <a:solidFill>
                  <a:srgbClr val="FF0000"/>
                </a:solidFill>
              </a:rPr>
              <a:t>总根数</a:t>
            </a:r>
            <a:r>
              <a:rPr lang="zh-CN" altLang="en-US" sz="2800" b="1"/>
              <a:t>最少 </a:t>
            </a:r>
            <a:r>
              <a:rPr lang="en-US" altLang="zh-CN" sz="2800" b="1"/>
              <a:t>.</a:t>
            </a:r>
          </a:p>
        </p:txBody>
      </p:sp>
      <p:grpSp>
        <p:nvGrpSpPr>
          <p:cNvPr id="2" name="Group 131">
            <a:extLst>
              <a:ext uri="{FF2B5EF4-FFF2-40B4-BE49-F238E27FC236}">
                <a16:creationId xmlns:a16="http://schemas.microsoft.com/office/drawing/2014/main" id="{338B7DA7-8F4B-450A-835F-51717CAAC4E1}"/>
              </a:ext>
            </a:extLst>
          </p:cNvPr>
          <p:cNvGrpSpPr>
            <a:grpSpLocks/>
          </p:cNvGrpSpPr>
          <p:nvPr/>
        </p:nvGrpSpPr>
        <p:grpSpPr bwMode="auto">
          <a:xfrm>
            <a:off x="144463" y="981075"/>
            <a:ext cx="8812212" cy="3055938"/>
            <a:chOff x="113" y="572"/>
            <a:chExt cx="5551" cy="1925"/>
          </a:xfrm>
        </p:grpSpPr>
        <p:grpSp>
          <p:nvGrpSpPr>
            <p:cNvPr id="59401" name="Group 7">
              <a:extLst>
                <a:ext uri="{FF2B5EF4-FFF2-40B4-BE49-F238E27FC236}">
                  <a16:creationId xmlns:a16="http://schemas.microsoft.com/office/drawing/2014/main" id="{B00623D7-B49A-4C99-8A89-0B117CC540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572"/>
              <a:ext cx="683" cy="246"/>
              <a:chOff x="0" y="0"/>
              <a:chExt cx="494" cy="384"/>
            </a:xfrm>
          </p:grpSpPr>
          <p:sp>
            <p:nvSpPr>
              <p:cNvPr id="59519" name="Rectangle 8">
                <a:extLst>
                  <a:ext uri="{FF2B5EF4-FFF2-40B4-BE49-F238E27FC236}">
                    <a16:creationId xmlns:a16="http://schemas.microsoft.com/office/drawing/2014/main" id="{6282320B-AEA6-4859-9B8E-800AA6065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0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模式 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20" name="Rectangle 9">
                <a:extLst>
                  <a:ext uri="{FF2B5EF4-FFF2-40B4-BE49-F238E27FC236}">
                    <a16:creationId xmlns:a16="http://schemas.microsoft.com/office/drawing/2014/main" id="{D291EE36-90A2-434C-92DD-04E5E4500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02" name="Group 10">
              <a:extLst>
                <a:ext uri="{FF2B5EF4-FFF2-40B4-BE49-F238E27FC236}">
                  <a16:creationId xmlns:a16="http://schemas.microsoft.com/office/drawing/2014/main" id="{5C33D136-3670-4100-8ADE-427D03F02A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" y="578"/>
              <a:ext cx="1286" cy="240"/>
              <a:chOff x="494" y="0"/>
              <a:chExt cx="721" cy="384"/>
            </a:xfrm>
          </p:grpSpPr>
          <p:sp>
            <p:nvSpPr>
              <p:cNvPr id="59517" name="Rectangle 11">
                <a:extLst>
                  <a:ext uri="{FF2B5EF4-FFF2-40B4-BE49-F238E27FC236}">
                    <a16:creationId xmlns:a16="http://schemas.microsoft.com/office/drawing/2014/main" id="{7D8E67A2-05D2-4186-9175-2C1EF8B22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4m</a:t>
                </a:r>
                <a:r>
                  <a:rPr lang="zh-CN" altLang="en-US" sz="2000" b="1"/>
                  <a:t>钢管根数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18" name="Rectangle 12">
                <a:extLst>
                  <a:ext uri="{FF2B5EF4-FFF2-40B4-BE49-F238E27FC236}">
                    <a16:creationId xmlns:a16="http://schemas.microsoft.com/office/drawing/2014/main" id="{B1242F30-D3DD-472C-9288-61BC96A1A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03" name="Group 13">
              <a:extLst>
                <a:ext uri="{FF2B5EF4-FFF2-40B4-BE49-F238E27FC236}">
                  <a16:creationId xmlns:a16="http://schemas.microsoft.com/office/drawing/2014/main" id="{CC3EB721-B7FE-48C3-A361-2C6A478171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2" y="578"/>
              <a:ext cx="1287" cy="240"/>
              <a:chOff x="1215" y="0"/>
              <a:chExt cx="721" cy="384"/>
            </a:xfrm>
          </p:grpSpPr>
          <p:sp>
            <p:nvSpPr>
              <p:cNvPr id="59515" name="Rectangle 14">
                <a:extLst>
                  <a:ext uri="{FF2B5EF4-FFF2-40B4-BE49-F238E27FC236}">
                    <a16:creationId xmlns:a16="http://schemas.microsoft.com/office/drawing/2014/main" id="{DC98C71C-CE91-46B4-BB25-E264705B7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6m</a:t>
                </a:r>
                <a:r>
                  <a:rPr lang="zh-CN" altLang="en-US" sz="2000" b="1"/>
                  <a:t>钢管根数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16" name="Rectangle 15">
                <a:extLst>
                  <a:ext uri="{FF2B5EF4-FFF2-40B4-BE49-F238E27FC236}">
                    <a16:creationId xmlns:a16="http://schemas.microsoft.com/office/drawing/2014/main" id="{23CFDC7D-B911-456B-B4FB-75F0BA454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04" name="Group 16">
              <a:extLst>
                <a:ext uri="{FF2B5EF4-FFF2-40B4-BE49-F238E27FC236}">
                  <a16:creationId xmlns:a16="http://schemas.microsoft.com/office/drawing/2014/main" id="{0AAED970-0F26-486A-B3CB-ACACE5FDF0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578"/>
              <a:ext cx="1287" cy="240"/>
              <a:chOff x="1936" y="0"/>
              <a:chExt cx="721" cy="384"/>
            </a:xfrm>
          </p:grpSpPr>
          <p:sp>
            <p:nvSpPr>
              <p:cNvPr id="59513" name="Rectangle 17">
                <a:extLst>
                  <a:ext uri="{FF2B5EF4-FFF2-40B4-BE49-F238E27FC236}">
                    <a16:creationId xmlns:a16="http://schemas.microsoft.com/office/drawing/2014/main" id="{E7BCB448-AA63-48B9-8773-7423F0D61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8m</a:t>
                </a:r>
                <a:r>
                  <a:rPr lang="zh-CN" altLang="en-US" sz="2000" b="1"/>
                  <a:t>钢管根数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14" name="Rectangle 18">
                <a:extLst>
                  <a:ext uri="{FF2B5EF4-FFF2-40B4-BE49-F238E27FC236}">
                    <a16:creationId xmlns:a16="http://schemas.microsoft.com/office/drawing/2014/main" id="{5567D356-6CD0-495E-BEF9-42A7113E3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05" name="Group 19">
              <a:extLst>
                <a:ext uri="{FF2B5EF4-FFF2-40B4-BE49-F238E27FC236}">
                  <a16:creationId xmlns:a16="http://schemas.microsoft.com/office/drawing/2014/main" id="{0366C3A6-13D7-47AA-BB87-366FC8453E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578"/>
              <a:ext cx="1008" cy="240"/>
              <a:chOff x="2657" y="0"/>
              <a:chExt cx="565" cy="384"/>
            </a:xfrm>
          </p:grpSpPr>
          <p:sp>
            <p:nvSpPr>
              <p:cNvPr id="59511" name="Rectangle 20">
                <a:extLst>
                  <a:ext uri="{FF2B5EF4-FFF2-40B4-BE49-F238E27FC236}">
                    <a16:creationId xmlns:a16="http://schemas.microsoft.com/office/drawing/2014/main" id="{71A6FDE7-76CE-4586-8C70-E89CC8E446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0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余料</a:t>
                </a:r>
                <a:r>
                  <a:rPr lang="en-US" altLang="zh-CN" sz="2000" b="1"/>
                  <a:t>(m)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12" name="Rectangle 21">
                <a:extLst>
                  <a:ext uri="{FF2B5EF4-FFF2-40B4-BE49-F238E27FC236}">
                    <a16:creationId xmlns:a16="http://schemas.microsoft.com/office/drawing/2014/main" id="{032548E7-DDC4-43C0-9E8F-A7B176534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0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06" name="Group 22">
              <a:extLst>
                <a:ext uri="{FF2B5EF4-FFF2-40B4-BE49-F238E27FC236}">
                  <a16:creationId xmlns:a16="http://schemas.microsoft.com/office/drawing/2014/main" id="{9E0048CF-73FF-4773-AFD2-21FA0A3B9C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812"/>
              <a:ext cx="683" cy="246"/>
              <a:chOff x="0" y="384"/>
              <a:chExt cx="494" cy="384"/>
            </a:xfrm>
          </p:grpSpPr>
          <p:sp>
            <p:nvSpPr>
              <p:cNvPr id="59509" name="Rectangle 23">
                <a:extLst>
                  <a:ext uri="{FF2B5EF4-FFF2-40B4-BE49-F238E27FC236}">
                    <a16:creationId xmlns:a16="http://schemas.microsoft.com/office/drawing/2014/main" id="{1FB51375-B7E4-4A6C-B24C-B7EFE849B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84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10" name="Rectangle 24">
                <a:extLst>
                  <a:ext uri="{FF2B5EF4-FFF2-40B4-BE49-F238E27FC236}">
                    <a16:creationId xmlns:a16="http://schemas.microsoft.com/office/drawing/2014/main" id="{08CB29F6-1269-4D5B-B06D-0A7DE3A0D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84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07" name="Group 25">
              <a:extLst>
                <a:ext uri="{FF2B5EF4-FFF2-40B4-BE49-F238E27FC236}">
                  <a16:creationId xmlns:a16="http://schemas.microsoft.com/office/drawing/2014/main" id="{4DCE931A-2812-4190-9A06-232B0EAD5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" y="818"/>
              <a:ext cx="1286" cy="240"/>
              <a:chOff x="494" y="384"/>
              <a:chExt cx="721" cy="384"/>
            </a:xfrm>
          </p:grpSpPr>
          <p:sp>
            <p:nvSpPr>
              <p:cNvPr id="59507" name="Rectangle 26">
                <a:extLst>
                  <a:ext uri="{FF2B5EF4-FFF2-40B4-BE49-F238E27FC236}">
                    <a16:creationId xmlns:a16="http://schemas.microsoft.com/office/drawing/2014/main" id="{4633CA38-623B-4244-8812-66E45EA94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38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08" name="Rectangle 27">
                <a:extLst>
                  <a:ext uri="{FF2B5EF4-FFF2-40B4-BE49-F238E27FC236}">
                    <a16:creationId xmlns:a16="http://schemas.microsoft.com/office/drawing/2014/main" id="{33BBD28D-2C67-47A3-9C4D-4050D141F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38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08" name="Group 28">
              <a:extLst>
                <a:ext uri="{FF2B5EF4-FFF2-40B4-BE49-F238E27FC236}">
                  <a16:creationId xmlns:a16="http://schemas.microsoft.com/office/drawing/2014/main" id="{671AD8B6-E79A-4974-9C00-11DC250B6E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2" y="818"/>
              <a:ext cx="1287" cy="240"/>
              <a:chOff x="1215" y="384"/>
              <a:chExt cx="721" cy="384"/>
            </a:xfrm>
          </p:grpSpPr>
          <p:sp>
            <p:nvSpPr>
              <p:cNvPr id="59505" name="Rectangle 29">
                <a:extLst>
                  <a:ext uri="{FF2B5EF4-FFF2-40B4-BE49-F238E27FC236}">
                    <a16:creationId xmlns:a16="http://schemas.microsoft.com/office/drawing/2014/main" id="{5FFE840C-7684-4BAC-BD7B-E456A4CF7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38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06" name="Rectangle 30">
                <a:extLst>
                  <a:ext uri="{FF2B5EF4-FFF2-40B4-BE49-F238E27FC236}">
                    <a16:creationId xmlns:a16="http://schemas.microsoft.com/office/drawing/2014/main" id="{8D60A99C-142F-4531-A231-D09267403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38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09" name="Group 31">
              <a:extLst>
                <a:ext uri="{FF2B5EF4-FFF2-40B4-BE49-F238E27FC236}">
                  <a16:creationId xmlns:a16="http://schemas.microsoft.com/office/drawing/2014/main" id="{E77D964A-BEF8-4D80-907B-C9629DBBA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818"/>
              <a:ext cx="1287" cy="240"/>
              <a:chOff x="1936" y="384"/>
              <a:chExt cx="721" cy="384"/>
            </a:xfrm>
          </p:grpSpPr>
          <p:sp>
            <p:nvSpPr>
              <p:cNvPr id="59503" name="Rectangle 32">
                <a:extLst>
                  <a:ext uri="{FF2B5EF4-FFF2-40B4-BE49-F238E27FC236}">
                    <a16:creationId xmlns:a16="http://schemas.microsoft.com/office/drawing/2014/main" id="{6A32EFDC-B788-4009-A3E1-5E5ABACAA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8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04" name="Rectangle 33">
                <a:extLst>
                  <a:ext uri="{FF2B5EF4-FFF2-40B4-BE49-F238E27FC236}">
                    <a16:creationId xmlns:a16="http://schemas.microsoft.com/office/drawing/2014/main" id="{6AEF7A3F-B37D-4A97-A119-067EA9049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38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0" name="Group 34">
              <a:extLst>
                <a:ext uri="{FF2B5EF4-FFF2-40B4-BE49-F238E27FC236}">
                  <a16:creationId xmlns:a16="http://schemas.microsoft.com/office/drawing/2014/main" id="{AC30FC77-D765-42B7-BD60-4246604A18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818"/>
              <a:ext cx="1008" cy="240"/>
              <a:chOff x="2657" y="384"/>
              <a:chExt cx="565" cy="384"/>
            </a:xfrm>
          </p:grpSpPr>
          <p:sp>
            <p:nvSpPr>
              <p:cNvPr id="59501" name="Rectangle 35">
                <a:extLst>
                  <a:ext uri="{FF2B5EF4-FFF2-40B4-BE49-F238E27FC236}">
                    <a16:creationId xmlns:a16="http://schemas.microsoft.com/office/drawing/2014/main" id="{B2D36A92-7EFD-4C0F-A3B2-82509717D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384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02" name="Rectangle 36">
                <a:extLst>
                  <a:ext uri="{FF2B5EF4-FFF2-40B4-BE49-F238E27FC236}">
                    <a16:creationId xmlns:a16="http://schemas.microsoft.com/office/drawing/2014/main" id="{4CEA130A-9E91-49CB-B004-032788FB8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384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1" name="Group 37">
              <a:extLst>
                <a:ext uri="{FF2B5EF4-FFF2-40B4-BE49-F238E27FC236}">
                  <a16:creationId xmlns:a16="http://schemas.microsoft.com/office/drawing/2014/main" id="{913BA7F9-D88A-4E20-9456-D1FAA1592B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1052"/>
              <a:ext cx="683" cy="246"/>
              <a:chOff x="0" y="768"/>
              <a:chExt cx="494" cy="384"/>
            </a:xfrm>
          </p:grpSpPr>
          <p:sp>
            <p:nvSpPr>
              <p:cNvPr id="59499" name="Rectangle 38">
                <a:extLst>
                  <a:ext uri="{FF2B5EF4-FFF2-40B4-BE49-F238E27FC236}">
                    <a16:creationId xmlns:a16="http://schemas.microsoft.com/office/drawing/2014/main" id="{99EF3240-1276-4C85-87AA-BAC282DAA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768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500" name="Rectangle 39">
                <a:extLst>
                  <a:ext uri="{FF2B5EF4-FFF2-40B4-BE49-F238E27FC236}">
                    <a16:creationId xmlns:a16="http://schemas.microsoft.com/office/drawing/2014/main" id="{E3F196EC-8D0A-4B29-AAD7-31FC9B031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68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2" name="Group 40">
              <a:extLst>
                <a:ext uri="{FF2B5EF4-FFF2-40B4-BE49-F238E27FC236}">
                  <a16:creationId xmlns:a16="http://schemas.microsoft.com/office/drawing/2014/main" id="{D781C287-5728-40F3-AE64-24615FC01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" y="1058"/>
              <a:ext cx="1286" cy="240"/>
              <a:chOff x="494" y="768"/>
              <a:chExt cx="721" cy="384"/>
            </a:xfrm>
          </p:grpSpPr>
          <p:sp>
            <p:nvSpPr>
              <p:cNvPr id="59497" name="Rectangle 41">
                <a:extLst>
                  <a:ext uri="{FF2B5EF4-FFF2-40B4-BE49-F238E27FC236}">
                    <a16:creationId xmlns:a16="http://schemas.microsoft.com/office/drawing/2014/main" id="{4BE8FCDD-E1A3-4680-835C-B569BE3D5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76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98" name="Rectangle 42">
                <a:extLst>
                  <a:ext uri="{FF2B5EF4-FFF2-40B4-BE49-F238E27FC236}">
                    <a16:creationId xmlns:a16="http://schemas.microsoft.com/office/drawing/2014/main" id="{8C1DD15E-16EE-4BDB-B067-9D09B9AB9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76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3" name="Group 43">
              <a:extLst>
                <a:ext uri="{FF2B5EF4-FFF2-40B4-BE49-F238E27FC236}">
                  <a16:creationId xmlns:a16="http://schemas.microsoft.com/office/drawing/2014/main" id="{A16A385E-3D35-4689-8331-6F92131A2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2" y="1058"/>
              <a:ext cx="1287" cy="240"/>
              <a:chOff x="1215" y="768"/>
              <a:chExt cx="721" cy="384"/>
            </a:xfrm>
          </p:grpSpPr>
          <p:sp>
            <p:nvSpPr>
              <p:cNvPr id="59495" name="Rectangle 44">
                <a:extLst>
                  <a:ext uri="{FF2B5EF4-FFF2-40B4-BE49-F238E27FC236}">
                    <a16:creationId xmlns:a16="http://schemas.microsoft.com/office/drawing/2014/main" id="{3F285E40-2A97-4350-922F-110C5055C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76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96" name="Rectangle 45">
                <a:extLst>
                  <a:ext uri="{FF2B5EF4-FFF2-40B4-BE49-F238E27FC236}">
                    <a16:creationId xmlns:a16="http://schemas.microsoft.com/office/drawing/2014/main" id="{8326EA8C-4476-4E75-AAC4-25CABC624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76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4" name="Group 46">
              <a:extLst>
                <a:ext uri="{FF2B5EF4-FFF2-40B4-BE49-F238E27FC236}">
                  <a16:creationId xmlns:a16="http://schemas.microsoft.com/office/drawing/2014/main" id="{4DB3CDF3-2ED2-423E-B96E-CB55B1B74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1058"/>
              <a:ext cx="1287" cy="240"/>
              <a:chOff x="1936" y="768"/>
              <a:chExt cx="721" cy="384"/>
            </a:xfrm>
          </p:grpSpPr>
          <p:sp>
            <p:nvSpPr>
              <p:cNvPr id="59493" name="Rectangle 47">
                <a:extLst>
                  <a:ext uri="{FF2B5EF4-FFF2-40B4-BE49-F238E27FC236}">
                    <a16:creationId xmlns:a16="http://schemas.microsoft.com/office/drawing/2014/main" id="{95A55FCD-9C12-48F8-8DA2-425263211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76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94" name="Rectangle 48">
                <a:extLst>
                  <a:ext uri="{FF2B5EF4-FFF2-40B4-BE49-F238E27FC236}">
                    <a16:creationId xmlns:a16="http://schemas.microsoft.com/office/drawing/2014/main" id="{4CD6787E-37FB-4131-97BE-38C4EAC6A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76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5" name="Group 49">
              <a:extLst>
                <a:ext uri="{FF2B5EF4-FFF2-40B4-BE49-F238E27FC236}">
                  <a16:creationId xmlns:a16="http://schemas.microsoft.com/office/drawing/2014/main" id="{D3E015EC-18AE-447E-BCD8-F89343B216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058"/>
              <a:ext cx="1008" cy="240"/>
              <a:chOff x="2657" y="768"/>
              <a:chExt cx="565" cy="384"/>
            </a:xfrm>
          </p:grpSpPr>
          <p:sp>
            <p:nvSpPr>
              <p:cNvPr id="59491" name="Rectangle 50">
                <a:extLst>
                  <a:ext uri="{FF2B5EF4-FFF2-40B4-BE49-F238E27FC236}">
                    <a16:creationId xmlns:a16="http://schemas.microsoft.com/office/drawing/2014/main" id="{D59BC953-127E-49AA-9D67-A0F37738A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768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92" name="Rectangle 51">
                <a:extLst>
                  <a:ext uri="{FF2B5EF4-FFF2-40B4-BE49-F238E27FC236}">
                    <a16:creationId xmlns:a16="http://schemas.microsoft.com/office/drawing/2014/main" id="{38E07A2C-8D68-4EE3-8053-7F0507216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768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6" name="Group 52">
              <a:extLst>
                <a:ext uri="{FF2B5EF4-FFF2-40B4-BE49-F238E27FC236}">
                  <a16:creationId xmlns:a16="http://schemas.microsoft.com/office/drawing/2014/main" id="{CA615523-8EA2-42AD-BE8D-8D42FDABF8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1292"/>
              <a:ext cx="683" cy="246"/>
              <a:chOff x="0" y="1152"/>
              <a:chExt cx="494" cy="384"/>
            </a:xfrm>
          </p:grpSpPr>
          <p:sp>
            <p:nvSpPr>
              <p:cNvPr id="59489" name="Rectangle 53">
                <a:extLst>
                  <a:ext uri="{FF2B5EF4-FFF2-40B4-BE49-F238E27FC236}">
                    <a16:creationId xmlns:a16="http://schemas.microsoft.com/office/drawing/2014/main" id="{23CE148E-907C-4E4D-BF2B-8B47FF264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152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90" name="Rectangle 54">
                <a:extLst>
                  <a:ext uri="{FF2B5EF4-FFF2-40B4-BE49-F238E27FC236}">
                    <a16:creationId xmlns:a16="http://schemas.microsoft.com/office/drawing/2014/main" id="{6B9478D1-2A26-4949-92D5-65B2D294F3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52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7" name="Group 55">
              <a:extLst>
                <a:ext uri="{FF2B5EF4-FFF2-40B4-BE49-F238E27FC236}">
                  <a16:creationId xmlns:a16="http://schemas.microsoft.com/office/drawing/2014/main" id="{2F904EDF-B755-4081-AB59-976C284868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" y="1298"/>
              <a:ext cx="1286" cy="240"/>
              <a:chOff x="494" y="1152"/>
              <a:chExt cx="721" cy="384"/>
            </a:xfrm>
          </p:grpSpPr>
          <p:sp>
            <p:nvSpPr>
              <p:cNvPr id="59487" name="Rectangle 56">
                <a:extLst>
                  <a:ext uri="{FF2B5EF4-FFF2-40B4-BE49-F238E27FC236}">
                    <a16:creationId xmlns:a16="http://schemas.microsoft.com/office/drawing/2014/main" id="{CE4554A8-DBD2-4160-833C-88E7E853B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152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88" name="Rectangle 57">
                <a:extLst>
                  <a:ext uri="{FF2B5EF4-FFF2-40B4-BE49-F238E27FC236}">
                    <a16:creationId xmlns:a16="http://schemas.microsoft.com/office/drawing/2014/main" id="{21763891-24A2-4B74-A7E5-283BF235D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1152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8" name="Group 58">
              <a:extLst>
                <a:ext uri="{FF2B5EF4-FFF2-40B4-BE49-F238E27FC236}">
                  <a16:creationId xmlns:a16="http://schemas.microsoft.com/office/drawing/2014/main" id="{1E07A600-8533-499E-8557-C99220A113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2" y="1298"/>
              <a:ext cx="1287" cy="240"/>
              <a:chOff x="1215" y="1152"/>
              <a:chExt cx="721" cy="384"/>
            </a:xfrm>
          </p:grpSpPr>
          <p:sp>
            <p:nvSpPr>
              <p:cNvPr id="59485" name="Rectangle 59">
                <a:extLst>
                  <a:ext uri="{FF2B5EF4-FFF2-40B4-BE49-F238E27FC236}">
                    <a16:creationId xmlns:a16="http://schemas.microsoft.com/office/drawing/2014/main" id="{76C6766F-6C8F-4093-8382-D4702C6D4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1152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86" name="Rectangle 60">
                <a:extLst>
                  <a:ext uri="{FF2B5EF4-FFF2-40B4-BE49-F238E27FC236}">
                    <a16:creationId xmlns:a16="http://schemas.microsoft.com/office/drawing/2014/main" id="{E428EBAA-7991-450A-9275-117CC0854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1152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19" name="Group 61">
              <a:extLst>
                <a:ext uri="{FF2B5EF4-FFF2-40B4-BE49-F238E27FC236}">
                  <a16:creationId xmlns:a16="http://schemas.microsoft.com/office/drawing/2014/main" id="{C27C52AA-9D60-49AE-9D7D-DDE11628CB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1298"/>
              <a:ext cx="1287" cy="240"/>
              <a:chOff x="1936" y="1152"/>
              <a:chExt cx="721" cy="384"/>
            </a:xfrm>
          </p:grpSpPr>
          <p:sp>
            <p:nvSpPr>
              <p:cNvPr id="59483" name="Rectangle 62">
                <a:extLst>
                  <a:ext uri="{FF2B5EF4-FFF2-40B4-BE49-F238E27FC236}">
                    <a16:creationId xmlns:a16="http://schemas.microsoft.com/office/drawing/2014/main" id="{A2FCFD3B-D3D4-4880-AC7A-B4665C683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152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84" name="Rectangle 63">
                <a:extLst>
                  <a:ext uri="{FF2B5EF4-FFF2-40B4-BE49-F238E27FC236}">
                    <a16:creationId xmlns:a16="http://schemas.microsoft.com/office/drawing/2014/main" id="{7C04F4EE-F940-4FD9-9E05-C1BE05DE9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1152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0" name="Group 64">
              <a:extLst>
                <a:ext uri="{FF2B5EF4-FFF2-40B4-BE49-F238E27FC236}">
                  <a16:creationId xmlns:a16="http://schemas.microsoft.com/office/drawing/2014/main" id="{779A7F6B-7037-41BD-BB64-2CE9488B70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298"/>
              <a:ext cx="1008" cy="240"/>
              <a:chOff x="2657" y="1152"/>
              <a:chExt cx="565" cy="384"/>
            </a:xfrm>
          </p:grpSpPr>
          <p:sp>
            <p:nvSpPr>
              <p:cNvPr id="59481" name="Rectangle 65">
                <a:extLst>
                  <a:ext uri="{FF2B5EF4-FFF2-40B4-BE49-F238E27FC236}">
                    <a16:creationId xmlns:a16="http://schemas.microsoft.com/office/drawing/2014/main" id="{B992EC5B-6FCD-4780-87B2-CB73F6B5E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152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82" name="Rectangle 66">
                <a:extLst>
                  <a:ext uri="{FF2B5EF4-FFF2-40B4-BE49-F238E27FC236}">
                    <a16:creationId xmlns:a16="http://schemas.microsoft.com/office/drawing/2014/main" id="{7AA6D656-BC19-42AF-AAF9-6929E1E68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1152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1" name="Group 67">
              <a:extLst>
                <a:ext uri="{FF2B5EF4-FFF2-40B4-BE49-F238E27FC236}">
                  <a16:creationId xmlns:a16="http://schemas.microsoft.com/office/drawing/2014/main" id="{6C3A73DA-5001-4F7C-B5A2-D3FBD13DC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1532"/>
              <a:ext cx="683" cy="245"/>
              <a:chOff x="0" y="1536"/>
              <a:chExt cx="494" cy="384"/>
            </a:xfrm>
          </p:grpSpPr>
          <p:sp>
            <p:nvSpPr>
              <p:cNvPr id="59479" name="Rectangle 68">
                <a:extLst>
                  <a:ext uri="{FF2B5EF4-FFF2-40B4-BE49-F238E27FC236}">
                    <a16:creationId xmlns:a16="http://schemas.microsoft.com/office/drawing/2014/main" id="{ACEB920D-4C9F-4842-93AC-3C0E27426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536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80" name="Rectangle 69">
                <a:extLst>
                  <a:ext uri="{FF2B5EF4-FFF2-40B4-BE49-F238E27FC236}">
                    <a16:creationId xmlns:a16="http://schemas.microsoft.com/office/drawing/2014/main" id="{58579364-6071-4D33-A91D-AA366903D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536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2" name="Group 70">
              <a:extLst>
                <a:ext uri="{FF2B5EF4-FFF2-40B4-BE49-F238E27FC236}">
                  <a16:creationId xmlns:a16="http://schemas.microsoft.com/office/drawing/2014/main" id="{E7EAC6A7-FBEA-44B6-AE97-36242A0A09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" y="1538"/>
              <a:ext cx="1286" cy="239"/>
              <a:chOff x="494" y="1536"/>
              <a:chExt cx="721" cy="384"/>
            </a:xfrm>
          </p:grpSpPr>
          <p:sp>
            <p:nvSpPr>
              <p:cNvPr id="59477" name="Rectangle 71">
                <a:extLst>
                  <a:ext uri="{FF2B5EF4-FFF2-40B4-BE49-F238E27FC236}">
                    <a16:creationId xmlns:a16="http://schemas.microsoft.com/office/drawing/2014/main" id="{4C34888F-1715-463A-8C1F-5F14DBC76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536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78" name="Rectangle 72">
                <a:extLst>
                  <a:ext uri="{FF2B5EF4-FFF2-40B4-BE49-F238E27FC236}">
                    <a16:creationId xmlns:a16="http://schemas.microsoft.com/office/drawing/2014/main" id="{B8C7E19F-2EE3-475D-9909-D9AEA67AD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1536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3" name="Group 73">
              <a:extLst>
                <a:ext uri="{FF2B5EF4-FFF2-40B4-BE49-F238E27FC236}">
                  <a16:creationId xmlns:a16="http://schemas.microsoft.com/office/drawing/2014/main" id="{96148C98-43FF-403E-B74A-23D8820110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2" y="1538"/>
              <a:ext cx="1287" cy="239"/>
              <a:chOff x="1215" y="1536"/>
              <a:chExt cx="721" cy="384"/>
            </a:xfrm>
          </p:grpSpPr>
          <p:sp>
            <p:nvSpPr>
              <p:cNvPr id="59475" name="Rectangle 74">
                <a:extLst>
                  <a:ext uri="{FF2B5EF4-FFF2-40B4-BE49-F238E27FC236}">
                    <a16:creationId xmlns:a16="http://schemas.microsoft.com/office/drawing/2014/main" id="{6C81BEFB-5935-4A76-8F3E-5C95A644E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1536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76" name="Rectangle 75">
                <a:extLst>
                  <a:ext uri="{FF2B5EF4-FFF2-40B4-BE49-F238E27FC236}">
                    <a16:creationId xmlns:a16="http://schemas.microsoft.com/office/drawing/2014/main" id="{8295782E-1F84-4F8B-9630-97FCE9124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1536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4" name="Group 76">
              <a:extLst>
                <a:ext uri="{FF2B5EF4-FFF2-40B4-BE49-F238E27FC236}">
                  <a16:creationId xmlns:a16="http://schemas.microsoft.com/office/drawing/2014/main" id="{922E93AE-33CC-411D-9C7F-AFF0471DE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1538"/>
              <a:ext cx="1287" cy="239"/>
              <a:chOff x="1936" y="1536"/>
              <a:chExt cx="721" cy="384"/>
            </a:xfrm>
          </p:grpSpPr>
          <p:sp>
            <p:nvSpPr>
              <p:cNvPr id="59473" name="Rectangle 77">
                <a:extLst>
                  <a:ext uri="{FF2B5EF4-FFF2-40B4-BE49-F238E27FC236}">
                    <a16:creationId xmlns:a16="http://schemas.microsoft.com/office/drawing/2014/main" id="{AA1DFA66-1E60-46C4-BB50-C215325E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36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74" name="Rectangle 78">
                <a:extLst>
                  <a:ext uri="{FF2B5EF4-FFF2-40B4-BE49-F238E27FC236}">
                    <a16:creationId xmlns:a16="http://schemas.microsoft.com/office/drawing/2014/main" id="{97123B6E-A72B-4298-8C90-0CB063AAA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1536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5" name="Group 79">
              <a:extLst>
                <a:ext uri="{FF2B5EF4-FFF2-40B4-BE49-F238E27FC236}">
                  <a16:creationId xmlns:a16="http://schemas.microsoft.com/office/drawing/2014/main" id="{ABDAF30F-6C3B-4256-A88E-3780015361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538"/>
              <a:ext cx="1008" cy="239"/>
              <a:chOff x="2657" y="1536"/>
              <a:chExt cx="565" cy="384"/>
            </a:xfrm>
          </p:grpSpPr>
          <p:sp>
            <p:nvSpPr>
              <p:cNvPr id="59471" name="Rectangle 80">
                <a:extLst>
                  <a:ext uri="{FF2B5EF4-FFF2-40B4-BE49-F238E27FC236}">
                    <a16:creationId xmlns:a16="http://schemas.microsoft.com/office/drawing/2014/main" id="{27C0761F-6CC7-4413-853B-86B32494C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536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72" name="Rectangle 81">
                <a:extLst>
                  <a:ext uri="{FF2B5EF4-FFF2-40B4-BE49-F238E27FC236}">
                    <a16:creationId xmlns:a16="http://schemas.microsoft.com/office/drawing/2014/main" id="{7FD859C5-A76A-496B-961D-4B2B24759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1536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6" name="Group 82">
              <a:extLst>
                <a:ext uri="{FF2B5EF4-FFF2-40B4-BE49-F238E27FC236}">
                  <a16:creationId xmlns:a16="http://schemas.microsoft.com/office/drawing/2014/main" id="{063CAD03-E670-410C-9AFE-2BC68DC3A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1771"/>
              <a:ext cx="683" cy="246"/>
              <a:chOff x="0" y="1920"/>
              <a:chExt cx="494" cy="384"/>
            </a:xfrm>
          </p:grpSpPr>
          <p:sp>
            <p:nvSpPr>
              <p:cNvPr id="59469" name="Rectangle 83">
                <a:extLst>
                  <a:ext uri="{FF2B5EF4-FFF2-40B4-BE49-F238E27FC236}">
                    <a16:creationId xmlns:a16="http://schemas.microsoft.com/office/drawing/2014/main" id="{E0B0B5D3-0456-44DB-8221-CB5FAF69C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920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5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70" name="Rectangle 84">
                <a:extLst>
                  <a:ext uri="{FF2B5EF4-FFF2-40B4-BE49-F238E27FC236}">
                    <a16:creationId xmlns:a16="http://schemas.microsoft.com/office/drawing/2014/main" id="{71C14379-4CBA-4AA9-A825-6F7F27B78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20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7" name="Group 85">
              <a:extLst>
                <a:ext uri="{FF2B5EF4-FFF2-40B4-BE49-F238E27FC236}">
                  <a16:creationId xmlns:a16="http://schemas.microsoft.com/office/drawing/2014/main" id="{9FD360B1-D88D-48EF-A5A3-BE7077C6C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" y="1777"/>
              <a:ext cx="1286" cy="240"/>
              <a:chOff x="494" y="1920"/>
              <a:chExt cx="721" cy="384"/>
            </a:xfrm>
          </p:grpSpPr>
          <p:sp>
            <p:nvSpPr>
              <p:cNvPr id="59467" name="Rectangle 86">
                <a:extLst>
                  <a:ext uri="{FF2B5EF4-FFF2-40B4-BE49-F238E27FC236}">
                    <a16:creationId xmlns:a16="http://schemas.microsoft.com/office/drawing/2014/main" id="{40932763-E458-42B7-98D4-3E6064C2E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92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68" name="Rectangle 87">
                <a:extLst>
                  <a:ext uri="{FF2B5EF4-FFF2-40B4-BE49-F238E27FC236}">
                    <a16:creationId xmlns:a16="http://schemas.microsoft.com/office/drawing/2014/main" id="{70EFBE01-2930-4880-BEE1-9379C3CCE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192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8" name="Group 88">
              <a:extLst>
                <a:ext uri="{FF2B5EF4-FFF2-40B4-BE49-F238E27FC236}">
                  <a16:creationId xmlns:a16="http://schemas.microsoft.com/office/drawing/2014/main" id="{48D1C33A-E944-436E-AB75-EE96BF7709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2" y="1777"/>
              <a:ext cx="1287" cy="240"/>
              <a:chOff x="1215" y="1920"/>
              <a:chExt cx="721" cy="384"/>
            </a:xfrm>
          </p:grpSpPr>
          <p:sp>
            <p:nvSpPr>
              <p:cNvPr id="59465" name="Rectangle 89">
                <a:extLst>
                  <a:ext uri="{FF2B5EF4-FFF2-40B4-BE49-F238E27FC236}">
                    <a16:creationId xmlns:a16="http://schemas.microsoft.com/office/drawing/2014/main" id="{E59E5530-1916-47C5-80C9-FDCA52B41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192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66" name="Rectangle 90">
                <a:extLst>
                  <a:ext uri="{FF2B5EF4-FFF2-40B4-BE49-F238E27FC236}">
                    <a16:creationId xmlns:a16="http://schemas.microsoft.com/office/drawing/2014/main" id="{22820993-C99A-4CFF-A697-157123595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192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29" name="Group 91">
              <a:extLst>
                <a:ext uri="{FF2B5EF4-FFF2-40B4-BE49-F238E27FC236}">
                  <a16:creationId xmlns:a16="http://schemas.microsoft.com/office/drawing/2014/main" id="{0A784668-37C4-4C6E-A4D6-25122B8111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1777"/>
              <a:ext cx="1287" cy="240"/>
              <a:chOff x="1936" y="1920"/>
              <a:chExt cx="721" cy="384"/>
            </a:xfrm>
          </p:grpSpPr>
          <p:sp>
            <p:nvSpPr>
              <p:cNvPr id="59463" name="Rectangle 92">
                <a:extLst>
                  <a:ext uri="{FF2B5EF4-FFF2-40B4-BE49-F238E27FC236}">
                    <a16:creationId xmlns:a16="http://schemas.microsoft.com/office/drawing/2014/main" id="{E25159E2-55F2-4585-8A5A-ADE689391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92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64" name="Rectangle 93">
                <a:extLst>
                  <a:ext uri="{FF2B5EF4-FFF2-40B4-BE49-F238E27FC236}">
                    <a16:creationId xmlns:a16="http://schemas.microsoft.com/office/drawing/2014/main" id="{57138802-3A03-4C9C-AB7D-3752EBFF9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192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0" name="Group 94">
              <a:extLst>
                <a:ext uri="{FF2B5EF4-FFF2-40B4-BE49-F238E27FC236}">
                  <a16:creationId xmlns:a16="http://schemas.microsoft.com/office/drawing/2014/main" id="{D9131EBC-BB1A-4E63-9BB9-C8AACD000A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777"/>
              <a:ext cx="1008" cy="240"/>
              <a:chOff x="2657" y="1920"/>
              <a:chExt cx="565" cy="384"/>
            </a:xfrm>
          </p:grpSpPr>
          <p:sp>
            <p:nvSpPr>
              <p:cNvPr id="59461" name="Rectangle 95">
                <a:extLst>
                  <a:ext uri="{FF2B5EF4-FFF2-40B4-BE49-F238E27FC236}">
                    <a16:creationId xmlns:a16="http://schemas.microsoft.com/office/drawing/2014/main" id="{2BC9B363-7478-4E1E-B42D-28AC4BD48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920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62" name="Rectangle 96">
                <a:extLst>
                  <a:ext uri="{FF2B5EF4-FFF2-40B4-BE49-F238E27FC236}">
                    <a16:creationId xmlns:a16="http://schemas.microsoft.com/office/drawing/2014/main" id="{6AC5615E-F0CB-4525-A5AB-3DCA312B1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1920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1" name="Group 97">
              <a:extLst>
                <a:ext uri="{FF2B5EF4-FFF2-40B4-BE49-F238E27FC236}">
                  <a16:creationId xmlns:a16="http://schemas.microsoft.com/office/drawing/2014/main" id="{1264FB83-6947-4725-9721-09CEB1E0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2011"/>
              <a:ext cx="683" cy="246"/>
              <a:chOff x="0" y="2304"/>
              <a:chExt cx="494" cy="384"/>
            </a:xfrm>
          </p:grpSpPr>
          <p:sp>
            <p:nvSpPr>
              <p:cNvPr id="59459" name="Rectangle 98">
                <a:extLst>
                  <a:ext uri="{FF2B5EF4-FFF2-40B4-BE49-F238E27FC236}">
                    <a16:creationId xmlns:a16="http://schemas.microsoft.com/office/drawing/2014/main" id="{C408B1BB-B875-4365-ABA6-8AA38CB97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304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6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60" name="Rectangle 99">
                <a:extLst>
                  <a:ext uri="{FF2B5EF4-FFF2-40B4-BE49-F238E27FC236}">
                    <a16:creationId xmlns:a16="http://schemas.microsoft.com/office/drawing/2014/main" id="{8109E156-E1D0-4773-9737-0CA263E88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304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2" name="Group 100">
              <a:extLst>
                <a:ext uri="{FF2B5EF4-FFF2-40B4-BE49-F238E27FC236}">
                  <a16:creationId xmlns:a16="http://schemas.microsoft.com/office/drawing/2014/main" id="{BE3FD4F3-DBEE-4E0C-A487-0C0A7A1D40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" y="2017"/>
              <a:ext cx="1286" cy="240"/>
              <a:chOff x="494" y="2304"/>
              <a:chExt cx="721" cy="384"/>
            </a:xfrm>
          </p:grpSpPr>
          <p:sp>
            <p:nvSpPr>
              <p:cNvPr id="59457" name="Rectangle 101">
                <a:extLst>
                  <a:ext uri="{FF2B5EF4-FFF2-40B4-BE49-F238E27FC236}">
                    <a16:creationId xmlns:a16="http://schemas.microsoft.com/office/drawing/2014/main" id="{4DAF724A-0B6E-426E-8F76-A322EE573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230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58" name="Rectangle 102">
                <a:extLst>
                  <a:ext uri="{FF2B5EF4-FFF2-40B4-BE49-F238E27FC236}">
                    <a16:creationId xmlns:a16="http://schemas.microsoft.com/office/drawing/2014/main" id="{80204D40-8359-4328-AEFD-B9E827BB6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230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3" name="Group 103">
              <a:extLst>
                <a:ext uri="{FF2B5EF4-FFF2-40B4-BE49-F238E27FC236}">
                  <a16:creationId xmlns:a16="http://schemas.microsoft.com/office/drawing/2014/main" id="{3B4268E6-F5E9-4087-8163-26C86320D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2" y="2017"/>
              <a:ext cx="1287" cy="240"/>
              <a:chOff x="1215" y="2304"/>
              <a:chExt cx="721" cy="384"/>
            </a:xfrm>
          </p:grpSpPr>
          <p:sp>
            <p:nvSpPr>
              <p:cNvPr id="59455" name="Rectangle 104">
                <a:extLst>
                  <a:ext uri="{FF2B5EF4-FFF2-40B4-BE49-F238E27FC236}">
                    <a16:creationId xmlns:a16="http://schemas.microsoft.com/office/drawing/2014/main" id="{50DACDAE-5248-4682-8D50-CDBA7457A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230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56" name="Rectangle 105">
                <a:extLst>
                  <a:ext uri="{FF2B5EF4-FFF2-40B4-BE49-F238E27FC236}">
                    <a16:creationId xmlns:a16="http://schemas.microsoft.com/office/drawing/2014/main" id="{09CC68B1-4CDA-4295-AEDC-1707B7855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230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4" name="Group 106">
              <a:extLst>
                <a:ext uri="{FF2B5EF4-FFF2-40B4-BE49-F238E27FC236}">
                  <a16:creationId xmlns:a16="http://schemas.microsoft.com/office/drawing/2014/main" id="{B6FD918A-524C-46DB-B51C-30D5B71370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2017"/>
              <a:ext cx="1287" cy="240"/>
              <a:chOff x="1936" y="2304"/>
              <a:chExt cx="721" cy="384"/>
            </a:xfrm>
          </p:grpSpPr>
          <p:sp>
            <p:nvSpPr>
              <p:cNvPr id="59453" name="Rectangle 107">
                <a:extLst>
                  <a:ext uri="{FF2B5EF4-FFF2-40B4-BE49-F238E27FC236}">
                    <a16:creationId xmlns:a16="http://schemas.microsoft.com/office/drawing/2014/main" id="{81E98290-B947-4712-9CEB-FF3913026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230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54" name="Rectangle 108">
                <a:extLst>
                  <a:ext uri="{FF2B5EF4-FFF2-40B4-BE49-F238E27FC236}">
                    <a16:creationId xmlns:a16="http://schemas.microsoft.com/office/drawing/2014/main" id="{341C09C6-4890-49E4-9FCF-2A84FD784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230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5" name="Group 109">
              <a:extLst>
                <a:ext uri="{FF2B5EF4-FFF2-40B4-BE49-F238E27FC236}">
                  <a16:creationId xmlns:a16="http://schemas.microsoft.com/office/drawing/2014/main" id="{137E16E2-D132-41AC-9C28-8061C2A44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017"/>
              <a:ext cx="1008" cy="240"/>
              <a:chOff x="2657" y="2304"/>
              <a:chExt cx="565" cy="384"/>
            </a:xfrm>
          </p:grpSpPr>
          <p:sp>
            <p:nvSpPr>
              <p:cNvPr id="59451" name="Rectangle 110">
                <a:extLst>
                  <a:ext uri="{FF2B5EF4-FFF2-40B4-BE49-F238E27FC236}">
                    <a16:creationId xmlns:a16="http://schemas.microsoft.com/office/drawing/2014/main" id="{BC8F4602-5A6E-4470-A8FC-18B59BB6E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2304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52" name="Rectangle 111">
                <a:extLst>
                  <a:ext uri="{FF2B5EF4-FFF2-40B4-BE49-F238E27FC236}">
                    <a16:creationId xmlns:a16="http://schemas.microsoft.com/office/drawing/2014/main" id="{8AE15B59-F709-4A54-AFE1-93D1EBEA7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2304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6" name="Group 112">
              <a:extLst>
                <a:ext uri="{FF2B5EF4-FFF2-40B4-BE49-F238E27FC236}">
                  <a16:creationId xmlns:a16="http://schemas.microsoft.com/office/drawing/2014/main" id="{7F00380F-160D-4D52-A2BF-26B04252BD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2251"/>
              <a:ext cx="683" cy="246"/>
              <a:chOff x="0" y="2688"/>
              <a:chExt cx="494" cy="384"/>
            </a:xfrm>
          </p:grpSpPr>
          <p:sp>
            <p:nvSpPr>
              <p:cNvPr id="59449" name="Rectangle 113">
                <a:extLst>
                  <a:ext uri="{FF2B5EF4-FFF2-40B4-BE49-F238E27FC236}">
                    <a16:creationId xmlns:a16="http://schemas.microsoft.com/office/drawing/2014/main" id="{654D598A-4C32-4F65-870B-EAF618A0B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688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7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50" name="Rectangle 114">
                <a:extLst>
                  <a:ext uri="{FF2B5EF4-FFF2-40B4-BE49-F238E27FC236}">
                    <a16:creationId xmlns:a16="http://schemas.microsoft.com/office/drawing/2014/main" id="{AD38A5AB-5DA6-4A5C-8641-BCEC50C45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88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7" name="Group 115">
              <a:extLst>
                <a:ext uri="{FF2B5EF4-FFF2-40B4-BE49-F238E27FC236}">
                  <a16:creationId xmlns:a16="http://schemas.microsoft.com/office/drawing/2014/main" id="{1F3CC086-3ED4-4B28-B541-52AA41603C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" y="2257"/>
              <a:ext cx="1286" cy="240"/>
              <a:chOff x="494" y="2688"/>
              <a:chExt cx="721" cy="384"/>
            </a:xfrm>
          </p:grpSpPr>
          <p:sp>
            <p:nvSpPr>
              <p:cNvPr id="59447" name="Rectangle 116">
                <a:extLst>
                  <a:ext uri="{FF2B5EF4-FFF2-40B4-BE49-F238E27FC236}">
                    <a16:creationId xmlns:a16="http://schemas.microsoft.com/office/drawing/2014/main" id="{DF6105FD-8EE3-43E5-A8DF-0DED621DD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48" name="Rectangle 117">
                <a:extLst>
                  <a:ext uri="{FF2B5EF4-FFF2-40B4-BE49-F238E27FC236}">
                    <a16:creationId xmlns:a16="http://schemas.microsoft.com/office/drawing/2014/main" id="{EC47F4A7-9F8C-4A0C-8675-4AFCB4208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8" name="Group 118">
              <a:extLst>
                <a:ext uri="{FF2B5EF4-FFF2-40B4-BE49-F238E27FC236}">
                  <a16:creationId xmlns:a16="http://schemas.microsoft.com/office/drawing/2014/main" id="{0317BA00-72C3-4D24-9A5F-AF638380B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2" y="2257"/>
              <a:ext cx="1287" cy="240"/>
              <a:chOff x="1215" y="2688"/>
              <a:chExt cx="721" cy="384"/>
            </a:xfrm>
          </p:grpSpPr>
          <p:sp>
            <p:nvSpPr>
              <p:cNvPr id="59445" name="Rectangle 119">
                <a:extLst>
                  <a:ext uri="{FF2B5EF4-FFF2-40B4-BE49-F238E27FC236}">
                    <a16:creationId xmlns:a16="http://schemas.microsoft.com/office/drawing/2014/main" id="{01E4FC66-C46C-42F0-B35E-66CFDC1F7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46" name="Rectangle 120">
                <a:extLst>
                  <a:ext uri="{FF2B5EF4-FFF2-40B4-BE49-F238E27FC236}">
                    <a16:creationId xmlns:a16="http://schemas.microsoft.com/office/drawing/2014/main" id="{5CC82A56-AC04-4D69-8B84-E056BE05A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39" name="Group 121">
              <a:extLst>
                <a:ext uri="{FF2B5EF4-FFF2-40B4-BE49-F238E27FC236}">
                  <a16:creationId xmlns:a16="http://schemas.microsoft.com/office/drawing/2014/main" id="{28BCA39F-1EB7-4EAA-B7DD-1E6642F2E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2257"/>
              <a:ext cx="1287" cy="240"/>
              <a:chOff x="1936" y="2688"/>
              <a:chExt cx="721" cy="384"/>
            </a:xfrm>
          </p:grpSpPr>
          <p:sp>
            <p:nvSpPr>
              <p:cNvPr id="59443" name="Rectangle 122">
                <a:extLst>
                  <a:ext uri="{FF2B5EF4-FFF2-40B4-BE49-F238E27FC236}">
                    <a16:creationId xmlns:a16="http://schemas.microsoft.com/office/drawing/2014/main" id="{D813DDF7-0B40-43E6-BA15-BE319AD24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44" name="Rectangle 123">
                <a:extLst>
                  <a:ext uri="{FF2B5EF4-FFF2-40B4-BE49-F238E27FC236}">
                    <a16:creationId xmlns:a16="http://schemas.microsoft.com/office/drawing/2014/main" id="{10690A78-06B9-40C9-950C-EC43505ED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59440" name="Group 124">
              <a:extLst>
                <a:ext uri="{FF2B5EF4-FFF2-40B4-BE49-F238E27FC236}">
                  <a16:creationId xmlns:a16="http://schemas.microsoft.com/office/drawing/2014/main" id="{A0674683-6519-4F63-9AF8-DEA3F03E9F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257"/>
              <a:ext cx="1008" cy="240"/>
              <a:chOff x="2657" y="2688"/>
              <a:chExt cx="565" cy="384"/>
            </a:xfrm>
          </p:grpSpPr>
          <p:sp>
            <p:nvSpPr>
              <p:cNvPr id="59441" name="Rectangle 125">
                <a:extLst>
                  <a:ext uri="{FF2B5EF4-FFF2-40B4-BE49-F238E27FC236}">
                    <a16:creationId xmlns:a16="http://schemas.microsoft.com/office/drawing/2014/main" id="{2132B981-AECB-4877-B6A1-A55C9B905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2688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59442" name="Rectangle 126">
                <a:extLst>
                  <a:ext uri="{FF2B5EF4-FFF2-40B4-BE49-F238E27FC236}">
                    <a16:creationId xmlns:a16="http://schemas.microsoft.com/office/drawing/2014/main" id="{F3965D18-83FD-4C10-8665-F8EF74AA9D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2688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59398" name="Rectangle 128">
            <a:extLst>
              <a:ext uri="{FF2B5EF4-FFF2-40B4-BE49-F238E27FC236}">
                <a16:creationId xmlns:a16="http://schemas.microsoft.com/office/drawing/2014/main" id="{AD8A775B-9D91-4451-8CA9-AD008C77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000"/>
            <a:ext cx="27432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钢管下料问题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 </a:t>
            </a:r>
          </a:p>
        </p:txBody>
      </p:sp>
      <p:sp>
        <p:nvSpPr>
          <p:cNvPr id="75905" name="Text Box 129">
            <a:extLst>
              <a:ext uri="{FF2B5EF4-FFF2-40B4-BE49-F238E27FC236}">
                <a16:creationId xmlns:a16="http://schemas.microsoft.com/office/drawing/2014/main" id="{F867C9BB-E392-4B10-8B4C-BB85566E7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300663"/>
            <a:ext cx="1654175" cy="1031875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节省的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两种标准</a:t>
            </a:r>
          </a:p>
        </p:txBody>
      </p:sp>
      <p:sp>
        <p:nvSpPr>
          <p:cNvPr id="75906" name="Text Box 130">
            <a:extLst>
              <a:ext uri="{FF2B5EF4-FFF2-40B4-BE49-F238E27FC236}">
                <a16:creationId xmlns:a16="http://schemas.microsoft.com/office/drawing/2014/main" id="{5ACDD4D8-3882-4400-83A3-A9168F8F4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5229225"/>
            <a:ext cx="467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1. </a:t>
            </a:r>
            <a:r>
              <a:rPr lang="zh-CN" altLang="en-US" sz="2800" b="1"/>
              <a:t>原料钢管剩余</a:t>
            </a:r>
            <a:r>
              <a:rPr lang="zh-CN" altLang="en-US" sz="2800" b="1">
                <a:solidFill>
                  <a:srgbClr val="FF0000"/>
                </a:solidFill>
              </a:rPr>
              <a:t>总余量</a:t>
            </a:r>
            <a:r>
              <a:rPr lang="zh-CN" altLang="en-US" sz="2800" b="1"/>
              <a:t>最小 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7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nimBg="1" autoUpdateAnimBg="0"/>
      <p:bldP spid="75779" grpId="0"/>
      <p:bldP spid="75780" grpId="0" animBg="1" autoUpdateAnimBg="0"/>
      <p:bldP spid="75905" grpId="0" animBg="1" autoUpdateAnimBg="0"/>
      <p:bldP spid="75906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extLst>
              <a:ext uri="{FF2B5EF4-FFF2-40B4-BE49-F238E27FC236}">
                <a16:creationId xmlns:a16="http://schemas.microsoft.com/office/drawing/2014/main" id="{D1B263A8-5D4F-44ED-B218-3F4625AE2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6250"/>
            <a:ext cx="729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30000"/>
              <a:t>i </a:t>
            </a:r>
            <a:r>
              <a:rPr lang="en-US" altLang="zh-CN" sz="2800" b="1"/>
              <a:t>~</a:t>
            </a:r>
            <a:r>
              <a:rPr lang="zh-CN" altLang="en-US" sz="2800" b="1">
                <a:latin typeface="宋体" panose="02010600030101010101" pitchFamily="2" charset="-122"/>
              </a:rPr>
              <a:t>按第</a:t>
            </a:r>
            <a:r>
              <a:rPr lang="en-US" altLang="zh-CN" sz="2800" b="1" i="1"/>
              <a:t>i </a:t>
            </a:r>
            <a:r>
              <a:rPr lang="zh-CN" altLang="en-US" sz="2800" b="1">
                <a:latin typeface="宋体" panose="02010600030101010101" pitchFamily="2" charset="-122"/>
              </a:rPr>
              <a:t>种模式切割的原料钢管根数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 i="1"/>
              <a:t>i</a:t>
            </a:r>
            <a:r>
              <a:rPr lang="en-US" altLang="zh-CN" sz="2800" b="1">
                <a:latin typeface="宋体" panose="02010600030101010101" pitchFamily="2" charset="-122"/>
              </a:rPr>
              <a:t>=</a:t>
            </a:r>
            <a:r>
              <a:rPr lang="en-US" altLang="zh-CN" sz="2800" b="1"/>
              <a:t>1,…,7</a:t>
            </a:r>
            <a:r>
              <a:rPr lang="en-US" altLang="zh-CN" sz="2800" b="1">
                <a:latin typeface="宋体" panose="02010600030101010101" pitchFamily="2" charset="-122"/>
              </a:rPr>
              <a:t>) </a:t>
            </a:r>
          </a:p>
        </p:txBody>
      </p:sp>
      <p:sp>
        <p:nvSpPr>
          <p:cNvPr id="76803" name="Text Box 3">
            <a:extLst>
              <a:ext uri="{FF2B5EF4-FFF2-40B4-BE49-F238E27FC236}">
                <a16:creationId xmlns:a16="http://schemas.microsoft.com/office/drawing/2014/main" id="{6499C7B7-7CDC-4C75-9145-A9D81503C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557338"/>
            <a:ext cx="9144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约束</a:t>
            </a:r>
            <a:endParaRPr lang="zh-CN" altLang="en-US" sz="2800" b="1"/>
          </a:p>
        </p:txBody>
      </p:sp>
      <p:sp>
        <p:nvSpPr>
          <p:cNvPr id="76804" name="Text Box 4">
            <a:extLst>
              <a:ext uri="{FF2B5EF4-FFF2-40B4-BE49-F238E27FC236}">
                <a16:creationId xmlns:a16="http://schemas.microsoft.com/office/drawing/2014/main" id="{68E387D6-5D67-47AF-BD02-D4E64AB03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557338"/>
            <a:ext cx="17526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满足需求 </a:t>
            </a:r>
          </a:p>
        </p:txBody>
      </p:sp>
      <p:sp>
        <p:nvSpPr>
          <p:cNvPr id="60421" name="Text Box 5">
            <a:extLst>
              <a:ext uri="{FF2B5EF4-FFF2-40B4-BE49-F238E27FC236}">
                <a16:creationId xmlns:a16="http://schemas.microsoft.com/office/drawing/2014/main" id="{D2AC3E87-847E-4E74-9BCC-D78B60F6D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76250"/>
            <a:ext cx="165576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决策变量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76806" name="Text Box 6">
            <a:extLst>
              <a:ext uri="{FF2B5EF4-FFF2-40B4-BE49-F238E27FC236}">
                <a16:creationId xmlns:a16="http://schemas.microsoft.com/office/drawing/2014/main" id="{79BB67CE-A106-4A00-99E9-11EE5CE7F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020763"/>
            <a:ext cx="2982913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目标</a:t>
            </a:r>
            <a:r>
              <a:rPr lang="en-US" altLang="zh-CN" sz="2800" b="1"/>
              <a:t>1</a:t>
            </a:r>
            <a:r>
              <a:rPr lang="zh-CN" altLang="en-US" sz="2800" b="1"/>
              <a:t>（总余量）</a:t>
            </a:r>
          </a:p>
        </p:txBody>
      </p:sp>
      <p:graphicFrame>
        <p:nvGraphicFramePr>
          <p:cNvPr id="76807" name="Object 7">
            <a:extLst>
              <a:ext uri="{FF2B5EF4-FFF2-40B4-BE49-F238E27FC236}">
                <a16:creationId xmlns:a16="http://schemas.microsoft.com/office/drawing/2014/main" id="{39894BE1-A9F9-43F9-909F-F5BF0CBEBE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5625" y="981075"/>
          <a:ext cx="58118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0" name="公式" r:id="rId3" imgW="2667000" imgH="228600" progId="Equation.3">
                  <p:embed/>
                </p:oleObj>
              </mc:Choice>
              <mc:Fallback>
                <p:oleObj name="公式" r:id="rId3" imgW="2667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981075"/>
                        <a:ext cx="58118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>
            <a:extLst>
              <a:ext uri="{FF2B5EF4-FFF2-40B4-BE49-F238E27FC236}">
                <a16:creationId xmlns:a16="http://schemas.microsoft.com/office/drawing/2014/main" id="{0089C607-8FB0-4A95-B75E-71D0E82169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3588" y="2124075"/>
          <a:ext cx="3886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1" r:id="rId5" imgW="1879600" imgH="228600" progId="Equation.3">
                  <p:embed/>
                </p:oleObj>
              </mc:Choice>
              <mc:Fallback>
                <p:oleObj r:id="rId5" imgW="1879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2124075"/>
                        <a:ext cx="3886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9">
            <a:extLst>
              <a:ext uri="{FF2B5EF4-FFF2-40B4-BE49-F238E27FC236}">
                <a16:creationId xmlns:a16="http://schemas.microsoft.com/office/drawing/2014/main" id="{8FE64EDA-C08E-4752-BED4-472C0ACC9D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3588" y="2624138"/>
          <a:ext cx="3429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2" r:id="rId7" imgW="1524000" imgH="228600" progId="Equation.3">
                  <p:embed/>
                </p:oleObj>
              </mc:Choice>
              <mc:Fallback>
                <p:oleObj r:id="rId7" imgW="15240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2624138"/>
                        <a:ext cx="34290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0" name="Object 10">
            <a:extLst>
              <a:ext uri="{FF2B5EF4-FFF2-40B4-BE49-F238E27FC236}">
                <a16:creationId xmlns:a16="http://schemas.microsoft.com/office/drawing/2014/main" id="{E2CF0778-8832-4D03-B698-05947100D9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3588" y="3063875"/>
          <a:ext cx="2667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3" r:id="rId9" imgW="1143000" imgH="228600" progId="Equation.3">
                  <p:embed/>
                </p:oleObj>
              </mc:Choice>
              <mc:Fallback>
                <p:oleObj r:id="rId9" imgW="1143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3063875"/>
                        <a:ext cx="2667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1" name="Text Box 11">
            <a:extLst>
              <a:ext uri="{FF2B5EF4-FFF2-40B4-BE49-F238E27FC236}">
                <a16:creationId xmlns:a16="http://schemas.microsoft.com/office/drawing/2014/main" id="{66352379-37E9-48A4-A085-737B1461E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805488"/>
            <a:ext cx="8713788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按模式</a:t>
            </a:r>
            <a:r>
              <a:rPr lang="en-US" altLang="zh-CN" sz="2800" b="1"/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切割</a:t>
            </a:r>
            <a:r>
              <a:rPr lang="en-US" altLang="zh-CN" sz="2800" b="1"/>
              <a:t>12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按模式</a:t>
            </a:r>
            <a:r>
              <a:rPr lang="en-US" altLang="zh-CN" sz="2800" b="1"/>
              <a:t>5</a:t>
            </a:r>
            <a:r>
              <a:rPr lang="zh-CN" altLang="en-US" sz="2800" b="1">
                <a:latin typeface="宋体" panose="02010600030101010101" pitchFamily="2" charset="-122"/>
              </a:rPr>
              <a:t>切割</a:t>
            </a:r>
            <a:r>
              <a:rPr lang="en-US" altLang="zh-CN" sz="2800" b="1"/>
              <a:t>15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共</a:t>
            </a:r>
            <a:r>
              <a:rPr lang="en-US" altLang="zh-CN" sz="2800" b="1">
                <a:latin typeface="宋体" panose="02010600030101010101" pitchFamily="2" charset="-122"/>
              </a:rPr>
              <a:t>27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余料</a:t>
            </a:r>
            <a:r>
              <a:rPr lang="en-US" altLang="zh-CN" sz="2800" b="1"/>
              <a:t>27m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en-US" altLang="zh-CN" sz="2800" b="1"/>
              <a:t> 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5D911424-F3B5-4B43-A049-16C108946ABC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557338"/>
            <a:ext cx="3887788" cy="4038600"/>
            <a:chOff x="288" y="672"/>
            <a:chExt cx="2496" cy="2544"/>
          </a:xfrm>
        </p:grpSpPr>
        <p:grpSp>
          <p:nvGrpSpPr>
            <p:cNvPr id="60431" name="Group 13">
              <a:extLst>
                <a:ext uri="{FF2B5EF4-FFF2-40B4-BE49-F238E27FC236}">
                  <a16:creationId xmlns:a16="http://schemas.microsoft.com/office/drawing/2014/main" id="{2B5F3B57-CC60-4612-912A-881A36EF0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672"/>
              <a:ext cx="418" cy="433"/>
              <a:chOff x="0" y="0"/>
              <a:chExt cx="494" cy="384"/>
            </a:xfrm>
          </p:grpSpPr>
          <p:sp>
            <p:nvSpPr>
              <p:cNvPr id="60564" name="Rectangle 14">
                <a:extLst>
                  <a:ext uri="{FF2B5EF4-FFF2-40B4-BE49-F238E27FC236}">
                    <a16:creationId xmlns:a16="http://schemas.microsoft.com/office/drawing/2014/main" id="{1DC1580B-BE41-47A7-A7A2-0B6E12D5E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0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模</a:t>
                </a:r>
              </a:p>
              <a:p>
                <a:pPr algn="ctr" eaLnBrk="1" hangingPunct="1"/>
                <a:r>
                  <a:rPr lang="zh-CN" altLang="en-US" sz="2000" b="1"/>
                  <a:t>式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65" name="Rectangle 15">
                <a:extLst>
                  <a:ext uri="{FF2B5EF4-FFF2-40B4-BE49-F238E27FC236}">
                    <a16:creationId xmlns:a16="http://schemas.microsoft.com/office/drawing/2014/main" id="{0A860246-0403-42D7-84E1-95176F833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32" name="Group 16">
              <a:extLst>
                <a:ext uri="{FF2B5EF4-FFF2-40B4-BE49-F238E27FC236}">
                  <a16:creationId xmlns:a16="http://schemas.microsoft.com/office/drawing/2014/main" id="{F04FECCA-670C-4F55-8BD4-3DA62F16A8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672"/>
              <a:ext cx="542" cy="433"/>
              <a:chOff x="494" y="0"/>
              <a:chExt cx="721" cy="384"/>
            </a:xfrm>
          </p:grpSpPr>
          <p:sp>
            <p:nvSpPr>
              <p:cNvPr id="60562" name="Rectangle 17">
                <a:extLst>
                  <a:ext uri="{FF2B5EF4-FFF2-40B4-BE49-F238E27FC236}">
                    <a16:creationId xmlns:a16="http://schemas.microsoft.com/office/drawing/2014/main" id="{141E68E7-72A7-4121-9638-68DFE8EDB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4m</a:t>
                </a:r>
                <a:endParaRPr lang="zh-CN" altLang="en-US" sz="2000" b="1"/>
              </a:p>
              <a:p>
                <a:pPr algn="ctr" eaLnBrk="1" hangingPunct="1"/>
                <a:r>
                  <a:rPr lang="zh-CN" altLang="en-US" sz="2000" b="1"/>
                  <a:t>根数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63" name="Rectangle 18">
                <a:extLst>
                  <a:ext uri="{FF2B5EF4-FFF2-40B4-BE49-F238E27FC236}">
                    <a16:creationId xmlns:a16="http://schemas.microsoft.com/office/drawing/2014/main" id="{38640292-4A4C-4259-A870-60622AA5E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33" name="Group 19">
              <a:extLst>
                <a:ext uri="{FF2B5EF4-FFF2-40B4-BE49-F238E27FC236}">
                  <a16:creationId xmlns:a16="http://schemas.microsoft.com/office/drawing/2014/main" id="{2119EAA6-EDE7-4D05-9A50-A58CCDC904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672"/>
              <a:ext cx="576" cy="433"/>
              <a:chOff x="1215" y="0"/>
              <a:chExt cx="721" cy="384"/>
            </a:xfrm>
          </p:grpSpPr>
          <p:sp>
            <p:nvSpPr>
              <p:cNvPr id="60560" name="Rectangle 20">
                <a:extLst>
                  <a:ext uri="{FF2B5EF4-FFF2-40B4-BE49-F238E27FC236}">
                    <a16:creationId xmlns:a16="http://schemas.microsoft.com/office/drawing/2014/main" id="{149CB1D1-2813-4222-B98F-DBD5CD29D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6m</a:t>
                </a:r>
                <a:endParaRPr lang="zh-CN" altLang="en-US" sz="2000" b="1"/>
              </a:p>
              <a:p>
                <a:pPr algn="ctr" eaLnBrk="1" hangingPunct="1"/>
                <a:r>
                  <a:rPr lang="zh-CN" altLang="en-US" sz="2000" b="1"/>
                  <a:t>根数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61" name="Rectangle 21">
                <a:extLst>
                  <a:ext uri="{FF2B5EF4-FFF2-40B4-BE49-F238E27FC236}">
                    <a16:creationId xmlns:a16="http://schemas.microsoft.com/office/drawing/2014/main" id="{D66F4F66-B7FD-4E26-B9D7-8565BF475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34" name="Group 22">
              <a:extLst>
                <a:ext uri="{FF2B5EF4-FFF2-40B4-BE49-F238E27FC236}">
                  <a16:creationId xmlns:a16="http://schemas.microsoft.com/office/drawing/2014/main" id="{6A3F793B-3366-4E25-A92B-CCCA48221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672"/>
              <a:ext cx="528" cy="433"/>
              <a:chOff x="1936" y="0"/>
              <a:chExt cx="721" cy="384"/>
            </a:xfrm>
          </p:grpSpPr>
          <p:sp>
            <p:nvSpPr>
              <p:cNvPr id="60558" name="Rectangle 23">
                <a:extLst>
                  <a:ext uri="{FF2B5EF4-FFF2-40B4-BE49-F238E27FC236}">
                    <a16:creationId xmlns:a16="http://schemas.microsoft.com/office/drawing/2014/main" id="{A625FE98-A0AC-4017-AF99-4D8FE9B4F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8m</a:t>
                </a:r>
                <a:endParaRPr lang="zh-CN" altLang="en-US" sz="2000" b="1"/>
              </a:p>
              <a:p>
                <a:pPr algn="ctr" eaLnBrk="1" hangingPunct="1"/>
                <a:r>
                  <a:rPr lang="zh-CN" altLang="en-US" sz="2000" b="1"/>
                  <a:t>根数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59" name="Rectangle 24">
                <a:extLst>
                  <a:ext uri="{FF2B5EF4-FFF2-40B4-BE49-F238E27FC236}">
                    <a16:creationId xmlns:a16="http://schemas.microsoft.com/office/drawing/2014/main" id="{EEB6AB92-CCA9-4D85-BA5E-7050EC7A1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35" name="Group 25">
              <a:extLst>
                <a:ext uri="{FF2B5EF4-FFF2-40B4-BE49-F238E27FC236}">
                  <a16:creationId xmlns:a16="http://schemas.microsoft.com/office/drawing/2014/main" id="{FF4A554D-777D-4618-B9AF-F6E62B459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672"/>
              <a:ext cx="432" cy="433"/>
              <a:chOff x="2657" y="0"/>
              <a:chExt cx="565" cy="384"/>
            </a:xfrm>
          </p:grpSpPr>
          <p:sp>
            <p:nvSpPr>
              <p:cNvPr id="60556" name="Rectangle 26">
                <a:extLst>
                  <a:ext uri="{FF2B5EF4-FFF2-40B4-BE49-F238E27FC236}">
                    <a16:creationId xmlns:a16="http://schemas.microsoft.com/office/drawing/2014/main" id="{301D8ACB-5701-4D54-82DF-F68597699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0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余</a:t>
                </a:r>
              </a:p>
              <a:p>
                <a:pPr algn="ctr" eaLnBrk="1" hangingPunct="1"/>
                <a:r>
                  <a:rPr lang="zh-CN" altLang="en-US" sz="2000" b="1"/>
                  <a:t>料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57" name="Rectangle 27">
                <a:extLst>
                  <a:ext uri="{FF2B5EF4-FFF2-40B4-BE49-F238E27FC236}">
                    <a16:creationId xmlns:a16="http://schemas.microsoft.com/office/drawing/2014/main" id="{7454CE9D-E052-41A0-8EC7-A06FB633E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0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36" name="Group 28">
              <a:extLst>
                <a:ext uri="{FF2B5EF4-FFF2-40B4-BE49-F238E27FC236}">
                  <a16:creationId xmlns:a16="http://schemas.microsoft.com/office/drawing/2014/main" id="{B3F67F36-3D16-4D14-9018-807A98C38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103"/>
              <a:ext cx="418" cy="242"/>
              <a:chOff x="0" y="384"/>
              <a:chExt cx="494" cy="384"/>
            </a:xfrm>
          </p:grpSpPr>
          <p:sp>
            <p:nvSpPr>
              <p:cNvPr id="60554" name="Rectangle 29">
                <a:extLst>
                  <a:ext uri="{FF2B5EF4-FFF2-40B4-BE49-F238E27FC236}">
                    <a16:creationId xmlns:a16="http://schemas.microsoft.com/office/drawing/2014/main" id="{94FB1EA2-28AE-48CF-8573-E7D84ECF0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84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55" name="Rectangle 30">
                <a:extLst>
                  <a:ext uri="{FF2B5EF4-FFF2-40B4-BE49-F238E27FC236}">
                    <a16:creationId xmlns:a16="http://schemas.microsoft.com/office/drawing/2014/main" id="{EA762525-7FF5-46F0-B744-05D6770F9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84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37" name="Group 31">
              <a:extLst>
                <a:ext uri="{FF2B5EF4-FFF2-40B4-BE49-F238E27FC236}">
                  <a16:creationId xmlns:a16="http://schemas.microsoft.com/office/drawing/2014/main" id="{1A26023B-A5EC-4584-A3DE-83A2D520F4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1103"/>
              <a:ext cx="542" cy="242"/>
              <a:chOff x="494" y="384"/>
              <a:chExt cx="721" cy="384"/>
            </a:xfrm>
          </p:grpSpPr>
          <p:sp>
            <p:nvSpPr>
              <p:cNvPr id="60552" name="Rectangle 32">
                <a:extLst>
                  <a:ext uri="{FF2B5EF4-FFF2-40B4-BE49-F238E27FC236}">
                    <a16:creationId xmlns:a16="http://schemas.microsoft.com/office/drawing/2014/main" id="{D56F6E08-C63A-477A-961C-FD80E3C0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38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53" name="Rectangle 33">
                <a:extLst>
                  <a:ext uri="{FF2B5EF4-FFF2-40B4-BE49-F238E27FC236}">
                    <a16:creationId xmlns:a16="http://schemas.microsoft.com/office/drawing/2014/main" id="{C5BAA03D-6A91-40B8-8EA4-EF41EEEC2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38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38" name="Group 34">
              <a:extLst>
                <a:ext uri="{FF2B5EF4-FFF2-40B4-BE49-F238E27FC236}">
                  <a16:creationId xmlns:a16="http://schemas.microsoft.com/office/drawing/2014/main" id="{69E899B5-5B8B-452D-A0D4-25FA314C20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103"/>
              <a:ext cx="576" cy="242"/>
              <a:chOff x="1215" y="384"/>
              <a:chExt cx="721" cy="384"/>
            </a:xfrm>
          </p:grpSpPr>
          <p:sp>
            <p:nvSpPr>
              <p:cNvPr id="60550" name="Rectangle 35">
                <a:extLst>
                  <a:ext uri="{FF2B5EF4-FFF2-40B4-BE49-F238E27FC236}">
                    <a16:creationId xmlns:a16="http://schemas.microsoft.com/office/drawing/2014/main" id="{5A9387F5-D347-4AA5-A7A7-BBEAEE8D0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38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51" name="Rectangle 36">
                <a:extLst>
                  <a:ext uri="{FF2B5EF4-FFF2-40B4-BE49-F238E27FC236}">
                    <a16:creationId xmlns:a16="http://schemas.microsoft.com/office/drawing/2014/main" id="{3A14FEEA-F148-4A2D-984E-12BAE7AE91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38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39" name="Group 37">
              <a:extLst>
                <a:ext uri="{FF2B5EF4-FFF2-40B4-BE49-F238E27FC236}">
                  <a16:creationId xmlns:a16="http://schemas.microsoft.com/office/drawing/2014/main" id="{8760E035-DC96-4AE7-9494-353A76E73D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1103"/>
              <a:ext cx="528" cy="242"/>
              <a:chOff x="1936" y="384"/>
              <a:chExt cx="721" cy="384"/>
            </a:xfrm>
          </p:grpSpPr>
          <p:sp>
            <p:nvSpPr>
              <p:cNvPr id="60548" name="Rectangle 38">
                <a:extLst>
                  <a:ext uri="{FF2B5EF4-FFF2-40B4-BE49-F238E27FC236}">
                    <a16:creationId xmlns:a16="http://schemas.microsoft.com/office/drawing/2014/main" id="{D620F7AB-98E9-4CCD-BE74-9AA5A28F7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8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49" name="Rectangle 39">
                <a:extLst>
                  <a:ext uri="{FF2B5EF4-FFF2-40B4-BE49-F238E27FC236}">
                    <a16:creationId xmlns:a16="http://schemas.microsoft.com/office/drawing/2014/main" id="{6921D66D-97D7-4C74-AA2D-05AA3AADC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38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0" name="Group 40">
              <a:extLst>
                <a:ext uri="{FF2B5EF4-FFF2-40B4-BE49-F238E27FC236}">
                  <a16:creationId xmlns:a16="http://schemas.microsoft.com/office/drawing/2014/main" id="{28E9164B-C69C-422D-A643-95A397311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103"/>
              <a:ext cx="432" cy="242"/>
              <a:chOff x="2657" y="384"/>
              <a:chExt cx="565" cy="384"/>
            </a:xfrm>
          </p:grpSpPr>
          <p:sp>
            <p:nvSpPr>
              <p:cNvPr id="60546" name="Rectangle 41">
                <a:extLst>
                  <a:ext uri="{FF2B5EF4-FFF2-40B4-BE49-F238E27FC236}">
                    <a16:creationId xmlns:a16="http://schemas.microsoft.com/office/drawing/2014/main" id="{83072F4E-D2D1-4D76-A3B6-C4ABD8E68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384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3m</a:t>
                </a:r>
                <a:endParaRPr lang="zh-CN" altLang="en-US" sz="2000" b="1"/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47" name="Rectangle 42">
                <a:extLst>
                  <a:ext uri="{FF2B5EF4-FFF2-40B4-BE49-F238E27FC236}">
                    <a16:creationId xmlns:a16="http://schemas.microsoft.com/office/drawing/2014/main" id="{029E5AB1-7BC3-4E10-A4C2-D8F578D5BA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384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1" name="Group 43">
              <a:extLst>
                <a:ext uri="{FF2B5EF4-FFF2-40B4-BE49-F238E27FC236}">
                  <a16:creationId xmlns:a16="http://schemas.microsoft.com/office/drawing/2014/main" id="{6CF04390-45E8-4EE6-8036-F7F93FED4E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343"/>
              <a:ext cx="418" cy="242"/>
              <a:chOff x="0" y="768"/>
              <a:chExt cx="494" cy="384"/>
            </a:xfrm>
          </p:grpSpPr>
          <p:sp>
            <p:nvSpPr>
              <p:cNvPr id="60544" name="Rectangle 44">
                <a:extLst>
                  <a:ext uri="{FF2B5EF4-FFF2-40B4-BE49-F238E27FC236}">
                    <a16:creationId xmlns:a16="http://schemas.microsoft.com/office/drawing/2014/main" id="{616609F0-D9CE-4081-8B76-F76E43839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768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45" name="Rectangle 45">
                <a:extLst>
                  <a:ext uri="{FF2B5EF4-FFF2-40B4-BE49-F238E27FC236}">
                    <a16:creationId xmlns:a16="http://schemas.microsoft.com/office/drawing/2014/main" id="{36311330-F3E8-45F6-BE6B-BA12DF4AE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68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2" name="Group 46">
              <a:extLst>
                <a:ext uri="{FF2B5EF4-FFF2-40B4-BE49-F238E27FC236}">
                  <a16:creationId xmlns:a16="http://schemas.microsoft.com/office/drawing/2014/main" id="{8E6C5574-8ADC-47B8-889D-75FC404D1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1343"/>
              <a:ext cx="542" cy="242"/>
              <a:chOff x="494" y="768"/>
              <a:chExt cx="721" cy="384"/>
            </a:xfrm>
          </p:grpSpPr>
          <p:sp>
            <p:nvSpPr>
              <p:cNvPr id="60542" name="Rectangle 47">
                <a:extLst>
                  <a:ext uri="{FF2B5EF4-FFF2-40B4-BE49-F238E27FC236}">
                    <a16:creationId xmlns:a16="http://schemas.microsoft.com/office/drawing/2014/main" id="{7041904D-1CB2-4FD8-AB38-213C706A8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76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43" name="Rectangle 48">
                <a:extLst>
                  <a:ext uri="{FF2B5EF4-FFF2-40B4-BE49-F238E27FC236}">
                    <a16:creationId xmlns:a16="http://schemas.microsoft.com/office/drawing/2014/main" id="{ADD2D860-E0E8-4FDF-9B3A-97AE8D447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76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3" name="Group 49">
              <a:extLst>
                <a:ext uri="{FF2B5EF4-FFF2-40B4-BE49-F238E27FC236}">
                  <a16:creationId xmlns:a16="http://schemas.microsoft.com/office/drawing/2014/main" id="{DB80C3DC-A9C9-4EA2-B64B-F21A2FFBD9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343"/>
              <a:ext cx="576" cy="242"/>
              <a:chOff x="1215" y="768"/>
              <a:chExt cx="721" cy="384"/>
            </a:xfrm>
          </p:grpSpPr>
          <p:sp>
            <p:nvSpPr>
              <p:cNvPr id="60540" name="Rectangle 50">
                <a:extLst>
                  <a:ext uri="{FF2B5EF4-FFF2-40B4-BE49-F238E27FC236}">
                    <a16:creationId xmlns:a16="http://schemas.microsoft.com/office/drawing/2014/main" id="{C19BB2BB-5DFE-4328-84D3-EC4BC7A8B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76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41" name="Rectangle 51">
                <a:extLst>
                  <a:ext uri="{FF2B5EF4-FFF2-40B4-BE49-F238E27FC236}">
                    <a16:creationId xmlns:a16="http://schemas.microsoft.com/office/drawing/2014/main" id="{3A3FD623-8618-4433-8A08-7234B3698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76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4" name="Group 52">
              <a:extLst>
                <a:ext uri="{FF2B5EF4-FFF2-40B4-BE49-F238E27FC236}">
                  <a16:creationId xmlns:a16="http://schemas.microsoft.com/office/drawing/2014/main" id="{5CDCB014-48BD-4187-BBEB-58A3212235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1343"/>
              <a:ext cx="528" cy="242"/>
              <a:chOff x="1936" y="768"/>
              <a:chExt cx="721" cy="384"/>
            </a:xfrm>
          </p:grpSpPr>
          <p:sp>
            <p:nvSpPr>
              <p:cNvPr id="60538" name="Rectangle 53">
                <a:extLst>
                  <a:ext uri="{FF2B5EF4-FFF2-40B4-BE49-F238E27FC236}">
                    <a16:creationId xmlns:a16="http://schemas.microsoft.com/office/drawing/2014/main" id="{672AA653-95BD-4E51-9BE2-CAF16EDA2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76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39" name="Rectangle 54">
                <a:extLst>
                  <a:ext uri="{FF2B5EF4-FFF2-40B4-BE49-F238E27FC236}">
                    <a16:creationId xmlns:a16="http://schemas.microsoft.com/office/drawing/2014/main" id="{AEABD363-9047-4704-A946-8CC72AC52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76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5" name="Group 55">
              <a:extLst>
                <a:ext uri="{FF2B5EF4-FFF2-40B4-BE49-F238E27FC236}">
                  <a16:creationId xmlns:a16="http://schemas.microsoft.com/office/drawing/2014/main" id="{7CB461BD-8457-4363-9FC0-04A0FE5BCA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343"/>
              <a:ext cx="432" cy="242"/>
              <a:chOff x="2657" y="768"/>
              <a:chExt cx="565" cy="384"/>
            </a:xfrm>
          </p:grpSpPr>
          <p:sp>
            <p:nvSpPr>
              <p:cNvPr id="60536" name="Rectangle 56">
                <a:extLst>
                  <a:ext uri="{FF2B5EF4-FFF2-40B4-BE49-F238E27FC236}">
                    <a16:creationId xmlns:a16="http://schemas.microsoft.com/office/drawing/2014/main" id="{DAC8E8F9-65CE-47F7-B260-0D539515C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768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1m</a:t>
                </a:r>
                <a:endParaRPr lang="zh-CN" altLang="en-US" sz="2000" b="1"/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37" name="Rectangle 57">
                <a:extLst>
                  <a:ext uri="{FF2B5EF4-FFF2-40B4-BE49-F238E27FC236}">
                    <a16:creationId xmlns:a16="http://schemas.microsoft.com/office/drawing/2014/main" id="{0A01F7EB-C73E-45F1-8C63-596B2BB74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768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6" name="Group 58">
              <a:extLst>
                <a:ext uri="{FF2B5EF4-FFF2-40B4-BE49-F238E27FC236}">
                  <a16:creationId xmlns:a16="http://schemas.microsoft.com/office/drawing/2014/main" id="{9A016FC5-7D78-47B2-9573-CBBE3A6C3F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583"/>
              <a:ext cx="418" cy="242"/>
              <a:chOff x="0" y="1152"/>
              <a:chExt cx="494" cy="384"/>
            </a:xfrm>
          </p:grpSpPr>
          <p:sp>
            <p:nvSpPr>
              <p:cNvPr id="60534" name="Rectangle 59">
                <a:extLst>
                  <a:ext uri="{FF2B5EF4-FFF2-40B4-BE49-F238E27FC236}">
                    <a16:creationId xmlns:a16="http://schemas.microsoft.com/office/drawing/2014/main" id="{375A0CAF-BB75-41FA-B49C-1FD645A7A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152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35" name="Rectangle 60">
                <a:extLst>
                  <a:ext uri="{FF2B5EF4-FFF2-40B4-BE49-F238E27FC236}">
                    <a16:creationId xmlns:a16="http://schemas.microsoft.com/office/drawing/2014/main" id="{991B3F3B-31E1-4B2A-9CFA-24C387228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52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7" name="Group 61">
              <a:extLst>
                <a:ext uri="{FF2B5EF4-FFF2-40B4-BE49-F238E27FC236}">
                  <a16:creationId xmlns:a16="http://schemas.microsoft.com/office/drawing/2014/main" id="{08D2FEC6-1A62-4CB8-B94C-19FA81AE2D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1583"/>
              <a:ext cx="542" cy="242"/>
              <a:chOff x="494" y="1152"/>
              <a:chExt cx="721" cy="384"/>
            </a:xfrm>
          </p:grpSpPr>
          <p:sp>
            <p:nvSpPr>
              <p:cNvPr id="60532" name="Rectangle 62">
                <a:extLst>
                  <a:ext uri="{FF2B5EF4-FFF2-40B4-BE49-F238E27FC236}">
                    <a16:creationId xmlns:a16="http://schemas.microsoft.com/office/drawing/2014/main" id="{2FAF0E1E-3ED0-4CF9-9E53-06A33A578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152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33" name="Rectangle 63">
                <a:extLst>
                  <a:ext uri="{FF2B5EF4-FFF2-40B4-BE49-F238E27FC236}">
                    <a16:creationId xmlns:a16="http://schemas.microsoft.com/office/drawing/2014/main" id="{8A04B32F-0889-4BAF-8B32-7BA54C9CC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1152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8" name="Group 64">
              <a:extLst>
                <a:ext uri="{FF2B5EF4-FFF2-40B4-BE49-F238E27FC236}">
                  <a16:creationId xmlns:a16="http://schemas.microsoft.com/office/drawing/2014/main" id="{23B31A27-5BE9-4B70-914C-D6D5C437C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583"/>
              <a:ext cx="576" cy="242"/>
              <a:chOff x="1215" y="1152"/>
              <a:chExt cx="721" cy="384"/>
            </a:xfrm>
          </p:grpSpPr>
          <p:sp>
            <p:nvSpPr>
              <p:cNvPr id="60530" name="Rectangle 65">
                <a:extLst>
                  <a:ext uri="{FF2B5EF4-FFF2-40B4-BE49-F238E27FC236}">
                    <a16:creationId xmlns:a16="http://schemas.microsoft.com/office/drawing/2014/main" id="{F8B1280F-7C92-4F56-AFFF-D9C1BA01A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1152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31" name="Rectangle 66">
                <a:extLst>
                  <a:ext uri="{FF2B5EF4-FFF2-40B4-BE49-F238E27FC236}">
                    <a16:creationId xmlns:a16="http://schemas.microsoft.com/office/drawing/2014/main" id="{2FD88585-ECAD-4DC3-9682-598E18EE7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1152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49" name="Group 67">
              <a:extLst>
                <a:ext uri="{FF2B5EF4-FFF2-40B4-BE49-F238E27FC236}">
                  <a16:creationId xmlns:a16="http://schemas.microsoft.com/office/drawing/2014/main" id="{D0F39202-81D5-402B-91DB-3606EABFC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1583"/>
              <a:ext cx="528" cy="242"/>
              <a:chOff x="1936" y="1152"/>
              <a:chExt cx="721" cy="384"/>
            </a:xfrm>
          </p:grpSpPr>
          <p:sp>
            <p:nvSpPr>
              <p:cNvPr id="60528" name="Rectangle 68">
                <a:extLst>
                  <a:ext uri="{FF2B5EF4-FFF2-40B4-BE49-F238E27FC236}">
                    <a16:creationId xmlns:a16="http://schemas.microsoft.com/office/drawing/2014/main" id="{081E0DDB-02B6-4FEC-A2C4-87938F17B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152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29" name="Rectangle 69">
                <a:extLst>
                  <a:ext uri="{FF2B5EF4-FFF2-40B4-BE49-F238E27FC236}">
                    <a16:creationId xmlns:a16="http://schemas.microsoft.com/office/drawing/2014/main" id="{E991ABB3-95EC-4D12-803D-4ADFDB96A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1152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0" name="Group 70">
              <a:extLst>
                <a:ext uri="{FF2B5EF4-FFF2-40B4-BE49-F238E27FC236}">
                  <a16:creationId xmlns:a16="http://schemas.microsoft.com/office/drawing/2014/main" id="{5123D193-E259-4565-B721-F25C7F593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83"/>
              <a:ext cx="432" cy="242"/>
              <a:chOff x="2657" y="1152"/>
              <a:chExt cx="565" cy="384"/>
            </a:xfrm>
          </p:grpSpPr>
          <p:sp>
            <p:nvSpPr>
              <p:cNvPr id="60526" name="Rectangle 71">
                <a:extLst>
                  <a:ext uri="{FF2B5EF4-FFF2-40B4-BE49-F238E27FC236}">
                    <a16:creationId xmlns:a16="http://schemas.microsoft.com/office/drawing/2014/main" id="{BC5CFC22-FB69-4DC9-A1D5-A2E1DC731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152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3m</a:t>
                </a:r>
                <a:endParaRPr lang="zh-CN" altLang="en-US" sz="2000" b="1"/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27" name="Rectangle 72">
                <a:extLst>
                  <a:ext uri="{FF2B5EF4-FFF2-40B4-BE49-F238E27FC236}">
                    <a16:creationId xmlns:a16="http://schemas.microsoft.com/office/drawing/2014/main" id="{DB163212-0B06-401E-877A-6CEBA3ED7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1152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1" name="Group 73">
              <a:extLst>
                <a:ext uri="{FF2B5EF4-FFF2-40B4-BE49-F238E27FC236}">
                  <a16:creationId xmlns:a16="http://schemas.microsoft.com/office/drawing/2014/main" id="{DDFD6A5F-BF59-4F74-9F84-E1ECA90124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823"/>
              <a:ext cx="418" cy="241"/>
              <a:chOff x="0" y="1536"/>
              <a:chExt cx="494" cy="384"/>
            </a:xfrm>
          </p:grpSpPr>
          <p:sp>
            <p:nvSpPr>
              <p:cNvPr id="60524" name="Rectangle 74">
                <a:extLst>
                  <a:ext uri="{FF2B5EF4-FFF2-40B4-BE49-F238E27FC236}">
                    <a16:creationId xmlns:a16="http://schemas.microsoft.com/office/drawing/2014/main" id="{F577D538-07C7-49E7-8BA2-0E6839F34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536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4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25" name="Rectangle 75">
                <a:extLst>
                  <a:ext uri="{FF2B5EF4-FFF2-40B4-BE49-F238E27FC236}">
                    <a16:creationId xmlns:a16="http://schemas.microsoft.com/office/drawing/2014/main" id="{BBA4AD10-1847-4D57-9086-8553C4159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536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2" name="Group 76">
              <a:extLst>
                <a:ext uri="{FF2B5EF4-FFF2-40B4-BE49-F238E27FC236}">
                  <a16:creationId xmlns:a16="http://schemas.microsoft.com/office/drawing/2014/main" id="{3FE03826-5522-479C-88DB-81FC3FF2DC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1823"/>
              <a:ext cx="542" cy="241"/>
              <a:chOff x="494" y="1536"/>
              <a:chExt cx="721" cy="384"/>
            </a:xfrm>
          </p:grpSpPr>
          <p:sp>
            <p:nvSpPr>
              <p:cNvPr id="60522" name="Rectangle 77">
                <a:extLst>
                  <a:ext uri="{FF2B5EF4-FFF2-40B4-BE49-F238E27FC236}">
                    <a16:creationId xmlns:a16="http://schemas.microsoft.com/office/drawing/2014/main" id="{52AA9C6B-08CE-422A-B6BB-CDB55F4EC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536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23" name="Rectangle 78">
                <a:extLst>
                  <a:ext uri="{FF2B5EF4-FFF2-40B4-BE49-F238E27FC236}">
                    <a16:creationId xmlns:a16="http://schemas.microsoft.com/office/drawing/2014/main" id="{7A127DB1-740B-490F-AA99-EF0E2DA39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1536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3" name="Group 79">
              <a:extLst>
                <a:ext uri="{FF2B5EF4-FFF2-40B4-BE49-F238E27FC236}">
                  <a16:creationId xmlns:a16="http://schemas.microsoft.com/office/drawing/2014/main" id="{DB98BE75-98D5-4559-A1C9-5EEA45FD1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823"/>
              <a:ext cx="576" cy="241"/>
              <a:chOff x="1215" y="1536"/>
              <a:chExt cx="721" cy="384"/>
            </a:xfrm>
          </p:grpSpPr>
          <p:sp>
            <p:nvSpPr>
              <p:cNvPr id="60520" name="Rectangle 80">
                <a:extLst>
                  <a:ext uri="{FF2B5EF4-FFF2-40B4-BE49-F238E27FC236}">
                    <a16:creationId xmlns:a16="http://schemas.microsoft.com/office/drawing/2014/main" id="{881109B2-F20E-4EF2-B5D5-F8801A94D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1536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21" name="Rectangle 81">
                <a:extLst>
                  <a:ext uri="{FF2B5EF4-FFF2-40B4-BE49-F238E27FC236}">
                    <a16:creationId xmlns:a16="http://schemas.microsoft.com/office/drawing/2014/main" id="{9CF7EA1D-93A6-4974-A379-FEFD225B8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1536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4" name="Group 82">
              <a:extLst>
                <a:ext uri="{FF2B5EF4-FFF2-40B4-BE49-F238E27FC236}">
                  <a16:creationId xmlns:a16="http://schemas.microsoft.com/office/drawing/2014/main" id="{BE33DBC4-004C-4C19-B520-40CF5F00D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1823"/>
              <a:ext cx="528" cy="241"/>
              <a:chOff x="1936" y="1536"/>
              <a:chExt cx="721" cy="384"/>
            </a:xfrm>
          </p:grpSpPr>
          <p:sp>
            <p:nvSpPr>
              <p:cNvPr id="60518" name="Rectangle 83">
                <a:extLst>
                  <a:ext uri="{FF2B5EF4-FFF2-40B4-BE49-F238E27FC236}">
                    <a16:creationId xmlns:a16="http://schemas.microsoft.com/office/drawing/2014/main" id="{BF9CA302-ADF1-47C7-87C6-7E4F0CD10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36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19" name="Rectangle 84">
                <a:extLst>
                  <a:ext uri="{FF2B5EF4-FFF2-40B4-BE49-F238E27FC236}">
                    <a16:creationId xmlns:a16="http://schemas.microsoft.com/office/drawing/2014/main" id="{67E121B2-CB30-4914-821B-DEA4748B3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1536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5" name="Group 85">
              <a:extLst>
                <a:ext uri="{FF2B5EF4-FFF2-40B4-BE49-F238E27FC236}">
                  <a16:creationId xmlns:a16="http://schemas.microsoft.com/office/drawing/2014/main" id="{1B1B4842-2DF9-4354-BB42-6CACFC3E19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823"/>
              <a:ext cx="432" cy="241"/>
              <a:chOff x="2657" y="1536"/>
              <a:chExt cx="565" cy="384"/>
            </a:xfrm>
          </p:grpSpPr>
          <p:sp>
            <p:nvSpPr>
              <p:cNvPr id="60516" name="Rectangle 86">
                <a:extLst>
                  <a:ext uri="{FF2B5EF4-FFF2-40B4-BE49-F238E27FC236}">
                    <a16:creationId xmlns:a16="http://schemas.microsoft.com/office/drawing/2014/main" id="{2BC8CB46-BAE3-4F3B-A131-577172F0F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536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3m</a:t>
                </a:r>
                <a:endParaRPr lang="zh-CN" altLang="en-US" sz="2000" b="1"/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17" name="Rectangle 87">
                <a:extLst>
                  <a:ext uri="{FF2B5EF4-FFF2-40B4-BE49-F238E27FC236}">
                    <a16:creationId xmlns:a16="http://schemas.microsoft.com/office/drawing/2014/main" id="{28CE7525-D507-48D7-9E95-34358EFC2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1536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6" name="Group 88">
              <a:extLst>
                <a:ext uri="{FF2B5EF4-FFF2-40B4-BE49-F238E27FC236}">
                  <a16:creationId xmlns:a16="http://schemas.microsoft.com/office/drawing/2014/main" id="{A27AC249-7D80-4B6E-9951-29FA649FD2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062"/>
              <a:ext cx="418" cy="242"/>
              <a:chOff x="0" y="1920"/>
              <a:chExt cx="494" cy="384"/>
            </a:xfrm>
          </p:grpSpPr>
          <p:sp>
            <p:nvSpPr>
              <p:cNvPr id="60514" name="Rectangle 89">
                <a:extLst>
                  <a:ext uri="{FF2B5EF4-FFF2-40B4-BE49-F238E27FC236}">
                    <a16:creationId xmlns:a16="http://schemas.microsoft.com/office/drawing/2014/main" id="{7AAD61A5-EA54-49C1-8FD9-587ACD1D7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920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5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15" name="Rectangle 90">
                <a:extLst>
                  <a:ext uri="{FF2B5EF4-FFF2-40B4-BE49-F238E27FC236}">
                    <a16:creationId xmlns:a16="http://schemas.microsoft.com/office/drawing/2014/main" id="{CB1771DF-672F-474F-A700-13638D99A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20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7" name="Group 91">
              <a:extLst>
                <a:ext uri="{FF2B5EF4-FFF2-40B4-BE49-F238E27FC236}">
                  <a16:creationId xmlns:a16="http://schemas.microsoft.com/office/drawing/2014/main" id="{30513E45-B664-4596-9B44-C8C8DC710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2062"/>
              <a:ext cx="542" cy="242"/>
              <a:chOff x="494" y="1920"/>
              <a:chExt cx="721" cy="384"/>
            </a:xfrm>
          </p:grpSpPr>
          <p:sp>
            <p:nvSpPr>
              <p:cNvPr id="60512" name="Rectangle 92">
                <a:extLst>
                  <a:ext uri="{FF2B5EF4-FFF2-40B4-BE49-F238E27FC236}">
                    <a16:creationId xmlns:a16="http://schemas.microsoft.com/office/drawing/2014/main" id="{924B3511-9317-464E-8B55-CDF9FE2FE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92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13" name="Rectangle 93">
                <a:extLst>
                  <a:ext uri="{FF2B5EF4-FFF2-40B4-BE49-F238E27FC236}">
                    <a16:creationId xmlns:a16="http://schemas.microsoft.com/office/drawing/2014/main" id="{782BBAEE-4B24-4114-93E5-CD64E7221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192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8" name="Group 94">
              <a:extLst>
                <a:ext uri="{FF2B5EF4-FFF2-40B4-BE49-F238E27FC236}">
                  <a16:creationId xmlns:a16="http://schemas.microsoft.com/office/drawing/2014/main" id="{702C2806-823C-4AFD-9369-3F7AE2502E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062"/>
              <a:ext cx="576" cy="242"/>
              <a:chOff x="1215" y="1920"/>
              <a:chExt cx="721" cy="384"/>
            </a:xfrm>
          </p:grpSpPr>
          <p:sp>
            <p:nvSpPr>
              <p:cNvPr id="60510" name="Rectangle 95">
                <a:extLst>
                  <a:ext uri="{FF2B5EF4-FFF2-40B4-BE49-F238E27FC236}">
                    <a16:creationId xmlns:a16="http://schemas.microsoft.com/office/drawing/2014/main" id="{98A51CCD-6E34-4E6C-9D3A-82DF8EA4C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192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11" name="Rectangle 96">
                <a:extLst>
                  <a:ext uri="{FF2B5EF4-FFF2-40B4-BE49-F238E27FC236}">
                    <a16:creationId xmlns:a16="http://schemas.microsoft.com/office/drawing/2014/main" id="{F6153A39-0467-4124-BF29-66C5F2B6C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192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59" name="Group 97">
              <a:extLst>
                <a:ext uri="{FF2B5EF4-FFF2-40B4-BE49-F238E27FC236}">
                  <a16:creationId xmlns:a16="http://schemas.microsoft.com/office/drawing/2014/main" id="{515ADBAA-66AD-4443-9847-EA69337BB7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062"/>
              <a:ext cx="528" cy="242"/>
              <a:chOff x="1936" y="1920"/>
              <a:chExt cx="721" cy="384"/>
            </a:xfrm>
          </p:grpSpPr>
          <p:sp>
            <p:nvSpPr>
              <p:cNvPr id="60508" name="Rectangle 98">
                <a:extLst>
                  <a:ext uri="{FF2B5EF4-FFF2-40B4-BE49-F238E27FC236}">
                    <a16:creationId xmlns:a16="http://schemas.microsoft.com/office/drawing/2014/main" id="{5067B4F8-F693-4E08-A315-2E2EA2FC1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920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09" name="Rectangle 99">
                <a:extLst>
                  <a:ext uri="{FF2B5EF4-FFF2-40B4-BE49-F238E27FC236}">
                    <a16:creationId xmlns:a16="http://schemas.microsoft.com/office/drawing/2014/main" id="{1F7080A2-0054-4F89-BB24-067529A42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1920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0" name="Group 100">
              <a:extLst>
                <a:ext uri="{FF2B5EF4-FFF2-40B4-BE49-F238E27FC236}">
                  <a16:creationId xmlns:a16="http://schemas.microsoft.com/office/drawing/2014/main" id="{9AD1A3F8-71F5-4E88-AE49-AC5010EF5E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062"/>
              <a:ext cx="432" cy="242"/>
              <a:chOff x="2657" y="1920"/>
              <a:chExt cx="565" cy="384"/>
            </a:xfrm>
          </p:grpSpPr>
          <p:sp>
            <p:nvSpPr>
              <p:cNvPr id="60506" name="Rectangle 101">
                <a:extLst>
                  <a:ext uri="{FF2B5EF4-FFF2-40B4-BE49-F238E27FC236}">
                    <a16:creationId xmlns:a16="http://schemas.microsoft.com/office/drawing/2014/main" id="{EDFF7559-72DB-4744-A8A8-F70668EFF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920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1m</a:t>
                </a:r>
                <a:endParaRPr lang="zh-CN" altLang="en-US" sz="2000" b="1"/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07" name="Rectangle 102">
                <a:extLst>
                  <a:ext uri="{FF2B5EF4-FFF2-40B4-BE49-F238E27FC236}">
                    <a16:creationId xmlns:a16="http://schemas.microsoft.com/office/drawing/2014/main" id="{CEB4E7B7-78BD-4C21-A601-FFE6E60B0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1920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1" name="Group 103">
              <a:extLst>
                <a:ext uri="{FF2B5EF4-FFF2-40B4-BE49-F238E27FC236}">
                  <a16:creationId xmlns:a16="http://schemas.microsoft.com/office/drawing/2014/main" id="{24E43443-04AA-4EDC-A818-30F5F5F32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302"/>
              <a:ext cx="418" cy="242"/>
              <a:chOff x="0" y="2304"/>
              <a:chExt cx="494" cy="384"/>
            </a:xfrm>
          </p:grpSpPr>
          <p:sp>
            <p:nvSpPr>
              <p:cNvPr id="60504" name="Rectangle 104">
                <a:extLst>
                  <a:ext uri="{FF2B5EF4-FFF2-40B4-BE49-F238E27FC236}">
                    <a16:creationId xmlns:a16="http://schemas.microsoft.com/office/drawing/2014/main" id="{BFFAFAA8-3644-46D6-B6BD-19C987A350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304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6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05" name="Rectangle 105">
                <a:extLst>
                  <a:ext uri="{FF2B5EF4-FFF2-40B4-BE49-F238E27FC236}">
                    <a16:creationId xmlns:a16="http://schemas.microsoft.com/office/drawing/2014/main" id="{F545A055-9C00-49AB-9A70-1B43090BC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304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2" name="Group 106">
              <a:extLst>
                <a:ext uri="{FF2B5EF4-FFF2-40B4-BE49-F238E27FC236}">
                  <a16:creationId xmlns:a16="http://schemas.microsoft.com/office/drawing/2014/main" id="{E67C263C-D2D8-449B-96F3-0E7E74AACF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2302"/>
              <a:ext cx="542" cy="242"/>
              <a:chOff x="494" y="2304"/>
              <a:chExt cx="721" cy="384"/>
            </a:xfrm>
          </p:grpSpPr>
          <p:sp>
            <p:nvSpPr>
              <p:cNvPr id="60502" name="Rectangle 107">
                <a:extLst>
                  <a:ext uri="{FF2B5EF4-FFF2-40B4-BE49-F238E27FC236}">
                    <a16:creationId xmlns:a16="http://schemas.microsoft.com/office/drawing/2014/main" id="{F7E8F76C-E577-404D-9E47-03AB378E6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230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03" name="Rectangle 108">
                <a:extLst>
                  <a:ext uri="{FF2B5EF4-FFF2-40B4-BE49-F238E27FC236}">
                    <a16:creationId xmlns:a16="http://schemas.microsoft.com/office/drawing/2014/main" id="{9AE31F53-ED5A-4FB1-9CC9-31A6D1A0C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230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3" name="Group 109">
              <a:extLst>
                <a:ext uri="{FF2B5EF4-FFF2-40B4-BE49-F238E27FC236}">
                  <a16:creationId xmlns:a16="http://schemas.microsoft.com/office/drawing/2014/main" id="{01E1E7CC-BAB8-4C25-B006-0676EE7FD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302"/>
              <a:ext cx="576" cy="242"/>
              <a:chOff x="1215" y="2304"/>
              <a:chExt cx="721" cy="384"/>
            </a:xfrm>
          </p:grpSpPr>
          <p:sp>
            <p:nvSpPr>
              <p:cNvPr id="60500" name="Rectangle 110">
                <a:extLst>
                  <a:ext uri="{FF2B5EF4-FFF2-40B4-BE49-F238E27FC236}">
                    <a16:creationId xmlns:a16="http://schemas.microsoft.com/office/drawing/2014/main" id="{EA844DA4-E72D-41CC-AD94-CE5321EA5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230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501" name="Rectangle 111">
                <a:extLst>
                  <a:ext uri="{FF2B5EF4-FFF2-40B4-BE49-F238E27FC236}">
                    <a16:creationId xmlns:a16="http://schemas.microsoft.com/office/drawing/2014/main" id="{075623A1-CB25-4840-B9FC-DC4A5DA82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230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4" name="Group 112">
              <a:extLst>
                <a:ext uri="{FF2B5EF4-FFF2-40B4-BE49-F238E27FC236}">
                  <a16:creationId xmlns:a16="http://schemas.microsoft.com/office/drawing/2014/main" id="{E8F9CC3F-E929-41AB-8C36-A4A8609552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302"/>
              <a:ext cx="528" cy="242"/>
              <a:chOff x="1936" y="2304"/>
              <a:chExt cx="721" cy="384"/>
            </a:xfrm>
          </p:grpSpPr>
          <p:sp>
            <p:nvSpPr>
              <p:cNvPr id="60498" name="Rectangle 113">
                <a:extLst>
                  <a:ext uri="{FF2B5EF4-FFF2-40B4-BE49-F238E27FC236}">
                    <a16:creationId xmlns:a16="http://schemas.microsoft.com/office/drawing/2014/main" id="{E899EF69-BCAA-4426-A71B-6B24F2B19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2304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99" name="Rectangle 114">
                <a:extLst>
                  <a:ext uri="{FF2B5EF4-FFF2-40B4-BE49-F238E27FC236}">
                    <a16:creationId xmlns:a16="http://schemas.microsoft.com/office/drawing/2014/main" id="{E13E78B5-5A8D-4764-9E7E-A73F16647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2304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5" name="Group 115">
              <a:extLst>
                <a:ext uri="{FF2B5EF4-FFF2-40B4-BE49-F238E27FC236}">
                  <a16:creationId xmlns:a16="http://schemas.microsoft.com/office/drawing/2014/main" id="{5EAD8B44-64D7-4CEB-BFC7-BD0ABE81D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302"/>
              <a:ext cx="432" cy="242"/>
              <a:chOff x="2657" y="2304"/>
              <a:chExt cx="565" cy="384"/>
            </a:xfrm>
          </p:grpSpPr>
          <p:sp>
            <p:nvSpPr>
              <p:cNvPr id="60496" name="Rectangle 116">
                <a:extLst>
                  <a:ext uri="{FF2B5EF4-FFF2-40B4-BE49-F238E27FC236}">
                    <a16:creationId xmlns:a16="http://schemas.microsoft.com/office/drawing/2014/main" id="{AD6F266D-5E16-428C-A685-0CF30799D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2304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1m</a:t>
                </a:r>
                <a:endParaRPr lang="zh-CN" altLang="en-US" sz="2000" b="1"/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97" name="Rectangle 117">
                <a:extLst>
                  <a:ext uri="{FF2B5EF4-FFF2-40B4-BE49-F238E27FC236}">
                    <a16:creationId xmlns:a16="http://schemas.microsoft.com/office/drawing/2014/main" id="{B380BED4-58E2-465E-8FA5-DE700330D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2304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6" name="Group 118">
              <a:extLst>
                <a:ext uri="{FF2B5EF4-FFF2-40B4-BE49-F238E27FC236}">
                  <a16:creationId xmlns:a16="http://schemas.microsoft.com/office/drawing/2014/main" id="{C9CC8851-2A95-48A8-B60C-2E9361F056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542"/>
              <a:ext cx="418" cy="242"/>
              <a:chOff x="0" y="2688"/>
              <a:chExt cx="494" cy="384"/>
            </a:xfrm>
          </p:grpSpPr>
          <p:sp>
            <p:nvSpPr>
              <p:cNvPr id="60494" name="Rectangle 119">
                <a:extLst>
                  <a:ext uri="{FF2B5EF4-FFF2-40B4-BE49-F238E27FC236}">
                    <a16:creationId xmlns:a16="http://schemas.microsoft.com/office/drawing/2014/main" id="{EE321ADF-318F-42C7-BFCD-DA1472B97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688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7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95" name="Rectangle 120">
                <a:extLst>
                  <a:ext uri="{FF2B5EF4-FFF2-40B4-BE49-F238E27FC236}">
                    <a16:creationId xmlns:a16="http://schemas.microsoft.com/office/drawing/2014/main" id="{F3E6CAFF-4640-488E-938D-6070846DD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88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7" name="Group 121">
              <a:extLst>
                <a:ext uri="{FF2B5EF4-FFF2-40B4-BE49-F238E27FC236}">
                  <a16:creationId xmlns:a16="http://schemas.microsoft.com/office/drawing/2014/main" id="{28129D36-022F-442F-90D0-0A3C960618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2542"/>
              <a:ext cx="542" cy="242"/>
              <a:chOff x="494" y="2688"/>
              <a:chExt cx="721" cy="384"/>
            </a:xfrm>
          </p:grpSpPr>
          <p:sp>
            <p:nvSpPr>
              <p:cNvPr id="60492" name="Rectangle 122">
                <a:extLst>
                  <a:ext uri="{FF2B5EF4-FFF2-40B4-BE49-F238E27FC236}">
                    <a16:creationId xmlns:a16="http://schemas.microsoft.com/office/drawing/2014/main" id="{245B5E56-7B1C-44AC-9004-A4F413523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93" name="Rectangle 123">
                <a:extLst>
                  <a:ext uri="{FF2B5EF4-FFF2-40B4-BE49-F238E27FC236}">
                    <a16:creationId xmlns:a16="http://schemas.microsoft.com/office/drawing/2014/main" id="{C3BC55AB-D032-4EDB-8CE5-39C6A0455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8" name="Group 124">
              <a:extLst>
                <a:ext uri="{FF2B5EF4-FFF2-40B4-BE49-F238E27FC236}">
                  <a16:creationId xmlns:a16="http://schemas.microsoft.com/office/drawing/2014/main" id="{5904E833-9A65-4385-872A-BA4DDF1E7D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542"/>
              <a:ext cx="576" cy="242"/>
              <a:chOff x="1215" y="2688"/>
              <a:chExt cx="721" cy="384"/>
            </a:xfrm>
          </p:grpSpPr>
          <p:sp>
            <p:nvSpPr>
              <p:cNvPr id="60490" name="Rectangle 125">
                <a:extLst>
                  <a:ext uri="{FF2B5EF4-FFF2-40B4-BE49-F238E27FC236}">
                    <a16:creationId xmlns:a16="http://schemas.microsoft.com/office/drawing/2014/main" id="{9F9D9BE2-DCF2-4434-B88E-74893B4CD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91" name="Rectangle 126">
                <a:extLst>
                  <a:ext uri="{FF2B5EF4-FFF2-40B4-BE49-F238E27FC236}">
                    <a16:creationId xmlns:a16="http://schemas.microsoft.com/office/drawing/2014/main" id="{D6634663-C7F2-4373-A4B9-309DFC9D6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69" name="Group 127">
              <a:extLst>
                <a:ext uri="{FF2B5EF4-FFF2-40B4-BE49-F238E27FC236}">
                  <a16:creationId xmlns:a16="http://schemas.microsoft.com/office/drawing/2014/main" id="{C14D9660-5E7C-4519-A2A3-DA2A1E75AE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542"/>
              <a:ext cx="528" cy="242"/>
              <a:chOff x="1936" y="2688"/>
              <a:chExt cx="721" cy="384"/>
            </a:xfrm>
          </p:grpSpPr>
          <p:sp>
            <p:nvSpPr>
              <p:cNvPr id="60488" name="Rectangle 128">
                <a:extLst>
                  <a:ext uri="{FF2B5EF4-FFF2-40B4-BE49-F238E27FC236}">
                    <a16:creationId xmlns:a16="http://schemas.microsoft.com/office/drawing/2014/main" id="{BFA9F386-05DE-4C56-A179-1A1C2B4FC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89" name="Rectangle 129">
                <a:extLst>
                  <a:ext uri="{FF2B5EF4-FFF2-40B4-BE49-F238E27FC236}">
                    <a16:creationId xmlns:a16="http://schemas.microsoft.com/office/drawing/2014/main" id="{5CFD398E-1FFD-466E-95ED-97055482C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70" name="Group 130">
              <a:extLst>
                <a:ext uri="{FF2B5EF4-FFF2-40B4-BE49-F238E27FC236}">
                  <a16:creationId xmlns:a16="http://schemas.microsoft.com/office/drawing/2014/main" id="{9FE799D9-5D2E-427E-919C-898D3AE2F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542"/>
              <a:ext cx="432" cy="242"/>
              <a:chOff x="2657" y="2688"/>
              <a:chExt cx="565" cy="384"/>
            </a:xfrm>
          </p:grpSpPr>
          <p:sp>
            <p:nvSpPr>
              <p:cNvPr id="60486" name="Rectangle 131">
                <a:extLst>
                  <a:ext uri="{FF2B5EF4-FFF2-40B4-BE49-F238E27FC236}">
                    <a16:creationId xmlns:a16="http://schemas.microsoft.com/office/drawing/2014/main" id="{336047B1-8D50-49F9-9581-76F615029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2688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3m</a:t>
                </a:r>
                <a:endParaRPr lang="zh-CN" altLang="en-US" sz="2000" b="1"/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87" name="Rectangle 132">
                <a:extLst>
                  <a:ext uri="{FF2B5EF4-FFF2-40B4-BE49-F238E27FC236}">
                    <a16:creationId xmlns:a16="http://schemas.microsoft.com/office/drawing/2014/main" id="{0A57B94C-4AD6-44BF-B3B4-14CD5F95D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2688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71" name="Group 133">
              <a:extLst>
                <a:ext uri="{FF2B5EF4-FFF2-40B4-BE49-F238E27FC236}">
                  <a16:creationId xmlns:a16="http://schemas.microsoft.com/office/drawing/2014/main" id="{356FFB73-177A-4C1B-A9B6-AE5AD5BFAF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784"/>
              <a:ext cx="418" cy="432"/>
              <a:chOff x="0" y="2688"/>
              <a:chExt cx="494" cy="384"/>
            </a:xfrm>
          </p:grpSpPr>
          <p:sp>
            <p:nvSpPr>
              <p:cNvPr id="60484" name="Rectangle 134">
                <a:extLst>
                  <a:ext uri="{FF2B5EF4-FFF2-40B4-BE49-F238E27FC236}">
                    <a16:creationId xmlns:a16="http://schemas.microsoft.com/office/drawing/2014/main" id="{1C6896C1-F26C-45F8-8921-C9BCF7E3D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688"/>
                <a:ext cx="40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/>
                  <a:t>需</a:t>
                </a:r>
              </a:p>
              <a:p>
                <a:pPr algn="ctr" eaLnBrk="1" hangingPunct="1"/>
                <a:r>
                  <a:rPr lang="zh-CN" altLang="en-US" sz="2000" b="1"/>
                  <a:t>求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85" name="Rectangle 135">
                <a:extLst>
                  <a:ext uri="{FF2B5EF4-FFF2-40B4-BE49-F238E27FC236}">
                    <a16:creationId xmlns:a16="http://schemas.microsoft.com/office/drawing/2014/main" id="{428841DB-3359-44C6-9143-4C2C81371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88"/>
                <a:ext cx="49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72" name="Group 136">
              <a:extLst>
                <a:ext uri="{FF2B5EF4-FFF2-40B4-BE49-F238E27FC236}">
                  <a16:creationId xmlns:a16="http://schemas.microsoft.com/office/drawing/2014/main" id="{C208283B-02B8-4A91-A176-5A9D493EE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2784"/>
              <a:ext cx="542" cy="432"/>
              <a:chOff x="494" y="2688"/>
              <a:chExt cx="721" cy="384"/>
            </a:xfrm>
          </p:grpSpPr>
          <p:sp>
            <p:nvSpPr>
              <p:cNvPr id="60482" name="Rectangle 137">
                <a:extLst>
                  <a:ext uri="{FF2B5EF4-FFF2-40B4-BE49-F238E27FC236}">
                    <a16:creationId xmlns:a16="http://schemas.microsoft.com/office/drawing/2014/main" id="{D4FE57B6-1A5E-4076-967F-F2E2F81BA7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50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83" name="Rectangle 138">
                <a:extLst>
                  <a:ext uri="{FF2B5EF4-FFF2-40B4-BE49-F238E27FC236}">
                    <a16:creationId xmlns:a16="http://schemas.microsoft.com/office/drawing/2014/main" id="{A20B068B-2CF3-4524-ACD3-AAEA189BD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73" name="Group 139">
              <a:extLst>
                <a:ext uri="{FF2B5EF4-FFF2-40B4-BE49-F238E27FC236}">
                  <a16:creationId xmlns:a16="http://schemas.microsoft.com/office/drawing/2014/main" id="{C8D1370F-0B96-4266-9B1D-BF77017F52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784"/>
              <a:ext cx="576" cy="432"/>
              <a:chOff x="1215" y="2688"/>
              <a:chExt cx="721" cy="384"/>
            </a:xfrm>
          </p:grpSpPr>
          <p:sp>
            <p:nvSpPr>
              <p:cNvPr id="60480" name="Rectangle 140">
                <a:extLst>
                  <a:ext uri="{FF2B5EF4-FFF2-40B4-BE49-F238E27FC236}">
                    <a16:creationId xmlns:a16="http://schemas.microsoft.com/office/drawing/2014/main" id="{EC9B1152-84BC-4207-BBAD-2F61CD3A6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20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81" name="Rectangle 141">
                <a:extLst>
                  <a:ext uri="{FF2B5EF4-FFF2-40B4-BE49-F238E27FC236}">
                    <a16:creationId xmlns:a16="http://schemas.microsoft.com/office/drawing/2014/main" id="{D7CCD0D1-6B8A-4C46-B9CA-B7F723737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74" name="Group 142">
              <a:extLst>
                <a:ext uri="{FF2B5EF4-FFF2-40B4-BE49-F238E27FC236}">
                  <a16:creationId xmlns:a16="http://schemas.microsoft.com/office/drawing/2014/main" id="{9A60BEFA-BA05-45D8-93E7-957FC425E4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784"/>
              <a:ext cx="528" cy="432"/>
              <a:chOff x="1936" y="2688"/>
              <a:chExt cx="721" cy="384"/>
            </a:xfrm>
          </p:grpSpPr>
          <p:sp>
            <p:nvSpPr>
              <p:cNvPr id="60478" name="Rectangle 143">
                <a:extLst>
                  <a:ext uri="{FF2B5EF4-FFF2-40B4-BE49-F238E27FC236}">
                    <a16:creationId xmlns:a16="http://schemas.microsoft.com/office/drawing/2014/main" id="{29301B5E-13CA-4C7D-B95C-915CB7E13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2688"/>
                <a:ext cx="635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15</a:t>
                </a:r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79" name="Rectangle 144">
                <a:extLst>
                  <a:ext uri="{FF2B5EF4-FFF2-40B4-BE49-F238E27FC236}">
                    <a16:creationId xmlns:a16="http://schemas.microsoft.com/office/drawing/2014/main" id="{B1C9F404-9F9A-4202-8177-47508D7CC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2688"/>
                <a:ext cx="72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0475" name="Group 145">
              <a:extLst>
                <a:ext uri="{FF2B5EF4-FFF2-40B4-BE49-F238E27FC236}">
                  <a16:creationId xmlns:a16="http://schemas.microsoft.com/office/drawing/2014/main" id="{831EF0CB-0C7C-4D3C-B2B5-6A677B6ECF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784"/>
              <a:ext cx="432" cy="432"/>
              <a:chOff x="2657" y="2688"/>
              <a:chExt cx="565" cy="384"/>
            </a:xfrm>
          </p:grpSpPr>
          <p:sp>
            <p:nvSpPr>
              <p:cNvPr id="60476" name="Rectangle 146">
                <a:extLst>
                  <a:ext uri="{FF2B5EF4-FFF2-40B4-BE49-F238E27FC236}">
                    <a16:creationId xmlns:a16="http://schemas.microsoft.com/office/drawing/2014/main" id="{A6AD6186-7BB1-41F7-B1A9-CA00561D7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2688"/>
                <a:ext cx="47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 b="1"/>
              </a:p>
              <a:p>
                <a:pPr algn="ctr"/>
                <a:endParaRPr lang="en-US" altLang="zh-CN" sz="2000" b="1"/>
              </a:p>
            </p:txBody>
          </p:sp>
          <p:sp>
            <p:nvSpPr>
              <p:cNvPr id="60477" name="Rectangle 147">
                <a:extLst>
                  <a:ext uri="{FF2B5EF4-FFF2-40B4-BE49-F238E27FC236}">
                    <a16:creationId xmlns:a16="http://schemas.microsoft.com/office/drawing/2014/main" id="{4187D71A-B254-42AF-B7B1-E262AB875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7" y="2688"/>
                <a:ext cx="56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76948" name="Text Box 148">
            <a:extLst>
              <a:ext uri="{FF2B5EF4-FFF2-40B4-BE49-F238E27FC236}">
                <a16:creationId xmlns:a16="http://schemas.microsoft.com/office/drawing/2014/main" id="{FCC41E72-93FC-4140-A6EC-6151B6336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159250"/>
            <a:ext cx="3886200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最优解：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=12,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5</a:t>
            </a:r>
            <a:r>
              <a:rPr lang="en-US" altLang="zh-CN" sz="2800" b="1"/>
              <a:t>=15,  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800" b="1"/>
              <a:t>                </a:t>
            </a:r>
            <a:r>
              <a:rPr lang="zh-CN" altLang="en-US" sz="2800" b="1"/>
              <a:t>其余为</a:t>
            </a:r>
            <a:r>
              <a:rPr lang="en-US" altLang="zh-CN" sz="2800" b="1"/>
              <a:t>0</a:t>
            </a:r>
            <a:r>
              <a:rPr lang="zh-CN" altLang="en-US" sz="2800" b="1"/>
              <a:t>；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最优值：</a:t>
            </a:r>
            <a:r>
              <a:rPr lang="en-US" altLang="zh-CN" sz="2800" b="1"/>
              <a:t>27.</a:t>
            </a:r>
          </a:p>
        </p:txBody>
      </p:sp>
      <p:sp>
        <p:nvSpPr>
          <p:cNvPr id="76949" name="Text Box 149">
            <a:extLst>
              <a:ext uri="{FF2B5EF4-FFF2-40B4-BE49-F238E27FC236}">
                <a16:creationId xmlns:a16="http://schemas.microsoft.com/office/drawing/2014/main" id="{32EC51DC-AC0B-4A60-86AA-840D6037C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549650"/>
            <a:ext cx="35814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整数约束： </a:t>
            </a:r>
            <a:r>
              <a:rPr lang="en-US" altLang="zh-CN" sz="2800" b="1" i="1"/>
              <a:t>x</a:t>
            </a:r>
            <a:r>
              <a:rPr lang="en-US" altLang="zh-CN" sz="2800" b="1" i="1" baseline="-30000"/>
              <a:t>i </a:t>
            </a:r>
            <a:r>
              <a:rPr lang="zh-CN" altLang="en-US" sz="2800" b="1"/>
              <a:t>为整数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7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6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autoUpdateAnimBg="0"/>
      <p:bldP spid="76803" grpId="0" animBg="1" autoUpdateAnimBg="0"/>
      <p:bldP spid="76804" grpId="0" animBg="1" autoUpdateAnimBg="0"/>
      <p:bldP spid="76806" grpId="0" animBg="1" autoUpdateAnimBg="0"/>
      <p:bldP spid="76811" grpId="0" animBg="1" autoUpdateAnimBg="0"/>
      <p:bldP spid="76948" grpId="0" autoUpdateAnimBg="0"/>
      <p:bldP spid="76949" grpId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7" name="Object 3">
            <a:extLst>
              <a:ext uri="{FF2B5EF4-FFF2-40B4-BE49-F238E27FC236}">
                <a16:creationId xmlns:a16="http://schemas.microsoft.com/office/drawing/2014/main" id="{30167A53-0562-4B88-BBCA-BB3587E7A9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6763" y="1093788"/>
          <a:ext cx="5348287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9" name="公式" r:id="rId3" imgW="2413000" imgH="228600" progId="Equation.3">
                  <p:embed/>
                </p:oleObj>
              </mc:Choice>
              <mc:Fallback>
                <p:oleObj name="公式" r:id="rId3" imgW="24130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1093788"/>
                        <a:ext cx="5348287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>
            <a:extLst>
              <a:ext uri="{FF2B5EF4-FFF2-40B4-BE49-F238E27FC236}">
                <a16:creationId xmlns:a16="http://schemas.microsoft.com/office/drawing/2014/main" id="{68FDD2DC-0543-479A-9E4F-0B8387390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93788"/>
            <a:ext cx="2903538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目标</a:t>
            </a:r>
            <a:r>
              <a:rPr lang="en-US" altLang="zh-CN" sz="2800" b="1"/>
              <a:t>2</a:t>
            </a:r>
            <a:r>
              <a:rPr lang="zh-CN" altLang="en-US" sz="2800" b="1"/>
              <a:t>（总根数）</a:t>
            </a:r>
          </a:p>
        </p:txBody>
      </p:sp>
      <p:sp>
        <p:nvSpPr>
          <p:cNvPr id="61444" name="Rectangle 5">
            <a:extLst>
              <a:ext uri="{FF2B5EF4-FFF2-40B4-BE49-F238E27FC236}">
                <a16:creationId xmlns:a16="http://schemas.microsoft.com/office/drawing/2014/main" id="{265B6153-C476-44F4-BE44-F7972F244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"/>
            <a:ext cx="27432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钢管下料问题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 </a:t>
            </a:r>
          </a:p>
        </p:txBody>
      </p:sp>
      <p:sp>
        <p:nvSpPr>
          <p:cNvPr id="77830" name="Text Box 6">
            <a:extLst>
              <a:ext uri="{FF2B5EF4-FFF2-40B4-BE49-F238E27FC236}">
                <a16:creationId xmlns:a16="http://schemas.microsoft.com/office/drawing/2014/main" id="{CC4A91B1-F0FB-4DD3-B17C-ADBE0FCC5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1295400" cy="94615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约束条件不变 </a:t>
            </a:r>
            <a:endParaRPr lang="zh-CN" altLang="en-US" sz="2800" b="1"/>
          </a:p>
        </p:txBody>
      </p:sp>
      <p:sp>
        <p:nvSpPr>
          <p:cNvPr id="77831" name="Text Box 7">
            <a:extLst>
              <a:ext uri="{FF2B5EF4-FFF2-40B4-BE49-F238E27FC236}">
                <a16:creationId xmlns:a16="http://schemas.microsoft.com/office/drawing/2014/main" id="{162A5869-024D-4407-8B2C-4EA965B5E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44675"/>
            <a:ext cx="2590800" cy="1971675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最优解：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=15, 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5</a:t>
            </a:r>
            <a:r>
              <a:rPr lang="en-US" altLang="zh-CN" sz="2800" b="1"/>
              <a:t>=5, 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7</a:t>
            </a:r>
            <a:r>
              <a:rPr lang="en-US" altLang="zh-CN" sz="2800" b="1"/>
              <a:t>=5,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其余为</a:t>
            </a:r>
            <a:r>
              <a:rPr lang="en-US" altLang="zh-CN" sz="2800" b="1"/>
              <a:t>0</a:t>
            </a:r>
            <a:r>
              <a:rPr lang="zh-CN" altLang="en-US" sz="2800" b="1"/>
              <a:t>；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最优值：</a:t>
            </a:r>
            <a:r>
              <a:rPr lang="en-US" altLang="zh-CN" sz="2800" b="1"/>
              <a:t>25.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06D13623-7B1B-43F2-AFE2-E799ADF3DEE5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752600"/>
            <a:ext cx="3663950" cy="2057400"/>
            <a:chOff x="1104" y="1008"/>
            <a:chExt cx="2308" cy="1296"/>
          </a:xfrm>
        </p:grpSpPr>
        <p:graphicFrame>
          <p:nvGraphicFramePr>
            <p:cNvPr id="61451" name="Object 9">
              <a:extLst>
                <a:ext uri="{FF2B5EF4-FFF2-40B4-BE49-F238E27FC236}">
                  <a16:creationId xmlns:a16="http://schemas.microsoft.com/office/drawing/2014/main" id="{FC98B581-F6C3-4DE1-BDEF-394E48A6E1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008"/>
            <a:ext cx="230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0" r:id="rId5" imgW="1879600" imgH="228600" progId="Equation.3">
                    <p:embed/>
                  </p:oleObj>
                </mc:Choice>
                <mc:Fallback>
                  <p:oleObj r:id="rId5" imgW="18796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008"/>
                          <a:ext cx="230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2" name="Object 10">
              <a:extLst>
                <a:ext uri="{FF2B5EF4-FFF2-40B4-BE49-F238E27FC236}">
                  <a16:creationId xmlns:a16="http://schemas.microsoft.com/office/drawing/2014/main" id="{AD6B87B8-E8CD-4BBD-9565-21DEB83E6D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344"/>
            <a:ext cx="2037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1" r:id="rId7" imgW="1524000" imgH="228600" progId="Equation.3">
                    <p:embed/>
                  </p:oleObj>
                </mc:Choice>
                <mc:Fallback>
                  <p:oleObj r:id="rId7" imgW="15240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344"/>
                          <a:ext cx="2037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3" name="Object 11">
              <a:extLst>
                <a:ext uri="{FF2B5EF4-FFF2-40B4-BE49-F238E27FC236}">
                  <a16:creationId xmlns:a16="http://schemas.microsoft.com/office/drawing/2014/main" id="{B1ADCB14-CDB7-4F16-838A-C1E80FE873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680"/>
            <a:ext cx="158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2" r:id="rId9" imgW="1143000" imgH="228600" progId="Equation.3">
                    <p:embed/>
                  </p:oleObj>
                </mc:Choice>
                <mc:Fallback>
                  <p:oleObj r:id="rId9" imgW="11430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680"/>
                          <a:ext cx="158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4" name="Text Box 12">
              <a:extLst>
                <a:ext uri="{FF2B5EF4-FFF2-40B4-BE49-F238E27FC236}">
                  <a16:creationId xmlns:a16="http://schemas.microsoft.com/office/drawing/2014/main" id="{D73A515B-8945-4494-8DDF-680D6FD6F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977"/>
              <a:ext cx="10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 i="1" baseline="-30000"/>
                <a:t>i </a:t>
              </a:r>
              <a:r>
                <a:rPr lang="zh-CN" altLang="en-US" sz="2800"/>
                <a:t>为整数</a:t>
              </a:r>
            </a:p>
          </p:txBody>
        </p:sp>
      </p:grpSp>
      <p:sp>
        <p:nvSpPr>
          <p:cNvPr id="77837" name="Text Box 13">
            <a:extLst>
              <a:ext uri="{FF2B5EF4-FFF2-40B4-BE49-F238E27FC236}">
                <a16:creationId xmlns:a16="http://schemas.microsoft.com/office/drawing/2014/main" id="{226423CF-2A07-4D88-9172-CD9FDC07D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860800"/>
            <a:ext cx="7646988" cy="1117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按模式</a:t>
            </a:r>
            <a:r>
              <a:rPr lang="en-US" altLang="zh-CN" sz="2800" b="1"/>
              <a:t>2</a:t>
            </a:r>
            <a:r>
              <a:rPr lang="zh-CN" altLang="en-US" sz="2800" b="1"/>
              <a:t>切割</a:t>
            </a:r>
            <a:r>
              <a:rPr lang="en-US" altLang="zh-CN" sz="2800" b="1"/>
              <a:t>15</a:t>
            </a:r>
            <a:r>
              <a:rPr lang="zh-CN" altLang="en-US" sz="2800" b="1"/>
              <a:t>根，按模式</a:t>
            </a:r>
            <a:r>
              <a:rPr lang="en-US" altLang="zh-CN" sz="2800" b="1"/>
              <a:t>5</a:t>
            </a:r>
            <a:r>
              <a:rPr lang="zh-CN" altLang="en-US" sz="2800" b="1"/>
              <a:t>切割</a:t>
            </a:r>
            <a:r>
              <a:rPr lang="en-US" altLang="zh-CN" sz="2800" b="1"/>
              <a:t>5</a:t>
            </a:r>
            <a:r>
              <a:rPr lang="zh-CN" altLang="en-US" sz="2800" b="1"/>
              <a:t>根，按模式</a:t>
            </a:r>
            <a:r>
              <a:rPr lang="en-US" altLang="zh-CN" sz="2800" b="1"/>
              <a:t>7</a:t>
            </a:r>
            <a:r>
              <a:rPr lang="zh-CN" altLang="en-US" sz="2800" b="1"/>
              <a:t>切割</a:t>
            </a:r>
            <a:r>
              <a:rPr lang="en-US" altLang="zh-CN" sz="2800" b="1"/>
              <a:t>5</a:t>
            </a:r>
            <a:r>
              <a:rPr lang="zh-CN" altLang="en-US" sz="2800" b="1"/>
              <a:t>根，共</a:t>
            </a:r>
            <a:r>
              <a:rPr lang="en-US" altLang="zh-CN" sz="2800" b="1">
                <a:solidFill>
                  <a:srgbClr val="FF0000"/>
                </a:solidFill>
              </a:rPr>
              <a:t>25</a:t>
            </a:r>
            <a:r>
              <a:rPr lang="zh-CN" altLang="en-US" sz="2800" b="1">
                <a:solidFill>
                  <a:srgbClr val="FF0000"/>
                </a:solidFill>
              </a:rPr>
              <a:t>根，余料</a:t>
            </a:r>
            <a:r>
              <a:rPr lang="en-US" altLang="zh-CN" sz="2800" b="1">
                <a:solidFill>
                  <a:srgbClr val="FF0000"/>
                </a:solidFill>
              </a:rPr>
              <a:t>35m</a:t>
            </a:r>
            <a:r>
              <a:rPr lang="zh-CN" altLang="en-US" sz="2800" b="1"/>
              <a:t> </a:t>
            </a:r>
            <a:r>
              <a:rPr lang="en-US" altLang="zh-CN" sz="2800" b="1"/>
              <a:t>.</a:t>
            </a:r>
          </a:p>
        </p:txBody>
      </p:sp>
      <p:sp>
        <p:nvSpPr>
          <p:cNvPr id="77838" name="Text Box 14">
            <a:extLst>
              <a:ext uri="{FF2B5EF4-FFF2-40B4-BE49-F238E27FC236}">
                <a16:creationId xmlns:a16="http://schemas.microsoft.com/office/drawing/2014/main" id="{0C27B39B-5DDA-4C1C-9586-4AE616BA5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734050"/>
            <a:ext cx="7920037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目标</a:t>
            </a:r>
            <a:r>
              <a:rPr lang="en-US" altLang="zh-CN" sz="2800" b="1"/>
              <a:t>2</a:t>
            </a:r>
            <a:r>
              <a:rPr lang="zh-CN" altLang="en-US" sz="2800" b="1"/>
              <a:t>切割减少了</a:t>
            </a:r>
            <a:r>
              <a:rPr lang="en-US" altLang="zh-CN" sz="2800" b="1"/>
              <a:t>2</a:t>
            </a:r>
            <a:r>
              <a:rPr lang="zh-CN" altLang="en-US" sz="2800" b="1"/>
              <a:t>根</a:t>
            </a:r>
            <a:r>
              <a:rPr lang="en-US" altLang="zh-CN" sz="2800" b="1"/>
              <a:t>,  </a:t>
            </a:r>
            <a:r>
              <a:rPr lang="zh-CN" altLang="en-US" sz="2800" b="1"/>
              <a:t>但余料增加</a:t>
            </a:r>
            <a:r>
              <a:rPr lang="en-US" altLang="zh-CN" sz="2800" b="1"/>
              <a:t>8m, </a:t>
            </a:r>
            <a:r>
              <a:rPr lang="zh-CN" altLang="en-US" sz="2800" b="1"/>
              <a:t>为什么</a:t>
            </a:r>
            <a:r>
              <a:rPr lang="en-US" altLang="zh-CN" sz="2800" b="1"/>
              <a:t>?</a:t>
            </a:r>
          </a:p>
        </p:txBody>
      </p:sp>
      <p:sp>
        <p:nvSpPr>
          <p:cNvPr id="77839" name="Text Box 15">
            <a:extLst>
              <a:ext uri="{FF2B5EF4-FFF2-40B4-BE49-F238E27FC236}">
                <a16:creationId xmlns:a16="http://schemas.microsoft.com/office/drawing/2014/main" id="{817F762F-B6A5-4F97-BE0B-A7C52F710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13325"/>
            <a:ext cx="74168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与</a:t>
            </a:r>
            <a:r>
              <a:rPr lang="zh-CN" altLang="en-US" sz="2800" b="1">
                <a:latin typeface="宋体" panose="02010600030101010101" pitchFamily="2" charset="-122"/>
              </a:rPr>
              <a:t>目标</a:t>
            </a:r>
            <a:r>
              <a:rPr lang="en-US" altLang="zh-CN" sz="2800" b="1"/>
              <a:t>1</a:t>
            </a:r>
            <a:r>
              <a:rPr lang="zh-CN" altLang="en-US" sz="2800" b="1"/>
              <a:t>的结果“共切割</a:t>
            </a:r>
            <a:r>
              <a:rPr lang="en-US" altLang="zh-CN" sz="2800" b="1">
                <a:solidFill>
                  <a:srgbClr val="FF0000"/>
                </a:solidFill>
              </a:rPr>
              <a:t>27</a:t>
            </a:r>
            <a:r>
              <a:rPr lang="zh-CN" altLang="en-US" sz="2800" b="1">
                <a:solidFill>
                  <a:srgbClr val="FF0000"/>
                </a:solidFill>
              </a:rPr>
              <a:t>根，余料</a:t>
            </a:r>
            <a:r>
              <a:rPr lang="en-US" altLang="zh-CN" sz="2800" b="1">
                <a:solidFill>
                  <a:srgbClr val="FF0000"/>
                </a:solidFill>
              </a:rPr>
              <a:t>27m</a:t>
            </a:r>
            <a:r>
              <a:rPr lang="zh-CN" altLang="en-US" sz="2800" b="1"/>
              <a:t>” 相比</a:t>
            </a:r>
            <a:r>
              <a:rPr lang="en-US" altLang="zh-CN" sz="2800" b="1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animBg="1"/>
      <p:bldP spid="77830" grpId="0" animBg="1" autoUpdateAnimBg="0"/>
      <p:bldP spid="77831" grpId="0" animBg="1" autoUpdateAnimBg="0"/>
      <p:bldP spid="77837" grpId="0" animBg="1" autoUpdateAnimBg="0"/>
      <p:bldP spid="77838" grpId="0" animBg="1"/>
      <p:bldP spid="77839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Text Box 4">
            <a:extLst>
              <a:ext uri="{FF2B5EF4-FFF2-40B4-BE49-F238E27FC236}">
                <a16:creationId xmlns:a16="http://schemas.microsoft.com/office/drawing/2014/main" id="{C29CFA65-2691-48C8-8E72-1AA8D9067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76925"/>
            <a:ext cx="7129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若余料没有用处</a:t>
            </a:r>
            <a:r>
              <a:rPr lang="en-US" altLang="zh-CN" sz="2800" b="1">
                <a:solidFill>
                  <a:srgbClr val="0000FF"/>
                </a:solidFill>
              </a:rPr>
              <a:t>, 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通常以总根数最少为目标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. </a:t>
            </a:r>
          </a:p>
        </p:txBody>
      </p:sp>
      <p:sp>
        <p:nvSpPr>
          <p:cNvPr id="62467" name="Rectangle 5">
            <a:extLst>
              <a:ext uri="{FF2B5EF4-FFF2-40B4-BE49-F238E27FC236}">
                <a16:creationId xmlns:a16="http://schemas.microsoft.com/office/drawing/2014/main" id="{0A4E84DE-575B-4E15-A876-E7272D4A5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"/>
            <a:ext cx="27432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钢管下料问题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 </a:t>
            </a:r>
          </a:p>
        </p:txBody>
      </p:sp>
      <p:sp>
        <p:nvSpPr>
          <p:cNvPr id="104590" name="Text Box 142">
            <a:extLst>
              <a:ext uri="{FF2B5EF4-FFF2-40B4-BE49-F238E27FC236}">
                <a16:creationId xmlns:a16="http://schemas.microsoft.com/office/drawing/2014/main" id="{5C67217D-9ADD-4733-8305-77D6504FD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82804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目标</a:t>
            </a:r>
            <a:r>
              <a:rPr lang="en-US" altLang="zh-CN" sz="2800" b="1"/>
              <a:t>1(</a:t>
            </a:r>
            <a:r>
              <a:rPr lang="zh-CN" altLang="en-US" sz="2800" b="1"/>
              <a:t>总余量</a:t>
            </a:r>
            <a:r>
              <a:rPr lang="en-US" altLang="zh-CN" sz="2800" b="1"/>
              <a:t>) ~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=12, 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5</a:t>
            </a:r>
            <a:r>
              <a:rPr lang="en-US" altLang="zh-CN" sz="2800" b="1"/>
              <a:t>=15,  </a:t>
            </a:r>
            <a:r>
              <a:rPr lang="zh-CN" altLang="en-US" sz="2800" b="1">
                <a:latin typeface="宋体" panose="02010600030101010101" pitchFamily="2" charset="-122"/>
              </a:rPr>
              <a:t>共</a:t>
            </a:r>
            <a:r>
              <a:rPr lang="en-US" altLang="zh-CN" sz="2800" b="1">
                <a:latin typeface="宋体" panose="02010600030101010101" pitchFamily="2" charset="-122"/>
              </a:rPr>
              <a:t>27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余</a:t>
            </a:r>
            <a:r>
              <a:rPr lang="en-US" altLang="zh-CN" sz="2800" b="1"/>
              <a:t>27m </a:t>
            </a:r>
          </a:p>
        </p:txBody>
      </p:sp>
      <p:sp>
        <p:nvSpPr>
          <p:cNvPr id="104591" name="Text Box 143">
            <a:extLst>
              <a:ext uri="{FF2B5EF4-FFF2-40B4-BE49-F238E27FC236}">
                <a16:creationId xmlns:a16="http://schemas.microsoft.com/office/drawing/2014/main" id="{38C0CC0E-D7E7-4817-A8DE-7DAF1C0CF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412875"/>
            <a:ext cx="8281987" cy="6048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目标</a:t>
            </a:r>
            <a:r>
              <a:rPr lang="en-US" altLang="zh-CN" sz="2800" b="1"/>
              <a:t>2(</a:t>
            </a:r>
            <a:r>
              <a:rPr lang="zh-CN" altLang="en-US" sz="2800" b="1"/>
              <a:t>总根数</a:t>
            </a:r>
            <a:r>
              <a:rPr lang="en-US" altLang="zh-CN" sz="2800" b="1"/>
              <a:t>) ~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=15, 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5</a:t>
            </a:r>
            <a:r>
              <a:rPr lang="en-US" altLang="zh-CN" sz="2800" b="1"/>
              <a:t>=5, 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7</a:t>
            </a:r>
            <a:r>
              <a:rPr lang="en-US" altLang="zh-CN" sz="2800" b="1"/>
              <a:t>=5,  </a:t>
            </a:r>
            <a:r>
              <a:rPr lang="zh-CN" altLang="en-US" sz="2800" b="1"/>
              <a:t>共</a:t>
            </a:r>
            <a:r>
              <a:rPr lang="en-US" altLang="zh-CN" sz="2800" b="1"/>
              <a:t>25</a:t>
            </a:r>
            <a:r>
              <a:rPr lang="zh-CN" altLang="en-US" sz="2800" b="1"/>
              <a:t>根</a:t>
            </a:r>
            <a:r>
              <a:rPr lang="en-US" altLang="zh-CN" sz="2800" b="1"/>
              <a:t>, </a:t>
            </a:r>
            <a:r>
              <a:rPr lang="zh-CN" altLang="en-US" sz="2800" b="1"/>
              <a:t>余</a:t>
            </a:r>
            <a:r>
              <a:rPr lang="en-US" altLang="zh-CN" sz="2800" b="1"/>
              <a:t>35m</a:t>
            </a:r>
            <a:endParaRPr lang="zh-CN" altLang="en-US" sz="2800" b="1"/>
          </a:p>
        </p:txBody>
      </p:sp>
      <p:graphicFrame>
        <p:nvGraphicFramePr>
          <p:cNvPr id="104518" name="Group 70">
            <a:extLst>
              <a:ext uri="{FF2B5EF4-FFF2-40B4-BE49-F238E27FC236}">
                <a16:creationId xmlns:a16="http://schemas.microsoft.com/office/drawing/2014/main" id="{94F3075C-ED2E-4BD9-B28D-0D4CB93C198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312738" y="2025650"/>
          <a:ext cx="4259262" cy="19113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1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模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式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4m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根数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6m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根数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8m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根数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余料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(m)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8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4519" name="Group 71">
            <a:extLst>
              <a:ext uri="{FF2B5EF4-FFF2-40B4-BE49-F238E27FC236}">
                <a16:creationId xmlns:a16="http://schemas.microsoft.com/office/drawing/2014/main" id="{C49F8693-2430-4FF9-9031-340B657EF97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781550" y="2025650"/>
          <a:ext cx="4038600" cy="1889125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8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4m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根数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6m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根数</a:t>
                      </a:r>
                    </a:p>
                  </a:txBody>
                  <a:tcPr marT="45693" marB="456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8m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根数</a:t>
                      </a:r>
                    </a:p>
                  </a:txBody>
                  <a:tcPr marT="45693" marB="456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0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需求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693" marB="456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T="45693" marB="456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0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目标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51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27</a:t>
                      </a:r>
                    </a:p>
                  </a:txBody>
                  <a:tcPr marT="45693" marB="456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T="45693" marB="456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0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目标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693" marB="456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T="45693" marB="456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51" name="Text Box 403">
            <a:extLst>
              <a:ext uri="{FF2B5EF4-FFF2-40B4-BE49-F238E27FC236}">
                <a16:creationId xmlns:a16="http://schemas.microsoft.com/office/drawing/2014/main" id="{BD4C43E6-3DFA-4322-B9DE-7922AC25A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05263"/>
            <a:ext cx="8135937" cy="1117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按照目标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比需求多生产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根</a:t>
            </a:r>
            <a:r>
              <a:rPr lang="en-US" altLang="zh-CN" sz="2800" b="1">
                <a:solidFill>
                  <a:srgbClr val="FF0000"/>
                </a:solidFill>
              </a:rPr>
              <a:t>4m</a:t>
            </a:r>
            <a:r>
              <a:rPr lang="zh-CN" altLang="en-US" sz="2800" b="1">
                <a:solidFill>
                  <a:srgbClr val="FF0000"/>
                </a:solidFill>
              </a:rPr>
              <a:t>、</a:t>
            </a:r>
            <a:r>
              <a:rPr lang="en-US" altLang="zh-CN" sz="2800" b="1">
                <a:solidFill>
                  <a:srgbClr val="FF0000"/>
                </a:solidFill>
              </a:rPr>
              <a:t>7</a:t>
            </a:r>
            <a:r>
              <a:rPr lang="zh-CN" altLang="en-US" sz="2800" b="1">
                <a:solidFill>
                  <a:srgbClr val="FF0000"/>
                </a:solidFill>
              </a:rPr>
              <a:t>根</a:t>
            </a:r>
            <a:r>
              <a:rPr lang="en-US" altLang="zh-CN" sz="2800" b="1">
                <a:solidFill>
                  <a:srgbClr val="FF0000"/>
                </a:solidFill>
              </a:rPr>
              <a:t>6m,  </a:t>
            </a:r>
            <a:r>
              <a:rPr lang="zh-CN" altLang="en-US" sz="2800" b="1">
                <a:solidFill>
                  <a:srgbClr val="FF0000"/>
                </a:solidFill>
              </a:rPr>
              <a:t>共</a:t>
            </a:r>
            <a:r>
              <a:rPr lang="en-US" altLang="zh-CN" sz="2800" b="1">
                <a:solidFill>
                  <a:srgbClr val="FF0000"/>
                </a:solidFill>
              </a:rPr>
              <a:t>46m,</a:t>
            </a: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FF0000"/>
                </a:solidFill>
              </a:rPr>
              <a:t>正好等于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根原料</a:t>
            </a:r>
            <a:r>
              <a:rPr lang="en-US" altLang="zh-CN" sz="2800" b="1">
                <a:solidFill>
                  <a:srgbClr val="FF0000"/>
                </a:solidFill>
              </a:rPr>
              <a:t>(38m)</a:t>
            </a:r>
            <a:r>
              <a:rPr lang="zh-CN" altLang="en-US" sz="2800" b="1">
                <a:solidFill>
                  <a:srgbClr val="FF0000"/>
                </a:solidFill>
              </a:rPr>
              <a:t>再加</a:t>
            </a:r>
            <a:r>
              <a:rPr lang="en-US" altLang="zh-CN" sz="2800" b="1">
                <a:solidFill>
                  <a:srgbClr val="FF0000"/>
                </a:solidFill>
              </a:rPr>
              <a:t>8m.</a:t>
            </a:r>
          </a:p>
        </p:txBody>
      </p:sp>
      <p:sp>
        <p:nvSpPr>
          <p:cNvPr id="104853" name="Rectangle 405">
            <a:extLst>
              <a:ext uri="{FF2B5EF4-FFF2-40B4-BE49-F238E27FC236}">
                <a16:creationId xmlns:a16="http://schemas.microsoft.com/office/drawing/2014/main" id="{A4E5E8C4-AD2C-4F1B-9F75-B87983874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4048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原料钢管</a:t>
            </a:r>
            <a:r>
              <a:rPr lang="en-US" altLang="zh-CN" sz="2800" b="1">
                <a:latin typeface="宋体" panose="02010600030101010101" pitchFamily="2" charset="-122"/>
              </a:rPr>
              <a:t>:</a:t>
            </a:r>
            <a:r>
              <a:rPr lang="zh-CN" altLang="en-US" sz="2800" b="1">
                <a:latin typeface="宋体" panose="02010600030101010101" pitchFamily="2" charset="-122"/>
              </a:rPr>
              <a:t>每根</a:t>
            </a:r>
            <a:r>
              <a:rPr lang="en-US" altLang="zh-CN" sz="2800" b="1"/>
              <a:t>19m</a:t>
            </a:r>
            <a:endParaRPr lang="zh-CN" altLang="en-US" sz="2800" b="1"/>
          </a:p>
        </p:txBody>
      </p:sp>
      <p:sp>
        <p:nvSpPr>
          <p:cNvPr id="104855" name="Text Box 407">
            <a:extLst>
              <a:ext uri="{FF2B5EF4-FFF2-40B4-BE49-F238E27FC236}">
                <a16:creationId xmlns:a16="http://schemas.microsoft.com/office/drawing/2014/main" id="{898D26F8-6AE8-4134-A2C7-A25BD47D5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15778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/>
              <a:t>若多生产的也视为余料</a:t>
            </a:r>
            <a:r>
              <a:rPr lang="en-US" altLang="zh-CN" sz="2800" b="1"/>
              <a:t>, </a:t>
            </a:r>
            <a:r>
              <a:rPr lang="zh-CN" altLang="en-US" sz="2800" b="1">
                <a:latin typeface="宋体" panose="02010600030101010101" pitchFamily="2" charset="-122"/>
              </a:rPr>
              <a:t>则</a:t>
            </a:r>
            <a:r>
              <a:rPr lang="zh-CN" altLang="en-US" sz="2800" b="1"/>
              <a:t>总余量最小等价于</a:t>
            </a:r>
            <a:r>
              <a:rPr lang="zh-CN" altLang="en-US" sz="2800" b="1">
                <a:latin typeface="宋体" panose="02010600030101010101" pitchFamily="2" charset="-122"/>
              </a:rPr>
              <a:t>总根数最少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0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animBg="1" autoUpdateAnimBg="0"/>
      <p:bldP spid="104590" grpId="0" animBg="1" autoUpdateAnimBg="0"/>
      <p:bldP spid="104591" grpId="0" animBg="1" autoUpdateAnimBg="0"/>
      <p:bldP spid="104851" grpId="0" animBg="1" autoUpdateAnimBg="0"/>
      <p:bldP spid="104853" grpId="0"/>
      <p:bldP spid="104855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>
            <a:extLst>
              <a:ext uri="{FF2B5EF4-FFF2-40B4-BE49-F238E27FC236}">
                <a16:creationId xmlns:a16="http://schemas.microsoft.com/office/drawing/2014/main" id="{109370C6-87D2-4BBD-A6DD-06422B63A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26670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钢管下料问题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</a:p>
        </p:txBody>
      </p:sp>
      <p:sp>
        <p:nvSpPr>
          <p:cNvPr id="78851" name="Text Box 3">
            <a:extLst>
              <a:ext uri="{FF2B5EF4-FFF2-40B4-BE49-F238E27FC236}">
                <a16:creationId xmlns:a16="http://schemas.microsoft.com/office/drawing/2014/main" id="{A077F3B6-2968-420F-A301-BE81462B6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0"/>
            <a:ext cx="78486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对大规模问题，用模型的约束条件界定合理模式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78852" name="Text Box 4">
            <a:extLst>
              <a:ext uri="{FF2B5EF4-FFF2-40B4-BE49-F238E27FC236}">
                <a16:creationId xmlns:a16="http://schemas.microsoft.com/office/drawing/2014/main" id="{4A9E98A5-8284-4BA0-BBF8-81A0A9333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66800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增加一种需求：</a:t>
            </a:r>
            <a:r>
              <a:rPr lang="en-US" altLang="zh-CN" sz="2800" b="1">
                <a:solidFill>
                  <a:srgbClr val="FF0000"/>
                </a:solidFill>
              </a:rPr>
              <a:t>10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根</a:t>
            </a:r>
            <a:r>
              <a:rPr lang="en-US" altLang="zh-CN" sz="2800" b="1">
                <a:solidFill>
                  <a:srgbClr val="FF0000"/>
                </a:solidFill>
              </a:rPr>
              <a:t>5m 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；切割</a:t>
            </a:r>
            <a:r>
              <a:rPr lang="zh-CN" altLang="en-US" sz="2800" b="1">
                <a:solidFill>
                  <a:srgbClr val="FF0000"/>
                </a:solidFill>
              </a:rPr>
              <a:t>模式不超过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zh-CN" altLang="en-US" sz="2800" b="1">
                <a:solidFill>
                  <a:srgbClr val="FF0000"/>
                </a:solidFill>
              </a:rPr>
              <a:t>种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8853" name="Text Box 5">
            <a:extLst>
              <a:ext uri="{FF2B5EF4-FFF2-40B4-BE49-F238E27FC236}">
                <a16:creationId xmlns:a16="http://schemas.microsoft.com/office/drawing/2014/main" id="{93486418-DD6C-4CBC-9B41-DCBB7F804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52600"/>
            <a:ext cx="7924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现有</a:t>
            </a:r>
            <a:r>
              <a:rPr lang="en-US" altLang="zh-CN" sz="2800" b="1"/>
              <a:t>4</a:t>
            </a:r>
            <a:r>
              <a:rPr lang="zh-CN" altLang="en-US" sz="2800" b="1"/>
              <a:t>种</a:t>
            </a:r>
            <a:r>
              <a:rPr lang="zh-CN" altLang="en-US" sz="2800" b="1">
                <a:latin typeface="宋体" panose="02010600030101010101" pitchFamily="2" charset="-122"/>
              </a:rPr>
              <a:t>需求：</a:t>
            </a:r>
            <a:r>
              <a:rPr lang="en-US" altLang="zh-CN" sz="2800" b="1"/>
              <a:t>50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/>
              <a:t>4m</a:t>
            </a:r>
            <a:r>
              <a:rPr lang="en-US" altLang="zh-CN" sz="2800" b="1">
                <a:latin typeface="宋体" panose="02010600030101010101" pitchFamily="2" charset="-122"/>
              </a:rPr>
              <a:t>, </a:t>
            </a:r>
            <a:r>
              <a:rPr lang="en-US" altLang="zh-CN" sz="2800" b="1"/>
              <a:t>10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/>
              <a:t>5m</a:t>
            </a:r>
            <a:r>
              <a:rPr lang="en-US" altLang="zh-CN" sz="2800" b="1">
                <a:latin typeface="宋体" panose="02010600030101010101" pitchFamily="2" charset="-122"/>
              </a:rPr>
              <a:t>, </a:t>
            </a:r>
            <a:r>
              <a:rPr lang="en-US" altLang="zh-CN" sz="2800" b="1"/>
              <a:t>20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/>
              <a:t>6m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en-US" altLang="zh-CN" sz="2800" b="1"/>
              <a:t>15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/>
              <a:t>8m</a:t>
            </a:r>
            <a:r>
              <a:rPr lang="zh-CN" altLang="en-US" sz="2800" b="1">
                <a:latin typeface="宋体" panose="02010600030101010101" pitchFamily="2" charset="-122"/>
              </a:rPr>
              <a:t>，用枚举法确定合理切割模式，过于复杂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78854" name="Text Box 6">
            <a:extLst>
              <a:ext uri="{FF2B5EF4-FFF2-40B4-BE49-F238E27FC236}">
                <a16:creationId xmlns:a16="http://schemas.microsoft.com/office/drawing/2014/main" id="{8D22ADD8-7974-4909-9A10-79810F8BF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733800"/>
            <a:ext cx="16764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决策变量</a:t>
            </a:r>
            <a:r>
              <a:rPr lang="zh-CN" altLang="en-US" sz="2800"/>
              <a:t> </a:t>
            </a:r>
          </a:p>
        </p:txBody>
      </p:sp>
      <p:sp>
        <p:nvSpPr>
          <p:cNvPr id="78855" name="Text Box 7">
            <a:extLst>
              <a:ext uri="{FF2B5EF4-FFF2-40B4-BE49-F238E27FC236}">
                <a16:creationId xmlns:a16="http://schemas.microsoft.com/office/drawing/2014/main" id="{8F1EC41D-73E2-44B5-86AE-40FF2CB5E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196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30000"/>
              <a:t>i </a:t>
            </a:r>
            <a:r>
              <a:rPr lang="en-US" altLang="zh-CN" sz="2800" b="1"/>
              <a:t>~</a:t>
            </a:r>
            <a:r>
              <a:rPr lang="zh-CN" altLang="en-US" sz="2800" b="1">
                <a:latin typeface="宋体" panose="02010600030101010101" pitchFamily="2" charset="-122"/>
              </a:rPr>
              <a:t>按第</a:t>
            </a:r>
            <a:r>
              <a:rPr lang="en-US" altLang="zh-CN" sz="2800" b="1" i="1"/>
              <a:t>i </a:t>
            </a:r>
            <a:r>
              <a:rPr lang="zh-CN" altLang="en-US" sz="2800" b="1">
                <a:latin typeface="宋体" panose="02010600030101010101" pitchFamily="2" charset="-122"/>
              </a:rPr>
              <a:t>种模式切割的原料钢管根数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 i="1"/>
              <a:t>i</a:t>
            </a:r>
            <a:r>
              <a:rPr lang="en-US" altLang="zh-CN" sz="2800" b="1">
                <a:latin typeface="宋体" panose="02010600030101010101" pitchFamily="2" charset="-122"/>
              </a:rPr>
              <a:t>=</a:t>
            </a:r>
            <a:r>
              <a:rPr lang="en-US" altLang="zh-CN" sz="2800" b="1"/>
              <a:t>1,2,3</a:t>
            </a:r>
            <a:r>
              <a:rPr lang="en-US" altLang="zh-CN" sz="2800" b="1">
                <a:latin typeface="宋体" panose="02010600030101010101" pitchFamily="2" charset="-122"/>
              </a:rPr>
              <a:t>). </a:t>
            </a:r>
          </a:p>
        </p:txBody>
      </p:sp>
      <p:sp>
        <p:nvSpPr>
          <p:cNvPr id="78856" name="Text Box 8">
            <a:extLst>
              <a:ext uri="{FF2B5EF4-FFF2-40B4-BE49-F238E27FC236}">
                <a16:creationId xmlns:a16="http://schemas.microsoft.com/office/drawing/2014/main" id="{ADF4742D-46F3-4BB5-B0A7-F756337AD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013325"/>
            <a:ext cx="7620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/>
              <a:t>r</a:t>
            </a:r>
            <a:r>
              <a:rPr lang="en-US" altLang="zh-CN" sz="2800" b="1" baseline="-30000"/>
              <a:t>1</a:t>
            </a:r>
            <a:r>
              <a:rPr lang="en-US" altLang="zh-CN" sz="2800" b="1" i="1" baseline="-30000"/>
              <a:t>i</a:t>
            </a:r>
            <a:r>
              <a:rPr lang="en-US" altLang="zh-CN" sz="2800" b="1">
                <a:cs typeface="Courier New" panose="02070309020205020404" pitchFamily="49" charset="0"/>
              </a:rPr>
              <a:t>,</a:t>
            </a:r>
            <a:r>
              <a:rPr lang="en-US" altLang="zh-CN" sz="2800" b="1" i="1"/>
              <a:t> r</a:t>
            </a:r>
            <a:r>
              <a:rPr lang="en-US" altLang="zh-CN" sz="2800" b="1" baseline="-30000"/>
              <a:t>2</a:t>
            </a:r>
            <a:r>
              <a:rPr lang="en-US" altLang="zh-CN" sz="2800" b="1" i="1" baseline="-30000"/>
              <a:t>i</a:t>
            </a:r>
            <a:r>
              <a:rPr lang="en-US" altLang="zh-CN" sz="2800" b="1">
                <a:cs typeface="Courier New" panose="02070309020205020404" pitchFamily="49" charset="0"/>
              </a:rPr>
              <a:t>,</a:t>
            </a:r>
            <a:r>
              <a:rPr lang="en-US" altLang="zh-CN" sz="2800" b="1" i="1"/>
              <a:t> r</a:t>
            </a:r>
            <a:r>
              <a:rPr lang="en-US" altLang="zh-CN" sz="2800" b="1" baseline="-30000"/>
              <a:t>3</a:t>
            </a:r>
            <a:r>
              <a:rPr lang="en-US" altLang="zh-CN" sz="2800" b="1" i="1" baseline="-30000"/>
              <a:t>i</a:t>
            </a:r>
            <a:r>
              <a:rPr lang="en-US" altLang="zh-CN" sz="2800" b="1">
                <a:cs typeface="Courier New" panose="02070309020205020404" pitchFamily="49" charset="0"/>
              </a:rPr>
              <a:t>,</a:t>
            </a:r>
            <a:r>
              <a:rPr lang="en-US" altLang="zh-CN" sz="2800" b="1" i="1"/>
              <a:t> r</a:t>
            </a:r>
            <a:r>
              <a:rPr lang="en-US" altLang="zh-CN" sz="2800" b="1" baseline="-30000"/>
              <a:t>4</a:t>
            </a:r>
            <a:r>
              <a:rPr lang="en-US" altLang="zh-CN" sz="2800" b="1" i="1" baseline="-30000"/>
              <a:t>i </a:t>
            </a:r>
            <a:r>
              <a:rPr lang="en-US" altLang="zh-CN" sz="2800" b="1"/>
              <a:t>~ </a:t>
            </a:r>
            <a:r>
              <a:rPr lang="zh-CN" altLang="en-US" sz="2800" b="1"/>
              <a:t>第</a:t>
            </a:r>
            <a:r>
              <a:rPr lang="en-US" altLang="zh-CN" sz="2800" b="1" i="1"/>
              <a:t>i </a:t>
            </a:r>
            <a:r>
              <a:rPr lang="zh-CN" altLang="en-US" sz="2800" b="1"/>
              <a:t>种切割模式下，每根原料钢管生产</a:t>
            </a:r>
            <a:r>
              <a:rPr lang="en-US" altLang="zh-CN" sz="2800" b="1"/>
              <a:t>4m</a:t>
            </a:r>
            <a:r>
              <a:rPr lang="zh-CN" altLang="en-US" sz="2800" b="1"/>
              <a:t>、</a:t>
            </a:r>
            <a:r>
              <a:rPr lang="en-US" altLang="zh-CN" sz="2800" b="1"/>
              <a:t>5m</a:t>
            </a:r>
            <a:r>
              <a:rPr lang="zh-CN" altLang="en-US" sz="2800" b="1"/>
              <a:t>、</a:t>
            </a:r>
            <a:r>
              <a:rPr lang="en-US" altLang="zh-CN" sz="2800" b="1"/>
              <a:t>6m</a:t>
            </a:r>
            <a:r>
              <a:rPr lang="zh-CN" altLang="en-US" sz="2800" b="1"/>
              <a:t>和</a:t>
            </a:r>
            <a:r>
              <a:rPr lang="en-US" altLang="zh-CN" sz="2800" b="1"/>
              <a:t>8m</a:t>
            </a:r>
            <a:r>
              <a:rPr lang="zh-CN" altLang="en-US" sz="2800" b="1"/>
              <a:t>长的钢管的数量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63497" name="Object 9">
            <a:extLst>
              <a:ext uri="{FF2B5EF4-FFF2-40B4-BE49-F238E27FC236}">
                <a16:creationId xmlns:a16="http://schemas.microsoft.com/office/drawing/2014/main" id="{8F6A78B8-41A9-43B6-911A-CDCF24205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549275"/>
          <a:ext cx="696913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9" name="Clip" r:id="rId3" imgW="83527" imgH="99006" progId="MS_ClipArt_Gallery.2">
                  <p:embed/>
                </p:oleObj>
              </mc:Choice>
              <mc:Fallback>
                <p:oleObj name="Clip" r:id="rId3" imgW="83527" imgH="99006" progId="MS_ClipArt_Gallery.2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549275"/>
                        <a:ext cx="696913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8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8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8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animBg="1"/>
      <p:bldP spid="78852" grpId="0" animBg="1" autoUpdateAnimBg="0"/>
      <p:bldP spid="78853" grpId="0" animBg="1" autoUpdateAnimBg="0"/>
      <p:bldP spid="78854" grpId="0" animBg="1" autoUpdateAnimBg="0"/>
      <p:bldP spid="78855" grpId="0" animBg="1" autoUpdateAnimBg="0"/>
      <p:bldP spid="78856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>
            <a:extLst>
              <a:ext uri="{FF2B5EF4-FFF2-40B4-BE49-F238E27FC236}">
                <a16:creationId xmlns:a16="http://schemas.microsoft.com/office/drawing/2014/main" id="{22253C3F-3DC8-4056-B342-F06391897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24088"/>
            <a:ext cx="1752600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满足需求</a:t>
            </a:r>
            <a:endParaRPr lang="zh-CN" altLang="en-US" sz="2800" b="1"/>
          </a:p>
        </p:txBody>
      </p:sp>
      <p:graphicFrame>
        <p:nvGraphicFramePr>
          <p:cNvPr id="79875" name="Object 3">
            <a:extLst>
              <a:ext uri="{FF2B5EF4-FFF2-40B4-BE49-F238E27FC236}">
                <a16:creationId xmlns:a16="http://schemas.microsoft.com/office/drawing/2014/main" id="{87F8CA47-9C35-430E-BD88-EDC2640752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062288"/>
          <a:ext cx="3505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9" r:id="rId3" imgW="1485900" imgH="228600" progId="Equation.3">
                  <p:embed/>
                </p:oleObj>
              </mc:Choice>
              <mc:Fallback>
                <p:oleObj r:id="rId3" imgW="14859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62288"/>
                        <a:ext cx="3505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C3D0F8D0-34E9-480D-887D-1C65F4EE27A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748088"/>
            <a:ext cx="3581400" cy="1752600"/>
            <a:chOff x="336" y="2400"/>
            <a:chExt cx="2208" cy="1056"/>
          </a:xfrm>
        </p:grpSpPr>
        <p:graphicFrame>
          <p:nvGraphicFramePr>
            <p:cNvPr id="64528" name="Object 5">
              <a:extLst>
                <a:ext uri="{FF2B5EF4-FFF2-40B4-BE49-F238E27FC236}">
                  <a16:creationId xmlns:a16="http://schemas.microsoft.com/office/drawing/2014/main" id="{71BFFCB7-CA13-42EB-B6D7-697072C77C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2400"/>
            <a:ext cx="2208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40" r:id="rId5" imgW="1498600" imgH="228600" progId="Equation.3">
                    <p:embed/>
                  </p:oleObj>
                </mc:Choice>
                <mc:Fallback>
                  <p:oleObj r:id="rId5" imgW="14986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400"/>
                          <a:ext cx="2208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9" name="Object 6">
              <a:extLst>
                <a:ext uri="{FF2B5EF4-FFF2-40B4-BE49-F238E27FC236}">
                  <a16:creationId xmlns:a16="http://schemas.microsoft.com/office/drawing/2014/main" id="{0B5EFC1E-33D4-4123-9E65-6E8FA7706B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2749"/>
            <a:ext cx="220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41" r:id="rId7" imgW="1511300" imgH="228600" progId="Equation.3">
                    <p:embed/>
                  </p:oleObj>
                </mc:Choice>
                <mc:Fallback>
                  <p:oleObj r:id="rId7" imgW="15113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749"/>
                          <a:ext cx="220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0" name="Object 7">
              <a:extLst>
                <a:ext uri="{FF2B5EF4-FFF2-40B4-BE49-F238E27FC236}">
                  <a16:creationId xmlns:a16="http://schemas.microsoft.com/office/drawing/2014/main" id="{0F46B407-E4CF-4F9D-94C1-9AFD884522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3126"/>
            <a:ext cx="220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42" r:id="rId9" imgW="1498600" imgH="228600" progId="Equation.3">
                    <p:embed/>
                  </p:oleObj>
                </mc:Choice>
                <mc:Fallback>
                  <p:oleObj r:id="rId9" imgW="14986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3126"/>
                          <a:ext cx="2208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880" name="Text Box 8">
            <a:extLst>
              <a:ext uri="{FF2B5EF4-FFF2-40B4-BE49-F238E27FC236}">
                <a16:creationId xmlns:a16="http://schemas.microsoft.com/office/drawing/2014/main" id="{5FB89C42-82E0-426C-AC5C-6241A5285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843088"/>
            <a:ext cx="2895600" cy="1117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模式合理：每根余料不超过</a:t>
            </a:r>
            <a:r>
              <a:rPr lang="en-US" altLang="zh-CN" sz="2800" b="1"/>
              <a:t>3m</a:t>
            </a:r>
            <a:endParaRPr lang="zh-CN" altLang="en-US" sz="2800" b="1"/>
          </a:p>
        </p:txBody>
      </p:sp>
      <p:graphicFrame>
        <p:nvGraphicFramePr>
          <p:cNvPr id="79881" name="Object 9">
            <a:extLst>
              <a:ext uri="{FF2B5EF4-FFF2-40B4-BE49-F238E27FC236}">
                <a16:creationId xmlns:a16="http://schemas.microsoft.com/office/drawing/2014/main" id="{2B836A7E-CFDB-44B6-B959-A750D728E4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3062288"/>
          <a:ext cx="426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3" r:id="rId11" imgW="1981200" imgH="228600" progId="Equation.3">
                  <p:embed/>
                </p:oleObj>
              </mc:Choice>
              <mc:Fallback>
                <p:oleObj r:id="rId11" imgW="19812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062288"/>
                        <a:ext cx="4267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>
            <a:extLst>
              <a:ext uri="{FF2B5EF4-FFF2-40B4-BE49-F238E27FC236}">
                <a16:creationId xmlns:a16="http://schemas.microsoft.com/office/drawing/2014/main" id="{86B22AA9-D447-47C7-AD1C-B78C3F273ADA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595688"/>
            <a:ext cx="4343400" cy="1143000"/>
            <a:chOff x="2880" y="2496"/>
            <a:chExt cx="2736" cy="720"/>
          </a:xfrm>
        </p:grpSpPr>
        <p:graphicFrame>
          <p:nvGraphicFramePr>
            <p:cNvPr id="64526" name="Object 11">
              <a:extLst>
                <a:ext uri="{FF2B5EF4-FFF2-40B4-BE49-F238E27FC236}">
                  <a16:creationId xmlns:a16="http://schemas.microsoft.com/office/drawing/2014/main" id="{02ECFDBF-53B2-4E4A-891D-6B58E5B89A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2496"/>
            <a:ext cx="2688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44" r:id="rId13" imgW="2006600" imgH="228600" progId="Equation.3">
                    <p:embed/>
                  </p:oleObj>
                </mc:Choice>
                <mc:Fallback>
                  <p:oleObj r:id="rId13" imgW="20066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496"/>
                          <a:ext cx="2688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7" name="Object 12">
              <a:extLst>
                <a:ext uri="{FF2B5EF4-FFF2-40B4-BE49-F238E27FC236}">
                  <a16:creationId xmlns:a16="http://schemas.microsoft.com/office/drawing/2014/main" id="{4F64AF22-14C3-4FA6-8CC7-B48FE1B63E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2880"/>
            <a:ext cx="27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45" r:id="rId15" imgW="1993900" imgH="228600" progId="Equation.3">
                    <p:embed/>
                  </p:oleObj>
                </mc:Choice>
                <mc:Fallback>
                  <p:oleObj r:id="rId15" imgW="19939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880"/>
                          <a:ext cx="27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885" name="Text Box 13">
            <a:extLst>
              <a:ext uri="{FF2B5EF4-FFF2-40B4-BE49-F238E27FC236}">
                <a16:creationId xmlns:a16="http://schemas.microsoft.com/office/drawing/2014/main" id="{58DFB291-6659-4F5C-B986-D1FB75BD8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934075"/>
            <a:ext cx="35814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整数非线性规划模型</a:t>
            </a:r>
          </a:p>
        </p:txBody>
      </p:sp>
      <p:sp>
        <p:nvSpPr>
          <p:cNvPr id="64521" name="Text Box 14">
            <a:extLst>
              <a:ext uri="{FF2B5EF4-FFF2-40B4-BE49-F238E27FC236}">
                <a16:creationId xmlns:a16="http://schemas.microsoft.com/office/drawing/2014/main" id="{C21804E0-B90C-4DED-92B1-7A22086D2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5288"/>
            <a:ext cx="26670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钢管下料问题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</a:p>
        </p:txBody>
      </p:sp>
      <p:sp>
        <p:nvSpPr>
          <p:cNvPr id="79887" name="Text Box 15">
            <a:extLst>
              <a:ext uri="{FF2B5EF4-FFF2-40B4-BE49-F238E27FC236}">
                <a16:creationId xmlns:a16="http://schemas.microsoft.com/office/drawing/2014/main" id="{21735EEE-E838-4E35-82E1-B11C26C9D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5728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目标函数（</a:t>
            </a:r>
            <a:r>
              <a:rPr lang="zh-CN" altLang="en-US" sz="2800" b="1">
                <a:latin typeface="宋体" panose="02010600030101010101" pitchFamily="2" charset="-122"/>
              </a:rPr>
              <a:t>总根数）</a:t>
            </a:r>
          </a:p>
        </p:txBody>
      </p:sp>
      <p:graphicFrame>
        <p:nvGraphicFramePr>
          <p:cNvPr id="79888" name="Object 16">
            <a:extLst>
              <a:ext uri="{FF2B5EF4-FFF2-40B4-BE49-F238E27FC236}">
                <a16:creationId xmlns:a16="http://schemas.microsoft.com/office/drawing/2014/main" id="{86D8FE97-38E6-4E89-ADB6-938840FF00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4688" y="1141413"/>
          <a:ext cx="261302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6" name="公式" r:id="rId17" imgW="1016000" imgH="228600" progId="Equation.3">
                  <p:embed/>
                </p:oleObj>
              </mc:Choice>
              <mc:Fallback>
                <p:oleObj name="公式" r:id="rId17" imgW="10160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688" y="1141413"/>
                        <a:ext cx="261302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9" name="Text Box 17">
            <a:extLst>
              <a:ext uri="{FF2B5EF4-FFF2-40B4-BE49-F238E27FC236}">
                <a16:creationId xmlns:a16="http://schemas.microsoft.com/office/drawing/2014/main" id="{0A4A9A37-300E-48AA-A30E-69A325B19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19288"/>
            <a:ext cx="914400" cy="946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约束条件</a:t>
            </a:r>
          </a:p>
        </p:txBody>
      </p:sp>
      <p:sp>
        <p:nvSpPr>
          <p:cNvPr id="79890" name="Text Box 18">
            <a:extLst>
              <a:ext uri="{FF2B5EF4-FFF2-40B4-BE49-F238E27FC236}">
                <a16:creationId xmlns:a16="http://schemas.microsoft.com/office/drawing/2014/main" id="{59F8007C-6A7C-4983-A702-2975464F1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724400"/>
            <a:ext cx="3581400" cy="1117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整数约束： </a:t>
            </a:r>
            <a:r>
              <a:rPr lang="en-US" altLang="zh-CN" sz="2800" b="1" i="1"/>
              <a:t>x</a:t>
            </a:r>
            <a:r>
              <a:rPr lang="en-US" altLang="zh-CN" sz="2800" b="1" i="1" baseline="-30000"/>
              <a:t>i </a:t>
            </a:r>
            <a:r>
              <a:rPr lang="en-US" altLang="zh-CN" sz="2800" b="1" i="1"/>
              <a:t>,r</a:t>
            </a:r>
            <a:r>
              <a:rPr lang="en-US" altLang="zh-CN" sz="2800" b="1" baseline="-30000"/>
              <a:t>1</a:t>
            </a:r>
            <a:r>
              <a:rPr lang="en-US" altLang="zh-CN" sz="2800" b="1" i="1" baseline="-30000"/>
              <a:t>i</a:t>
            </a:r>
            <a:r>
              <a:rPr lang="en-US" altLang="zh-CN" sz="2800" b="1">
                <a:cs typeface="Courier New" panose="02070309020205020404" pitchFamily="49" charset="0"/>
              </a:rPr>
              <a:t>,</a:t>
            </a:r>
            <a:r>
              <a:rPr lang="en-US" altLang="zh-CN" sz="2800" b="1" i="1"/>
              <a:t> r</a:t>
            </a:r>
            <a:r>
              <a:rPr lang="en-US" altLang="zh-CN" sz="2800" b="1" baseline="-30000"/>
              <a:t>2</a:t>
            </a:r>
            <a:r>
              <a:rPr lang="en-US" altLang="zh-CN" sz="2800" b="1" i="1" baseline="-30000"/>
              <a:t>i</a:t>
            </a:r>
            <a:r>
              <a:rPr lang="en-US" altLang="zh-CN" sz="2800" b="1">
                <a:cs typeface="Courier New" panose="02070309020205020404" pitchFamily="49" charset="0"/>
              </a:rPr>
              <a:t>,</a:t>
            </a:r>
            <a:r>
              <a:rPr lang="en-US" altLang="zh-CN" sz="2800" b="1" i="1"/>
              <a:t> r</a:t>
            </a:r>
            <a:r>
              <a:rPr lang="en-US" altLang="zh-CN" sz="2800" b="1" baseline="-30000"/>
              <a:t>3</a:t>
            </a:r>
            <a:r>
              <a:rPr lang="en-US" altLang="zh-CN" sz="2800" b="1" i="1" baseline="-30000"/>
              <a:t>i</a:t>
            </a:r>
            <a:r>
              <a:rPr lang="en-US" altLang="zh-CN" sz="2800" b="1">
                <a:cs typeface="Courier New" panose="02070309020205020404" pitchFamily="49" charset="0"/>
              </a:rPr>
              <a:t>,</a:t>
            </a:r>
            <a:r>
              <a:rPr lang="en-US" altLang="zh-CN" sz="2800" b="1" i="1"/>
              <a:t> r</a:t>
            </a:r>
            <a:r>
              <a:rPr lang="en-US" altLang="zh-CN" sz="2800" b="1" baseline="-30000"/>
              <a:t>4</a:t>
            </a:r>
            <a:r>
              <a:rPr lang="en-US" altLang="zh-CN" sz="2800" b="1" i="1" baseline="-30000"/>
              <a:t>i 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 i="1"/>
              <a:t>i</a:t>
            </a:r>
            <a:r>
              <a:rPr lang="en-US" altLang="zh-CN" sz="2800" b="1">
                <a:latin typeface="宋体" panose="02010600030101010101" pitchFamily="2" charset="-122"/>
              </a:rPr>
              <a:t>=</a:t>
            </a:r>
            <a:r>
              <a:rPr lang="en-US" altLang="zh-CN" sz="2800" b="1"/>
              <a:t>1,2,3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/>
              <a:t>为整数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7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nimBg="1" autoUpdateAnimBg="0"/>
      <p:bldP spid="79880" grpId="0" animBg="1" autoUpdateAnimBg="0"/>
      <p:bldP spid="79885" grpId="0" animBg="1" autoUpdateAnimBg="0"/>
      <p:bldP spid="79887" grpId="0" animBg="1" autoUpdateAnimBg="0"/>
      <p:bldP spid="79889" grpId="0" animBg="1" autoUpdateAnimBg="0"/>
      <p:bldP spid="79890" grpId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>
            <a:extLst>
              <a:ext uri="{FF2B5EF4-FFF2-40B4-BE49-F238E27FC236}">
                <a16:creationId xmlns:a16="http://schemas.microsoft.com/office/drawing/2014/main" id="{79B158E9-B0ED-4E5E-B3DE-AFC0EAE25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88938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增加约束，缩小可行域，便于求解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80899" name="Object 3">
            <a:extLst>
              <a:ext uri="{FF2B5EF4-FFF2-40B4-BE49-F238E27FC236}">
                <a16:creationId xmlns:a16="http://schemas.microsoft.com/office/drawing/2014/main" id="{F3C53523-09AE-4B9C-8F69-4C9B626C0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5943600"/>
          <a:ext cx="21336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1" r:id="rId3" imgW="761669" imgH="228501" progId="Equation.3">
                  <p:embed/>
                </p:oleObj>
              </mc:Choice>
              <mc:Fallback>
                <p:oleObj r:id="rId3" imgW="761669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943600"/>
                        <a:ext cx="21336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0" name="Rectangle 4">
            <a:extLst>
              <a:ext uri="{FF2B5EF4-FFF2-40B4-BE49-F238E27FC236}">
                <a16:creationId xmlns:a16="http://schemas.microsoft.com/office/drawing/2014/main" id="{C2ABB821-451A-41DB-888D-BF51236D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41538"/>
            <a:ext cx="3967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原料钢管总根数下界：</a:t>
            </a:r>
            <a:r>
              <a:rPr lang="zh-CN" altLang="en-US" sz="2800" b="1"/>
              <a:t> </a:t>
            </a:r>
          </a:p>
        </p:txBody>
      </p:sp>
      <p:graphicFrame>
        <p:nvGraphicFramePr>
          <p:cNvPr id="80901" name="Object 5">
            <a:extLst>
              <a:ext uri="{FF2B5EF4-FFF2-40B4-BE49-F238E27FC236}">
                <a16:creationId xmlns:a16="http://schemas.microsoft.com/office/drawing/2014/main" id="{B778AF05-F836-473D-927F-FC62D4140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760538"/>
          <a:ext cx="45720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r:id="rId5" imgW="2324100" imgH="431800" progId="Equation.3">
                  <p:embed/>
                </p:oleObj>
              </mc:Choice>
              <mc:Fallback>
                <p:oleObj r:id="rId5" imgW="23241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760538"/>
                        <a:ext cx="45720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2" name="Rectangle 6">
            <a:extLst>
              <a:ext uri="{FF2B5EF4-FFF2-40B4-BE49-F238E27FC236}">
                <a16:creationId xmlns:a16="http://schemas.microsoft.com/office/drawing/2014/main" id="{A2855BAC-85BE-4A36-8506-CAC800E26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751138"/>
            <a:ext cx="7504113" cy="2655887"/>
          </a:xfrm>
          <a:prstGeom prst="rect">
            <a:avLst/>
          </a:prstGeom>
          <a:solidFill>
            <a:srgbClr val="C1DF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特殊生产计划：</a:t>
            </a:r>
            <a:r>
              <a:rPr lang="zh-CN" altLang="en-US" sz="2800" b="1"/>
              <a:t>对每根原料钢管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模式</a:t>
            </a:r>
            <a:r>
              <a:rPr lang="en-US" altLang="zh-CN" sz="2800" b="1"/>
              <a:t>1</a:t>
            </a:r>
            <a:r>
              <a:rPr lang="zh-CN" altLang="en-US" sz="2800" b="1"/>
              <a:t>：切割成</a:t>
            </a:r>
            <a:r>
              <a:rPr lang="en-US" altLang="zh-CN" sz="2800" b="1"/>
              <a:t>4</a:t>
            </a:r>
            <a:r>
              <a:rPr lang="zh-CN" altLang="en-US" sz="2800" b="1"/>
              <a:t>根</a:t>
            </a:r>
            <a:r>
              <a:rPr lang="en-US" altLang="zh-CN" sz="2800" b="1"/>
              <a:t>4m</a:t>
            </a:r>
            <a:r>
              <a:rPr lang="zh-CN" altLang="en-US" sz="2800" b="1"/>
              <a:t>钢管，需</a:t>
            </a:r>
            <a:r>
              <a:rPr lang="en-US" altLang="zh-CN" sz="2800" b="1"/>
              <a:t>13</a:t>
            </a:r>
            <a:r>
              <a:rPr lang="zh-CN" altLang="en-US" sz="2800" b="1"/>
              <a:t>根；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模式</a:t>
            </a:r>
            <a:r>
              <a:rPr lang="en-US" altLang="zh-CN" sz="2800" b="1"/>
              <a:t>2</a:t>
            </a:r>
            <a:r>
              <a:rPr lang="zh-CN" altLang="en-US" sz="2800" b="1"/>
              <a:t>：切割成</a:t>
            </a:r>
            <a:r>
              <a:rPr lang="en-US" altLang="zh-CN" sz="2800" b="1"/>
              <a:t>1</a:t>
            </a:r>
            <a:r>
              <a:rPr lang="zh-CN" altLang="en-US" sz="2800" b="1"/>
              <a:t>根</a:t>
            </a:r>
            <a:r>
              <a:rPr lang="en-US" altLang="zh-CN" sz="2800" b="1"/>
              <a:t>5m</a:t>
            </a:r>
            <a:r>
              <a:rPr lang="zh-CN" altLang="en-US" sz="2800" b="1"/>
              <a:t>和</a:t>
            </a:r>
            <a:r>
              <a:rPr lang="en-US" altLang="zh-CN" sz="2800" b="1"/>
              <a:t>2</a:t>
            </a:r>
            <a:r>
              <a:rPr lang="zh-CN" altLang="en-US" sz="2800" b="1"/>
              <a:t>根</a:t>
            </a:r>
            <a:r>
              <a:rPr lang="en-US" altLang="zh-CN" sz="2800" b="1"/>
              <a:t>6m</a:t>
            </a:r>
            <a:r>
              <a:rPr lang="zh-CN" altLang="en-US" sz="2800" b="1"/>
              <a:t>钢管，需</a:t>
            </a:r>
            <a:r>
              <a:rPr lang="en-US" altLang="zh-CN" sz="2800" b="1"/>
              <a:t>10</a:t>
            </a:r>
            <a:r>
              <a:rPr lang="zh-CN" altLang="en-US" sz="2800" b="1"/>
              <a:t>根；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模式</a:t>
            </a:r>
            <a:r>
              <a:rPr lang="en-US" altLang="zh-CN" sz="2800" b="1"/>
              <a:t>3</a:t>
            </a:r>
            <a:r>
              <a:rPr lang="zh-CN" altLang="en-US" sz="2800" b="1"/>
              <a:t>：切割成</a:t>
            </a:r>
            <a:r>
              <a:rPr lang="en-US" altLang="zh-CN" sz="2800" b="1"/>
              <a:t>2</a:t>
            </a:r>
            <a:r>
              <a:rPr lang="zh-CN" altLang="en-US" sz="2800" b="1"/>
              <a:t>根</a:t>
            </a:r>
            <a:r>
              <a:rPr lang="en-US" altLang="zh-CN" sz="2800" b="1"/>
              <a:t>8m</a:t>
            </a:r>
            <a:r>
              <a:rPr lang="zh-CN" altLang="en-US" sz="2800" b="1"/>
              <a:t>钢管，需</a:t>
            </a:r>
            <a:r>
              <a:rPr lang="en-US" altLang="zh-CN" sz="2800" b="1"/>
              <a:t>8</a:t>
            </a:r>
            <a:r>
              <a:rPr lang="zh-CN" altLang="en-US" sz="2800" b="1"/>
              <a:t>根</a:t>
            </a:r>
            <a:r>
              <a:rPr lang="en-US" altLang="zh-CN" sz="2800" b="1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原料钢管总根数上界：</a:t>
            </a:r>
            <a:r>
              <a:rPr lang="en-US" altLang="zh-CN" sz="2800" b="1"/>
              <a:t>13+10+8=31 </a:t>
            </a:r>
          </a:p>
        </p:txBody>
      </p:sp>
      <p:graphicFrame>
        <p:nvGraphicFramePr>
          <p:cNvPr id="80903" name="Object 7">
            <a:extLst>
              <a:ext uri="{FF2B5EF4-FFF2-40B4-BE49-F238E27FC236}">
                <a16:creationId xmlns:a16="http://schemas.microsoft.com/office/drawing/2014/main" id="{F8A3D17C-80FC-461A-BA73-4821EE3A74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511800"/>
          <a:ext cx="35052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3" r:id="rId7" imgW="1358900" imgH="228600" progId="Equation.3">
                  <p:embed/>
                </p:oleObj>
              </mc:Choice>
              <mc:Fallback>
                <p:oleObj r:id="rId7" imgW="13589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511800"/>
                        <a:ext cx="35052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4" name="Rectangle 8">
            <a:extLst>
              <a:ext uri="{FF2B5EF4-FFF2-40B4-BE49-F238E27FC236}">
                <a16:creationId xmlns:a16="http://schemas.microsoft.com/office/drawing/2014/main" id="{C0D312B1-49E4-4ACB-AB31-3AF0A2FAC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48640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模式排列顺序可任定</a:t>
            </a:r>
            <a:r>
              <a:rPr lang="zh-CN" altLang="en-US" sz="2800" b="1"/>
              <a:t> </a:t>
            </a:r>
          </a:p>
        </p:txBody>
      </p:sp>
      <p:sp>
        <p:nvSpPr>
          <p:cNvPr id="65545" name="Text Box 9">
            <a:extLst>
              <a:ext uri="{FF2B5EF4-FFF2-40B4-BE49-F238E27FC236}">
                <a16:creationId xmlns:a16="http://schemas.microsoft.com/office/drawing/2014/main" id="{F2040330-16DD-480B-90F2-A14DC8541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8938"/>
            <a:ext cx="26670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钢管下料问题</a:t>
            </a:r>
            <a:r>
              <a:rPr lang="en-US" altLang="zh-CN" sz="2800" b="1"/>
              <a:t>2</a:t>
            </a:r>
          </a:p>
        </p:txBody>
      </p:sp>
      <p:sp>
        <p:nvSpPr>
          <p:cNvPr id="80906" name="Text Box 10">
            <a:extLst>
              <a:ext uri="{FF2B5EF4-FFF2-40B4-BE49-F238E27FC236}">
                <a16:creationId xmlns:a16="http://schemas.microsoft.com/office/drawing/2014/main" id="{498DC697-64CA-44B8-AF99-7C021CDA2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98538"/>
            <a:ext cx="3886200" cy="1117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需求：</a:t>
            </a:r>
            <a:r>
              <a:rPr lang="en-US" altLang="zh-CN" sz="2800" b="1"/>
              <a:t>50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/>
              <a:t>4m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/>
              <a:t>10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/>
              <a:t>5m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/>
              <a:t>20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/>
              <a:t>6m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/>
              <a:t>15</a:t>
            </a:r>
            <a:r>
              <a:rPr lang="zh-CN" altLang="en-US" sz="2800" b="1">
                <a:latin typeface="宋体" panose="02010600030101010101" pitchFamily="2" charset="-122"/>
              </a:rPr>
              <a:t>根</a:t>
            </a:r>
            <a:r>
              <a:rPr lang="en-US" altLang="zh-CN" sz="2800" b="1"/>
              <a:t>8m</a:t>
            </a:r>
            <a:endParaRPr lang="zh-CN" altLang="en-US" sz="2800" b="1"/>
          </a:p>
        </p:txBody>
      </p:sp>
      <p:sp>
        <p:nvSpPr>
          <p:cNvPr id="80907" name="Text Box 11">
            <a:extLst>
              <a:ext uri="{FF2B5EF4-FFF2-40B4-BE49-F238E27FC236}">
                <a16:creationId xmlns:a16="http://schemas.microsoft.com/office/drawing/2014/main" id="{FAC28D02-E765-416B-BC4C-5272ACCD1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074738"/>
            <a:ext cx="365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每根原料钢管长</a:t>
            </a:r>
            <a:r>
              <a:rPr lang="en-US" altLang="zh-CN" sz="2800" b="1"/>
              <a:t>19m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809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0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80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80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80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80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nimBg="1" autoUpdateAnimBg="0"/>
      <p:bldP spid="80900" grpId="0" animBg="1" autoUpdateAnimBg="0"/>
      <p:bldP spid="80902" grpId="0" build="p" animBg="1" autoUpdateAnimBg="0"/>
      <p:bldP spid="80904" grpId="0" animBg="1" autoUpdateAnimBg="0"/>
      <p:bldP spid="80906" grpId="0" animBg="1" autoUpdateAnimBg="0"/>
      <p:bldP spid="80907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>
            <a:extLst>
              <a:ext uri="{FF2B5EF4-FFF2-40B4-BE49-F238E27FC236}">
                <a16:creationId xmlns:a16="http://schemas.microsoft.com/office/drawing/2014/main" id="{D0C1AED6-BCC4-4F85-A204-6B0B8C085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3400"/>
            <a:ext cx="53340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LINGO</a:t>
            </a:r>
            <a:r>
              <a:rPr lang="zh-CN" altLang="en-US" sz="2800" b="1">
                <a:latin typeface="宋体" panose="02010600030101010101" pitchFamily="2" charset="-122"/>
              </a:rPr>
              <a:t>求解整数非线性规划模型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D595E3A9-CFB9-4B17-B650-CA23C8E43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4284663" cy="5487988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r"/>
                <a:tab pos="2636838" algn="ctr"/>
                <a:tab pos="5273675" algn="r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2000" b="1"/>
              <a:t>Local optimal solution found.</a:t>
            </a:r>
          </a:p>
          <a:p>
            <a:pPr>
              <a:lnSpc>
                <a:spcPct val="90000"/>
              </a:lnSpc>
            </a:pPr>
            <a:r>
              <a:rPr lang="en-US" altLang="zh-CN" sz="2000" b="1"/>
              <a:t>  Objective value:           28.00000</a:t>
            </a:r>
          </a:p>
          <a:p>
            <a:pPr>
              <a:lnSpc>
                <a:spcPct val="90000"/>
              </a:lnSpc>
            </a:pPr>
            <a:r>
              <a:rPr lang="en-US" altLang="zh-CN" sz="2000" b="1"/>
              <a:t>Variable   Value      Reduced Cost</a:t>
            </a:r>
          </a:p>
          <a:p>
            <a:pPr eaLnBrk="1" hangingPunct="1"/>
            <a:r>
              <a:rPr lang="en-US" altLang="zh-CN" sz="2000"/>
              <a:t>    </a:t>
            </a:r>
            <a:r>
              <a:rPr lang="pt-BR" altLang="zh-CN" sz="2000" b="1"/>
              <a:t>X( 1)        10.00000            1.000000</a:t>
            </a:r>
          </a:p>
          <a:p>
            <a:pPr eaLnBrk="1" hangingPunct="1"/>
            <a:r>
              <a:rPr lang="pt-BR" altLang="zh-CN" sz="2000" b="1"/>
              <a:t>    X( 2)        10.00000            1.000000</a:t>
            </a:r>
          </a:p>
          <a:p>
            <a:pPr eaLnBrk="1" hangingPunct="1"/>
            <a:r>
              <a:rPr lang="pt-BR" altLang="zh-CN" sz="2000" b="1"/>
              <a:t>    X( 3)        8.000000            1.000000</a:t>
            </a:r>
          </a:p>
          <a:p>
            <a:pPr eaLnBrk="1" hangingPunct="1"/>
            <a:r>
              <a:rPr lang="pt-BR" altLang="zh-CN" sz="2000" b="1"/>
              <a:t> R( 1, 1)        3.000000            0.000000</a:t>
            </a:r>
          </a:p>
          <a:p>
            <a:pPr eaLnBrk="1" hangingPunct="1"/>
            <a:r>
              <a:rPr lang="pt-BR" altLang="zh-CN" sz="2000" b="1"/>
              <a:t> R( 1, 2)        2.000000            0.000000</a:t>
            </a:r>
          </a:p>
          <a:p>
            <a:pPr eaLnBrk="1" hangingPunct="1"/>
            <a:r>
              <a:rPr lang="pt-BR" altLang="zh-CN" sz="2000" b="1"/>
              <a:t> R( 1, 3)        0.000000            0.000000</a:t>
            </a:r>
          </a:p>
          <a:p>
            <a:pPr eaLnBrk="1" hangingPunct="1"/>
            <a:r>
              <a:rPr lang="pt-BR" altLang="zh-CN" sz="2000" b="1"/>
              <a:t> R( 2, 1)        0.000000            0.000000</a:t>
            </a:r>
          </a:p>
          <a:p>
            <a:pPr eaLnBrk="1" hangingPunct="1"/>
            <a:r>
              <a:rPr lang="pt-BR" altLang="zh-CN" sz="2000" b="1"/>
              <a:t> R( 2, 2)        1.000000            0.000000</a:t>
            </a:r>
          </a:p>
          <a:p>
            <a:pPr eaLnBrk="1" hangingPunct="1"/>
            <a:r>
              <a:rPr lang="pt-BR" altLang="zh-CN" sz="2000" b="1"/>
              <a:t> R( 2, 3)        0.000000            0.000000</a:t>
            </a:r>
          </a:p>
          <a:p>
            <a:pPr eaLnBrk="1" hangingPunct="1"/>
            <a:r>
              <a:rPr lang="pt-BR" altLang="zh-CN" sz="2000" b="1"/>
              <a:t> R( 3, 1)        1.000000            0.000000</a:t>
            </a:r>
          </a:p>
          <a:p>
            <a:pPr eaLnBrk="1" hangingPunct="1"/>
            <a:r>
              <a:rPr lang="pt-BR" altLang="zh-CN" sz="2000" b="1"/>
              <a:t> R( 3, 2)        1.000000            0.000000</a:t>
            </a:r>
          </a:p>
          <a:p>
            <a:pPr eaLnBrk="1" hangingPunct="1"/>
            <a:r>
              <a:rPr lang="pt-BR" altLang="zh-CN" sz="2000" b="1"/>
              <a:t> R( 3, 3)        0.000000            0.000000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 R( 4, 1)        0.000000            0.000000</a:t>
            </a:r>
          </a:p>
          <a:p>
            <a:pPr eaLnBrk="1" hangingPunct="1"/>
            <a:r>
              <a:rPr lang="en-US" altLang="zh-CN" sz="2000" b="1"/>
              <a:t> R( 4, 2)        0.000000            0.000000</a:t>
            </a:r>
          </a:p>
          <a:p>
            <a:pPr eaLnBrk="1" hangingPunct="1"/>
            <a:r>
              <a:rPr lang="en-US" altLang="zh-CN" sz="2000" b="1"/>
              <a:t> R( 4, 3)        2.000000            0.000000</a:t>
            </a:r>
            <a:r>
              <a:rPr lang="en-US" altLang="zh-CN" sz="2000"/>
              <a:t> </a:t>
            </a:r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8014FE99-2D4B-4217-830F-5154DA4E3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9575" y="1196975"/>
            <a:ext cx="4924425" cy="522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(</a:t>
            </a:r>
            <a:r>
              <a:rPr lang="zh-CN" altLang="en-US" sz="2800" b="1">
                <a:solidFill>
                  <a:srgbClr val="FF3300"/>
                </a:solidFill>
              </a:rPr>
              <a:t>也是全局最优解</a:t>
            </a:r>
            <a:r>
              <a:rPr lang="en-US" altLang="zh-CN" sz="2800" b="1">
                <a:solidFill>
                  <a:srgbClr val="FF3300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模式</a:t>
            </a:r>
            <a:r>
              <a:rPr lang="en-US" altLang="zh-CN" sz="2800" b="1">
                <a:solidFill>
                  <a:srgbClr val="FF3300"/>
                </a:solidFill>
              </a:rPr>
              <a:t>1</a:t>
            </a:r>
            <a:r>
              <a:rPr lang="zh-CN" altLang="en-US" sz="2800" b="1">
                <a:solidFill>
                  <a:srgbClr val="FF3300"/>
                </a:solidFill>
              </a:rPr>
              <a:t>：每根原料钢管切割成</a:t>
            </a:r>
            <a:r>
              <a:rPr lang="en-US" altLang="zh-CN" sz="2800" b="1">
                <a:solidFill>
                  <a:srgbClr val="FF3300"/>
                </a:solidFill>
              </a:rPr>
              <a:t>3</a:t>
            </a:r>
            <a:r>
              <a:rPr lang="zh-CN" altLang="en-US" sz="2800" b="1">
                <a:solidFill>
                  <a:srgbClr val="FF3300"/>
                </a:solidFill>
              </a:rPr>
              <a:t>根</a:t>
            </a:r>
            <a:r>
              <a:rPr lang="en-US" altLang="zh-CN" sz="2800" b="1">
                <a:solidFill>
                  <a:srgbClr val="FF0000"/>
                </a:solidFill>
              </a:rPr>
              <a:t>4m</a:t>
            </a:r>
            <a:r>
              <a:rPr lang="zh-CN" altLang="en-US" sz="2800" b="1">
                <a:solidFill>
                  <a:srgbClr val="FF0000"/>
                </a:solidFill>
              </a:rPr>
              <a:t>和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根</a:t>
            </a:r>
            <a:r>
              <a:rPr lang="en-US" altLang="zh-CN" sz="2800" b="1">
                <a:solidFill>
                  <a:srgbClr val="FF0000"/>
                </a:solidFill>
              </a:rPr>
              <a:t>6m</a:t>
            </a:r>
            <a:r>
              <a:rPr lang="zh-CN" altLang="en-US" sz="2800" b="1">
                <a:solidFill>
                  <a:srgbClr val="FF3300"/>
                </a:solidFill>
              </a:rPr>
              <a:t>钢管</a:t>
            </a:r>
            <a:r>
              <a:rPr lang="en-US" altLang="zh-CN" sz="2800" b="1">
                <a:solidFill>
                  <a:srgbClr val="FF3300"/>
                </a:solidFill>
              </a:rPr>
              <a:t>, </a:t>
            </a:r>
            <a:r>
              <a:rPr lang="zh-CN" altLang="en-US" sz="2800" b="1">
                <a:solidFill>
                  <a:srgbClr val="FF3300"/>
                </a:solidFill>
              </a:rPr>
              <a:t>共</a:t>
            </a:r>
            <a:r>
              <a:rPr lang="en-US" altLang="zh-CN" sz="2800" b="1">
                <a:solidFill>
                  <a:srgbClr val="FF3300"/>
                </a:solidFill>
              </a:rPr>
              <a:t>10</a:t>
            </a:r>
            <a:r>
              <a:rPr lang="zh-CN" altLang="en-US" sz="2800" b="1">
                <a:solidFill>
                  <a:srgbClr val="FF3300"/>
                </a:solidFill>
              </a:rPr>
              <a:t>根</a:t>
            </a:r>
            <a:r>
              <a:rPr lang="en-US" altLang="zh-CN" sz="2800" b="1">
                <a:solidFill>
                  <a:srgbClr val="FF3300"/>
                </a:solidFill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模式</a:t>
            </a:r>
            <a:r>
              <a:rPr lang="en-US" altLang="zh-CN" sz="2800" b="1">
                <a:solidFill>
                  <a:srgbClr val="0000FF"/>
                </a:solidFill>
              </a:rPr>
              <a:t>2</a:t>
            </a:r>
            <a:r>
              <a:rPr lang="zh-CN" altLang="en-US" sz="2800" b="1">
                <a:solidFill>
                  <a:srgbClr val="0000FF"/>
                </a:solidFill>
              </a:rPr>
              <a:t>：每根原料钢管切割成</a:t>
            </a:r>
            <a:r>
              <a:rPr lang="en-US" altLang="zh-CN" sz="2800" b="1">
                <a:solidFill>
                  <a:srgbClr val="0000FF"/>
                </a:solidFill>
              </a:rPr>
              <a:t>2</a:t>
            </a:r>
            <a:r>
              <a:rPr lang="zh-CN" altLang="en-US" sz="2800" b="1">
                <a:solidFill>
                  <a:srgbClr val="0000FF"/>
                </a:solidFill>
              </a:rPr>
              <a:t>根</a:t>
            </a:r>
            <a:r>
              <a:rPr lang="en-US" altLang="zh-CN" sz="2800" b="1">
                <a:solidFill>
                  <a:schemeClr val="accent2"/>
                </a:solidFill>
              </a:rPr>
              <a:t>4m</a:t>
            </a:r>
            <a:r>
              <a:rPr lang="zh-CN" altLang="en-US" sz="2800" b="1">
                <a:solidFill>
                  <a:schemeClr val="accent2"/>
                </a:solidFill>
              </a:rPr>
              <a:t>、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zh-CN" altLang="en-US" sz="2800" b="1">
                <a:solidFill>
                  <a:schemeClr val="accent2"/>
                </a:solidFill>
              </a:rPr>
              <a:t>根</a:t>
            </a:r>
            <a:r>
              <a:rPr lang="en-US" altLang="zh-CN" sz="2800" b="1">
                <a:solidFill>
                  <a:schemeClr val="accent2"/>
                </a:solidFill>
              </a:rPr>
              <a:t>5m</a:t>
            </a:r>
            <a:r>
              <a:rPr lang="zh-CN" altLang="en-US" sz="2800" b="1">
                <a:solidFill>
                  <a:schemeClr val="accent2"/>
                </a:solidFill>
              </a:rPr>
              <a:t>和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zh-CN" altLang="en-US" sz="2800" b="1">
                <a:solidFill>
                  <a:schemeClr val="accent2"/>
                </a:solidFill>
              </a:rPr>
              <a:t>根</a:t>
            </a:r>
            <a:r>
              <a:rPr lang="en-US" altLang="zh-CN" sz="2800" b="1">
                <a:solidFill>
                  <a:schemeClr val="accent2"/>
                </a:solidFill>
              </a:rPr>
              <a:t>6m</a:t>
            </a:r>
            <a:r>
              <a:rPr lang="zh-CN" altLang="en-US" sz="2800" b="1">
                <a:solidFill>
                  <a:schemeClr val="accent2"/>
                </a:solidFill>
              </a:rPr>
              <a:t>钢管</a:t>
            </a:r>
            <a:r>
              <a:rPr lang="zh-CN" altLang="en-US" sz="2800" b="1">
                <a:solidFill>
                  <a:srgbClr val="0000FF"/>
                </a:solidFill>
              </a:rPr>
              <a:t>，共</a:t>
            </a:r>
            <a:r>
              <a:rPr lang="en-US" altLang="zh-CN" sz="2800" b="1">
                <a:solidFill>
                  <a:srgbClr val="0000FF"/>
                </a:solidFill>
              </a:rPr>
              <a:t>10</a:t>
            </a:r>
            <a:r>
              <a:rPr lang="zh-CN" altLang="en-US" sz="2800" b="1">
                <a:solidFill>
                  <a:srgbClr val="0000FF"/>
                </a:solidFill>
              </a:rPr>
              <a:t>根；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/>
              <a:t>模式</a:t>
            </a:r>
            <a:r>
              <a:rPr lang="en-US" altLang="zh-CN" sz="2800" b="1"/>
              <a:t>3</a:t>
            </a:r>
            <a:r>
              <a:rPr lang="zh-CN" altLang="en-US" sz="2800" b="1"/>
              <a:t>：每根原料钢管切割成</a:t>
            </a:r>
            <a:r>
              <a:rPr lang="en-US" altLang="zh-CN" sz="2800" b="1"/>
              <a:t>2</a:t>
            </a:r>
            <a:r>
              <a:rPr lang="zh-CN" altLang="en-US" sz="2800" b="1"/>
              <a:t>根</a:t>
            </a:r>
            <a:r>
              <a:rPr lang="en-US" altLang="zh-CN" sz="2800" b="1"/>
              <a:t>8m</a:t>
            </a:r>
            <a:r>
              <a:rPr lang="zh-CN" altLang="en-US" sz="2800" b="1"/>
              <a:t>钢管，共</a:t>
            </a:r>
            <a:r>
              <a:rPr lang="en-US" altLang="zh-CN" sz="2800" b="1"/>
              <a:t>8</a:t>
            </a:r>
            <a:r>
              <a:rPr lang="zh-CN" altLang="en-US" sz="2800" b="1"/>
              <a:t>根</a:t>
            </a:r>
            <a:r>
              <a:rPr lang="en-US" altLang="zh-CN" sz="2800" b="1"/>
              <a:t>.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/>
              <a:t>原料钢管总根数为</a:t>
            </a:r>
            <a:r>
              <a:rPr lang="en-US" altLang="zh-CN" sz="2800" b="1"/>
              <a:t>28</a:t>
            </a:r>
            <a:r>
              <a:rPr lang="zh-CN" altLang="en-US" sz="2800" b="1"/>
              <a:t>根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9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nimBg="1" autoUpdateAnimBg="0"/>
      <p:bldP spid="81924" grpId="0" build="p" animBg="1" autoUpdateAnimBg="0"/>
    </p:bldLst>
  </p:timing>
</p:sld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J:\数学模型电子教案\shuxuemoxing.pot</Template>
  <TotalTime>4986</TotalTime>
  <Words>5054</Words>
  <Application>Microsoft Office PowerPoint</Application>
  <PresentationFormat>全屏显示(4:3)</PresentationFormat>
  <Paragraphs>943</Paragraphs>
  <Slides>63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63</vt:i4>
      </vt:variant>
    </vt:vector>
  </HeadingPairs>
  <TitlesOfParts>
    <vt:vector size="76" baseType="lpstr">
      <vt:lpstr>楷体_GB2312</vt:lpstr>
      <vt:lpstr>隶书</vt:lpstr>
      <vt:lpstr>宋体</vt:lpstr>
      <vt:lpstr>Arial</vt:lpstr>
      <vt:lpstr>Tahoma</vt:lpstr>
      <vt:lpstr>Times New Roman</vt:lpstr>
      <vt:lpstr>Wingdings</vt:lpstr>
      <vt:lpstr>shuxuemoxing</vt:lpstr>
      <vt:lpstr>公式</vt:lpstr>
      <vt:lpstr>Equation.3</vt:lpstr>
      <vt:lpstr>Clip</vt:lpstr>
      <vt:lpstr>Equation</vt:lpstr>
      <vt:lpstr>文档</vt:lpstr>
      <vt:lpstr>PowerPoint 演示文稿</vt:lpstr>
      <vt:lpstr>例1  汽车厂生产计划（整数）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   原油采购与加工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  混合泳接力队的选拔 </vt:lpstr>
      <vt:lpstr>0-1规划模型 </vt:lpstr>
      <vt:lpstr>PowerPoint 演示文稿</vt:lpstr>
      <vt:lpstr>PowerPoint 演示文稿</vt:lpstr>
      <vt:lpstr>PowerPoint 演示文稿</vt:lpstr>
      <vt:lpstr>PowerPoint 演示文稿</vt:lpstr>
      <vt:lpstr>例2   选课策略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目标规划的一般形式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 钢管下料 —— 模式选择  </vt:lpstr>
      <vt:lpstr>切割模式</vt:lpstr>
      <vt:lpstr>合理切割模式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姜启源</dc:creator>
  <cp:lastModifiedBy>李 卫国</cp:lastModifiedBy>
  <cp:revision>160</cp:revision>
  <dcterms:created xsi:type="dcterms:W3CDTF">2003-02-17T08:17:09Z</dcterms:created>
  <dcterms:modified xsi:type="dcterms:W3CDTF">2022-03-24T11:41:23Z</dcterms:modified>
</cp:coreProperties>
</file>